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57"/>
  </p:notesMasterIdLst>
  <p:handoutMasterIdLst>
    <p:handoutMasterId r:id="rId58"/>
  </p:handoutMasterIdLst>
  <p:sldIdLst>
    <p:sldId id="464" r:id="rId2"/>
    <p:sldId id="339" r:id="rId3"/>
    <p:sldId id="340" r:id="rId4"/>
    <p:sldId id="343" r:id="rId5"/>
    <p:sldId id="463" r:id="rId6"/>
    <p:sldId id="345" r:id="rId7"/>
    <p:sldId id="347" r:id="rId8"/>
    <p:sldId id="348" r:id="rId9"/>
    <p:sldId id="349" r:id="rId10"/>
    <p:sldId id="350" r:id="rId11"/>
    <p:sldId id="351" r:id="rId12"/>
    <p:sldId id="353" r:id="rId13"/>
    <p:sldId id="354" r:id="rId14"/>
    <p:sldId id="420" r:id="rId15"/>
    <p:sldId id="421" r:id="rId16"/>
    <p:sldId id="355" r:id="rId17"/>
    <p:sldId id="356" r:id="rId18"/>
    <p:sldId id="357" r:id="rId19"/>
    <p:sldId id="358" r:id="rId20"/>
    <p:sldId id="359" r:id="rId21"/>
    <p:sldId id="361" r:id="rId22"/>
    <p:sldId id="460" r:id="rId23"/>
    <p:sldId id="362" r:id="rId24"/>
    <p:sldId id="363" r:id="rId25"/>
    <p:sldId id="364" r:id="rId26"/>
    <p:sldId id="365" r:id="rId27"/>
    <p:sldId id="366" r:id="rId28"/>
    <p:sldId id="434" r:id="rId29"/>
    <p:sldId id="422" r:id="rId30"/>
    <p:sldId id="461" r:id="rId31"/>
    <p:sldId id="423" r:id="rId32"/>
    <p:sldId id="474" r:id="rId33"/>
    <p:sldId id="439" r:id="rId34"/>
    <p:sldId id="380" r:id="rId35"/>
    <p:sldId id="379" r:id="rId36"/>
    <p:sldId id="430" r:id="rId37"/>
    <p:sldId id="432" r:id="rId38"/>
    <p:sldId id="435" r:id="rId39"/>
    <p:sldId id="436" r:id="rId40"/>
    <p:sldId id="437" r:id="rId41"/>
    <p:sldId id="433" r:id="rId42"/>
    <p:sldId id="388" r:id="rId43"/>
    <p:sldId id="472" r:id="rId44"/>
    <p:sldId id="465" r:id="rId45"/>
    <p:sldId id="467" r:id="rId46"/>
    <p:sldId id="468" r:id="rId47"/>
    <p:sldId id="469" r:id="rId48"/>
    <p:sldId id="470" r:id="rId49"/>
    <p:sldId id="471" r:id="rId50"/>
    <p:sldId id="473" r:id="rId51"/>
    <p:sldId id="475" r:id="rId52"/>
    <p:sldId id="476" r:id="rId53"/>
    <p:sldId id="477" r:id="rId54"/>
    <p:sldId id="478" r:id="rId55"/>
    <p:sldId id="479" r:id="rId5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24">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66"/>
    <a:srgbClr val="008000"/>
    <a:srgbClr val="D60093"/>
    <a:srgbClr val="CC0066"/>
    <a:srgbClr val="FF00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47" autoAdjust="0"/>
    <p:restoredTop sz="93281" autoAdjust="0"/>
  </p:normalViewPr>
  <p:slideViewPr>
    <p:cSldViewPr>
      <p:cViewPr varScale="1">
        <p:scale>
          <a:sx n="90" d="100"/>
          <a:sy n="90" d="100"/>
        </p:scale>
        <p:origin x="3075" y="29"/>
      </p:cViewPr>
      <p:guideLst>
        <p:guide orient="horz" pos="2160"/>
        <p:guide pos="2880"/>
      </p:guideLst>
    </p:cSldViewPr>
  </p:slideViewPr>
  <p:notesTextViewPr>
    <p:cViewPr>
      <p:scale>
        <a:sx n="100" d="100"/>
        <a:sy n="100" d="100"/>
      </p:scale>
      <p:origin x="0" y="0"/>
    </p:cViewPr>
  </p:notesTextViewPr>
  <p:sorterViewPr>
    <p:cViewPr>
      <p:scale>
        <a:sx n="51" d="100"/>
        <a:sy n="51" d="100"/>
      </p:scale>
      <p:origin x="0" y="0"/>
    </p:cViewPr>
  </p:sorterViewPr>
  <p:notesViewPr>
    <p:cSldViewPr>
      <p:cViewPr varScale="1">
        <p:scale>
          <a:sx n="53" d="100"/>
          <a:sy n="53" d="100"/>
        </p:scale>
        <p:origin x="-1836" y="-84"/>
      </p:cViewPr>
      <p:guideLst>
        <p:guide orient="horz" pos="3024"/>
        <p:guide pos="2305"/>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kram Goyal" userId="4529b0165c9307b1" providerId="LiveId" clId="{8741DED5-9FD4-49F2-BFE8-C8CAB0F79BF7}"/>
    <pc:docChg chg="undo custSel modSld">
      <pc:chgData name="VIkram Goyal" userId="4529b0165c9307b1" providerId="LiveId" clId="{8741DED5-9FD4-49F2-BFE8-C8CAB0F79BF7}" dt="2024-08-28T11:11:34.125" v="9" actId="20577"/>
      <pc:docMkLst>
        <pc:docMk/>
      </pc:docMkLst>
      <pc:sldChg chg="modSp mod">
        <pc:chgData name="VIkram Goyal" userId="4529b0165c9307b1" providerId="LiveId" clId="{8741DED5-9FD4-49F2-BFE8-C8CAB0F79BF7}" dt="2024-08-28T11:11:34.125" v="9" actId="20577"/>
        <pc:sldMkLst>
          <pc:docMk/>
          <pc:sldMk cId="3897600388" sldId="474"/>
        </pc:sldMkLst>
        <pc:spChg chg="mod">
          <ac:chgData name="VIkram Goyal" userId="4529b0165c9307b1" providerId="LiveId" clId="{8741DED5-9FD4-49F2-BFE8-C8CAB0F79BF7}" dt="2024-08-28T11:11:34.125" v="9" actId="20577"/>
          <ac:spMkLst>
            <pc:docMk/>
            <pc:sldMk cId="3897600388" sldId="474"/>
            <ac:spMk id="2" creationId="{20A46FBE-D69D-2418-A0DD-D3C0FEB29360}"/>
          </ac:spMkLst>
        </pc:spChg>
        <pc:spChg chg="mod">
          <ac:chgData name="VIkram Goyal" userId="4529b0165c9307b1" providerId="LiveId" clId="{8741DED5-9FD4-49F2-BFE8-C8CAB0F79BF7}" dt="2024-08-28T11:11:27.497" v="5" actId="20577"/>
          <ac:spMkLst>
            <pc:docMk/>
            <pc:sldMk cId="3897600388" sldId="474"/>
            <ac:spMk id="3" creationId="{95B61D8B-BAEF-9ECD-47BF-23D5EA2B81D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170238" cy="479425"/>
          </a:xfrm>
          <a:prstGeom prst="rect">
            <a:avLst/>
          </a:prstGeom>
        </p:spPr>
        <p:txBody>
          <a:bodyPr vert="horz" lIns="91430" tIns="45715" rIns="91430" bIns="45715" rtlCol="0"/>
          <a:lstStyle>
            <a:lvl1pPr algn="l">
              <a:defRPr sz="1200"/>
            </a:lvl1pPr>
          </a:lstStyle>
          <a:p>
            <a:endParaRPr lang="en-US"/>
          </a:p>
        </p:txBody>
      </p:sp>
      <p:sp>
        <p:nvSpPr>
          <p:cNvPr id="3" name="Date Placeholder 2"/>
          <p:cNvSpPr>
            <a:spLocks noGrp="1"/>
          </p:cNvSpPr>
          <p:nvPr>
            <p:ph type="dt" sz="quarter" idx="1"/>
          </p:nvPr>
        </p:nvSpPr>
        <p:spPr>
          <a:xfrm>
            <a:off x="4143375" y="1"/>
            <a:ext cx="3170238" cy="479425"/>
          </a:xfrm>
          <a:prstGeom prst="rect">
            <a:avLst/>
          </a:prstGeom>
        </p:spPr>
        <p:txBody>
          <a:bodyPr vert="horz" lIns="91430" tIns="45715" rIns="91430" bIns="45715" rtlCol="0"/>
          <a:lstStyle>
            <a:lvl1pPr algn="r">
              <a:defRPr sz="1200"/>
            </a:lvl1pPr>
          </a:lstStyle>
          <a:p>
            <a:fld id="{D3E28C4F-4FE9-4D22-93D8-487A4D01D983}" type="datetimeFigureOut">
              <a:rPr lang="en-US" smtClean="0"/>
              <a:pPr/>
              <a:t>8/28/2024</a:t>
            </a:fld>
            <a:endParaRPr lang="en-US"/>
          </a:p>
        </p:txBody>
      </p:sp>
      <p:sp>
        <p:nvSpPr>
          <p:cNvPr id="4" name="Footer Placeholder 3"/>
          <p:cNvSpPr>
            <a:spLocks noGrp="1"/>
          </p:cNvSpPr>
          <p:nvPr>
            <p:ph type="ftr" sz="quarter" idx="2"/>
          </p:nvPr>
        </p:nvSpPr>
        <p:spPr>
          <a:xfrm>
            <a:off x="1" y="9120189"/>
            <a:ext cx="3170238" cy="479425"/>
          </a:xfrm>
          <a:prstGeom prst="rect">
            <a:avLst/>
          </a:prstGeom>
        </p:spPr>
        <p:txBody>
          <a:bodyPr vert="horz" lIns="91430" tIns="45715" rIns="91430" bIns="45715" rtlCol="0" anchor="b"/>
          <a:lstStyle>
            <a:lvl1pPr algn="l">
              <a:defRPr sz="1200"/>
            </a:lvl1pPr>
          </a:lstStyle>
          <a:p>
            <a:endParaRPr lang="en-US"/>
          </a:p>
        </p:txBody>
      </p:sp>
      <p:sp>
        <p:nvSpPr>
          <p:cNvPr id="5" name="Slide Number Placeholder 4"/>
          <p:cNvSpPr>
            <a:spLocks noGrp="1"/>
          </p:cNvSpPr>
          <p:nvPr>
            <p:ph type="sldNum" sz="quarter" idx="3"/>
          </p:nvPr>
        </p:nvSpPr>
        <p:spPr>
          <a:xfrm>
            <a:off x="4143375" y="9120189"/>
            <a:ext cx="3170238" cy="479425"/>
          </a:xfrm>
          <a:prstGeom prst="rect">
            <a:avLst/>
          </a:prstGeom>
        </p:spPr>
        <p:txBody>
          <a:bodyPr vert="horz" lIns="91430" tIns="45715" rIns="91430" bIns="45715" rtlCol="0" anchor="b"/>
          <a:lstStyle>
            <a:lvl1pPr algn="r">
              <a:defRPr sz="1200"/>
            </a:lvl1pPr>
          </a:lstStyle>
          <a:p>
            <a:fld id="{BD5F390F-F66B-4732-9C46-6C80D0575FA0}" type="slidenum">
              <a:rPr lang="en-US" smtClean="0"/>
              <a:pPr/>
              <a:t>‹#›</a:t>
            </a:fld>
            <a:endParaRPr lang="en-US"/>
          </a:p>
        </p:txBody>
      </p:sp>
    </p:spTree>
    <p:extLst>
      <p:ext uri="{BB962C8B-B14F-4D97-AF65-F5344CB8AC3E}">
        <p14:creationId xmlns:p14="http://schemas.microsoft.com/office/powerpoint/2010/main" val="706496012"/>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2-02-03T03:32:12.547"/>
    </inkml:context>
    <inkml:brush xml:id="br0">
      <inkml:brushProperty name="width" value="0.05" units="cm"/>
      <inkml:brushProperty name="height" value="0.05" units="cm"/>
      <inkml:brushProperty name="color" value="#F6630D"/>
    </inkml:brush>
  </inkml:definitions>
  <inkml:trace contextRef="#ctx0" brushRef="#br0">80 27 12639 0 0,'0'0'2283'0'0,"0"3"-2154"0"0,-4 25-61 0 0,-1-1 0 0 0,-10 27-1 0 0,1-1-18 0 0,8-28-49 0 0,-24 125 0 0 0,27-130 0 0 0,1-1 0 0 0,1 0 0 0 0,1 1 0 0 0,1-1 0 0 0,6 35 0 0 0,-6-48-10 0 0,0 0 0 0 0,1-1 0 0 0,0 0 0 0 0,0 1 0 0 0,5 7 0 0 0,-7-12 9 0 0,1 0 1 0 0,-1 0-1 0 0,1-1 0 0 0,0 1 0 0 0,-1 0 0 0 0,1 0 1 0 0,0-1-1 0 0,-1 1 0 0 0,1 0 0 0 0,0-1 0 0 0,0 1 1 0 0,0-1-1 0 0,0 1 0 0 0,1 0 0 0 0,1-1 1 0 0,0 1 0 0 0,0-1 0 0 0,0 0 0 0 0,0 0 0 0 0,0 0 0 0 0,-1 0 0 0 0,1-1 0 0 0,0 1 0 0 0,0-1 0 0 0,0 0 0 0 0,5-2 0 0 0,1 0 0 0 0,0-1 0 0 0,12-8 0 0 0,-9 4 16 0 0,-1-2-1 0 0,1 1 0 0 0,-2-2 0 0 0,0 1 1 0 0,14-19-1 0 0,-7 9 45 0 0,-1 1-3 0 0,113-124 502 0 0,-125 139-488 0 0,-2 3-3 0 0,-1-1 0 0 0,1 1 1 0 0,0-1-1 0 0,-1 1 0 0 0,1-1 0 0 0,-1 0 0 0 0,2-2 0 0 0,8 33 106 0 0,-11-22-165 0 0,0 0 1 0 0,0 1-1 0 0,-1-1 1 0 0,1 0-1 0 0,-2 0 1 0 0,1 0-1 0 0,-5 12 1 0 0,-3 15 78 0 0,9-34-87 0 0,0 1 1 0 0,0-1 0 0 0,0 0 0 0 0,0 0 0 0 0,0 0 0 0 0,0 0 0 0 0,0 0 0 0 0,0 0 0 0 0,0 0 0 0 0,0 1-1 0 0,0-1 1 0 0,0 0 0 0 0,0 0 0 0 0,0 0 0 0 0,0 0 0 0 0,0 0 0 0 0,0 0 0 0 0,0 1 0 0 0,0-1 0 0 0,0 0-1 0 0,0 0 1 0 0,0 0 0 0 0,0 0 0 0 0,0 0 0 0 0,0 0 0 0 0,0 0 0 0 0,0 0 0 0 0,1 1 0 0 0,-1-1 0 0 0,0 0-1 0 0,0 0 1 0 0,0 0 0 0 0,0 0 0 0 0,0 0 0 0 0,0 0 0 0 0,0 0 0 0 0,0 0 0 0 0,1 0 0 0 0,-1 0 0 0 0,0 0-1 0 0,0 0 1 0 0,0 0 0 0 0,0 0 0 0 0,0 0 0 0 0,0 0 0 0 0,1 0 0 0 0,4 2 3 0 0,0 0 1 0 0,0 0-1 0 0,1-1 1 0 0,-1 0-1 0 0,1 0 1 0 0,-1 0 0 0 0,1-1-1 0 0,-1 0 1 0 0,1 0-1 0 0,-1 0 1 0 0,1-1-1 0 0,-1 1 1 0 0,11-4-1 0 0,7-3 39 0 0,42-17-1 0 0,-59 21-23 0 0,52-25 67 0 0,-2-3-1 0 0,62-44 1 0 0,-64 39-40 0 0,2 2-1 0 0,67-29 1 0 0,-118 60-46 0 0,170-65 12 0 0,-147 59-13 0 0,0 1 0 0 0,1 2 0 0 0,0 0-1 0 0,39-1 1 0 0,-59 7-8 0 0,-1-1 0 0 0,0 2 0 0 0,1-1 0 0 0,-1 1 0 0 0,0 0-1 0 0,1 1 1 0 0,-1 0 0 0 0,0 0 0 0 0,0 1 0 0 0,0 0 0 0 0,-1 1 0 0 0,1-1 0 0 0,-1 2-1 0 0,0-1 1 0 0,0 1 0 0 0,0 0 0 0 0,0 0 0 0 0,-1 0 0 0 0,11 13 0 0 0,-7-6-5 0 0,-1 0 1 0 0,0 1 0 0 0,-1 0 0 0 0,-1 0-1 0 0,0 1 1 0 0,0 0 0 0 0,8 29 0 0 0,-4-3-41 0 0,9 71 1 0 0,-8 14-168 0 0,-8-71-880 0 0,3-1 0 0 0,19 81 0 0 0,-13-93-175 0 0,0-4-5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12T07:02:33.606"/>
    </inkml:context>
    <inkml:brush xml:id="br0">
      <inkml:brushProperty name="width" value="0.05" units="cm"/>
      <inkml:brushProperty name="height" value="0.05" units="cm"/>
      <inkml:brushProperty name="color" value="#F6630D"/>
    </inkml:brush>
  </inkml:definitions>
  <inkml:trace contextRef="#ctx0" brushRef="#br0">1 1 1839 0 0,'0'0'160'0'0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02-12T07:28:54.875"/>
    </inkml:context>
    <inkml:brush xml:id="br0">
      <inkml:brushProperty name="width" value="0.05" units="cm"/>
      <inkml:brushProperty name="height" value="0.05" units="cm"/>
      <inkml:brushProperty name="color" value="#F6630D"/>
    </inkml:brush>
  </inkml:definitions>
  <inkml:trace contextRef="#ctx0" brushRef="#br0">52 17 16927 0 0,'0'0'752'0'0,"-13"1"152"0"0,0-1-720 0 0,4-1-184 0 0,1-1 504 0 0,0-1 24 0 0,8-8-4512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169920" cy="480060"/>
          </a:xfrm>
          <a:prstGeom prst="rect">
            <a:avLst/>
          </a:prstGeom>
        </p:spPr>
        <p:txBody>
          <a:bodyPr vert="horz" lIns="96651" tIns="48326" rIns="96651" bIns="48326" rtlCol="0"/>
          <a:lstStyle>
            <a:lvl1pPr algn="l">
              <a:defRPr sz="1300"/>
            </a:lvl1pPr>
          </a:lstStyle>
          <a:p>
            <a:endParaRPr lang="en-US"/>
          </a:p>
        </p:txBody>
      </p:sp>
      <p:sp>
        <p:nvSpPr>
          <p:cNvPr id="3" name="Date Placeholder 2"/>
          <p:cNvSpPr>
            <a:spLocks noGrp="1"/>
          </p:cNvSpPr>
          <p:nvPr>
            <p:ph type="dt" idx="1"/>
          </p:nvPr>
        </p:nvSpPr>
        <p:spPr>
          <a:xfrm>
            <a:off x="4143587" y="1"/>
            <a:ext cx="3169920" cy="480060"/>
          </a:xfrm>
          <a:prstGeom prst="rect">
            <a:avLst/>
          </a:prstGeom>
        </p:spPr>
        <p:txBody>
          <a:bodyPr vert="horz" lIns="96651" tIns="48326" rIns="96651" bIns="48326" rtlCol="0"/>
          <a:lstStyle>
            <a:lvl1pPr algn="r">
              <a:defRPr sz="1300"/>
            </a:lvl1pPr>
          </a:lstStyle>
          <a:p>
            <a:fld id="{EE18CB36-612C-4E4A-AC83-E89476AEC2BF}" type="datetimeFigureOut">
              <a:rPr lang="en-US" smtClean="0"/>
              <a:pPr/>
              <a:t>8/28/2024</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51" tIns="48326" rIns="96651" bIns="48326" rtlCol="0" anchor="ctr"/>
          <a:lstStyle/>
          <a:p>
            <a:endParaRPr lang="en-US"/>
          </a:p>
        </p:txBody>
      </p:sp>
      <p:sp>
        <p:nvSpPr>
          <p:cNvPr id="5" name="Notes Placeholder 4"/>
          <p:cNvSpPr>
            <a:spLocks noGrp="1"/>
          </p:cNvSpPr>
          <p:nvPr>
            <p:ph type="body" sz="quarter" idx="3"/>
          </p:nvPr>
        </p:nvSpPr>
        <p:spPr>
          <a:xfrm>
            <a:off x="731521" y="4560571"/>
            <a:ext cx="5852160" cy="4320540"/>
          </a:xfrm>
          <a:prstGeom prst="rect">
            <a:avLst/>
          </a:prstGeom>
        </p:spPr>
        <p:txBody>
          <a:bodyPr vert="horz" lIns="96651" tIns="48326" rIns="96651" bIns="4832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0060"/>
          </a:xfrm>
          <a:prstGeom prst="rect">
            <a:avLst/>
          </a:prstGeom>
        </p:spPr>
        <p:txBody>
          <a:bodyPr vert="horz" lIns="96651" tIns="48326" rIns="96651" bIns="48326"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5"/>
            <a:ext cx="3169920" cy="480060"/>
          </a:xfrm>
          <a:prstGeom prst="rect">
            <a:avLst/>
          </a:prstGeom>
        </p:spPr>
        <p:txBody>
          <a:bodyPr vert="horz" lIns="96651" tIns="48326" rIns="96651" bIns="48326" rtlCol="0" anchor="b"/>
          <a:lstStyle>
            <a:lvl1pPr algn="r">
              <a:defRPr sz="1300"/>
            </a:lvl1pPr>
          </a:lstStyle>
          <a:p>
            <a:fld id="{EE707532-839C-41A2-9E71-D5288AEAE66A}" type="slidenum">
              <a:rPr lang="en-US" smtClean="0"/>
              <a:pPr/>
              <a:t>‹#›</a:t>
            </a:fld>
            <a:endParaRPr lang="en-US"/>
          </a:p>
        </p:txBody>
      </p:sp>
    </p:spTree>
    <p:extLst>
      <p:ext uri="{BB962C8B-B14F-4D97-AF65-F5344CB8AC3E}">
        <p14:creationId xmlns:p14="http://schemas.microsoft.com/office/powerpoint/2010/main" val="27866497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E707532-839C-41A2-9E71-D5288AEAE66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608C6D8E-2BF0-4BFF-80F6-162900C916A0}" type="slidenum">
              <a:rPr lang="en-US"/>
              <a:pPr/>
              <a:t>2</a:t>
            </a:fld>
            <a:endParaRPr lang="en-US"/>
          </a:p>
        </p:txBody>
      </p:sp>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4F08479A-0051-45DD-8041-5E83DAFD685B}" type="slidenum">
              <a:rPr lang="en-US"/>
              <a:pPr/>
              <a:t>4</a:t>
            </a:fld>
            <a:endParaRPr lang="en-US"/>
          </a:p>
        </p:txBody>
      </p:sp>
      <p:sp>
        <p:nvSpPr>
          <p:cNvPr id="77826" name="Rectangle 2"/>
          <p:cNvSpPr>
            <a:spLocks noGrp="1" noRot="1" noChangeAspect="1" noChangeArrowheads="1" noTextEdit="1"/>
          </p:cNvSpPr>
          <p:nvPr>
            <p:ph type="sldImg"/>
          </p:nvPr>
        </p:nvSpPr>
        <p:spPr>
          <a:ln/>
        </p:spPr>
      </p:sp>
      <p:sp>
        <p:nvSpPr>
          <p:cNvPr id="778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p:cNvSpPr>
            <a:spLocks noGrp="1" noChangeArrowheads="1"/>
          </p:cNvSpPr>
          <p:nvPr>
            <p:ph type="sldNum"/>
          </p:nvPr>
        </p:nvSpPr>
        <p:spPr>
          <a:ln/>
        </p:spPr>
        <p:txBody>
          <a:bodyPr/>
          <a:lstStyle/>
          <a:p>
            <a:fld id="{9A1A16BB-2513-471D-9B09-24E0566F1FA6}" type="slidenum">
              <a:rPr lang="en-GB"/>
              <a:pPr/>
              <a:t>10</a:t>
            </a:fld>
            <a:endParaRPr lang="en-GB"/>
          </a:p>
        </p:txBody>
      </p:sp>
      <p:sp>
        <p:nvSpPr>
          <p:cNvPr id="33793" name="Text Box 1"/>
          <p:cNvSpPr txBox="1">
            <a:spLocks noChangeArrowheads="1"/>
          </p:cNvSpPr>
          <p:nvPr/>
        </p:nvSpPr>
        <p:spPr bwMode="auto">
          <a:xfrm>
            <a:off x="4143900" y="9120731"/>
            <a:ext cx="3171300" cy="480471"/>
          </a:xfrm>
          <a:prstGeom prst="rect">
            <a:avLst/>
          </a:prstGeom>
          <a:noFill/>
          <a:ln w="9525">
            <a:noFill/>
            <a:round/>
            <a:headEnd/>
            <a:tailEnd/>
          </a:ln>
          <a:effectLst/>
        </p:spPr>
        <p:txBody>
          <a:bodyPr lIns="96723" tIns="48174" rIns="96723" bIns="48174" anchor="b"/>
          <a:lstStyle/>
          <a:p>
            <a:pPr algn="r">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fld id="{2199D9A9-8D96-4916-B172-08B625A940CF}" type="slidenum">
              <a:rPr lang="en-GB" sz="1300">
                <a:solidFill>
                  <a:srgbClr val="7D7D7D"/>
                </a:solidFill>
              </a:rPr>
              <a:pPr algn="r">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t>10</a:t>
            </a:fld>
            <a:endParaRPr lang="en-GB" sz="1300" dirty="0">
              <a:solidFill>
                <a:srgbClr val="7D7D7D"/>
              </a:solidFill>
            </a:endParaRPr>
          </a:p>
        </p:txBody>
      </p:sp>
      <p:sp>
        <p:nvSpPr>
          <p:cNvPr id="33794" name="Text Box 2"/>
          <p:cNvSpPr txBox="1">
            <a:spLocks noChangeArrowheads="1"/>
          </p:cNvSpPr>
          <p:nvPr/>
        </p:nvSpPr>
        <p:spPr bwMode="auto">
          <a:xfrm>
            <a:off x="1232731" y="719887"/>
            <a:ext cx="4851394" cy="3601064"/>
          </a:xfrm>
          <a:prstGeom prst="rect">
            <a:avLst/>
          </a:prstGeom>
          <a:solidFill>
            <a:srgbClr val="FFFFFF"/>
          </a:solidFill>
          <a:ln w="9525">
            <a:solidFill>
              <a:srgbClr val="000000"/>
            </a:solidFill>
            <a:miter lim="800000"/>
            <a:headEnd/>
            <a:tailEnd/>
          </a:ln>
          <a:effectLst/>
        </p:spPr>
        <p:txBody>
          <a:bodyPr wrap="none" lIns="94855" tIns="47428" rIns="94855" bIns="47428" anchor="ctr"/>
          <a:lstStyle/>
          <a:p>
            <a:endParaRPr lang="en-US"/>
          </a:p>
        </p:txBody>
      </p:sp>
      <p:sp>
        <p:nvSpPr>
          <p:cNvPr id="33795" name="Text Box 3"/>
          <p:cNvSpPr txBox="1">
            <a:spLocks noGrp="1" noChangeArrowheads="1"/>
          </p:cNvSpPr>
          <p:nvPr>
            <p:ph type="body"/>
          </p:nvPr>
        </p:nvSpPr>
        <p:spPr bwMode="auto">
          <a:xfrm>
            <a:off x="732348" y="4562007"/>
            <a:ext cx="5852160" cy="4320951"/>
          </a:xfrm>
          <a:prstGeom prst="rect">
            <a:avLst/>
          </a:prstGeom>
          <a:noFill/>
          <a:ln>
            <a:round/>
            <a:headEnd/>
            <a:tailEnd/>
          </a:ln>
        </p:spPr>
        <p:txBody>
          <a:bodyPr lIns="96723" tIns="48174" rIns="96723" bIns="48174"/>
          <a:lstStyle/>
          <a:p>
            <a:pPr>
              <a:lnSpc>
                <a:spcPct val="98000"/>
              </a:lnSpc>
              <a:spcBef>
                <a:spcPts val="700"/>
              </a:spcBef>
              <a:spcAft>
                <a:spcPts val="207"/>
              </a:spcAft>
              <a:tabLst>
                <a:tab pos="0" algn="l"/>
                <a:tab pos="948549" algn="l"/>
                <a:tab pos="1897097" algn="l"/>
                <a:tab pos="2845646" algn="l"/>
                <a:tab pos="3794195" algn="l"/>
                <a:tab pos="4742744" algn="l"/>
                <a:tab pos="5691293" algn="l"/>
                <a:tab pos="6639842" algn="l"/>
                <a:tab pos="7588390" algn="l"/>
                <a:tab pos="8536938" algn="l"/>
                <a:tab pos="9485487" algn="l"/>
                <a:tab pos="10434036" algn="l"/>
              </a:tabLst>
            </a:pPr>
            <a:endParaRPr lang="en-GB" sz="1900" dirty="0">
              <a:latin typeface="Helvetica" charset="0"/>
              <a:cs typeface="Arial Unicode MS"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179BA58-2EF6-4CF0-B254-DF8BFD9A3204}" type="slidenum">
              <a:rPr lang="en-US" smtClean="0"/>
              <a:pPr/>
              <a:t>17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76F8CDA7-E52B-494C-B389-F38CB4400DB8}" type="slidenum">
              <a:rPr lang="en-GB"/>
              <a:pPr/>
              <a:t>19</a:t>
            </a:fld>
            <a:endParaRPr lang="en-GB"/>
          </a:p>
        </p:txBody>
      </p:sp>
      <p:sp>
        <p:nvSpPr>
          <p:cNvPr id="39937" name="Text Box 1"/>
          <p:cNvSpPr txBox="1">
            <a:spLocks noChangeArrowheads="1"/>
          </p:cNvSpPr>
          <p:nvPr/>
        </p:nvSpPr>
        <p:spPr bwMode="auto">
          <a:xfrm>
            <a:off x="1232731" y="719887"/>
            <a:ext cx="4851394" cy="3601064"/>
          </a:xfrm>
          <a:prstGeom prst="rect">
            <a:avLst/>
          </a:prstGeom>
          <a:solidFill>
            <a:srgbClr val="FFFFFF"/>
          </a:solidFill>
          <a:ln w="9525">
            <a:solidFill>
              <a:srgbClr val="000000"/>
            </a:solidFill>
            <a:miter lim="800000"/>
            <a:headEnd/>
            <a:tailEnd/>
          </a:ln>
          <a:effectLst/>
        </p:spPr>
        <p:txBody>
          <a:bodyPr wrap="none" lIns="94855" tIns="47428" rIns="94855" bIns="47428" anchor="ctr"/>
          <a:lstStyle/>
          <a:p>
            <a:endParaRPr lang="en-US"/>
          </a:p>
        </p:txBody>
      </p:sp>
      <p:sp>
        <p:nvSpPr>
          <p:cNvPr id="39938" name="Rectangle 2"/>
          <p:cNvSpPr txBox="1">
            <a:spLocks noGrp="1" noChangeArrowheads="1"/>
          </p:cNvSpPr>
          <p:nvPr>
            <p:ph type="body"/>
          </p:nvPr>
        </p:nvSpPr>
        <p:spPr bwMode="auto">
          <a:xfrm>
            <a:off x="732348" y="4562007"/>
            <a:ext cx="5852160" cy="4320951"/>
          </a:xfrm>
          <a:prstGeom prst="rect">
            <a:avLst/>
          </a:prstGeom>
          <a:noFill/>
          <a:ln>
            <a:round/>
            <a:headEnd/>
            <a:tailEnd/>
          </a:ln>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CAACAA9-CFDF-4E18-9880-33618E3A568B}" type="slidenum">
              <a:rPr lang="en-US"/>
              <a:pPr/>
              <a:t>27</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3999" cy="513543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ctrTitle"/>
          </p:nvPr>
        </p:nvSpPr>
        <p:spPr>
          <a:xfrm>
            <a:off x="685800" y="3355848"/>
            <a:ext cx="8077200" cy="1673352"/>
          </a:xfrm>
        </p:spPr>
        <p:txBody>
          <a:bodyPr vert="horz" lIns="91440" tIns="0" rIns="45720" bIns="0" rtlCol="0" anchor="t">
            <a:normAutofit/>
            <a:scene3d>
              <a:camera prst="orthographicFront"/>
              <a:lightRig rig="threePt" dir="t">
                <a:rot lat="0" lon="0" rev="4800000"/>
              </a:lightRig>
            </a:scene3d>
            <a:sp3d prstMaterial="matte">
              <a:bevelT w="50800" h="10160"/>
            </a:sp3d>
          </a:bodyPr>
          <a:lstStyle>
            <a:lvl1pPr algn="l">
              <a:defRPr sz="4700" b="1"/>
            </a:lvl1pPr>
            <a:extLst/>
          </a:lstStyle>
          <a:p>
            <a:r>
              <a:rPr kumimoji="0" lang="en-US"/>
              <a:t>Click to edit Master title style</a:t>
            </a:r>
          </a:p>
        </p:txBody>
      </p:sp>
      <p:sp>
        <p:nvSpPr>
          <p:cNvPr id="3" name="Subtitle 2"/>
          <p:cNvSpPr>
            <a:spLocks noGrp="1"/>
          </p:cNvSpPr>
          <p:nvPr>
            <p:ph type="subTitle" idx="1"/>
          </p:nvPr>
        </p:nvSpPr>
        <p:spPr>
          <a:xfrm>
            <a:off x="685800" y="1828800"/>
            <a:ext cx="8077200" cy="1499616"/>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kumimoji="0" lang="en-US"/>
              <a:t>Click to edit Master subtitle style</a:t>
            </a:r>
          </a:p>
        </p:txBody>
      </p:sp>
      <p:sp>
        <p:nvSpPr>
          <p:cNvPr id="4" name="Date Placeholder 3"/>
          <p:cNvSpPr>
            <a:spLocks noGrp="1"/>
          </p:cNvSpPr>
          <p:nvPr>
            <p:ph type="dt" sz="half" idx="10"/>
          </p:nvPr>
        </p:nvSpPr>
        <p:spPr/>
        <p:txBody>
          <a:bodyPr/>
          <a:lstStyle/>
          <a:p>
            <a:fld id="{74E0B15C-66BF-4548-B9F7-ABFD8B692764}" type="datetime1">
              <a:rPr lang="en-US" smtClean="0"/>
              <a:t>8/28/2024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
        <p:nvSpPr>
          <p:cNvPr id="10" name="Rectangle 9"/>
          <p:cNvSpPr/>
          <p:nvPr/>
        </p:nvSpPr>
        <p:spPr bwMode="invGray">
          <a:xfrm>
            <a:off x="0" y="5128334"/>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87552"/>
          </a:xfrm>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p:txBody>
          <a:bodyPr/>
          <a:lstStyle/>
          <a:p>
            <a:fld id="{649A1004-7A34-4C69-A29F-7848CCE72792}" type="datetime1">
              <a:rPr lang="en-US" smtClean="0"/>
              <a:t>8/28/2024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9" name="Rectangle 8"/>
          <p:cNvSpPr/>
          <p:nvPr/>
        </p:nvSpPr>
        <p:spPr bwMode="ltGray">
          <a:xfrm>
            <a:off x="0" y="0"/>
            <a:ext cx="9144000" cy="260252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ectangle 11"/>
          <p:cNvSpPr/>
          <p:nvPr/>
        </p:nvSpPr>
        <p:spPr bwMode="invGray">
          <a:xfrm>
            <a:off x="0" y="260252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749808" y="914400"/>
            <a:ext cx="8013192" cy="1636776"/>
          </a:xfrm>
        </p:spPr>
        <p:txBody>
          <a:bodyPr vert="horz" lIns="91440" tIns="0" rIns="91440" bIns="0" rtlCol="0" anchor="b">
            <a:normAutofit/>
            <a:scene3d>
              <a:camera prst="orthographicFront"/>
              <a:lightRig rig="threePt" dir="t">
                <a:rot lat="0" lon="0" rev="4800000"/>
              </a:lightRig>
            </a:scene3d>
            <a:sp3d prstMaterial="matte">
              <a:bevelT w="50800" h="10160"/>
            </a:sp3d>
          </a:bodyPr>
          <a:lstStyle>
            <a:lvl1pPr algn="l">
              <a:defRPr sz="4700" b="1" cap="none" baseline="0"/>
            </a:lvl1pPr>
            <a:extLst/>
          </a:lstStyle>
          <a:p>
            <a:r>
              <a:rPr kumimoji="0" lang="en-US" dirty="0"/>
              <a:t>Click to edit Master title style</a:t>
            </a:r>
          </a:p>
        </p:txBody>
      </p:sp>
      <p:sp>
        <p:nvSpPr>
          <p:cNvPr id="3" name="Text Placeholder 2"/>
          <p:cNvSpPr>
            <a:spLocks noGrp="1"/>
          </p:cNvSpPr>
          <p:nvPr>
            <p:ph type="body" idx="1"/>
          </p:nvPr>
        </p:nvSpPr>
        <p:spPr>
          <a:xfrm>
            <a:off x="740664" y="2743200"/>
            <a:ext cx="8022336" cy="685800"/>
          </a:xfrm>
        </p:spPr>
        <p:txBody>
          <a:bodyPr lIns="146304" tIns="0" rIns="45720" bIns="0" anchor="t">
            <a:normAutofit/>
          </a:bodyPr>
          <a:lstStyle>
            <a:lvl1pPr marL="0" indent="0">
              <a:buNone/>
              <a:defRPr sz="4000" b="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eaLnBrk="1" latinLnBrk="0" hangingPunct="1"/>
            <a:r>
              <a:rPr kumimoji="0" lang="en-US" dirty="0"/>
              <a:t>Click to edit Master text styles</a:t>
            </a:r>
          </a:p>
        </p:txBody>
      </p:sp>
      <p:sp>
        <p:nvSpPr>
          <p:cNvPr id="4" name="Date Placeholder 3"/>
          <p:cNvSpPr>
            <a:spLocks noGrp="1"/>
          </p:cNvSpPr>
          <p:nvPr>
            <p:ph type="dt" sz="half" idx="10"/>
          </p:nvPr>
        </p:nvSpPr>
        <p:spPr/>
        <p:txBody>
          <a:bodyPr/>
          <a:lstStyle/>
          <a:p>
            <a:fld id="{27D1924C-0E5F-41F9-9EF2-A30D8DD943B5}" type="datetime1">
              <a:rPr lang="en-US" smtClean="0"/>
              <a:t>8/28/2024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295400"/>
            <a:ext cx="4038600" cy="5504688"/>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295400"/>
            <a:ext cx="4038600" cy="55046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CBD3F3B2-6969-4711-938A-F55A29B51480}" type="datetime1">
              <a:rPr lang="en-US" smtClean="0"/>
              <a:t>8/28/2024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kumimoji="0" lang="en-US"/>
              <a:t>Click to edit Master title style</a:t>
            </a:r>
          </a:p>
        </p:txBody>
      </p:sp>
      <p:sp>
        <p:nvSpPr>
          <p:cNvPr id="3" name="Text Placeholder 2"/>
          <p:cNvSpPr>
            <a:spLocks noGrp="1"/>
          </p:cNvSpPr>
          <p:nvPr>
            <p:ph type="body" idx="1"/>
          </p:nvPr>
        </p:nvSpPr>
        <p:spPr>
          <a:xfrm>
            <a:off x="457200" y="1295400"/>
            <a:ext cx="4040188"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023338"/>
            <a:ext cx="4040188"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295400"/>
            <a:ext cx="4041775" cy="715355"/>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023338"/>
            <a:ext cx="4041775" cy="43774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D538DACF-DAC8-4C22-99F4-5AC8B8C6B7F9}" type="datetime1">
              <a:rPr lang="en-US" smtClean="0"/>
              <a:t>8/28/2024</a:t>
            </a:fld>
            <a:endParaRPr lang="en-US"/>
          </a:p>
        </p:txBody>
      </p:sp>
      <p:sp>
        <p:nvSpPr>
          <p:cNvPr id="8" name="Footer Placeholder 7"/>
          <p:cNvSpPr>
            <a:spLocks noGrp="1"/>
          </p:cNvSpPr>
          <p:nvPr>
            <p:ph type="ftr" sz="quarter" idx="11"/>
          </p:nvPr>
        </p:nvSpPr>
        <p:spPr/>
        <p:txBody>
          <a:bodyPr/>
          <a:lstStyle/>
          <a:p>
            <a:r>
              <a:rPr lang="en-US"/>
              <a:t>J. Leskovec, A. Rajaraman, J. Ullman: Mining of Massive Datasets, http://www.mmds.org</a:t>
            </a:r>
          </a:p>
        </p:txBody>
      </p:sp>
      <p:sp>
        <p:nvSpPr>
          <p:cNvPr id="9" name="Slide Number Placeholder 8"/>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0F84880-51F2-491D-B30A-1FC47B871D77}" type="datetime1">
              <a:rPr lang="en-US" smtClean="0"/>
              <a:t>8/28/2024</a:t>
            </a:fld>
            <a:endParaRPr lang="en-US"/>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DC6C30-2214-40E2-AEE5-9AE66D1057D0}" type="datetime1">
              <a:rPr lang="en-US" smtClean="0"/>
              <a:t>8/28/2024</a:t>
            </a:fld>
            <a:endParaRPr lang="en-US"/>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838" y="152400"/>
            <a:ext cx="2523744" cy="978408"/>
          </a:xfrm>
        </p:spPr>
        <p:txBody>
          <a:bodyPr vert="horz" lIns="73152" rIns="45720" bIns="0" rtlCol="0" anchor="b">
            <a:normAutofit/>
            <a:sp3d prstMaterial="matte"/>
          </a:bodyPr>
          <a:lstStyle>
            <a:lvl1pPr algn="l">
              <a:defRPr sz="2000" b="0"/>
            </a:lvl1pPr>
            <a:extLst/>
          </a:lstStyle>
          <a:p>
            <a:r>
              <a:rPr kumimoji="0" lang="en-US"/>
              <a:t>Click to edit Master title style</a:t>
            </a:r>
          </a:p>
        </p:txBody>
      </p:sp>
      <p:sp>
        <p:nvSpPr>
          <p:cNvPr id="3" name="Content Placeholder 2"/>
          <p:cNvSpPr>
            <a:spLocks noGrp="1"/>
          </p:cNvSpPr>
          <p:nvPr>
            <p:ph idx="1"/>
          </p:nvPr>
        </p:nvSpPr>
        <p:spPr>
          <a:xfrm>
            <a:off x="3019377" y="1743133"/>
            <a:ext cx="5920641" cy="455888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167838" y="1730018"/>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BC6C5491-B905-4984-8643-1B7C9312C1C7}" type="datetime1">
              <a:rPr lang="en-US" smtClean="0"/>
              <a:t>8/28/2024</a:t>
            </a:fld>
            <a:endParaRPr lang="en-US"/>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a:t>
            </a:fld>
            <a:endParaRPr lang="en-US"/>
          </a:p>
        </p:txBody>
      </p:sp>
      <p:sp>
        <p:nvSpPr>
          <p:cNvPr id="12" name="Rectangle 11"/>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1453896"/>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4592" y="155448"/>
            <a:ext cx="2525150" cy="978408"/>
          </a:xfrm>
        </p:spPr>
        <p:txBody>
          <a:bodyPr lIns="73152" bIns="0" anchor="b">
            <a:sp3d prstMaterial="matte"/>
          </a:bodyPr>
          <a:lstStyle>
            <a:lvl1pPr algn="l">
              <a:defRPr sz="2000" b="0"/>
            </a:lvl1pPr>
            <a:extLst/>
          </a:lstStyle>
          <a:p>
            <a:r>
              <a:rPr kumimoji="0" lang="en-US"/>
              <a:t>Click to edit Master title style</a:t>
            </a:r>
          </a:p>
        </p:txBody>
      </p:sp>
      <p:sp>
        <p:nvSpPr>
          <p:cNvPr id="3" name="Picture Placeholder 2"/>
          <p:cNvSpPr>
            <a:spLocks noGrp="1"/>
          </p:cNvSpPr>
          <p:nvPr>
            <p:ph type="pic" idx="1"/>
          </p:nvPr>
        </p:nvSpPr>
        <p:spPr>
          <a:xfrm>
            <a:off x="2903805" y="1484808"/>
            <a:ext cx="6247397" cy="5373192"/>
          </a:xfrm>
          <a:solidFill>
            <a:schemeClr val="bg2">
              <a:shade val="75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r>
              <a:rPr kumimoji="0" lang="en-US"/>
              <a:t>Click icon to add picture</a:t>
            </a:r>
            <a:endParaRPr kumimoji="0" lang="en-US" dirty="0"/>
          </a:p>
        </p:txBody>
      </p:sp>
      <p:sp>
        <p:nvSpPr>
          <p:cNvPr id="4" name="Text Placeholder 3"/>
          <p:cNvSpPr>
            <a:spLocks noGrp="1"/>
          </p:cNvSpPr>
          <p:nvPr>
            <p:ph type="body" sz="half" idx="2"/>
          </p:nvPr>
        </p:nvSpPr>
        <p:spPr>
          <a:xfrm>
            <a:off x="164592" y="1728216"/>
            <a:ext cx="2468880" cy="4572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eaLnBrk="1" latinLnBrk="0" hangingPunct="1"/>
            <a:r>
              <a:rPr kumimoji="0" lang="en-US"/>
              <a:t>Click to edit Master text styles</a:t>
            </a:r>
          </a:p>
        </p:txBody>
      </p:sp>
      <p:sp>
        <p:nvSpPr>
          <p:cNvPr id="5" name="Date Placeholder 4"/>
          <p:cNvSpPr>
            <a:spLocks noGrp="1"/>
          </p:cNvSpPr>
          <p:nvPr>
            <p:ph type="dt" sz="half" idx="10"/>
          </p:nvPr>
        </p:nvSpPr>
        <p:spPr>
          <a:xfrm>
            <a:off x="164592" y="1170432"/>
            <a:ext cx="2523744" cy="201168"/>
          </a:xfrm>
        </p:spPr>
        <p:txBody>
          <a:bodyPr/>
          <a:lstStyle/>
          <a:p>
            <a:fld id="{0D1BAC21-6A2B-4248-BF0F-2BED273A4141}" type="datetime1">
              <a:rPr lang="en-US" smtClean="0"/>
              <a:t>8/28/2024</a:t>
            </a:fld>
            <a:endParaRPr lang="en-US"/>
          </a:p>
        </p:txBody>
      </p:sp>
      <p:sp>
        <p:nvSpPr>
          <p:cNvPr id="11" name="Rectangle 10"/>
          <p:cNvSpPr/>
          <p:nvPr/>
        </p:nvSpPr>
        <p:spPr>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bwMode="invGray">
          <a:xfrm>
            <a:off x="2855737" y="0"/>
            <a:ext cx="45720" cy="68580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Footer Placeholder 5"/>
          <p:cNvSpPr>
            <a:spLocks noGrp="1"/>
          </p:cNvSpPr>
          <p:nvPr>
            <p:ph type="ftr" sz="quarter" idx="11"/>
          </p:nvPr>
        </p:nvSpPr>
        <p:spPr>
          <a:xfrm>
            <a:off x="3035808" y="1170432"/>
            <a:ext cx="5193792" cy="201168"/>
          </a:xfrm>
        </p:spPr>
        <p:txBody>
          <a:bodyPr/>
          <a:lstStyle>
            <a:lvl1pPr>
              <a:defRPr>
                <a:solidFill>
                  <a:schemeClr val="bg1">
                    <a:shade val="50000"/>
                  </a:schemeClr>
                </a:solidFill>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8339328" y="1170432"/>
            <a:ext cx="733864" cy="201168"/>
          </a:xfrm>
        </p:spPr>
        <p:txBody>
          <a:bodyPr/>
          <a:lstStyle/>
          <a:p>
            <a:fld id="{19B12225-5612-419B-A8D5-4B8EEE4C217E}"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587E39B9-8394-4A3F-AE29-D25E40635A66}" type="datetime1">
              <a:rPr lang="en-US" smtClean="0"/>
              <a:t>8/28/2024</a:t>
            </a:fld>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9" name="Rectangle 8"/>
          <p:cNvSpPr/>
          <p:nvPr/>
        </p:nvSpPr>
        <p:spPr bwMode="invGray">
          <a:xfrm>
            <a:off x="6598920" y="0"/>
            <a:ext cx="45720" cy="68580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bwMode="ltGray">
          <a:xfrm>
            <a:off x="6647687" y="0"/>
            <a:ext cx="2514601" cy="68580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Vertical Title 1"/>
          <p:cNvSpPr>
            <a:spLocks noGrp="1"/>
          </p:cNvSpPr>
          <p:nvPr>
            <p:ph type="title" orient="vert"/>
          </p:nvPr>
        </p:nvSpPr>
        <p:spPr>
          <a:xfrm>
            <a:off x="6781800" y="274640"/>
            <a:ext cx="19050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304800"/>
            <a:ext cx="60198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6E89BE1B-109A-4A1E-A524-238B7EF05396}" type="datetime1">
              <a:rPr lang="en-US" smtClean="0"/>
              <a:t>8/28/2024</a:t>
            </a:fld>
            <a:endParaRPr lang="en-US"/>
          </a:p>
        </p:txBody>
      </p:sp>
      <p:sp>
        <p:nvSpPr>
          <p:cNvPr id="5" name="Footer Placeholder 4"/>
          <p:cNvSpPr>
            <a:spLocks noGrp="1"/>
          </p:cNvSpPr>
          <p:nvPr>
            <p:ph type="ftr" sz="quarter" idx="11"/>
          </p:nvPr>
        </p:nvSpPr>
        <p:spPr>
          <a:xfrm>
            <a:off x="2640597" y="6377459"/>
            <a:ext cx="3836404" cy="365125"/>
          </a:xfrm>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920" y="273629"/>
            <a:ext cx="8226720" cy="1143480"/>
          </a:xfrm>
        </p:spPr>
        <p:txBody>
          <a:bodyPr tIns="41473" bIns="41473"/>
          <a:lstStyle/>
          <a:p>
            <a:r>
              <a:rPr lang="en-US"/>
              <a:t>Click to edit Master title style</a:t>
            </a:r>
          </a:p>
        </p:txBody>
      </p:sp>
      <p:sp>
        <p:nvSpPr>
          <p:cNvPr id="3" name="Text Placeholder 2"/>
          <p:cNvSpPr>
            <a:spLocks noGrp="1"/>
          </p:cNvSpPr>
          <p:nvPr>
            <p:ph type="body" sz="half" idx="1"/>
          </p:nvPr>
        </p:nvSpPr>
        <p:spPr>
          <a:xfrm>
            <a:off x="457920" y="1604329"/>
            <a:ext cx="4043520" cy="4524955"/>
          </a:xfrm>
        </p:spPr>
        <p:txBody>
          <a:bodyPr rIns="82945" bIns="41473"/>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39680" y="1604329"/>
            <a:ext cx="4044960" cy="4524955"/>
          </a:xfrm>
        </p:spPr>
        <p:txBody>
          <a:bodyPr rIns="82945" bIns="41473"/>
          <a:lstStyle/>
          <a:p>
            <a:endParaRPr lang="en-US"/>
          </a:p>
        </p:txBody>
      </p:sp>
      <p:sp>
        <p:nvSpPr>
          <p:cNvPr id="5" name="Date Placeholder 4"/>
          <p:cNvSpPr>
            <a:spLocks noGrp="1"/>
          </p:cNvSpPr>
          <p:nvPr>
            <p:ph type="dt" idx="10"/>
          </p:nvPr>
        </p:nvSpPr>
        <p:spPr>
          <a:xfrm>
            <a:off x="457920" y="6247376"/>
            <a:ext cx="2126880" cy="472370"/>
          </a:xfrm>
        </p:spPr>
        <p:txBody>
          <a:bodyPr tIns="41473"/>
          <a:lstStyle>
            <a:lvl1pPr>
              <a:defRPr/>
            </a:lvl1pPr>
          </a:lstStyle>
          <a:p>
            <a:fld id="{8B8FAD7C-9E74-490A-9976-CEAC407DBF81}" type="datetime1">
              <a:rPr lang="en-US" smtClean="0"/>
              <a:t>8/28/2024</a:t>
            </a:fld>
            <a:endParaRPr lang="en-GB"/>
          </a:p>
        </p:txBody>
      </p:sp>
      <p:sp>
        <p:nvSpPr>
          <p:cNvPr id="6" name="Footer Placeholder 5"/>
          <p:cNvSpPr>
            <a:spLocks noGrp="1"/>
          </p:cNvSpPr>
          <p:nvPr>
            <p:ph type="ftr" idx="11"/>
          </p:nvPr>
        </p:nvSpPr>
        <p:spPr>
          <a:xfrm>
            <a:off x="3126240" y="6247376"/>
            <a:ext cx="2897280" cy="472370"/>
          </a:xfrm>
        </p:spPr>
        <p:txBody>
          <a:bodyPr tIns="41473"/>
          <a:lstStyle>
            <a:lvl1pPr>
              <a:defRPr/>
            </a:lvl1pPr>
          </a:lstStyle>
          <a:p>
            <a:r>
              <a:rPr lang="en-US"/>
              <a:t>J. Leskovec, A. Rajaraman, J. Ullman: Mining of Massive Datasets, http://www.mmds.org</a:t>
            </a:r>
            <a:endParaRPr lang="en-GB"/>
          </a:p>
        </p:txBody>
      </p:sp>
      <p:sp>
        <p:nvSpPr>
          <p:cNvPr id="7" name="Slide Number Placeholder 6"/>
          <p:cNvSpPr>
            <a:spLocks noGrp="1"/>
          </p:cNvSpPr>
          <p:nvPr>
            <p:ph type="sldNum" idx="12"/>
          </p:nvPr>
        </p:nvSpPr>
        <p:spPr>
          <a:xfrm>
            <a:off x="6554880" y="6247376"/>
            <a:ext cx="2128320" cy="472370"/>
          </a:xfrm>
        </p:spPr>
        <p:txBody>
          <a:bodyPr lIns="82945" tIns="41473" rIns="82945"/>
          <a:lstStyle>
            <a:lvl1pPr>
              <a:defRPr/>
            </a:lvl1pPr>
          </a:lstStyle>
          <a:p>
            <a:fld id="{10066599-523B-4641-9CCC-17D83CD935ED}" type="slidenum">
              <a:rPr lang="en-GB"/>
              <a:pPr/>
              <a:t>‹#›</a:t>
            </a:fld>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245225"/>
            <a:ext cx="2133600" cy="476250"/>
          </a:xfrm>
        </p:spPr>
        <p:txBody>
          <a:bodyPr/>
          <a:lstStyle>
            <a:lvl1pPr>
              <a:defRPr/>
            </a:lvl1pPr>
          </a:lstStyle>
          <a:p>
            <a:fld id="{8667AA6D-B4FD-46B1-B3E9-B042C52C85A2}" type="datetime1">
              <a:rPr lang="en-US" smtClean="0"/>
              <a:t>8/28/2024</a:t>
            </a:fld>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J. Leskovec, A. Rajaraman, J. Ullman: Mining of Massive Datasets, http://www.mmds.org</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39826768-8FCE-4417-A22B-1D26CD2A846A}" type="slidenum">
              <a:rPr lang="en-US"/>
              <a:pPr/>
              <a:t>‹#›</a:t>
            </a:fld>
            <a:endParaRPr lang="en-US"/>
          </a:p>
        </p:txBody>
      </p:sp>
    </p:spTree>
    <p:extLst>
      <p:ext uri="{BB962C8B-B14F-4D97-AF65-F5344CB8AC3E}">
        <p14:creationId xmlns:p14="http://schemas.microsoft.com/office/powerpoint/2010/main" val="142097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bwMode="invGray">
          <a:xfrm>
            <a:off x="0" y="1021080"/>
            <a:ext cx="9144000" cy="45720"/>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7" name="Rectangle 6"/>
          <p:cNvSpPr/>
          <p:nvPr/>
        </p:nvSpPr>
        <p:spPr bwMode="ltGray">
          <a:xfrm>
            <a:off x="0" y="1"/>
            <a:ext cx="9143999" cy="1021079"/>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Placeholder 1"/>
          <p:cNvSpPr>
            <a:spLocks noGrp="1"/>
          </p:cNvSpPr>
          <p:nvPr>
            <p:ph type="title"/>
          </p:nvPr>
        </p:nvSpPr>
        <p:spPr>
          <a:xfrm>
            <a:off x="457200" y="152400"/>
            <a:ext cx="8229600" cy="838200"/>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kumimoji="0" lang="en-US" dirty="0"/>
              <a:t>Click to edit Master title style</a:t>
            </a:r>
          </a:p>
        </p:txBody>
      </p:sp>
      <p:sp>
        <p:nvSpPr>
          <p:cNvPr id="3" name="Text Placeholder 2"/>
          <p:cNvSpPr>
            <a:spLocks noGrp="1"/>
          </p:cNvSpPr>
          <p:nvPr>
            <p:ph type="body" idx="1"/>
          </p:nvPr>
        </p:nvSpPr>
        <p:spPr>
          <a:xfrm>
            <a:off x="457200" y="1295400"/>
            <a:ext cx="8229600" cy="5257801"/>
          </a:xfrm>
          <a:prstGeom prst="rect">
            <a:avLst/>
          </a:prstGeom>
        </p:spPr>
        <p:txBody>
          <a:bodyPr vert="horz" lIns="54864" tIns="91440" rtlCol="0">
            <a:normAutofit/>
          </a:bodyPr>
          <a:lstStyle/>
          <a:p>
            <a:pPr lvl="0" eaLnBrk="1" latinLnBrk="0" hangingPunct="1"/>
            <a:r>
              <a:rPr kumimoji="0" lang="en-US" dirty="0"/>
              <a:t>Click to edit Master text styles</a:t>
            </a:r>
          </a:p>
          <a:p>
            <a:pPr lvl="1" eaLnBrk="1" latinLnBrk="0" hangingPunct="1"/>
            <a:r>
              <a:rPr kumimoji="0" lang="en-US" dirty="0"/>
              <a:t>Second level</a:t>
            </a:r>
          </a:p>
          <a:p>
            <a:pPr lvl="2" eaLnBrk="1" latinLnBrk="0" hangingPunct="1"/>
            <a:r>
              <a:rPr kumimoji="0" lang="en-US" dirty="0"/>
              <a:t>Third level</a:t>
            </a:r>
          </a:p>
          <a:p>
            <a:pPr lvl="3" eaLnBrk="1" latinLnBrk="0" hangingPunct="1"/>
            <a:r>
              <a:rPr kumimoji="0" lang="en-US" dirty="0"/>
              <a:t>Fourth level</a:t>
            </a:r>
          </a:p>
          <a:p>
            <a:pPr lvl="4" eaLnBrk="1" latinLnBrk="0" hangingPunct="1"/>
            <a:r>
              <a:rPr kumimoji="0" lang="en-US" dirty="0"/>
              <a:t>Fifth level</a:t>
            </a:r>
          </a:p>
        </p:txBody>
      </p:sp>
      <p:sp>
        <p:nvSpPr>
          <p:cNvPr id="4" name="Date Placeholder 3"/>
          <p:cNvSpPr>
            <a:spLocks noGrp="1"/>
          </p:cNvSpPr>
          <p:nvPr>
            <p:ph type="dt" sz="half" idx="2"/>
          </p:nvPr>
        </p:nvSpPr>
        <p:spPr>
          <a:xfrm>
            <a:off x="457200" y="6583680"/>
            <a:ext cx="2133600" cy="274320"/>
          </a:xfrm>
          <a:prstGeom prst="rect">
            <a:avLst/>
          </a:prstGeom>
        </p:spPr>
        <p:txBody>
          <a:bodyPr vert="horz" lIns="109728"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fld id="{C998EF77-6613-48F2-974F-C60E70302254}" type="datetime1">
              <a:rPr lang="en-US" smtClean="0"/>
              <a:t>8/28/2024</a:t>
            </a:fld>
            <a:endParaRPr lang="en-US"/>
          </a:p>
        </p:txBody>
      </p:sp>
      <p:sp>
        <p:nvSpPr>
          <p:cNvPr id="5" name="Footer Placeholder 4"/>
          <p:cNvSpPr>
            <a:spLocks noGrp="1"/>
          </p:cNvSpPr>
          <p:nvPr>
            <p:ph type="ftr" sz="quarter" idx="3"/>
          </p:nvPr>
        </p:nvSpPr>
        <p:spPr>
          <a:xfrm>
            <a:off x="2640596" y="6583680"/>
            <a:ext cx="5507719" cy="274320"/>
          </a:xfrm>
          <a:prstGeom prst="rect">
            <a:avLst/>
          </a:prstGeom>
        </p:spPr>
        <p:txBody>
          <a:bodyPr vert="horz" lIns="45720" rIns="45720" bIns="0" rtlCol="0" anchor="b"/>
          <a:lstStyle>
            <a:lvl1pPr algn="l" eaLnBrk="1" latinLnBrk="0" hangingPunct="1">
              <a:defRPr kumimoji="0" sz="900">
                <a:solidFill>
                  <a:schemeClr val="tx1">
                    <a:tint val="95000"/>
                  </a:schemeClr>
                </a:solidFill>
                <a:latin typeface="Calibri" pitchFamily="34" charset="0"/>
                <a:cs typeface="Calibri" pitchFamily="34" charset="0"/>
              </a:defRPr>
            </a:lvl1pPr>
            <a:extLst/>
          </a:lstStyle>
          <a:p>
            <a:r>
              <a:rPr lang="en-US"/>
              <a:t>J. Leskovec, A. Rajaraman, J. Ullman: Mining of Massive Datasets, http://www.mmds.org</a:t>
            </a:r>
            <a:endParaRPr lang="en-US" dirty="0"/>
          </a:p>
        </p:txBody>
      </p:sp>
      <p:sp>
        <p:nvSpPr>
          <p:cNvPr id="6" name="Slide Number Placeholder 5"/>
          <p:cNvSpPr>
            <a:spLocks noGrp="1"/>
          </p:cNvSpPr>
          <p:nvPr>
            <p:ph type="sldNum" sz="quarter" idx="4"/>
          </p:nvPr>
        </p:nvSpPr>
        <p:spPr>
          <a:xfrm>
            <a:off x="8204396" y="6583680"/>
            <a:ext cx="733864" cy="274320"/>
          </a:xfrm>
          <a:prstGeom prst="rect">
            <a:avLst/>
          </a:prstGeom>
        </p:spPr>
        <p:txBody>
          <a:bodyPr vert="horz" bIns="0" rtlCol="0" anchor="b"/>
          <a:lstStyle>
            <a:lvl1pPr algn="r" eaLnBrk="1" latinLnBrk="0" hangingPunct="1">
              <a:defRPr kumimoji="0" sz="900">
                <a:solidFill>
                  <a:schemeClr val="tx1">
                    <a:tint val="95000"/>
                  </a:schemeClr>
                </a:solidFill>
                <a:latin typeface="Calibri" pitchFamily="34" charset="0"/>
                <a:cs typeface="Calibri" pitchFamily="34" charset="0"/>
              </a:defRPr>
            </a:lvl1pPr>
            <a:extLst/>
          </a:lstStyle>
          <a:p>
            <a:fld id="{19B12225-5612-419B-A8D5-4B8EEE4C217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5" r:id="rId12"/>
    <p:sldLayoutId id="2147483677" r:id="rId13"/>
  </p:sldLayoutIdLst>
  <p:hf hdr="0" dt="0"/>
  <p:txStyles>
    <p:titleStyle>
      <a:lvl1pPr algn="l" rtl="0" eaLnBrk="1" latinLnBrk="0" hangingPunct="1">
        <a:spcBef>
          <a:spcPct val="0"/>
        </a:spcBef>
        <a:buNone/>
        <a:defRPr kumimoji="0" sz="4500" b="1" kern="1200">
          <a:solidFill>
            <a:schemeClr val="accent1">
              <a:satMod val="150000"/>
            </a:schemeClr>
          </a:solidFill>
          <a:effectLst/>
          <a:latin typeface="+mj-lt"/>
          <a:ea typeface="+mj-ea"/>
          <a:cs typeface="+mj-cs"/>
        </a:defRPr>
      </a:lvl1pPr>
      <a:extLst/>
    </p:titleStyle>
    <p:bodyStyle>
      <a:lvl1pPr marL="438912" indent="-320040" algn="l" rtl="0" eaLnBrk="1" latinLnBrk="0" hangingPunct="1">
        <a:spcBef>
          <a:spcPts val="0"/>
        </a:spcBef>
        <a:buClr>
          <a:schemeClr val="accent1"/>
        </a:buClr>
        <a:buSzPct val="80000"/>
        <a:buFont typeface="Wingdings 2"/>
        <a:buChar char=""/>
        <a:defRPr kumimoji="0" sz="3200" kern="1200">
          <a:solidFill>
            <a:schemeClr val="tx1"/>
          </a:solidFill>
          <a:latin typeface="Calibri" pitchFamily="34" charset="0"/>
          <a:ea typeface="+mn-ea"/>
          <a:cs typeface="Calibri" pitchFamily="34" charset="0"/>
        </a:defRPr>
      </a:lvl1pPr>
      <a:lvl2pPr marL="731520" indent="-274320" algn="l" rtl="0" eaLnBrk="1" latinLnBrk="0" hangingPunct="1">
        <a:spcBef>
          <a:spcPct val="20000"/>
        </a:spcBef>
        <a:buClr>
          <a:schemeClr val="accent2"/>
        </a:buClr>
        <a:buSzPct val="100000"/>
        <a:buFont typeface="Wingdings" pitchFamily="2" charset="2"/>
        <a:buChar char="§"/>
        <a:defRPr kumimoji="0" sz="2800" kern="1200">
          <a:solidFill>
            <a:schemeClr val="tx1"/>
          </a:solidFill>
          <a:latin typeface="Calibri" pitchFamily="34" charset="0"/>
          <a:ea typeface="+mn-ea"/>
          <a:cs typeface="Calibri" pitchFamily="34" charset="0"/>
        </a:defRPr>
      </a:lvl2pPr>
      <a:lvl3pPr marL="996696" indent="-228600" algn="l" rtl="0" eaLnBrk="1" latinLnBrk="0" hangingPunct="1">
        <a:spcBef>
          <a:spcPct val="20000"/>
        </a:spcBef>
        <a:buClr>
          <a:schemeClr val="accent3"/>
        </a:buClr>
        <a:buSzPct val="100000"/>
        <a:buFont typeface="Wingdings" pitchFamily="2" charset="2"/>
        <a:buChar char="§"/>
        <a:defRPr kumimoji="0" sz="2400" kern="1200">
          <a:solidFill>
            <a:schemeClr val="tx1"/>
          </a:solidFill>
          <a:latin typeface="Calibri" pitchFamily="34" charset="0"/>
          <a:ea typeface="+mn-ea"/>
          <a:cs typeface="Calibri" pitchFamily="34" charset="0"/>
        </a:defRPr>
      </a:lvl3pPr>
      <a:lvl4pPr marL="1216152" indent="-182880" algn="l" rtl="0" eaLnBrk="1" latinLnBrk="0" hangingPunct="1">
        <a:spcBef>
          <a:spcPct val="20000"/>
        </a:spcBef>
        <a:buClr>
          <a:schemeClr val="accent4"/>
        </a:buClr>
        <a:buSzPct val="100000"/>
        <a:buFont typeface="Wingdings" pitchFamily="2" charset="2"/>
        <a:buChar char="§"/>
        <a:defRPr kumimoji="0" sz="2000" kern="1200">
          <a:solidFill>
            <a:schemeClr val="tx1"/>
          </a:solidFill>
          <a:latin typeface="Calibri" pitchFamily="34" charset="0"/>
          <a:ea typeface="+mn-ea"/>
          <a:cs typeface="Calibri" pitchFamily="34" charset="0"/>
        </a:defRPr>
      </a:lvl4pPr>
      <a:lvl5pPr marL="1426464" indent="-182880" algn="l" rtl="0" eaLnBrk="1" latinLnBrk="0" hangingPunct="1">
        <a:spcBef>
          <a:spcPct val="20000"/>
        </a:spcBef>
        <a:buClr>
          <a:schemeClr val="accent5"/>
        </a:buClr>
        <a:buSzPct val="100000"/>
        <a:buFont typeface="Wingdings" pitchFamily="2" charset="2"/>
        <a:buChar char="§"/>
        <a:defRPr kumimoji="0" lang="en-US" sz="2000" kern="1200" smtClean="0">
          <a:solidFill>
            <a:schemeClr val="tx1"/>
          </a:solidFill>
          <a:latin typeface="Calibri" pitchFamily="34" charset="0"/>
          <a:ea typeface="+mn-ea"/>
          <a:cs typeface="Calibri" pitchFamily="34" charset="0"/>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www.mmds.org/"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bit.ly/Shh0RO"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labs.google.com/papers/gfs.html" TargetMode="External"/><Relationship Id="rId2" Type="http://schemas.openxmlformats.org/officeDocument/2006/relationships/hyperlink" Target="http://labs.google.com/papers/mapreduce.html"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8.emf"/><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9.emf"/><Relationship Id="rId1" Type="http://schemas.openxmlformats.org/officeDocument/2006/relationships/slideLayout" Target="../slideLayouts/slideLayout2.xml"/><Relationship Id="rId4" Type="http://schemas.openxmlformats.org/officeDocument/2006/relationships/image" Target="../media/image25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1447800"/>
            <a:ext cx="8610600" cy="3276600"/>
          </a:xfrm>
        </p:spPr>
        <p:txBody>
          <a:bodyPr anchor="b">
            <a:normAutofit/>
          </a:bodyPr>
          <a:lstStyle/>
          <a:p>
            <a:r>
              <a:rPr lang="en-US" sz="5400" dirty="0"/>
              <a:t>Map-Reduce and </a:t>
            </a:r>
            <a:br>
              <a:rPr lang="en-US" sz="5400" dirty="0"/>
            </a:br>
            <a:r>
              <a:rPr lang="en-US" sz="5400" dirty="0"/>
              <a:t>the New Software Stack</a:t>
            </a:r>
          </a:p>
        </p:txBody>
      </p:sp>
      <p:sp>
        <p:nvSpPr>
          <p:cNvPr id="7" name="TextBox 6"/>
          <p:cNvSpPr txBox="1"/>
          <p:nvPr/>
        </p:nvSpPr>
        <p:spPr>
          <a:xfrm>
            <a:off x="762000" y="5257800"/>
            <a:ext cx="6705600" cy="1692771"/>
          </a:xfrm>
          <a:prstGeom prst="rect">
            <a:avLst/>
          </a:prstGeom>
          <a:noFill/>
        </p:spPr>
        <p:txBody>
          <a:bodyPr wrap="square" rtlCol="0">
            <a:spAutoFit/>
          </a:bodyPr>
          <a:lstStyle/>
          <a:p>
            <a:r>
              <a:rPr lang="en-US" sz="2400" dirty="0"/>
              <a:t>Mining of Massive Datasets</a:t>
            </a:r>
          </a:p>
          <a:p>
            <a:r>
              <a:rPr lang="en-US" sz="2400" dirty="0"/>
              <a:t>Jure Leskovec, </a:t>
            </a:r>
            <a:r>
              <a:rPr lang="en-US" sz="2400" dirty="0" err="1"/>
              <a:t>Anand</a:t>
            </a:r>
            <a:r>
              <a:rPr lang="en-US" sz="2400" dirty="0"/>
              <a:t> </a:t>
            </a:r>
            <a:r>
              <a:rPr lang="en-US" sz="2400" dirty="0" err="1"/>
              <a:t>Rajaraman</a:t>
            </a:r>
            <a:r>
              <a:rPr lang="en-US" sz="2400" dirty="0"/>
              <a:t>, Jeff Ullman </a:t>
            </a:r>
            <a:r>
              <a:rPr lang="en-US" sz="2000" dirty="0"/>
              <a:t>Stanford University</a:t>
            </a:r>
          </a:p>
          <a:p>
            <a:r>
              <a:rPr lang="en-US" sz="3200" dirty="0"/>
              <a:t>http://www.mmds.org </a:t>
            </a:r>
          </a:p>
        </p:txBody>
      </p:sp>
      <p:pic>
        <p:nvPicPr>
          <p:cNvPr id="5" name="Picture 6" descr="http://asia.stanford.edu/images/StanfordSealSmall.jpg"/>
          <p:cNvPicPr>
            <a:picLocks noChangeAspect="1" noChangeArrowheads="1"/>
          </p:cNvPicPr>
          <p:nvPr/>
        </p:nvPicPr>
        <p:blipFill>
          <a:blip r:embed="rId3" cstate="print"/>
          <a:srcRect/>
          <a:stretch>
            <a:fillRect/>
          </a:stretch>
        </p:blipFill>
        <p:spPr bwMode="auto">
          <a:xfrm>
            <a:off x="7452360" y="5166360"/>
            <a:ext cx="1691640" cy="1691640"/>
          </a:xfrm>
          <a:prstGeom prst="rect">
            <a:avLst/>
          </a:prstGeom>
          <a:noFill/>
        </p:spPr>
      </p:pic>
      <p:sp>
        <p:nvSpPr>
          <p:cNvPr id="3" name="TextBox 2"/>
          <p:cNvSpPr txBox="1"/>
          <p:nvPr/>
        </p:nvSpPr>
        <p:spPr>
          <a:xfrm>
            <a:off x="2438400" y="44824"/>
            <a:ext cx="6705600" cy="830997"/>
          </a:xfrm>
          <a:prstGeom prst="rect">
            <a:avLst/>
          </a:prstGeom>
          <a:noFill/>
        </p:spPr>
        <p:txBody>
          <a:bodyPr wrap="square" rtlCol="0">
            <a:spAutoFit/>
          </a:bodyPr>
          <a:lstStyle/>
          <a:p>
            <a:r>
              <a:rPr lang="en-US" sz="1200" b="1" dirty="0">
                <a:latin typeface="Arial" pitchFamily="34" charset="0"/>
                <a:cs typeface="Arial" pitchFamily="34" charset="0"/>
              </a:rPr>
              <a:t>Note to other teachers and users of these slides:</a:t>
            </a:r>
            <a:r>
              <a:rPr lang="en-US" sz="1200" dirty="0">
                <a:latin typeface="Arial" pitchFamily="34" charset="0"/>
                <a:cs typeface="Arial" pitchFamily="34" charset="0"/>
              </a:rPr>
              <a:t> We would be delighted if you found this our material useful in giving your own lectures. Feel free to use these slides verbatim, or to modify them to fit your own needs. If you make use of a significant portion of these slides in your own lecture, please include this message, or a link to our web site: </a:t>
            </a:r>
            <a:r>
              <a:rPr lang="en-US" sz="1200" dirty="0">
                <a:latin typeface="Arial" pitchFamily="34" charset="0"/>
                <a:cs typeface="Arial" pitchFamily="34" charset="0"/>
                <a:hlinkClick r:id="rId4"/>
              </a:rPr>
              <a:t>http://www.mmds.org</a:t>
            </a:r>
            <a:r>
              <a:rPr lang="en-US" sz="1200" dirty="0">
                <a:latin typeface="Arial" pitchFamily="34" charset="0"/>
                <a:cs typeface="Arial" pitchFamily="34" charset="0"/>
              </a:rPr>
              <a:t> </a:t>
            </a:r>
          </a:p>
        </p:txBody>
      </p:sp>
    </p:spTree>
    <p:extLst>
      <p:ext uri="{BB962C8B-B14F-4D97-AF65-F5344CB8AC3E}">
        <p14:creationId xmlns:p14="http://schemas.microsoft.com/office/powerpoint/2010/main" val="2084785178"/>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p:txBody>
          <a:bodyPr/>
          <a:lstStyle/>
          <a:p>
            <a:r>
              <a:rPr lang="en-US" dirty="0"/>
              <a:t>Single Node Architecture</a:t>
            </a:r>
          </a:p>
        </p:txBody>
      </p:sp>
      <p:sp>
        <p:nvSpPr>
          <p:cNvPr id="51204" name="Rectangle 4"/>
          <p:cNvSpPr>
            <a:spLocks noChangeArrowheads="1"/>
          </p:cNvSpPr>
          <p:nvPr/>
        </p:nvSpPr>
        <p:spPr bwMode="auto">
          <a:xfrm>
            <a:off x="1905000" y="3505200"/>
            <a:ext cx="1447800" cy="838200"/>
          </a:xfrm>
          <a:prstGeom prst="rect">
            <a:avLst/>
          </a:prstGeom>
          <a:noFill/>
          <a:ln w="9525">
            <a:solidFill>
              <a:schemeClr val="tx1"/>
            </a:solidFill>
            <a:miter lim="800000"/>
            <a:headEnd/>
            <a:tailEnd/>
          </a:ln>
          <a:effectLst/>
        </p:spPr>
        <p:txBody>
          <a:bodyPr wrap="none" anchor="ctr"/>
          <a:lstStyle/>
          <a:p>
            <a:pPr algn="ctr"/>
            <a:r>
              <a:rPr lang="en-US" b="1"/>
              <a:t>Memory</a:t>
            </a:r>
          </a:p>
        </p:txBody>
      </p:sp>
      <p:sp>
        <p:nvSpPr>
          <p:cNvPr id="51206" name="AutoShape 6"/>
          <p:cNvSpPr>
            <a:spLocks noChangeArrowheads="1"/>
          </p:cNvSpPr>
          <p:nvPr/>
        </p:nvSpPr>
        <p:spPr bwMode="auto">
          <a:xfrm>
            <a:off x="1905000" y="4648200"/>
            <a:ext cx="1524000" cy="914400"/>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1207" name="Rectangle 7"/>
          <p:cNvSpPr>
            <a:spLocks noChangeArrowheads="1"/>
          </p:cNvSpPr>
          <p:nvPr/>
        </p:nvSpPr>
        <p:spPr bwMode="auto">
          <a:xfrm>
            <a:off x="1905000" y="2743200"/>
            <a:ext cx="1447800" cy="609600"/>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1208" name="Rectangle 8"/>
          <p:cNvSpPr>
            <a:spLocks noChangeArrowheads="1"/>
          </p:cNvSpPr>
          <p:nvPr/>
        </p:nvSpPr>
        <p:spPr bwMode="auto">
          <a:xfrm>
            <a:off x="1447800" y="2438400"/>
            <a:ext cx="2362200" cy="3429000"/>
          </a:xfrm>
          <a:prstGeom prst="rect">
            <a:avLst/>
          </a:prstGeom>
          <a:noFill/>
          <a:ln w="9525">
            <a:solidFill>
              <a:schemeClr val="tx1"/>
            </a:solidFill>
            <a:miter lim="800000"/>
            <a:headEnd/>
            <a:tailEnd/>
          </a:ln>
          <a:effectLst/>
        </p:spPr>
        <p:txBody>
          <a:bodyPr wrap="none" anchor="ctr"/>
          <a:lstStyle/>
          <a:p>
            <a:endParaRPr lang="en-US"/>
          </a:p>
        </p:txBody>
      </p:sp>
      <p:sp>
        <p:nvSpPr>
          <p:cNvPr id="51210" name="Text Box 10"/>
          <p:cNvSpPr txBox="1">
            <a:spLocks noChangeArrowheads="1"/>
          </p:cNvSpPr>
          <p:nvPr/>
        </p:nvSpPr>
        <p:spPr bwMode="auto">
          <a:xfrm>
            <a:off x="4175125" y="3232150"/>
            <a:ext cx="3945824" cy="461665"/>
          </a:xfrm>
          <a:prstGeom prst="rect">
            <a:avLst/>
          </a:prstGeom>
          <a:noFill/>
          <a:ln w="9525">
            <a:noFill/>
            <a:miter lim="800000"/>
            <a:headEnd/>
            <a:tailEnd/>
          </a:ln>
          <a:effectLst/>
        </p:spPr>
        <p:txBody>
          <a:bodyPr wrap="none">
            <a:spAutoFit/>
          </a:bodyPr>
          <a:lstStyle/>
          <a:p>
            <a:r>
              <a:rPr lang="en-US" sz="2400" b="1" dirty="0">
                <a:solidFill>
                  <a:srgbClr val="008000"/>
                </a:solidFill>
              </a:rPr>
              <a:t>Machine Learning, Statistics</a:t>
            </a:r>
          </a:p>
        </p:txBody>
      </p:sp>
      <p:sp>
        <p:nvSpPr>
          <p:cNvPr id="51211" name="Text Box 11"/>
          <p:cNvSpPr txBox="1">
            <a:spLocks noChangeArrowheads="1"/>
          </p:cNvSpPr>
          <p:nvPr/>
        </p:nvSpPr>
        <p:spPr bwMode="auto">
          <a:xfrm>
            <a:off x="4251325" y="4451350"/>
            <a:ext cx="4140877" cy="461665"/>
          </a:xfrm>
          <a:prstGeom prst="rect">
            <a:avLst/>
          </a:prstGeom>
          <a:noFill/>
          <a:ln w="9525">
            <a:noFill/>
            <a:miter lim="800000"/>
            <a:headEnd/>
            <a:tailEnd/>
          </a:ln>
          <a:effectLst/>
        </p:spPr>
        <p:txBody>
          <a:bodyPr wrap="none">
            <a:spAutoFit/>
          </a:bodyPr>
          <a:lstStyle/>
          <a:p>
            <a:r>
              <a:rPr lang="en-US" sz="2400" b="1" dirty="0">
                <a:solidFill>
                  <a:srgbClr val="008000"/>
                </a:solidFill>
              </a:rPr>
              <a:t>“Classical” Data Management</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a:t>
            </a:fld>
            <a:endParaRPr lang="en-US"/>
          </a:p>
        </p:txBody>
      </p:sp>
    </p:spTree>
    <p:extLst>
      <p:ext uri="{BB962C8B-B14F-4D97-AF65-F5344CB8AC3E}">
        <p14:creationId xmlns:p14="http://schemas.microsoft.com/office/powerpoint/2010/main" val="406735741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11"/>
                                        </p:tgtEl>
                                        <p:attrNameLst>
                                          <p:attrName>style.visibility</p:attrName>
                                        </p:attrNameLst>
                                      </p:cBhvr>
                                      <p:to>
                                        <p:strVal val="visible"/>
                                      </p:to>
                                    </p:set>
                                  </p:childTnLst>
                                </p:cTn>
                              </p:par>
                              <p:par>
                                <p:cTn id="9" presetID="3" presetClass="emph" presetSubtype="2" fill="hold" grpId="0" nodeType="withEffect">
                                  <p:stCondLst>
                                    <p:cond delay="0"/>
                                  </p:stCondLst>
                                  <p:childTnLst>
                                    <p:animClr clrSpc="rgb" dir="cw">
                                      <p:cBhvr override="childStyle">
                                        <p:cTn id="10" dur="500" fill="hold"/>
                                        <p:tgtEl>
                                          <p:spTgt spid="51210"/>
                                        </p:tgtEl>
                                        <p:attrNameLst>
                                          <p:attrName>style.color</p:attrName>
                                        </p:attrNameLst>
                                      </p:cBhvr>
                                      <p:to>
                                        <a:schemeClr val="bg2"/>
                                      </p:to>
                                    </p:animClr>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2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animBg="1"/>
      <p:bldP spid="51208" grpId="0" animBg="1"/>
      <p:bldP spid="51210" grpId="0"/>
      <p:bldP spid="5121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Motivation: Google Example</a:t>
            </a:r>
          </a:p>
        </p:txBody>
      </p:sp>
      <p:sp>
        <p:nvSpPr>
          <p:cNvPr id="3" name="Content Placeholder 2"/>
          <p:cNvSpPr>
            <a:spLocks noGrp="1"/>
          </p:cNvSpPr>
          <p:nvPr>
            <p:ph idx="1"/>
          </p:nvPr>
        </p:nvSpPr>
        <p:spPr/>
        <p:txBody>
          <a:bodyPr>
            <a:normAutofit/>
          </a:bodyPr>
          <a:lstStyle/>
          <a:p>
            <a:r>
              <a:rPr lang="en-US" dirty="0"/>
              <a:t>20+ billion web pages x 20KB = 400+ TB</a:t>
            </a:r>
          </a:p>
          <a:p>
            <a:r>
              <a:rPr lang="en-US" dirty="0"/>
              <a:t>1 computer reads 30-35 MB/sec from disk</a:t>
            </a:r>
          </a:p>
          <a:p>
            <a:pPr lvl="1"/>
            <a:r>
              <a:rPr lang="en-US" dirty="0"/>
              <a:t>~4 months to read the web</a:t>
            </a:r>
          </a:p>
          <a:p>
            <a:r>
              <a:rPr lang="en-US" dirty="0"/>
              <a:t>~1,000 hard drives to store the web</a:t>
            </a:r>
          </a:p>
          <a:p>
            <a:r>
              <a:rPr lang="en-US" dirty="0">
                <a:solidFill>
                  <a:srgbClr val="D60093"/>
                </a:solidFill>
              </a:rPr>
              <a:t>Takes even more to </a:t>
            </a:r>
            <a:r>
              <a:rPr lang="en-US" b="1" dirty="0">
                <a:solidFill>
                  <a:srgbClr val="D60093"/>
                </a:solidFill>
              </a:rPr>
              <a:t>do</a:t>
            </a:r>
            <a:r>
              <a:rPr lang="en-US" dirty="0">
                <a:solidFill>
                  <a:srgbClr val="D60093"/>
                </a:solidFill>
              </a:rPr>
              <a:t> something useful </a:t>
            </a:r>
            <a:br>
              <a:rPr lang="en-US" dirty="0">
                <a:solidFill>
                  <a:srgbClr val="D60093"/>
                </a:solidFill>
              </a:rPr>
            </a:br>
            <a:r>
              <a:rPr lang="en-US" dirty="0">
                <a:solidFill>
                  <a:srgbClr val="D60093"/>
                </a:solidFill>
              </a:rPr>
              <a:t>with the data!</a:t>
            </a:r>
          </a:p>
          <a:p>
            <a:r>
              <a:rPr lang="en-US" b="1" dirty="0">
                <a:solidFill>
                  <a:srgbClr val="008000"/>
                </a:solidFill>
              </a:rPr>
              <a:t>Today, a standard architecture for such problems is emerging:</a:t>
            </a:r>
          </a:p>
          <a:p>
            <a:pPr lvl="1"/>
            <a:r>
              <a:rPr lang="en-US" dirty="0"/>
              <a:t>Cluster of commodity Linux nodes</a:t>
            </a:r>
          </a:p>
          <a:p>
            <a:pPr lvl="1"/>
            <a:r>
              <a:rPr lang="en-US" dirty="0"/>
              <a:t>Commodity network (</a:t>
            </a:r>
            <a:r>
              <a:rPr lang="en-US" dirty="0" err="1"/>
              <a:t>ethernet</a:t>
            </a:r>
            <a:r>
              <a:rPr lang="en-US" dirty="0"/>
              <a:t>) to connect them</a:t>
            </a:r>
            <a:endParaRPr lang="en-US" dirty="0">
              <a:solidFill>
                <a:schemeClr val="accent3"/>
              </a:solidFill>
            </a:endParaRPr>
          </a:p>
          <a:p>
            <a:endParaRPr lang="en-US" dirty="0">
              <a:solidFill>
                <a:schemeClr val="accent3"/>
              </a:solidFill>
            </a:endParaRP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a:t>
            </a:fld>
            <a:endParaRPr lang="en-US"/>
          </a:p>
        </p:txBody>
      </p:sp>
    </p:spTree>
    <p:extLst>
      <p:ext uri="{BB962C8B-B14F-4D97-AF65-F5344CB8AC3E}">
        <p14:creationId xmlns:p14="http://schemas.microsoft.com/office/powerpoint/2010/main" val="3133607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r>
              <a:rPr lang="en-US"/>
              <a:t>Cluster Architecture</a:t>
            </a:r>
          </a:p>
        </p:txBody>
      </p:sp>
      <p:grpSp>
        <p:nvGrpSpPr>
          <p:cNvPr id="2" name="Group 8"/>
          <p:cNvGrpSpPr>
            <a:grpSpLocks/>
          </p:cNvGrpSpPr>
          <p:nvPr/>
        </p:nvGrpSpPr>
        <p:grpSpPr bwMode="auto">
          <a:xfrm>
            <a:off x="990600" y="3733800"/>
            <a:ext cx="1295400" cy="1828800"/>
            <a:chOff x="912" y="1536"/>
            <a:chExt cx="1488" cy="2160"/>
          </a:xfrm>
        </p:grpSpPr>
        <p:sp>
          <p:nvSpPr>
            <p:cNvPr id="52228" name="Rectangle 4"/>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29" name="AutoShape 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30" name="Rectangle 6"/>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31" name="Rectangle 7"/>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grpSp>
        <p:nvGrpSpPr>
          <p:cNvPr id="3" name="Group 14"/>
          <p:cNvGrpSpPr>
            <a:grpSpLocks/>
          </p:cNvGrpSpPr>
          <p:nvPr/>
        </p:nvGrpSpPr>
        <p:grpSpPr bwMode="auto">
          <a:xfrm>
            <a:off x="3276600" y="3733800"/>
            <a:ext cx="1295400" cy="1828800"/>
            <a:chOff x="912" y="1536"/>
            <a:chExt cx="1488" cy="2160"/>
          </a:xfrm>
        </p:grpSpPr>
        <p:sp>
          <p:nvSpPr>
            <p:cNvPr id="52239" name="Rectangle 15"/>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40" name="AutoShape 16"/>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41" name="Rectangle 17"/>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42" name="Rectangle 18"/>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sp>
        <p:nvSpPr>
          <p:cNvPr id="52248" name="Text Box 24"/>
          <p:cNvSpPr txBox="1">
            <a:spLocks noChangeArrowheads="1"/>
          </p:cNvSpPr>
          <p:nvPr/>
        </p:nvSpPr>
        <p:spPr bwMode="auto">
          <a:xfrm>
            <a:off x="2438400" y="4267200"/>
            <a:ext cx="557213" cy="519113"/>
          </a:xfrm>
          <a:prstGeom prst="rect">
            <a:avLst/>
          </a:prstGeom>
          <a:noFill/>
          <a:ln w="9525">
            <a:noFill/>
            <a:miter lim="800000"/>
            <a:headEnd/>
            <a:tailEnd/>
          </a:ln>
          <a:effectLst/>
        </p:spPr>
        <p:txBody>
          <a:bodyPr wrap="none">
            <a:spAutoFit/>
          </a:bodyPr>
          <a:lstStyle/>
          <a:p>
            <a:r>
              <a:rPr lang="en-US" sz="2800" b="1"/>
              <a:t>…</a:t>
            </a:r>
          </a:p>
        </p:txBody>
      </p:sp>
      <p:sp>
        <p:nvSpPr>
          <p:cNvPr id="52256" name="Rectangle 32"/>
          <p:cNvSpPr>
            <a:spLocks noChangeArrowheads="1"/>
          </p:cNvSpPr>
          <p:nvPr/>
        </p:nvSpPr>
        <p:spPr bwMode="auto">
          <a:xfrm>
            <a:off x="1981200" y="28194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58" name="Line 34"/>
          <p:cNvSpPr>
            <a:spLocks noChangeShapeType="1"/>
          </p:cNvSpPr>
          <p:nvPr/>
        </p:nvSpPr>
        <p:spPr bwMode="auto">
          <a:xfrm flipH="1">
            <a:off x="1600200" y="3124200"/>
            <a:ext cx="685800" cy="609600"/>
          </a:xfrm>
          <a:prstGeom prst="line">
            <a:avLst/>
          </a:prstGeom>
          <a:noFill/>
          <a:ln w="9525">
            <a:solidFill>
              <a:schemeClr val="tx1"/>
            </a:solidFill>
            <a:round/>
            <a:headEnd/>
            <a:tailEnd/>
          </a:ln>
          <a:effectLst/>
        </p:spPr>
        <p:txBody>
          <a:bodyPr/>
          <a:lstStyle/>
          <a:p>
            <a:endParaRPr lang="en-US"/>
          </a:p>
        </p:txBody>
      </p:sp>
      <p:sp>
        <p:nvSpPr>
          <p:cNvPr id="52260" name="Line 36"/>
          <p:cNvSpPr>
            <a:spLocks noChangeShapeType="1"/>
          </p:cNvSpPr>
          <p:nvPr/>
        </p:nvSpPr>
        <p:spPr bwMode="auto">
          <a:xfrm>
            <a:off x="3048000" y="3124200"/>
            <a:ext cx="762000" cy="609600"/>
          </a:xfrm>
          <a:prstGeom prst="line">
            <a:avLst/>
          </a:prstGeom>
          <a:noFill/>
          <a:ln w="9525">
            <a:solidFill>
              <a:schemeClr val="tx1"/>
            </a:solidFill>
            <a:round/>
            <a:headEnd/>
            <a:tailEnd/>
          </a:ln>
          <a:effectLst/>
        </p:spPr>
        <p:txBody>
          <a:bodyPr/>
          <a:lstStyle/>
          <a:p>
            <a:endParaRPr lang="en-US"/>
          </a:p>
        </p:txBody>
      </p:sp>
      <p:sp>
        <p:nvSpPr>
          <p:cNvPr id="52261" name="Text Box 37"/>
          <p:cNvSpPr txBox="1">
            <a:spLocks noChangeArrowheads="1"/>
          </p:cNvSpPr>
          <p:nvPr/>
        </p:nvSpPr>
        <p:spPr bwMode="auto">
          <a:xfrm>
            <a:off x="914400" y="5715000"/>
            <a:ext cx="3863975" cy="366713"/>
          </a:xfrm>
          <a:prstGeom prst="rect">
            <a:avLst/>
          </a:prstGeom>
          <a:noFill/>
          <a:ln w="9525">
            <a:noFill/>
            <a:miter lim="800000"/>
            <a:headEnd/>
            <a:tailEnd/>
          </a:ln>
          <a:effectLst/>
        </p:spPr>
        <p:txBody>
          <a:bodyPr wrap="none">
            <a:spAutoFit/>
          </a:bodyPr>
          <a:lstStyle/>
          <a:p>
            <a:r>
              <a:rPr lang="en-US"/>
              <a:t>Each rack contains 16-64 nodes</a:t>
            </a:r>
          </a:p>
        </p:txBody>
      </p:sp>
      <p:grpSp>
        <p:nvGrpSpPr>
          <p:cNvPr id="4" name="Group 38"/>
          <p:cNvGrpSpPr>
            <a:grpSpLocks/>
          </p:cNvGrpSpPr>
          <p:nvPr/>
        </p:nvGrpSpPr>
        <p:grpSpPr bwMode="auto">
          <a:xfrm>
            <a:off x="4953000" y="3733800"/>
            <a:ext cx="1295400" cy="1828800"/>
            <a:chOff x="912" y="1536"/>
            <a:chExt cx="1488" cy="2160"/>
          </a:xfrm>
        </p:grpSpPr>
        <p:sp>
          <p:nvSpPr>
            <p:cNvPr id="52263" name="Rectangle 39"/>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64" name="AutoShape 40"/>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65" name="Rectangle 41"/>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66" name="Rectangle 42"/>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grpSp>
        <p:nvGrpSpPr>
          <p:cNvPr id="5" name="Group 43"/>
          <p:cNvGrpSpPr>
            <a:grpSpLocks/>
          </p:cNvGrpSpPr>
          <p:nvPr/>
        </p:nvGrpSpPr>
        <p:grpSpPr bwMode="auto">
          <a:xfrm>
            <a:off x="7239000" y="3733800"/>
            <a:ext cx="1295400" cy="1828800"/>
            <a:chOff x="912" y="1536"/>
            <a:chExt cx="1488" cy="2160"/>
          </a:xfrm>
        </p:grpSpPr>
        <p:sp>
          <p:nvSpPr>
            <p:cNvPr id="52268" name="Rectangle 44"/>
            <p:cNvSpPr>
              <a:spLocks noChangeArrowheads="1"/>
            </p:cNvSpPr>
            <p:nvPr/>
          </p:nvSpPr>
          <p:spPr bwMode="auto">
            <a:xfrm>
              <a:off x="1200" y="2208"/>
              <a:ext cx="912" cy="528"/>
            </a:xfrm>
            <a:prstGeom prst="rect">
              <a:avLst/>
            </a:prstGeom>
            <a:noFill/>
            <a:ln w="9525">
              <a:solidFill>
                <a:schemeClr val="tx1"/>
              </a:solidFill>
              <a:miter lim="800000"/>
              <a:headEnd/>
              <a:tailEnd/>
            </a:ln>
            <a:effectLst/>
          </p:spPr>
          <p:txBody>
            <a:bodyPr wrap="none" anchor="ctr"/>
            <a:lstStyle/>
            <a:p>
              <a:pPr algn="ctr"/>
              <a:r>
                <a:rPr lang="en-US" b="1"/>
                <a:t>Mem</a:t>
              </a:r>
            </a:p>
          </p:txBody>
        </p:sp>
        <p:sp>
          <p:nvSpPr>
            <p:cNvPr id="52269" name="AutoShape 45"/>
            <p:cNvSpPr>
              <a:spLocks noChangeArrowheads="1"/>
            </p:cNvSpPr>
            <p:nvPr/>
          </p:nvSpPr>
          <p:spPr bwMode="auto">
            <a:xfrm>
              <a:off x="1200" y="2928"/>
              <a:ext cx="960" cy="576"/>
            </a:xfrm>
            <a:prstGeom prst="can">
              <a:avLst>
                <a:gd name="adj" fmla="val 25000"/>
              </a:avLst>
            </a:prstGeom>
            <a:noFill/>
            <a:ln w="9525">
              <a:solidFill>
                <a:schemeClr val="tx1"/>
              </a:solidFill>
              <a:round/>
              <a:headEnd/>
              <a:tailEnd/>
            </a:ln>
            <a:effectLst/>
          </p:spPr>
          <p:txBody>
            <a:bodyPr wrap="none" anchor="ctr"/>
            <a:lstStyle/>
            <a:p>
              <a:pPr algn="ctr"/>
              <a:r>
                <a:rPr lang="en-US" b="1"/>
                <a:t>Disk</a:t>
              </a:r>
            </a:p>
          </p:txBody>
        </p:sp>
        <p:sp>
          <p:nvSpPr>
            <p:cNvPr id="52270" name="Rectangle 46"/>
            <p:cNvSpPr>
              <a:spLocks noChangeArrowheads="1"/>
            </p:cNvSpPr>
            <p:nvPr/>
          </p:nvSpPr>
          <p:spPr bwMode="auto">
            <a:xfrm>
              <a:off x="1200" y="1728"/>
              <a:ext cx="912" cy="384"/>
            </a:xfrm>
            <a:prstGeom prst="rect">
              <a:avLst/>
            </a:prstGeom>
            <a:noFill/>
            <a:ln w="9525">
              <a:solidFill>
                <a:schemeClr val="tx1"/>
              </a:solidFill>
              <a:miter lim="800000"/>
              <a:headEnd/>
              <a:tailEnd/>
            </a:ln>
            <a:effectLst/>
          </p:spPr>
          <p:txBody>
            <a:bodyPr wrap="none" anchor="ctr"/>
            <a:lstStyle/>
            <a:p>
              <a:pPr algn="ctr"/>
              <a:r>
                <a:rPr lang="en-US" b="1"/>
                <a:t>CPU</a:t>
              </a:r>
            </a:p>
          </p:txBody>
        </p:sp>
        <p:sp>
          <p:nvSpPr>
            <p:cNvPr id="52271" name="Rectangle 47"/>
            <p:cNvSpPr>
              <a:spLocks noChangeArrowheads="1"/>
            </p:cNvSpPr>
            <p:nvPr/>
          </p:nvSpPr>
          <p:spPr bwMode="auto">
            <a:xfrm>
              <a:off x="912" y="1536"/>
              <a:ext cx="1488" cy="2160"/>
            </a:xfrm>
            <a:prstGeom prst="rect">
              <a:avLst/>
            </a:prstGeom>
            <a:noFill/>
            <a:ln w="9525">
              <a:solidFill>
                <a:schemeClr val="tx1"/>
              </a:solidFill>
              <a:miter lim="800000"/>
              <a:headEnd/>
              <a:tailEnd/>
            </a:ln>
            <a:effectLst/>
          </p:spPr>
          <p:txBody>
            <a:bodyPr wrap="none" anchor="ctr"/>
            <a:lstStyle/>
            <a:p>
              <a:endParaRPr lang="en-US"/>
            </a:p>
          </p:txBody>
        </p:sp>
      </p:grpSp>
      <p:sp>
        <p:nvSpPr>
          <p:cNvPr id="52272" name="Text Box 48"/>
          <p:cNvSpPr txBox="1">
            <a:spLocks noChangeArrowheads="1"/>
          </p:cNvSpPr>
          <p:nvPr/>
        </p:nvSpPr>
        <p:spPr bwMode="auto">
          <a:xfrm>
            <a:off x="6400800" y="4267200"/>
            <a:ext cx="557213" cy="519113"/>
          </a:xfrm>
          <a:prstGeom prst="rect">
            <a:avLst/>
          </a:prstGeom>
          <a:noFill/>
          <a:ln w="9525">
            <a:noFill/>
            <a:miter lim="800000"/>
            <a:headEnd/>
            <a:tailEnd/>
          </a:ln>
          <a:effectLst/>
        </p:spPr>
        <p:txBody>
          <a:bodyPr wrap="none">
            <a:spAutoFit/>
          </a:bodyPr>
          <a:lstStyle/>
          <a:p>
            <a:r>
              <a:rPr lang="en-US" sz="2800" b="1"/>
              <a:t>…</a:t>
            </a:r>
          </a:p>
        </p:txBody>
      </p:sp>
      <p:sp>
        <p:nvSpPr>
          <p:cNvPr id="52273" name="Rectangle 49"/>
          <p:cNvSpPr>
            <a:spLocks noChangeArrowheads="1"/>
          </p:cNvSpPr>
          <p:nvPr/>
        </p:nvSpPr>
        <p:spPr bwMode="auto">
          <a:xfrm>
            <a:off x="5943600" y="28194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74" name="Line 50"/>
          <p:cNvSpPr>
            <a:spLocks noChangeShapeType="1"/>
          </p:cNvSpPr>
          <p:nvPr/>
        </p:nvSpPr>
        <p:spPr bwMode="auto">
          <a:xfrm flipH="1">
            <a:off x="5562600" y="3124200"/>
            <a:ext cx="685800" cy="609600"/>
          </a:xfrm>
          <a:prstGeom prst="line">
            <a:avLst/>
          </a:prstGeom>
          <a:noFill/>
          <a:ln w="9525">
            <a:solidFill>
              <a:schemeClr val="tx1"/>
            </a:solidFill>
            <a:round/>
            <a:headEnd/>
            <a:tailEnd/>
          </a:ln>
          <a:effectLst/>
        </p:spPr>
        <p:txBody>
          <a:bodyPr/>
          <a:lstStyle/>
          <a:p>
            <a:endParaRPr lang="en-US"/>
          </a:p>
        </p:txBody>
      </p:sp>
      <p:sp>
        <p:nvSpPr>
          <p:cNvPr id="52275" name="Line 51"/>
          <p:cNvSpPr>
            <a:spLocks noChangeShapeType="1"/>
          </p:cNvSpPr>
          <p:nvPr/>
        </p:nvSpPr>
        <p:spPr bwMode="auto">
          <a:xfrm>
            <a:off x="7010400" y="3124200"/>
            <a:ext cx="762000" cy="609600"/>
          </a:xfrm>
          <a:prstGeom prst="line">
            <a:avLst/>
          </a:prstGeom>
          <a:noFill/>
          <a:ln w="9525">
            <a:solidFill>
              <a:schemeClr val="tx1"/>
            </a:solidFill>
            <a:round/>
            <a:headEnd/>
            <a:tailEnd/>
          </a:ln>
          <a:effectLst/>
        </p:spPr>
        <p:txBody>
          <a:bodyPr/>
          <a:lstStyle/>
          <a:p>
            <a:endParaRPr lang="en-US"/>
          </a:p>
        </p:txBody>
      </p:sp>
      <p:sp>
        <p:nvSpPr>
          <p:cNvPr id="52276" name="Rectangle 52"/>
          <p:cNvSpPr>
            <a:spLocks noChangeArrowheads="1"/>
          </p:cNvSpPr>
          <p:nvPr/>
        </p:nvSpPr>
        <p:spPr bwMode="auto">
          <a:xfrm>
            <a:off x="3886200" y="1905000"/>
            <a:ext cx="1524000" cy="304800"/>
          </a:xfrm>
          <a:prstGeom prst="rect">
            <a:avLst/>
          </a:prstGeom>
          <a:solidFill>
            <a:schemeClr val="accent1"/>
          </a:solidFill>
          <a:ln w="9525">
            <a:solidFill>
              <a:schemeClr val="tx1"/>
            </a:solidFill>
            <a:miter lim="800000"/>
            <a:headEnd/>
            <a:tailEnd/>
          </a:ln>
          <a:effectLst/>
        </p:spPr>
        <p:txBody>
          <a:bodyPr wrap="none" anchor="ctr"/>
          <a:lstStyle/>
          <a:p>
            <a:pPr algn="ctr"/>
            <a:r>
              <a:rPr lang="en-US"/>
              <a:t>Switch</a:t>
            </a:r>
          </a:p>
        </p:txBody>
      </p:sp>
      <p:sp>
        <p:nvSpPr>
          <p:cNvPr id="52277" name="Line 53"/>
          <p:cNvSpPr>
            <a:spLocks noChangeShapeType="1"/>
          </p:cNvSpPr>
          <p:nvPr/>
        </p:nvSpPr>
        <p:spPr bwMode="auto">
          <a:xfrm flipV="1">
            <a:off x="2667000" y="2209800"/>
            <a:ext cx="1371600" cy="609600"/>
          </a:xfrm>
          <a:prstGeom prst="line">
            <a:avLst/>
          </a:prstGeom>
          <a:noFill/>
          <a:ln w="9525">
            <a:solidFill>
              <a:schemeClr val="tx1"/>
            </a:solidFill>
            <a:round/>
            <a:headEnd/>
            <a:tailEnd/>
          </a:ln>
          <a:effectLst/>
        </p:spPr>
        <p:txBody>
          <a:bodyPr/>
          <a:lstStyle/>
          <a:p>
            <a:endParaRPr lang="en-US"/>
          </a:p>
        </p:txBody>
      </p:sp>
      <p:sp>
        <p:nvSpPr>
          <p:cNvPr id="52278" name="Line 54"/>
          <p:cNvSpPr>
            <a:spLocks noChangeShapeType="1"/>
          </p:cNvSpPr>
          <p:nvPr/>
        </p:nvSpPr>
        <p:spPr bwMode="auto">
          <a:xfrm>
            <a:off x="5105400" y="2209800"/>
            <a:ext cx="1447800" cy="609600"/>
          </a:xfrm>
          <a:prstGeom prst="line">
            <a:avLst/>
          </a:prstGeom>
          <a:noFill/>
          <a:ln w="9525">
            <a:solidFill>
              <a:schemeClr val="tx1"/>
            </a:solidFill>
            <a:round/>
            <a:headEnd/>
            <a:tailEnd/>
          </a:ln>
          <a:effectLst/>
        </p:spPr>
        <p:txBody>
          <a:bodyPr/>
          <a:lstStyle/>
          <a:p>
            <a:endParaRPr lang="en-US"/>
          </a:p>
        </p:txBody>
      </p:sp>
      <p:sp>
        <p:nvSpPr>
          <p:cNvPr id="52279" name="Text Box 55"/>
          <p:cNvSpPr txBox="1">
            <a:spLocks noChangeArrowheads="1"/>
          </p:cNvSpPr>
          <p:nvPr/>
        </p:nvSpPr>
        <p:spPr bwMode="auto">
          <a:xfrm>
            <a:off x="533400" y="1828800"/>
            <a:ext cx="2182813" cy="915988"/>
          </a:xfrm>
          <a:prstGeom prst="rect">
            <a:avLst/>
          </a:prstGeom>
          <a:noFill/>
          <a:ln w="9525">
            <a:noFill/>
            <a:miter lim="800000"/>
            <a:headEnd/>
            <a:tailEnd/>
          </a:ln>
          <a:effectLst/>
        </p:spPr>
        <p:txBody>
          <a:bodyPr wrap="none">
            <a:spAutoFit/>
          </a:bodyPr>
          <a:lstStyle/>
          <a:p>
            <a:r>
              <a:rPr lang="en-US" dirty="0"/>
              <a:t>1 </a:t>
            </a:r>
            <a:r>
              <a:rPr lang="en-US" dirty="0" err="1"/>
              <a:t>Gbps</a:t>
            </a:r>
            <a:r>
              <a:rPr lang="en-US" dirty="0"/>
              <a:t> between </a:t>
            </a:r>
          </a:p>
          <a:p>
            <a:r>
              <a:rPr lang="en-US" dirty="0"/>
              <a:t>any pair of nodes</a:t>
            </a:r>
          </a:p>
          <a:p>
            <a:r>
              <a:rPr lang="en-US" dirty="0"/>
              <a:t>in a rack</a:t>
            </a:r>
          </a:p>
        </p:txBody>
      </p:sp>
      <p:sp>
        <p:nvSpPr>
          <p:cNvPr id="52280" name="Text Box 56"/>
          <p:cNvSpPr txBox="1">
            <a:spLocks noChangeArrowheads="1"/>
          </p:cNvSpPr>
          <p:nvPr/>
        </p:nvSpPr>
        <p:spPr bwMode="auto">
          <a:xfrm>
            <a:off x="2895600" y="1447800"/>
            <a:ext cx="4308475" cy="366713"/>
          </a:xfrm>
          <a:prstGeom prst="rect">
            <a:avLst/>
          </a:prstGeom>
          <a:noFill/>
          <a:ln w="9525">
            <a:noFill/>
            <a:miter lim="800000"/>
            <a:headEnd/>
            <a:tailEnd/>
          </a:ln>
          <a:effectLst/>
        </p:spPr>
        <p:txBody>
          <a:bodyPr wrap="none">
            <a:spAutoFit/>
          </a:bodyPr>
          <a:lstStyle/>
          <a:p>
            <a:r>
              <a:rPr lang="en-US"/>
              <a:t>2-10 Gbps backbone between racks</a:t>
            </a:r>
          </a:p>
        </p:txBody>
      </p:sp>
      <p:sp>
        <p:nvSpPr>
          <p:cNvPr id="8" name="Rectangle 7"/>
          <p:cNvSpPr/>
          <p:nvPr/>
        </p:nvSpPr>
        <p:spPr>
          <a:xfrm>
            <a:off x="898063" y="6260068"/>
            <a:ext cx="8169737" cy="369332"/>
          </a:xfrm>
          <a:prstGeom prst="rect">
            <a:avLst/>
          </a:prstGeom>
        </p:spPr>
        <p:txBody>
          <a:bodyPr wrap="none">
            <a:spAutoFit/>
          </a:bodyPr>
          <a:lstStyle/>
          <a:p>
            <a:r>
              <a:rPr lang="en-US" dirty="0">
                <a:latin typeface="Arial" pitchFamily="34" charset="0"/>
                <a:cs typeface="Arial" pitchFamily="34" charset="0"/>
              </a:rPr>
              <a:t>In 2011 it was </a:t>
            </a:r>
            <a:r>
              <a:rPr lang="en-US" dirty="0" err="1">
                <a:latin typeface="Arial" pitchFamily="34" charset="0"/>
                <a:cs typeface="Arial" pitchFamily="34" charset="0"/>
              </a:rPr>
              <a:t>guestimated</a:t>
            </a:r>
            <a:r>
              <a:rPr lang="en-US" dirty="0">
                <a:latin typeface="Arial" pitchFamily="34" charset="0"/>
                <a:cs typeface="Arial" pitchFamily="34" charset="0"/>
              </a:rPr>
              <a:t> that Google had 1M machines, </a:t>
            </a:r>
            <a:r>
              <a:rPr lang="en-US" dirty="0">
                <a:latin typeface="Arial" pitchFamily="34" charset="0"/>
                <a:cs typeface="Arial" pitchFamily="34" charset="0"/>
                <a:hlinkClick r:id="rId3"/>
              </a:rPr>
              <a:t>http://bit.ly/Shh0RO</a:t>
            </a:r>
            <a:r>
              <a:rPr lang="en-US" dirty="0">
                <a:latin typeface="Arial" pitchFamily="34" charset="0"/>
                <a:cs typeface="Arial" pitchFamily="34" charset="0"/>
              </a:rPr>
              <a:t> </a:t>
            </a:r>
          </a:p>
        </p:txBody>
      </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4</a:t>
            </a:fld>
            <a:endParaRPr lang="en-US"/>
          </a:p>
        </p:txBody>
      </p:sp>
    </p:spTree>
    <p:extLst>
      <p:ext uri="{BB962C8B-B14F-4D97-AF65-F5344CB8AC3E}">
        <p14:creationId xmlns:p14="http://schemas.microsoft.com/office/powerpoint/2010/main" val="416023037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27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22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22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227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22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22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227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2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72" grpId="0"/>
      <p:bldP spid="52273" grpId="0" animBg="1"/>
      <p:bldP spid="52274" grpId="0" animBg="1"/>
      <p:bldP spid="52275" grpId="0" animBg="1"/>
      <p:bldP spid="52276" grpId="0" animBg="1"/>
      <p:bldP spid="52277" grpId="0" animBg="1"/>
      <p:bldP spid="52278" grpId="0" animBg="1"/>
      <p:bldP spid="5228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5</a:t>
            </a:fld>
            <a:endParaRPr lang="en-US"/>
          </a:p>
        </p:txBody>
      </p:sp>
      <p:pic>
        <p:nvPicPr>
          <p:cNvPr id="1026" name="Picture 2" descr="http://www.filecluster.com/reviews/wp-content/uploads/2008/11/server_rack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5" y="1"/>
            <a:ext cx="943263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445879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Large-scale Computing</a:t>
            </a:r>
          </a:p>
        </p:txBody>
      </p:sp>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8000"/>
                </a:solidFill>
              </a:rPr>
              <a:t>Large-scale computing</a:t>
            </a:r>
            <a:r>
              <a:rPr lang="en-US" dirty="0">
                <a:solidFill>
                  <a:srgbClr val="008000"/>
                </a:solidFill>
              </a:rPr>
              <a:t> for </a:t>
            </a:r>
            <a:r>
              <a:rPr lang="en-US" b="1" dirty="0">
                <a:solidFill>
                  <a:srgbClr val="008000"/>
                </a:solidFill>
              </a:rPr>
              <a:t>data mining </a:t>
            </a:r>
            <a:br>
              <a:rPr lang="en-US" b="1" dirty="0">
                <a:solidFill>
                  <a:srgbClr val="008000"/>
                </a:solidFill>
              </a:rPr>
            </a:br>
            <a:r>
              <a:rPr lang="en-US" dirty="0">
                <a:solidFill>
                  <a:srgbClr val="008000"/>
                </a:solidFill>
              </a:rPr>
              <a:t>problems on </a:t>
            </a:r>
            <a:r>
              <a:rPr lang="en-US" b="1" dirty="0">
                <a:solidFill>
                  <a:srgbClr val="008000"/>
                </a:solidFill>
              </a:rPr>
              <a:t>commodity hardware</a:t>
            </a:r>
          </a:p>
          <a:p>
            <a:r>
              <a:rPr lang="en-US" b="1" dirty="0"/>
              <a:t>Challenges:</a:t>
            </a:r>
          </a:p>
          <a:p>
            <a:pPr lvl="1"/>
            <a:r>
              <a:rPr lang="en-US" b="1" dirty="0">
                <a:solidFill>
                  <a:schemeClr val="accent3"/>
                </a:solidFill>
              </a:rPr>
              <a:t>How do you distribute computation?</a:t>
            </a:r>
          </a:p>
          <a:p>
            <a:pPr lvl="1"/>
            <a:r>
              <a:rPr lang="en-US" b="1" dirty="0">
                <a:solidFill>
                  <a:schemeClr val="accent2"/>
                </a:solidFill>
              </a:rPr>
              <a:t>How can we make it easy to write distributed programs?</a:t>
            </a:r>
          </a:p>
          <a:p>
            <a:pPr lvl="1"/>
            <a:r>
              <a:rPr lang="en-US" b="1" dirty="0">
                <a:solidFill>
                  <a:schemeClr val="accent3"/>
                </a:solidFill>
              </a:rPr>
              <a:t>Machines fail:</a:t>
            </a:r>
          </a:p>
          <a:p>
            <a:pPr lvl="2"/>
            <a:r>
              <a:rPr lang="en-US" dirty="0"/>
              <a:t>One server may stay up 3 years (1,000 days)</a:t>
            </a:r>
          </a:p>
          <a:p>
            <a:pPr lvl="2"/>
            <a:r>
              <a:rPr lang="en-US" dirty="0"/>
              <a:t>If you have 1,000 servers, expect to loose 1/day</a:t>
            </a:r>
          </a:p>
          <a:p>
            <a:pPr lvl="2"/>
            <a:r>
              <a:rPr lang="en-US" dirty="0"/>
              <a:t>People estimated Google had ~1M machines in 2011</a:t>
            </a:r>
          </a:p>
          <a:p>
            <a:pPr lvl="3"/>
            <a:r>
              <a:rPr lang="en-US" dirty="0"/>
              <a:t>1,000 machines fail every day!</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6</a:t>
            </a:fld>
            <a:endParaRPr lang="en-US"/>
          </a:p>
        </p:txBody>
      </p:sp>
    </p:spTree>
    <p:extLst>
      <p:ext uri="{BB962C8B-B14F-4D97-AF65-F5344CB8AC3E}">
        <p14:creationId xmlns:p14="http://schemas.microsoft.com/office/powerpoint/2010/main" val="3107702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 and Solution</a:t>
            </a:r>
          </a:p>
        </p:txBody>
      </p:sp>
      <p:sp>
        <p:nvSpPr>
          <p:cNvPr id="3" name="Content Placeholder 2"/>
          <p:cNvSpPr>
            <a:spLocks noGrp="1"/>
          </p:cNvSpPr>
          <p:nvPr>
            <p:ph idx="1"/>
          </p:nvPr>
        </p:nvSpPr>
        <p:spPr>
          <a:xfrm>
            <a:off x="457200" y="1295400"/>
            <a:ext cx="8610600" cy="5562600"/>
          </a:xfrm>
        </p:spPr>
        <p:txBody>
          <a:bodyPr>
            <a:normAutofit/>
          </a:bodyPr>
          <a:lstStyle/>
          <a:p>
            <a:r>
              <a:rPr lang="en-US" b="1" dirty="0">
                <a:solidFill>
                  <a:srgbClr val="008000"/>
                </a:solidFill>
              </a:rPr>
              <a:t>Issue:</a:t>
            </a:r>
            <a:r>
              <a:rPr lang="en-US" b="1" dirty="0"/>
              <a:t> Copying data over a network takes time</a:t>
            </a:r>
          </a:p>
          <a:p>
            <a:r>
              <a:rPr lang="en-US" b="1" dirty="0">
                <a:solidFill>
                  <a:srgbClr val="008000"/>
                </a:solidFill>
              </a:rPr>
              <a:t>Idea:</a:t>
            </a:r>
          </a:p>
          <a:p>
            <a:pPr lvl="1"/>
            <a:r>
              <a:rPr lang="en-US" dirty="0"/>
              <a:t>Bring computation close to the data</a:t>
            </a:r>
          </a:p>
          <a:p>
            <a:pPr lvl="1"/>
            <a:r>
              <a:rPr lang="en-US" dirty="0"/>
              <a:t>Store files multiple times for reliability</a:t>
            </a:r>
          </a:p>
          <a:p>
            <a:r>
              <a:rPr lang="en-US" b="1" dirty="0">
                <a:solidFill>
                  <a:srgbClr val="0000FF"/>
                </a:solidFill>
              </a:rPr>
              <a:t>Map-reduce</a:t>
            </a:r>
            <a:r>
              <a:rPr lang="en-US" dirty="0">
                <a:solidFill>
                  <a:srgbClr val="0000FF"/>
                </a:solidFill>
              </a:rPr>
              <a:t> addresses these problems</a:t>
            </a:r>
          </a:p>
          <a:p>
            <a:pPr lvl="1"/>
            <a:r>
              <a:rPr lang="en-US" dirty="0"/>
              <a:t>Google’s computational/data manipulation model</a:t>
            </a:r>
          </a:p>
          <a:p>
            <a:pPr lvl="1"/>
            <a:r>
              <a:rPr lang="en-US" dirty="0"/>
              <a:t>Elegant way to work with big data</a:t>
            </a:r>
          </a:p>
          <a:p>
            <a:pPr lvl="1"/>
            <a:r>
              <a:rPr lang="en-US" b="1" dirty="0">
                <a:solidFill>
                  <a:srgbClr val="D60093"/>
                </a:solidFill>
              </a:rPr>
              <a:t>Storage Infrastructure – File system</a:t>
            </a:r>
          </a:p>
          <a:p>
            <a:pPr lvl="2"/>
            <a:r>
              <a:rPr lang="en-US" dirty="0"/>
              <a:t>Google: GFS. </a:t>
            </a:r>
            <a:r>
              <a:rPr lang="en-US" dirty="0" err="1"/>
              <a:t>Hadoop</a:t>
            </a:r>
            <a:r>
              <a:rPr lang="en-US" dirty="0"/>
              <a:t>: HDFS</a:t>
            </a:r>
          </a:p>
          <a:p>
            <a:pPr lvl="1"/>
            <a:r>
              <a:rPr lang="en-US" b="1" dirty="0">
                <a:solidFill>
                  <a:srgbClr val="D60093"/>
                </a:solidFill>
              </a:rPr>
              <a:t>Programming model</a:t>
            </a:r>
          </a:p>
          <a:p>
            <a:pPr lvl="2"/>
            <a:r>
              <a:rPr lang="en-US" dirty="0"/>
              <a:t>Map-Reduce</a:t>
            </a:r>
            <a:endParaRPr lang="en-US" sz="1500" dirty="0"/>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7</a:t>
            </a:fld>
            <a:endParaRPr lang="en-US"/>
          </a:p>
        </p:txBody>
      </p:sp>
    </p:spTree>
    <p:extLst>
      <p:ext uri="{BB962C8B-B14F-4D97-AF65-F5344CB8AC3E}">
        <p14:creationId xmlns:p14="http://schemas.microsoft.com/office/powerpoint/2010/main" val="1105817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en-US" dirty="0"/>
              <a:t>Storage Infrastructure</a:t>
            </a:r>
          </a:p>
        </p:txBody>
      </p:sp>
      <p:sp>
        <p:nvSpPr>
          <p:cNvPr id="97283" name="Rectangle 3"/>
          <p:cNvSpPr>
            <a:spLocks noGrp="1" noChangeArrowheads="1"/>
          </p:cNvSpPr>
          <p:nvPr>
            <p:ph type="body" idx="1"/>
          </p:nvPr>
        </p:nvSpPr>
        <p:spPr/>
        <p:txBody>
          <a:bodyPr>
            <a:normAutofit/>
          </a:bodyPr>
          <a:lstStyle/>
          <a:p>
            <a:r>
              <a:rPr lang="en-US" b="1" dirty="0">
                <a:solidFill>
                  <a:schemeClr val="accent3"/>
                </a:solidFill>
              </a:rPr>
              <a:t>Problem:</a:t>
            </a:r>
            <a:endParaRPr lang="en-US" b="1" dirty="0"/>
          </a:p>
          <a:p>
            <a:pPr lvl="1"/>
            <a:r>
              <a:rPr lang="en-US" dirty="0"/>
              <a:t>If nodes fail, how to store data persistently? </a:t>
            </a:r>
          </a:p>
          <a:p>
            <a:r>
              <a:rPr lang="en-US" b="1" dirty="0">
                <a:solidFill>
                  <a:schemeClr val="accent4"/>
                </a:solidFill>
              </a:rPr>
              <a:t>Answer:</a:t>
            </a:r>
          </a:p>
          <a:p>
            <a:pPr lvl="1"/>
            <a:r>
              <a:rPr lang="en-US" b="1" dirty="0">
                <a:solidFill>
                  <a:schemeClr val="accent2"/>
                </a:solidFill>
              </a:rPr>
              <a:t>Distributed File System:</a:t>
            </a:r>
          </a:p>
          <a:p>
            <a:pPr lvl="2"/>
            <a:r>
              <a:rPr lang="en-US" dirty="0"/>
              <a:t>Provides global file namespace</a:t>
            </a:r>
          </a:p>
          <a:p>
            <a:pPr lvl="2"/>
            <a:r>
              <a:rPr lang="en-US" dirty="0"/>
              <a:t>Google GFS; </a:t>
            </a:r>
            <a:r>
              <a:rPr lang="en-US" dirty="0" err="1"/>
              <a:t>Hadoop</a:t>
            </a:r>
            <a:r>
              <a:rPr lang="en-US" dirty="0"/>
              <a:t> HDFS;</a:t>
            </a:r>
          </a:p>
          <a:p>
            <a:r>
              <a:rPr lang="en-US" b="1" dirty="0">
                <a:solidFill>
                  <a:schemeClr val="accent4"/>
                </a:solidFill>
              </a:rPr>
              <a:t>Typical usage pattern</a:t>
            </a:r>
          </a:p>
          <a:p>
            <a:pPr lvl="1"/>
            <a:r>
              <a:rPr lang="en-US" dirty="0"/>
              <a:t>Huge files (100s of GB to TB)</a:t>
            </a:r>
          </a:p>
          <a:p>
            <a:pPr lvl="1"/>
            <a:r>
              <a:rPr lang="en-US" dirty="0"/>
              <a:t>Data is rarely updated in place</a:t>
            </a:r>
          </a:p>
          <a:p>
            <a:pPr lvl="1"/>
            <a:r>
              <a:rPr lang="en-US" dirty="0"/>
              <a:t>Reads and appends are common</a:t>
            </a:r>
          </a:p>
          <a:p>
            <a:pPr>
              <a:buFont typeface="Wingdings" pitchFamily="2" charset="2"/>
              <a:buNone/>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8</a:t>
            </a:fld>
            <a:endParaRPr lang="en-US"/>
          </a:p>
        </p:txBody>
      </p:sp>
    </p:spTree>
    <p:extLst>
      <p:ext uri="{BB962C8B-B14F-4D97-AF65-F5344CB8AC3E}">
        <p14:creationId xmlns:p14="http://schemas.microsoft.com/office/powerpoint/2010/main" val="152300248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728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728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728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728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728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728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7283">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7283">
                                            <p:txEl>
                                              <p:pRg st="7" end="7"/>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7283">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9728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3" grpId="0" uiExpand="1" build="p" bldLvl="2"/>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r>
              <a:rPr lang="en-US"/>
              <a:t>Distributed File System</a:t>
            </a:r>
          </a:p>
        </p:txBody>
      </p:sp>
      <p:sp>
        <p:nvSpPr>
          <p:cNvPr id="106499" name="Rectangle 3"/>
          <p:cNvSpPr>
            <a:spLocks noGrp="1" noChangeArrowheads="1"/>
          </p:cNvSpPr>
          <p:nvPr>
            <p:ph type="body" idx="1"/>
          </p:nvPr>
        </p:nvSpPr>
        <p:spPr/>
        <p:txBody>
          <a:bodyPr>
            <a:normAutofit lnSpcReduction="10000"/>
          </a:bodyPr>
          <a:lstStyle/>
          <a:p>
            <a:pPr>
              <a:lnSpc>
                <a:spcPct val="90000"/>
              </a:lnSpc>
            </a:pPr>
            <a:r>
              <a:rPr lang="en-US" b="1" dirty="0">
                <a:solidFill>
                  <a:schemeClr val="accent3"/>
                </a:solidFill>
              </a:rPr>
              <a:t>Chunk servers</a:t>
            </a:r>
          </a:p>
          <a:p>
            <a:pPr lvl="1">
              <a:lnSpc>
                <a:spcPct val="90000"/>
              </a:lnSpc>
            </a:pPr>
            <a:r>
              <a:rPr lang="en-US" dirty="0"/>
              <a:t>File is split into contiguous chunks</a:t>
            </a:r>
          </a:p>
          <a:p>
            <a:pPr lvl="1">
              <a:lnSpc>
                <a:spcPct val="90000"/>
              </a:lnSpc>
            </a:pPr>
            <a:r>
              <a:rPr lang="en-US" dirty="0"/>
              <a:t>Typically each chunk is 16-64MB</a:t>
            </a:r>
          </a:p>
          <a:p>
            <a:pPr lvl="1">
              <a:lnSpc>
                <a:spcPct val="90000"/>
              </a:lnSpc>
            </a:pPr>
            <a:r>
              <a:rPr lang="en-US" dirty="0"/>
              <a:t>Each chunk replicated (usually 2x or 3x)</a:t>
            </a:r>
          </a:p>
          <a:p>
            <a:pPr lvl="1">
              <a:lnSpc>
                <a:spcPct val="90000"/>
              </a:lnSpc>
            </a:pPr>
            <a:r>
              <a:rPr lang="en-US" dirty="0"/>
              <a:t>Try to keep replicas in different racks</a:t>
            </a:r>
          </a:p>
          <a:p>
            <a:pPr>
              <a:lnSpc>
                <a:spcPct val="90000"/>
              </a:lnSpc>
            </a:pPr>
            <a:r>
              <a:rPr lang="en-US" b="1" dirty="0">
                <a:solidFill>
                  <a:schemeClr val="accent2"/>
                </a:solidFill>
              </a:rPr>
              <a:t>Master node</a:t>
            </a:r>
          </a:p>
          <a:p>
            <a:pPr lvl="1">
              <a:lnSpc>
                <a:spcPct val="90000"/>
              </a:lnSpc>
            </a:pPr>
            <a:r>
              <a:rPr lang="en-US" dirty="0"/>
              <a:t>a.k.a. Name Node in </a:t>
            </a:r>
            <a:r>
              <a:rPr lang="en-US" dirty="0" err="1"/>
              <a:t>Hadoop’s</a:t>
            </a:r>
            <a:r>
              <a:rPr lang="en-US" dirty="0"/>
              <a:t> HDFS</a:t>
            </a:r>
          </a:p>
          <a:p>
            <a:pPr lvl="1">
              <a:lnSpc>
                <a:spcPct val="90000"/>
              </a:lnSpc>
            </a:pPr>
            <a:r>
              <a:rPr lang="en-US" dirty="0"/>
              <a:t>Stores metadata about where files are stored</a:t>
            </a:r>
          </a:p>
          <a:p>
            <a:pPr lvl="1">
              <a:lnSpc>
                <a:spcPct val="90000"/>
              </a:lnSpc>
            </a:pPr>
            <a:r>
              <a:rPr lang="en-US" dirty="0"/>
              <a:t>Might be replicated</a:t>
            </a:r>
          </a:p>
          <a:p>
            <a:pPr>
              <a:lnSpc>
                <a:spcPct val="90000"/>
              </a:lnSpc>
            </a:pPr>
            <a:r>
              <a:rPr lang="en-US" b="1" dirty="0">
                <a:solidFill>
                  <a:schemeClr val="accent4"/>
                </a:solidFill>
              </a:rPr>
              <a:t>Client library for file access</a:t>
            </a:r>
          </a:p>
          <a:p>
            <a:pPr lvl="1">
              <a:lnSpc>
                <a:spcPct val="90000"/>
              </a:lnSpc>
            </a:pPr>
            <a:r>
              <a:rPr lang="en-US" dirty="0"/>
              <a:t>Talks to master to find chunk servers </a:t>
            </a:r>
          </a:p>
          <a:p>
            <a:pPr lvl="1">
              <a:lnSpc>
                <a:spcPct val="90000"/>
              </a:lnSpc>
            </a:pPr>
            <a:r>
              <a:rPr lang="en-US" dirty="0"/>
              <a:t>Connects directly to chunk servers to access data</a:t>
            </a:r>
          </a:p>
        </p:txBody>
      </p:sp>
      <p:sp>
        <p:nvSpPr>
          <p:cNvPr id="11" name="Footer Placeholder 10"/>
          <p:cNvSpPr>
            <a:spLocks noGrp="1"/>
          </p:cNvSpPr>
          <p:nvPr>
            <p:ph type="ftr" sz="quarter" idx="11"/>
          </p:nvPr>
        </p:nvSpPr>
        <p:spPr/>
        <p:txBody>
          <a:bodyPr/>
          <a:lstStyle/>
          <a:p>
            <a:r>
              <a:rPr lang="en-US"/>
              <a:t>J. Leskovec, A. Rajaraman, J. Ullman: Mining of Massive Datasets, http://www.mmds.org</a:t>
            </a:r>
          </a:p>
        </p:txBody>
      </p:sp>
      <p:sp>
        <p:nvSpPr>
          <p:cNvPr id="12" name="Slide Number Placeholder 11"/>
          <p:cNvSpPr>
            <a:spLocks noGrp="1"/>
          </p:cNvSpPr>
          <p:nvPr>
            <p:ph type="sldNum" sz="quarter" idx="12"/>
          </p:nvPr>
        </p:nvSpPr>
        <p:spPr/>
        <p:txBody>
          <a:bodyPr/>
          <a:lstStyle/>
          <a:p>
            <a:fld id="{19B12225-5612-419B-A8D5-4B8EEE4C217E}" type="slidenum">
              <a:rPr lang="en-US" smtClean="0"/>
              <a:pPr/>
              <a:t>9</a:t>
            </a:fld>
            <a:endParaRPr lang="en-US"/>
          </a:p>
        </p:txBody>
      </p:sp>
    </p:spTree>
    <p:extLst>
      <p:ext uri="{BB962C8B-B14F-4D97-AF65-F5344CB8AC3E}">
        <p14:creationId xmlns:p14="http://schemas.microsoft.com/office/powerpoint/2010/main" val="8921134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06499">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6499">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6499">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6499">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49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6499">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6499">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6499">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6499">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6499">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6499">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64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499"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23" name="Rectangle 59"/>
          <p:cNvSpPr>
            <a:spLocks noGrp="1" noChangeArrowheads="1"/>
          </p:cNvSpPr>
          <p:nvPr>
            <p:ph type="title"/>
          </p:nvPr>
        </p:nvSpPr>
        <p:spPr/>
        <p:txBody>
          <a:bodyPr/>
          <a:lstStyle/>
          <a:p>
            <a:r>
              <a:rPr lang="en-GB" dirty="0"/>
              <a:t>Distributed File System</a:t>
            </a:r>
          </a:p>
        </p:txBody>
      </p:sp>
      <p:sp>
        <p:nvSpPr>
          <p:cNvPr id="71" name="Content Placeholder 70"/>
          <p:cNvSpPr>
            <a:spLocks noGrp="1"/>
          </p:cNvSpPr>
          <p:nvPr>
            <p:ph idx="1"/>
          </p:nvPr>
        </p:nvSpPr>
        <p:spPr/>
        <p:txBody>
          <a:bodyPr>
            <a:normAutofit/>
          </a:bodyPr>
          <a:lstStyle/>
          <a:p>
            <a:r>
              <a:rPr lang="en-GB" b="1" dirty="0"/>
              <a:t>Reliable distributed file system</a:t>
            </a:r>
            <a:endParaRPr lang="en-GB" dirty="0"/>
          </a:p>
          <a:p>
            <a:r>
              <a:rPr lang="en-GB" dirty="0"/>
              <a:t>Data kept in “chunks” spread across machines</a:t>
            </a:r>
          </a:p>
          <a:p>
            <a:r>
              <a:rPr lang="en-GB" dirty="0"/>
              <a:t>Each chunk </a:t>
            </a:r>
            <a:r>
              <a:rPr lang="en-GB" dirty="0">
                <a:solidFill>
                  <a:schemeClr val="accent3"/>
                </a:solidFill>
              </a:rPr>
              <a:t>replicated</a:t>
            </a:r>
            <a:r>
              <a:rPr lang="en-GB" dirty="0"/>
              <a:t> on different machines </a:t>
            </a:r>
          </a:p>
          <a:p>
            <a:pPr lvl="1"/>
            <a:r>
              <a:rPr lang="en-GB" dirty="0"/>
              <a:t>Seamless recovery from disk or machine failure</a:t>
            </a:r>
          </a:p>
        </p:txBody>
      </p:sp>
      <p:grpSp>
        <p:nvGrpSpPr>
          <p:cNvPr id="2" name="Group 22"/>
          <p:cNvGrpSpPr>
            <a:grpSpLocks/>
          </p:cNvGrpSpPr>
          <p:nvPr/>
        </p:nvGrpSpPr>
        <p:grpSpPr bwMode="auto">
          <a:xfrm>
            <a:off x="1147762" y="3962400"/>
            <a:ext cx="520700" cy="498475"/>
            <a:chOff x="528" y="2160"/>
            <a:chExt cx="328" cy="314"/>
          </a:xfrm>
        </p:grpSpPr>
        <p:sp>
          <p:nvSpPr>
            <p:cNvPr id="11287" name="AutoShape 23"/>
            <p:cNvSpPr>
              <a:spLocks noChangeArrowheads="1"/>
            </p:cNvSpPr>
            <p:nvPr/>
          </p:nvSpPr>
          <p:spPr bwMode="auto">
            <a:xfrm>
              <a:off x="528" y="2160"/>
              <a:ext cx="329" cy="248"/>
            </a:xfrm>
            <a:prstGeom prst="roundRect">
              <a:avLst>
                <a:gd name="adj" fmla="val 403"/>
              </a:avLst>
            </a:prstGeom>
            <a:solidFill>
              <a:srgbClr val="FFFF00"/>
            </a:solidFill>
            <a:ln w="9360">
              <a:solidFill>
                <a:srgbClr val="000000"/>
              </a:solidFill>
              <a:miter lim="800000"/>
              <a:headEnd/>
              <a:tailEnd/>
            </a:ln>
            <a:effectLst/>
          </p:spPr>
          <p:txBody>
            <a:bodyPr wrap="none" anchor="ctr"/>
            <a:lstStyle/>
            <a:p>
              <a:endParaRPr lang="en-US"/>
            </a:p>
          </p:txBody>
        </p:sp>
        <p:sp>
          <p:nvSpPr>
            <p:cNvPr id="11288" name="AutoShape 24"/>
            <p:cNvSpPr>
              <a:spLocks noChangeArrowheads="1"/>
            </p:cNvSpPr>
            <p:nvPr/>
          </p:nvSpPr>
          <p:spPr bwMode="auto">
            <a:xfrm>
              <a:off x="533" y="2160"/>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0</a:t>
              </a:r>
            </a:p>
          </p:txBody>
        </p:sp>
      </p:grpSp>
      <p:grpSp>
        <p:nvGrpSpPr>
          <p:cNvPr id="3" name="Group 25"/>
          <p:cNvGrpSpPr>
            <a:grpSpLocks/>
          </p:cNvGrpSpPr>
          <p:nvPr/>
        </p:nvGrpSpPr>
        <p:grpSpPr bwMode="auto">
          <a:xfrm>
            <a:off x="1757362" y="3957638"/>
            <a:ext cx="552450" cy="498475"/>
            <a:chOff x="912" y="2157"/>
            <a:chExt cx="348" cy="314"/>
          </a:xfrm>
        </p:grpSpPr>
        <p:sp>
          <p:nvSpPr>
            <p:cNvPr id="11290" name="AutoShape 26"/>
            <p:cNvSpPr>
              <a:spLocks noChangeArrowheads="1"/>
            </p:cNvSpPr>
            <p:nvPr/>
          </p:nvSpPr>
          <p:spPr bwMode="auto">
            <a:xfrm>
              <a:off x="912" y="2157"/>
              <a:ext cx="349" cy="248"/>
            </a:xfrm>
            <a:prstGeom prst="roundRect">
              <a:avLst>
                <a:gd name="adj" fmla="val 403"/>
              </a:avLst>
            </a:prstGeom>
            <a:solidFill>
              <a:srgbClr val="FF9900"/>
            </a:solidFill>
            <a:ln w="9360">
              <a:solidFill>
                <a:srgbClr val="000000"/>
              </a:solidFill>
              <a:miter lim="800000"/>
              <a:headEnd/>
              <a:tailEnd/>
            </a:ln>
            <a:effectLst/>
          </p:spPr>
          <p:txBody>
            <a:bodyPr wrap="none" anchor="ctr"/>
            <a:lstStyle/>
            <a:p>
              <a:endParaRPr lang="en-US"/>
            </a:p>
          </p:txBody>
        </p:sp>
        <p:sp>
          <p:nvSpPr>
            <p:cNvPr id="11291" name="AutoShape 27"/>
            <p:cNvSpPr>
              <a:spLocks noChangeArrowheads="1"/>
            </p:cNvSpPr>
            <p:nvPr/>
          </p:nvSpPr>
          <p:spPr bwMode="auto">
            <a:xfrm>
              <a:off x="918" y="2157"/>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1</a:t>
              </a:r>
            </a:p>
          </p:txBody>
        </p:sp>
      </p:grpSp>
      <p:grpSp>
        <p:nvGrpSpPr>
          <p:cNvPr id="4" name="Group 28"/>
          <p:cNvGrpSpPr>
            <a:grpSpLocks/>
          </p:cNvGrpSpPr>
          <p:nvPr/>
        </p:nvGrpSpPr>
        <p:grpSpPr bwMode="auto">
          <a:xfrm>
            <a:off x="1757362" y="4498975"/>
            <a:ext cx="531813" cy="498475"/>
            <a:chOff x="912" y="2498"/>
            <a:chExt cx="335" cy="314"/>
          </a:xfrm>
        </p:grpSpPr>
        <p:sp>
          <p:nvSpPr>
            <p:cNvPr id="11293" name="AutoShape 29"/>
            <p:cNvSpPr>
              <a:spLocks noChangeArrowheads="1"/>
            </p:cNvSpPr>
            <p:nvPr/>
          </p:nvSpPr>
          <p:spPr bwMode="auto">
            <a:xfrm>
              <a:off x="912" y="2498"/>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11294" name="Text Box 30"/>
            <p:cNvSpPr txBox="1">
              <a:spLocks noChangeArrowheads="1"/>
            </p:cNvSpPr>
            <p:nvPr/>
          </p:nvSpPr>
          <p:spPr bwMode="auto">
            <a:xfrm>
              <a:off x="912" y="2498"/>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5" name="Group 31"/>
          <p:cNvGrpSpPr>
            <a:grpSpLocks/>
          </p:cNvGrpSpPr>
          <p:nvPr/>
        </p:nvGrpSpPr>
        <p:grpSpPr bwMode="auto">
          <a:xfrm>
            <a:off x="1147762" y="4495800"/>
            <a:ext cx="520700" cy="498475"/>
            <a:chOff x="528" y="2496"/>
            <a:chExt cx="328" cy="314"/>
          </a:xfrm>
        </p:grpSpPr>
        <p:sp>
          <p:nvSpPr>
            <p:cNvPr id="11296" name="AutoShape 32"/>
            <p:cNvSpPr>
              <a:spLocks noChangeArrowheads="1"/>
            </p:cNvSpPr>
            <p:nvPr/>
          </p:nvSpPr>
          <p:spPr bwMode="auto">
            <a:xfrm>
              <a:off x="528" y="2496"/>
              <a:ext cx="329"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297" name="AutoShape 33"/>
            <p:cNvSpPr>
              <a:spLocks noChangeArrowheads="1"/>
            </p:cNvSpPr>
            <p:nvPr/>
          </p:nvSpPr>
          <p:spPr bwMode="auto">
            <a:xfrm>
              <a:off x="533" y="2496"/>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298" name="AutoShape 34"/>
          <p:cNvSpPr>
            <a:spLocks noChangeArrowheads="1"/>
          </p:cNvSpPr>
          <p:nvPr/>
        </p:nvSpPr>
        <p:spPr bwMode="auto">
          <a:xfrm>
            <a:off x="1047750" y="3886200"/>
            <a:ext cx="1319212"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299" name="AutoShape 35"/>
          <p:cNvSpPr>
            <a:spLocks noChangeArrowheads="1"/>
          </p:cNvSpPr>
          <p:nvPr/>
        </p:nvSpPr>
        <p:spPr bwMode="auto">
          <a:xfrm rot="16200000">
            <a:off x="1443371" y="4402451"/>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buClr>
                <a:srgbClr val="009999"/>
              </a:buClr>
              <a:buFont typeface="TradeGothic" pitchFamily="32"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1</a:t>
            </a:r>
          </a:p>
        </p:txBody>
      </p:sp>
      <p:grpSp>
        <p:nvGrpSpPr>
          <p:cNvPr id="6" name="Group 36"/>
          <p:cNvGrpSpPr>
            <a:grpSpLocks/>
          </p:cNvGrpSpPr>
          <p:nvPr/>
        </p:nvGrpSpPr>
        <p:grpSpPr bwMode="auto">
          <a:xfrm>
            <a:off x="5465822" y="4419600"/>
            <a:ext cx="550863" cy="393700"/>
            <a:chOff x="3099" y="2165"/>
            <a:chExt cx="347" cy="248"/>
          </a:xfrm>
        </p:grpSpPr>
        <p:sp>
          <p:nvSpPr>
            <p:cNvPr id="11301" name="AutoShape 37"/>
            <p:cNvSpPr>
              <a:spLocks noChangeArrowheads="1"/>
            </p:cNvSpPr>
            <p:nvPr/>
          </p:nvSpPr>
          <p:spPr bwMode="auto">
            <a:xfrm>
              <a:off x="3099" y="2165"/>
              <a:ext cx="347" cy="248"/>
            </a:xfrm>
            <a:prstGeom prst="roundRect">
              <a:avLst>
                <a:gd name="adj" fmla="val 403"/>
              </a:avLst>
            </a:prstGeom>
            <a:solidFill>
              <a:srgbClr val="92D050"/>
            </a:solidFill>
            <a:ln w="9360">
              <a:solidFill>
                <a:srgbClr val="000000"/>
              </a:solidFill>
              <a:miter lim="800000"/>
              <a:headEnd/>
              <a:tailEnd/>
            </a:ln>
            <a:effectLst/>
          </p:spPr>
          <p:txBody>
            <a:bodyPr wrap="none" anchor="ctr"/>
            <a:lstStyle/>
            <a:p>
              <a:endParaRPr lang="en-US"/>
            </a:p>
          </p:txBody>
        </p:sp>
        <p:sp>
          <p:nvSpPr>
            <p:cNvPr id="11302" name="AutoShape 38"/>
            <p:cNvSpPr>
              <a:spLocks noChangeArrowheads="1"/>
            </p:cNvSpPr>
            <p:nvPr/>
          </p:nvSpPr>
          <p:spPr bwMode="auto">
            <a:xfrm>
              <a:off x="3105" y="2165"/>
              <a:ext cx="273" cy="24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1</a:t>
              </a:r>
            </a:p>
          </p:txBody>
        </p:sp>
      </p:grpSp>
      <p:grpSp>
        <p:nvGrpSpPr>
          <p:cNvPr id="7" name="Group 39"/>
          <p:cNvGrpSpPr>
            <a:grpSpLocks/>
          </p:cNvGrpSpPr>
          <p:nvPr/>
        </p:nvGrpSpPr>
        <p:grpSpPr bwMode="auto">
          <a:xfrm>
            <a:off x="5459760" y="3970338"/>
            <a:ext cx="558800" cy="498475"/>
            <a:chOff x="3487" y="2165"/>
            <a:chExt cx="352" cy="314"/>
          </a:xfrm>
        </p:grpSpPr>
        <p:sp>
          <p:nvSpPr>
            <p:cNvPr id="11304" name="AutoShape 40"/>
            <p:cNvSpPr>
              <a:spLocks noChangeArrowheads="1"/>
            </p:cNvSpPr>
            <p:nvPr/>
          </p:nvSpPr>
          <p:spPr bwMode="auto">
            <a:xfrm>
              <a:off x="3487" y="2165"/>
              <a:ext cx="353"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305" name="AutoShape 41"/>
            <p:cNvSpPr>
              <a:spLocks noChangeArrowheads="1"/>
            </p:cNvSpPr>
            <p:nvPr/>
          </p:nvSpPr>
          <p:spPr bwMode="auto">
            <a:xfrm>
              <a:off x="3493"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306" name="AutoShape 42"/>
          <p:cNvSpPr>
            <a:spLocks noChangeArrowheads="1"/>
          </p:cNvSpPr>
          <p:nvPr/>
        </p:nvSpPr>
        <p:spPr bwMode="auto">
          <a:xfrm>
            <a:off x="4780373" y="3886200"/>
            <a:ext cx="1319213"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307" name="AutoShape 43"/>
          <p:cNvSpPr>
            <a:spLocks noChangeArrowheads="1"/>
          </p:cNvSpPr>
          <p:nvPr/>
        </p:nvSpPr>
        <p:spPr bwMode="auto">
          <a:xfrm rot="16200000">
            <a:off x="5186250" y="4410389"/>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3</a:t>
            </a:r>
          </a:p>
        </p:txBody>
      </p:sp>
      <p:grpSp>
        <p:nvGrpSpPr>
          <p:cNvPr id="8" name="Group 44"/>
          <p:cNvGrpSpPr>
            <a:grpSpLocks/>
          </p:cNvGrpSpPr>
          <p:nvPr/>
        </p:nvGrpSpPr>
        <p:grpSpPr bwMode="auto">
          <a:xfrm>
            <a:off x="3586162" y="3962400"/>
            <a:ext cx="520700" cy="498475"/>
            <a:chOff x="2064" y="2160"/>
            <a:chExt cx="328" cy="314"/>
          </a:xfrm>
        </p:grpSpPr>
        <p:sp>
          <p:nvSpPr>
            <p:cNvPr id="11309" name="AutoShape 45"/>
            <p:cNvSpPr>
              <a:spLocks noChangeArrowheads="1"/>
            </p:cNvSpPr>
            <p:nvPr/>
          </p:nvSpPr>
          <p:spPr bwMode="auto">
            <a:xfrm>
              <a:off x="2064" y="2160"/>
              <a:ext cx="329" cy="248"/>
            </a:xfrm>
            <a:prstGeom prst="roundRect">
              <a:avLst>
                <a:gd name="adj" fmla="val 403"/>
              </a:avLst>
            </a:prstGeom>
            <a:solidFill>
              <a:srgbClr val="FF9900"/>
            </a:solidFill>
            <a:ln w="9360">
              <a:solidFill>
                <a:srgbClr val="000000"/>
              </a:solidFill>
              <a:miter lim="800000"/>
              <a:headEnd/>
              <a:tailEnd/>
            </a:ln>
            <a:effectLst/>
          </p:spPr>
          <p:txBody>
            <a:bodyPr wrap="none" anchor="ctr"/>
            <a:lstStyle/>
            <a:p>
              <a:endParaRPr lang="en-US"/>
            </a:p>
          </p:txBody>
        </p:sp>
        <p:sp>
          <p:nvSpPr>
            <p:cNvPr id="11310" name="AutoShape 46"/>
            <p:cNvSpPr>
              <a:spLocks noChangeArrowheads="1"/>
            </p:cNvSpPr>
            <p:nvPr/>
          </p:nvSpPr>
          <p:spPr bwMode="auto">
            <a:xfrm>
              <a:off x="2069" y="2160"/>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1</a:t>
              </a:r>
            </a:p>
          </p:txBody>
        </p:sp>
      </p:grpSp>
      <p:grpSp>
        <p:nvGrpSpPr>
          <p:cNvPr id="9" name="Group 47"/>
          <p:cNvGrpSpPr>
            <a:grpSpLocks/>
          </p:cNvGrpSpPr>
          <p:nvPr/>
        </p:nvGrpSpPr>
        <p:grpSpPr bwMode="auto">
          <a:xfrm>
            <a:off x="3586162" y="4498975"/>
            <a:ext cx="531813" cy="498475"/>
            <a:chOff x="2064" y="2498"/>
            <a:chExt cx="335" cy="314"/>
          </a:xfrm>
        </p:grpSpPr>
        <p:sp>
          <p:nvSpPr>
            <p:cNvPr id="11312" name="AutoShape 48"/>
            <p:cNvSpPr>
              <a:spLocks noChangeArrowheads="1"/>
            </p:cNvSpPr>
            <p:nvPr/>
          </p:nvSpPr>
          <p:spPr bwMode="auto">
            <a:xfrm>
              <a:off x="2064" y="2498"/>
              <a:ext cx="336" cy="248"/>
            </a:xfrm>
            <a:prstGeom prst="roundRect">
              <a:avLst>
                <a:gd name="adj" fmla="val 403"/>
              </a:avLst>
            </a:prstGeom>
            <a:solidFill>
              <a:srgbClr val="00FF00"/>
            </a:solidFill>
            <a:ln w="9360">
              <a:solidFill>
                <a:srgbClr val="000000"/>
              </a:solidFill>
              <a:miter lim="800000"/>
              <a:headEnd/>
              <a:tailEnd/>
            </a:ln>
            <a:effectLst/>
          </p:spPr>
          <p:txBody>
            <a:bodyPr wrap="none" anchor="ctr"/>
            <a:lstStyle/>
            <a:p>
              <a:endParaRPr lang="en-US"/>
            </a:p>
          </p:txBody>
        </p:sp>
        <p:sp>
          <p:nvSpPr>
            <p:cNvPr id="11313" name="Text Box 49"/>
            <p:cNvSpPr txBox="1">
              <a:spLocks noChangeArrowheads="1"/>
            </p:cNvSpPr>
            <p:nvPr/>
          </p:nvSpPr>
          <p:spPr bwMode="auto">
            <a:xfrm>
              <a:off x="2064" y="2498"/>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3</a:t>
              </a:r>
            </a:p>
          </p:txBody>
        </p:sp>
      </p:grpSp>
      <p:grpSp>
        <p:nvGrpSpPr>
          <p:cNvPr id="10" name="Group 50"/>
          <p:cNvGrpSpPr>
            <a:grpSpLocks/>
          </p:cNvGrpSpPr>
          <p:nvPr/>
        </p:nvGrpSpPr>
        <p:grpSpPr bwMode="auto">
          <a:xfrm>
            <a:off x="2976562" y="4503738"/>
            <a:ext cx="520700" cy="498475"/>
            <a:chOff x="1680" y="2501"/>
            <a:chExt cx="328" cy="314"/>
          </a:xfrm>
        </p:grpSpPr>
        <p:sp>
          <p:nvSpPr>
            <p:cNvPr id="11315" name="AutoShape 51"/>
            <p:cNvSpPr>
              <a:spLocks noChangeArrowheads="1"/>
            </p:cNvSpPr>
            <p:nvPr/>
          </p:nvSpPr>
          <p:spPr bwMode="auto">
            <a:xfrm>
              <a:off x="1680" y="2501"/>
              <a:ext cx="329"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11316" name="AutoShape 52"/>
            <p:cNvSpPr>
              <a:spLocks noChangeArrowheads="1"/>
            </p:cNvSpPr>
            <p:nvPr/>
          </p:nvSpPr>
          <p:spPr bwMode="auto">
            <a:xfrm>
              <a:off x="1685" y="2501"/>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11317" name="AutoShape 53"/>
          <p:cNvSpPr>
            <a:spLocks noChangeArrowheads="1"/>
          </p:cNvSpPr>
          <p:nvPr/>
        </p:nvSpPr>
        <p:spPr bwMode="auto">
          <a:xfrm>
            <a:off x="2876550" y="3886200"/>
            <a:ext cx="1319212"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11318" name="AutoShape 54"/>
          <p:cNvSpPr>
            <a:spLocks noChangeArrowheads="1"/>
          </p:cNvSpPr>
          <p:nvPr/>
        </p:nvSpPr>
        <p:spPr bwMode="auto">
          <a:xfrm rot="16200000">
            <a:off x="3302334" y="4411975"/>
            <a:ext cx="427979" cy="1485921"/>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2</a:t>
            </a:r>
          </a:p>
        </p:txBody>
      </p:sp>
      <p:sp>
        <p:nvSpPr>
          <p:cNvPr id="11319" name="AutoShape 55"/>
          <p:cNvSpPr>
            <a:spLocks noChangeArrowheads="1"/>
          </p:cNvSpPr>
          <p:nvPr/>
        </p:nvSpPr>
        <p:spPr bwMode="auto">
          <a:xfrm>
            <a:off x="6316847" y="4191000"/>
            <a:ext cx="638175" cy="606425"/>
          </a:xfrm>
          <a:prstGeom prst="roundRect">
            <a:avLst>
              <a:gd name="adj" fmla="val 245"/>
            </a:avLst>
          </a:prstGeom>
          <a:noFill/>
          <a:ln w="9525">
            <a:noFill/>
            <a:round/>
            <a:headEnd/>
            <a:tailEnd/>
          </a:ln>
          <a:effectLst/>
        </p:spPr>
        <p:txBody>
          <a:bodyPr wrap="none" lIns="90000" tIns="46800" rIns="90000" bIns="4680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3600" b="1" dirty="0">
                <a:solidFill>
                  <a:srgbClr val="7D7D7D"/>
                </a:solidFill>
                <a:latin typeface="TradeGothic" pitchFamily="32" charset="0"/>
              </a:rPr>
              <a:t>…</a:t>
            </a:r>
          </a:p>
        </p:txBody>
      </p:sp>
      <p:grpSp>
        <p:nvGrpSpPr>
          <p:cNvPr id="11" name="Group 60"/>
          <p:cNvGrpSpPr>
            <a:grpSpLocks/>
          </p:cNvGrpSpPr>
          <p:nvPr/>
        </p:nvGrpSpPr>
        <p:grpSpPr bwMode="auto">
          <a:xfrm>
            <a:off x="4869047" y="3962400"/>
            <a:ext cx="531813" cy="498475"/>
            <a:chOff x="3504" y="2496"/>
            <a:chExt cx="335" cy="314"/>
          </a:xfrm>
        </p:grpSpPr>
        <p:sp>
          <p:nvSpPr>
            <p:cNvPr id="11325" name="AutoShape 61"/>
            <p:cNvSpPr>
              <a:spLocks noChangeArrowheads="1"/>
            </p:cNvSpPr>
            <p:nvPr/>
          </p:nvSpPr>
          <p:spPr bwMode="auto">
            <a:xfrm>
              <a:off x="3504" y="2496"/>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11326" name="Text Box 62"/>
            <p:cNvSpPr txBox="1">
              <a:spLocks noChangeArrowheads="1"/>
            </p:cNvSpPr>
            <p:nvPr/>
          </p:nvSpPr>
          <p:spPr bwMode="auto">
            <a:xfrm>
              <a:off x="3504" y="2496"/>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12" name="Group 22"/>
          <p:cNvGrpSpPr>
            <a:grpSpLocks/>
          </p:cNvGrpSpPr>
          <p:nvPr/>
        </p:nvGrpSpPr>
        <p:grpSpPr bwMode="auto">
          <a:xfrm>
            <a:off x="2976748" y="3962400"/>
            <a:ext cx="522288" cy="393700"/>
            <a:chOff x="528" y="2160"/>
            <a:chExt cx="329" cy="248"/>
          </a:xfrm>
          <a:solidFill>
            <a:schemeClr val="accent3"/>
          </a:solidFill>
        </p:grpSpPr>
        <p:sp>
          <p:nvSpPr>
            <p:cNvPr id="74"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75"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grpSp>
        <p:nvGrpSpPr>
          <p:cNvPr id="13" name="Group 22"/>
          <p:cNvGrpSpPr>
            <a:grpSpLocks/>
          </p:cNvGrpSpPr>
          <p:nvPr/>
        </p:nvGrpSpPr>
        <p:grpSpPr bwMode="auto">
          <a:xfrm>
            <a:off x="4875744" y="4425006"/>
            <a:ext cx="522288" cy="393700"/>
            <a:chOff x="528" y="2160"/>
            <a:chExt cx="329" cy="248"/>
          </a:xfrm>
          <a:solidFill>
            <a:schemeClr val="accent3"/>
          </a:solidFill>
        </p:grpSpPr>
        <p:sp>
          <p:nvSpPr>
            <p:cNvPr id="77"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78"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sp>
        <p:nvSpPr>
          <p:cNvPr id="79" name="Rectangle 78"/>
          <p:cNvSpPr/>
          <p:nvPr/>
        </p:nvSpPr>
        <p:spPr>
          <a:xfrm>
            <a:off x="1045028" y="5410200"/>
            <a:ext cx="6922633" cy="533400"/>
          </a:xfrm>
          <a:prstGeom prst="rect">
            <a:avLst/>
          </a:prstGeom>
        </p:spPr>
        <p:style>
          <a:lnRef idx="0">
            <a:schemeClr val="dk1"/>
          </a:lnRef>
          <a:fillRef idx="3">
            <a:schemeClr val="dk1"/>
          </a:fillRef>
          <a:effectRef idx="3">
            <a:schemeClr val="dk1"/>
          </a:effectRef>
          <a:fontRef idx="minor">
            <a:schemeClr val="lt1"/>
          </a:fontRef>
        </p:style>
        <p:txBody>
          <a:bodyPr rtlCol="0" anchor="ctr"/>
          <a:lstStyle/>
          <a:p>
            <a:pPr algn="ctr"/>
            <a:r>
              <a:rPr lang="en-US" sz="2800" dirty="0"/>
              <a:t>Bring computation directly to the data!</a:t>
            </a:r>
          </a:p>
        </p:txBody>
      </p:sp>
      <p:grpSp>
        <p:nvGrpSpPr>
          <p:cNvPr id="14" name="Group 36"/>
          <p:cNvGrpSpPr>
            <a:grpSpLocks/>
          </p:cNvGrpSpPr>
          <p:nvPr/>
        </p:nvGrpSpPr>
        <p:grpSpPr bwMode="auto">
          <a:xfrm>
            <a:off x="7058025" y="3970338"/>
            <a:ext cx="549275" cy="498475"/>
            <a:chOff x="3099" y="2165"/>
            <a:chExt cx="346" cy="314"/>
          </a:xfrm>
        </p:grpSpPr>
        <p:sp>
          <p:nvSpPr>
            <p:cNvPr id="81" name="AutoShape 37"/>
            <p:cNvSpPr>
              <a:spLocks noChangeArrowheads="1"/>
            </p:cNvSpPr>
            <p:nvPr/>
          </p:nvSpPr>
          <p:spPr bwMode="auto">
            <a:xfrm>
              <a:off x="3099" y="2165"/>
              <a:ext cx="347" cy="248"/>
            </a:xfrm>
            <a:prstGeom prst="roundRect">
              <a:avLst>
                <a:gd name="adj" fmla="val 403"/>
              </a:avLst>
            </a:prstGeom>
            <a:solidFill>
              <a:srgbClr val="FFFF00"/>
            </a:solidFill>
            <a:ln w="9360">
              <a:solidFill>
                <a:srgbClr val="000000"/>
              </a:solidFill>
              <a:miter lim="800000"/>
              <a:headEnd/>
              <a:tailEnd/>
            </a:ln>
            <a:effectLst/>
          </p:spPr>
          <p:txBody>
            <a:bodyPr wrap="none" anchor="ctr"/>
            <a:lstStyle/>
            <a:p>
              <a:endParaRPr lang="en-US"/>
            </a:p>
          </p:txBody>
        </p:sp>
        <p:sp>
          <p:nvSpPr>
            <p:cNvPr id="82" name="AutoShape 38"/>
            <p:cNvSpPr>
              <a:spLocks noChangeArrowheads="1"/>
            </p:cNvSpPr>
            <p:nvPr/>
          </p:nvSpPr>
          <p:spPr bwMode="auto">
            <a:xfrm>
              <a:off x="3105"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0</a:t>
              </a:r>
            </a:p>
          </p:txBody>
        </p:sp>
      </p:grpSp>
      <p:grpSp>
        <p:nvGrpSpPr>
          <p:cNvPr id="15" name="Group 39"/>
          <p:cNvGrpSpPr>
            <a:grpSpLocks/>
          </p:cNvGrpSpPr>
          <p:nvPr/>
        </p:nvGrpSpPr>
        <p:grpSpPr bwMode="auto">
          <a:xfrm>
            <a:off x="7673975" y="3970338"/>
            <a:ext cx="558800" cy="498475"/>
            <a:chOff x="3487" y="2165"/>
            <a:chExt cx="352" cy="314"/>
          </a:xfrm>
        </p:grpSpPr>
        <p:sp>
          <p:nvSpPr>
            <p:cNvPr id="84" name="AutoShape 40"/>
            <p:cNvSpPr>
              <a:spLocks noChangeArrowheads="1"/>
            </p:cNvSpPr>
            <p:nvPr/>
          </p:nvSpPr>
          <p:spPr bwMode="auto">
            <a:xfrm>
              <a:off x="3487" y="2165"/>
              <a:ext cx="353" cy="248"/>
            </a:xfrm>
            <a:prstGeom prst="roundRect">
              <a:avLst>
                <a:gd name="adj" fmla="val 403"/>
              </a:avLst>
            </a:prstGeom>
            <a:solidFill>
              <a:srgbClr val="99CCFF"/>
            </a:solidFill>
            <a:ln w="9360">
              <a:solidFill>
                <a:srgbClr val="000000"/>
              </a:solidFill>
              <a:miter lim="800000"/>
              <a:headEnd/>
              <a:tailEnd/>
            </a:ln>
            <a:effectLst/>
          </p:spPr>
          <p:txBody>
            <a:bodyPr wrap="none" anchor="ctr"/>
            <a:lstStyle/>
            <a:p>
              <a:endParaRPr lang="en-US"/>
            </a:p>
          </p:txBody>
        </p:sp>
        <p:sp>
          <p:nvSpPr>
            <p:cNvPr id="85" name="AutoShape 41"/>
            <p:cNvSpPr>
              <a:spLocks noChangeArrowheads="1"/>
            </p:cNvSpPr>
            <p:nvPr/>
          </p:nvSpPr>
          <p:spPr bwMode="auto">
            <a:xfrm>
              <a:off x="3493" y="2165"/>
              <a:ext cx="315" cy="315"/>
            </a:xfrm>
            <a:prstGeom prst="roundRect">
              <a:avLst>
                <a:gd name="adj" fmla="val 403"/>
              </a:avLst>
            </a:prstGeom>
            <a:noFill/>
            <a:ln w="9525">
              <a:noFill/>
              <a:round/>
              <a:headEnd/>
              <a:tailEnd/>
            </a:ln>
            <a:effectLst/>
          </p:spPr>
          <p:txBody>
            <a:bodyPr wrap="non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5</a:t>
              </a:r>
            </a:p>
          </p:txBody>
        </p:sp>
      </p:grpSp>
      <p:sp>
        <p:nvSpPr>
          <p:cNvPr id="86" name="AutoShape 42"/>
          <p:cNvSpPr>
            <a:spLocks noChangeArrowheads="1"/>
          </p:cNvSpPr>
          <p:nvPr/>
        </p:nvSpPr>
        <p:spPr bwMode="auto">
          <a:xfrm>
            <a:off x="6994588" y="3886200"/>
            <a:ext cx="1319213" cy="1069975"/>
          </a:xfrm>
          <a:prstGeom prst="roundRect">
            <a:avLst>
              <a:gd name="adj" fmla="val 148"/>
            </a:avLst>
          </a:prstGeom>
          <a:noFill/>
          <a:ln w="28440">
            <a:solidFill>
              <a:srgbClr val="009999"/>
            </a:solidFill>
            <a:prstDash val="dash"/>
            <a:miter lim="800000"/>
            <a:headEnd/>
            <a:tailEnd/>
          </a:ln>
          <a:effectLst/>
        </p:spPr>
        <p:txBody>
          <a:bodyPr wrap="none" anchor="ctr"/>
          <a:lstStyle/>
          <a:p>
            <a:endParaRPr lang="en-US"/>
          </a:p>
        </p:txBody>
      </p:sp>
      <p:sp>
        <p:nvSpPr>
          <p:cNvPr id="87" name="AutoShape 43"/>
          <p:cNvSpPr>
            <a:spLocks noChangeArrowheads="1"/>
          </p:cNvSpPr>
          <p:nvPr/>
        </p:nvSpPr>
        <p:spPr bwMode="auto">
          <a:xfrm rot="16200000">
            <a:off x="7400465" y="4393557"/>
            <a:ext cx="427979" cy="1519584"/>
          </a:xfrm>
          <a:prstGeom prst="roundRect">
            <a:avLst>
              <a:gd name="adj" fmla="val 370"/>
            </a:avLst>
          </a:prstGeom>
          <a:noFill/>
          <a:ln w="9525">
            <a:noFill/>
            <a:round/>
            <a:headEnd/>
            <a:tailEnd/>
          </a:ln>
          <a:effectLst/>
        </p:spPr>
        <p:txBody>
          <a:bodyPr vert="eaVert" wrap="none" lIns="90000" tIns="46800" rIns="90000" bIns="46800">
            <a:spAutoFit/>
          </a:bodyPr>
          <a:lstStyle/>
          <a:p>
            <a:pPr rtl="1"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sz="1600" dirty="0">
                <a:solidFill>
                  <a:srgbClr val="009999"/>
                </a:solidFill>
                <a:latin typeface="TradeGothic" pitchFamily="32" charset="0"/>
              </a:rPr>
              <a:t>Chunk server N</a:t>
            </a:r>
          </a:p>
        </p:txBody>
      </p:sp>
      <p:grpSp>
        <p:nvGrpSpPr>
          <p:cNvPr id="16" name="Group 60"/>
          <p:cNvGrpSpPr>
            <a:grpSpLocks/>
          </p:cNvGrpSpPr>
          <p:nvPr/>
        </p:nvGrpSpPr>
        <p:grpSpPr bwMode="auto">
          <a:xfrm>
            <a:off x="7700962" y="4495800"/>
            <a:ext cx="531813" cy="498475"/>
            <a:chOff x="3504" y="2496"/>
            <a:chExt cx="335" cy="314"/>
          </a:xfrm>
        </p:grpSpPr>
        <p:sp>
          <p:nvSpPr>
            <p:cNvPr id="89" name="AutoShape 61"/>
            <p:cNvSpPr>
              <a:spLocks noChangeArrowheads="1"/>
            </p:cNvSpPr>
            <p:nvPr/>
          </p:nvSpPr>
          <p:spPr bwMode="auto">
            <a:xfrm>
              <a:off x="3504" y="2496"/>
              <a:ext cx="336" cy="248"/>
            </a:xfrm>
            <a:prstGeom prst="roundRect">
              <a:avLst>
                <a:gd name="adj" fmla="val 403"/>
              </a:avLst>
            </a:prstGeom>
            <a:solidFill>
              <a:srgbClr val="C0C0C0"/>
            </a:solidFill>
            <a:ln w="9360">
              <a:solidFill>
                <a:srgbClr val="000000"/>
              </a:solidFill>
              <a:miter lim="800000"/>
              <a:headEnd/>
              <a:tailEnd/>
            </a:ln>
            <a:effectLst/>
          </p:spPr>
          <p:txBody>
            <a:bodyPr wrap="none" anchor="ctr"/>
            <a:lstStyle/>
            <a:p>
              <a:endParaRPr lang="en-US"/>
            </a:p>
          </p:txBody>
        </p:sp>
        <p:sp>
          <p:nvSpPr>
            <p:cNvPr id="90" name="Text Box 62"/>
            <p:cNvSpPr txBox="1">
              <a:spLocks noChangeArrowheads="1"/>
            </p:cNvSpPr>
            <p:nvPr/>
          </p:nvSpPr>
          <p:spPr bwMode="auto">
            <a:xfrm>
              <a:off x="3504" y="2496"/>
              <a:ext cx="336" cy="315"/>
            </a:xfrm>
            <a:prstGeom prst="rect">
              <a:avLst/>
            </a:prstGeom>
            <a:noFill/>
            <a:ln w="9525">
              <a:noFill/>
              <a:round/>
              <a:headEnd/>
              <a:tailEnd/>
            </a:ln>
            <a:effectLst/>
          </p:spPr>
          <p:txBody>
            <a:bodyPr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solidFill>
                    <a:srgbClr val="7D7D7D"/>
                  </a:solidFill>
                  <a:latin typeface="TradeGothic" pitchFamily="32" charset="0"/>
                </a:rPr>
                <a:t>C</a:t>
              </a:r>
              <a:r>
                <a:rPr lang="en-GB" baseline="-25000">
                  <a:solidFill>
                    <a:srgbClr val="7D7D7D"/>
                  </a:solidFill>
                  <a:latin typeface="TradeGothic" pitchFamily="32" charset="0"/>
                </a:rPr>
                <a:t>2</a:t>
              </a:r>
            </a:p>
          </p:txBody>
        </p:sp>
      </p:grpSp>
      <p:grpSp>
        <p:nvGrpSpPr>
          <p:cNvPr id="17" name="Group 22"/>
          <p:cNvGrpSpPr>
            <a:grpSpLocks/>
          </p:cNvGrpSpPr>
          <p:nvPr/>
        </p:nvGrpSpPr>
        <p:grpSpPr bwMode="auto">
          <a:xfrm>
            <a:off x="7089959" y="4425006"/>
            <a:ext cx="522288" cy="393700"/>
            <a:chOff x="528" y="2160"/>
            <a:chExt cx="329" cy="248"/>
          </a:xfrm>
          <a:solidFill>
            <a:schemeClr val="accent3"/>
          </a:solidFill>
        </p:grpSpPr>
        <p:sp>
          <p:nvSpPr>
            <p:cNvPr id="92" name="AutoShape 23"/>
            <p:cNvSpPr>
              <a:spLocks noChangeArrowheads="1"/>
            </p:cNvSpPr>
            <p:nvPr/>
          </p:nvSpPr>
          <p:spPr bwMode="auto">
            <a:xfrm>
              <a:off x="528" y="2160"/>
              <a:ext cx="329" cy="248"/>
            </a:xfrm>
            <a:prstGeom prst="roundRect">
              <a:avLst>
                <a:gd name="adj" fmla="val 403"/>
              </a:avLst>
            </a:prstGeom>
            <a:grpFill/>
            <a:ln w="9360">
              <a:solidFill>
                <a:srgbClr val="000000"/>
              </a:solidFill>
              <a:miter lim="800000"/>
              <a:headEnd/>
              <a:tailEnd/>
            </a:ln>
            <a:effectLst/>
          </p:spPr>
          <p:txBody>
            <a:bodyPr wrap="none" anchor="ctr"/>
            <a:lstStyle/>
            <a:p>
              <a:endParaRPr lang="en-US"/>
            </a:p>
          </p:txBody>
        </p:sp>
        <p:sp>
          <p:nvSpPr>
            <p:cNvPr id="93" name="AutoShape 24"/>
            <p:cNvSpPr>
              <a:spLocks noChangeArrowheads="1"/>
            </p:cNvSpPr>
            <p:nvPr/>
          </p:nvSpPr>
          <p:spPr bwMode="auto">
            <a:xfrm>
              <a:off x="533" y="2160"/>
              <a:ext cx="315" cy="245"/>
            </a:xfrm>
            <a:prstGeom prst="roundRect">
              <a:avLst>
                <a:gd name="adj" fmla="val 403"/>
              </a:avLst>
            </a:prstGeom>
            <a:grpFill/>
            <a:ln w="9525">
              <a:noFill/>
              <a:round/>
              <a:headEnd/>
              <a:tailEnd/>
            </a:ln>
            <a:effectLst/>
          </p:spPr>
          <p:txBody>
            <a:bodyPr wrap="square" lIns="90000" tIns="46800" rIns="90000" bIns="64080">
              <a:spAutoFit/>
            </a:bodyPr>
            <a:lstStyle/>
            <a:p>
              <a:pPr eaLnBrk="0" hangingPunct="0">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dirty="0">
                  <a:solidFill>
                    <a:srgbClr val="7D7D7D"/>
                  </a:solidFill>
                  <a:latin typeface="TradeGothic" pitchFamily="32" charset="0"/>
                </a:rPr>
                <a:t>D</a:t>
              </a:r>
              <a:r>
                <a:rPr lang="en-GB" baseline="-25000" dirty="0">
                  <a:solidFill>
                    <a:srgbClr val="7D7D7D"/>
                  </a:solidFill>
                  <a:latin typeface="TradeGothic" pitchFamily="32" charset="0"/>
                </a:rPr>
                <a:t>0</a:t>
              </a:r>
            </a:p>
          </p:txBody>
        </p:sp>
      </p:grpSp>
      <p:sp>
        <p:nvSpPr>
          <p:cNvPr id="19" name="Footer Placeholder 18"/>
          <p:cNvSpPr>
            <a:spLocks noGrp="1"/>
          </p:cNvSpPr>
          <p:nvPr>
            <p:ph type="ftr" sz="quarter" idx="11"/>
          </p:nvPr>
        </p:nvSpPr>
        <p:spPr/>
        <p:txBody>
          <a:bodyPr/>
          <a:lstStyle/>
          <a:p>
            <a:r>
              <a:rPr lang="en-US"/>
              <a:t>J. Leskovec, A. Rajaraman, J. Ullman: Mining of Massive Datasets, http://www.mmds.org</a:t>
            </a:r>
          </a:p>
        </p:txBody>
      </p:sp>
      <p:sp>
        <p:nvSpPr>
          <p:cNvPr id="20" name="Slide Number Placeholder 19"/>
          <p:cNvSpPr>
            <a:spLocks noGrp="1"/>
          </p:cNvSpPr>
          <p:nvPr>
            <p:ph type="sldNum" sz="quarter" idx="12"/>
          </p:nvPr>
        </p:nvSpPr>
        <p:spPr/>
        <p:txBody>
          <a:bodyPr/>
          <a:lstStyle/>
          <a:p>
            <a:fld id="{19B12225-5612-419B-A8D5-4B8EEE4C217E}" type="slidenum">
              <a:rPr lang="en-US" smtClean="0"/>
              <a:pPr/>
              <a:t>10</a:t>
            </a:fld>
            <a:endParaRPr lang="en-US"/>
          </a:p>
        </p:txBody>
      </p:sp>
      <p:sp>
        <p:nvSpPr>
          <p:cNvPr id="65" name="Rectangle 64"/>
          <p:cNvSpPr/>
          <p:nvPr/>
        </p:nvSpPr>
        <p:spPr>
          <a:xfrm>
            <a:off x="1066800" y="6096000"/>
            <a:ext cx="6922633" cy="533400"/>
          </a:xfrm>
          <a:prstGeom prst="rect">
            <a:avLst/>
          </a:prstGeom>
          <a:solidFill>
            <a:srgbClr val="008000"/>
          </a:solidFill>
        </p:spPr>
        <p:style>
          <a:lnRef idx="0">
            <a:schemeClr val="dk1"/>
          </a:lnRef>
          <a:fillRef idx="3">
            <a:schemeClr val="dk1"/>
          </a:fillRef>
          <a:effectRef idx="3">
            <a:schemeClr val="dk1"/>
          </a:effectRef>
          <a:fontRef idx="minor">
            <a:schemeClr val="lt1"/>
          </a:fontRef>
        </p:style>
        <p:txBody>
          <a:bodyPr rtlCol="0" anchor="ctr"/>
          <a:lstStyle/>
          <a:p>
            <a:pPr algn="ctr"/>
            <a:r>
              <a:rPr lang="en-US" sz="2800" dirty="0"/>
              <a:t>Chunk servers also serve as compute servers</a:t>
            </a:r>
          </a:p>
        </p:txBody>
      </p:sp>
    </p:spTree>
    <p:extLst>
      <p:ext uri="{BB962C8B-B14F-4D97-AF65-F5344CB8AC3E}">
        <p14:creationId xmlns:p14="http://schemas.microsoft.com/office/powerpoint/2010/main" val="145715577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a:xfrm>
            <a:off x="457200" y="76200"/>
            <a:ext cx="8686800" cy="987552"/>
          </a:xfrm>
        </p:spPr>
        <p:txBody>
          <a:bodyPr>
            <a:normAutofit/>
          </a:bodyPr>
          <a:lstStyle/>
          <a:p>
            <a:r>
              <a:rPr lang="en-US" dirty="0"/>
              <a:t>Programming Model: </a:t>
            </a:r>
            <a:r>
              <a:rPr lang="en-US" dirty="0" err="1"/>
              <a:t>MapReduce</a:t>
            </a:r>
            <a:endParaRPr lang="en-US" dirty="0"/>
          </a:p>
        </p:txBody>
      </p:sp>
      <p:sp>
        <p:nvSpPr>
          <p:cNvPr id="99331" name="Rectangle 3"/>
          <p:cNvSpPr>
            <a:spLocks noGrp="1" noChangeArrowheads="1"/>
          </p:cNvSpPr>
          <p:nvPr>
            <p:ph type="body" idx="1"/>
          </p:nvPr>
        </p:nvSpPr>
        <p:spPr/>
        <p:txBody>
          <a:bodyPr/>
          <a:lstStyle/>
          <a:p>
            <a:pPr marL="118872" indent="0">
              <a:buNone/>
            </a:pPr>
            <a:r>
              <a:rPr lang="en-US" b="1" dirty="0">
                <a:solidFill>
                  <a:srgbClr val="0000FF"/>
                </a:solidFill>
              </a:rPr>
              <a:t>Warm-up task:</a:t>
            </a:r>
          </a:p>
          <a:p>
            <a:r>
              <a:rPr lang="en-US" dirty="0"/>
              <a:t>We have a huge text document</a:t>
            </a:r>
          </a:p>
          <a:p>
            <a:pPr lvl="8"/>
            <a:endParaRPr lang="en-US" dirty="0"/>
          </a:p>
          <a:p>
            <a:r>
              <a:rPr lang="en-US" dirty="0"/>
              <a:t>Count the number of times each </a:t>
            </a:r>
            <a:br>
              <a:rPr lang="en-US" dirty="0"/>
            </a:br>
            <a:r>
              <a:rPr lang="en-US" dirty="0"/>
              <a:t>distinct word appears in the file</a:t>
            </a:r>
          </a:p>
          <a:p>
            <a:pPr lvl="8"/>
            <a:endParaRPr lang="en-US" dirty="0"/>
          </a:p>
          <a:p>
            <a:r>
              <a:rPr lang="en-US" b="1" dirty="0">
                <a:solidFill>
                  <a:srgbClr val="008000"/>
                </a:solidFill>
              </a:rPr>
              <a:t>Sample application: </a:t>
            </a:r>
          </a:p>
          <a:p>
            <a:pPr lvl="1"/>
            <a:r>
              <a:rPr lang="en-US" dirty="0"/>
              <a:t>Analyze web server logs to find popular URLs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11</a:t>
            </a:fld>
            <a:endParaRPr lang="en-US"/>
          </a:p>
        </p:txBody>
      </p:sp>
    </p:spTree>
    <p:extLst>
      <p:ext uri="{BB962C8B-B14F-4D97-AF65-F5344CB8AC3E}">
        <p14:creationId xmlns:p14="http://schemas.microsoft.com/office/powerpoint/2010/main" val="2688377893"/>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r>
              <a:rPr lang="en-US" dirty="0"/>
              <a:t>Task: Word Count</a:t>
            </a:r>
          </a:p>
        </p:txBody>
      </p:sp>
      <p:sp>
        <p:nvSpPr>
          <p:cNvPr id="84995" name="Rectangle 3"/>
          <p:cNvSpPr>
            <a:spLocks noGrp="1" noChangeArrowheads="1"/>
          </p:cNvSpPr>
          <p:nvPr>
            <p:ph type="body" idx="1"/>
          </p:nvPr>
        </p:nvSpPr>
        <p:spPr/>
        <p:txBody>
          <a:bodyPr>
            <a:normAutofit/>
          </a:bodyPr>
          <a:lstStyle/>
          <a:p>
            <a:pPr marL="118872" indent="0">
              <a:buNone/>
            </a:pPr>
            <a:r>
              <a:rPr lang="en-US" b="1" dirty="0">
                <a:solidFill>
                  <a:schemeClr val="accent2"/>
                </a:solidFill>
              </a:rPr>
              <a:t>Case 1:</a:t>
            </a:r>
            <a:r>
              <a:rPr lang="en-US" dirty="0">
                <a:solidFill>
                  <a:schemeClr val="accent2"/>
                </a:solidFill>
              </a:rPr>
              <a:t> </a:t>
            </a:r>
          </a:p>
          <a:p>
            <a:pPr lvl="1"/>
            <a:r>
              <a:rPr lang="en-US" dirty="0"/>
              <a:t>File too large for memory, but all &lt;word, count&gt; pairs fit in memory</a:t>
            </a:r>
          </a:p>
          <a:p>
            <a:pPr marL="118872" indent="0">
              <a:buNone/>
            </a:pPr>
            <a:r>
              <a:rPr lang="en-US" b="1" dirty="0">
                <a:solidFill>
                  <a:schemeClr val="accent2"/>
                </a:solidFill>
              </a:rPr>
              <a:t>Case 2:</a:t>
            </a:r>
          </a:p>
          <a:p>
            <a:r>
              <a:rPr lang="en-US" dirty="0"/>
              <a:t>Count occurrences of words:</a:t>
            </a:r>
          </a:p>
          <a:p>
            <a:pPr lvl="1"/>
            <a:r>
              <a:rPr lang="en-US" b="1" dirty="0">
                <a:latin typeface="Courier New" pitchFamily="49" charset="0"/>
              </a:rPr>
              <a:t>words(doc.txt) | sort | </a:t>
            </a:r>
            <a:r>
              <a:rPr lang="en-US" b="1" dirty="0" err="1">
                <a:latin typeface="Courier New" pitchFamily="49" charset="0"/>
              </a:rPr>
              <a:t>uniq</a:t>
            </a:r>
            <a:r>
              <a:rPr lang="en-US" b="1" dirty="0">
                <a:latin typeface="Courier New" pitchFamily="49" charset="0"/>
              </a:rPr>
              <a:t> -c</a:t>
            </a:r>
          </a:p>
          <a:p>
            <a:pPr lvl="2"/>
            <a:r>
              <a:rPr lang="en-US" dirty="0"/>
              <a:t>where </a:t>
            </a:r>
            <a:r>
              <a:rPr lang="en-US" b="1" dirty="0">
                <a:latin typeface="Courier New" pitchFamily="49" charset="0"/>
              </a:rPr>
              <a:t>words</a:t>
            </a:r>
            <a:r>
              <a:rPr lang="en-US" dirty="0"/>
              <a:t> takes a file and outputs the words in it, one per a line</a:t>
            </a:r>
          </a:p>
          <a:p>
            <a:r>
              <a:rPr lang="en-US" dirty="0"/>
              <a:t>Case 2 captures the essence of </a:t>
            </a:r>
            <a:r>
              <a:rPr lang="en-US" b="1" dirty="0" err="1">
                <a:solidFill>
                  <a:schemeClr val="accent2"/>
                </a:solidFill>
              </a:rPr>
              <a:t>MapReduce</a:t>
            </a:r>
            <a:endParaRPr lang="en-US" b="1" dirty="0">
              <a:solidFill>
                <a:schemeClr val="accent2"/>
              </a:solidFill>
            </a:endParaRPr>
          </a:p>
          <a:p>
            <a:pPr lvl="1"/>
            <a:r>
              <a:rPr lang="en-US" dirty="0"/>
              <a:t>Great thing is that it is naturally parallelizable</a:t>
            </a:r>
          </a:p>
          <a:p>
            <a:pPr lvl="1">
              <a:buFont typeface="Wingdings" pitchFamily="2" charset="2"/>
              <a:buNone/>
            </a:pPr>
            <a:endParaRPr lang="en-US" dirty="0"/>
          </a:p>
          <a:p>
            <a:endParaRPr lang="en-US" dirty="0"/>
          </a:p>
          <a:p>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12</a:t>
            </a:fld>
            <a:endParaRPr lang="en-US"/>
          </a:p>
        </p:txBody>
      </p:sp>
    </p:spTree>
    <p:extLst>
      <p:ext uri="{BB962C8B-B14F-4D97-AF65-F5344CB8AC3E}">
        <p14:creationId xmlns:p14="http://schemas.microsoft.com/office/powerpoint/2010/main" val="277480877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499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499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499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499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499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499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4995">
                                            <p:txEl>
                                              <p:pRg st="6" end="6"/>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99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5" grpId="0" uiExpand="1" build="p" bldLvl="2"/>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r>
              <a:rPr lang="en-US" dirty="0"/>
              <a:t>: Overview</a:t>
            </a:r>
          </a:p>
        </p:txBody>
      </p:sp>
      <p:sp>
        <p:nvSpPr>
          <p:cNvPr id="3" name="Content Placeholder 2"/>
          <p:cNvSpPr>
            <a:spLocks noGrp="1"/>
          </p:cNvSpPr>
          <p:nvPr>
            <p:ph idx="1"/>
          </p:nvPr>
        </p:nvSpPr>
        <p:spPr/>
        <p:txBody>
          <a:bodyPr/>
          <a:lstStyle/>
          <a:p>
            <a:r>
              <a:rPr lang="en-US" dirty="0"/>
              <a:t>Sequentially read a lot of data</a:t>
            </a:r>
          </a:p>
          <a:p>
            <a:r>
              <a:rPr lang="en-US" b="1" dirty="0">
                <a:solidFill>
                  <a:schemeClr val="accent2"/>
                </a:solidFill>
              </a:rPr>
              <a:t>Map:</a:t>
            </a:r>
          </a:p>
          <a:p>
            <a:pPr lvl="1"/>
            <a:r>
              <a:rPr lang="en-US" dirty="0"/>
              <a:t>Extract something you care about</a:t>
            </a:r>
          </a:p>
          <a:p>
            <a:r>
              <a:rPr lang="en-US" b="1" dirty="0"/>
              <a:t>Group by key:</a:t>
            </a:r>
            <a:r>
              <a:rPr lang="en-US" dirty="0"/>
              <a:t> Sort and Shuffle</a:t>
            </a:r>
          </a:p>
          <a:p>
            <a:r>
              <a:rPr lang="en-US" b="1" dirty="0">
                <a:solidFill>
                  <a:schemeClr val="accent4"/>
                </a:solidFill>
              </a:rPr>
              <a:t>Reduce:</a:t>
            </a:r>
          </a:p>
          <a:p>
            <a:pPr lvl="1"/>
            <a:r>
              <a:rPr lang="en-US" dirty="0"/>
              <a:t>Aggregate, summarize, filter or transform</a:t>
            </a:r>
          </a:p>
          <a:p>
            <a:r>
              <a:rPr lang="en-US" dirty="0"/>
              <a:t>Write the result</a:t>
            </a:r>
          </a:p>
        </p:txBody>
      </p:sp>
      <p:sp>
        <p:nvSpPr>
          <p:cNvPr id="4" name="Rectangle 3"/>
          <p:cNvSpPr/>
          <p:nvPr/>
        </p:nvSpPr>
        <p:spPr>
          <a:xfrm>
            <a:off x="1752600" y="5257800"/>
            <a:ext cx="5410200" cy="1066800"/>
          </a:xfrm>
          <a:prstGeom prst="rect">
            <a:avLst/>
          </a:prstGeom>
        </p:spPr>
        <p:style>
          <a:lnRef idx="1">
            <a:schemeClr val="dk1"/>
          </a:lnRef>
          <a:fillRef idx="3">
            <a:schemeClr val="dk1"/>
          </a:fillRef>
          <a:effectRef idx="2">
            <a:schemeClr val="dk1"/>
          </a:effectRef>
          <a:fontRef idx="minor">
            <a:schemeClr val="lt1"/>
          </a:fontRef>
        </p:style>
        <p:txBody>
          <a:bodyPr rtlCol="0" anchor="ctr"/>
          <a:lstStyle/>
          <a:p>
            <a:pPr algn="ctr"/>
            <a:r>
              <a:rPr lang="en-US" sz="2400" dirty="0"/>
              <a:t>Outline stays the same, </a:t>
            </a:r>
            <a:r>
              <a:rPr lang="en-US" sz="2400" b="1" dirty="0"/>
              <a:t>Map </a:t>
            </a:r>
            <a:r>
              <a:rPr lang="en-US" sz="2400" dirty="0"/>
              <a:t>and </a:t>
            </a:r>
            <a:r>
              <a:rPr lang="en-US" sz="2400" b="1" dirty="0"/>
              <a:t>Reduce </a:t>
            </a:r>
            <a:r>
              <a:rPr lang="en-US" sz="2400" dirty="0"/>
              <a:t>change to fit the problem</a:t>
            </a:r>
          </a:p>
        </p:txBody>
      </p:sp>
      <p:sp>
        <p:nvSpPr>
          <p:cNvPr id="6" name="Footer Placeholder 5"/>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13</a:t>
            </a:fld>
            <a:endParaRPr lang="en-US"/>
          </a:p>
        </p:txBody>
      </p:sp>
    </p:spTree>
    <p:extLst>
      <p:ext uri="{BB962C8B-B14F-4D97-AF65-F5344CB8AC3E}">
        <p14:creationId xmlns:p14="http://schemas.microsoft.com/office/powerpoint/2010/main" val="20466365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r>
              <a:rPr lang="en-US" dirty="0" err="1"/>
              <a:t>MapReduce</a:t>
            </a:r>
            <a:r>
              <a:rPr lang="en-US" dirty="0"/>
              <a:t>: The </a:t>
            </a:r>
            <a:r>
              <a:rPr lang="en-US" u="sng" dirty="0"/>
              <a:t>Map</a:t>
            </a:r>
            <a:r>
              <a:rPr lang="en-US" dirty="0"/>
              <a:t> Step</a:t>
            </a:r>
          </a:p>
        </p:txBody>
      </p:sp>
      <p:grpSp>
        <p:nvGrpSpPr>
          <p:cNvPr id="108565" name="Group 21"/>
          <p:cNvGrpSpPr>
            <a:grpSpLocks/>
          </p:cNvGrpSpPr>
          <p:nvPr/>
        </p:nvGrpSpPr>
        <p:grpSpPr bwMode="auto">
          <a:xfrm>
            <a:off x="762000" y="3810000"/>
            <a:ext cx="1219200" cy="381000"/>
            <a:chOff x="240" y="2016"/>
            <a:chExt cx="768" cy="240"/>
          </a:xfrm>
        </p:grpSpPr>
        <p:sp>
          <p:nvSpPr>
            <p:cNvPr id="108548" name="Rectangle 4"/>
            <p:cNvSpPr>
              <a:spLocks noChangeArrowheads="1"/>
            </p:cNvSpPr>
            <p:nvPr/>
          </p:nvSpPr>
          <p:spPr bwMode="auto">
            <a:xfrm>
              <a:off x="576" y="2016"/>
              <a:ext cx="432" cy="240"/>
            </a:xfrm>
            <a:prstGeom prst="rect">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49" name="AutoShape 5"/>
            <p:cNvSpPr>
              <a:spLocks noChangeArrowheads="1"/>
            </p:cNvSpPr>
            <p:nvPr/>
          </p:nvSpPr>
          <p:spPr bwMode="auto">
            <a:xfrm>
              <a:off x="240" y="2016"/>
              <a:ext cx="288" cy="240"/>
            </a:xfrm>
            <a:prstGeom prst="triangle">
              <a:avLst>
                <a:gd name="adj" fmla="val 50000"/>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grpSp>
        <p:nvGrpSpPr>
          <p:cNvPr id="108580" name="Group 36"/>
          <p:cNvGrpSpPr>
            <a:grpSpLocks/>
          </p:cNvGrpSpPr>
          <p:nvPr/>
        </p:nvGrpSpPr>
        <p:grpSpPr bwMode="auto">
          <a:xfrm>
            <a:off x="3200400" y="2514600"/>
            <a:ext cx="1676400" cy="1219200"/>
            <a:chOff x="1776" y="1152"/>
            <a:chExt cx="1056" cy="768"/>
          </a:xfrm>
        </p:grpSpPr>
        <p:grpSp>
          <p:nvGrpSpPr>
            <p:cNvPr id="108554" name="Group 10"/>
            <p:cNvGrpSpPr>
              <a:grpSpLocks/>
            </p:cNvGrpSpPr>
            <p:nvPr/>
          </p:nvGrpSpPr>
          <p:grpSpPr bwMode="auto">
            <a:xfrm>
              <a:off x="1776" y="1152"/>
              <a:ext cx="1056" cy="336"/>
              <a:chOff x="2256" y="1344"/>
              <a:chExt cx="1056" cy="336"/>
            </a:xfrm>
          </p:grpSpPr>
          <p:sp>
            <p:nvSpPr>
              <p:cNvPr id="108552" name="AutoShape 8"/>
              <p:cNvSpPr>
                <a:spLocks noChangeArrowheads="1"/>
              </p:cNvSpPr>
              <p:nvPr/>
            </p:nvSpPr>
            <p:spPr bwMode="auto">
              <a:xfrm>
                <a:off x="2256" y="1344"/>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53" name="AutoShape 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8555" name="Group 11"/>
            <p:cNvGrpSpPr>
              <a:grpSpLocks/>
            </p:cNvGrpSpPr>
            <p:nvPr/>
          </p:nvGrpSpPr>
          <p:grpSpPr bwMode="auto">
            <a:xfrm>
              <a:off x="1776" y="1584"/>
              <a:ext cx="1056" cy="336"/>
              <a:chOff x="2256" y="1344"/>
              <a:chExt cx="1056" cy="336"/>
            </a:xfrm>
          </p:grpSpPr>
          <p:sp>
            <p:nvSpPr>
              <p:cNvPr id="108556" name="AutoShape 12"/>
              <p:cNvSpPr>
                <a:spLocks noChangeArrowheads="1"/>
              </p:cNvSpPr>
              <p:nvPr/>
            </p:nvSpPr>
            <p:spPr bwMode="auto">
              <a:xfrm>
                <a:off x="2256" y="1344"/>
                <a:ext cx="432" cy="336"/>
              </a:xfrm>
              <a:prstGeom prst="diamond">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57" name="AutoShape 13"/>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grpSp>
        <p:nvGrpSpPr>
          <p:cNvPr id="108579" name="Group 35"/>
          <p:cNvGrpSpPr>
            <a:grpSpLocks/>
          </p:cNvGrpSpPr>
          <p:nvPr/>
        </p:nvGrpSpPr>
        <p:grpSpPr bwMode="auto">
          <a:xfrm>
            <a:off x="2133600" y="2895600"/>
            <a:ext cx="762000" cy="609600"/>
            <a:chOff x="1104" y="1296"/>
            <a:chExt cx="480" cy="384"/>
          </a:xfrm>
        </p:grpSpPr>
        <p:sp>
          <p:nvSpPr>
            <p:cNvPr id="108563" name="AutoShape 19"/>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564" name="Text Box 20"/>
            <p:cNvSpPr txBox="1">
              <a:spLocks noChangeArrowheads="1"/>
            </p:cNvSpPr>
            <p:nvPr/>
          </p:nvSpPr>
          <p:spPr bwMode="auto">
            <a:xfrm>
              <a:off x="1104" y="1296"/>
              <a:ext cx="3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map</a:t>
              </a:r>
            </a:p>
          </p:txBody>
        </p:sp>
      </p:grpSp>
      <p:grpSp>
        <p:nvGrpSpPr>
          <p:cNvPr id="108569" name="Group 25"/>
          <p:cNvGrpSpPr>
            <a:grpSpLocks/>
          </p:cNvGrpSpPr>
          <p:nvPr/>
        </p:nvGrpSpPr>
        <p:grpSpPr bwMode="auto">
          <a:xfrm>
            <a:off x="762000" y="3124200"/>
            <a:ext cx="1219200" cy="381000"/>
            <a:chOff x="240" y="2016"/>
            <a:chExt cx="768" cy="240"/>
          </a:xfrm>
        </p:grpSpPr>
        <p:sp>
          <p:nvSpPr>
            <p:cNvPr id="108570" name="Rectangle 26"/>
            <p:cNvSpPr>
              <a:spLocks noChangeArrowheads="1"/>
            </p:cNvSpPr>
            <p:nvPr/>
          </p:nvSpPr>
          <p:spPr bwMode="auto">
            <a:xfrm>
              <a:off x="576" y="2016"/>
              <a:ext cx="432" cy="240"/>
            </a:xfrm>
            <a:prstGeom prst="rect">
              <a:avLst/>
            </a:prstGeom>
            <a:solidFill>
              <a:srgbClr val="FFCC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71" name="AutoShape 27"/>
            <p:cNvSpPr>
              <a:spLocks noChangeArrowheads="1"/>
            </p:cNvSpPr>
            <p:nvPr/>
          </p:nvSpPr>
          <p:spPr bwMode="auto">
            <a:xfrm>
              <a:off x="240" y="2016"/>
              <a:ext cx="288" cy="240"/>
            </a:xfrm>
            <a:prstGeom prst="triangle">
              <a:avLst>
                <a:gd name="adj" fmla="val 50000"/>
              </a:avLst>
            </a:prstGeom>
            <a:solidFill>
              <a:srgbClr val="CC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grpSp>
        <p:nvGrpSpPr>
          <p:cNvPr id="108572" name="Group 28"/>
          <p:cNvGrpSpPr>
            <a:grpSpLocks/>
          </p:cNvGrpSpPr>
          <p:nvPr/>
        </p:nvGrpSpPr>
        <p:grpSpPr bwMode="auto">
          <a:xfrm>
            <a:off x="685800" y="5257800"/>
            <a:ext cx="1219200" cy="381000"/>
            <a:chOff x="240" y="2016"/>
            <a:chExt cx="768" cy="240"/>
          </a:xfrm>
        </p:grpSpPr>
        <p:sp>
          <p:nvSpPr>
            <p:cNvPr id="108573" name="Rectangle 29"/>
            <p:cNvSpPr>
              <a:spLocks noChangeArrowheads="1"/>
            </p:cNvSpPr>
            <p:nvPr/>
          </p:nvSpPr>
          <p:spPr bwMode="auto">
            <a:xfrm>
              <a:off x="576" y="2016"/>
              <a:ext cx="432" cy="240"/>
            </a:xfrm>
            <a:prstGeom prst="rect">
              <a:avLst/>
            </a:prstGeom>
            <a:solidFill>
              <a:srgbClr val="66CC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8574" name="AutoShape 30"/>
            <p:cNvSpPr>
              <a:spLocks noChangeArrowheads="1"/>
            </p:cNvSpPr>
            <p:nvPr/>
          </p:nvSpPr>
          <p:spPr bwMode="auto">
            <a:xfrm>
              <a:off x="240" y="2016"/>
              <a:ext cx="288" cy="240"/>
            </a:xfrm>
            <a:prstGeom prst="triangle">
              <a:avLst>
                <a:gd name="adj" fmla="val 50000"/>
              </a:avLst>
            </a:prstGeom>
            <a:solidFill>
              <a:srgbClr val="FF00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grpSp>
      <p:sp>
        <p:nvSpPr>
          <p:cNvPr id="108577" name="Text Box 33"/>
          <p:cNvSpPr txBox="1">
            <a:spLocks noChangeArrowheads="1"/>
          </p:cNvSpPr>
          <p:nvPr/>
        </p:nvSpPr>
        <p:spPr bwMode="auto">
          <a:xfrm>
            <a:off x="1020763" y="4419600"/>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8581" name="Group 37"/>
          <p:cNvGrpSpPr>
            <a:grpSpLocks/>
          </p:cNvGrpSpPr>
          <p:nvPr/>
        </p:nvGrpSpPr>
        <p:grpSpPr bwMode="auto">
          <a:xfrm>
            <a:off x="3200400" y="3886200"/>
            <a:ext cx="1676400" cy="533400"/>
            <a:chOff x="2256" y="1344"/>
            <a:chExt cx="1056" cy="336"/>
          </a:xfrm>
        </p:grpSpPr>
        <p:sp>
          <p:nvSpPr>
            <p:cNvPr id="108582" name="AutoShape 38"/>
            <p:cNvSpPr>
              <a:spLocks noChangeArrowheads="1"/>
            </p:cNvSpPr>
            <p:nvPr/>
          </p:nvSpPr>
          <p:spPr bwMode="auto">
            <a:xfrm>
              <a:off x="2256" y="1344"/>
              <a:ext cx="432" cy="336"/>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8583" name="AutoShape 39"/>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8584" name="Group 40"/>
          <p:cNvGrpSpPr>
            <a:grpSpLocks/>
          </p:cNvGrpSpPr>
          <p:nvPr/>
        </p:nvGrpSpPr>
        <p:grpSpPr bwMode="auto">
          <a:xfrm>
            <a:off x="2133600" y="3657600"/>
            <a:ext cx="762000" cy="609600"/>
            <a:chOff x="1104" y="1296"/>
            <a:chExt cx="480" cy="384"/>
          </a:xfrm>
        </p:grpSpPr>
        <p:sp>
          <p:nvSpPr>
            <p:cNvPr id="108585" name="AutoShape 41"/>
            <p:cNvSpPr>
              <a:spLocks noChangeArrowheads="1"/>
            </p:cNvSpPr>
            <p:nvPr/>
          </p:nvSpPr>
          <p:spPr bwMode="auto">
            <a:xfrm>
              <a:off x="1152" y="1488"/>
              <a:ext cx="432" cy="192"/>
            </a:xfrm>
            <a:prstGeom prst="rightArrow">
              <a:avLst>
                <a:gd name="adj1" fmla="val 50000"/>
                <a:gd name="adj2" fmla="val 5625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8586" name="Text Box 42"/>
            <p:cNvSpPr txBox="1">
              <a:spLocks noChangeArrowheads="1"/>
            </p:cNvSpPr>
            <p:nvPr/>
          </p:nvSpPr>
          <p:spPr bwMode="auto">
            <a:xfrm>
              <a:off x="1104" y="1296"/>
              <a:ext cx="39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map</a:t>
              </a:r>
            </a:p>
          </p:txBody>
        </p:sp>
      </p:grpSp>
      <p:sp>
        <p:nvSpPr>
          <p:cNvPr id="108611" name="Text Box 67"/>
          <p:cNvSpPr txBox="1">
            <a:spLocks noChangeArrowheads="1"/>
          </p:cNvSpPr>
          <p:nvPr/>
        </p:nvSpPr>
        <p:spPr bwMode="auto">
          <a:xfrm>
            <a:off x="762000" y="1828800"/>
            <a:ext cx="18517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Input</a:t>
            </a:r>
          </a:p>
          <a:p>
            <a:r>
              <a:rPr lang="en-US" b="1" dirty="0">
                <a:solidFill>
                  <a:srgbClr val="008000"/>
                </a:solidFill>
                <a:latin typeface="Arial" pitchFamily="34" charset="0"/>
                <a:cs typeface="Arial" pitchFamily="34" charset="0"/>
              </a:rPr>
              <a:t>key-value pairs</a:t>
            </a:r>
          </a:p>
        </p:txBody>
      </p:sp>
      <p:sp>
        <p:nvSpPr>
          <p:cNvPr id="108578" name="Text Box 34"/>
          <p:cNvSpPr txBox="1">
            <a:spLocks noChangeArrowheads="1"/>
          </p:cNvSpPr>
          <p:nvPr/>
        </p:nvSpPr>
        <p:spPr bwMode="auto">
          <a:xfrm>
            <a:off x="3200400" y="1828800"/>
            <a:ext cx="185178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Intermediate</a:t>
            </a:r>
          </a:p>
          <a:p>
            <a:r>
              <a:rPr lang="en-US" b="1" dirty="0">
                <a:solidFill>
                  <a:srgbClr val="008000"/>
                </a:solidFill>
                <a:latin typeface="Arial" pitchFamily="34" charset="0"/>
                <a:cs typeface="Arial" pitchFamily="34" charset="0"/>
              </a:rPr>
              <a:t>key-value pairs</a:t>
            </a:r>
          </a:p>
        </p:txBody>
      </p:sp>
      <p:sp>
        <p:nvSpPr>
          <p:cNvPr id="108619" name="Text Box 75"/>
          <p:cNvSpPr txBox="1">
            <a:spLocks noChangeArrowheads="1"/>
          </p:cNvSpPr>
          <p:nvPr/>
        </p:nvSpPr>
        <p:spPr bwMode="auto">
          <a:xfrm>
            <a:off x="3505200" y="4495800"/>
            <a:ext cx="5032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sp>
        <p:nvSpPr>
          <p:cNvPr id="108620" name="AutoShape 76"/>
          <p:cNvSpPr>
            <a:spLocks noChangeArrowheads="1"/>
          </p:cNvSpPr>
          <p:nvPr/>
        </p:nvSpPr>
        <p:spPr bwMode="auto">
          <a:xfrm>
            <a:off x="3276600" y="5181600"/>
            <a:ext cx="685800" cy="533400"/>
          </a:xfrm>
          <a:prstGeom prst="diamond">
            <a:avLst/>
          </a:prstGeom>
          <a:solidFill>
            <a:srgbClr val="FFFF00"/>
          </a:solidFill>
          <a:ln w="9525">
            <a:solidFill>
              <a:schemeClr val="tx1"/>
            </a:solidFill>
            <a:miter lim="800000"/>
            <a:headEnd/>
            <a:tailEnd/>
          </a:ln>
          <a:effectLst/>
        </p:spPr>
        <p:txBody>
          <a:bodyPr wrap="none" anchor="ctr"/>
          <a:lstStyle/>
          <a:p>
            <a:pPr algn="ctr"/>
            <a:r>
              <a:rPr lang="en-US"/>
              <a:t>k</a:t>
            </a:r>
          </a:p>
        </p:txBody>
      </p:sp>
      <p:sp>
        <p:nvSpPr>
          <p:cNvPr id="108621" name="AutoShape 77"/>
          <p:cNvSpPr>
            <a:spLocks noChangeArrowheads="1"/>
          </p:cNvSpPr>
          <p:nvPr/>
        </p:nvSpPr>
        <p:spPr bwMode="auto">
          <a:xfrm>
            <a:off x="3962400" y="5181600"/>
            <a:ext cx="990600" cy="533400"/>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14</a:t>
            </a:fld>
            <a:endParaRPr lang="en-US"/>
          </a:p>
        </p:txBody>
      </p:sp>
    </p:spTree>
    <p:extLst>
      <p:ext uri="{BB962C8B-B14F-4D97-AF65-F5344CB8AC3E}">
        <p14:creationId xmlns:p14="http://schemas.microsoft.com/office/powerpoint/2010/main" val="17524143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857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857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8580"/>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08584"/>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08579"/>
                                        </p:tgtEl>
                                        <p:attrNameLst>
                                          <p:attrName>style.visibility</p:attrName>
                                        </p:attrNameLst>
                                      </p:cBhvr>
                                      <p:to>
                                        <p:strVal val="hidden"/>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858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xit" presetSubtype="0" fill="hold" nodeType="clickEffect">
                                  <p:stCondLst>
                                    <p:cond delay="0"/>
                                  </p:stCondLst>
                                  <p:childTnLst>
                                    <p:set>
                                      <p:cBhvr>
                                        <p:cTn id="26" dur="1" fill="hold">
                                          <p:stCondLst>
                                            <p:cond delay="0"/>
                                          </p:stCondLst>
                                        </p:cTn>
                                        <p:tgtEl>
                                          <p:spTgt spid="108584"/>
                                        </p:tgtEl>
                                        <p:attrNameLst>
                                          <p:attrName>style.visibility</p:attrName>
                                        </p:attrNameLst>
                                      </p:cBhvr>
                                      <p:to>
                                        <p:strVal val="hidden"/>
                                      </p:to>
                                    </p:set>
                                  </p:childTnLst>
                                </p:cTn>
                              </p:par>
                              <p:par>
                                <p:cTn id="27" presetID="1" presetClass="entr" presetSubtype="0" fill="hold" grpId="0" nodeType="withEffect">
                                  <p:stCondLst>
                                    <p:cond delay="0"/>
                                  </p:stCondLst>
                                  <p:childTnLst>
                                    <p:set>
                                      <p:cBhvr>
                                        <p:cTn id="28" dur="1" fill="hold">
                                          <p:stCondLst>
                                            <p:cond delay="0"/>
                                          </p:stCondLst>
                                        </p:cTn>
                                        <p:tgtEl>
                                          <p:spTgt spid="1086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86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086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78" grpId="0"/>
      <p:bldP spid="108619" grpId="0"/>
      <p:bldP spid="108620" grpId="0" animBg="1"/>
      <p:bldP spid="10862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title"/>
          </p:nvPr>
        </p:nvSpPr>
        <p:spPr/>
        <p:txBody>
          <a:bodyPr/>
          <a:lstStyle/>
          <a:p>
            <a:r>
              <a:rPr lang="en-US" dirty="0" err="1"/>
              <a:t>MapReduce</a:t>
            </a:r>
            <a:r>
              <a:rPr lang="en-US" dirty="0"/>
              <a:t>: The </a:t>
            </a:r>
            <a:r>
              <a:rPr lang="en-US" u="sng" dirty="0"/>
              <a:t>Reduce </a:t>
            </a:r>
            <a:r>
              <a:rPr lang="en-US" dirty="0"/>
              <a:t>Step</a:t>
            </a:r>
          </a:p>
        </p:txBody>
      </p:sp>
      <p:grpSp>
        <p:nvGrpSpPr>
          <p:cNvPr id="109583" name="Group 15"/>
          <p:cNvGrpSpPr>
            <a:grpSpLocks/>
          </p:cNvGrpSpPr>
          <p:nvPr/>
        </p:nvGrpSpPr>
        <p:grpSpPr bwMode="auto">
          <a:xfrm>
            <a:off x="609600" y="1828800"/>
            <a:ext cx="1873250" cy="3733800"/>
            <a:chOff x="3476" y="960"/>
            <a:chExt cx="1180" cy="2352"/>
          </a:xfrm>
        </p:grpSpPr>
        <p:grpSp>
          <p:nvGrpSpPr>
            <p:cNvPr id="109584" name="Group 16"/>
            <p:cNvGrpSpPr>
              <a:grpSpLocks/>
            </p:cNvGrpSpPr>
            <p:nvPr/>
          </p:nvGrpSpPr>
          <p:grpSpPr bwMode="auto">
            <a:xfrm>
              <a:off x="3552" y="1392"/>
              <a:ext cx="1104" cy="1920"/>
              <a:chOff x="3552" y="1392"/>
              <a:chExt cx="1104" cy="1920"/>
            </a:xfrm>
          </p:grpSpPr>
          <p:sp>
            <p:nvSpPr>
              <p:cNvPr id="109585" name="AutoShape 17"/>
              <p:cNvSpPr>
                <a:spLocks noChangeArrowheads="1"/>
              </p:cNvSpPr>
              <p:nvPr/>
            </p:nvSpPr>
            <p:spPr bwMode="auto">
              <a:xfrm>
                <a:off x="3600" y="2976"/>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86" name="AutoShape 18"/>
              <p:cNvSpPr>
                <a:spLocks noChangeArrowheads="1"/>
              </p:cNvSpPr>
              <p:nvPr/>
            </p:nvSpPr>
            <p:spPr bwMode="auto">
              <a:xfrm>
                <a:off x="4032" y="2976"/>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7" name="Text Box 19"/>
              <p:cNvSpPr txBox="1">
                <a:spLocks noChangeArrowheads="1"/>
              </p:cNvSpPr>
              <p:nvPr/>
            </p:nvSpPr>
            <p:spPr bwMode="auto">
              <a:xfrm>
                <a:off x="3840" y="259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9588" name="Group 20"/>
              <p:cNvGrpSpPr>
                <a:grpSpLocks/>
              </p:cNvGrpSpPr>
              <p:nvPr/>
            </p:nvGrpSpPr>
            <p:grpSpPr bwMode="auto">
              <a:xfrm>
                <a:off x="3552" y="1392"/>
                <a:ext cx="1056" cy="336"/>
                <a:chOff x="2256" y="1344"/>
                <a:chExt cx="1056" cy="336"/>
              </a:xfrm>
            </p:grpSpPr>
            <p:sp>
              <p:nvSpPr>
                <p:cNvPr id="109589" name="AutoShape 21"/>
                <p:cNvSpPr>
                  <a:spLocks noChangeArrowheads="1"/>
                </p:cNvSpPr>
                <p:nvPr/>
              </p:nvSpPr>
              <p:spPr bwMode="auto">
                <a:xfrm>
                  <a:off x="2256" y="1344"/>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0" name="AutoShape 22"/>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591" name="Group 23"/>
              <p:cNvGrpSpPr>
                <a:grpSpLocks/>
              </p:cNvGrpSpPr>
              <p:nvPr/>
            </p:nvGrpSpPr>
            <p:grpSpPr bwMode="auto">
              <a:xfrm>
                <a:off x="3552" y="1824"/>
                <a:ext cx="1056" cy="336"/>
                <a:chOff x="2256" y="1344"/>
                <a:chExt cx="1056" cy="336"/>
              </a:xfrm>
            </p:grpSpPr>
            <p:sp>
              <p:nvSpPr>
                <p:cNvPr id="109592" name="AutoShape 24"/>
                <p:cNvSpPr>
                  <a:spLocks noChangeArrowheads="1"/>
                </p:cNvSpPr>
                <p:nvPr/>
              </p:nvSpPr>
              <p:spPr bwMode="auto">
                <a:xfrm>
                  <a:off x="2256" y="1344"/>
                  <a:ext cx="432" cy="336"/>
                </a:xfrm>
                <a:prstGeom prst="diamond">
                  <a:avLst/>
                </a:prstGeom>
                <a:solidFill>
                  <a:srgbClr val="CC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3" name="AutoShape 25"/>
                <p:cNvSpPr>
                  <a:spLocks noChangeArrowheads="1"/>
                </p:cNvSpPr>
                <p:nvPr/>
              </p:nvSpPr>
              <p:spPr bwMode="auto">
                <a:xfrm>
                  <a:off x="2688" y="1344"/>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594" name="AutoShape 26"/>
              <p:cNvSpPr>
                <a:spLocks noChangeArrowheads="1"/>
              </p:cNvSpPr>
              <p:nvPr/>
            </p:nvSpPr>
            <p:spPr bwMode="auto">
              <a:xfrm>
                <a:off x="3552" y="2256"/>
                <a:ext cx="432" cy="336"/>
              </a:xfrm>
              <a:prstGeom prst="diamond">
                <a:avLst/>
              </a:prstGeom>
              <a:solidFill>
                <a:schemeClr val="accent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95" name="AutoShape 27"/>
              <p:cNvSpPr>
                <a:spLocks noChangeArrowheads="1"/>
              </p:cNvSpPr>
              <p:nvPr/>
            </p:nvSpPr>
            <p:spPr bwMode="auto">
              <a:xfrm>
                <a:off x="3984" y="2256"/>
                <a:ext cx="624" cy="336"/>
              </a:xfrm>
              <a:prstGeom prst="parallelogram">
                <a:avLst>
                  <a:gd name="adj" fmla="val 4642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596" name="Text Box 28"/>
            <p:cNvSpPr txBox="1">
              <a:spLocks noChangeArrowheads="1"/>
            </p:cNvSpPr>
            <p:nvPr/>
          </p:nvSpPr>
          <p:spPr bwMode="auto">
            <a:xfrm>
              <a:off x="3476" y="960"/>
              <a:ext cx="1166"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solidFill>
                    <a:srgbClr val="008000"/>
                  </a:solidFill>
                  <a:latin typeface="Arial" pitchFamily="34" charset="0"/>
                  <a:cs typeface="Arial" pitchFamily="34" charset="0"/>
                </a:rPr>
                <a:t>Intermediate</a:t>
              </a:r>
            </a:p>
            <a:p>
              <a:r>
                <a:rPr lang="en-US" b="1" dirty="0">
                  <a:solidFill>
                    <a:srgbClr val="008000"/>
                  </a:solidFill>
                  <a:latin typeface="Arial" pitchFamily="34" charset="0"/>
                  <a:cs typeface="Arial" pitchFamily="34" charset="0"/>
                </a:rPr>
                <a:t>key-value pairs</a:t>
              </a:r>
            </a:p>
          </p:txBody>
        </p:sp>
      </p:grpSp>
      <p:grpSp>
        <p:nvGrpSpPr>
          <p:cNvPr id="109635" name="Group 67"/>
          <p:cNvGrpSpPr>
            <a:grpSpLocks/>
          </p:cNvGrpSpPr>
          <p:nvPr/>
        </p:nvGrpSpPr>
        <p:grpSpPr bwMode="auto">
          <a:xfrm>
            <a:off x="2427288" y="3087689"/>
            <a:ext cx="849312" cy="874713"/>
            <a:chOff x="1529" y="1753"/>
            <a:chExt cx="535" cy="551"/>
          </a:xfrm>
        </p:grpSpPr>
        <p:sp>
          <p:nvSpPr>
            <p:cNvPr id="109597" name="AutoShape 29"/>
            <p:cNvSpPr>
              <a:spLocks noChangeArrowheads="1"/>
            </p:cNvSpPr>
            <p:nvPr/>
          </p:nvSpPr>
          <p:spPr bwMode="auto">
            <a:xfrm>
              <a:off x="1584" y="2112"/>
              <a:ext cx="480" cy="192"/>
            </a:xfrm>
            <a:prstGeom prst="rightArrow">
              <a:avLst>
                <a:gd name="adj1" fmla="val 50000"/>
                <a:gd name="adj2" fmla="val 62500"/>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598" name="Text Box 30"/>
            <p:cNvSpPr txBox="1">
              <a:spLocks noChangeArrowheads="1"/>
            </p:cNvSpPr>
            <p:nvPr/>
          </p:nvSpPr>
          <p:spPr bwMode="auto">
            <a:xfrm>
              <a:off x="1529" y="1753"/>
              <a:ext cx="523" cy="4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Group</a:t>
              </a:r>
            </a:p>
            <a:p>
              <a:r>
                <a:rPr lang="en-US" b="1" dirty="0"/>
                <a:t>by key</a:t>
              </a:r>
            </a:p>
          </p:txBody>
        </p:sp>
      </p:grpSp>
      <p:grpSp>
        <p:nvGrpSpPr>
          <p:cNvPr id="109601" name="Group 33"/>
          <p:cNvGrpSpPr>
            <a:grpSpLocks/>
          </p:cNvGrpSpPr>
          <p:nvPr/>
        </p:nvGrpSpPr>
        <p:grpSpPr bwMode="auto">
          <a:xfrm>
            <a:off x="5943600" y="2362200"/>
            <a:ext cx="1066800" cy="533400"/>
            <a:chOff x="3456" y="1296"/>
            <a:chExt cx="672" cy="336"/>
          </a:xfrm>
        </p:grpSpPr>
        <p:sp>
          <p:nvSpPr>
            <p:cNvPr id="109599" name="AutoShape 31"/>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600" name="Text Box 32"/>
            <p:cNvSpPr txBox="1">
              <a:spLocks noChangeArrowheads="1"/>
            </p:cNvSpPr>
            <p:nvPr/>
          </p:nvSpPr>
          <p:spPr bwMode="auto">
            <a:xfrm>
              <a:off x="3456" y="1296"/>
              <a:ext cx="5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reduce</a:t>
              </a:r>
            </a:p>
          </p:txBody>
        </p:sp>
      </p:grpSp>
      <p:grpSp>
        <p:nvGrpSpPr>
          <p:cNvPr id="109602" name="Group 34"/>
          <p:cNvGrpSpPr>
            <a:grpSpLocks/>
          </p:cNvGrpSpPr>
          <p:nvPr/>
        </p:nvGrpSpPr>
        <p:grpSpPr bwMode="auto">
          <a:xfrm>
            <a:off x="5943600" y="2971800"/>
            <a:ext cx="1066800" cy="533400"/>
            <a:chOff x="3456" y="1296"/>
            <a:chExt cx="672" cy="336"/>
          </a:xfrm>
        </p:grpSpPr>
        <p:sp>
          <p:nvSpPr>
            <p:cNvPr id="109603" name="AutoShape 35"/>
            <p:cNvSpPr>
              <a:spLocks noChangeArrowheads="1"/>
            </p:cNvSpPr>
            <p:nvPr/>
          </p:nvSpPr>
          <p:spPr bwMode="auto">
            <a:xfrm>
              <a:off x="3504" y="1488"/>
              <a:ext cx="624" cy="144"/>
            </a:xfrm>
            <a:prstGeom prst="rightArrow">
              <a:avLst>
                <a:gd name="adj1" fmla="val 50000"/>
                <a:gd name="adj2" fmla="val 108333"/>
              </a:avLst>
            </a:prstGeom>
            <a:solidFill>
              <a:srgbClr val="FF505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9604" name="Text Box 36"/>
            <p:cNvSpPr txBox="1">
              <a:spLocks noChangeArrowheads="1"/>
            </p:cNvSpPr>
            <p:nvPr/>
          </p:nvSpPr>
          <p:spPr bwMode="auto">
            <a:xfrm>
              <a:off x="3456" y="1296"/>
              <a:ext cx="539"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b="1" dirty="0"/>
                <a:t>reduce</a:t>
              </a:r>
            </a:p>
          </p:txBody>
        </p:sp>
      </p:grpSp>
      <p:grpSp>
        <p:nvGrpSpPr>
          <p:cNvPr id="109610" name="Group 42"/>
          <p:cNvGrpSpPr>
            <a:grpSpLocks/>
          </p:cNvGrpSpPr>
          <p:nvPr/>
        </p:nvGrpSpPr>
        <p:grpSpPr bwMode="auto">
          <a:xfrm>
            <a:off x="7086600" y="2514600"/>
            <a:ext cx="1295400" cy="533400"/>
            <a:chOff x="4464" y="1392"/>
            <a:chExt cx="816" cy="336"/>
          </a:xfrm>
        </p:grpSpPr>
        <p:sp>
          <p:nvSpPr>
            <p:cNvPr id="109605" name="AutoShape 37"/>
            <p:cNvSpPr>
              <a:spLocks noChangeArrowheads="1"/>
            </p:cNvSpPr>
            <p:nvPr/>
          </p:nvSpPr>
          <p:spPr bwMode="auto">
            <a:xfrm>
              <a:off x="44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607" name="AutoShape 39"/>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611" name="Group 43"/>
          <p:cNvGrpSpPr>
            <a:grpSpLocks/>
          </p:cNvGrpSpPr>
          <p:nvPr/>
        </p:nvGrpSpPr>
        <p:grpSpPr bwMode="auto">
          <a:xfrm>
            <a:off x="7086600" y="3124200"/>
            <a:ext cx="1295400" cy="533400"/>
            <a:chOff x="4464" y="1392"/>
            <a:chExt cx="816" cy="336"/>
          </a:xfrm>
        </p:grpSpPr>
        <p:sp>
          <p:nvSpPr>
            <p:cNvPr id="109612" name="AutoShape 44"/>
            <p:cNvSpPr>
              <a:spLocks noChangeArrowheads="1"/>
            </p:cNvSpPr>
            <p:nvPr/>
          </p:nvSpPr>
          <p:spPr bwMode="auto">
            <a:xfrm>
              <a:off x="4464" y="1392"/>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dirty="0"/>
                <a:t>k</a:t>
              </a:r>
            </a:p>
          </p:txBody>
        </p:sp>
        <p:sp>
          <p:nvSpPr>
            <p:cNvPr id="109613" name="AutoShape 45"/>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grpSp>
        <p:nvGrpSpPr>
          <p:cNvPr id="109614" name="Group 46"/>
          <p:cNvGrpSpPr>
            <a:grpSpLocks/>
          </p:cNvGrpSpPr>
          <p:nvPr/>
        </p:nvGrpSpPr>
        <p:grpSpPr bwMode="auto">
          <a:xfrm>
            <a:off x="7162800" y="5105400"/>
            <a:ext cx="1295400" cy="533400"/>
            <a:chOff x="4464" y="1392"/>
            <a:chExt cx="816" cy="336"/>
          </a:xfrm>
        </p:grpSpPr>
        <p:sp>
          <p:nvSpPr>
            <p:cNvPr id="109615" name="AutoShape 47"/>
            <p:cNvSpPr>
              <a:spLocks noChangeArrowheads="1"/>
            </p:cNvSpPr>
            <p:nvPr/>
          </p:nvSpPr>
          <p:spPr bwMode="auto">
            <a:xfrm>
              <a:off x="4464" y="1392"/>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616" name="AutoShape 48"/>
            <p:cNvSpPr>
              <a:spLocks noChangeArrowheads="1"/>
            </p:cNvSpPr>
            <p:nvPr/>
          </p:nvSpPr>
          <p:spPr bwMode="auto">
            <a:xfrm>
              <a:off x="4944" y="1392"/>
              <a:ext cx="336" cy="336"/>
            </a:xfrm>
            <a:prstGeom prst="octagon">
              <a:avLst>
                <a:gd name="adj" fmla="val 29287"/>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grpSp>
      <p:sp>
        <p:nvSpPr>
          <p:cNvPr id="109617" name="Text Box 49"/>
          <p:cNvSpPr txBox="1">
            <a:spLocks noChangeArrowheads="1"/>
          </p:cNvSpPr>
          <p:nvPr/>
        </p:nvSpPr>
        <p:spPr bwMode="auto">
          <a:xfrm>
            <a:off x="7573963" y="4267200"/>
            <a:ext cx="503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grpSp>
        <p:nvGrpSpPr>
          <p:cNvPr id="109634" name="Group 66"/>
          <p:cNvGrpSpPr>
            <a:grpSpLocks/>
          </p:cNvGrpSpPr>
          <p:nvPr/>
        </p:nvGrpSpPr>
        <p:grpSpPr bwMode="auto">
          <a:xfrm>
            <a:off x="3276600" y="1905000"/>
            <a:ext cx="2743200" cy="3657600"/>
            <a:chOff x="2064" y="1008"/>
            <a:chExt cx="1728" cy="2304"/>
          </a:xfrm>
        </p:grpSpPr>
        <p:sp>
          <p:nvSpPr>
            <p:cNvPr id="109573" name="AutoShape 5"/>
            <p:cNvSpPr>
              <a:spLocks noChangeArrowheads="1"/>
            </p:cNvSpPr>
            <p:nvPr/>
          </p:nvSpPr>
          <p:spPr bwMode="auto">
            <a:xfrm>
              <a:off x="2112" y="2976"/>
              <a:ext cx="432" cy="336"/>
            </a:xfrm>
            <a:prstGeom prst="diamond">
              <a:avLst/>
            </a:prstGeom>
            <a:solidFill>
              <a:srgbClr val="FFFF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4" name="AutoShape 6"/>
            <p:cNvSpPr>
              <a:spLocks noChangeArrowheads="1"/>
            </p:cNvSpPr>
            <p:nvPr/>
          </p:nvSpPr>
          <p:spPr bwMode="auto">
            <a:xfrm>
              <a:off x="2544" y="2976"/>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75" name="Text Box 7"/>
            <p:cNvSpPr txBox="1">
              <a:spLocks noChangeArrowheads="1"/>
            </p:cNvSpPr>
            <p:nvPr/>
          </p:nvSpPr>
          <p:spPr bwMode="auto">
            <a:xfrm>
              <a:off x="2467" y="249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sz="2400" b="1"/>
                <a:t>…</a:t>
              </a:r>
            </a:p>
          </p:txBody>
        </p:sp>
        <p:sp>
          <p:nvSpPr>
            <p:cNvPr id="109576" name="AutoShape 8"/>
            <p:cNvSpPr>
              <a:spLocks noChangeArrowheads="1"/>
            </p:cNvSpPr>
            <p:nvPr/>
          </p:nvSpPr>
          <p:spPr bwMode="auto">
            <a:xfrm>
              <a:off x="2064" y="1392"/>
              <a:ext cx="432" cy="336"/>
            </a:xfrm>
            <a:prstGeom prst="diamond">
              <a:avLst/>
            </a:prstGeom>
            <a:solidFill>
              <a:srgbClr val="9966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7" name="AutoShape 9"/>
            <p:cNvSpPr>
              <a:spLocks noChangeArrowheads="1"/>
            </p:cNvSpPr>
            <p:nvPr/>
          </p:nvSpPr>
          <p:spPr bwMode="auto">
            <a:xfrm>
              <a:off x="2496"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78" name="AutoShape 10"/>
            <p:cNvSpPr>
              <a:spLocks noChangeArrowheads="1"/>
            </p:cNvSpPr>
            <p:nvPr/>
          </p:nvSpPr>
          <p:spPr bwMode="auto">
            <a:xfrm>
              <a:off x="2064" y="1824"/>
              <a:ext cx="432" cy="336"/>
            </a:xfrm>
            <a:prstGeom prst="diamond">
              <a:avLst/>
            </a:prstGeom>
            <a:solidFill>
              <a:schemeClr val="accent1">
                <a:lumMod val="7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k</a:t>
              </a:r>
            </a:p>
          </p:txBody>
        </p:sp>
        <p:sp>
          <p:nvSpPr>
            <p:cNvPr id="109579" name="AutoShape 11"/>
            <p:cNvSpPr>
              <a:spLocks noChangeArrowheads="1"/>
            </p:cNvSpPr>
            <p:nvPr/>
          </p:nvSpPr>
          <p:spPr bwMode="auto">
            <a:xfrm>
              <a:off x="2496" y="1824"/>
              <a:ext cx="480" cy="336"/>
            </a:xfrm>
            <a:prstGeom prst="parallelogram">
              <a:avLst>
                <a:gd name="adj" fmla="val 3571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0" name="AutoShape 12"/>
            <p:cNvSpPr>
              <a:spLocks noChangeArrowheads="1"/>
            </p:cNvSpPr>
            <p:nvPr/>
          </p:nvSpPr>
          <p:spPr bwMode="auto">
            <a:xfrm>
              <a:off x="2832" y="1824"/>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1" name="AutoShape 13"/>
            <p:cNvSpPr>
              <a:spLocks noChangeArrowheads="1"/>
            </p:cNvSpPr>
            <p:nvPr/>
          </p:nvSpPr>
          <p:spPr bwMode="auto">
            <a:xfrm>
              <a:off x="2880"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582" name="AutoShape 14"/>
            <p:cNvSpPr>
              <a:spLocks noChangeArrowheads="1"/>
            </p:cNvSpPr>
            <p:nvPr/>
          </p:nvSpPr>
          <p:spPr bwMode="auto">
            <a:xfrm>
              <a:off x="3264" y="1392"/>
              <a:ext cx="528" cy="336"/>
            </a:xfrm>
            <a:prstGeom prst="parallelogram">
              <a:avLst>
                <a:gd name="adj" fmla="val 39286"/>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t>v</a:t>
              </a:r>
            </a:p>
          </p:txBody>
        </p:sp>
        <p:sp>
          <p:nvSpPr>
            <p:cNvPr id="109632" name="Rectangle 64"/>
            <p:cNvSpPr>
              <a:spLocks noChangeArrowheads="1"/>
            </p:cNvSpPr>
            <p:nvPr/>
          </p:nvSpPr>
          <p:spPr bwMode="auto">
            <a:xfrm>
              <a:off x="2160" y="1008"/>
              <a:ext cx="148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dirty="0">
                  <a:solidFill>
                    <a:srgbClr val="008000"/>
                  </a:solidFill>
                  <a:latin typeface="Arial" pitchFamily="34" charset="0"/>
                  <a:cs typeface="Arial" pitchFamily="34" charset="0"/>
                </a:rPr>
                <a:t>Key-value groups</a:t>
              </a:r>
            </a:p>
          </p:txBody>
        </p:sp>
      </p:grpSp>
      <p:sp>
        <p:nvSpPr>
          <p:cNvPr id="109633" name="Rectangle 65"/>
          <p:cNvSpPr>
            <a:spLocks noChangeArrowheads="1"/>
          </p:cNvSpPr>
          <p:nvPr/>
        </p:nvSpPr>
        <p:spPr bwMode="auto">
          <a:xfrm>
            <a:off x="6705600" y="1676400"/>
            <a:ext cx="2057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b="1" dirty="0">
                <a:solidFill>
                  <a:srgbClr val="008000"/>
                </a:solidFill>
                <a:latin typeface="Arial" pitchFamily="34" charset="0"/>
                <a:cs typeface="Arial" pitchFamily="34" charset="0"/>
              </a:rPr>
              <a:t>Output </a:t>
            </a:r>
          </a:p>
          <a:p>
            <a:r>
              <a:rPr lang="en-US" b="1" dirty="0">
                <a:solidFill>
                  <a:srgbClr val="008000"/>
                </a:solidFill>
                <a:latin typeface="Arial" pitchFamily="34" charset="0"/>
                <a:cs typeface="Arial" pitchFamily="34" charset="0"/>
              </a:rPr>
              <a:t>key-value pairs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15</a:t>
            </a:fld>
            <a:endParaRPr lang="en-US"/>
          </a:p>
        </p:txBody>
      </p:sp>
    </p:spTree>
    <p:extLst>
      <p:ext uri="{BB962C8B-B14F-4D97-AF65-F5344CB8AC3E}">
        <p14:creationId xmlns:p14="http://schemas.microsoft.com/office/powerpoint/2010/main" val="42048425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96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963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960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96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09602"/>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09601"/>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9611"/>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9617"/>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096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96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617" grpId="0"/>
      <p:bldP spid="10963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Specifically</a:t>
            </a:r>
          </a:p>
        </p:txBody>
      </p:sp>
      <p:sp>
        <p:nvSpPr>
          <p:cNvPr id="3" name="Content Placeholder 2"/>
          <p:cNvSpPr>
            <a:spLocks noGrp="1"/>
          </p:cNvSpPr>
          <p:nvPr>
            <p:ph idx="1"/>
          </p:nvPr>
        </p:nvSpPr>
        <p:spPr>
          <a:xfrm>
            <a:off x="457200" y="1295400"/>
            <a:ext cx="8534400" cy="5257801"/>
          </a:xfrm>
        </p:spPr>
        <p:txBody>
          <a:bodyPr/>
          <a:lstStyle/>
          <a:p>
            <a:r>
              <a:rPr lang="en-US" b="1" dirty="0">
                <a:solidFill>
                  <a:srgbClr val="0000FF"/>
                </a:solidFill>
              </a:rPr>
              <a:t>Input:</a:t>
            </a:r>
            <a:r>
              <a:rPr lang="en-US" dirty="0"/>
              <a:t> a set of key-value pairs</a:t>
            </a:r>
          </a:p>
          <a:p>
            <a:r>
              <a:rPr lang="en-US" dirty="0"/>
              <a:t>Programmer specifies two methods:</a:t>
            </a:r>
          </a:p>
          <a:p>
            <a:pPr lvl="1"/>
            <a:r>
              <a:rPr lang="en-US" b="1" dirty="0">
                <a:solidFill>
                  <a:schemeClr val="accent4"/>
                </a:solidFill>
                <a:latin typeface="Arial" pitchFamily="34" charset="0"/>
                <a:cs typeface="Arial" pitchFamily="34" charset="0"/>
              </a:rPr>
              <a:t>Map(k, v)</a:t>
            </a:r>
            <a:r>
              <a:rPr lang="en-US" dirty="0">
                <a:latin typeface="Arial" pitchFamily="34" charset="0"/>
                <a:cs typeface="Arial" pitchFamily="34" charset="0"/>
              </a:rPr>
              <a:t> </a:t>
            </a:r>
            <a:r>
              <a:rPr lang="en-US" dirty="0">
                <a:latin typeface="Arial" pitchFamily="34" charset="0"/>
                <a:cs typeface="Arial" pitchFamily="34" charset="0"/>
                <a:sym typeface="Symbol"/>
              </a:rPr>
              <a:t></a:t>
            </a:r>
            <a:r>
              <a:rPr lang="en-US" dirty="0">
                <a:latin typeface="Arial" pitchFamily="34" charset="0"/>
                <a:cs typeface="Arial" pitchFamily="34" charset="0"/>
                <a:sym typeface="Wingdings" pitchFamily="2" charset="2"/>
              </a:rPr>
              <a:t> &lt;k’, v’&gt;*</a:t>
            </a:r>
          </a:p>
          <a:p>
            <a:pPr lvl="2"/>
            <a:r>
              <a:rPr lang="en-US" dirty="0">
                <a:sym typeface="Wingdings" pitchFamily="2" charset="2"/>
              </a:rPr>
              <a:t>Takes a key-value pair and outputs a set of key-value pairs</a:t>
            </a:r>
          </a:p>
          <a:p>
            <a:pPr lvl="3"/>
            <a:r>
              <a:rPr lang="en-US" dirty="0">
                <a:sym typeface="Wingdings" pitchFamily="2" charset="2"/>
              </a:rPr>
              <a:t>E.g., key is the filename, value is a single line in the file</a:t>
            </a:r>
          </a:p>
          <a:p>
            <a:pPr lvl="2"/>
            <a:r>
              <a:rPr lang="en-US" dirty="0">
                <a:sym typeface="Wingdings" pitchFamily="2" charset="2"/>
              </a:rPr>
              <a:t>There is one Map call for every </a:t>
            </a:r>
            <a:r>
              <a:rPr lang="en-US" i="1" dirty="0">
                <a:sym typeface="Wingdings" pitchFamily="2" charset="2"/>
              </a:rPr>
              <a:t>(</a:t>
            </a:r>
            <a:r>
              <a:rPr lang="en-US" i="1" dirty="0" err="1">
                <a:sym typeface="Wingdings" pitchFamily="2" charset="2"/>
              </a:rPr>
              <a:t>k,v</a:t>
            </a:r>
            <a:r>
              <a:rPr lang="en-US" i="1" dirty="0">
                <a:sym typeface="Wingdings" pitchFamily="2" charset="2"/>
              </a:rPr>
              <a:t>) </a:t>
            </a:r>
            <a:r>
              <a:rPr lang="en-US" dirty="0">
                <a:sym typeface="Wingdings" pitchFamily="2" charset="2"/>
              </a:rPr>
              <a:t>pair</a:t>
            </a:r>
          </a:p>
          <a:p>
            <a:pPr lvl="1"/>
            <a:r>
              <a:rPr lang="en-US" b="1" dirty="0">
                <a:solidFill>
                  <a:schemeClr val="accent2"/>
                </a:solidFill>
                <a:latin typeface="Arial" pitchFamily="34" charset="0"/>
                <a:cs typeface="Arial" pitchFamily="34" charset="0"/>
                <a:sym typeface="Wingdings" pitchFamily="2" charset="2"/>
              </a:rPr>
              <a:t>Reduce(k’, &lt;v’&gt;*)</a:t>
            </a:r>
            <a:r>
              <a:rPr lang="en-US" dirty="0">
                <a:solidFill>
                  <a:schemeClr val="accent2"/>
                </a:solidFill>
                <a:latin typeface="Arial" pitchFamily="34" charset="0"/>
                <a:cs typeface="Arial" pitchFamily="34" charset="0"/>
                <a:sym typeface="Wingdings" pitchFamily="2" charset="2"/>
              </a:rPr>
              <a:t> </a:t>
            </a:r>
            <a:r>
              <a:rPr lang="en-US" dirty="0">
                <a:latin typeface="Arial" pitchFamily="34" charset="0"/>
                <a:cs typeface="Arial" pitchFamily="34" charset="0"/>
                <a:sym typeface="Symbol"/>
              </a:rPr>
              <a:t></a:t>
            </a:r>
            <a:r>
              <a:rPr lang="en-US" dirty="0">
                <a:latin typeface="Arial" pitchFamily="34" charset="0"/>
                <a:cs typeface="Arial" pitchFamily="34" charset="0"/>
                <a:sym typeface="Wingdings" pitchFamily="2" charset="2"/>
              </a:rPr>
              <a:t> &lt;k’, v’’&gt;*</a:t>
            </a:r>
          </a:p>
          <a:p>
            <a:pPr lvl="2"/>
            <a:r>
              <a:rPr lang="en-US" b="1" dirty="0">
                <a:sym typeface="Wingdings" pitchFamily="2" charset="2"/>
              </a:rPr>
              <a:t>All values </a:t>
            </a:r>
            <a:r>
              <a:rPr lang="en-US" b="1" i="1" dirty="0">
                <a:sym typeface="Wingdings" pitchFamily="2" charset="2"/>
              </a:rPr>
              <a:t>v’</a:t>
            </a:r>
            <a:r>
              <a:rPr lang="en-US" b="1" dirty="0">
                <a:sym typeface="Wingdings" pitchFamily="2" charset="2"/>
              </a:rPr>
              <a:t> with same key </a:t>
            </a:r>
            <a:r>
              <a:rPr lang="en-US" b="1" i="1" dirty="0">
                <a:sym typeface="Wingdings" pitchFamily="2" charset="2"/>
              </a:rPr>
              <a:t>k’</a:t>
            </a:r>
            <a:r>
              <a:rPr lang="en-US" b="1" dirty="0">
                <a:sym typeface="Wingdings" pitchFamily="2" charset="2"/>
              </a:rPr>
              <a:t> are reduced together </a:t>
            </a:r>
            <a:br>
              <a:rPr lang="en-US" b="1" dirty="0">
                <a:sym typeface="Wingdings" pitchFamily="2" charset="2"/>
              </a:rPr>
            </a:br>
            <a:r>
              <a:rPr lang="en-US" b="1" dirty="0">
                <a:sym typeface="Wingdings" pitchFamily="2" charset="2"/>
              </a:rPr>
              <a:t>and processed in </a:t>
            </a:r>
            <a:r>
              <a:rPr lang="en-US" b="1" i="1" dirty="0">
                <a:sym typeface="Wingdings" pitchFamily="2" charset="2"/>
              </a:rPr>
              <a:t>v’</a:t>
            </a:r>
            <a:r>
              <a:rPr lang="en-US" b="1" dirty="0">
                <a:sym typeface="Wingdings" pitchFamily="2" charset="2"/>
              </a:rPr>
              <a:t> order</a:t>
            </a:r>
          </a:p>
          <a:p>
            <a:pPr lvl="2"/>
            <a:r>
              <a:rPr lang="en-US" dirty="0"/>
              <a:t>There is one Reduce function call per unique key </a:t>
            </a:r>
            <a:r>
              <a:rPr lang="en-US" i="1" dirty="0"/>
              <a:t>k’</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16</a:t>
            </a:fld>
            <a:endParaRPr lang="en-US"/>
          </a:p>
        </p:txBody>
      </p:sp>
    </p:spTree>
    <p:extLst>
      <p:ext uri="{BB962C8B-B14F-4D97-AF65-F5344CB8AC3E}">
        <p14:creationId xmlns:p14="http://schemas.microsoft.com/office/powerpoint/2010/main" val="13078542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r>
              <a:rPr lang="en-US" dirty="0"/>
              <a:t>: Word Counting</a:t>
            </a:r>
          </a:p>
        </p:txBody>
      </p:sp>
      <p:sp>
        <p:nvSpPr>
          <p:cNvPr id="5" name="Rectangle 4"/>
          <p:cNvSpPr/>
          <p:nvPr/>
        </p:nvSpPr>
        <p:spPr>
          <a:xfrm>
            <a:off x="228600" y="3468468"/>
            <a:ext cx="1600200" cy="2627531"/>
          </a:xfrm>
          <a:prstGeom prst="rect">
            <a:avLst/>
          </a:prstGeom>
          <a:ln cmpd="sng"/>
        </p:spPr>
        <p:style>
          <a:lnRef idx="2">
            <a:schemeClr val="dk1"/>
          </a:lnRef>
          <a:fillRef idx="1">
            <a:schemeClr val="lt1"/>
          </a:fillRef>
          <a:effectRef idx="0">
            <a:schemeClr val="dk1"/>
          </a:effectRef>
          <a:fontRef idx="minor">
            <a:schemeClr val="dk1"/>
          </a:fontRef>
        </p:style>
        <p:txBody>
          <a:bodyPr rtlCol="0" anchor="ctr"/>
          <a:lstStyle/>
          <a:p>
            <a:pPr algn="just"/>
            <a:r>
              <a:rPr lang="en-US" sz="1100" dirty="0">
                <a:latin typeface="Arial Narrow" pitchFamily="34" charset="0"/>
                <a:cs typeface="Arial" pitchFamily="34" charset="0"/>
              </a:rPr>
              <a:t>The crew of the space shuttle Endeavor recently returned to Earth as ambassadors, harbingers of a new era of space exploration. Scientists at NASA are saying that the recent assembly of the </a:t>
            </a:r>
            <a:r>
              <a:rPr lang="en-US" sz="1100" dirty="0" err="1">
                <a:latin typeface="Arial Narrow" pitchFamily="34" charset="0"/>
                <a:cs typeface="Arial" pitchFamily="34" charset="0"/>
              </a:rPr>
              <a:t>Dextre</a:t>
            </a:r>
            <a:r>
              <a:rPr lang="en-US" sz="1100" dirty="0">
                <a:latin typeface="Arial Narrow" pitchFamily="34" charset="0"/>
                <a:cs typeface="Arial" pitchFamily="34" charset="0"/>
              </a:rPr>
              <a:t> bot is the first step in a long-term space-based man/</a:t>
            </a:r>
            <a:r>
              <a:rPr lang="en-US" sz="1100" dirty="0" err="1">
                <a:latin typeface="Arial Narrow" pitchFamily="34" charset="0"/>
                <a:cs typeface="Arial" pitchFamily="34" charset="0"/>
              </a:rPr>
              <a:t>mache</a:t>
            </a:r>
            <a:r>
              <a:rPr lang="en-US" sz="1100" dirty="0">
                <a:latin typeface="Arial Narrow" pitchFamily="34" charset="0"/>
                <a:cs typeface="Arial" pitchFamily="34" charset="0"/>
              </a:rPr>
              <a:t> partnership. '"The work we're doing now -- the robotics we're doing -- is what we're going to need ……………………..</a:t>
            </a:r>
          </a:p>
        </p:txBody>
      </p:sp>
      <p:sp>
        <p:nvSpPr>
          <p:cNvPr id="38" name="TextBox 37"/>
          <p:cNvSpPr txBox="1"/>
          <p:nvPr/>
        </p:nvSpPr>
        <p:spPr>
          <a:xfrm>
            <a:off x="304800" y="6107668"/>
            <a:ext cx="1723549"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Big document</a:t>
            </a:r>
          </a:p>
        </p:txBody>
      </p:sp>
      <p:sp>
        <p:nvSpPr>
          <p:cNvPr id="47" name="Rectangle 46"/>
          <p:cNvSpPr/>
          <p:nvPr/>
        </p:nvSpPr>
        <p:spPr>
          <a:xfrm>
            <a:off x="2178804" y="3468469"/>
            <a:ext cx="1600200" cy="25908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(The, 1)</a:t>
            </a:r>
          </a:p>
          <a:p>
            <a:pPr algn="ctr"/>
            <a:r>
              <a:rPr lang="en-US" dirty="0"/>
              <a:t>(crew, 1)</a:t>
            </a:r>
          </a:p>
          <a:p>
            <a:pPr algn="ctr"/>
            <a:r>
              <a:rPr lang="en-US" dirty="0"/>
              <a:t>(of, 1)</a:t>
            </a:r>
          </a:p>
          <a:p>
            <a:pPr algn="ctr"/>
            <a:r>
              <a:rPr lang="en-US" dirty="0"/>
              <a:t>(the, 1)</a:t>
            </a:r>
          </a:p>
          <a:p>
            <a:pPr algn="ctr"/>
            <a:r>
              <a:rPr lang="en-US" dirty="0"/>
              <a:t>(space, 1)</a:t>
            </a:r>
          </a:p>
          <a:p>
            <a:pPr algn="ctr"/>
            <a:r>
              <a:rPr lang="en-US" dirty="0"/>
              <a:t>(shuttle, 1)</a:t>
            </a:r>
          </a:p>
          <a:p>
            <a:pPr algn="ctr"/>
            <a:r>
              <a:rPr lang="en-US" dirty="0"/>
              <a:t>(Endeavor, 1)</a:t>
            </a:r>
          </a:p>
          <a:p>
            <a:pPr algn="ctr"/>
            <a:r>
              <a:rPr lang="en-US" dirty="0"/>
              <a:t>(recently, 1)</a:t>
            </a:r>
          </a:p>
          <a:p>
            <a:pPr algn="ctr"/>
            <a:r>
              <a:rPr lang="en-US" dirty="0"/>
              <a:t>….</a:t>
            </a:r>
          </a:p>
        </p:txBody>
      </p:sp>
      <p:sp>
        <p:nvSpPr>
          <p:cNvPr id="51" name="Rectangle 50"/>
          <p:cNvSpPr/>
          <p:nvPr/>
        </p:nvSpPr>
        <p:spPr>
          <a:xfrm>
            <a:off x="4160004" y="3468469"/>
            <a:ext cx="1600200" cy="25908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(crew, 1)</a:t>
            </a:r>
          </a:p>
          <a:p>
            <a:pPr algn="ctr"/>
            <a:r>
              <a:rPr lang="en-US" dirty="0"/>
              <a:t>(crew, 1)</a:t>
            </a:r>
          </a:p>
          <a:p>
            <a:pPr algn="ctr"/>
            <a:r>
              <a:rPr lang="en-US" dirty="0"/>
              <a:t>(space, 1)</a:t>
            </a:r>
          </a:p>
          <a:p>
            <a:pPr algn="ctr"/>
            <a:r>
              <a:rPr lang="en-US" dirty="0"/>
              <a:t>(the, 1)</a:t>
            </a:r>
          </a:p>
          <a:p>
            <a:pPr algn="ctr"/>
            <a:r>
              <a:rPr lang="en-US" dirty="0"/>
              <a:t>(the, 1)</a:t>
            </a:r>
          </a:p>
          <a:p>
            <a:pPr algn="ctr"/>
            <a:r>
              <a:rPr lang="en-US" dirty="0"/>
              <a:t>(the, 1)</a:t>
            </a:r>
          </a:p>
          <a:p>
            <a:pPr algn="ctr"/>
            <a:r>
              <a:rPr lang="en-US" dirty="0"/>
              <a:t>(shuttle, 1)</a:t>
            </a:r>
          </a:p>
          <a:p>
            <a:pPr algn="ctr"/>
            <a:r>
              <a:rPr lang="en-US" dirty="0"/>
              <a:t>(recently, 1)</a:t>
            </a:r>
          </a:p>
          <a:p>
            <a:pPr algn="ctr"/>
            <a:r>
              <a:rPr lang="en-US" dirty="0"/>
              <a:t>…</a:t>
            </a:r>
          </a:p>
        </p:txBody>
      </p:sp>
      <p:sp>
        <p:nvSpPr>
          <p:cNvPr id="54" name="Rectangle 53"/>
          <p:cNvSpPr/>
          <p:nvPr/>
        </p:nvSpPr>
        <p:spPr>
          <a:xfrm>
            <a:off x="6141204" y="3468469"/>
            <a:ext cx="1600200" cy="25908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(crew, 2)</a:t>
            </a:r>
          </a:p>
          <a:p>
            <a:pPr algn="ctr"/>
            <a:r>
              <a:rPr lang="en-US" dirty="0"/>
              <a:t>(space, 1)</a:t>
            </a:r>
          </a:p>
          <a:p>
            <a:pPr algn="ctr"/>
            <a:r>
              <a:rPr lang="en-US" dirty="0"/>
              <a:t>(the, 3)</a:t>
            </a:r>
          </a:p>
          <a:p>
            <a:pPr algn="ctr"/>
            <a:r>
              <a:rPr lang="en-US" dirty="0"/>
              <a:t>(shuttle, 1)</a:t>
            </a:r>
          </a:p>
          <a:p>
            <a:pPr algn="ctr"/>
            <a:r>
              <a:rPr lang="en-US" dirty="0"/>
              <a:t>(recently, 1)</a:t>
            </a:r>
          </a:p>
          <a:p>
            <a:pPr algn="ctr"/>
            <a:r>
              <a:rPr lang="en-US" dirty="0"/>
              <a:t>…</a:t>
            </a:r>
          </a:p>
        </p:txBody>
      </p:sp>
      <p:sp>
        <p:nvSpPr>
          <p:cNvPr id="55" name="Rectangle 54"/>
          <p:cNvSpPr/>
          <p:nvPr/>
        </p:nvSpPr>
        <p:spPr>
          <a:xfrm>
            <a:off x="2178804" y="2057400"/>
            <a:ext cx="1600200" cy="11430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MAP:</a:t>
            </a:r>
          </a:p>
          <a:p>
            <a:pPr algn="ctr"/>
            <a:r>
              <a:rPr lang="en-US" sz="1400" dirty="0"/>
              <a:t>Read input and produces a set of key-value pairs</a:t>
            </a:r>
            <a:endParaRPr lang="en-US" b="1" dirty="0"/>
          </a:p>
        </p:txBody>
      </p:sp>
      <p:sp>
        <p:nvSpPr>
          <p:cNvPr id="56" name="Rectangle 55"/>
          <p:cNvSpPr/>
          <p:nvPr/>
        </p:nvSpPr>
        <p:spPr>
          <a:xfrm>
            <a:off x="4160004" y="2057400"/>
            <a:ext cx="1600200" cy="11430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Group by key:</a:t>
            </a:r>
          </a:p>
          <a:p>
            <a:pPr algn="ctr"/>
            <a:r>
              <a:rPr lang="en-US" sz="1400" dirty="0"/>
              <a:t>Collect all pairs with same key</a:t>
            </a:r>
            <a:endParaRPr lang="en-US" b="1" dirty="0"/>
          </a:p>
        </p:txBody>
      </p:sp>
      <p:sp>
        <p:nvSpPr>
          <p:cNvPr id="57" name="Rectangle 56"/>
          <p:cNvSpPr/>
          <p:nvPr/>
        </p:nvSpPr>
        <p:spPr>
          <a:xfrm>
            <a:off x="6141204" y="2057400"/>
            <a:ext cx="1600200" cy="11430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Reduce:</a:t>
            </a:r>
          </a:p>
          <a:p>
            <a:pPr algn="ctr"/>
            <a:r>
              <a:rPr lang="en-US" sz="1400" dirty="0"/>
              <a:t>Collect all values belonging to the key and output</a:t>
            </a:r>
            <a:endParaRPr lang="en-US" b="1" dirty="0"/>
          </a:p>
        </p:txBody>
      </p:sp>
      <p:sp>
        <p:nvSpPr>
          <p:cNvPr id="58" name="TextBox 57"/>
          <p:cNvSpPr txBox="1"/>
          <p:nvPr/>
        </p:nvSpPr>
        <p:spPr>
          <a:xfrm>
            <a:off x="2362200"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sp>
        <p:nvSpPr>
          <p:cNvPr id="59" name="TextBox 58"/>
          <p:cNvSpPr txBox="1"/>
          <p:nvPr/>
        </p:nvSpPr>
        <p:spPr>
          <a:xfrm>
            <a:off x="2012196" y="1411069"/>
            <a:ext cx="2133600" cy="646331"/>
          </a:xfrm>
          <a:prstGeom prst="rect">
            <a:avLst/>
          </a:prstGeom>
          <a:noFill/>
        </p:spPr>
        <p:txBody>
          <a:bodyPr wrap="square" rtlCol="0">
            <a:spAutoFit/>
          </a:bodyPr>
          <a:lstStyle/>
          <a:p>
            <a:pPr algn="ctr"/>
            <a:r>
              <a:rPr lang="en-US" b="1" dirty="0">
                <a:latin typeface="Arial" pitchFamily="34" charset="0"/>
                <a:cs typeface="Arial" pitchFamily="34" charset="0"/>
              </a:rPr>
              <a:t>Provided by the programmer</a:t>
            </a:r>
          </a:p>
        </p:txBody>
      </p:sp>
      <p:sp>
        <p:nvSpPr>
          <p:cNvPr id="60" name="TextBox 59"/>
          <p:cNvSpPr txBox="1"/>
          <p:nvPr/>
        </p:nvSpPr>
        <p:spPr>
          <a:xfrm>
            <a:off x="6019800" y="1411069"/>
            <a:ext cx="2133600" cy="646331"/>
          </a:xfrm>
          <a:prstGeom prst="rect">
            <a:avLst/>
          </a:prstGeom>
          <a:noFill/>
        </p:spPr>
        <p:txBody>
          <a:bodyPr wrap="square" rtlCol="0">
            <a:spAutoFit/>
          </a:bodyPr>
          <a:lstStyle/>
          <a:p>
            <a:pPr algn="ctr"/>
            <a:r>
              <a:rPr lang="en-US" b="1" dirty="0">
                <a:latin typeface="Arial" pitchFamily="34" charset="0"/>
                <a:cs typeface="Arial" pitchFamily="34" charset="0"/>
              </a:rPr>
              <a:t>Provided by the programmer</a:t>
            </a:r>
          </a:p>
        </p:txBody>
      </p:sp>
      <p:sp>
        <p:nvSpPr>
          <p:cNvPr id="65" name="TextBox 64"/>
          <p:cNvSpPr txBox="1"/>
          <p:nvPr/>
        </p:nvSpPr>
        <p:spPr>
          <a:xfrm>
            <a:off x="6252907"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sp>
        <p:nvSpPr>
          <p:cNvPr id="66" name="TextBox 65"/>
          <p:cNvSpPr txBox="1"/>
          <p:nvPr/>
        </p:nvSpPr>
        <p:spPr>
          <a:xfrm>
            <a:off x="4343400" y="6107668"/>
            <a:ext cx="1424301" cy="369332"/>
          </a:xfrm>
          <a:prstGeom prst="rect">
            <a:avLst/>
          </a:prstGeom>
          <a:noFill/>
        </p:spPr>
        <p:txBody>
          <a:bodyPr wrap="none" rtlCol="0">
            <a:spAutoFit/>
          </a:bodyPr>
          <a:lstStyle/>
          <a:p>
            <a:r>
              <a:rPr lang="en-US" b="1" dirty="0">
                <a:solidFill>
                  <a:srgbClr val="008000"/>
                </a:solidFill>
                <a:latin typeface="Arial" pitchFamily="34" charset="0"/>
                <a:cs typeface="Arial" pitchFamily="34" charset="0"/>
              </a:rPr>
              <a:t>(key, value)</a:t>
            </a:r>
          </a:p>
        </p:txBody>
      </p:sp>
      <p:grpSp>
        <p:nvGrpSpPr>
          <p:cNvPr id="3" name="Group 68"/>
          <p:cNvGrpSpPr/>
          <p:nvPr/>
        </p:nvGrpSpPr>
        <p:grpSpPr>
          <a:xfrm>
            <a:off x="8001000" y="3200400"/>
            <a:ext cx="762000" cy="3200400"/>
            <a:chOff x="8001000" y="1752600"/>
            <a:chExt cx="762000" cy="3200400"/>
          </a:xfrm>
        </p:grpSpPr>
        <p:sp>
          <p:nvSpPr>
            <p:cNvPr id="64" name="TextBox 63"/>
            <p:cNvSpPr txBox="1"/>
            <p:nvPr/>
          </p:nvSpPr>
          <p:spPr>
            <a:xfrm rot="16200000">
              <a:off x="7070789" y="2911411"/>
              <a:ext cx="2686954" cy="369332"/>
            </a:xfrm>
            <a:prstGeom prst="rect">
              <a:avLst/>
            </a:prstGeom>
            <a:noFill/>
            <a:ln cmpd="sng">
              <a:solidFill>
                <a:schemeClr val="tx1"/>
              </a:solidFill>
            </a:ln>
          </p:spPr>
          <p:txBody>
            <a:bodyPr wrap="none" rtlCol="0">
              <a:spAutoFit/>
            </a:bodyPr>
            <a:lstStyle/>
            <a:p>
              <a:r>
                <a:rPr lang="en-US" dirty="0"/>
                <a:t>Sequentially read the data</a:t>
              </a:r>
            </a:p>
          </p:txBody>
        </p:sp>
        <p:sp>
          <p:nvSpPr>
            <p:cNvPr id="67" name="Down Arrow 66"/>
            <p:cNvSpPr/>
            <p:nvPr/>
          </p:nvSpPr>
          <p:spPr>
            <a:xfrm>
              <a:off x="8001000" y="1752600"/>
              <a:ext cx="762000" cy="3200400"/>
            </a:xfrm>
            <a:prstGeom prst="downArrow">
              <a:avLst/>
            </a:prstGeom>
            <a:ln cmpd="sng"/>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dirty="0"/>
            </a:p>
          </p:txBody>
        </p:sp>
        <p:sp>
          <p:nvSpPr>
            <p:cNvPr id="68" name="TextBox 67"/>
            <p:cNvSpPr txBox="1"/>
            <p:nvPr/>
          </p:nvSpPr>
          <p:spPr>
            <a:xfrm rot="16200000">
              <a:off x="7119681" y="3059689"/>
              <a:ext cx="2542684" cy="369332"/>
            </a:xfrm>
            <a:prstGeom prst="rect">
              <a:avLst/>
            </a:prstGeom>
            <a:noFill/>
            <a:ln cmpd="sng">
              <a:noFill/>
            </a:ln>
          </p:spPr>
          <p:txBody>
            <a:bodyPr wrap="none" rtlCol="0">
              <a:spAutoFit/>
            </a:bodyPr>
            <a:lstStyle/>
            <a:p>
              <a:r>
                <a:rPr lang="en-US" b="1" dirty="0">
                  <a:solidFill>
                    <a:schemeClr val="bg1"/>
                  </a:solidFill>
                </a:rPr>
                <a:t>Only  </a:t>
              </a:r>
              <a:r>
                <a:rPr lang="en-US" dirty="0">
                  <a:solidFill>
                    <a:schemeClr val="bg1"/>
                  </a:solidFill>
                </a:rPr>
                <a:t>  sequential    reads</a:t>
              </a:r>
            </a:p>
          </p:txBody>
        </p:sp>
      </p:grpSp>
      <p:grpSp>
        <p:nvGrpSpPr>
          <p:cNvPr id="4" name="Group 76"/>
          <p:cNvGrpSpPr/>
          <p:nvPr/>
        </p:nvGrpSpPr>
        <p:grpSpPr>
          <a:xfrm>
            <a:off x="2102665" y="4056286"/>
            <a:ext cx="1707335" cy="1104600"/>
            <a:chOff x="179559" y="4370559"/>
            <a:chExt cx="1707335" cy="1104600"/>
          </a:xfrm>
        </p:grpSpPr>
        <p:cxnSp>
          <p:nvCxnSpPr>
            <p:cNvPr id="78" name="Straight Connector 77"/>
            <p:cNvCxnSpPr/>
            <p:nvPr/>
          </p:nvCxnSpPr>
          <p:spPr>
            <a:xfrm>
              <a:off x="179559" y="547357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79" name="Straight Connector 78"/>
            <p:cNvCxnSpPr/>
            <p:nvPr/>
          </p:nvCxnSpPr>
          <p:spPr>
            <a:xfrm>
              <a:off x="210494" y="493858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0" name="Straight Connector 79"/>
            <p:cNvCxnSpPr/>
            <p:nvPr/>
          </p:nvCxnSpPr>
          <p:spPr>
            <a:xfrm>
              <a:off x="210494" y="4370559"/>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6" name="Group 80"/>
          <p:cNvGrpSpPr/>
          <p:nvPr/>
        </p:nvGrpSpPr>
        <p:grpSpPr>
          <a:xfrm>
            <a:off x="4114800" y="4371984"/>
            <a:ext cx="1707335" cy="782628"/>
            <a:chOff x="179559" y="4627743"/>
            <a:chExt cx="1707335" cy="782628"/>
          </a:xfrm>
        </p:grpSpPr>
        <p:cxnSp>
          <p:nvCxnSpPr>
            <p:cNvPr id="82" name="Straight Connector 81"/>
            <p:cNvCxnSpPr/>
            <p:nvPr/>
          </p:nvCxnSpPr>
          <p:spPr>
            <a:xfrm>
              <a:off x="179559" y="540878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4" name="Straight Connector 83"/>
            <p:cNvCxnSpPr/>
            <p:nvPr/>
          </p:nvCxnSpPr>
          <p:spPr>
            <a:xfrm>
              <a:off x="210494" y="4627743"/>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7" name="Group 84"/>
          <p:cNvGrpSpPr/>
          <p:nvPr/>
        </p:nvGrpSpPr>
        <p:grpSpPr>
          <a:xfrm>
            <a:off x="152400" y="4021245"/>
            <a:ext cx="1707335" cy="1104600"/>
            <a:chOff x="179559" y="4370559"/>
            <a:chExt cx="1707335" cy="1104600"/>
          </a:xfrm>
        </p:grpSpPr>
        <p:cxnSp>
          <p:nvCxnSpPr>
            <p:cNvPr id="86" name="Straight Connector 85"/>
            <p:cNvCxnSpPr/>
            <p:nvPr/>
          </p:nvCxnSpPr>
          <p:spPr>
            <a:xfrm>
              <a:off x="179559" y="547357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7" name="Straight Connector 86"/>
            <p:cNvCxnSpPr/>
            <p:nvPr/>
          </p:nvCxnSpPr>
          <p:spPr>
            <a:xfrm>
              <a:off x="210494" y="4916281"/>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cxnSp>
          <p:nvCxnSpPr>
            <p:cNvPr id="88" name="Straight Connector 87"/>
            <p:cNvCxnSpPr/>
            <p:nvPr/>
          </p:nvCxnSpPr>
          <p:spPr>
            <a:xfrm>
              <a:off x="210494" y="4370559"/>
              <a:ext cx="1676400" cy="1588"/>
            </a:xfrm>
            <a:prstGeom prst="line">
              <a:avLst/>
            </a:prstGeom>
            <a:ln cmpd="sng"/>
          </p:spPr>
          <p:style>
            <a:lnRef idx="3">
              <a:schemeClr val="accent6"/>
            </a:lnRef>
            <a:fillRef idx="0">
              <a:schemeClr val="accent6"/>
            </a:fillRef>
            <a:effectRef idx="2">
              <a:schemeClr val="accent6"/>
            </a:effectRef>
            <a:fontRef idx="minor">
              <a:schemeClr val="tx1"/>
            </a:fontRef>
          </p:style>
        </p:cxnSp>
      </p:grpSp>
      <p:grpSp>
        <p:nvGrpSpPr>
          <p:cNvPr id="8" name="Group 97"/>
          <p:cNvGrpSpPr/>
          <p:nvPr/>
        </p:nvGrpSpPr>
        <p:grpSpPr>
          <a:xfrm>
            <a:off x="3810000" y="3886200"/>
            <a:ext cx="228600" cy="1600200"/>
            <a:chOff x="3810000" y="4114800"/>
            <a:chExt cx="228600" cy="1600200"/>
          </a:xfrm>
        </p:grpSpPr>
        <p:cxnSp>
          <p:nvCxnSpPr>
            <p:cNvPr id="90" name="Straight Connector 89"/>
            <p:cNvCxnSpPr/>
            <p:nvPr/>
          </p:nvCxnSpPr>
          <p:spPr>
            <a:xfrm rot="16200000" flipH="1">
              <a:off x="3619500" y="4381500"/>
              <a:ext cx="685800" cy="1524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2" name="Straight Connector 91"/>
            <p:cNvCxnSpPr/>
            <p:nvPr/>
          </p:nvCxnSpPr>
          <p:spPr>
            <a:xfrm rot="5400000" flipH="1" flipV="1">
              <a:off x="3505200" y="5181600"/>
              <a:ext cx="914400" cy="1524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4" name="Straight Connector 93"/>
            <p:cNvCxnSpPr/>
            <p:nvPr/>
          </p:nvCxnSpPr>
          <p:spPr>
            <a:xfrm rot="5400000" flipH="1" flipV="1">
              <a:off x="3657600" y="4953000"/>
              <a:ext cx="533400" cy="228600"/>
            </a:xfrm>
            <a:prstGeom prst="line">
              <a:avLst/>
            </a:prstGeom>
            <a:ln cmpd="sng"/>
          </p:spPr>
          <p:style>
            <a:lnRef idx="2">
              <a:schemeClr val="dk1"/>
            </a:lnRef>
            <a:fillRef idx="0">
              <a:schemeClr val="dk1"/>
            </a:fillRef>
            <a:effectRef idx="1">
              <a:schemeClr val="dk1"/>
            </a:effectRef>
            <a:fontRef idx="minor">
              <a:schemeClr val="tx1"/>
            </a:fontRef>
          </p:style>
        </p:cxnSp>
        <p:cxnSp>
          <p:nvCxnSpPr>
            <p:cNvPr id="96" name="Straight Connector 95"/>
            <p:cNvCxnSpPr/>
            <p:nvPr/>
          </p:nvCxnSpPr>
          <p:spPr>
            <a:xfrm rot="16200000" flipH="1">
              <a:off x="3733800" y="4495800"/>
              <a:ext cx="381000" cy="228600"/>
            </a:xfrm>
            <a:prstGeom prst="line">
              <a:avLst/>
            </a:prstGeom>
            <a:ln cmpd="sng"/>
          </p:spPr>
          <p:style>
            <a:lnRef idx="2">
              <a:schemeClr val="dk1"/>
            </a:lnRef>
            <a:fillRef idx="0">
              <a:schemeClr val="dk1"/>
            </a:fillRef>
            <a:effectRef idx="1">
              <a:schemeClr val="dk1"/>
            </a:effectRef>
            <a:fontRef idx="minor">
              <a:schemeClr val="tx1"/>
            </a:fontRef>
          </p:style>
        </p:cxnSp>
      </p:grpSp>
      <p:sp>
        <p:nvSpPr>
          <p:cNvPr id="10" name="Footer Placeholder 9"/>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17</a:t>
            </a:fld>
            <a:endParaRPr lang="en-US"/>
          </a:p>
        </p:txBody>
      </p:sp>
    </p:spTree>
    <p:extLst>
      <p:ext uri="{BB962C8B-B14F-4D97-AF65-F5344CB8AC3E}">
        <p14:creationId xmlns:p14="http://schemas.microsoft.com/office/powerpoint/2010/main" val="2626764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1" grpId="0" animBg="1"/>
      <p:bldP spid="54" grpId="0" animBg="1"/>
      <p:bldP spid="55" grpId="0" animBg="1"/>
      <p:bldP spid="56" grpId="0" animBg="1"/>
      <p:bldP spid="57" grpId="0" animBg="1"/>
      <p:bldP spid="58" grpId="0"/>
      <p:bldP spid="59" grpId="0"/>
      <p:bldP spid="60" grpId="0"/>
      <p:bldP spid="65" grpId="0"/>
      <p:bldP spid="6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r>
              <a:rPr lang="en-US" dirty="0"/>
              <a:t>Word Count Using </a:t>
            </a:r>
            <a:r>
              <a:rPr lang="en-US" dirty="0" err="1"/>
              <a:t>MapReduce</a:t>
            </a:r>
            <a:endParaRPr lang="en-US" dirty="0"/>
          </a:p>
        </p:txBody>
      </p:sp>
      <p:sp>
        <p:nvSpPr>
          <p:cNvPr id="89091" name="Rectangle 3"/>
          <p:cNvSpPr>
            <a:spLocks noGrp="1" noChangeArrowheads="1"/>
          </p:cNvSpPr>
          <p:nvPr>
            <p:ph type="body" idx="1"/>
          </p:nvPr>
        </p:nvSpPr>
        <p:spPr>
          <a:xfrm>
            <a:off x="566738" y="1752600"/>
            <a:ext cx="8001000" cy="2057400"/>
          </a:xfrm>
        </p:spPr>
        <p:txBody>
          <a:bodyPr>
            <a:normAutofit/>
          </a:bodyPr>
          <a:lstStyle/>
          <a:p>
            <a:pPr>
              <a:buFont typeface="Wingdings" pitchFamily="2" charset="2"/>
              <a:buNone/>
            </a:pPr>
            <a:r>
              <a:rPr lang="en-US" sz="2000" b="1" dirty="0">
                <a:latin typeface="Courier New" pitchFamily="49" charset="0"/>
                <a:cs typeface="Courier New" pitchFamily="49" charset="0"/>
              </a:rPr>
              <a:t>map(key, value):</a:t>
            </a:r>
          </a:p>
          <a:p>
            <a:pPr>
              <a:buFont typeface="Wingdings" pitchFamily="2" charset="2"/>
              <a:buNone/>
            </a:pPr>
            <a:r>
              <a:rPr lang="en-US" sz="2000" dirty="0">
                <a:latin typeface="Courier New" pitchFamily="49" charset="0"/>
                <a:cs typeface="Courier New" pitchFamily="49" charset="0"/>
              </a:rPr>
              <a:t>// key: document name; value: text of the document</a:t>
            </a:r>
          </a:p>
          <a:p>
            <a:pPr>
              <a:buFont typeface="Wingdings" pitchFamily="2" charset="2"/>
              <a:buNone/>
            </a:pPr>
            <a:r>
              <a:rPr lang="en-US" sz="2000" dirty="0">
                <a:latin typeface="Courier New" pitchFamily="49" charset="0"/>
                <a:cs typeface="Courier New" pitchFamily="49" charset="0"/>
              </a:rPr>
              <a:t>	for each word w in value:</a:t>
            </a:r>
          </a:p>
          <a:p>
            <a:pPr>
              <a:buFont typeface="Wingdings" pitchFamily="2" charset="2"/>
              <a:buNone/>
            </a:pPr>
            <a:r>
              <a:rPr lang="en-US" sz="2000" dirty="0">
                <a:latin typeface="Courier New" pitchFamily="49" charset="0"/>
                <a:cs typeface="Courier New" pitchFamily="49" charset="0"/>
              </a:rPr>
              <a:t>		emit(w, 1)</a:t>
            </a:r>
          </a:p>
          <a:p>
            <a:pPr>
              <a:buFont typeface="Wingdings" pitchFamily="2" charset="2"/>
              <a:buNone/>
            </a:pPr>
            <a:endParaRPr lang="en-US" sz="2000" dirty="0">
              <a:latin typeface="Courier New" pitchFamily="49" charset="0"/>
              <a:cs typeface="Courier New" pitchFamily="49" charset="0"/>
            </a:endParaRPr>
          </a:p>
        </p:txBody>
      </p:sp>
      <p:sp>
        <p:nvSpPr>
          <p:cNvPr id="89092" name="Rectangle 4"/>
          <p:cNvSpPr>
            <a:spLocks noChangeArrowheads="1"/>
          </p:cNvSpPr>
          <p:nvPr/>
        </p:nvSpPr>
        <p:spPr bwMode="auto">
          <a:xfrm>
            <a:off x="609600" y="3810000"/>
            <a:ext cx="7772400" cy="1938992"/>
          </a:xfrm>
          <a:prstGeom prst="rect">
            <a:avLst/>
          </a:prstGeom>
          <a:noFill/>
          <a:ln w="9525">
            <a:noFill/>
            <a:miter lim="800000"/>
            <a:headEnd/>
            <a:tailEnd/>
          </a:ln>
          <a:effectLst/>
        </p:spPr>
        <p:txBody>
          <a:bodyPr>
            <a:spAutoFit/>
          </a:bodyPr>
          <a:lstStyle/>
          <a:p>
            <a:r>
              <a:rPr lang="en-US" sz="2000" b="1" dirty="0">
                <a:latin typeface="Courier New" pitchFamily="49" charset="0"/>
                <a:cs typeface="Courier New" pitchFamily="49" charset="0"/>
              </a:rPr>
              <a:t>reduce(key, values):</a:t>
            </a:r>
          </a:p>
          <a:p>
            <a:r>
              <a:rPr lang="en-US" sz="2000" dirty="0">
                <a:latin typeface="Courier New" pitchFamily="49" charset="0"/>
                <a:cs typeface="Courier New" pitchFamily="49" charset="0"/>
              </a:rPr>
              <a:t>// key: a word; value: an </a:t>
            </a:r>
            <a:r>
              <a:rPr lang="en-US" sz="2000" dirty="0" err="1">
                <a:latin typeface="Courier New" pitchFamily="49" charset="0"/>
                <a:cs typeface="Courier New" pitchFamily="49" charset="0"/>
              </a:rPr>
              <a:t>iterator</a:t>
            </a:r>
            <a:r>
              <a:rPr lang="en-US" sz="2000" dirty="0">
                <a:latin typeface="Courier New" pitchFamily="49" charset="0"/>
                <a:cs typeface="Courier New" pitchFamily="49" charset="0"/>
              </a:rPr>
              <a:t> over counts</a:t>
            </a:r>
          </a:p>
          <a:p>
            <a:r>
              <a:rPr lang="en-US" sz="2000" dirty="0">
                <a:latin typeface="Courier New" pitchFamily="49" charset="0"/>
                <a:cs typeface="Courier New" pitchFamily="49" charset="0"/>
              </a:rPr>
              <a:t>	result = 0</a:t>
            </a:r>
          </a:p>
          <a:p>
            <a:r>
              <a:rPr lang="en-US" sz="2000" dirty="0">
                <a:latin typeface="Courier New" pitchFamily="49" charset="0"/>
                <a:cs typeface="Courier New" pitchFamily="49" charset="0"/>
              </a:rPr>
              <a:t>	for each count v in values:</a:t>
            </a:r>
          </a:p>
          <a:p>
            <a:r>
              <a:rPr lang="en-US" sz="2000" dirty="0">
                <a:latin typeface="Courier New" pitchFamily="49" charset="0"/>
                <a:cs typeface="Courier New" pitchFamily="49" charset="0"/>
              </a:rPr>
              <a:t>		result += v</a:t>
            </a:r>
          </a:p>
          <a:p>
            <a:r>
              <a:rPr lang="en-US" sz="2000" dirty="0">
                <a:latin typeface="Courier New" pitchFamily="49" charset="0"/>
                <a:cs typeface="Courier New" pitchFamily="49" charset="0"/>
              </a:rPr>
              <a:t>	emit(key, result)</a:t>
            </a:r>
          </a:p>
        </p:txBody>
      </p:sp>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18</a:t>
            </a:fld>
            <a:endParaRPr lang="en-US"/>
          </a:p>
        </p:txBody>
      </p:sp>
    </p:spTree>
    <p:extLst>
      <p:ext uri="{BB962C8B-B14F-4D97-AF65-F5344CB8AC3E}">
        <p14:creationId xmlns:p14="http://schemas.microsoft.com/office/powerpoint/2010/main" val="22376090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0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90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1" grpId="0"/>
      <p:bldP spid="8909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p:txBody>
          <a:bodyPr>
            <a:normAutofit/>
          </a:bodyPr>
          <a:lstStyle/>
          <a:p>
            <a:r>
              <a:rPr lang="en-GB" dirty="0"/>
              <a:t>Map-Reduce: Environment</a:t>
            </a:r>
          </a:p>
        </p:txBody>
      </p:sp>
      <p:sp>
        <p:nvSpPr>
          <p:cNvPr id="17410" name="Rectangle 2"/>
          <p:cNvSpPr>
            <a:spLocks noGrp="1" noChangeArrowheads="1"/>
          </p:cNvSpPr>
          <p:nvPr>
            <p:ph type="body" idx="1"/>
          </p:nvPr>
        </p:nvSpPr>
        <p:spPr/>
        <p:txBody>
          <a:bodyPr>
            <a:normAutofit/>
          </a:bodyPr>
          <a:lstStyle/>
          <a:p>
            <a:pPr marL="118872" indent="0">
              <a:buNone/>
            </a:pPr>
            <a:r>
              <a:rPr lang="en-GB" b="1" dirty="0">
                <a:solidFill>
                  <a:srgbClr val="0000FF"/>
                </a:solidFill>
              </a:rPr>
              <a:t>Map-Reduce environment takes care of:</a:t>
            </a:r>
          </a:p>
          <a:p>
            <a:r>
              <a:rPr lang="en-GB" dirty="0">
                <a:solidFill>
                  <a:schemeClr val="accent4"/>
                </a:solidFill>
              </a:rPr>
              <a:t>Partitioning</a:t>
            </a:r>
            <a:r>
              <a:rPr lang="en-GB" dirty="0"/>
              <a:t> the input data</a:t>
            </a:r>
          </a:p>
          <a:p>
            <a:r>
              <a:rPr lang="en-GB" dirty="0">
                <a:solidFill>
                  <a:schemeClr val="accent4"/>
                </a:solidFill>
              </a:rPr>
              <a:t>Scheduling</a:t>
            </a:r>
            <a:r>
              <a:rPr lang="en-GB" dirty="0"/>
              <a:t> the program’s execution across a </a:t>
            </a:r>
            <a:br>
              <a:rPr lang="en-GB" dirty="0"/>
            </a:br>
            <a:r>
              <a:rPr lang="en-GB" dirty="0"/>
              <a:t>set of machines</a:t>
            </a:r>
          </a:p>
          <a:p>
            <a:r>
              <a:rPr lang="en-GB" dirty="0"/>
              <a:t>Performing the </a:t>
            </a:r>
            <a:r>
              <a:rPr lang="en-GB" b="1" dirty="0">
                <a:solidFill>
                  <a:schemeClr val="accent4"/>
                </a:solidFill>
              </a:rPr>
              <a:t>group by key</a:t>
            </a:r>
            <a:r>
              <a:rPr lang="en-GB" dirty="0"/>
              <a:t> step</a:t>
            </a:r>
          </a:p>
          <a:p>
            <a:r>
              <a:rPr lang="en-GB" dirty="0"/>
              <a:t>Handling machine </a:t>
            </a:r>
            <a:r>
              <a:rPr lang="en-GB" dirty="0">
                <a:solidFill>
                  <a:schemeClr val="accent4"/>
                </a:solidFill>
              </a:rPr>
              <a:t>failures</a:t>
            </a:r>
            <a:endParaRPr lang="en-GB" dirty="0"/>
          </a:p>
          <a:p>
            <a:r>
              <a:rPr lang="en-GB" dirty="0"/>
              <a:t>Managing required inter-machine </a:t>
            </a:r>
            <a:r>
              <a:rPr lang="en-GB" dirty="0">
                <a:solidFill>
                  <a:schemeClr val="accent4"/>
                </a:solidFill>
              </a:rPr>
              <a:t>communication</a:t>
            </a:r>
            <a:endParaRPr lang="en-GB"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19</a:t>
            </a:fld>
            <a:endParaRPr lang="en-US"/>
          </a:p>
        </p:txBody>
      </p:sp>
    </p:spTree>
    <p:extLst>
      <p:ext uri="{BB962C8B-B14F-4D97-AF65-F5344CB8AC3E}">
        <p14:creationId xmlns:p14="http://schemas.microsoft.com/office/powerpoint/2010/main" val="121201904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A diagram</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11" name="Slide Number Placeholder 10"/>
          <p:cNvSpPr>
            <a:spLocks noGrp="1"/>
          </p:cNvSpPr>
          <p:nvPr>
            <p:ph type="sldNum" sz="quarter" idx="12"/>
          </p:nvPr>
        </p:nvSpPr>
        <p:spPr/>
        <p:txBody>
          <a:bodyPr/>
          <a:lstStyle/>
          <a:p>
            <a:fld id="{19B12225-5612-419B-A8D5-4B8EEE4C217E}" type="slidenum">
              <a:rPr lang="en-US" smtClean="0"/>
              <a:pPr/>
              <a:t>20</a:t>
            </a:fld>
            <a:endParaRPr lang="en-US"/>
          </a:p>
        </p:txBody>
      </p:sp>
      <p:pic>
        <p:nvPicPr>
          <p:cNvPr id="4" name="Picture 6" descr="index-auto-0007-0001"/>
          <p:cNvPicPr>
            <a:picLocks noChangeAspect="1" noChangeArrowheads="1"/>
          </p:cNvPicPr>
          <p:nvPr/>
        </p:nvPicPr>
        <p:blipFill>
          <a:blip r:embed="rId2" cstate="print"/>
          <a:srcRect/>
          <a:stretch>
            <a:fillRect/>
          </a:stretch>
        </p:blipFill>
        <p:spPr bwMode="auto">
          <a:xfrm>
            <a:off x="918210" y="1219200"/>
            <a:ext cx="7844790" cy="5410200"/>
          </a:xfrm>
          <a:prstGeom prst="rect">
            <a:avLst/>
          </a:prstGeom>
          <a:noFill/>
        </p:spPr>
      </p:pic>
      <p:sp>
        <p:nvSpPr>
          <p:cNvPr id="5" name="TextBox 4"/>
          <p:cNvSpPr txBox="1"/>
          <p:nvPr/>
        </p:nvSpPr>
        <p:spPr>
          <a:xfrm>
            <a:off x="2143046" y="1371600"/>
            <a:ext cx="1576072" cy="369332"/>
          </a:xfrm>
          <a:prstGeom prst="rect">
            <a:avLst/>
          </a:prstGeom>
          <a:noFill/>
        </p:spPr>
        <p:txBody>
          <a:bodyPr wrap="none" rtlCol="0">
            <a:spAutoFit/>
          </a:bodyPr>
          <a:lstStyle/>
          <a:p>
            <a:r>
              <a:rPr lang="en-US" b="1" dirty="0"/>
              <a:t>Big document</a:t>
            </a:r>
          </a:p>
        </p:txBody>
      </p:sp>
      <p:sp>
        <p:nvSpPr>
          <p:cNvPr id="8" name="Rectangle 7"/>
          <p:cNvSpPr/>
          <p:nvPr/>
        </p:nvSpPr>
        <p:spPr>
          <a:xfrm>
            <a:off x="232410" y="1752600"/>
            <a:ext cx="1672590" cy="1143000"/>
          </a:xfrm>
          <a:prstGeom prst="rect">
            <a:avLst/>
          </a:prstGeom>
          <a:ln cmpd="sng"/>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MAP:</a:t>
            </a:r>
          </a:p>
          <a:p>
            <a:pPr algn="ctr"/>
            <a:r>
              <a:rPr lang="en-US" sz="1400" dirty="0"/>
              <a:t>Read input and produces a set of key-value pairs</a:t>
            </a:r>
            <a:endParaRPr lang="en-US" b="1" dirty="0"/>
          </a:p>
        </p:txBody>
      </p:sp>
      <p:sp>
        <p:nvSpPr>
          <p:cNvPr id="9" name="Rectangle 8"/>
          <p:cNvSpPr/>
          <p:nvPr/>
        </p:nvSpPr>
        <p:spPr>
          <a:xfrm>
            <a:off x="232410" y="3429000"/>
            <a:ext cx="1672590" cy="1371600"/>
          </a:xfrm>
          <a:prstGeom prst="rect">
            <a:avLst/>
          </a:prstGeom>
          <a:ln cmpd="sng"/>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Group by key:</a:t>
            </a:r>
          </a:p>
          <a:p>
            <a:pPr algn="ctr"/>
            <a:r>
              <a:rPr lang="en-US" sz="1400" dirty="0"/>
              <a:t>Collect all pairs with same key</a:t>
            </a:r>
          </a:p>
          <a:p>
            <a:pPr algn="ctr"/>
            <a:r>
              <a:rPr lang="en-US" sz="1200" b="1" dirty="0"/>
              <a:t>(Hash merge, Shuffle, Sort, Partition)</a:t>
            </a:r>
          </a:p>
        </p:txBody>
      </p:sp>
      <p:sp>
        <p:nvSpPr>
          <p:cNvPr id="10" name="Rectangle 9"/>
          <p:cNvSpPr/>
          <p:nvPr/>
        </p:nvSpPr>
        <p:spPr>
          <a:xfrm>
            <a:off x="232410" y="4953000"/>
            <a:ext cx="1672590" cy="1143000"/>
          </a:xfrm>
          <a:prstGeom prst="rect">
            <a:avLst/>
          </a:prstGeom>
          <a:ln cmpd="sng"/>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b="1" dirty="0"/>
              <a:t>Reduce:</a:t>
            </a:r>
          </a:p>
          <a:p>
            <a:pPr algn="ctr"/>
            <a:r>
              <a:rPr lang="en-US" sz="1400" dirty="0"/>
              <a:t>Collect all values belonging to the key and output</a:t>
            </a:r>
            <a:endParaRPr lang="en-US" b="1" dirty="0"/>
          </a:p>
        </p:txBody>
      </p:sp>
    </p:spTree>
    <p:extLst>
      <p:ext uri="{BB962C8B-B14F-4D97-AF65-F5344CB8AC3E}">
        <p14:creationId xmlns:p14="http://schemas.microsoft.com/office/powerpoint/2010/main" val="23820696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 In Parallel</a:t>
            </a:r>
          </a:p>
        </p:txBody>
      </p:sp>
      <p:pic>
        <p:nvPicPr>
          <p:cNvPr id="2050" name="Picture 2" descr="http://labs.google.com/papers/mapreduce-osdi04-slides/index-auto-0008-0001.gif"/>
          <p:cNvPicPr>
            <a:picLocks noChangeAspect="1" noChangeArrowheads="1"/>
          </p:cNvPicPr>
          <p:nvPr/>
        </p:nvPicPr>
        <p:blipFill>
          <a:blip r:embed="rId2" cstate="print"/>
          <a:srcRect/>
          <a:stretch>
            <a:fillRect/>
          </a:stretch>
        </p:blipFill>
        <p:spPr bwMode="auto">
          <a:xfrm>
            <a:off x="1143000" y="1371600"/>
            <a:ext cx="6800850" cy="4705351"/>
          </a:xfrm>
          <a:prstGeom prst="rect">
            <a:avLst/>
          </a:prstGeom>
          <a:noFill/>
        </p:spPr>
      </p:pic>
      <p:sp>
        <p:nvSpPr>
          <p:cNvPr id="4" name="Footer Placeholder 3"/>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21</a:t>
            </a:fld>
            <a:endParaRPr lang="en-US"/>
          </a:p>
        </p:txBody>
      </p:sp>
      <p:sp>
        <p:nvSpPr>
          <p:cNvPr id="6" name="Rectangle 5"/>
          <p:cNvSpPr/>
          <p:nvPr/>
        </p:nvSpPr>
        <p:spPr>
          <a:xfrm>
            <a:off x="685800" y="6179403"/>
            <a:ext cx="7848600" cy="461665"/>
          </a:xfrm>
          <a:prstGeom prst="rect">
            <a:avLst/>
          </a:prstGeom>
        </p:spPr>
        <p:txBody>
          <a:bodyPr wrap="square">
            <a:spAutoFit/>
          </a:bodyPr>
          <a:lstStyle/>
          <a:p>
            <a:pPr lvl="0"/>
            <a:r>
              <a:rPr lang="en-GB" sz="2400" b="1" dirty="0">
                <a:solidFill>
                  <a:schemeClr val="accent3"/>
                </a:solidFill>
              </a:rPr>
              <a:t>All phases are distributed with many tasks doing the work</a:t>
            </a:r>
          </a:p>
        </p:txBody>
      </p:sp>
    </p:spTree>
    <p:extLst>
      <p:ext uri="{BB962C8B-B14F-4D97-AF65-F5344CB8AC3E}">
        <p14:creationId xmlns:p14="http://schemas.microsoft.com/office/powerpoint/2010/main" val="24811568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Map-Reduce</a:t>
            </a:r>
          </a:p>
        </p:txBody>
      </p:sp>
      <p:sp>
        <p:nvSpPr>
          <p:cNvPr id="30" name="Content Placeholder 29"/>
          <p:cNvSpPr>
            <a:spLocks noGrp="1"/>
          </p:cNvSpPr>
          <p:nvPr>
            <p:ph idx="1"/>
          </p:nvPr>
        </p:nvSpPr>
        <p:spPr>
          <a:xfrm>
            <a:off x="304800" y="1447800"/>
            <a:ext cx="5105400" cy="5257801"/>
          </a:xfrm>
        </p:spPr>
        <p:txBody>
          <a:bodyPr>
            <a:normAutofit fontScale="77500" lnSpcReduction="20000"/>
          </a:bodyPr>
          <a:lstStyle/>
          <a:p>
            <a:pPr lvl="0"/>
            <a:r>
              <a:rPr lang="en-GB" dirty="0">
                <a:solidFill>
                  <a:schemeClr val="accent3"/>
                </a:solidFill>
              </a:rPr>
              <a:t>Programmer specifies:</a:t>
            </a:r>
          </a:p>
          <a:p>
            <a:pPr lvl="1"/>
            <a:r>
              <a:rPr lang="en-GB" dirty="0"/>
              <a:t>Map and Reduce and input files</a:t>
            </a:r>
          </a:p>
          <a:p>
            <a:pPr lvl="0"/>
            <a:r>
              <a:rPr lang="en-GB" b="1" dirty="0"/>
              <a:t>Workflow:</a:t>
            </a:r>
          </a:p>
          <a:p>
            <a:pPr lvl="1"/>
            <a:r>
              <a:rPr lang="en-GB" dirty="0"/>
              <a:t>Read inputs as a set of key-value-pairs</a:t>
            </a:r>
          </a:p>
          <a:p>
            <a:pPr lvl="1"/>
            <a:r>
              <a:rPr lang="en-GB" b="1" dirty="0">
                <a:solidFill>
                  <a:schemeClr val="accent2"/>
                </a:solidFill>
              </a:rPr>
              <a:t>Map</a:t>
            </a:r>
            <a:r>
              <a:rPr lang="en-GB" b="1" dirty="0"/>
              <a:t> </a:t>
            </a:r>
            <a:r>
              <a:rPr lang="en-GB" dirty="0"/>
              <a:t>transforms input </a:t>
            </a:r>
            <a:r>
              <a:rPr lang="en-GB" dirty="0" err="1"/>
              <a:t>kv</a:t>
            </a:r>
            <a:r>
              <a:rPr lang="en-GB" dirty="0"/>
              <a:t>-pairs into a new set of </a:t>
            </a:r>
            <a:r>
              <a:rPr lang="en-GB" dirty="0" err="1"/>
              <a:t>k'v</a:t>
            </a:r>
            <a:r>
              <a:rPr lang="en-GB" dirty="0"/>
              <a:t>'-pairs</a:t>
            </a:r>
          </a:p>
          <a:p>
            <a:pPr lvl="1"/>
            <a:r>
              <a:rPr lang="en-GB" dirty="0"/>
              <a:t>Sorts &amp; Shuffles the </a:t>
            </a:r>
            <a:r>
              <a:rPr lang="en-GB" dirty="0" err="1"/>
              <a:t>k'v</a:t>
            </a:r>
            <a:r>
              <a:rPr lang="en-GB" dirty="0"/>
              <a:t>'-pairs to output nodes</a:t>
            </a:r>
          </a:p>
          <a:p>
            <a:pPr lvl="1"/>
            <a:r>
              <a:rPr lang="en-GB" dirty="0"/>
              <a:t>All </a:t>
            </a:r>
            <a:r>
              <a:rPr lang="en-GB" dirty="0" err="1"/>
              <a:t>k’v</a:t>
            </a:r>
            <a:r>
              <a:rPr lang="en-GB" dirty="0"/>
              <a:t>’-pairs with a given k’ are sent to the same </a:t>
            </a:r>
            <a:r>
              <a:rPr lang="en-GB" b="1" dirty="0">
                <a:solidFill>
                  <a:schemeClr val="accent4"/>
                </a:solidFill>
              </a:rPr>
              <a:t>reduce</a:t>
            </a:r>
            <a:endParaRPr lang="en-GB" dirty="0"/>
          </a:p>
          <a:p>
            <a:pPr lvl="1"/>
            <a:r>
              <a:rPr lang="en-GB" b="1" dirty="0">
                <a:solidFill>
                  <a:schemeClr val="accent4"/>
                </a:solidFill>
              </a:rPr>
              <a:t>Reduce</a:t>
            </a:r>
            <a:r>
              <a:rPr lang="en-GB" b="1" dirty="0"/>
              <a:t> </a:t>
            </a:r>
            <a:r>
              <a:rPr lang="en-GB" dirty="0"/>
              <a:t>processes all </a:t>
            </a:r>
            <a:r>
              <a:rPr lang="en-GB" dirty="0" err="1"/>
              <a:t>k'v</a:t>
            </a:r>
            <a:r>
              <a:rPr lang="en-GB" dirty="0"/>
              <a:t>'-pairs grouped by key into new </a:t>
            </a:r>
            <a:r>
              <a:rPr lang="en-GB" dirty="0" err="1"/>
              <a:t>k''v</a:t>
            </a:r>
            <a:r>
              <a:rPr lang="en-GB" dirty="0"/>
              <a:t>''-pairs</a:t>
            </a:r>
          </a:p>
          <a:p>
            <a:pPr lvl="1"/>
            <a:r>
              <a:rPr lang="en-GB" dirty="0"/>
              <a:t>Write the resulting pairs to files</a:t>
            </a:r>
          </a:p>
          <a:p>
            <a:pPr lvl="8"/>
            <a:endParaRPr lang="en-GB" dirty="0"/>
          </a:p>
          <a:p>
            <a:pPr lvl="0"/>
            <a:r>
              <a:rPr lang="en-GB" dirty="0">
                <a:solidFill>
                  <a:schemeClr val="accent3"/>
                </a:solidFill>
              </a:rPr>
              <a:t>All phases are distributed with many tasks doing the work</a:t>
            </a:r>
          </a:p>
          <a:p>
            <a:endParaRPr lang="en-US" dirty="0"/>
          </a:p>
        </p:txBody>
      </p:sp>
      <p:sp>
        <p:nvSpPr>
          <p:cNvPr id="5" name="Oval 4"/>
          <p:cNvSpPr>
            <a:spLocks noChangeArrowheads="1"/>
          </p:cNvSpPr>
          <p:nvPr/>
        </p:nvSpPr>
        <p:spPr bwMode="auto">
          <a:xfrm>
            <a:off x="5541963" y="1676400"/>
            <a:ext cx="566737"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0</a:t>
            </a:r>
          </a:p>
        </p:txBody>
      </p:sp>
      <p:sp>
        <p:nvSpPr>
          <p:cNvPr id="6" name="Line 5"/>
          <p:cNvSpPr>
            <a:spLocks noChangeShapeType="1"/>
          </p:cNvSpPr>
          <p:nvPr/>
        </p:nvSpPr>
        <p:spPr bwMode="auto">
          <a:xfrm>
            <a:off x="5803900" y="2209800"/>
            <a:ext cx="1588" cy="381000"/>
          </a:xfrm>
          <a:prstGeom prst="line">
            <a:avLst/>
          </a:prstGeom>
          <a:noFill/>
          <a:ln w="9360">
            <a:solidFill>
              <a:srgbClr val="000000"/>
            </a:solidFill>
            <a:miter lim="800000"/>
            <a:headEnd/>
            <a:tailEnd type="triangle" w="med" len="med"/>
          </a:ln>
          <a:effectLst/>
        </p:spPr>
        <p:txBody>
          <a:bodyPr/>
          <a:lstStyle/>
          <a:p>
            <a:endParaRPr lang="en-US"/>
          </a:p>
        </p:txBody>
      </p:sp>
      <p:sp>
        <p:nvSpPr>
          <p:cNvPr id="7" name="Rectangle 6"/>
          <p:cNvSpPr>
            <a:spLocks noChangeArrowheads="1"/>
          </p:cNvSpPr>
          <p:nvPr/>
        </p:nvSpPr>
        <p:spPr bwMode="auto">
          <a:xfrm>
            <a:off x="5410200"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Map 0</a:t>
            </a:r>
          </a:p>
        </p:txBody>
      </p:sp>
      <p:sp>
        <p:nvSpPr>
          <p:cNvPr id="8" name="Oval 7"/>
          <p:cNvSpPr>
            <a:spLocks noChangeArrowheads="1"/>
          </p:cNvSpPr>
          <p:nvPr/>
        </p:nvSpPr>
        <p:spPr bwMode="auto">
          <a:xfrm>
            <a:off x="6764338" y="1676400"/>
            <a:ext cx="56832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1</a:t>
            </a:r>
          </a:p>
        </p:txBody>
      </p:sp>
      <p:sp>
        <p:nvSpPr>
          <p:cNvPr id="9" name="Line 8"/>
          <p:cNvSpPr>
            <a:spLocks noChangeShapeType="1"/>
          </p:cNvSpPr>
          <p:nvPr/>
        </p:nvSpPr>
        <p:spPr bwMode="auto">
          <a:xfrm>
            <a:off x="7070725" y="2209800"/>
            <a:ext cx="1588" cy="381000"/>
          </a:xfrm>
          <a:prstGeom prst="line">
            <a:avLst/>
          </a:prstGeom>
          <a:noFill/>
          <a:ln w="9360">
            <a:solidFill>
              <a:srgbClr val="000000"/>
            </a:solidFill>
            <a:miter lim="800000"/>
            <a:headEnd/>
            <a:tailEnd type="triangle" w="med" len="med"/>
          </a:ln>
          <a:effectLst/>
        </p:spPr>
        <p:txBody>
          <a:bodyPr/>
          <a:lstStyle/>
          <a:p>
            <a:endParaRPr lang="en-US"/>
          </a:p>
        </p:txBody>
      </p:sp>
      <p:sp>
        <p:nvSpPr>
          <p:cNvPr id="10" name="Rectangle 9"/>
          <p:cNvSpPr>
            <a:spLocks noChangeArrowheads="1"/>
          </p:cNvSpPr>
          <p:nvPr/>
        </p:nvSpPr>
        <p:spPr bwMode="auto">
          <a:xfrm>
            <a:off x="6634163"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dirty="0">
                <a:solidFill>
                  <a:schemeClr val="bg1"/>
                </a:solidFill>
                <a:cs typeface="Arial" charset="0"/>
              </a:rPr>
              <a:t>Map 1</a:t>
            </a:r>
          </a:p>
        </p:txBody>
      </p:sp>
      <p:sp>
        <p:nvSpPr>
          <p:cNvPr id="11" name="Oval 10"/>
          <p:cNvSpPr>
            <a:spLocks noChangeArrowheads="1"/>
          </p:cNvSpPr>
          <p:nvPr/>
        </p:nvSpPr>
        <p:spPr bwMode="auto">
          <a:xfrm>
            <a:off x="7943850" y="1676400"/>
            <a:ext cx="56832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Input 2</a:t>
            </a:r>
          </a:p>
        </p:txBody>
      </p:sp>
      <p:sp>
        <p:nvSpPr>
          <p:cNvPr id="12" name="Line 11"/>
          <p:cNvSpPr>
            <a:spLocks noChangeShapeType="1"/>
          </p:cNvSpPr>
          <p:nvPr/>
        </p:nvSpPr>
        <p:spPr bwMode="auto">
          <a:xfrm>
            <a:off x="8205788" y="2209800"/>
            <a:ext cx="1587" cy="381000"/>
          </a:xfrm>
          <a:prstGeom prst="line">
            <a:avLst/>
          </a:prstGeom>
          <a:noFill/>
          <a:ln w="9360">
            <a:solidFill>
              <a:srgbClr val="000000"/>
            </a:solidFill>
            <a:miter lim="800000"/>
            <a:headEnd/>
            <a:tailEnd type="triangle" w="med" len="med"/>
          </a:ln>
          <a:effectLst/>
        </p:spPr>
        <p:txBody>
          <a:bodyPr/>
          <a:lstStyle/>
          <a:p>
            <a:endParaRPr lang="en-US"/>
          </a:p>
        </p:txBody>
      </p:sp>
      <p:sp>
        <p:nvSpPr>
          <p:cNvPr id="13" name="Rectangle 12"/>
          <p:cNvSpPr>
            <a:spLocks noChangeArrowheads="1"/>
          </p:cNvSpPr>
          <p:nvPr/>
        </p:nvSpPr>
        <p:spPr bwMode="auto">
          <a:xfrm>
            <a:off x="7813675" y="2590800"/>
            <a:ext cx="873125" cy="685800"/>
          </a:xfrm>
          <a:prstGeom prst="rect">
            <a:avLst/>
          </a:prstGeom>
          <a:ln>
            <a:headEnd/>
            <a:tailEnd/>
          </a:ln>
        </p:spPr>
        <p:style>
          <a:lnRef idx="2">
            <a:schemeClr val="accent2">
              <a:shade val="50000"/>
            </a:schemeClr>
          </a:lnRef>
          <a:fillRef idx="1">
            <a:schemeClr val="accent2"/>
          </a:fillRef>
          <a:effectRef idx="0">
            <a:schemeClr val="accent2"/>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Map 2</a:t>
            </a:r>
          </a:p>
        </p:txBody>
      </p:sp>
      <p:sp>
        <p:nvSpPr>
          <p:cNvPr id="14" name="AutoShape 13"/>
          <p:cNvSpPr>
            <a:spLocks noChangeArrowheads="1"/>
          </p:cNvSpPr>
          <p:nvPr/>
        </p:nvSpPr>
        <p:spPr bwMode="auto">
          <a:xfrm>
            <a:off x="5716588" y="4267200"/>
            <a:ext cx="1004887" cy="762000"/>
          </a:xfrm>
          <a:prstGeom prst="roundRect">
            <a:avLst>
              <a:gd name="adj" fmla="val 166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dirty="0">
                <a:solidFill>
                  <a:schemeClr val="bg1"/>
                </a:solidFill>
                <a:cs typeface="Arial" charset="0"/>
              </a:rPr>
              <a:t>Reduce 0</a:t>
            </a:r>
          </a:p>
        </p:txBody>
      </p:sp>
      <p:sp>
        <p:nvSpPr>
          <p:cNvPr id="15" name="AutoShape 14"/>
          <p:cNvSpPr>
            <a:spLocks noChangeArrowheads="1"/>
          </p:cNvSpPr>
          <p:nvPr/>
        </p:nvSpPr>
        <p:spPr bwMode="auto">
          <a:xfrm>
            <a:off x="7462838" y="4267200"/>
            <a:ext cx="1004887" cy="762000"/>
          </a:xfrm>
          <a:prstGeom prst="roundRect">
            <a:avLst>
              <a:gd name="adj" fmla="val 16667"/>
            </a:avLst>
          </a:prstGeom>
          <a:ln>
            <a:headEnd/>
            <a:tailEnd/>
          </a:ln>
        </p:spPr>
        <p:style>
          <a:lnRef idx="2">
            <a:schemeClr val="accent4">
              <a:shade val="50000"/>
            </a:schemeClr>
          </a:lnRef>
          <a:fillRef idx="1">
            <a:schemeClr val="accent4"/>
          </a:fillRef>
          <a:effectRef idx="0">
            <a:schemeClr val="accent4"/>
          </a:effectRef>
          <a:fontRef idx="minor">
            <a:schemeClr val="lt1"/>
          </a:fontRef>
        </p:style>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600" b="1">
                <a:solidFill>
                  <a:schemeClr val="bg1"/>
                </a:solidFill>
                <a:cs typeface="Arial" charset="0"/>
              </a:rPr>
              <a:t>Reduce 1</a:t>
            </a:r>
          </a:p>
        </p:txBody>
      </p:sp>
      <p:sp>
        <p:nvSpPr>
          <p:cNvPr id="16" name="Line 15"/>
          <p:cNvSpPr>
            <a:spLocks noChangeShapeType="1"/>
          </p:cNvSpPr>
          <p:nvPr/>
        </p:nvSpPr>
        <p:spPr bwMode="auto">
          <a:xfrm>
            <a:off x="5803900" y="3276600"/>
            <a:ext cx="349250" cy="990600"/>
          </a:xfrm>
          <a:prstGeom prst="line">
            <a:avLst/>
          </a:prstGeom>
          <a:noFill/>
          <a:ln w="9360">
            <a:solidFill>
              <a:srgbClr val="000000"/>
            </a:solidFill>
            <a:miter lim="800000"/>
            <a:headEnd/>
            <a:tailEnd type="triangle" w="med" len="med"/>
          </a:ln>
          <a:effectLst/>
        </p:spPr>
        <p:txBody>
          <a:bodyPr/>
          <a:lstStyle/>
          <a:p>
            <a:endParaRPr lang="en-US"/>
          </a:p>
        </p:txBody>
      </p:sp>
      <p:sp>
        <p:nvSpPr>
          <p:cNvPr id="17" name="Line 16"/>
          <p:cNvSpPr>
            <a:spLocks noChangeShapeType="1"/>
          </p:cNvSpPr>
          <p:nvPr/>
        </p:nvSpPr>
        <p:spPr bwMode="auto">
          <a:xfrm>
            <a:off x="5803900" y="3276600"/>
            <a:ext cx="21844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18" name="Line 17"/>
          <p:cNvSpPr>
            <a:spLocks noChangeShapeType="1"/>
          </p:cNvSpPr>
          <p:nvPr/>
        </p:nvSpPr>
        <p:spPr bwMode="auto">
          <a:xfrm flipH="1">
            <a:off x="6148388" y="3276600"/>
            <a:ext cx="839787" cy="990600"/>
          </a:xfrm>
          <a:prstGeom prst="line">
            <a:avLst/>
          </a:prstGeom>
          <a:noFill/>
          <a:ln w="9360">
            <a:solidFill>
              <a:srgbClr val="000000"/>
            </a:solidFill>
            <a:miter lim="800000"/>
            <a:headEnd/>
            <a:tailEnd type="triangle" w="med" len="med"/>
          </a:ln>
          <a:effectLst/>
        </p:spPr>
        <p:txBody>
          <a:bodyPr/>
          <a:lstStyle/>
          <a:p>
            <a:endParaRPr lang="en-US"/>
          </a:p>
        </p:txBody>
      </p:sp>
      <p:sp>
        <p:nvSpPr>
          <p:cNvPr id="19" name="Line 18"/>
          <p:cNvSpPr>
            <a:spLocks noChangeShapeType="1"/>
          </p:cNvSpPr>
          <p:nvPr/>
        </p:nvSpPr>
        <p:spPr bwMode="auto">
          <a:xfrm>
            <a:off x="7026275" y="3276600"/>
            <a:ext cx="962025" cy="990600"/>
          </a:xfrm>
          <a:prstGeom prst="line">
            <a:avLst/>
          </a:prstGeom>
          <a:noFill/>
          <a:ln w="9360">
            <a:solidFill>
              <a:srgbClr val="000000"/>
            </a:solidFill>
            <a:miter lim="800000"/>
            <a:headEnd/>
            <a:tailEnd type="triangle" w="med" len="med"/>
          </a:ln>
          <a:effectLst/>
        </p:spPr>
        <p:txBody>
          <a:bodyPr/>
          <a:lstStyle/>
          <a:p>
            <a:endParaRPr lang="en-US"/>
          </a:p>
        </p:txBody>
      </p:sp>
      <p:sp>
        <p:nvSpPr>
          <p:cNvPr id="20" name="Line 19"/>
          <p:cNvSpPr>
            <a:spLocks noChangeShapeType="1"/>
          </p:cNvSpPr>
          <p:nvPr/>
        </p:nvSpPr>
        <p:spPr bwMode="auto">
          <a:xfrm flipH="1">
            <a:off x="6235700" y="3276600"/>
            <a:ext cx="20193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21" name="Line 20"/>
          <p:cNvSpPr>
            <a:spLocks noChangeShapeType="1"/>
          </p:cNvSpPr>
          <p:nvPr/>
        </p:nvSpPr>
        <p:spPr bwMode="auto">
          <a:xfrm flipH="1">
            <a:off x="8026400" y="3276600"/>
            <a:ext cx="228600" cy="990600"/>
          </a:xfrm>
          <a:prstGeom prst="line">
            <a:avLst/>
          </a:prstGeom>
          <a:noFill/>
          <a:ln w="9360">
            <a:solidFill>
              <a:srgbClr val="000000"/>
            </a:solidFill>
            <a:miter lim="800000"/>
            <a:headEnd/>
            <a:tailEnd type="triangle" w="med" len="med"/>
          </a:ln>
          <a:effectLst/>
        </p:spPr>
        <p:txBody>
          <a:bodyPr/>
          <a:lstStyle/>
          <a:p>
            <a:endParaRPr lang="en-US"/>
          </a:p>
        </p:txBody>
      </p:sp>
      <p:sp>
        <p:nvSpPr>
          <p:cNvPr id="22" name="Oval 21"/>
          <p:cNvSpPr>
            <a:spLocks noChangeArrowheads="1"/>
          </p:cNvSpPr>
          <p:nvPr/>
        </p:nvSpPr>
        <p:spPr bwMode="auto">
          <a:xfrm>
            <a:off x="5867400" y="5486400"/>
            <a:ext cx="619125" cy="6096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Out 0</a:t>
            </a:r>
          </a:p>
        </p:txBody>
      </p:sp>
      <p:sp>
        <p:nvSpPr>
          <p:cNvPr id="23" name="Oval 22"/>
          <p:cNvSpPr>
            <a:spLocks noChangeArrowheads="1"/>
          </p:cNvSpPr>
          <p:nvPr/>
        </p:nvSpPr>
        <p:spPr bwMode="auto">
          <a:xfrm>
            <a:off x="7769225" y="5486400"/>
            <a:ext cx="536575" cy="533400"/>
          </a:xfrm>
          <a:prstGeom prst="ellipse">
            <a:avLst/>
          </a:prstGeom>
          <a:solidFill>
            <a:srgbClr val="BBE0E3"/>
          </a:solidFill>
          <a:ln w="9360">
            <a:solidFill>
              <a:srgbClr val="000000"/>
            </a:solidFill>
            <a:miter lim="800000"/>
            <a:headEnd/>
            <a:tailEnd/>
          </a:ln>
          <a:effectLst/>
        </p:spPr>
        <p:txBody>
          <a:bodyPr wrap="none" lIns="90000" tIns="46800" rIns="90000" bIns="46800" anchor="ctr"/>
          <a:lstStyle/>
          <a:p>
            <a:pPr algn="ct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sz="1400">
                <a:solidFill>
                  <a:srgbClr val="000000"/>
                </a:solidFill>
                <a:cs typeface="Arial" charset="0"/>
              </a:rPr>
              <a:t>Out 1</a:t>
            </a:r>
          </a:p>
        </p:txBody>
      </p:sp>
      <p:sp>
        <p:nvSpPr>
          <p:cNvPr id="24" name="Line 23"/>
          <p:cNvSpPr>
            <a:spLocks noChangeShapeType="1"/>
          </p:cNvSpPr>
          <p:nvPr/>
        </p:nvSpPr>
        <p:spPr bwMode="auto">
          <a:xfrm>
            <a:off x="6196013" y="5029200"/>
            <a:ext cx="1587" cy="457200"/>
          </a:xfrm>
          <a:prstGeom prst="line">
            <a:avLst/>
          </a:prstGeom>
          <a:noFill/>
          <a:ln w="9360">
            <a:solidFill>
              <a:srgbClr val="000000"/>
            </a:solidFill>
            <a:miter lim="800000"/>
            <a:headEnd/>
            <a:tailEnd type="triangle" w="med" len="med"/>
          </a:ln>
          <a:effectLst/>
        </p:spPr>
        <p:txBody>
          <a:bodyPr/>
          <a:lstStyle/>
          <a:p>
            <a:endParaRPr lang="en-US"/>
          </a:p>
        </p:txBody>
      </p:sp>
      <p:sp>
        <p:nvSpPr>
          <p:cNvPr id="25" name="Line 24"/>
          <p:cNvSpPr>
            <a:spLocks noChangeShapeType="1"/>
          </p:cNvSpPr>
          <p:nvPr/>
        </p:nvSpPr>
        <p:spPr bwMode="auto">
          <a:xfrm>
            <a:off x="8031163" y="5029200"/>
            <a:ext cx="1587" cy="457200"/>
          </a:xfrm>
          <a:prstGeom prst="line">
            <a:avLst/>
          </a:prstGeom>
          <a:noFill/>
          <a:ln w="9360">
            <a:solidFill>
              <a:srgbClr val="000000"/>
            </a:solidFill>
            <a:miter lim="800000"/>
            <a:headEnd/>
            <a:tailEnd type="triangle" w="med" len="med"/>
          </a:ln>
          <a:effectLst/>
        </p:spPr>
        <p:txBody>
          <a:bodyPr/>
          <a:lstStyle/>
          <a:p>
            <a:endParaRPr lang="en-US"/>
          </a:p>
        </p:txBody>
      </p:sp>
      <p:sp>
        <p:nvSpPr>
          <p:cNvPr id="26" name="Rectangle 25"/>
          <p:cNvSpPr>
            <a:spLocks noChangeArrowheads="1"/>
          </p:cNvSpPr>
          <p:nvPr/>
        </p:nvSpPr>
        <p:spPr bwMode="auto">
          <a:xfrm>
            <a:off x="5410200" y="3657600"/>
            <a:ext cx="3276600" cy="228600"/>
          </a:xfrm>
          <a:prstGeom prst="rect">
            <a:avLst/>
          </a:prstGeom>
          <a:solidFill>
            <a:srgbClr val="BBE0E3"/>
          </a:solidFill>
          <a:ln w="9525">
            <a:noFill/>
            <a:round/>
            <a:headEnd/>
            <a:tailEnd/>
          </a:ln>
          <a:effectLst/>
        </p:spPr>
        <p:txBody>
          <a:bodyPr wrap="none" anchor="ctr"/>
          <a:lstStyle/>
          <a:p>
            <a:endParaRPr lang="en-US"/>
          </a:p>
        </p:txBody>
      </p:sp>
      <p:sp>
        <p:nvSpPr>
          <p:cNvPr id="27" name="Text Box 26"/>
          <p:cNvSpPr txBox="1">
            <a:spLocks noChangeArrowheads="1"/>
          </p:cNvSpPr>
          <p:nvPr/>
        </p:nvSpPr>
        <p:spPr bwMode="auto">
          <a:xfrm>
            <a:off x="6629400" y="3581400"/>
            <a:ext cx="892175" cy="366713"/>
          </a:xfrm>
          <a:prstGeom prst="rect">
            <a:avLst/>
          </a:prstGeom>
          <a:noFill/>
          <a:ln w="9525">
            <a:noFill/>
            <a:round/>
            <a:headEnd/>
            <a:tailEnd/>
          </a:ln>
          <a:effectLst/>
        </p:spPr>
        <p:txBody>
          <a:bodyPr wrap="none" lIns="90000" tIns="46800" rIns="90000" bIns="46800">
            <a:spAutoFit/>
          </a:bodyPr>
          <a:lstStyle/>
          <a:p>
            <a:pPr defTabSz="457200">
              <a:buClr>
                <a:srgbClr val="000000"/>
              </a:buClr>
              <a:buSzPct val="100000"/>
              <a:buFont typeface="Arial"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GB">
                <a:solidFill>
                  <a:srgbClr val="000000"/>
                </a:solidFill>
                <a:cs typeface="Arial" charset="0"/>
              </a:rPr>
              <a:t>Shuffle</a:t>
            </a:r>
          </a:p>
        </p:txBody>
      </p:sp>
      <p:sp>
        <p:nvSpPr>
          <p:cNvPr id="33" name="Slide Number Placeholder 32"/>
          <p:cNvSpPr>
            <a:spLocks noGrp="1"/>
          </p:cNvSpPr>
          <p:nvPr>
            <p:ph type="sldNum" sz="quarter" idx="12"/>
          </p:nvPr>
        </p:nvSpPr>
        <p:spPr/>
        <p:txBody>
          <a:bodyPr/>
          <a:lstStyle/>
          <a:p>
            <a:fld id="{19B12225-5612-419B-A8D5-4B8EEE4C217E}" type="slidenum">
              <a:rPr lang="en-US" smtClean="0"/>
              <a:pPr/>
              <a:t>22</a:t>
            </a:fld>
            <a:endParaRPr lang="en-US"/>
          </a:p>
        </p:txBody>
      </p:sp>
      <p:sp>
        <p:nvSpPr>
          <p:cNvPr id="34" name="Footer Placeholder 33"/>
          <p:cNvSpPr>
            <a:spLocks noGrp="1"/>
          </p:cNvSpPr>
          <p:nvPr>
            <p:ph type="ftr" sz="quarter" idx="11"/>
          </p:nvPr>
        </p:nvSpPr>
        <p:spPr/>
        <p:txBody>
          <a:bodyPr/>
          <a:lstStyle/>
          <a:p>
            <a:r>
              <a:rPr lang="en-US"/>
              <a:t>J. Leskovec, A. Rajaraman, J. Ullman: Mining of Massive Datasets, http://www.mmds.org</a:t>
            </a:r>
          </a:p>
        </p:txBody>
      </p:sp>
    </p:spTree>
    <p:extLst>
      <p:ext uri="{BB962C8B-B14F-4D97-AF65-F5344CB8AC3E}">
        <p14:creationId xmlns:p14="http://schemas.microsoft.com/office/powerpoint/2010/main" val="56991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0">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r>
              <a:rPr lang="en-US" dirty="0"/>
              <a:t>Data Flow</a:t>
            </a:r>
          </a:p>
        </p:txBody>
      </p:sp>
      <p:sp>
        <p:nvSpPr>
          <p:cNvPr id="91139" name="Rectangle 3"/>
          <p:cNvSpPr>
            <a:spLocks noGrp="1" noChangeArrowheads="1"/>
          </p:cNvSpPr>
          <p:nvPr>
            <p:ph type="body" idx="1"/>
          </p:nvPr>
        </p:nvSpPr>
        <p:spPr/>
        <p:txBody>
          <a:bodyPr/>
          <a:lstStyle/>
          <a:p>
            <a:r>
              <a:rPr lang="en-US" b="1" dirty="0">
                <a:solidFill>
                  <a:schemeClr val="accent4"/>
                </a:solidFill>
              </a:rPr>
              <a:t>Input and final output </a:t>
            </a:r>
            <a:r>
              <a:rPr lang="en-US" b="1" dirty="0"/>
              <a:t>are stored on a</a:t>
            </a:r>
            <a:r>
              <a:rPr lang="en-US" b="1" dirty="0">
                <a:solidFill>
                  <a:schemeClr val="accent4"/>
                </a:solidFill>
              </a:rPr>
              <a:t> distributed file system (FS):</a:t>
            </a:r>
          </a:p>
          <a:p>
            <a:pPr lvl="1"/>
            <a:r>
              <a:rPr lang="en-US" dirty="0"/>
              <a:t>Scheduler tries to schedule map tasks “close” to physical storage location of input data</a:t>
            </a:r>
          </a:p>
          <a:p>
            <a:pPr lvl="8"/>
            <a:endParaRPr lang="en-US" dirty="0"/>
          </a:p>
          <a:p>
            <a:r>
              <a:rPr lang="en-US" b="1" dirty="0">
                <a:solidFill>
                  <a:schemeClr val="accent2"/>
                </a:solidFill>
              </a:rPr>
              <a:t>Intermediate results</a:t>
            </a:r>
            <a:r>
              <a:rPr lang="en-US" b="1" dirty="0"/>
              <a:t> are stored on </a:t>
            </a:r>
            <a:r>
              <a:rPr lang="en-US" b="1" dirty="0">
                <a:solidFill>
                  <a:schemeClr val="accent2"/>
                </a:solidFill>
              </a:rPr>
              <a:t>local FS</a:t>
            </a:r>
            <a:r>
              <a:rPr lang="en-US" b="1" dirty="0"/>
              <a:t> </a:t>
            </a:r>
            <a:br>
              <a:rPr lang="en-US" b="1" dirty="0"/>
            </a:br>
            <a:r>
              <a:rPr lang="en-US" b="1" dirty="0"/>
              <a:t>of Map and Reduce workers</a:t>
            </a:r>
          </a:p>
          <a:p>
            <a:pPr lvl="8"/>
            <a:endParaRPr lang="en-US" dirty="0"/>
          </a:p>
          <a:p>
            <a:r>
              <a:rPr lang="en-US" b="1" dirty="0"/>
              <a:t>Output is often input to another </a:t>
            </a:r>
            <a:br>
              <a:rPr lang="en-US" b="1" dirty="0"/>
            </a:br>
            <a:r>
              <a:rPr lang="en-US" b="1" dirty="0" err="1"/>
              <a:t>MapReduce</a:t>
            </a:r>
            <a:r>
              <a:rPr lang="en-US" b="1" dirty="0"/>
              <a:t> task</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23</a:t>
            </a:fld>
            <a:endParaRPr lang="en-US"/>
          </a:p>
        </p:txBody>
      </p:sp>
    </p:spTree>
    <p:extLst>
      <p:ext uri="{BB962C8B-B14F-4D97-AF65-F5344CB8AC3E}">
        <p14:creationId xmlns:p14="http://schemas.microsoft.com/office/powerpoint/2010/main" val="139613116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r>
              <a:rPr lang="en-US" dirty="0"/>
              <a:t>Coordination: Master</a:t>
            </a:r>
          </a:p>
        </p:txBody>
      </p:sp>
      <p:sp>
        <p:nvSpPr>
          <p:cNvPr id="92163" name="Rectangle 3"/>
          <p:cNvSpPr>
            <a:spLocks noGrp="1" noChangeArrowheads="1"/>
          </p:cNvSpPr>
          <p:nvPr>
            <p:ph idx="1"/>
          </p:nvPr>
        </p:nvSpPr>
        <p:spPr/>
        <p:txBody>
          <a:bodyPr>
            <a:normAutofit/>
          </a:bodyPr>
          <a:lstStyle/>
          <a:p>
            <a:r>
              <a:rPr lang="en-US" b="1" dirty="0">
                <a:solidFill>
                  <a:schemeClr val="accent3"/>
                </a:solidFill>
              </a:rPr>
              <a:t>Master node takes care of coordination:</a:t>
            </a:r>
          </a:p>
          <a:p>
            <a:pPr lvl="1"/>
            <a:r>
              <a:rPr lang="en-US" b="1" dirty="0"/>
              <a:t>Task status:</a:t>
            </a:r>
            <a:r>
              <a:rPr lang="en-US" dirty="0"/>
              <a:t> (idle, in-progress, completed)</a:t>
            </a:r>
          </a:p>
          <a:p>
            <a:pPr lvl="1"/>
            <a:r>
              <a:rPr lang="en-US" b="1" dirty="0"/>
              <a:t>Idle tasks</a:t>
            </a:r>
            <a:r>
              <a:rPr lang="en-US" dirty="0"/>
              <a:t> get scheduled as workers become available</a:t>
            </a:r>
          </a:p>
          <a:p>
            <a:pPr lvl="1"/>
            <a:r>
              <a:rPr lang="en-US" dirty="0"/>
              <a:t>When a map task completes, it sends the master the location and sizes of its </a:t>
            </a:r>
            <a:r>
              <a:rPr lang="en-US" i="1" dirty="0"/>
              <a:t>R</a:t>
            </a:r>
            <a:r>
              <a:rPr lang="en-US" dirty="0"/>
              <a:t> intermediate files, one for each reducer</a:t>
            </a:r>
          </a:p>
          <a:p>
            <a:pPr lvl="1"/>
            <a:r>
              <a:rPr lang="en-US" dirty="0"/>
              <a:t>Master pushes this info to reducers</a:t>
            </a:r>
          </a:p>
          <a:p>
            <a:pPr lvl="7"/>
            <a:endParaRPr lang="en-US" dirty="0"/>
          </a:p>
          <a:p>
            <a:r>
              <a:rPr lang="en-US" dirty="0"/>
              <a:t>Master pings workers periodically to detect failures</a:t>
            </a:r>
          </a:p>
          <a:p>
            <a:pPr>
              <a:buFont typeface="Wingdings" pitchFamily="2" charset="2"/>
              <a:buNone/>
            </a:pPr>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24</a:t>
            </a:fld>
            <a:endParaRPr lang="en-US"/>
          </a:p>
        </p:txBody>
      </p:sp>
    </p:spTree>
    <p:extLst>
      <p:ext uri="{BB962C8B-B14F-4D97-AF65-F5344CB8AC3E}">
        <p14:creationId xmlns:p14="http://schemas.microsoft.com/office/powerpoint/2010/main" val="62113971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r>
              <a:rPr lang="en-US" dirty="0"/>
              <a:t>Dealing with Failures</a:t>
            </a:r>
          </a:p>
        </p:txBody>
      </p:sp>
      <p:sp>
        <p:nvSpPr>
          <p:cNvPr id="100355" name="Rectangle 3"/>
          <p:cNvSpPr>
            <a:spLocks noGrp="1" noChangeArrowheads="1"/>
          </p:cNvSpPr>
          <p:nvPr>
            <p:ph type="body" idx="1"/>
          </p:nvPr>
        </p:nvSpPr>
        <p:spPr/>
        <p:txBody>
          <a:bodyPr/>
          <a:lstStyle/>
          <a:p>
            <a:r>
              <a:rPr lang="en-US" b="1" dirty="0">
                <a:solidFill>
                  <a:schemeClr val="accent3"/>
                </a:solidFill>
              </a:rPr>
              <a:t>Map worker failure</a:t>
            </a:r>
          </a:p>
          <a:p>
            <a:pPr lvl="1"/>
            <a:r>
              <a:rPr lang="en-US" dirty="0"/>
              <a:t>Map tasks completed or in-progress at </a:t>
            </a:r>
            <a:br>
              <a:rPr lang="en-US" dirty="0"/>
            </a:br>
            <a:r>
              <a:rPr lang="en-US" dirty="0"/>
              <a:t>worker are reset to idle</a:t>
            </a:r>
          </a:p>
          <a:p>
            <a:pPr lvl="1"/>
            <a:r>
              <a:rPr lang="en-US" dirty="0"/>
              <a:t>Reduce workers are notified when task is rescheduled on another worker</a:t>
            </a:r>
          </a:p>
          <a:p>
            <a:r>
              <a:rPr lang="en-US" b="1" dirty="0">
                <a:solidFill>
                  <a:schemeClr val="accent3"/>
                </a:solidFill>
              </a:rPr>
              <a:t>Reduce worker failure</a:t>
            </a:r>
          </a:p>
          <a:p>
            <a:pPr lvl="1"/>
            <a:r>
              <a:rPr lang="en-US" dirty="0"/>
              <a:t>Only in-progress tasks are reset to idle </a:t>
            </a:r>
          </a:p>
          <a:p>
            <a:pPr lvl="1"/>
            <a:r>
              <a:rPr lang="en-US" dirty="0"/>
              <a:t>Reduce task is restarted</a:t>
            </a:r>
          </a:p>
          <a:p>
            <a:r>
              <a:rPr lang="en-US" b="1" dirty="0">
                <a:solidFill>
                  <a:schemeClr val="accent3"/>
                </a:solidFill>
              </a:rPr>
              <a:t>Master failure</a:t>
            </a:r>
          </a:p>
          <a:p>
            <a:pPr lvl="1"/>
            <a:r>
              <a:rPr lang="en-US" dirty="0" err="1"/>
              <a:t>MapReduce</a:t>
            </a:r>
            <a:r>
              <a:rPr lang="en-US" dirty="0"/>
              <a:t> task is aborted and client is notified</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25</a:t>
            </a:fld>
            <a:endParaRPr lang="en-US"/>
          </a:p>
        </p:txBody>
      </p:sp>
    </p:spTree>
    <p:extLst>
      <p:ext uri="{BB962C8B-B14F-4D97-AF65-F5344CB8AC3E}">
        <p14:creationId xmlns:p14="http://schemas.microsoft.com/office/powerpoint/2010/main" val="298306591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457200" y="76200"/>
            <a:ext cx="8686800" cy="987552"/>
          </a:xfrm>
        </p:spPr>
        <p:txBody>
          <a:bodyPr>
            <a:normAutofit/>
          </a:bodyPr>
          <a:lstStyle/>
          <a:p>
            <a:r>
              <a:rPr lang="en-US" dirty="0"/>
              <a:t>How many Map and Reduce jobs?</a:t>
            </a:r>
          </a:p>
        </p:txBody>
      </p:sp>
      <p:sp>
        <p:nvSpPr>
          <p:cNvPr id="98307" name="Rectangle 3"/>
          <p:cNvSpPr>
            <a:spLocks noGrp="1" noChangeArrowheads="1"/>
          </p:cNvSpPr>
          <p:nvPr>
            <p:ph idx="1"/>
          </p:nvPr>
        </p:nvSpPr>
        <p:spPr>
          <a:xfrm>
            <a:off x="457200" y="1295400"/>
            <a:ext cx="7924800" cy="5257801"/>
          </a:xfrm>
        </p:spPr>
        <p:txBody>
          <a:bodyPr/>
          <a:lstStyle/>
          <a:p>
            <a:r>
              <a:rPr lang="en-US" i="1" dirty="0"/>
              <a:t>M</a:t>
            </a:r>
            <a:r>
              <a:rPr lang="en-US" dirty="0"/>
              <a:t> map tasks, </a:t>
            </a:r>
            <a:r>
              <a:rPr lang="en-US" i="1" dirty="0"/>
              <a:t>R</a:t>
            </a:r>
            <a:r>
              <a:rPr lang="en-US" dirty="0"/>
              <a:t> reduce tasks</a:t>
            </a:r>
          </a:p>
          <a:p>
            <a:r>
              <a:rPr lang="en-US" b="1" dirty="0">
                <a:solidFill>
                  <a:schemeClr val="accent3"/>
                </a:solidFill>
              </a:rPr>
              <a:t>Rule of a thumb:</a:t>
            </a:r>
          </a:p>
          <a:p>
            <a:pPr lvl="1"/>
            <a:r>
              <a:rPr lang="en-US" dirty="0"/>
              <a:t>Make </a:t>
            </a:r>
            <a:r>
              <a:rPr lang="en-US" i="1" dirty="0"/>
              <a:t>M</a:t>
            </a:r>
            <a:r>
              <a:rPr lang="en-US" dirty="0"/>
              <a:t> much larger than the number of nodes in the cluster</a:t>
            </a:r>
          </a:p>
          <a:p>
            <a:pPr lvl="1"/>
            <a:r>
              <a:rPr lang="en-US" dirty="0"/>
              <a:t>One DFS chunk per map is common</a:t>
            </a:r>
          </a:p>
          <a:p>
            <a:pPr lvl="1"/>
            <a:r>
              <a:rPr lang="en-US" dirty="0"/>
              <a:t>Improves dynamic load balancing and speeds up recovery from worker failures</a:t>
            </a:r>
          </a:p>
          <a:p>
            <a:r>
              <a:rPr lang="en-US" b="1" dirty="0"/>
              <a:t>Usually </a:t>
            </a:r>
            <a:r>
              <a:rPr lang="en-US" b="1" i="1" dirty="0"/>
              <a:t>R</a:t>
            </a:r>
            <a:r>
              <a:rPr lang="en-US" b="1" dirty="0"/>
              <a:t> is smaller than </a:t>
            </a:r>
            <a:r>
              <a:rPr lang="en-US" b="1" i="1" dirty="0"/>
              <a:t>M</a:t>
            </a:r>
          </a:p>
          <a:p>
            <a:pPr lvl="1"/>
            <a:r>
              <a:rPr lang="en-US" dirty="0"/>
              <a:t>Because output is spread across </a:t>
            </a:r>
            <a:r>
              <a:rPr lang="en-US" i="1" dirty="0"/>
              <a:t>R</a:t>
            </a:r>
            <a:r>
              <a:rPr lang="en-US" dirty="0"/>
              <a:t> files</a:t>
            </a:r>
          </a:p>
          <a:p>
            <a:pPr lvl="1"/>
            <a:endParaRPr lang="en-US" dirty="0"/>
          </a:p>
          <a:p>
            <a:pPr lvl="1"/>
            <a:endParaRPr lang="en-US" dirty="0"/>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7" name="Slide Number Placeholder 6"/>
          <p:cNvSpPr>
            <a:spLocks noGrp="1"/>
          </p:cNvSpPr>
          <p:nvPr>
            <p:ph type="sldNum" sz="quarter" idx="12"/>
          </p:nvPr>
        </p:nvSpPr>
        <p:spPr/>
        <p:txBody>
          <a:bodyPr/>
          <a:lstStyle/>
          <a:p>
            <a:fld id="{19B12225-5612-419B-A8D5-4B8EEE4C217E}" type="slidenum">
              <a:rPr lang="en-US" smtClean="0"/>
              <a:pPr/>
              <a:t>26</a:t>
            </a:fld>
            <a:endParaRPr lang="en-US"/>
          </a:p>
        </p:txBody>
      </p:sp>
    </p:spTree>
    <p:extLst>
      <p:ext uri="{BB962C8B-B14F-4D97-AF65-F5344CB8AC3E}">
        <p14:creationId xmlns:p14="http://schemas.microsoft.com/office/powerpoint/2010/main" val="364254668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normAutofit/>
          </a:bodyPr>
          <a:lstStyle/>
          <a:p>
            <a:r>
              <a:rPr lang="en-US" dirty="0"/>
              <a:t>Task Granularity &amp; Pipelining</a:t>
            </a:r>
          </a:p>
        </p:txBody>
      </p:sp>
      <p:sp>
        <p:nvSpPr>
          <p:cNvPr id="13321" name="Rectangle 9"/>
          <p:cNvSpPr>
            <a:spLocks noGrp="1" noChangeArrowheads="1"/>
          </p:cNvSpPr>
          <p:nvPr>
            <p:ph idx="1"/>
          </p:nvPr>
        </p:nvSpPr>
        <p:spPr>
          <a:xfrm>
            <a:off x="457200" y="1295400"/>
            <a:ext cx="8382000" cy="5257801"/>
          </a:xfrm>
        </p:spPr>
        <p:txBody>
          <a:bodyPr>
            <a:normAutofit/>
          </a:bodyPr>
          <a:lstStyle/>
          <a:p>
            <a:r>
              <a:rPr lang="en-US" b="1" dirty="0">
                <a:solidFill>
                  <a:schemeClr val="accent3"/>
                </a:solidFill>
              </a:rPr>
              <a:t>Fine granularity tasks:</a:t>
            </a:r>
            <a:r>
              <a:rPr lang="en-US" dirty="0">
                <a:solidFill>
                  <a:schemeClr val="accent3"/>
                </a:solidFill>
              </a:rPr>
              <a:t>  </a:t>
            </a:r>
            <a:r>
              <a:rPr lang="en-US" dirty="0"/>
              <a:t>map tasks &gt;&gt; machines</a:t>
            </a:r>
          </a:p>
          <a:p>
            <a:pPr lvl="1"/>
            <a:r>
              <a:rPr lang="en-US" dirty="0"/>
              <a:t>Minimizes time for fault recovery</a:t>
            </a:r>
          </a:p>
          <a:p>
            <a:pPr lvl="1"/>
            <a:r>
              <a:rPr lang="en-US" dirty="0"/>
              <a:t>Can do pipeline shuffling with map execution</a:t>
            </a:r>
          </a:p>
          <a:p>
            <a:pPr lvl="1"/>
            <a:r>
              <a:rPr lang="en-US" dirty="0"/>
              <a:t>Better dynamic load balancing </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27</a:t>
            </a:fld>
            <a:endParaRPr lang="en-US"/>
          </a:p>
        </p:txBody>
      </p:sp>
      <p:pic>
        <p:nvPicPr>
          <p:cNvPr id="13318" name="Picture 6" descr="index-auto-0009-0001"/>
          <p:cNvPicPr>
            <a:picLocks noChangeAspect="1" noChangeArrowheads="1"/>
          </p:cNvPicPr>
          <p:nvPr/>
        </p:nvPicPr>
        <p:blipFill>
          <a:blip r:embed="rId3" cstate="print"/>
          <a:srcRect/>
          <a:stretch>
            <a:fillRect/>
          </a:stretch>
        </p:blipFill>
        <p:spPr bwMode="auto">
          <a:xfrm>
            <a:off x="857250" y="3505200"/>
            <a:ext cx="7753350" cy="2590800"/>
          </a:xfrm>
          <a:prstGeom prst="rect">
            <a:avLst/>
          </a:prstGeom>
          <a:noFill/>
        </p:spPr>
      </p:pic>
      <p:sp>
        <p:nvSpPr>
          <p:cNvPr id="13319" name="Rectangle 7"/>
          <p:cNvSpPr>
            <a:spLocks noChangeArrowheads="1"/>
          </p:cNvSpPr>
          <p:nvPr/>
        </p:nvSpPr>
        <p:spPr bwMode="auto">
          <a:xfrm>
            <a:off x="228600" y="228600"/>
            <a:ext cx="8229600" cy="990600"/>
          </a:xfrm>
          <a:prstGeom prst="rect">
            <a:avLst/>
          </a:prstGeom>
          <a:noFill/>
          <a:ln w="9525">
            <a:noFill/>
            <a:miter lim="800000"/>
            <a:headEnd/>
            <a:tailEnd/>
          </a:ln>
          <a:effectLst/>
        </p:spPr>
        <p:txBody>
          <a:bodyPr anchor="ctr"/>
          <a:lstStyle/>
          <a:p>
            <a:pPr>
              <a:tabLst>
                <a:tab pos="293688" algn="l"/>
                <a:tab pos="457200" algn="l"/>
              </a:tabLst>
            </a:pPr>
            <a:endParaRPr lang="en-US" b="1">
              <a:solidFill>
                <a:srgbClr val="0000FF"/>
              </a:solidFill>
              <a:latin typeface="Comic Sans MS" pitchFamily="66" charset="0"/>
            </a:endParaRPr>
          </a:p>
        </p:txBody>
      </p:sp>
    </p:spTree>
    <p:extLst>
      <p:ext uri="{BB962C8B-B14F-4D97-AF65-F5344CB8AC3E}">
        <p14:creationId xmlns:p14="http://schemas.microsoft.com/office/powerpoint/2010/main" val="27365226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Refinements: Backup Tasks</a:t>
            </a:r>
          </a:p>
        </p:txBody>
      </p:sp>
      <p:sp>
        <p:nvSpPr>
          <p:cNvPr id="3" name="Content Placeholder 2"/>
          <p:cNvSpPr>
            <a:spLocks noGrp="1"/>
          </p:cNvSpPr>
          <p:nvPr>
            <p:ph idx="1"/>
          </p:nvPr>
        </p:nvSpPr>
        <p:spPr/>
        <p:txBody>
          <a:bodyPr>
            <a:normAutofit lnSpcReduction="10000"/>
          </a:bodyPr>
          <a:lstStyle/>
          <a:p>
            <a:r>
              <a:rPr lang="en-US" b="1" dirty="0">
                <a:solidFill>
                  <a:schemeClr val="accent3"/>
                </a:solidFill>
              </a:rPr>
              <a:t>Problem</a:t>
            </a:r>
          </a:p>
          <a:p>
            <a:pPr lvl="1"/>
            <a:r>
              <a:rPr lang="en-US" dirty="0"/>
              <a:t>Slow workers significantly lengthen the job completion time:</a:t>
            </a:r>
          </a:p>
          <a:p>
            <a:pPr lvl="2"/>
            <a:r>
              <a:rPr lang="en-US" dirty="0"/>
              <a:t>Other jobs on the machine</a:t>
            </a:r>
          </a:p>
          <a:p>
            <a:pPr lvl="2"/>
            <a:r>
              <a:rPr lang="en-US" dirty="0"/>
              <a:t>Bad disks</a:t>
            </a:r>
          </a:p>
          <a:p>
            <a:pPr lvl="2"/>
            <a:r>
              <a:rPr lang="en-US" dirty="0"/>
              <a:t>Weird things</a:t>
            </a:r>
          </a:p>
          <a:p>
            <a:r>
              <a:rPr lang="en-US" b="1" dirty="0">
                <a:solidFill>
                  <a:schemeClr val="accent2"/>
                </a:solidFill>
              </a:rPr>
              <a:t>Solution</a:t>
            </a:r>
          </a:p>
          <a:p>
            <a:pPr lvl="1"/>
            <a:r>
              <a:rPr lang="en-US" dirty="0"/>
              <a:t>Near end of phase, spawn backup copies of tasks</a:t>
            </a:r>
          </a:p>
          <a:p>
            <a:pPr lvl="2"/>
            <a:r>
              <a:rPr lang="en-US" dirty="0"/>
              <a:t>Whichever one finishes first “wins”</a:t>
            </a:r>
          </a:p>
          <a:p>
            <a:r>
              <a:rPr lang="en-US" b="1" dirty="0">
                <a:solidFill>
                  <a:schemeClr val="accent4"/>
                </a:solidFill>
              </a:rPr>
              <a:t>Effect</a:t>
            </a:r>
          </a:p>
          <a:p>
            <a:pPr lvl="1"/>
            <a:r>
              <a:rPr lang="en-US" dirty="0"/>
              <a:t>Dramatically shortens job completion time</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28</a:t>
            </a:fld>
            <a:endParaRPr lang="en-US"/>
          </a:p>
        </p:txBody>
      </p:sp>
    </p:spTree>
    <p:extLst>
      <p:ext uri="{BB962C8B-B14F-4D97-AF65-F5344CB8AC3E}">
        <p14:creationId xmlns:p14="http://schemas.microsoft.com/office/powerpoint/2010/main" val="5130594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r>
              <a:rPr lang="en-US" dirty="0"/>
              <a:t>Refinement: Combiners</a:t>
            </a:r>
          </a:p>
        </p:txBody>
      </p:sp>
      <p:sp>
        <p:nvSpPr>
          <p:cNvPr id="101379" name="Rectangle 3"/>
          <p:cNvSpPr>
            <a:spLocks noGrp="1" noChangeArrowheads="1"/>
          </p:cNvSpPr>
          <p:nvPr>
            <p:ph type="body" idx="1"/>
          </p:nvPr>
        </p:nvSpPr>
        <p:spPr>
          <a:xfrm>
            <a:off x="457200" y="1295400"/>
            <a:ext cx="8229600" cy="5410200"/>
          </a:xfrm>
        </p:spPr>
        <p:txBody>
          <a:bodyPr>
            <a:normAutofit/>
          </a:bodyPr>
          <a:lstStyle/>
          <a:p>
            <a:pPr>
              <a:lnSpc>
                <a:spcPct val="90000"/>
              </a:lnSpc>
            </a:pPr>
            <a:r>
              <a:rPr lang="en-US" dirty="0"/>
              <a:t>Often a Map task will produce many pairs of the form </a:t>
            </a:r>
            <a:r>
              <a:rPr lang="en-US" i="1" dirty="0"/>
              <a:t>(k,v</a:t>
            </a:r>
            <a:r>
              <a:rPr lang="en-US" i="1" baseline="-25000" dirty="0"/>
              <a:t>1</a:t>
            </a:r>
            <a:r>
              <a:rPr lang="en-US" i="1" dirty="0"/>
              <a:t>), (k,v</a:t>
            </a:r>
            <a:r>
              <a:rPr lang="en-US" i="1" baseline="-25000" dirty="0"/>
              <a:t>2</a:t>
            </a:r>
            <a:r>
              <a:rPr lang="en-US" i="1" dirty="0"/>
              <a:t>), …</a:t>
            </a:r>
            <a:r>
              <a:rPr lang="en-US" dirty="0"/>
              <a:t> for the same key </a:t>
            </a:r>
            <a:r>
              <a:rPr lang="en-US" i="1" dirty="0"/>
              <a:t>k</a:t>
            </a:r>
          </a:p>
          <a:p>
            <a:pPr lvl="1">
              <a:lnSpc>
                <a:spcPct val="90000"/>
              </a:lnSpc>
            </a:pPr>
            <a:r>
              <a:rPr lang="en-US" dirty="0"/>
              <a:t>E.g., popular words in the word count example</a:t>
            </a:r>
          </a:p>
          <a:p>
            <a:pPr>
              <a:lnSpc>
                <a:spcPct val="90000"/>
              </a:lnSpc>
            </a:pPr>
            <a:r>
              <a:rPr lang="en-US" b="1" dirty="0"/>
              <a:t>Can save network time by </a:t>
            </a:r>
            <a:br>
              <a:rPr lang="en-US" b="1" dirty="0"/>
            </a:br>
            <a:r>
              <a:rPr lang="en-US" b="1" dirty="0">
                <a:solidFill>
                  <a:schemeClr val="accent3"/>
                </a:solidFill>
              </a:rPr>
              <a:t>pre-aggregating values in </a:t>
            </a:r>
            <a:br>
              <a:rPr lang="en-US" b="1" dirty="0">
                <a:solidFill>
                  <a:schemeClr val="accent3"/>
                </a:solidFill>
              </a:rPr>
            </a:br>
            <a:r>
              <a:rPr lang="en-US" b="1" dirty="0">
                <a:solidFill>
                  <a:schemeClr val="accent3"/>
                </a:solidFill>
              </a:rPr>
              <a:t>the mapper:</a:t>
            </a:r>
          </a:p>
          <a:p>
            <a:pPr lvl="1">
              <a:lnSpc>
                <a:spcPct val="90000"/>
              </a:lnSpc>
            </a:pPr>
            <a:r>
              <a:rPr lang="en-US" dirty="0">
                <a:latin typeface="Arial" pitchFamily="34" charset="0"/>
                <a:cs typeface="Arial" pitchFamily="34" charset="0"/>
              </a:rPr>
              <a:t>combine(k, list(v</a:t>
            </a:r>
            <a:r>
              <a:rPr lang="en-US" baseline="-25000" dirty="0">
                <a:latin typeface="Arial" pitchFamily="34" charset="0"/>
                <a:cs typeface="Arial" pitchFamily="34" charset="0"/>
              </a:rPr>
              <a:t>1</a:t>
            </a:r>
            <a:r>
              <a:rPr lang="en-US" dirty="0">
                <a:latin typeface="Arial" pitchFamily="34" charset="0"/>
                <a:cs typeface="Arial" pitchFamily="34" charset="0"/>
              </a:rPr>
              <a:t>)) </a:t>
            </a:r>
            <a:r>
              <a:rPr lang="en-US" dirty="0">
                <a:latin typeface="Arial" pitchFamily="34" charset="0"/>
                <a:cs typeface="Arial" pitchFamily="34" charset="0"/>
                <a:sym typeface="Wingdings" pitchFamily="2" charset="2"/>
              </a:rPr>
              <a:t> v</a:t>
            </a:r>
            <a:r>
              <a:rPr lang="en-US" baseline="-25000" dirty="0">
                <a:latin typeface="Arial" pitchFamily="34" charset="0"/>
                <a:cs typeface="Arial" pitchFamily="34" charset="0"/>
                <a:sym typeface="Wingdings" pitchFamily="2" charset="2"/>
              </a:rPr>
              <a:t>2</a:t>
            </a:r>
          </a:p>
          <a:p>
            <a:pPr lvl="1">
              <a:lnSpc>
                <a:spcPct val="90000"/>
              </a:lnSpc>
            </a:pPr>
            <a:r>
              <a:rPr lang="en-US" dirty="0">
                <a:sym typeface="Wingdings" pitchFamily="2" charset="2"/>
              </a:rPr>
              <a:t>Combiner is usually same </a:t>
            </a:r>
            <a:br>
              <a:rPr lang="en-US" dirty="0">
                <a:sym typeface="Wingdings" pitchFamily="2" charset="2"/>
              </a:rPr>
            </a:br>
            <a:r>
              <a:rPr lang="en-US" dirty="0">
                <a:sym typeface="Wingdings" pitchFamily="2" charset="2"/>
              </a:rPr>
              <a:t>as the reduce function</a:t>
            </a:r>
          </a:p>
          <a:p>
            <a:pPr>
              <a:lnSpc>
                <a:spcPct val="90000"/>
              </a:lnSpc>
            </a:pPr>
            <a:r>
              <a:rPr lang="en-US" dirty="0"/>
              <a:t>Works only if reduce </a:t>
            </a:r>
            <a:br>
              <a:rPr lang="en-US" dirty="0"/>
            </a:br>
            <a:r>
              <a:rPr lang="en-US" dirty="0"/>
              <a:t>function is commutative and associative</a:t>
            </a:r>
          </a:p>
        </p:txBody>
      </p:sp>
      <p:pic>
        <p:nvPicPr>
          <p:cNvPr id="10" name="Picture 2" descr="http://labs.google.com/papers/mapreduce-osdi04-slides/index-auto-0008-0001.gif"/>
          <p:cNvPicPr>
            <a:picLocks noChangeAspect="1" noChangeArrowheads="1"/>
          </p:cNvPicPr>
          <p:nvPr/>
        </p:nvPicPr>
        <p:blipFill>
          <a:blip r:embed="rId2" cstate="print"/>
          <a:srcRect/>
          <a:stretch>
            <a:fillRect/>
          </a:stretch>
        </p:blipFill>
        <p:spPr bwMode="auto">
          <a:xfrm>
            <a:off x="5497346" y="3048000"/>
            <a:ext cx="3634462" cy="2514600"/>
          </a:xfrm>
          <a:prstGeom prst="rect">
            <a:avLst/>
          </a:prstGeom>
          <a:noFill/>
        </p:spPr>
      </p:pic>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29</a:t>
            </a:fld>
            <a:endParaRPr lang="en-US"/>
          </a:p>
        </p:txBody>
      </p:sp>
    </p:spTree>
    <p:extLst>
      <p:ext uri="{BB962C8B-B14F-4D97-AF65-F5344CB8AC3E}">
        <p14:creationId xmlns:p14="http://schemas.microsoft.com/office/powerpoint/2010/main" val="1250567467"/>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 Combiners</a:t>
            </a:r>
            <a:endParaRPr lang="en-US" b="0" dirty="0"/>
          </a:p>
        </p:txBody>
      </p:sp>
      <p:sp>
        <p:nvSpPr>
          <p:cNvPr id="3" name="Content Placeholder 2"/>
          <p:cNvSpPr>
            <a:spLocks noGrp="1"/>
          </p:cNvSpPr>
          <p:nvPr>
            <p:ph idx="1"/>
          </p:nvPr>
        </p:nvSpPr>
        <p:spPr>
          <a:xfrm>
            <a:off x="457200" y="1295400"/>
            <a:ext cx="8229600" cy="5410200"/>
          </a:xfrm>
        </p:spPr>
        <p:txBody>
          <a:bodyPr>
            <a:normAutofit/>
          </a:bodyPr>
          <a:lstStyle/>
          <a:p>
            <a:r>
              <a:rPr lang="en-US" b="1" dirty="0">
                <a:solidFill>
                  <a:srgbClr val="0000FF"/>
                </a:solidFill>
              </a:rPr>
              <a:t>Back to our word counting example:</a:t>
            </a:r>
          </a:p>
          <a:p>
            <a:pPr lvl="1"/>
            <a:r>
              <a:rPr lang="en-US" dirty="0"/>
              <a:t>Combiner combines the values of all keys of a single mapper (single machine):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r>
              <a:rPr lang="en-US" dirty="0"/>
              <a:t>Much less data needs to be copied and shuffled!</a:t>
            </a:r>
          </a:p>
        </p:txBody>
      </p:sp>
      <p:sp>
        <p:nvSpPr>
          <p:cNvPr id="5" name="Footer Placeholder 4"/>
          <p:cNvSpPr>
            <a:spLocks noGrp="1"/>
          </p:cNvSpPr>
          <p:nvPr>
            <p:ph type="ftr" sz="quarter" idx="11"/>
          </p:nvPr>
        </p:nvSpPr>
        <p:spPr/>
        <p:txBody>
          <a:bodyPr/>
          <a:lstStyle/>
          <a:p>
            <a:r>
              <a:rPr lang="en-US"/>
              <a:t>J. Leskovec, A. Rajaraman, J. Ullman: Mining of Massive Datasets, http://www.mmds.org</a:t>
            </a:r>
          </a:p>
        </p:txBody>
      </p:sp>
      <p:sp>
        <p:nvSpPr>
          <p:cNvPr id="6" name="Slide Number Placeholder 5"/>
          <p:cNvSpPr>
            <a:spLocks noGrp="1"/>
          </p:cNvSpPr>
          <p:nvPr>
            <p:ph type="sldNum" sz="quarter" idx="12"/>
          </p:nvPr>
        </p:nvSpPr>
        <p:spPr/>
        <p:txBody>
          <a:bodyPr/>
          <a:lstStyle/>
          <a:p>
            <a:fld id="{19B12225-5612-419B-A8D5-4B8EEE4C217E}" type="slidenum">
              <a:rPr lang="en-US" smtClean="0"/>
              <a:pPr/>
              <a:t>30</a:t>
            </a:fld>
            <a:endParaRPr lang="en-US"/>
          </a:p>
        </p:txBody>
      </p:sp>
      <p:pic>
        <p:nvPicPr>
          <p:cNvPr id="1026" name="Picture 2" descr="http://www.admin-magazine.com/var/ezflow_site/storage/images/media/images/hadoop-f03/47069-1-eng-US/hadoop-F03_referen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3036220"/>
            <a:ext cx="6553200" cy="252638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1066800" y="3036220"/>
            <a:ext cx="3581400" cy="126319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1" name="Rectangle 10"/>
          <p:cNvSpPr/>
          <p:nvPr/>
        </p:nvSpPr>
        <p:spPr>
          <a:xfrm>
            <a:off x="1066800" y="4287630"/>
            <a:ext cx="3581400" cy="1263190"/>
          </a:xfrm>
          <a:prstGeom prst="rect">
            <a:avLst/>
          </a:prstGeom>
          <a:ln w="38100">
            <a:solidFill>
              <a:srgbClr val="008000"/>
            </a:solidFill>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7194159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r>
              <a:rPr lang="en-US" dirty="0"/>
              <a:t>Refinement: Partition Function</a:t>
            </a:r>
          </a:p>
        </p:txBody>
      </p:sp>
      <p:sp>
        <p:nvSpPr>
          <p:cNvPr id="102403" name="Rectangle 3"/>
          <p:cNvSpPr>
            <a:spLocks noGrp="1" noChangeArrowheads="1"/>
          </p:cNvSpPr>
          <p:nvPr>
            <p:ph idx="1"/>
          </p:nvPr>
        </p:nvSpPr>
        <p:spPr>
          <a:xfrm>
            <a:off x="457200" y="1295400"/>
            <a:ext cx="8229600" cy="5410200"/>
          </a:xfrm>
        </p:spPr>
        <p:txBody>
          <a:bodyPr>
            <a:normAutofit/>
          </a:bodyPr>
          <a:lstStyle/>
          <a:p>
            <a:pPr>
              <a:lnSpc>
                <a:spcPct val="90000"/>
              </a:lnSpc>
            </a:pPr>
            <a:r>
              <a:rPr lang="en-US" b="1" dirty="0">
                <a:solidFill>
                  <a:srgbClr val="0000FF"/>
                </a:solidFill>
              </a:rPr>
              <a:t>Want to control how keys get partitioned</a:t>
            </a:r>
          </a:p>
          <a:p>
            <a:pPr lvl="1">
              <a:lnSpc>
                <a:spcPct val="90000"/>
              </a:lnSpc>
            </a:pPr>
            <a:r>
              <a:rPr lang="en-US" dirty="0"/>
              <a:t>Inputs to map tasks are created by contiguous splits of input file</a:t>
            </a:r>
          </a:p>
          <a:p>
            <a:pPr lvl="1">
              <a:lnSpc>
                <a:spcPct val="90000"/>
              </a:lnSpc>
            </a:pPr>
            <a:r>
              <a:rPr lang="en-US" dirty="0"/>
              <a:t>Reduce needs to ensure that records with the same intermediate key end up at the same worker</a:t>
            </a:r>
          </a:p>
          <a:p>
            <a:pPr>
              <a:lnSpc>
                <a:spcPct val="90000"/>
              </a:lnSpc>
            </a:pPr>
            <a:r>
              <a:rPr lang="en-US" b="1" dirty="0"/>
              <a:t>System uses a default partition function:</a:t>
            </a:r>
          </a:p>
          <a:p>
            <a:pPr lvl="1">
              <a:lnSpc>
                <a:spcPct val="90000"/>
              </a:lnSpc>
            </a:pPr>
            <a:r>
              <a:rPr lang="en-US" b="1" dirty="0">
                <a:solidFill>
                  <a:srgbClr val="008000"/>
                </a:solidFill>
                <a:latin typeface="Arial" pitchFamily="34" charset="0"/>
                <a:cs typeface="Arial" pitchFamily="34" charset="0"/>
              </a:rPr>
              <a:t>hash(key) mod </a:t>
            </a:r>
            <a:r>
              <a:rPr lang="en-US" b="1" i="1" dirty="0">
                <a:solidFill>
                  <a:srgbClr val="008000"/>
                </a:solidFill>
                <a:latin typeface="Arial" pitchFamily="34" charset="0"/>
                <a:cs typeface="Arial" pitchFamily="34" charset="0"/>
              </a:rPr>
              <a:t>R</a:t>
            </a:r>
          </a:p>
          <a:p>
            <a:pPr lvl="8">
              <a:lnSpc>
                <a:spcPct val="90000"/>
              </a:lnSpc>
            </a:pPr>
            <a:endParaRPr lang="en-US" b="1" i="1" dirty="0">
              <a:solidFill>
                <a:schemeClr val="accent3"/>
              </a:solidFill>
            </a:endParaRPr>
          </a:p>
          <a:p>
            <a:pPr>
              <a:lnSpc>
                <a:spcPct val="90000"/>
              </a:lnSpc>
            </a:pPr>
            <a:r>
              <a:rPr lang="en-US" b="1" dirty="0">
                <a:solidFill>
                  <a:srgbClr val="D60093"/>
                </a:solidFill>
              </a:rPr>
              <a:t>Sometimes useful to override the hash function:</a:t>
            </a:r>
          </a:p>
          <a:p>
            <a:pPr lvl="1">
              <a:lnSpc>
                <a:spcPct val="90000"/>
              </a:lnSpc>
            </a:pPr>
            <a:r>
              <a:rPr lang="en-US" dirty="0"/>
              <a:t>E.g., </a:t>
            </a:r>
            <a:r>
              <a:rPr lang="en-US" sz="2400" b="1" dirty="0">
                <a:latin typeface="Arial" pitchFamily="34" charset="0"/>
                <a:cs typeface="Arial" pitchFamily="34" charset="0"/>
              </a:rPr>
              <a:t>hash(hostname(URL)) mod </a:t>
            </a:r>
            <a:r>
              <a:rPr lang="en-US" sz="2400" b="1" i="1" dirty="0">
                <a:latin typeface="Arial" pitchFamily="34" charset="0"/>
                <a:cs typeface="Arial" pitchFamily="34" charset="0"/>
              </a:rPr>
              <a:t>R</a:t>
            </a:r>
            <a:r>
              <a:rPr lang="en-US" dirty="0"/>
              <a:t> ensures URLs from a host end up in the same output file</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31</a:t>
            </a:fld>
            <a:endParaRPr lang="en-US"/>
          </a:p>
        </p:txBody>
      </p:sp>
    </p:spTree>
    <p:extLst>
      <p:ext uri="{BB962C8B-B14F-4D97-AF65-F5344CB8AC3E}">
        <p14:creationId xmlns:p14="http://schemas.microsoft.com/office/powerpoint/2010/main" val="177545726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A46FBE-D69D-2418-A0DD-D3C0FEB29360}"/>
              </a:ext>
            </a:extLst>
          </p:cNvPr>
          <p:cNvSpPr>
            <a:spLocks noGrp="1"/>
          </p:cNvSpPr>
          <p:nvPr>
            <p:ph type="title"/>
          </p:nvPr>
        </p:nvSpPr>
        <p:spPr/>
        <p:txBody>
          <a:bodyPr/>
          <a:lstStyle/>
          <a:p>
            <a:r>
              <a:rPr lang="en-IN"/>
              <a:t>Quiz</a:t>
            </a:r>
          </a:p>
        </p:txBody>
      </p:sp>
      <p:sp>
        <p:nvSpPr>
          <p:cNvPr id="3" name="Content Placeholder 2">
            <a:extLst>
              <a:ext uri="{FF2B5EF4-FFF2-40B4-BE49-F238E27FC236}">
                <a16:creationId xmlns:a16="http://schemas.microsoft.com/office/drawing/2014/main" id="{95B61D8B-BAEF-9ECD-47BF-23D5EA2B81D4}"/>
              </a:ext>
            </a:extLst>
          </p:cNvPr>
          <p:cNvSpPr>
            <a:spLocks noGrp="1"/>
          </p:cNvSpPr>
          <p:nvPr>
            <p:ph idx="1"/>
          </p:nvPr>
        </p:nvSpPr>
        <p:spPr/>
        <p:txBody>
          <a:bodyPr/>
          <a:lstStyle/>
          <a:p>
            <a:r>
              <a:rPr lang="en-IN" dirty="0"/>
              <a:t>https://forms.gle/fjkbB49Pm5bq2eF67</a:t>
            </a:r>
          </a:p>
          <a:p>
            <a:endParaRPr lang="en-IN" dirty="0"/>
          </a:p>
        </p:txBody>
      </p:sp>
      <p:sp>
        <p:nvSpPr>
          <p:cNvPr id="4" name="Footer Placeholder 3">
            <a:extLst>
              <a:ext uri="{FF2B5EF4-FFF2-40B4-BE49-F238E27FC236}">
                <a16:creationId xmlns:a16="http://schemas.microsoft.com/office/drawing/2014/main" id="{CCED475C-B9AD-CE4C-4CC2-239E06155E58}"/>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E6066DD5-0798-07BF-63EB-6310888A03A4}"/>
              </a:ext>
            </a:extLst>
          </p:cNvPr>
          <p:cNvSpPr>
            <a:spLocks noGrp="1"/>
          </p:cNvSpPr>
          <p:nvPr>
            <p:ph type="sldNum" sz="quarter" idx="12"/>
          </p:nvPr>
        </p:nvSpPr>
        <p:spPr/>
        <p:txBody>
          <a:bodyPr/>
          <a:lstStyle/>
          <a:p>
            <a:fld id="{19B12225-5612-419B-A8D5-4B8EEE4C217E}" type="slidenum">
              <a:rPr lang="en-US" smtClean="0"/>
              <a:pPr/>
              <a:t>32</a:t>
            </a:fld>
            <a:endParaRPr lang="en-US"/>
          </a:p>
        </p:txBody>
      </p:sp>
    </p:spTree>
    <p:extLst>
      <p:ext uri="{BB962C8B-B14F-4D97-AF65-F5344CB8AC3E}">
        <p14:creationId xmlns:p14="http://schemas.microsoft.com/office/powerpoint/2010/main" val="3897600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r>
              <a:rPr lang="en-US" dirty="0"/>
              <a:t>Problems Suited for </a:t>
            </a:r>
            <a:br>
              <a:rPr lang="en-US" dirty="0"/>
            </a:br>
            <a:r>
              <a:rPr lang="en-US" dirty="0"/>
              <a:t>Map-Reduce</a:t>
            </a:r>
          </a:p>
        </p:txBody>
      </p:sp>
      <p:sp>
        <p:nvSpPr>
          <p:cNvPr id="8" name="Subtitle 7"/>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639937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a:t>Example: Host size</a:t>
            </a:r>
          </a:p>
        </p:txBody>
      </p:sp>
      <p:sp>
        <p:nvSpPr>
          <p:cNvPr id="82947" name="Rectangle 3"/>
          <p:cNvSpPr>
            <a:spLocks noGrp="1" noChangeArrowheads="1"/>
          </p:cNvSpPr>
          <p:nvPr>
            <p:ph type="body" idx="1"/>
          </p:nvPr>
        </p:nvSpPr>
        <p:spPr/>
        <p:txBody>
          <a:bodyPr>
            <a:normAutofit/>
          </a:bodyPr>
          <a:lstStyle/>
          <a:p>
            <a:r>
              <a:rPr lang="en-US" b="1" dirty="0"/>
              <a:t>Suppose we have a large web corpus</a:t>
            </a:r>
          </a:p>
          <a:p>
            <a:r>
              <a:rPr lang="en-US" dirty="0"/>
              <a:t>Look at the metadata file</a:t>
            </a:r>
          </a:p>
          <a:p>
            <a:pPr lvl="1"/>
            <a:r>
              <a:rPr lang="en-US" dirty="0"/>
              <a:t>Lines of the form: (URL, size, date, …)</a:t>
            </a:r>
          </a:p>
          <a:p>
            <a:r>
              <a:rPr lang="en-US" b="1" dirty="0"/>
              <a:t>For each host, find the total number of bytes</a:t>
            </a:r>
          </a:p>
          <a:p>
            <a:pPr lvl="1"/>
            <a:r>
              <a:rPr lang="en-US" dirty="0"/>
              <a:t>That is, the sum of the page sizes for all URLs from that particular host</a:t>
            </a:r>
          </a:p>
          <a:p>
            <a:pPr lvl="8"/>
            <a:endParaRPr lang="en-US" dirty="0">
              <a:solidFill>
                <a:schemeClr val="accent3"/>
              </a:solidFill>
            </a:endParaRPr>
          </a:p>
          <a:p>
            <a:r>
              <a:rPr lang="en-US" b="1" dirty="0">
                <a:solidFill>
                  <a:schemeClr val="accent3"/>
                </a:solidFill>
              </a:rPr>
              <a:t>Other examples: </a:t>
            </a:r>
          </a:p>
          <a:p>
            <a:pPr lvl="1"/>
            <a:r>
              <a:rPr lang="en-US" dirty="0"/>
              <a:t>Link analysis and graph processing</a:t>
            </a:r>
          </a:p>
          <a:p>
            <a:pPr lvl="1"/>
            <a:r>
              <a:rPr lang="en-US" dirty="0"/>
              <a:t>Machine Learning algorithms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34</a:t>
            </a:fld>
            <a:endParaRPr lang="en-US"/>
          </a:p>
        </p:txBody>
      </p:sp>
    </p:spTree>
    <p:extLst>
      <p:ext uri="{BB962C8B-B14F-4D97-AF65-F5344CB8AC3E}">
        <p14:creationId xmlns:p14="http://schemas.microsoft.com/office/powerpoint/2010/main" val="2868928855"/>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r>
              <a:rPr lang="en-US" dirty="0"/>
              <a:t>Example: Language Model</a:t>
            </a:r>
          </a:p>
        </p:txBody>
      </p:sp>
      <p:sp>
        <p:nvSpPr>
          <p:cNvPr id="104451" name="Rectangle 3"/>
          <p:cNvSpPr>
            <a:spLocks noGrp="1" noChangeArrowheads="1"/>
          </p:cNvSpPr>
          <p:nvPr>
            <p:ph type="body" idx="1"/>
          </p:nvPr>
        </p:nvSpPr>
        <p:spPr/>
        <p:txBody>
          <a:bodyPr/>
          <a:lstStyle/>
          <a:p>
            <a:r>
              <a:rPr lang="en-US" b="1" dirty="0">
                <a:solidFill>
                  <a:schemeClr val="accent3"/>
                </a:solidFill>
              </a:rPr>
              <a:t>Statistical machine translation:</a:t>
            </a:r>
          </a:p>
          <a:p>
            <a:pPr lvl="1"/>
            <a:r>
              <a:rPr lang="en-US" dirty="0"/>
              <a:t>Need to count number of times every 5-word sequence occurs in a large corpus of documents</a:t>
            </a:r>
          </a:p>
          <a:p>
            <a:pPr lvl="8"/>
            <a:endParaRPr lang="en-US" dirty="0"/>
          </a:p>
          <a:p>
            <a:r>
              <a:rPr lang="en-US" b="1" dirty="0"/>
              <a:t>Very easy with </a:t>
            </a:r>
            <a:r>
              <a:rPr lang="en-US" b="1" dirty="0" err="1"/>
              <a:t>MapReduce</a:t>
            </a:r>
            <a:r>
              <a:rPr lang="en-US" b="1" dirty="0"/>
              <a:t>:</a:t>
            </a:r>
          </a:p>
          <a:p>
            <a:pPr lvl="1"/>
            <a:r>
              <a:rPr lang="en-US" b="1" dirty="0"/>
              <a:t>Map:</a:t>
            </a:r>
            <a:r>
              <a:rPr lang="en-US" dirty="0"/>
              <a:t> </a:t>
            </a:r>
          </a:p>
          <a:p>
            <a:pPr lvl="2"/>
            <a:r>
              <a:rPr lang="en-US" dirty="0"/>
              <a:t>Extract (5-word sequence, count) from document</a:t>
            </a:r>
          </a:p>
          <a:p>
            <a:pPr lvl="1"/>
            <a:r>
              <a:rPr lang="en-US" b="1" dirty="0"/>
              <a:t>Reduce: </a:t>
            </a:r>
          </a:p>
          <a:p>
            <a:pPr lvl="2"/>
            <a:r>
              <a:rPr lang="en-US" dirty="0"/>
              <a:t>Combine the counts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35</a:t>
            </a:fld>
            <a:endParaRPr lang="en-US"/>
          </a:p>
        </p:txBody>
      </p:sp>
    </p:spTree>
    <p:extLst>
      <p:ext uri="{BB962C8B-B14F-4D97-AF65-F5344CB8AC3E}">
        <p14:creationId xmlns:p14="http://schemas.microsoft.com/office/powerpoint/2010/main" val="146838132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dirty="0"/>
              <a:t>Example: Join By Map-Reduce</a:t>
            </a:r>
          </a:p>
        </p:txBody>
      </p:sp>
      <p:sp>
        <p:nvSpPr>
          <p:cNvPr id="12291" name="Rectangle 3"/>
          <p:cNvSpPr>
            <a:spLocks noGrp="1" noChangeArrowheads="1"/>
          </p:cNvSpPr>
          <p:nvPr>
            <p:ph type="body" idx="1"/>
          </p:nvPr>
        </p:nvSpPr>
        <p:spPr>
          <a:xfrm>
            <a:off x="457200" y="1295401"/>
            <a:ext cx="8229600" cy="2133600"/>
          </a:xfrm>
        </p:spPr>
        <p:txBody>
          <a:bodyPr/>
          <a:lstStyle/>
          <a:p>
            <a:r>
              <a:rPr lang="en-US" b="1" dirty="0"/>
              <a:t>Compute the natural join </a:t>
            </a:r>
            <a:r>
              <a:rPr lang="en-US" b="1" i="1" dirty="0"/>
              <a:t>R(A,B) </a:t>
            </a:r>
            <a:r>
              <a:rPr lang="en-US" b="1" dirty="0"/>
              <a:t>⋈</a:t>
            </a:r>
            <a:r>
              <a:rPr lang="en-US" b="1" i="1" dirty="0"/>
              <a:t> S(B,C)</a:t>
            </a:r>
          </a:p>
          <a:p>
            <a:r>
              <a:rPr lang="en-US" i="1" dirty="0"/>
              <a:t>R</a:t>
            </a:r>
            <a:r>
              <a:rPr lang="en-US" dirty="0"/>
              <a:t> and </a:t>
            </a:r>
            <a:r>
              <a:rPr lang="en-US" i="1" dirty="0"/>
              <a:t>S</a:t>
            </a:r>
            <a:r>
              <a:rPr lang="en-US" dirty="0"/>
              <a:t> are each stored in files</a:t>
            </a:r>
          </a:p>
          <a:p>
            <a:r>
              <a:rPr lang="en-US" dirty="0"/>
              <a:t>Tuples are pairs </a:t>
            </a:r>
            <a:r>
              <a:rPr lang="en-US" i="1" dirty="0"/>
              <a:t>(</a:t>
            </a:r>
            <a:r>
              <a:rPr lang="en-US" i="1" dirty="0" err="1"/>
              <a:t>a,b</a:t>
            </a:r>
            <a:r>
              <a:rPr lang="en-US" i="1" dirty="0"/>
              <a:t>)</a:t>
            </a:r>
            <a:r>
              <a:rPr lang="en-US" dirty="0"/>
              <a:t> or </a:t>
            </a:r>
            <a:r>
              <a:rPr lang="en-US" i="1" dirty="0"/>
              <a:t>(</a:t>
            </a:r>
            <a:r>
              <a:rPr lang="en-US" i="1" dirty="0" err="1"/>
              <a:t>b,c</a:t>
            </a:r>
            <a:r>
              <a:rPr lang="en-US" i="1" dirty="0"/>
              <a:t>)</a:t>
            </a:r>
          </a:p>
          <a:p>
            <a:endParaRPr lang="en-US" dirty="0"/>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endParaRPr lang="en-US" dirty="0"/>
          </a:p>
        </p:txBody>
      </p:sp>
      <p:sp>
        <p:nvSpPr>
          <p:cNvPr id="8" name="Slide Number Placeholder 7"/>
          <p:cNvSpPr>
            <a:spLocks noGrp="1"/>
          </p:cNvSpPr>
          <p:nvPr>
            <p:ph type="sldNum" sz="quarter" idx="12"/>
          </p:nvPr>
        </p:nvSpPr>
        <p:spPr/>
        <p:txBody>
          <a:bodyPr/>
          <a:lstStyle/>
          <a:p>
            <a:fld id="{19B12225-5612-419B-A8D5-4B8EEE4C217E}" type="slidenum">
              <a:rPr lang="en-US" smtClean="0"/>
              <a:pPr/>
              <a:t>36</a:t>
            </a:fld>
            <a:endParaRPr lang="en-US"/>
          </a:p>
        </p:txBody>
      </p:sp>
      <p:graphicFrame>
        <p:nvGraphicFramePr>
          <p:cNvPr id="9" name="Table 8"/>
          <p:cNvGraphicFramePr>
            <a:graphicFrameLocks noGrp="1"/>
          </p:cNvGraphicFramePr>
          <p:nvPr>
            <p:extLst>
              <p:ext uri="{D42A27DB-BD31-4B8C-83A1-F6EECF244321}">
                <p14:modId xmlns:p14="http://schemas.microsoft.com/office/powerpoint/2010/main" val="1470999675"/>
              </p:ext>
            </p:extLst>
          </p:nvPr>
        </p:nvGraphicFramePr>
        <p:xfrm>
          <a:off x="304800" y="3581400"/>
          <a:ext cx="2209800" cy="185420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A</a:t>
                      </a:r>
                    </a:p>
                  </a:txBody>
                  <a:tcPr/>
                </a:tc>
                <a:tc>
                  <a:txBody>
                    <a:bodyPr/>
                    <a:lstStyle/>
                    <a:p>
                      <a:pPr algn="ctr"/>
                      <a:r>
                        <a:rPr lang="en-US" b="1" dirty="0">
                          <a:latin typeface="Arial" pitchFamily="34" charset="0"/>
                          <a:cs typeface="Arial" pitchFamily="34" charset="0"/>
                        </a:rPr>
                        <a:t>B</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1</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3"/>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4</a:t>
                      </a:r>
                    </a:p>
                  </a:txBody>
                  <a:tcPr/>
                </a:tc>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4"/>
                  </a:ext>
                </a:extLst>
              </a:tr>
            </a:tbl>
          </a:graphicData>
        </a:graphic>
      </p:graphicFrame>
      <p:graphicFrame>
        <p:nvGraphicFramePr>
          <p:cNvPr id="12" name="Table 11"/>
          <p:cNvGraphicFramePr>
            <a:graphicFrameLocks noGrp="1"/>
          </p:cNvGraphicFramePr>
          <p:nvPr>
            <p:extLst>
              <p:ext uri="{D42A27DB-BD31-4B8C-83A1-F6EECF244321}">
                <p14:modId xmlns:p14="http://schemas.microsoft.com/office/powerpoint/2010/main" val="2753875983"/>
              </p:ext>
            </p:extLst>
          </p:nvPr>
        </p:nvGraphicFramePr>
        <p:xfrm>
          <a:off x="3810000" y="3657600"/>
          <a:ext cx="2209800" cy="148336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B</a:t>
                      </a:r>
                    </a:p>
                  </a:txBody>
                  <a:tcPr/>
                </a:tc>
                <a:tc>
                  <a:txBody>
                    <a:bodyPr/>
                    <a:lstStyle/>
                    <a:p>
                      <a:pPr algn="ctr"/>
                      <a:r>
                        <a:rPr lang="en-US" b="1" dirty="0">
                          <a:latin typeface="Arial" pitchFamily="34" charset="0"/>
                          <a:cs typeface="Arial" pitchFamily="34" charset="0"/>
                        </a:rPr>
                        <a:t>C</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2</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b</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3"/>
                  </a:ext>
                </a:extLst>
              </a:tr>
            </a:tbl>
          </a:graphicData>
        </a:graphic>
      </p:graphicFrame>
      <p:sp>
        <p:nvSpPr>
          <p:cNvPr id="10" name="Rectangle 9"/>
          <p:cNvSpPr/>
          <p:nvPr/>
        </p:nvSpPr>
        <p:spPr>
          <a:xfrm>
            <a:off x="2667000" y="4038600"/>
            <a:ext cx="696024" cy="830997"/>
          </a:xfrm>
          <a:prstGeom prst="rect">
            <a:avLst/>
          </a:prstGeom>
        </p:spPr>
        <p:txBody>
          <a:bodyPr wrap="none">
            <a:spAutoFit/>
          </a:bodyPr>
          <a:lstStyle/>
          <a:p>
            <a:r>
              <a:rPr lang="en-US" sz="4800" dirty="0"/>
              <a:t>⋈</a:t>
            </a:r>
          </a:p>
        </p:txBody>
      </p:sp>
      <p:graphicFrame>
        <p:nvGraphicFramePr>
          <p:cNvPr id="14" name="Table 13"/>
          <p:cNvGraphicFramePr>
            <a:graphicFrameLocks noGrp="1"/>
          </p:cNvGraphicFramePr>
          <p:nvPr>
            <p:extLst>
              <p:ext uri="{D42A27DB-BD31-4B8C-83A1-F6EECF244321}">
                <p14:modId xmlns:p14="http://schemas.microsoft.com/office/powerpoint/2010/main" val="796993815"/>
              </p:ext>
            </p:extLst>
          </p:nvPr>
        </p:nvGraphicFramePr>
        <p:xfrm>
          <a:off x="6705600" y="3657600"/>
          <a:ext cx="2209800" cy="1483360"/>
        </p:xfrm>
        <a:graphic>
          <a:graphicData uri="http://schemas.openxmlformats.org/drawingml/2006/table">
            <a:tbl>
              <a:tblPr firstRow="1">
                <a:tableStyleId>{073A0DAA-6AF3-43AB-8588-CEC1D06C72B9}</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algn="ctr"/>
                      <a:r>
                        <a:rPr lang="en-US" b="1" dirty="0">
                          <a:latin typeface="Arial" pitchFamily="34" charset="0"/>
                          <a:cs typeface="Arial" pitchFamily="34" charset="0"/>
                        </a:rPr>
                        <a:t>A</a:t>
                      </a:r>
                    </a:p>
                  </a:txBody>
                  <a:tcPr/>
                </a:tc>
                <a:tc>
                  <a:txBody>
                    <a:bodyPr/>
                    <a:lstStyle/>
                    <a:p>
                      <a:pPr algn="ctr"/>
                      <a:r>
                        <a:rPr lang="en-US" b="1" dirty="0">
                          <a:latin typeface="Arial" pitchFamily="34" charset="0"/>
                          <a:cs typeface="Arial" pitchFamily="34" charset="0"/>
                        </a:rPr>
                        <a:t>C</a:t>
                      </a:r>
                    </a:p>
                  </a:txBody>
                  <a:tcPr/>
                </a:tc>
                <a:extLst>
                  <a:ext uri="{0D108BD9-81ED-4DB2-BD59-A6C34878D82A}">
                    <a16:rowId xmlns:a16="http://schemas.microsoft.com/office/drawing/2014/main" val="10000"/>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1</a:t>
                      </a:r>
                    </a:p>
                  </a:txBody>
                  <a:tcPr/>
                </a:tc>
                <a:extLst>
                  <a:ext uri="{0D108BD9-81ED-4DB2-BD59-A6C34878D82A}">
                    <a16:rowId xmlns:a16="http://schemas.microsoft.com/office/drawing/2014/main" val="10001"/>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3</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2</a:t>
                      </a:r>
                    </a:p>
                  </a:txBody>
                  <a:tcPr/>
                </a:tc>
                <a:extLst>
                  <a:ext uri="{0D108BD9-81ED-4DB2-BD59-A6C34878D82A}">
                    <a16:rowId xmlns:a16="http://schemas.microsoft.com/office/drawing/2014/main" val="10002"/>
                  </a:ext>
                </a:extLst>
              </a:tr>
              <a:tr h="370840">
                <a:tc>
                  <a:txBody>
                    <a:bodyPr/>
                    <a:lstStyle/>
                    <a:p>
                      <a:pPr algn="ctr"/>
                      <a:r>
                        <a:rPr lang="en-US" dirty="0">
                          <a:latin typeface="Arial" pitchFamily="34" charset="0"/>
                          <a:cs typeface="Arial" pitchFamily="34" charset="0"/>
                        </a:rPr>
                        <a:t>a</a:t>
                      </a:r>
                      <a:r>
                        <a:rPr lang="en-US" baseline="-25000" dirty="0">
                          <a:latin typeface="Arial" pitchFamily="34" charset="0"/>
                          <a:cs typeface="Arial" pitchFamily="34" charset="0"/>
                        </a:rPr>
                        <a:t>4</a:t>
                      </a:r>
                    </a:p>
                  </a:txBody>
                  <a:tcPr/>
                </a:tc>
                <a:tc>
                  <a:txBody>
                    <a:bodyPr/>
                    <a:lstStyle/>
                    <a:p>
                      <a:pPr algn="ctr"/>
                      <a:r>
                        <a:rPr lang="en-US" dirty="0">
                          <a:latin typeface="Arial" pitchFamily="34" charset="0"/>
                          <a:cs typeface="Arial" pitchFamily="34" charset="0"/>
                        </a:rPr>
                        <a:t>c</a:t>
                      </a:r>
                      <a:r>
                        <a:rPr lang="en-US" baseline="-25000" dirty="0">
                          <a:latin typeface="Arial" pitchFamily="34" charset="0"/>
                          <a:cs typeface="Arial" pitchFamily="34" charset="0"/>
                        </a:rPr>
                        <a:t>3</a:t>
                      </a:r>
                    </a:p>
                  </a:txBody>
                  <a:tcPr/>
                </a:tc>
                <a:extLst>
                  <a:ext uri="{0D108BD9-81ED-4DB2-BD59-A6C34878D82A}">
                    <a16:rowId xmlns:a16="http://schemas.microsoft.com/office/drawing/2014/main" val="10003"/>
                  </a:ext>
                </a:extLst>
              </a:tr>
            </a:tbl>
          </a:graphicData>
        </a:graphic>
      </p:graphicFrame>
      <p:sp>
        <p:nvSpPr>
          <p:cNvPr id="15" name="Rectangle 14"/>
          <p:cNvSpPr/>
          <p:nvPr/>
        </p:nvSpPr>
        <p:spPr>
          <a:xfrm>
            <a:off x="6085776" y="4064000"/>
            <a:ext cx="500458" cy="830997"/>
          </a:xfrm>
          <a:prstGeom prst="rect">
            <a:avLst/>
          </a:prstGeom>
        </p:spPr>
        <p:txBody>
          <a:bodyPr wrap="none">
            <a:spAutoFit/>
          </a:bodyPr>
          <a:lstStyle/>
          <a:p>
            <a:r>
              <a:rPr lang="en-US" sz="4800" dirty="0"/>
              <a:t>=</a:t>
            </a:r>
          </a:p>
        </p:txBody>
      </p:sp>
      <p:sp>
        <p:nvSpPr>
          <p:cNvPr id="2" name="TextBox 1"/>
          <p:cNvSpPr txBox="1"/>
          <p:nvPr/>
        </p:nvSpPr>
        <p:spPr>
          <a:xfrm>
            <a:off x="1226154" y="5562600"/>
            <a:ext cx="351378" cy="369332"/>
          </a:xfrm>
          <a:prstGeom prst="rect">
            <a:avLst/>
          </a:prstGeom>
          <a:noFill/>
        </p:spPr>
        <p:txBody>
          <a:bodyPr wrap="none" rtlCol="0">
            <a:spAutoFit/>
          </a:bodyPr>
          <a:lstStyle/>
          <a:p>
            <a:r>
              <a:rPr lang="en-US" dirty="0">
                <a:latin typeface="Arial" pitchFamily="34" charset="0"/>
                <a:cs typeface="Arial" pitchFamily="34" charset="0"/>
              </a:rPr>
              <a:t>R</a:t>
            </a:r>
          </a:p>
        </p:txBody>
      </p:sp>
      <p:sp>
        <p:nvSpPr>
          <p:cNvPr id="16" name="TextBox 15"/>
          <p:cNvSpPr txBox="1"/>
          <p:nvPr/>
        </p:nvSpPr>
        <p:spPr>
          <a:xfrm>
            <a:off x="4754022" y="5257800"/>
            <a:ext cx="351378" cy="369332"/>
          </a:xfrm>
          <a:prstGeom prst="rect">
            <a:avLst/>
          </a:prstGeom>
          <a:noFill/>
        </p:spPr>
        <p:txBody>
          <a:bodyPr wrap="none" rtlCol="0">
            <a:spAutoFit/>
          </a:bodyPr>
          <a:lstStyle/>
          <a:p>
            <a:r>
              <a:rPr lang="en-US" dirty="0">
                <a:latin typeface="Arial" pitchFamily="34" charset="0"/>
                <a:cs typeface="Arial" pitchFamily="34" charset="0"/>
              </a:rPr>
              <a:t>S</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9A877EDD-01FE-40E4-B52C-DF0FAD779F17}"/>
                  </a:ext>
                </a:extLst>
              </p14:cNvPr>
              <p14:cNvContentPartPr/>
              <p14:nvPr/>
            </p14:nvContentPartPr>
            <p14:xfrm>
              <a:off x="6234760" y="2484445"/>
              <a:ext cx="618480" cy="287640"/>
            </p14:xfrm>
          </p:contentPart>
        </mc:Choice>
        <mc:Fallback xmlns="">
          <p:pic>
            <p:nvPicPr>
              <p:cNvPr id="3" name="Ink 2">
                <a:extLst>
                  <a:ext uri="{FF2B5EF4-FFF2-40B4-BE49-F238E27FC236}">
                    <a16:creationId xmlns:a16="http://schemas.microsoft.com/office/drawing/2014/main" id="{9A877EDD-01FE-40E4-B52C-DF0FAD779F17}"/>
                  </a:ext>
                </a:extLst>
              </p:cNvPr>
              <p:cNvPicPr/>
              <p:nvPr/>
            </p:nvPicPr>
            <p:blipFill>
              <a:blip r:embed="rId3"/>
              <a:stretch>
                <a:fillRect/>
              </a:stretch>
            </p:blipFill>
            <p:spPr>
              <a:xfrm>
                <a:off x="6225760" y="2475445"/>
                <a:ext cx="636120" cy="305280"/>
              </a:xfrm>
              <a:prstGeom prst="rect">
                <a:avLst/>
              </a:prstGeom>
            </p:spPr>
          </p:pic>
        </mc:Fallback>
      </mc:AlternateContent>
    </p:spTree>
    <p:extLst>
      <p:ext uri="{BB962C8B-B14F-4D97-AF65-F5344CB8AC3E}">
        <p14:creationId xmlns:p14="http://schemas.microsoft.com/office/powerpoint/2010/main" val="35611959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Map-Reduce Join</a:t>
            </a:r>
          </a:p>
        </p:txBody>
      </p:sp>
      <p:sp>
        <p:nvSpPr>
          <p:cNvPr id="21507" name="Rectangle 3"/>
          <p:cNvSpPr>
            <a:spLocks noGrp="1" noChangeArrowheads="1"/>
          </p:cNvSpPr>
          <p:nvPr>
            <p:ph type="body" idx="1"/>
          </p:nvPr>
        </p:nvSpPr>
        <p:spPr>
          <a:xfrm>
            <a:off x="457200" y="1295400"/>
            <a:ext cx="8610600" cy="5257801"/>
          </a:xfrm>
        </p:spPr>
        <p:txBody>
          <a:bodyPr/>
          <a:lstStyle/>
          <a:p>
            <a:r>
              <a:rPr lang="en-US" b="1" dirty="0"/>
              <a:t>Use a hash function </a:t>
            </a:r>
            <a:r>
              <a:rPr lang="en-US" b="1" i="1" dirty="0"/>
              <a:t>h</a:t>
            </a:r>
            <a:r>
              <a:rPr lang="en-US" b="1" dirty="0"/>
              <a:t> from B-values to </a:t>
            </a:r>
            <a:r>
              <a:rPr lang="en-US" b="1" i="1" dirty="0"/>
              <a:t>1...k</a:t>
            </a:r>
          </a:p>
          <a:p>
            <a:r>
              <a:rPr lang="en-US" b="1" dirty="0">
                <a:solidFill>
                  <a:srgbClr val="FF0066"/>
                </a:solidFill>
              </a:rPr>
              <a:t>A Map process turns:</a:t>
            </a:r>
          </a:p>
          <a:p>
            <a:pPr lvl="1"/>
            <a:r>
              <a:rPr lang="en-US" dirty="0"/>
              <a:t>Each input tuple </a:t>
            </a:r>
            <a:r>
              <a:rPr lang="en-US" i="1" dirty="0"/>
              <a:t>R(</a:t>
            </a:r>
            <a:r>
              <a:rPr lang="en-US" i="1" dirty="0" err="1"/>
              <a:t>a,b</a:t>
            </a:r>
            <a:r>
              <a:rPr lang="en-US" i="1" dirty="0"/>
              <a:t>)</a:t>
            </a:r>
            <a:r>
              <a:rPr lang="en-US" dirty="0"/>
              <a:t> into key-value pair </a:t>
            </a:r>
            <a:r>
              <a:rPr lang="en-US" i="1" dirty="0"/>
              <a:t>(b,(</a:t>
            </a:r>
            <a:r>
              <a:rPr lang="en-US" i="1" dirty="0" err="1"/>
              <a:t>a,R</a:t>
            </a:r>
            <a:r>
              <a:rPr lang="en-US" i="1" dirty="0"/>
              <a:t>))</a:t>
            </a:r>
          </a:p>
          <a:p>
            <a:pPr lvl="1"/>
            <a:r>
              <a:rPr lang="en-US" dirty="0"/>
              <a:t>Each input tuple </a:t>
            </a:r>
            <a:r>
              <a:rPr lang="en-US" i="1" dirty="0"/>
              <a:t>S(</a:t>
            </a:r>
            <a:r>
              <a:rPr lang="en-US" i="1" dirty="0" err="1"/>
              <a:t>b,c</a:t>
            </a:r>
            <a:r>
              <a:rPr lang="en-US" i="1" dirty="0"/>
              <a:t>)</a:t>
            </a:r>
            <a:r>
              <a:rPr lang="en-US" dirty="0"/>
              <a:t> into </a:t>
            </a:r>
            <a:r>
              <a:rPr lang="en-US" i="1" dirty="0"/>
              <a:t>(b,(</a:t>
            </a:r>
            <a:r>
              <a:rPr lang="en-US" i="1" dirty="0" err="1"/>
              <a:t>c,S</a:t>
            </a:r>
            <a:r>
              <a:rPr lang="en-US" i="1" dirty="0"/>
              <a:t>))</a:t>
            </a:r>
          </a:p>
          <a:p>
            <a:pPr lvl="8"/>
            <a:endParaRPr lang="en-US" dirty="0"/>
          </a:p>
          <a:p>
            <a:r>
              <a:rPr lang="en-US" b="1" dirty="0"/>
              <a:t>Map processes</a:t>
            </a:r>
            <a:r>
              <a:rPr lang="en-US" dirty="0"/>
              <a:t> send each key-value pair with key </a:t>
            </a:r>
            <a:r>
              <a:rPr lang="en-US" i="1" dirty="0"/>
              <a:t>b</a:t>
            </a:r>
            <a:r>
              <a:rPr lang="en-US" dirty="0"/>
              <a:t> to Reduce process </a:t>
            </a:r>
            <a:r>
              <a:rPr lang="en-US" i="1" dirty="0"/>
              <a:t>h(b)</a:t>
            </a:r>
            <a:endParaRPr lang="en-US" dirty="0"/>
          </a:p>
          <a:p>
            <a:pPr lvl="1"/>
            <a:r>
              <a:rPr lang="en-US" dirty="0" err="1"/>
              <a:t>Hadoop</a:t>
            </a:r>
            <a:r>
              <a:rPr lang="en-US" dirty="0"/>
              <a:t> does this automatically; just tell it what </a:t>
            </a:r>
            <a:r>
              <a:rPr lang="en-US" i="1" dirty="0"/>
              <a:t>k</a:t>
            </a:r>
            <a:r>
              <a:rPr lang="en-US" dirty="0"/>
              <a:t> is.</a:t>
            </a:r>
          </a:p>
          <a:p>
            <a:r>
              <a:rPr lang="en-US" dirty="0"/>
              <a:t>Each </a:t>
            </a:r>
            <a:r>
              <a:rPr lang="en-US" b="1" dirty="0"/>
              <a:t>Reduce process</a:t>
            </a:r>
            <a:r>
              <a:rPr lang="en-US" dirty="0"/>
              <a:t> matches all the pairs </a:t>
            </a:r>
            <a:r>
              <a:rPr lang="en-US" i="1" dirty="0"/>
              <a:t>(b,(</a:t>
            </a:r>
            <a:r>
              <a:rPr lang="en-US" i="1" dirty="0" err="1"/>
              <a:t>a,R</a:t>
            </a:r>
            <a:r>
              <a:rPr lang="en-US" i="1" dirty="0"/>
              <a:t>))</a:t>
            </a:r>
            <a:r>
              <a:rPr lang="en-US" dirty="0"/>
              <a:t> with all </a:t>
            </a:r>
            <a:r>
              <a:rPr lang="en-US" i="1" dirty="0"/>
              <a:t>(b,(</a:t>
            </a:r>
            <a:r>
              <a:rPr lang="en-US" i="1" dirty="0" err="1"/>
              <a:t>c,S</a:t>
            </a:r>
            <a:r>
              <a:rPr lang="en-US" i="1" dirty="0"/>
              <a:t>)) </a:t>
            </a:r>
            <a:r>
              <a:rPr lang="en-US" dirty="0"/>
              <a:t>and outputs </a:t>
            </a:r>
            <a:r>
              <a:rPr lang="en-US" i="1" dirty="0"/>
              <a:t>(</a:t>
            </a:r>
            <a:r>
              <a:rPr lang="en-US" i="1" dirty="0" err="1"/>
              <a:t>a,b,c</a:t>
            </a:r>
            <a:r>
              <a:rPr lang="en-US" i="1" dirty="0"/>
              <a:t>)</a:t>
            </a:r>
            <a:r>
              <a:rPr lang="en-US" dirty="0"/>
              <a:t>.</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37</a:t>
            </a:fld>
            <a:endParaRPr lang="en-US"/>
          </a:p>
        </p:txBody>
      </p:sp>
    </p:spTree>
    <p:extLst>
      <p:ext uri="{BB962C8B-B14F-4D97-AF65-F5344CB8AC3E}">
        <p14:creationId xmlns:p14="http://schemas.microsoft.com/office/powerpoint/2010/main" val="6127347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r>
              <a:rPr lang="en-US"/>
              <a:t>Cost Measures for Algorithms</a:t>
            </a:r>
          </a:p>
        </p:txBody>
      </p:sp>
      <p:sp>
        <p:nvSpPr>
          <p:cNvPr id="13315" name="Rectangle 3"/>
          <p:cNvSpPr>
            <a:spLocks noGrp="1" noChangeArrowheads="1"/>
          </p:cNvSpPr>
          <p:nvPr>
            <p:ph idx="1"/>
          </p:nvPr>
        </p:nvSpPr>
        <p:spPr/>
        <p:txBody>
          <a:bodyPr>
            <a:normAutofit/>
          </a:bodyPr>
          <a:lstStyle/>
          <a:p>
            <a:pPr marL="609600" indent="-609600"/>
            <a:r>
              <a:rPr lang="en-US" b="1" dirty="0">
                <a:solidFill>
                  <a:srgbClr val="008000"/>
                </a:solidFill>
              </a:rPr>
              <a:t>In </a:t>
            </a:r>
            <a:r>
              <a:rPr lang="en-US" b="1" dirty="0" err="1">
                <a:solidFill>
                  <a:srgbClr val="008000"/>
                </a:solidFill>
              </a:rPr>
              <a:t>MapReduce</a:t>
            </a:r>
            <a:r>
              <a:rPr lang="en-US" b="1" dirty="0">
                <a:solidFill>
                  <a:srgbClr val="008000"/>
                </a:solidFill>
              </a:rPr>
              <a:t> we quantify the cost of an algorithm using </a:t>
            </a:r>
          </a:p>
          <a:p>
            <a:pPr marL="609600" indent="-609600">
              <a:buFont typeface="Monotype Sorts" pitchFamily="2" charset="2"/>
              <a:buAutoNum type="arabicPeriod"/>
            </a:pPr>
            <a:r>
              <a:rPr lang="en-US" i="1" dirty="0">
                <a:solidFill>
                  <a:srgbClr val="FF0066"/>
                </a:solidFill>
              </a:rPr>
              <a:t>Communication cost</a:t>
            </a:r>
            <a:r>
              <a:rPr lang="en-US" dirty="0"/>
              <a:t>  = total I/O of all processes</a:t>
            </a:r>
          </a:p>
          <a:p>
            <a:pPr marL="609600" indent="-609600">
              <a:buFont typeface="Monotype Sorts" pitchFamily="2" charset="2"/>
              <a:buAutoNum type="arabicPeriod"/>
            </a:pPr>
            <a:r>
              <a:rPr lang="en-US" i="1" dirty="0">
                <a:solidFill>
                  <a:srgbClr val="FF0066"/>
                </a:solidFill>
              </a:rPr>
              <a:t>Elapsed communication cost</a:t>
            </a:r>
            <a:r>
              <a:rPr lang="en-US" dirty="0"/>
              <a:t> = max of I/O along any path</a:t>
            </a:r>
          </a:p>
          <a:p>
            <a:pPr marL="609600" indent="-609600">
              <a:buFont typeface="Monotype Sorts" pitchFamily="2" charset="2"/>
              <a:buAutoNum type="arabicPeriod"/>
            </a:pPr>
            <a:r>
              <a:rPr lang="en-US" dirty="0"/>
              <a:t>(</a:t>
            </a:r>
            <a:r>
              <a:rPr lang="en-US" i="1" dirty="0">
                <a:solidFill>
                  <a:srgbClr val="FF0066"/>
                </a:solidFill>
              </a:rPr>
              <a:t>Elapsed</a:t>
            </a:r>
            <a:r>
              <a:rPr lang="en-US" dirty="0"/>
              <a:t>) </a:t>
            </a:r>
            <a:r>
              <a:rPr lang="en-US" i="1" dirty="0">
                <a:solidFill>
                  <a:srgbClr val="FF0066"/>
                </a:solidFill>
              </a:rPr>
              <a:t>computation cost</a:t>
            </a:r>
            <a:r>
              <a:rPr lang="en-US" dirty="0"/>
              <a:t> analogous, but count only running time of processes</a:t>
            </a:r>
          </a:p>
          <a:p>
            <a:pPr marL="609600" indent="-609600"/>
            <a:endParaRPr lang="en-US" sz="500" dirty="0"/>
          </a:p>
          <a:p>
            <a:pPr marL="609600" indent="-609600"/>
            <a:endParaRPr lang="en-US" sz="500" dirty="0"/>
          </a:p>
          <a:p>
            <a:pPr marL="609600" indent="-609600"/>
            <a:endParaRPr lang="en-US" sz="500" dirty="0"/>
          </a:p>
          <a:p>
            <a:pPr marL="609600" indent="-609600"/>
            <a:endParaRPr lang="en-US" sz="500" dirty="0"/>
          </a:p>
          <a:p>
            <a:pPr marL="292608" lvl="1" indent="0">
              <a:buNone/>
            </a:pPr>
            <a:r>
              <a:rPr lang="en-US" sz="2000" dirty="0">
                <a:latin typeface="Arial" pitchFamily="34" charset="0"/>
                <a:cs typeface="Arial" pitchFamily="34" charset="0"/>
              </a:rPr>
              <a:t>Note that here the big-O notation is not the most useful </a:t>
            </a:r>
            <a:br>
              <a:rPr lang="en-US" sz="2000" dirty="0">
                <a:latin typeface="Arial" pitchFamily="34" charset="0"/>
                <a:cs typeface="Arial" pitchFamily="34" charset="0"/>
              </a:rPr>
            </a:br>
            <a:r>
              <a:rPr lang="en-US" sz="2000" dirty="0">
                <a:latin typeface="Arial" pitchFamily="34" charset="0"/>
                <a:cs typeface="Arial" pitchFamily="34" charset="0"/>
              </a:rPr>
              <a:t>(adding more machines is always an option)</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38</a:t>
            </a:fld>
            <a:endParaRPr lang="en-US"/>
          </a:p>
        </p:txBody>
      </p:sp>
    </p:spTree>
    <p:extLst>
      <p:ext uri="{BB962C8B-B14F-4D97-AF65-F5344CB8AC3E}">
        <p14:creationId xmlns:p14="http://schemas.microsoft.com/office/powerpoint/2010/main" val="36779380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r>
              <a:rPr lang="en-US"/>
              <a:t>Example: Cost Measures</a:t>
            </a:r>
          </a:p>
        </p:txBody>
      </p:sp>
      <p:sp>
        <p:nvSpPr>
          <p:cNvPr id="16387" name="Rectangle 3"/>
          <p:cNvSpPr>
            <a:spLocks noGrp="1" noChangeArrowheads="1"/>
          </p:cNvSpPr>
          <p:nvPr>
            <p:ph type="body" idx="1"/>
          </p:nvPr>
        </p:nvSpPr>
        <p:spPr/>
        <p:txBody>
          <a:bodyPr/>
          <a:lstStyle/>
          <a:p>
            <a:r>
              <a:rPr lang="en-US" b="1" dirty="0">
                <a:solidFill>
                  <a:srgbClr val="D60093"/>
                </a:solidFill>
              </a:rPr>
              <a:t>For a map-reduce algorithm:</a:t>
            </a:r>
          </a:p>
          <a:p>
            <a:pPr lvl="1"/>
            <a:r>
              <a:rPr lang="en-US" b="1" dirty="0">
                <a:solidFill>
                  <a:srgbClr val="0000FF"/>
                </a:solidFill>
              </a:rPr>
              <a:t>Communication cost =</a:t>
            </a:r>
            <a:r>
              <a:rPr lang="en-US" dirty="0">
                <a:solidFill>
                  <a:srgbClr val="0000FF"/>
                </a:solidFill>
              </a:rPr>
              <a:t> </a:t>
            </a:r>
            <a:r>
              <a:rPr lang="en-US" dirty="0"/>
              <a:t>input file size + 2 </a:t>
            </a:r>
            <a:r>
              <a:rPr lang="en-US" dirty="0">
                <a:sym typeface="Symbol" pitchFamily="18" charset="2"/>
              </a:rPr>
              <a:t></a:t>
            </a:r>
            <a:r>
              <a:rPr lang="en-US" dirty="0"/>
              <a:t> (sum of the sizes of all files passed from Map processes to Reduce processes) + the sum of the output sizes of the Reduce processes.</a:t>
            </a:r>
          </a:p>
          <a:p>
            <a:pPr lvl="1"/>
            <a:r>
              <a:rPr lang="en-US" b="1" dirty="0">
                <a:solidFill>
                  <a:srgbClr val="0000FF"/>
                </a:solidFill>
              </a:rPr>
              <a:t>Elapsed communication cost</a:t>
            </a:r>
            <a:r>
              <a:rPr lang="en-US" dirty="0">
                <a:solidFill>
                  <a:srgbClr val="0000FF"/>
                </a:solidFill>
              </a:rPr>
              <a:t> </a:t>
            </a:r>
            <a:r>
              <a:rPr lang="en-US" dirty="0"/>
              <a:t>is the sum of the largest input + output for any map process, plus the same for any reduce process</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39</a:t>
            </a:fld>
            <a:endParaRPr lang="en-US"/>
          </a:p>
        </p:txBody>
      </p:sp>
    </p:spTree>
    <p:extLst>
      <p:ext uri="{BB962C8B-B14F-4D97-AF65-F5344CB8AC3E}">
        <p14:creationId xmlns:p14="http://schemas.microsoft.com/office/powerpoint/2010/main" val="28977484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a:t>What Cost Measures Mean</a:t>
            </a:r>
          </a:p>
        </p:txBody>
      </p:sp>
      <p:sp>
        <p:nvSpPr>
          <p:cNvPr id="20483" name="Rectangle 3"/>
          <p:cNvSpPr>
            <a:spLocks noGrp="1" noChangeArrowheads="1"/>
          </p:cNvSpPr>
          <p:nvPr>
            <p:ph type="body" idx="1"/>
          </p:nvPr>
        </p:nvSpPr>
        <p:spPr/>
        <p:txBody>
          <a:bodyPr/>
          <a:lstStyle/>
          <a:p>
            <a:r>
              <a:rPr lang="en-US" dirty="0"/>
              <a:t>Either the I/O (communication) or processing (computation) cost dominates</a:t>
            </a:r>
          </a:p>
          <a:p>
            <a:pPr lvl="1"/>
            <a:r>
              <a:rPr lang="en-US" dirty="0"/>
              <a:t>Ignore one or the other</a:t>
            </a:r>
          </a:p>
          <a:p>
            <a:endParaRPr lang="en-US" dirty="0"/>
          </a:p>
          <a:p>
            <a:r>
              <a:rPr lang="en-US" dirty="0"/>
              <a:t>Total cost tells what you pay in rent from </a:t>
            </a:r>
            <a:br>
              <a:rPr lang="en-US" dirty="0"/>
            </a:br>
            <a:r>
              <a:rPr lang="en-US" dirty="0"/>
              <a:t>your friendly neighborhood cloud</a:t>
            </a:r>
          </a:p>
          <a:p>
            <a:endParaRPr lang="en-US" dirty="0"/>
          </a:p>
          <a:p>
            <a:r>
              <a:rPr lang="en-US" dirty="0"/>
              <a:t>Elapsed cost is wall-clock time using parallelism</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p:cNvSpPr>
            <a:spLocks noGrp="1"/>
          </p:cNvSpPr>
          <p:nvPr>
            <p:ph type="sldNum" sz="quarter" idx="12"/>
          </p:nvPr>
        </p:nvSpPr>
        <p:spPr/>
        <p:txBody>
          <a:bodyPr/>
          <a:lstStyle/>
          <a:p>
            <a:fld id="{19B12225-5612-419B-A8D5-4B8EEE4C217E}" type="slidenum">
              <a:rPr lang="en-US" smtClean="0"/>
              <a:pPr/>
              <a:t>40</a:t>
            </a:fld>
            <a:endParaRPr lang="en-US"/>
          </a:p>
        </p:txBody>
      </p:sp>
    </p:spTree>
    <p:extLst>
      <p:ext uri="{BB962C8B-B14F-4D97-AF65-F5344CB8AC3E}">
        <p14:creationId xmlns:p14="http://schemas.microsoft.com/office/powerpoint/2010/main" val="39834924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t>Cost of Map-Reduce Join</a:t>
            </a:r>
          </a:p>
        </p:txBody>
      </p:sp>
      <p:sp>
        <p:nvSpPr>
          <p:cNvPr id="19459" name="Rectangle 3"/>
          <p:cNvSpPr>
            <a:spLocks noGrp="1" noChangeArrowheads="1"/>
          </p:cNvSpPr>
          <p:nvPr>
            <p:ph type="body" idx="1"/>
          </p:nvPr>
        </p:nvSpPr>
        <p:spPr>
          <a:xfrm>
            <a:off x="457200" y="1295400"/>
            <a:ext cx="8229600" cy="5334000"/>
          </a:xfrm>
        </p:spPr>
        <p:txBody>
          <a:bodyPr>
            <a:normAutofit lnSpcReduction="10000"/>
          </a:bodyPr>
          <a:lstStyle/>
          <a:p>
            <a:r>
              <a:rPr lang="en-US" b="1" dirty="0">
                <a:solidFill>
                  <a:srgbClr val="0000FF"/>
                </a:solidFill>
              </a:rPr>
              <a:t>Total communication cost</a:t>
            </a:r>
            <a:r>
              <a:rPr lang="en-US" dirty="0">
                <a:solidFill>
                  <a:srgbClr val="0000FF"/>
                </a:solidFill>
              </a:rPr>
              <a:t> </a:t>
            </a:r>
            <a:br>
              <a:rPr lang="en-US" dirty="0">
                <a:solidFill>
                  <a:srgbClr val="0000FF"/>
                </a:solidFill>
              </a:rPr>
            </a:br>
            <a:r>
              <a:rPr lang="en-US" dirty="0"/>
              <a:t>= O(|R|+|S|+|R ⋈ S|)</a:t>
            </a:r>
          </a:p>
          <a:p>
            <a:r>
              <a:rPr lang="en-US" b="1" dirty="0">
                <a:solidFill>
                  <a:srgbClr val="0000FF"/>
                </a:solidFill>
              </a:rPr>
              <a:t>Elapsed communication cost</a:t>
            </a:r>
            <a:r>
              <a:rPr lang="en-US" dirty="0">
                <a:solidFill>
                  <a:srgbClr val="0000FF"/>
                </a:solidFill>
              </a:rPr>
              <a:t> </a:t>
            </a:r>
            <a:r>
              <a:rPr lang="en-US" dirty="0"/>
              <a:t>= O(s)</a:t>
            </a:r>
          </a:p>
          <a:p>
            <a:pPr lvl="1"/>
            <a:r>
              <a:rPr lang="en-US" dirty="0"/>
              <a:t>We’re going to pick </a:t>
            </a:r>
            <a:r>
              <a:rPr lang="en-US" b="1" i="1" dirty="0"/>
              <a:t>k</a:t>
            </a:r>
            <a:r>
              <a:rPr lang="en-US" dirty="0"/>
              <a:t> and the number of Map processes so that the I/O limit </a:t>
            </a:r>
            <a:r>
              <a:rPr lang="en-US" b="1" i="1" dirty="0"/>
              <a:t>s</a:t>
            </a:r>
            <a:r>
              <a:rPr lang="en-US" dirty="0"/>
              <a:t> is respected</a:t>
            </a:r>
          </a:p>
          <a:p>
            <a:pPr lvl="1"/>
            <a:r>
              <a:rPr lang="en-US" dirty="0"/>
              <a:t>We put a limit </a:t>
            </a:r>
            <a:r>
              <a:rPr lang="en-US" b="1" i="1" dirty="0"/>
              <a:t>s</a:t>
            </a:r>
            <a:r>
              <a:rPr lang="en-US" dirty="0"/>
              <a:t> on the amount of input or output that any one process can have. </a:t>
            </a:r>
            <a:r>
              <a:rPr lang="en-US" b="1" i="1" dirty="0"/>
              <a:t>s</a:t>
            </a:r>
            <a:r>
              <a:rPr lang="en-US" b="1" dirty="0"/>
              <a:t> could be:</a:t>
            </a:r>
          </a:p>
          <a:p>
            <a:pPr lvl="2"/>
            <a:r>
              <a:rPr lang="en-US" dirty="0"/>
              <a:t>What fits in main memory</a:t>
            </a:r>
          </a:p>
          <a:p>
            <a:pPr lvl="2"/>
            <a:r>
              <a:rPr lang="en-US" dirty="0"/>
              <a:t>What fits on local disk</a:t>
            </a:r>
          </a:p>
          <a:p>
            <a:r>
              <a:rPr lang="en-US" dirty="0"/>
              <a:t>With proper indexes, computation cost is linear in the input + output size</a:t>
            </a:r>
          </a:p>
          <a:p>
            <a:pPr lvl="1"/>
            <a:r>
              <a:rPr lang="en-US" dirty="0"/>
              <a:t>So computation cost is like comm. cost</a:t>
            </a:r>
          </a:p>
        </p:txBody>
      </p:sp>
      <p:sp>
        <p:nvSpPr>
          <p:cNvPr id="7" name="Footer Placeholder 6"/>
          <p:cNvSpPr>
            <a:spLocks noGrp="1"/>
          </p:cNvSpPr>
          <p:nvPr>
            <p:ph type="ftr" sz="quarter" idx="11"/>
          </p:nvPr>
        </p:nvSpPr>
        <p:spPr/>
        <p:txBody>
          <a:bodyPr/>
          <a:lstStyle/>
          <a:p>
            <a:r>
              <a:rPr lang="en-US"/>
              <a:t>J. Leskovec, A. Rajaraman, J. Ullman: Mining of Massive Datasets, http://www.mmds.org</a:t>
            </a:r>
          </a:p>
        </p:txBody>
      </p:sp>
      <p:sp>
        <p:nvSpPr>
          <p:cNvPr id="8" name="Slide Number Placeholder 7"/>
          <p:cNvSpPr>
            <a:spLocks noGrp="1"/>
          </p:cNvSpPr>
          <p:nvPr>
            <p:ph type="sldNum" sz="quarter" idx="12"/>
          </p:nvPr>
        </p:nvSpPr>
        <p:spPr/>
        <p:txBody>
          <a:bodyPr/>
          <a:lstStyle/>
          <a:p>
            <a:fld id="{19B12225-5612-419B-A8D5-4B8EEE4C217E}" type="slidenum">
              <a:rPr lang="en-US" smtClean="0"/>
              <a:pPr/>
              <a:t>41</a:t>
            </a:fld>
            <a:endParaRPr lang="en-US"/>
          </a:p>
        </p:txBody>
      </p:sp>
    </p:spTree>
    <p:extLst>
      <p:ext uri="{BB962C8B-B14F-4D97-AF65-F5344CB8AC3E}">
        <p14:creationId xmlns:p14="http://schemas.microsoft.com/office/powerpoint/2010/main" val="3546823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r>
              <a:rPr lang="en-US"/>
              <a:t>Reading</a:t>
            </a:r>
          </a:p>
        </p:txBody>
      </p:sp>
      <p:sp>
        <p:nvSpPr>
          <p:cNvPr id="107523" name="Rectangle 3"/>
          <p:cNvSpPr>
            <a:spLocks noGrp="1" noChangeArrowheads="1"/>
          </p:cNvSpPr>
          <p:nvPr>
            <p:ph type="body" idx="1"/>
          </p:nvPr>
        </p:nvSpPr>
        <p:spPr/>
        <p:txBody>
          <a:bodyPr/>
          <a:lstStyle/>
          <a:p>
            <a:r>
              <a:rPr lang="en-US" dirty="0"/>
              <a:t>Jeffrey Dean and Sanjay </a:t>
            </a:r>
            <a:r>
              <a:rPr lang="en-US" dirty="0" err="1"/>
              <a:t>Ghemawat</a:t>
            </a:r>
            <a:r>
              <a:rPr lang="en-US" dirty="0"/>
              <a:t>: </a:t>
            </a:r>
            <a:r>
              <a:rPr lang="en-US" dirty="0" err="1"/>
              <a:t>MapReduce</a:t>
            </a:r>
            <a:r>
              <a:rPr lang="en-US" dirty="0"/>
              <a:t>: Simplified Data Processing   on Large Clusters</a:t>
            </a:r>
          </a:p>
          <a:p>
            <a:pPr lvl="1"/>
            <a:r>
              <a:rPr lang="en-US" dirty="0">
                <a:hlinkClick r:id="rId2"/>
              </a:rPr>
              <a:t>http://labs.google.com/papers/mapreduce.html</a:t>
            </a:r>
            <a:endParaRPr lang="en-US" dirty="0"/>
          </a:p>
          <a:p>
            <a:endParaRPr lang="en-US" dirty="0"/>
          </a:p>
          <a:p>
            <a:r>
              <a:rPr lang="en-US" dirty="0"/>
              <a:t>Sanjay </a:t>
            </a:r>
            <a:r>
              <a:rPr lang="en-US" dirty="0" err="1"/>
              <a:t>Ghemawat</a:t>
            </a:r>
            <a:r>
              <a:rPr lang="en-US" dirty="0"/>
              <a:t>, Howard </a:t>
            </a:r>
            <a:r>
              <a:rPr lang="en-US" dirty="0" err="1"/>
              <a:t>Gobioff</a:t>
            </a:r>
            <a:r>
              <a:rPr lang="en-US" dirty="0"/>
              <a:t>, and Shun-</a:t>
            </a:r>
            <a:r>
              <a:rPr lang="en-US" dirty="0" err="1"/>
              <a:t>Tak</a:t>
            </a:r>
            <a:r>
              <a:rPr lang="en-US" dirty="0"/>
              <a:t> Leung: The Google File System</a:t>
            </a:r>
          </a:p>
          <a:p>
            <a:pPr lvl="1"/>
            <a:r>
              <a:rPr lang="en-US" dirty="0">
                <a:hlinkClick r:id="rId3"/>
              </a:rPr>
              <a:t>http://labs.google.com/papers/gfs.html</a:t>
            </a:r>
            <a:r>
              <a:rPr lang="en-US" dirty="0"/>
              <a:t> </a:t>
            </a:r>
          </a:p>
        </p:txBody>
      </p:sp>
      <p:sp>
        <p:nvSpPr>
          <p:cNvPr id="3" name="Footer Placeholder 2"/>
          <p:cNvSpPr>
            <a:spLocks noGrp="1"/>
          </p:cNvSpPr>
          <p:nvPr>
            <p:ph type="ftr" sz="quarter" idx="11"/>
          </p:nvPr>
        </p:nvSpPr>
        <p:spPr/>
        <p:txBody>
          <a:bodyPr/>
          <a:lstStyle/>
          <a:p>
            <a:r>
              <a:rPr lang="en-US"/>
              <a:t>J. Leskovec, A. Rajaraman, J. Ullman: Mining of Massive Datasets, http://www.mmds.org</a:t>
            </a:r>
          </a:p>
        </p:txBody>
      </p:sp>
      <p:sp>
        <p:nvSpPr>
          <p:cNvPr id="4" name="Slide Number Placeholder 3"/>
          <p:cNvSpPr>
            <a:spLocks noGrp="1"/>
          </p:cNvSpPr>
          <p:nvPr>
            <p:ph type="sldNum" sz="quarter" idx="12"/>
          </p:nvPr>
        </p:nvSpPr>
        <p:spPr/>
        <p:txBody>
          <a:bodyPr/>
          <a:lstStyle/>
          <a:p>
            <a:fld id="{19B12225-5612-419B-A8D5-4B8EEE4C217E}" type="slidenum">
              <a:rPr lang="en-US" smtClean="0"/>
              <a:pPr/>
              <a:t>42</a:t>
            </a:fld>
            <a:endParaRPr lang="en-US"/>
          </a:p>
        </p:txBody>
      </p:sp>
    </p:spTree>
    <p:extLst>
      <p:ext uri="{BB962C8B-B14F-4D97-AF65-F5344CB8AC3E}">
        <p14:creationId xmlns:p14="http://schemas.microsoft.com/office/powerpoint/2010/main" val="845541032"/>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287D5-35E2-4DEA-BD08-63C34C733D8A}"/>
              </a:ext>
            </a:extLst>
          </p:cNvPr>
          <p:cNvSpPr>
            <a:spLocks noGrp="1"/>
          </p:cNvSpPr>
          <p:nvPr>
            <p:ph type="title"/>
          </p:nvPr>
        </p:nvSpPr>
        <p:spPr>
          <a:xfrm>
            <a:off x="457200" y="2819400"/>
            <a:ext cx="8229600" cy="987552"/>
          </a:xfrm>
        </p:spPr>
        <p:txBody>
          <a:bodyPr>
            <a:normAutofit fontScale="90000"/>
          </a:bodyPr>
          <a:lstStyle/>
          <a:p>
            <a:pPr algn="ctr"/>
            <a:r>
              <a:rPr lang="en-IN" dirty="0"/>
              <a:t>Extension of Map-Reduce Systems</a:t>
            </a:r>
          </a:p>
        </p:txBody>
      </p:sp>
      <p:sp>
        <p:nvSpPr>
          <p:cNvPr id="4" name="Footer Placeholder 3">
            <a:extLst>
              <a:ext uri="{FF2B5EF4-FFF2-40B4-BE49-F238E27FC236}">
                <a16:creationId xmlns:a16="http://schemas.microsoft.com/office/drawing/2014/main" id="{8D05BF45-82B4-47F0-8C0D-CCA46736D503}"/>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2EE0CCC6-4E39-4786-8AFA-30643F66CD88}"/>
              </a:ext>
            </a:extLst>
          </p:cNvPr>
          <p:cNvSpPr>
            <a:spLocks noGrp="1"/>
          </p:cNvSpPr>
          <p:nvPr>
            <p:ph type="sldNum" sz="quarter" idx="12"/>
          </p:nvPr>
        </p:nvSpPr>
        <p:spPr/>
        <p:txBody>
          <a:bodyPr/>
          <a:lstStyle/>
          <a:p>
            <a:fld id="{19B12225-5612-419B-A8D5-4B8EEE4C217E}" type="slidenum">
              <a:rPr lang="en-US" smtClean="0"/>
              <a:pPr/>
              <a:t>43</a:t>
            </a:fld>
            <a:endParaRPr lang="en-US"/>
          </a:p>
        </p:txBody>
      </p:sp>
    </p:spTree>
    <p:extLst>
      <p:ext uri="{BB962C8B-B14F-4D97-AF65-F5344CB8AC3E}">
        <p14:creationId xmlns:p14="http://schemas.microsoft.com/office/powerpoint/2010/main" val="2384763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FFDF0-A640-4DF2-81A2-B807D29A18ED}"/>
              </a:ext>
            </a:extLst>
          </p:cNvPr>
          <p:cNvSpPr>
            <a:spLocks noGrp="1"/>
          </p:cNvSpPr>
          <p:nvPr>
            <p:ph type="title"/>
          </p:nvPr>
        </p:nvSpPr>
        <p:spPr/>
        <p:txBody>
          <a:bodyPr/>
          <a:lstStyle/>
          <a:p>
            <a:r>
              <a:rPr lang="en-IN" dirty="0"/>
              <a:t>Workflow System</a:t>
            </a:r>
          </a:p>
        </p:txBody>
      </p:sp>
      <p:sp>
        <p:nvSpPr>
          <p:cNvPr id="3" name="Content Placeholder 2">
            <a:extLst>
              <a:ext uri="{FF2B5EF4-FFF2-40B4-BE49-F238E27FC236}">
                <a16:creationId xmlns:a16="http://schemas.microsoft.com/office/drawing/2014/main" id="{7163653B-A54E-4458-9F7C-AFA1C46D3C66}"/>
              </a:ext>
            </a:extLst>
          </p:cNvPr>
          <p:cNvSpPr>
            <a:spLocks noGrp="1"/>
          </p:cNvSpPr>
          <p:nvPr>
            <p:ph idx="1"/>
          </p:nvPr>
        </p:nvSpPr>
        <p:spPr/>
        <p:txBody>
          <a:bodyPr/>
          <a:lstStyle/>
          <a:p>
            <a:r>
              <a:rPr lang="en-IN" dirty="0"/>
              <a:t>Examples</a:t>
            </a:r>
          </a:p>
          <a:p>
            <a:pPr lvl="1"/>
            <a:r>
              <a:rPr lang="en-IN" dirty="0"/>
              <a:t>Apache Spark </a:t>
            </a:r>
          </a:p>
          <a:p>
            <a:pPr lvl="1"/>
            <a:r>
              <a:rPr lang="en-IN" dirty="0"/>
              <a:t>Tensor Flow</a:t>
            </a:r>
          </a:p>
          <a:p>
            <a:r>
              <a:rPr lang="en-IN" dirty="0"/>
              <a:t>Acyclic network of functions with each function implemented by a collection of tasks</a:t>
            </a:r>
          </a:p>
          <a:p>
            <a:endParaRPr lang="en-IN" dirty="0"/>
          </a:p>
        </p:txBody>
      </p:sp>
      <p:sp>
        <p:nvSpPr>
          <p:cNvPr id="4" name="Footer Placeholder 3">
            <a:extLst>
              <a:ext uri="{FF2B5EF4-FFF2-40B4-BE49-F238E27FC236}">
                <a16:creationId xmlns:a16="http://schemas.microsoft.com/office/drawing/2014/main" id="{AEC8382D-A12F-442E-9641-0A03178DF3FC}"/>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98DDE8DD-1C4B-414B-B95F-30BF6850CECE}"/>
              </a:ext>
            </a:extLst>
          </p:cNvPr>
          <p:cNvSpPr>
            <a:spLocks noGrp="1"/>
          </p:cNvSpPr>
          <p:nvPr>
            <p:ph type="sldNum" sz="quarter" idx="12"/>
          </p:nvPr>
        </p:nvSpPr>
        <p:spPr/>
        <p:txBody>
          <a:bodyPr/>
          <a:lstStyle/>
          <a:p>
            <a:fld id="{19B12225-5612-419B-A8D5-4B8EEE4C217E}" type="slidenum">
              <a:rPr lang="en-US" smtClean="0"/>
              <a:pPr/>
              <a:t>44</a:t>
            </a:fld>
            <a:endParaRPr lang="en-US"/>
          </a:p>
        </p:txBody>
      </p:sp>
      <p:pic>
        <p:nvPicPr>
          <p:cNvPr id="7" name="Picture 6">
            <a:extLst>
              <a:ext uri="{FF2B5EF4-FFF2-40B4-BE49-F238E27FC236}">
                <a16:creationId xmlns:a16="http://schemas.microsoft.com/office/drawing/2014/main" id="{459565DC-58D6-4121-98A1-BD76DEE5FD2C}"/>
              </a:ext>
            </a:extLst>
          </p:cNvPr>
          <p:cNvPicPr>
            <a:picLocks noChangeAspect="1"/>
          </p:cNvPicPr>
          <p:nvPr/>
        </p:nvPicPr>
        <p:blipFill>
          <a:blip r:embed="rId2"/>
          <a:stretch>
            <a:fillRect/>
          </a:stretch>
        </p:blipFill>
        <p:spPr>
          <a:xfrm>
            <a:off x="1752600" y="4038600"/>
            <a:ext cx="5181600" cy="2376379"/>
          </a:xfrm>
          <a:prstGeom prst="rect">
            <a:avLst/>
          </a:prstGeom>
        </p:spPr>
      </p:pic>
      <mc:AlternateContent xmlns:mc="http://schemas.openxmlformats.org/markup-compatibility/2006" xmlns:p14="http://schemas.microsoft.com/office/powerpoint/2010/main">
        <mc:Choice Requires="p14">
          <p:contentPart p14:bwMode="auto" r:id="rId3">
            <p14:nvContentPartPr>
              <p14:cNvPr id="17" name="Ink 16">
                <a:extLst>
                  <a:ext uri="{FF2B5EF4-FFF2-40B4-BE49-F238E27FC236}">
                    <a16:creationId xmlns:a16="http://schemas.microsoft.com/office/drawing/2014/main" id="{DC29277C-6CF3-40D5-A23F-2A7F761824C5}"/>
                  </a:ext>
                </a:extLst>
              </p14:cNvPr>
              <p14:cNvContentPartPr/>
              <p14:nvPr/>
            </p14:nvContentPartPr>
            <p14:xfrm>
              <a:off x="2860204" y="4764566"/>
              <a:ext cx="360" cy="360"/>
            </p14:xfrm>
          </p:contentPart>
        </mc:Choice>
        <mc:Fallback xmlns="">
          <p:pic>
            <p:nvPicPr>
              <p:cNvPr id="17" name="Ink 16">
                <a:extLst>
                  <a:ext uri="{FF2B5EF4-FFF2-40B4-BE49-F238E27FC236}">
                    <a16:creationId xmlns:a16="http://schemas.microsoft.com/office/drawing/2014/main" id="{DC29277C-6CF3-40D5-A23F-2A7F761824C5}"/>
                  </a:ext>
                </a:extLst>
              </p:cNvPr>
              <p:cNvPicPr/>
              <p:nvPr/>
            </p:nvPicPr>
            <p:blipFill>
              <a:blip r:embed="rId4"/>
              <a:stretch>
                <a:fillRect/>
              </a:stretch>
            </p:blipFill>
            <p:spPr>
              <a:xfrm>
                <a:off x="2851564" y="4755926"/>
                <a:ext cx="18000" cy="18000"/>
              </a:xfrm>
              <a:prstGeom prst="rect">
                <a:avLst/>
              </a:prstGeom>
            </p:spPr>
          </p:pic>
        </mc:Fallback>
      </mc:AlternateContent>
    </p:spTree>
    <p:extLst>
      <p:ext uri="{BB962C8B-B14F-4D97-AF65-F5344CB8AC3E}">
        <p14:creationId xmlns:p14="http://schemas.microsoft.com/office/powerpoint/2010/main" val="21175727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38613-8031-4B1A-9431-0188C3247712}"/>
              </a:ext>
            </a:extLst>
          </p:cNvPr>
          <p:cNvSpPr>
            <a:spLocks noGrp="1"/>
          </p:cNvSpPr>
          <p:nvPr>
            <p:ph type="title"/>
          </p:nvPr>
        </p:nvSpPr>
        <p:spPr/>
        <p:txBody>
          <a:bodyPr/>
          <a:lstStyle/>
          <a:p>
            <a:r>
              <a:rPr lang="en-IN" dirty="0"/>
              <a:t>Workflow System: advantage</a:t>
            </a:r>
          </a:p>
        </p:txBody>
      </p:sp>
      <p:sp>
        <p:nvSpPr>
          <p:cNvPr id="3" name="Content Placeholder 2">
            <a:extLst>
              <a:ext uri="{FF2B5EF4-FFF2-40B4-BE49-F238E27FC236}">
                <a16:creationId xmlns:a16="http://schemas.microsoft.com/office/drawing/2014/main" id="{069A707B-65C3-4FAB-949B-4B61CFB39566}"/>
              </a:ext>
            </a:extLst>
          </p:cNvPr>
          <p:cNvSpPr>
            <a:spLocks noGrp="1"/>
          </p:cNvSpPr>
          <p:nvPr>
            <p:ph idx="1"/>
          </p:nvPr>
        </p:nvSpPr>
        <p:spPr/>
        <p:txBody>
          <a:bodyPr/>
          <a:lstStyle/>
          <a:p>
            <a:r>
              <a:rPr lang="en-IN" dirty="0"/>
              <a:t>Instead of cascade single workflow can be designed.</a:t>
            </a:r>
          </a:p>
          <a:p>
            <a:pPr lvl="1"/>
            <a:r>
              <a:rPr lang="en-IN" dirty="0"/>
              <a:t>Data IOs are saved.</a:t>
            </a:r>
          </a:p>
          <a:p>
            <a:pPr lvl="1"/>
            <a:r>
              <a:rPr lang="en-IN" dirty="0"/>
              <a:t>Data can be reused across multiple tasks.</a:t>
            </a:r>
          </a:p>
        </p:txBody>
      </p:sp>
      <p:sp>
        <p:nvSpPr>
          <p:cNvPr id="4" name="Footer Placeholder 3">
            <a:extLst>
              <a:ext uri="{FF2B5EF4-FFF2-40B4-BE49-F238E27FC236}">
                <a16:creationId xmlns:a16="http://schemas.microsoft.com/office/drawing/2014/main" id="{72AE5518-AAD6-4A2C-9244-462DC9F30F47}"/>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207C9CCD-EEF5-4480-9D98-58A08CCE8A84}"/>
              </a:ext>
            </a:extLst>
          </p:cNvPr>
          <p:cNvSpPr>
            <a:spLocks noGrp="1"/>
          </p:cNvSpPr>
          <p:nvPr>
            <p:ph type="sldNum" sz="quarter" idx="12"/>
          </p:nvPr>
        </p:nvSpPr>
        <p:spPr/>
        <p:txBody>
          <a:bodyPr/>
          <a:lstStyle/>
          <a:p>
            <a:fld id="{19B12225-5612-419B-A8D5-4B8EEE4C217E}" type="slidenum">
              <a:rPr lang="en-US" smtClean="0"/>
              <a:pPr/>
              <a:t>45</a:t>
            </a:fld>
            <a:endParaRPr lang="en-US"/>
          </a:p>
        </p:txBody>
      </p:sp>
    </p:spTree>
    <p:extLst>
      <p:ext uri="{BB962C8B-B14F-4D97-AF65-F5344CB8AC3E}">
        <p14:creationId xmlns:p14="http://schemas.microsoft.com/office/powerpoint/2010/main" val="2100361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4DFE1E-4AE2-4FDE-A851-86E1276D5E83}"/>
              </a:ext>
            </a:extLst>
          </p:cNvPr>
          <p:cNvSpPr>
            <a:spLocks noGrp="1"/>
          </p:cNvSpPr>
          <p:nvPr>
            <p:ph type="title"/>
          </p:nvPr>
        </p:nvSpPr>
        <p:spPr/>
        <p:txBody>
          <a:bodyPr/>
          <a:lstStyle/>
          <a:p>
            <a:r>
              <a:rPr lang="en-IN" dirty="0"/>
              <a:t>Apache Spark</a:t>
            </a:r>
          </a:p>
        </p:txBody>
      </p:sp>
      <p:sp>
        <p:nvSpPr>
          <p:cNvPr id="3" name="Content Placeholder 2">
            <a:extLst>
              <a:ext uri="{FF2B5EF4-FFF2-40B4-BE49-F238E27FC236}">
                <a16:creationId xmlns:a16="http://schemas.microsoft.com/office/drawing/2014/main" id="{89A0A6E8-2B64-43CB-B451-7C132902E43C}"/>
              </a:ext>
            </a:extLst>
          </p:cNvPr>
          <p:cNvSpPr>
            <a:spLocks noGrp="1"/>
          </p:cNvSpPr>
          <p:nvPr>
            <p:ph idx="1"/>
          </p:nvPr>
        </p:nvSpPr>
        <p:spPr/>
        <p:txBody>
          <a:bodyPr/>
          <a:lstStyle/>
          <a:p>
            <a:r>
              <a:rPr lang="en-IN" dirty="0"/>
              <a:t>Efficient way of coping with failures</a:t>
            </a:r>
          </a:p>
          <a:p>
            <a:pPr lvl="1"/>
            <a:r>
              <a:rPr lang="en-IN" dirty="0"/>
              <a:t>Lineage </a:t>
            </a:r>
          </a:p>
          <a:p>
            <a:r>
              <a:rPr lang="en-IN" dirty="0"/>
              <a:t>Integration of programming concepts like looping and function libraries</a:t>
            </a:r>
          </a:p>
          <a:p>
            <a:r>
              <a:rPr lang="en-IN" dirty="0"/>
              <a:t>Use RDD concept (Resilient Distributed Dataset)</a:t>
            </a:r>
          </a:p>
          <a:p>
            <a:pPr lvl="1"/>
            <a:r>
              <a:rPr lang="en-IN" dirty="0"/>
              <a:t>File of objects of one type</a:t>
            </a:r>
          </a:p>
          <a:p>
            <a:pPr lvl="1"/>
            <a:r>
              <a:rPr lang="en-IN" dirty="0"/>
              <a:t>No restriction of being key-value pairs</a:t>
            </a:r>
          </a:p>
          <a:p>
            <a:pPr lvl="1"/>
            <a:r>
              <a:rPr lang="en-IN" dirty="0"/>
              <a:t>Distributed among compute nodes through chunks</a:t>
            </a:r>
          </a:p>
        </p:txBody>
      </p:sp>
      <p:sp>
        <p:nvSpPr>
          <p:cNvPr id="4" name="Footer Placeholder 3">
            <a:extLst>
              <a:ext uri="{FF2B5EF4-FFF2-40B4-BE49-F238E27FC236}">
                <a16:creationId xmlns:a16="http://schemas.microsoft.com/office/drawing/2014/main" id="{8B1A31DD-2F74-4279-B4B3-C8F475027C86}"/>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27E7F9F4-07AF-48A1-9A67-1E820A515259}"/>
              </a:ext>
            </a:extLst>
          </p:cNvPr>
          <p:cNvSpPr>
            <a:spLocks noGrp="1"/>
          </p:cNvSpPr>
          <p:nvPr>
            <p:ph type="sldNum" sz="quarter" idx="12"/>
          </p:nvPr>
        </p:nvSpPr>
        <p:spPr/>
        <p:txBody>
          <a:bodyPr/>
          <a:lstStyle/>
          <a:p>
            <a:fld id="{19B12225-5612-419B-A8D5-4B8EEE4C217E}" type="slidenum">
              <a:rPr lang="en-US" smtClean="0"/>
              <a:pPr/>
              <a:t>46</a:t>
            </a:fld>
            <a:endParaRPr lang="en-US"/>
          </a:p>
        </p:txBody>
      </p:sp>
    </p:spTree>
    <p:extLst>
      <p:ext uri="{BB962C8B-B14F-4D97-AF65-F5344CB8AC3E}">
        <p14:creationId xmlns:p14="http://schemas.microsoft.com/office/powerpoint/2010/main" val="16777194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55E74-8076-40E5-BB8C-609D12C8B2FE}"/>
              </a:ext>
            </a:extLst>
          </p:cNvPr>
          <p:cNvSpPr>
            <a:spLocks noGrp="1"/>
          </p:cNvSpPr>
          <p:nvPr>
            <p:ph type="title"/>
          </p:nvPr>
        </p:nvSpPr>
        <p:spPr/>
        <p:txBody>
          <a:bodyPr/>
          <a:lstStyle/>
          <a:p>
            <a:r>
              <a:rPr lang="en-IN" dirty="0"/>
              <a:t>Spark Implementation</a:t>
            </a:r>
          </a:p>
        </p:txBody>
      </p:sp>
      <p:sp>
        <p:nvSpPr>
          <p:cNvPr id="3" name="Content Placeholder 2">
            <a:extLst>
              <a:ext uri="{FF2B5EF4-FFF2-40B4-BE49-F238E27FC236}">
                <a16:creationId xmlns:a16="http://schemas.microsoft.com/office/drawing/2014/main" id="{124D310C-787F-454F-BEE9-F0362AD72468}"/>
              </a:ext>
            </a:extLst>
          </p:cNvPr>
          <p:cNvSpPr>
            <a:spLocks noGrp="1"/>
          </p:cNvSpPr>
          <p:nvPr>
            <p:ph idx="1"/>
          </p:nvPr>
        </p:nvSpPr>
        <p:spPr/>
        <p:txBody>
          <a:bodyPr/>
          <a:lstStyle/>
          <a:p>
            <a:r>
              <a:rPr lang="en-IN" dirty="0"/>
              <a:t>Lazy evaluation of RDD</a:t>
            </a:r>
          </a:p>
          <a:p>
            <a:r>
              <a:rPr lang="en-IN" dirty="0"/>
              <a:t>Lineage of RDD</a:t>
            </a:r>
          </a:p>
          <a:p>
            <a:pPr lvl="1"/>
            <a:r>
              <a:rPr lang="en-IN" dirty="0"/>
              <a:t>A failure recovery implementation mechanism</a:t>
            </a:r>
          </a:p>
          <a:p>
            <a:r>
              <a:rPr lang="en-IN" dirty="0"/>
              <a:t>Computation time vs Failure recovery time</a:t>
            </a:r>
          </a:p>
          <a:p>
            <a:pPr lvl="1"/>
            <a:r>
              <a:rPr lang="en-IN" dirty="0"/>
              <a:t>Less the computation time, higher the probability of completing the task, lesser the probability of failure.</a:t>
            </a:r>
          </a:p>
        </p:txBody>
      </p:sp>
      <p:sp>
        <p:nvSpPr>
          <p:cNvPr id="4" name="Footer Placeholder 3">
            <a:extLst>
              <a:ext uri="{FF2B5EF4-FFF2-40B4-BE49-F238E27FC236}">
                <a16:creationId xmlns:a16="http://schemas.microsoft.com/office/drawing/2014/main" id="{F423C9A0-0ABC-482A-86D5-F6126CDD980C}"/>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6F988B17-DF08-4CDD-8E04-D9FCBD24ADF2}"/>
              </a:ext>
            </a:extLst>
          </p:cNvPr>
          <p:cNvSpPr>
            <a:spLocks noGrp="1"/>
          </p:cNvSpPr>
          <p:nvPr>
            <p:ph type="sldNum" sz="quarter" idx="12"/>
          </p:nvPr>
        </p:nvSpPr>
        <p:spPr/>
        <p:txBody>
          <a:bodyPr/>
          <a:lstStyle/>
          <a:p>
            <a:fld id="{19B12225-5612-419B-A8D5-4B8EEE4C217E}" type="slidenum">
              <a:rPr lang="en-US" smtClean="0"/>
              <a:pPr/>
              <a:t>47</a:t>
            </a:fld>
            <a:endParaRPr lang="en-US"/>
          </a:p>
        </p:txBody>
      </p:sp>
    </p:spTree>
    <p:extLst>
      <p:ext uri="{BB962C8B-B14F-4D97-AF65-F5344CB8AC3E}">
        <p14:creationId xmlns:p14="http://schemas.microsoft.com/office/powerpoint/2010/main" val="260280170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4AC08-5707-4845-A223-03D70F60FEEA}"/>
              </a:ext>
            </a:extLst>
          </p:cNvPr>
          <p:cNvSpPr>
            <a:spLocks noGrp="1"/>
          </p:cNvSpPr>
          <p:nvPr>
            <p:ph type="title"/>
          </p:nvPr>
        </p:nvSpPr>
        <p:spPr/>
        <p:txBody>
          <a:bodyPr>
            <a:normAutofit fontScale="90000"/>
          </a:bodyPr>
          <a:lstStyle/>
          <a:p>
            <a:r>
              <a:rPr lang="en-IN" dirty="0"/>
              <a:t>Recursive Extension to Map-Reduce</a:t>
            </a:r>
          </a:p>
        </p:txBody>
      </p:sp>
      <p:sp>
        <p:nvSpPr>
          <p:cNvPr id="3" name="Content Placeholder 2">
            <a:extLst>
              <a:ext uri="{FF2B5EF4-FFF2-40B4-BE49-F238E27FC236}">
                <a16:creationId xmlns:a16="http://schemas.microsoft.com/office/drawing/2014/main" id="{317734C4-19DE-4337-8DDA-4F4BAB6009CE}"/>
              </a:ext>
            </a:extLst>
          </p:cNvPr>
          <p:cNvSpPr>
            <a:spLocks noGrp="1"/>
          </p:cNvSpPr>
          <p:nvPr>
            <p:ph idx="1"/>
          </p:nvPr>
        </p:nvSpPr>
        <p:spPr>
          <a:xfrm>
            <a:off x="457200" y="1295400"/>
            <a:ext cx="4191000" cy="5257801"/>
          </a:xfrm>
        </p:spPr>
        <p:txBody>
          <a:bodyPr/>
          <a:lstStyle/>
          <a:p>
            <a:r>
              <a:rPr lang="en-IN" dirty="0"/>
              <a:t>Recursive tasks</a:t>
            </a:r>
          </a:p>
          <a:p>
            <a:pPr lvl="1"/>
            <a:r>
              <a:rPr lang="en-IN" dirty="0"/>
              <a:t>Page Rank computation</a:t>
            </a:r>
          </a:p>
          <a:p>
            <a:pPr lvl="1"/>
            <a:r>
              <a:rPr lang="en-IN" dirty="0"/>
              <a:t>Gradient Descent </a:t>
            </a:r>
          </a:p>
          <a:p>
            <a:r>
              <a:rPr lang="en-IN" dirty="0"/>
              <a:t>Transitive closure of E(X,Y)</a:t>
            </a:r>
          </a:p>
          <a:p>
            <a:pPr lvl="1"/>
            <a:r>
              <a:rPr lang="en-IN" dirty="0"/>
              <a:t>Compute Paths relation P(X,Y)</a:t>
            </a:r>
          </a:p>
        </p:txBody>
      </p:sp>
      <p:sp>
        <p:nvSpPr>
          <p:cNvPr id="4" name="Footer Placeholder 3">
            <a:extLst>
              <a:ext uri="{FF2B5EF4-FFF2-40B4-BE49-F238E27FC236}">
                <a16:creationId xmlns:a16="http://schemas.microsoft.com/office/drawing/2014/main" id="{B2098F25-FD6D-44B2-A20C-DC96782BA7B0}"/>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E289CA8B-B846-402D-AA44-06844B638E0B}"/>
              </a:ext>
            </a:extLst>
          </p:cNvPr>
          <p:cNvSpPr>
            <a:spLocks noGrp="1"/>
          </p:cNvSpPr>
          <p:nvPr>
            <p:ph type="sldNum" sz="quarter" idx="12"/>
          </p:nvPr>
        </p:nvSpPr>
        <p:spPr/>
        <p:txBody>
          <a:bodyPr/>
          <a:lstStyle/>
          <a:p>
            <a:fld id="{19B12225-5612-419B-A8D5-4B8EEE4C217E}" type="slidenum">
              <a:rPr lang="en-US" smtClean="0"/>
              <a:pPr/>
              <a:t>48</a:t>
            </a:fld>
            <a:endParaRPr lang="en-US"/>
          </a:p>
        </p:txBody>
      </p:sp>
      <p:pic>
        <p:nvPicPr>
          <p:cNvPr id="7" name="Picture 6">
            <a:extLst>
              <a:ext uri="{FF2B5EF4-FFF2-40B4-BE49-F238E27FC236}">
                <a16:creationId xmlns:a16="http://schemas.microsoft.com/office/drawing/2014/main" id="{CF2FABBF-FE39-4EAF-9BBC-CF03B4A68F7A}"/>
              </a:ext>
            </a:extLst>
          </p:cNvPr>
          <p:cNvPicPr>
            <a:picLocks noChangeAspect="1"/>
          </p:cNvPicPr>
          <p:nvPr/>
        </p:nvPicPr>
        <p:blipFill>
          <a:blip r:embed="rId2"/>
          <a:stretch>
            <a:fillRect/>
          </a:stretch>
        </p:blipFill>
        <p:spPr>
          <a:xfrm>
            <a:off x="4500408" y="1600200"/>
            <a:ext cx="4491192" cy="4572000"/>
          </a:xfrm>
          <a:prstGeom prst="rect">
            <a:avLst/>
          </a:prstGeom>
        </p:spPr>
      </p:pic>
      <mc:AlternateContent xmlns:mc="http://schemas.openxmlformats.org/markup-compatibility/2006" xmlns:p14="http://schemas.microsoft.com/office/powerpoint/2010/main">
        <mc:Choice Requires="p14">
          <p:contentPart p14:bwMode="auto" r:id="rId3">
            <p14:nvContentPartPr>
              <p14:cNvPr id="77" name="Ink 76">
                <a:extLst>
                  <a:ext uri="{FF2B5EF4-FFF2-40B4-BE49-F238E27FC236}">
                    <a16:creationId xmlns:a16="http://schemas.microsoft.com/office/drawing/2014/main" id="{E6E74543-0E46-449E-88F6-FF293256F5BE}"/>
                  </a:ext>
                </a:extLst>
              </p14:cNvPr>
              <p14:cNvContentPartPr/>
              <p14:nvPr/>
            </p14:nvContentPartPr>
            <p14:xfrm>
              <a:off x="2797924" y="5286926"/>
              <a:ext cx="18720" cy="6840"/>
            </p14:xfrm>
          </p:contentPart>
        </mc:Choice>
        <mc:Fallback xmlns="">
          <p:pic>
            <p:nvPicPr>
              <p:cNvPr id="77" name="Ink 76">
                <a:extLst>
                  <a:ext uri="{FF2B5EF4-FFF2-40B4-BE49-F238E27FC236}">
                    <a16:creationId xmlns:a16="http://schemas.microsoft.com/office/drawing/2014/main" id="{E6E74543-0E46-449E-88F6-FF293256F5BE}"/>
                  </a:ext>
                </a:extLst>
              </p:cNvPr>
              <p:cNvPicPr/>
              <p:nvPr/>
            </p:nvPicPr>
            <p:blipFill>
              <a:blip r:embed="rId4"/>
              <a:stretch>
                <a:fillRect/>
              </a:stretch>
            </p:blipFill>
            <p:spPr>
              <a:xfrm>
                <a:off x="2789284" y="5278286"/>
                <a:ext cx="36360" cy="24480"/>
              </a:xfrm>
              <a:prstGeom prst="rect">
                <a:avLst/>
              </a:prstGeom>
            </p:spPr>
          </p:pic>
        </mc:Fallback>
      </mc:AlternateContent>
    </p:spTree>
    <p:extLst>
      <p:ext uri="{BB962C8B-B14F-4D97-AF65-F5344CB8AC3E}">
        <p14:creationId xmlns:p14="http://schemas.microsoft.com/office/powerpoint/2010/main" val="1407208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DFE70A-B03A-4EE8-9244-DBA88BDE4EA0}"/>
              </a:ext>
            </a:extLst>
          </p:cNvPr>
          <p:cNvSpPr>
            <a:spLocks noGrp="1"/>
          </p:cNvSpPr>
          <p:nvPr>
            <p:ph type="title"/>
          </p:nvPr>
        </p:nvSpPr>
        <p:spPr>
          <a:xfrm>
            <a:off x="0" y="76200"/>
            <a:ext cx="8991600" cy="987552"/>
          </a:xfrm>
        </p:spPr>
        <p:txBody>
          <a:bodyPr>
            <a:normAutofit fontScale="90000"/>
          </a:bodyPr>
          <a:lstStyle/>
          <a:p>
            <a:r>
              <a:rPr lang="en-IN" dirty="0"/>
              <a:t>Failure handling for Recursive Systems</a:t>
            </a:r>
          </a:p>
        </p:txBody>
      </p:sp>
      <p:sp>
        <p:nvSpPr>
          <p:cNvPr id="3" name="Content Placeholder 2">
            <a:extLst>
              <a:ext uri="{FF2B5EF4-FFF2-40B4-BE49-F238E27FC236}">
                <a16:creationId xmlns:a16="http://schemas.microsoft.com/office/drawing/2014/main" id="{A1CF967B-AD36-490A-8765-90C2A0C15401}"/>
              </a:ext>
            </a:extLst>
          </p:cNvPr>
          <p:cNvSpPr>
            <a:spLocks noGrp="1"/>
          </p:cNvSpPr>
          <p:nvPr>
            <p:ph idx="1"/>
          </p:nvPr>
        </p:nvSpPr>
        <p:spPr/>
        <p:txBody>
          <a:bodyPr/>
          <a:lstStyle/>
          <a:p>
            <a:r>
              <a:rPr lang="en-IN" dirty="0"/>
              <a:t>Iterative Map-Reduce job</a:t>
            </a:r>
          </a:p>
          <a:p>
            <a:pPr lvl="1"/>
            <a:r>
              <a:rPr lang="en-IN" dirty="0"/>
              <a:t>Data materialization on reliable storage, and data replicas.</a:t>
            </a:r>
          </a:p>
          <a:p>
            <a:r>
              <a:rPr lang="en-IN" dirty="0"/>
              <a:t>Apache Spark Approach</a:t>
            </a:r>
          </a:p>
          <a:p>
            <a:pPr lvl="1"/>
            <a:r>
              <a:rPr lang="en-IN" dirty="0"/>
              <a:t>Lineage</a:t>
            </a:r>
          </a:p>
          <a:p>
            <a:r>
              <a:rPr lang="en-IN" dirty="0"/>
              <a:t>Bulk Synchronous System</a:t>
            </a:r>
          </a:p>
          <a:p>
            <a:pPr lvl="1"/>
            <a:r>
              <a:rPr lang="en-IN" dirty="0"/>
              <a:t>Checkpointing Mechanism</a:t>
            </a:r>
          </a:p>
        </p:txBody>
      </p:sp>
      <p:sp>
        <p:nvSpPr>
          <p:cNvPr id="4" name="Footer Placeholder 3">
            <a:extLst>
              <a:ext uri="{FF2B5EF4-FFF2-40B4-BE49-F238E27FC236}">
                <a16:creationId xmlns:a16="http://schemas.microsoft.com/office/drawing/2014/main" id="{60731991-2334-4BA8-B728-1BEA4B89FAAE}"/>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F88BF68C-5C9D-4E53-A22B-B8F6811F7C52}"/>
              </a:ext>
            </a:extLst>
          </p:cNvPr>
          <p:cNvSpPr>
            <a:spLocks noGrp="1"/>
          </p:cNvSpPr>
          <p:nvPr>
            <p:ph type="sldNum" sz="quarter" idx="12"/>
          </p:nvPr>
        </p:nvSpPr>
        <p:spPr/>
        <p:txBody>
          <a:bodyPr/>
          <a:lstStyle/>
          <a:p>
            <a:fld id="{19B12225-5612-419B-A8D5-4B8EEE4C217E}" type="slidenum">
              <a:rPr lang="en-US" smtClean="0"/>
              <a:pPr/>
              <a:t>49</a:t>
            </a:fld>
            <a:endParaRPr lang="en-US"/>
          </a:p>
        </p:txBody>
      </p:sp>
    </p:spTree>
    <p:extLst>
      <p:ext uri="{BB962C8B-B14F-4D97-AF65-F5344CB8AC3E}">
        <p14:creationId xmlns:p14="http://schemas.microsoft.com/office/powerpoint/2010/main" val="26969865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B8C65B-D523-40C9-81A4-4A7190D4BCAC}"/>
              </a:ext>
            </a:extLst>
          </p:cNvPr>
          <p:cNvSpPr>
            <a:spLocks noGrp="1"/>
          </p:cNvSpPr>
          <p:nvPr>
            <p:ph type="title"/>
          </p:nvPr>
        </p:nvSpPr>
        <p:spPr>
          <a:xfrm>
            <a:off x="341728" y="3048000"/>
            <a:ext cx="8229600" cy="987552"/>
          </a:xfrm>
        </p:spPr>
        <p:txBody>
          <a:bodyPr/>
          <a:lstStyle/>
          <a:p>
            <a:r>
              <a:rPr lang="en-IN" dirty="0"/>
              <a:t>Question?</a:t>
            </a:r>
          </a:p>
        </p:txBody>
      </p:sp>
      <p:sp>
        <p:nvSpPr>
          <p:cNvPr id="4" name="Footer Placeholder 3">
            <a:extLst>
              <a:ext uri="{FF2B5EF4-FFF2-40B4-BE49-F238E27FC236}">
                <a16:creationId xmlns:a16="http://schemas.microsoft.com/office/drawing/2014/main" id="{BA636D13-420D-4387-B62A-D5B8C614A4F4}"/>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6F8A4F18-5F13-419B-897D-C36283726D65}"/>
              </a:ext>
            </a:extLst>
          </p:cNvPr>
          <p:cNvSpPr>
            <a:spLocks noGrp="1"/>
          </p:cNvSpPr>
          <p:nvPr>
            <p:ph type="sldNum" sz="quarter" idx="12"/>
          </p:nvPr>
        </p:nvSpPr>
        <p:spPr/>
        <p:txBody>
          <a:bodyPr/>
          <a:lstStyle/>
          <a:p>
            <a:fld id="{19B12225-5612-419B-A8D5-4B8EEE4C217E}" type="slidenum">
              <a:rPr lang="en-US" smtClean="0"/>
              <a:pPr/>
              <a:t>50</a:t>
            </a:fld>
            <a:endParaRPr lang="en-US"/>
          </a:p>
        </p:txBody>
      </p:sp>
    </p:spTree>
    <p:extLst>
      <p:ext uri="{BB962C8B-B14F-4D97-AF65-F5344CB8AC3E}">
        <p14:creationId xmlns:p14="http://schemas.microsoft.com/office/powerpoint/2010/main" val="39749730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E1BF7C-C226-9620-B834-B08F91227F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204C2E-1F45-5DB0-1549-08FF1BCF01B6}"/>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9F3E5C1F-A61B-CC29-14C1-E6D6AA2BC1F0}"/>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E871E2CC-D8FE-DB26-33C6-257F2BA88747}"/>
              </a:ext>
            </a:extLst>
          </p:cNvPr>
          <p:cNvSpPr>
            <a:spLocks noGrp="1"/>
          </p:cNvSpPr>
          <p:nvPr>
            <p:ph type="sldNum" sz="quarter" idx="12"/>
          </p:nvPr>
        </p:nvSpPr>
        <p:spPr/>
        <p:txBody>
          <a:bodyPr/>
          <a:lstStyle/>
          <a:p>
            <a:fld id="{19B12225-5612-419B-A8D5-4B8EEE4C217E}" type="slidenum">
              <a:rPr lang="en-US" smtClean="0"/>
              <a:pPr/>
              <a:t>51</a:t>
            </a:fld>
            <a:endParaRPr lang="en-US"/>
          </a:p>
        </p:txBody>
      </p:sp>
    </p:spTree>
    <p:extLst>
      <p:ext uri="{BB962C8B-B14F-4D97-AF65-F5344CB8AC3E}">
        <p14:creationId xmlns:p14="http://schemas.microsoft.com/office/powerpoint/2010/main" val="29932595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173DA-CC51-2DC5-71D3-9788F7627BC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43D9E4C-77AF-76A5-BEA7-7AA1DB6BE3DC}"/>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75E1D496-06C0-1398-8408-168267B33D04}"/>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79EC6653-6FB5-114F-E73F-7198264C65AD}"/>
              </a:ext>
            </a:extLst>
          </p:cNvPr>
          <p:cNvSpPr>
            <a:spLocks noGrp="1"/>
          </p:cNvSpPr>
          <p:nvPr>
            <p:ph type="sldNum" sz="quarter" idx="12"/>
          </p:nvPr>
        </p:nvSpPr>
        <p:spPr/>
        <p:txBody>
          <a:bodyPr/>
          <a:lstStyle/>
          <a:p>
            <a:fld id="{19B12225-5612-419B-A8D5-4B8EEE4C217E}" type="slidenum">
              <a:rPr lang="en-US" smtClean="0"/>
              <a:pPr/>
              <a:t>52</a:t>
            </a:fld>
            <a:endParaRPr lang="en-US"/>
          </a:p>
        </p:txBody>
      </p:sp>
    </p:spTree>
    <p:extLst>
      <p:ext uri="{BB962C8B-B14F-4D97-AF65-F5344CB8AC3E}">
        <p14:creationId xmlns:p14="http://schemas.microsoft.com/office/powerpoint/2010/main" val="376148184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77660-9587-EE50-031C-A5542AD5BD7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EE57EF0-3E5F-6B9D-546F-51E9B745D868}"/>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3EC97421-0934-F195-E3D1-97F55EE117DC}"/>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B768C7C8-D8CE-90BC-6C89-D63AD2CDE43C}"/>
              </a:ext>
            </a:extLst>
          </p:cNvPr>
          <p:cNvSpPr>
            <a:spLocks noGrp="1"/>
          </p:cNvSpPr>
          <p:nvPr>
            <p:ph type="sldNum" sz="quarter" idx="12"/>
          </p:nvPr>
        </p:nvSpPr>
        <p:spPr/>
        <p:txBody>
          <a:bodyPr/>
          <a:lstStyle/>
          <a:p>
            <a:fld id="{19B12225-5612-419B-A8D5-4B8EEE4C217E}" type="slidenum">
              <a:rPr lang="en-US" smtClean="0"/>
              <a:pPr/>
              <a:t>53</a:t>
            </a:fld>
            <a:endParaRPr lang="en-US"/>
          </a:p>
        </p:txBody>
      </p:sp>
    </p:spTree>
    <p:extLst>
      <p:ext uri="{BB962C8B-B14F-4D97-AF65-F5344CB8AC3E}">
        <p14:creationId xmlns:p14="http://schemas.microsoft.com/office/powerpoint/2010/main" val="147873445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8B0A1-2C31-536D-F755-C03F5C2B384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8BD5190-A441-A28C-AE1C-22BAD72A1BE3}"/>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CB7403D3-4477-9205-279C-DB619FA871AF}"/>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5171AE0B-D969-958B-6740-60DA46DC1A30}"/>
              </a:ext>
            </a:extLst>
          </p:cNvPr>
          <p:cNvSpPr>
            <a:spLocks noGrp="1"/>
          </p:cNvSpPr>
          <p:nvPr>
            <p:ph type="sldNum" sz="quarter" idx="12"/>
          </p:nvPr>
        </p:nvSpPr>
        <p:spPr/>
        <p:txBody>
          <a:bodyPr/>
          <a:lstStyle/>
          <a:p>
            <a:fld id="{19B12225-5612-419B-A8D5-4B8EEE4C217E}" type="slidenum">
              <a:rPr lang="en-US" smtClean="0"/>
              <a:pPr/>
              <a:t>54</a:t>
            </a:fld>
            <a:endParaRPr lang="en-US"/>
          </a:p>
        </p:txBody>
      </p:sp>
    </p:spTree>
    <p:extLst>
      <p:ext uri="{BB962C8B-B14F-4D97-AF65-F5344CB8AC3E}">
        <p14:creationId xmlns:p14="http://schemas.microsoft.com/office/powerpoint/2010/main" val="7410269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D2A9-4196-0CC7-72B8-82ACAF6B6BE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2A23FA9-1AC1-67B9-8636-6DA52D0279AB}"/>
              </a:ext>
            </a:extLst>
          </p:cNvPr>
          <p:cNvSpPr>
            <a:spLocks noGrp="1"/>
          </p:cNvSpPr>
          <p:nvPr>
            <p:ph idx="1"/>
          </p:nvPr>
        </p:nvSpPr>
        <p:spPr/>
        <p:txBody>
          <a:bodyPr/>
          <a:lstStyle/>
          <a:p>
            <a:endParaRPr lang="en-IN"/>
          </a:p>
        </p:txBody>
      </p:sp>
      <p:sp>
        <p:nvSpPr>
          <p:cNvPr id="4" name="Footer Placeholder 3">
            <a:extLst>
              <a:ext uri="{FF2B5EF4-FFF2-40B4-BE49-F238E27FC236}">
                <a16:creationId xmlns:a16="http://schemas.microsoft.com/office/drawing/2014/main" id="{E60460D7-F199-2430-1354-A36B0C7226B7}"/>
              </a:ext>
            </a:extLst>
          </p:cNvPr>
          <p:cNvSpPr>
            <a:spLocks noGrp="1"/>
          </p:cNvSpPr>
          <p:nvPr>
            <p:ph type="ftr" sz="quarter" idx="11"/>
          </p:nvPr>
        </p:nvSpPr>
        <p:spPr/>
        <p:txBody>
          <a:bodyPr/>
          <a:lstStyle/>
          <a:p>
            <a:r>
              <a:rPr lang="en-US"/>
              <a:t>J. Leskovec, A. Rajaraman, J. Ullman: Mining of Massive Datasets, http://www.mmds.org</a:t>
            </a:r>
          </a:p>
        </p:txBody>
      </p:sp>
      <p:sp>
        <p:nvSpPr>
          <p:cNvPr id="5" name="Slide Number Placeholder 4">
            <a:extLst>
              <a:ext uri="{FF2B5EF4-FFF2-40B4-BE49-F238E27FC236}">
                <a16:creationId xmlns:a16="http://schemas.microsoft.com/office/drawing/2014/main" id="{87AFE528-E125-804B-6727-C42FF3F580C2}"/>
              </a:ext>
            </a:extLst>
          </p:cNvPr>
          <p:cNvSpPr>
            <a:spLocks noGrp="1"/>
          </p:cNvSpPr>
          <p:nvPr>
            <p:ph type="sldNum" sz="quarter" idx="12"/>
          </p:nvPr>
        </p:nvSpPr>
        <p:spPr/>
        <p:txBody>
          <a:bodyPr/>
          <a:lstStyle/>
          <a:p>
            <a:fld id="{19B12225-5612-419B-A8D5-4B8EEE4C217E}" type="slidenum">
              <a:rPr lang="en-US" smtClean="0"/>
              <a:pPr/>
              <a:t>55</a:t>
            </a:fld>
            <a:endParaRPr lang="en-US"/>
          </a:p>
        </p:txBody>
      </p:sp>
    </p:spTree>
    <p:extLst>
      <p:ext uri="{BB962C8B-B14F-4D97-AF65-F5344CB8AC3E}">
        <p14:creationId xmlns:p14="http://schemas.microsoft.com/office/powerpoint/2010/main" val="8059053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spDef>
      <a:spPr>
        <a:ln w="38100">
          <a:solidFill>
            <a:srgbClr val="008000"/>
          </a:solidFill>
        </a:ln>
      </a:spPr>
      <a:bodyPr rtlCol="0" anchor="ctr"/>
      <a:lstStyle>
        <a:defPPr algn="ctr">
          <a:defRPr/>
        </a:defPPr>
      </a:lstStyle>
      <a:style>
        <a:lnRef idx="1">
          <a:schemeClr val="dk1"/>
        </a:lnRef>
        <a:fillRef idx="0">
          <a:schemeClr val="dk1"/>
        </a:fillRef>
        <a:effectRef idx="0">
          <a:schemeClr val="dk1"/>
        </a:effectRef>
        <a:fontRef idx="minor">
          <a:schemeClr val="tx1"/>
        </a:fontRef>
      </a:style>
    </a:spDef>
    <a:lnDef>
      <a:spPr>
        <a:ln w="28575"/>
      </a:spPr>
      <a:bodyPr/>
      <a:lstStyle/>
      <a:style>
        <a:lnRef idx="1">
          <a:schemeClr val="dk1"/>
        </a:lnRef>
        <a:fillRef idx="0">
          <a:schemeClr val="dk1"/>
        </a:fillRef>
        <a:effectRef idx="0">
          <a:schemeClr val="dk1"/>
        </a:effectRef>
        <a:fontRef idx="minor">
          <a:schemeClr val="tx1"/>
        </a:fontRef>
      </a:style>
    </a:lnDef>
    <a:txDef>
      <a:spPr>
        <a:noFill/>
      </a:spPr>
      <a:bodyPr wrap="none" rtlCol="0">
        <a:spAutoFit/>
      </a:bodyPr>
      <a:lstStyle>
        <a:defPPr>
          <a:defRPr dirty="0" smtClean="0">
            <a:latin typeface="Arial" pitchFamily="34" charset="0"/>
            <a:cs typeface="Arial" pitchFamily="34"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Module</Template>
  <TotalTime>33283</TotalTime>
  <Words>4152</Words>
  <Application>Microsoft Office PowerPoint</Application>
  <PresentationFormat>On-screen Show (4:3)</PresentationFormat>
  <Paragraphs>633</Paragraphs>
  <Slides>55</Slides>
  <Notes>7</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55</vt:i4>
      </vt:variant>
    </vt:vector>
  </HeadingPairs>
  <TitlesOfParts>
    <vt:vector size="68" baseType="lpstr">
      <vt:lpstr>Arial</vt:lpstr>
      <vt:lpstr>Arial Narrow</vt:lpstr>
      <vt:lpstr>Calibri</vt:lpstr>
      <vt:lpstr>Comic Sans MS</vt:lpstr>
      <vt:lpstr>Corbel</vt:lpstr>
      <vt:lpstr>Courier New</vt:lpstr>
      <vt:lpstr>Helvetica</vt:lpstr>
      <vt:lpstr>Monotype Sorts</vt:lpstr>
      <vt:lpstr>Symbol</vt:lpstr>
      <vt:lpstr>TradeGothic</vt:lpstr>
      <vt:lpstr>Wingdings</vt:lpstr>
      <vt:lpstr>Wingdings 2</vt:lpstr>
      <vt:lpstr>Module</vt:lpstr>
      <vt:lpstr>Map-Reduce and  the New Software Stack</vt:lpstr>
      <vt:lpstr>Single Node Architecture</vt:lpstr>
      <vt:lpstr>Motivation: Google Example</vt:lpstr>
      <vt:lpstr>Cluster Architecture</vt:lpstr>
      <vt:lpstr>PowerPoint Presentation</vt:lpstr>
      <vt:lpstr>Large-scale Computing</vt:lpstr>
      <vt:lpstr>Idea and Solution</vt:lpstr>
      <vt:lpstr>Storage Infrastructure</vt:lpstr>
      <vt:lpstr>Distributed File System</vt:lpstr>
      <vt:lpstr>Distributed File System</vt:lpstr>
      <vt:lpstr>Programming Model: MapReduce</vt:lpstr>
      <vt:lpstr>Task: Word Count</vt:lpstr>
      <vt:lpstr>MapReduce: Overview</vt:lpstr>
      <vt:lpstr>MapReduce: The Map Step</vt:lpstr>
      <vt:lpstr>MapReduce: The Reduce Step</vt:lpstr>
      <vt:lpstr>More Specifically</vt:lpstr>
      <vt:lpstr>MapReduce: Word Counting</vt:lpstr>
      <vt:lpstr>Word Count Using MapReduce</vt:lpstr>
      <vt:lpstr>Map-Reduce: Environment</vt:lpstr>
      <vt:lpstr>Map-Reduce: A diagram</vt:lpstr>
      <vt:lpstr>Map-Reduce: In Parallel</vt:lpstr>
      <vt:lpstr>Map-Reduce</vt:lpstr>
      <vt:lpstr>Data Flow</vt:lpstr>
      <vt:lpstr>Coordination: Master</vt:lpstr>
      <vt:lpstr>Dealing with Failures</vt:lpstr>
      <vt:lpstr>How many Map and Reduce jobs?</vt:lpstr>
      <vt:lpstr>Task Granularity &amp; Pipelining</vt:lpstr>
      <vt:lpstr>Refinements: Backup Tasks</vt:lpstr>
      <vt:lpstr>Refinement: Combiners</vt:lpstr>
      <vt:lpstr>Refinement: Combiners</vt:lpstr>
      <vt:lpstr>Refinement: Partition Function</vt:lpstr>
      <vt:lpstr>Quiz</vt:lpstr>
      <vt:lpstr>Problems Suited for  Map-Reduce</vt:lpstr>
      <vt:lpstr>Example: Host size</vt:lpstr>
      <vt:lpstr>Example: Language Model</vt:lpstr>
      <vt:lpstr>Example: Join By Map-Reduce</vt:lpstr>
      <vt:lpstr>Map-Reduce Join</vt:lpstr>
      <vt:lpstr>Cost Measures for Algorithms</vt:lpstr>
      <vt:lpstr>Example: Cost Measures</vt:lpstr>
      <vt:lpstr>What Cost Measures Mean</vt:lpstr>
      <vt:lpstr>Cost of Map-Reduce Join</vt:lpstr>
      <vt:lpstr>Reading</vt:lpstr>
      <vt:lpstr>Extension of Map-Reduce Systems</vt:lpstr>
      <vt:lpstr>Workflow System</vt:lpstr>
      <vt:lpstr>Workflow System: advantage</vt:lpstr>
      <vt:lpstr>Apache Spark</vt:lpstr>
      <vt:lpstr>Spark Implementation</vt:lpstr>
      <vt:lpstr>Recursive Extension to Map-Reduce</vt:lpstr>
      <vt:lpstr>Failure handling for Recursive Systems</vt:lpstr>
      <vt:lpstr>Question?</vt:lpstr>
      <vt:lpstr>PowerPoint Presentation</vt:lpstr>
      <vt:lpstr>PowerPoint Presentation</vt:lpstr>
      <vt:lpstr>PowerPoint Presentation</vt:lpstr>
      <vt:lpstr>PowerPoint Presentation</vt:lpstr>
      <vt:lpstr>PowerPoint Presentation</vt:lpstr>
    </vt:vector>
  </TitlesOfParts>
  <Company>Carnegie Mellon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jure</dc:creator>
  <cp:lastModifiedBy>VIkram Goyal</cp:lastModifiedBy>
  <cp:revision>1309</cp:revision>
  <cp:lastPrinted>2011-10-20T04:01:43Z</cp:lastPrinted>
  <dcterms:created xsi:type="dcterms:W3CDTF">2009-06-12T17:14:38Z</dcterms:created>
  <dcterms:modified xsi:type="dcterms:W3CDTF">2024-08-28T11:11:35Z</dcterms:modified>
</cp:coreProperties>
</file>