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embeddedFontLst>
    <p:embeddedFont>
      <p:font typeface="Tahoma"/>
      <p:regular r:id="rId40"/>
      <p:bold r:id="rId41"/>
    </p:embeddedFont>
    <p:embeddedFont>
      <p:font typeface="Gill Sans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656">
          <p15:clr>
            <a:srgbClr val="A4A3A4"/>
          </p15:clr>
        </p15:guide>
        <p15:guide id="2" orient="horz" pos="3312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idm+ceTpqb8CXlmK/lH2mzF41C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56"/>
        <p:guide pos="331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regular.fntdata"/><Relationship Id="rId20" Type="http://schemas.openxmlformats.org/officeDocument/2006/relationships/slide" Target="slides/slide15.xml"/><Relationship Id="rId42" Type="http://schemas.openxmlformats.org/officeDocument/2006/relationships/font" Target="fonts/GillSans-regular.fntdata"/><Relationship Id="rId41" Type="http://schemas.openxmlformats.org/officeDocument/2006/relationships/font" Target="fonts/Tahoma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Gill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2aee8ed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" name="Google Shape;35;g102aee8ed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9" name="Google Shape;84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2" name="Google Shape;95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6" name="Google Shape;1146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6" name="Google Shape;123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7" name="Google Shape;1237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4" name="Google Shape;124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5" name="Google Shape;1245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3" name="Google Shape;1303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4" name="Google Shape;1304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4" name="Google Shape;136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5" name="Google Shape;1365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1" name="Google Shape;142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2" name="Google Shape;1422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0" name="Google Shape;1500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7" name="Google Shape;150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8" name="Google Shape;150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0" name="Google Shape;162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1" name="Google Shape;1621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0" name="Google Shape;172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1" name="Google Shape;1721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1" name="Google Shape;1821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2" name="Google Shape;1822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8" name="Google Shape;2008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9" name="Google Shape;2009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103b20d317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2" name="Google Shape;2082;g103b20d317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3" name="Google Shape;2083;g103b20d317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103b20d317d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0" name="Google Shape;2090;g103b20d317d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1" name="Google Shape;2091;g103b20d317d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g103b20d317d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8" name="Google Shape;2098;g103b20d317d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9" name="Google Shape;2099;g103b20d317d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02aee8ed9b_0_0"/>
          <p:cNvSpPr txBox="1"/>
          <p:nvPr>
            <p:ph type="ctrTitle"/>
          </p:nvPr>
        </p:nvSpPr>
        <p:spPr>
          <a:xfrm>
            <a:off x="0" y="772735"/>
            <a:ext cx="12192000" cy="19221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600">
                <a:solidFill>
                  <a:schemeClr val="lt1"/>
                </a:solidFill>
              </a:rPr>
              <a:t>Lec 26: 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600">
                <a:solidFill>
                  <a:schemeClr val="lt1"/>
                </a:solidFill>
              </a:rPr>
              <a:t>Miscellaneous: CRC, ARP, CDN, …</a:t>
            </a:r>
            <a:endParaRPr sz="3400">
              <a:solidFill>
                <a:schemeClr val="lt1"/>
              </a:solidFill>
            </a:endParaRPr>
          </a:p>
        </p:txBody>
      </p:sp>
      <p:sp>
        <p:nvSpPr>
          <p:cNvPr id="38" name="Google Shape;38;g102aee8ed9b_0_0"/>
          <p:cNvSpPr txBox="1"/>
          <p:nvPr>
            <p:ph idx="1" type="subTitle"/>
          </p:nvPr>
        </p:nvSpPr>
        <p:spPr>
          <a:xfrm>
            <a:off x="0" y="2694667"/>
            <a:ext cx="12192000" cy="1293300"/>
          </a:xfrm>
          <a:prstGeom prst="rect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2700">
                <a:solidFill>
                  <a:srgbClr val="1155CC"/>
                </a:solidFill>
              </a:rPr>
              <a:t>Computer Networks (CSE 232)</a:t>
            </a:r>
            <a:endParaRPr b="1" sz="27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SzPts val="800"/>
              <a:buNone/>
            </a:pPr>
            <a:r>
              <a:rPr b="1" lang="en-US" sz="2700">
                <a:solidFill>
                  <a:srgbClr val="1155CC"/>
                </a:solidFill>
              </a:rPr>
              <a:t>Rinku Shah</a:t>
            </a:r>
            <a:endParaRPr b="1" sz="2700">
              <a:solidFill>
                <a:srgbClr val="1155CC"/>
              </a:solidFill>
            </a:endParaRPr>
          </a:p>
        </p:txBody>
      </p:sp>
      <p:sp>
        <p:nvSpPr>
          <p:cNvPr id="39" name="Google Shape;39;g102aee8ed9b_0_0"/>
          <p:cNvSpPr txBox="1"/>
          <p:nvPr>
            <p:ph idx="1" type="subTitle"/>
          </p:nvPr>
        </p:nvSpPr>
        <p:spPr>
          <a:xfrm>
            <a:off x="415600" y="4803333"/>
            <a:ext cx="74283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en-US" sz="1900"/>
              <a:t>These slides are inspired and adapted from:</a:t>
            </a:r>
            <a:r>
              <a:rPr lang="en-US" sz="1900"/>
              <a:t> </a:t>
            </a:r>
            <a:endParaRPr sz="1900"/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AutoNum type="arabicPeriod"/>
            </a:pPr>
            <a:r>
              <a:rPr i="1" lang="en-US" sz="1900">
                <a:solidFill>
                  <a:srgbClr val="0B5394"/>
                </a:solidFill>
              </a:rPr>
              <a:t>Computer Networking: A Top-Down Approach </a:t>
            </a:r>
            <a:endParaRPr i="1" sz="1900">
              <a:solidFill>
                <a:srgbClr val="0B5394"/>
              </a:solidFill>
            </a:endParaRPr>
          </a:p>
          <a:p>
            <a:pPr indent="6096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en-US" sz="1900"/>
              <a:t>6th edition, Jim Kurose, Keith Ross, Pearson, 2017</a:t>
            </a:r>
            <a:endParaRPr i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i="1" sz="1500">
              <a:solidFill>
                <a:srgbClr val="0B5394"/>
              </a:solidFill>
            </a:endParaRPr>
          </a:p>
        </p:txBody>
      </p:sp>
      <p:pic>
        <p:nvPicPr>
          <p:cNvPr id="40" name="Google Shape;40;g102aee8ed9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3800" y="5643704"/>
            <a:ext cx="3095550" cy="5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102aee8ed9b_0_0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9"/>
          <p:cNvGrpSpPr/>
          <p:nvPr/>
        </p:nvGrpSpPr>
        <p:grpSpPr>
          <a:xfrm>
            <a:off x="6859466" y="1579642"/>
            <a:ext cx="1654101" cy="2401887"/>
            <a:chOff x="3457903" y="1592254"/>
            <a:chExt cx="1654101" cy="2401887"/>
          </a:xfrm>
        </p:grpSpPr>
        <p:sp>
          <p:nvSpPr>
            <p:cNvPr id="48" name="Google Shape;48;p9"/>
            <p:cNvSpPr/>
            <p:nvPr/>
          </p:nvSpPr>
          <p:spPr>
            <a:xfrm>
              <a:off x="3457903" y="1592254"/>
              <a:ext cx="1654101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9"/>
            <p:cNvSpPr/>
            <p:nvPr/>
          </p:nvSpPr>
          <p:spPr>
            <a:xfrm>
              <a:off x="3992843" y="3517620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9"/>
            <p:cNvSpPr/>
            <p:nvPr/>
          </p:nvSpPr>
          <p:spPr>
            <a:xfrm>
              <a:off x="3996418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9"/>
            <p:cNvSpPr txBox="1"/>
            <p:nvPr/>
          </p:nvSpPr>
          <p:spPr>
            <a:xfrm>
              <a:off x="39633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9"/>
            <p:cNvSpPr/>
            <p:nvPr/>
          </p:nvSpPr>
          <p:spPr>
            <a:xfrm flipH="1">
              <a:off x="4297726" y="2473508"/>
              <a:ext cx="291334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" name="Google Shape;53;p9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9"/>
            <p:cNvCxnSpPr/>
            <p:nvPr/>
          </p:nvCxnSpPr>
          <p:spPr>
            <a:xfrm rot="10800000">
              <a:off x="418216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" name="Google Shape;55;p9"/>
            <p:cNvSpPr/>
            <p:nvPr/>
          </p:nvSpPr>
          <p:spPr>
            <a:xfrm>
              <a:off x="3536392" y="1927519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" name="Google Shape;57;p9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9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9"/>
            <p:cNvCxnSpPr/>
            <p:nvPr/>
          </p:nvCxnSpPr>
          <p:spPr>
            <a:xfrm flipH="1">
              <a:off x="4308787" y="3249620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0" name="Google Shape;60;p9"/>
            <p:cNvSpPr/>
            <p:nvPr/>
          </p:nvSpPr>
          <p:spPr>
            <a:xfrm>
              <a:off x="3718524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93864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Interfaces communicating</a:t>
            </a:r>
            <a:endParaRPr sz="4400"/>
          </a:p>
        </p:txBody>
      </p:sp>
      <p:grpSp>
        <p:nvGrpSpPr>
          <p:cNvPr id="62" name="Google Shape;62;p9"/>
          <p:cNvGrpSpPr/>
          <p:nvPr/>
        </p:nvGrpSpPr>
        <p:grpSpPr>
          <a:xfrm>
            <a:off x="3386648" y="1585768"/>
            <a:ext cx="1709144" cy="2401887"/>
            <a:chOff x="3386648" y="1585768"/>
            <a:chExt cx="1709144" cy="2401887"/>
          </a:xfrm>
        </p:grpSpPr>
        <p:sp>
          <p:nvSpPr>
            <p:cNvPr id="63" name="Google Shape;63;p9"/>
            <p:cNvSpPr/>
            <p:nvPr/>
          </p:nvSpPr>
          <p:spPr>
            <a:xfrm>
              <a:off x="3386648" y="1585768"/>
              <a:ext cx="1709144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>
              <a:off x="3837201" y="3524105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>
              <a:off x="3856453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9"/>
            <p:cNvSpPr txBox="1"/>
            <p:nvPr/>
          </p:nvSpPr>
          <p:spPr>
            <a:xfrm>
              <a:off x="37929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9"/>
            <p:cNvSpPr/>
            <p:nvPr/>
          </p:nvSpPr>
          <p:spPr>
            <a:xfrm>
              <a:off x="3778897" y="2455718"/>
              <a:ext cx="326278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" name="Google Shape;68;p9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" name="Google Shape;69;p9"/>
            <p:cNvCxnSpPr/>
            <p:nvPr/>
          </p:nvCxnSpPr>
          <p:spPr>
            <a:xfrm rot="10800000">
              <a:off x="416437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" name="Google Shape;70;p9"/>
            <p:cNvSpPr/>
            <p:nvPr/>
          </p:nvSpPr>
          <p:spPr>
            <a:xfrm>
              <a:off x="3532834" y="1938193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9"/>
            <p:cNvCxnSpPr/>
            <p:nvPr/>
          </p:nvCxnSpPr>
          <p:spPr>
            <a:xfrm flipH="1">
              <a:off x="4172601" y="3239892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5" name="Google Shape;75;p9"/>
            <p:cNvSpPr/>
            <p:nvPr/>
          </p:nvSpPr>
          <p:spPr>
            <a:xfrm>
              <a:off x="3643876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9"/>
          <p:cNvGrpSpPr/>
          <p:nvPr/>
        </p:nvGrpSpPr>
        <p:grpSpPr>
          <a:xfrm>
            <a:off x="2300585" y="1777854"/>
            <a:ext cx="1508125" cy="2035175"/>
            <a:chOff x="2695" y="1742"/>
            <a:chExt cx="950" cy="1282"/>
          </a:xfrm>
        </p:grpSpPr>
        <p:sp>
          <p:nvSpPr>
            <p:cNvPr id="77" name="Google Shape;77;p9"/>
            <p:cNvSpPr/>
            <p:nvPr/>
          </p:nvSpPr>
          <p:spPr>
            <a:xfrm>
              <a:off x="3228" y="2488"/>
              <a:ext cx="417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254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3222" y="1767"/>
              <a:ext cx="244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99000">
                  <a:srgbClr val="FFFFFF">
                    <a:alpha val="64705"/>
                  </a:srgbClr>
                </a:gs>
                <a:gs pos="100000">
                  <a:srgbClr val="FFFFFF">
                    <a:alpha val="64705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" name="Google Shape;82;p9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9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9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" name="Google Shape;85;p9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" name="Google Shape;86;p9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9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88" name="Google Shape;88;p9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" name="Google Shape;89;p9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9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9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92" name="Google Shape;92;p9"/>
          <p:cNvGrpSpPr/>
          <p:nvPr/>
        </p:nvGrpSpPr>
        <p:grpSpPr>
          <a:xfrm>
            <a:off x="8154574" y="1741034"/>
            <a:ext cx="1453373" cy="2053837"/>
            <a:chOff x="9730606" y="1055376"/>
            <a:chExt cx="1453373" cy="2053837"/>
          </a:xfrm>
        </p:grpSpPr>
        <p:sp>
          <p:nvSpPr>
            <p:cNvPr id="93" name="Google Shape;93;p9"/>
            <p:cNvSpPr/>
            <p:nvPr/>
          </p:nvSpPr>
          <p:spPr>
            <a:xfrm flipH="1">
              <a:off x="9730606" y="2258313"/>
              <a:ext cx="623888" cy="850900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8078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10360066" y="2541276"/>
              <a:ext cx="776288" cy="41592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9935685" y="1076403"/>
              <a:ext cx="436563" cy="70326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9"/>
            <p:cNvSpPr/>
            <p:nvPr/>
          </p:nvSpPr>
          <p:spPr>
            <a:xfrm>
              <a:off x="10355304" y="1090301"/>
              <a:ext cx="777876" cy="73501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9"/>
            <p:cNvSpPr txBox="1"/>
            <p:nvPr/>
          </p:nvSpPr>
          <p:spPr>
            <a:xfrm>
              <a:off x="10306091" y="1055376"/>
              <a:ext cx="877888" cy="830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" name="Google Shape;98;p9"/>
            <p:cNvCxnSpPr/>
            <p:nvPr/>
          </p:nvCxnSpPr>
          <p:spPr>
            <a:xfrm>
              <a:off x="10360066" y="130302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9"/>
            <p:cNvCxnSpPr/>
            <p:nvPr/>
          </p:nvCxnSpPr>
          <p:spPr>
            <a:xfrm>
              <a:off x="10360066" y="1466539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9"/>
            <p:cNvCxnSpPr/>
            <p:nvPr/>
          </p:nvCxnSpPr>
          <p:spPr>
            <a:xfrm>
              <a:off x="10356891" y="163957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" name="Google Shape;101;p9"/>
            <p:cNvSpPr/>
            <p:nvPr/>
          </p:nvSpPr>
          <p:spPr>
            <a:xfrm>
              <a:off x="10293391" y="1801501"/>
              <a:ext cx="876301" cy="1825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" name="Google Shape;102;p9"/>
            <p:cNvCxnSpPr/>
            <p:nvPr/>
          </p:nvCxnSpPr>
          <p:spPr>
            <a:xfrm>
              <a:off x="10355304" y="1820551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9"/>
            <p:cNvCxnSpPr/>
            <p:nvPr/>
          </p:nvCxnSpPr>
          <p:spPr>
            <a:xfrm>
              <a:off x="11134767" y="181102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04" name="Google Shape;104;p9"/>
            <p:cNvSpPr txBox="1"/>
            <p:nvPr/>
          </p:nvSpPr>
          <p:spPr>
            <a:xfrm>
              <a:off x="10388641" y="2501589"/>
              <a:ext cx="684213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" name="Google Shape;105;p9"/>
            <p:cNvCxnSpPr/>
            <p:nvPr/>
          </p:nvCxnSpPr>
          <p:spPr>
            <a:xfrm>
              <a:off x="10358479" y="2739714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9"/>
            <p:cNvCxnSpPr/>
            <p:nvPr/>
          </p:nvCxnSpPr>
          <p:spPr>
            <a:xfrm>
              <a:off x="10360066" y="2439676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9"/>
            <p:cNvCxnSpPr/>
            <p:nvPr/>
          </p:nvCxnSpPr>
          <p:spPr>
            <a:xfrm>
              <a:off x="11136354" y="243967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08" name="Google Shape;108;p9"/>
          <p:cNvSpPr/>
          <p:nvPr/>
        </p:nvSpPr>
        <p:spPr>
          <a:xfrm>
            <a:off x="4153301" y="3785951"/>
            <a:ext cx="3591390" cy="522811"/>
          </a:xfrm>
          <a:custGeom>
            <a:rect b="b" l="l" r="r" t="t"/>
            <a:pathLst>
              <a:path extrusionOk="0" h="282601" w="5874327">
                <a:moveTo>
                  <a:pt x="0" y="5510"/>
                </a:moveTo>
                <a:lnTo>
                  <a:pt x="0" y="282601"/>
                </a:lnTo>
                <a:lnTo>
                  <a:pt x="5874327" y="282601"/>
                </a:lnTo>
                <a:cubicBezTo>
                  <a:pt x="5874327" y="204092"/>
                  <a:pt x="5863162" y="41065"/>
                  <a:pt x="5864278" y="0"/>
                </a:cubicBezTo>
              </a:path>
            </a:pathLst>
          </a:custGeom>
          <a:noFill/>
          <a:ln cap="flat" cmpd="sng" w="349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1181424" y="4590175"/>
            <a:ext cx="5247083" cy="193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sending side: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encapsulates datagram in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error checking bits, reliable data transfer, flow control,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6683664" y="4606063"/>
            <a:ext cx="4829464" cy="185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receiving side: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for errors, reliable data transfer, flow control,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extracts datagram, passes to upper layer at receiving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9"/>
          <p:cNvGrpSpPr/>
          <p:nvPr/>
        </p:nvGrpSpPr>
        <p:grpSpPr>
          <a:xfrm>
            <a:off x="957300" y="3054812"/>
            <a:ext cx="1569900" cy="338554"/>
            <a:chOff x="946500" y="2082812"/>
            <a:chExt cx="1569900" cy="338554"/>
          </a:xfrm>
        </p:grpSpPr>
        <p:sp>
          <p:nvSpPr>
            <p:cNvPr id="112" name="Google Shape;112;p9"/>
            <p:cNvSpPr/>
            <p:nvPr/>
          </p:nvSpPr>
          <p:spPr>
            <a:xfrm>
              <a:off x="977194" y="2096985"/>
              <a:ext cx="1539206" cy="31141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9"/>
            <p:cNvSpPr txBox="1"/>
            <p:nvPr/>
          </p:nvSpPr>
          <p:spPr>
            <a:xfrm>
              <a:off x="946500" y="2082812"/>
              <a:ext cx="615900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9"/>
          <p:cNvGrpSpPr/>
          <p:nvPr/>
        </p:nvGrpSpPr>
        <p:grpSpPr>
          <a:xfrm>
            <a:off x="955870" y="3055124"/>
            <a:ext cx="1642179" cy="339427"/>
            <a:chOff x="8795014" y="27710"/>
            <a:chExt cx="1642179" cy="339427"/>
          </a:xfrm>
        </p:grpSpPr>
        <p:grpSp>
          <p:nvGrpSpPr>
            <p:cNvPr id="115" name="Google Shape;115;p9"/>
            <p:cNvGrpSpPr/>
            <p:nvPr/>
          </p:nvGrpSpPr>
          <p:grpSpPr>
            <a:xfrm>
              <a:off x="8795014" y="28583"/>
              <a:ext cx="1569900" cy="338554"/>
              <a:chOff x="946500" y="2082812"/>
              <a:chExt cx="1569900" cy="338554"/>
            </a:xfrm>
          </p:grpSpPr>
          <p:sp>
            <p:nvSpPr>
              <p:cNvPr id="116" name="Google Shape;116;p9"/>
              <p:cNvSpPr/>
              <p:nvPr/>
            </p:nvSpPr>
            <p:spPr>
              <a:xfrm>
                <a:off x="977194" y="2096985"/>
                <a:ext cx="1539206" cy="31141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9"/>
              <p:cNvSpPr txBox="1"/>
              <p:nvPr/>
            </p:nvSpPr>
            <p:spPr>
              <a:xfrm>
                <a:off x="946500" y="2082812"/>
                <a:ext cx="615900" cy="3385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baseline="-2500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9"/>
            <p:cNvGrpSpPr/>
            <p:nvPr/>
          </p:nvGrpSpPr>
          <p:grpSpPr>
            <a:xfrm>
              <a:off x="9386857" y="27710"/>
              <a:ext cx="1050336" cy="338554"/>
              <a:chOff x="1551732" y="2084406"/>
              <a:chExt cx="1050336" cy="338554"/>
            </a:xfrm>
          </p:grpSpPr>
          <p:sp>
            <p:nvSpPr>
              <p:cNvPr id="119" name="Google Shape;119;p9"/>
              <p:cNvSpPr/>
              <p:nvPr/>
            </p:nvSpPr>
            <p:spPr>
              <a:xfrm>
                <a:off x="1568121" y="2133017"/>
                <a:ext cx="925841" cy="24670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9"/>
              <p:cNvSpPr txBox="1"/>
              <p:nvPr/>
            </p:nvSpPr>
            <p:spPr>
              <a:xfrm>
                <a:off x="1551732" y="2084406"/>
                <a:ext cx="10503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1" name="Google Shape;121;p9"/>
          <p:cNvGrpSpPr/>
          <p:nvPr/>
        </p:nvGrpSpPr>
        <p:grpSpPr>
          <a:xfrm>
            <a:off x="1551732" y="2080806"/>
            <a:ext cx="1050336" cy="338554"/>
            <a:chOff x="1551732" y="2084406"/>
            <a:chExt cx="1050336" cy="338554"/>
          </a:xfrm>
        </p:grpSpPr>
        <p:sp>
          <p:nvSpPr>
            <p:cNvPr id="122" name="Google Shape;122;p9"/>
            <p:cNvSpPr/>
            <p:nvPr/>
          </p:nvSpPr>
          <p:spPr>
            <a:xfrm>
              <a:off x="1568121" y="2133017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9"/>
            <p:cNvSpPr txBox="1"/>
            <p:nvPr/>
          </p:nvSpPr>
          <p:spPr>
            <a:xfrm>
              <a:off x="1551732" y="2084406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9"/>
          <p:cNvGrpSpPr/>
          <p:nvPr/>
        </p:nvGrpSpPr>
        <p:grpSpPr>
          <a:xfrm>
            <a:off x="9888337" y="3037360"/>
            <a:ext cx="1050336" cy="338554"/>
            <a:chOff x="309834" y="1124253"/>
            <a:chExt cx="1050336" cy="338554"/>
          </a:xfrm>
        </p:grpSpPr>
        <p:sp>
          <p:nvSpPr>
            <p:cNvPr id="125" name="Google Shape;125;p9"/>
            <p:cNvSpPr/>
            <p:nvPr/>
          </p:nvSpPr>
          <p:spPr>
            <a:xfrm>
              <a:off x="326223" y="1172864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9"/>
            <p:cNvSpPr txBox="1"/>
            <p:nvPr/>
          </p:nvSpPr>
          <p:spPr>
            <a:xfrm>
              <a:off x="309834" y="1124253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2093843" y="2862471"/>
            <a:ext cx="596348" cy="2902226"/>
          </a:xfrm>
          <a:custGeom>
            <a:rect b="b" l="l" r="r" t="t"/>
            <a:pathLst>
              <a:path extrusionOk="0" h="2796209" w="596348">
                <a:moveTo>
                  <a:pt x="0" y="0"/>
                </a:moveTo>
                <a:lnTo>
                  <a:pt x="0" y="2796209"/>
                </a:lnTo>
                <a:lnTo>
                  <a:pt x="596348" y="2796209"/>
                </a:ln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/>
          </a:p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1089990" y="1538149"/>
            <a:ext cx="986955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EDC: error detection and correction bits (e.g., redundancy)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D:  data protected by error checking, may include header fields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8080513" y="3028121"/>
            <a:ext cx="344887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 not 100% reliable!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048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may miss some errors, but rarely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048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EDC field yields better detection and correction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11"/>
          <p:cNvGrpSpPr/>
          <p:nvPr/>
        </p:nvGrpSpPr>
        <p:grpSpPr>
          <a:xfrm>
            <a:off x="1550505" y="3048001"/>
            <a:ext cx="1656522" cy="400110"/>
            <a:chOff x="437322" y="2637183"/>
            <a:chExt cx="1656522" cy="400110"/>
          </a:xfrm>
        </p:grpSpPr>
        <p:sp>
          <p:nvSpPr>
            <p:cNvPr id="138" name="Google Shape;138;p11"/>
            <p:cNvSpPr/>
            <p:nvPr/>
          </p:nvSpPr>
          <p:spPr>
            <a:xfrm>
              <a:off x="437322" y="2690191"/>
              <a:ext cx="1656522" cy="29154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1"/>
            <p:cNvSpPr txBox="1"/>
            <p:nvPr/>
          </p:nvSpPr>
          <p:spPr>
            <a:xfrm>
              <a:off x="675860" y="2637183"/>
              <a:ext cx="118058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1"/>
          <p:cNvGrpSpPr/>
          <p:nvPr/>
        </p:nvGrpSpPr>
        <p:grpSpPr>
          <a:xfrm>
            <a:off x="1567043" y="4446000"/>
            <a:ext cx="2325599" cy="862266"/>
            <a:chOff x="1567043" y="4446000"/>
            <a:chExt cx="2325599" cy="862266"/>
          </a:xfrm>
        </p:grpSpPr>
        <p:grpSp>
          <p:nvGrpSpPr>
            <p:cNvPr id="141" name="Google Shape;141;p11"/>
            <p:cNvGrpSpPr/>
            <p:nvPr/>
          </p:nvGrpSpPr>
          <p:grpSpPr>
            <a:xfrm>
              <a:off x="1567043" y="4905756"/>
              <a:ext cx="2325599" cy="402510"/>
              <a:chOff x="1904400" y="5169547"/>
              <a:chExt cx="2325599" cy="402510"/>
            </a:xfrm>
          </p:grpSpPr>
          <p:sp>
            <p:nvSpPr>
              <p:cNvPr id="142" name="Google Shape;142;p11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1"/>
              <p:cNvSpPr txBox="1"/>
              <p:nvPr/>
            </p:nvSpPr>
            <p:spPr>
              <a:xfrm>
                <a:off x="2617147" y="5171947"/>
                <a:ext cx="3417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1"/>
              <p:cNvSpPr txBox="1"/>
              <p:nvPr/>
            </p:nvSpPr>
            <p:spPr>
              <a:xfrm>
                <a:off x="3549850" y="5169547"/>
                <a:ext cx="60305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5" name="Google Shape;145;p11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46" name="Google Shape;146;p11"/>
            <p:cNvGrpSpPr/>
            <p:nvPr/>
          </p:nvGrpSpPr>
          <p:grpSpPr>
            <a:xfrm>
              <a:off x="1571947" y="4446000"/>
              <a:ext cx="1645200" cy="400110"/>
              <a:chOff x="1897200" y="4446000"/>
              <a:chExt cx="1645200" cy="400110"/>
            </a:xfrm>
          </p:grpSpPr>
          <p:cxnSp>
            <p:nvCxnSpPr>
              <p:cNvPr id="147" name="Google Shape;147;p11"/>
              <p:cNvCxnSpPr/>
              <p:nvPr/>
            </p:nvCxnSpPr>
            <p:spPr>
              <a:xfrm>
                <a:off x="1897200" y="4665600"/>
                <a:ext cx="1638000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148" name="Google Shape;148;p11"/>
              <p:cNvSpPr/>
              <p:nvPr/>
            </p:nvSpPr>
            <p:spPr>
              <a:xfrm>
                <a:off x="2098800" y="4636800"/>
                <a:ext cx="1245600" cy="4571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1"/>
              <p:cNvSpPr txBox="1"/>
              <p:nvPr/>
            </p:nvSpPr>
            <p:spPr>
              <a:xfrm>
                <a:off x="2088000" y="4446000"/>
                <a:ext cx="1278812" cy="400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 data bits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0" name="Google Shape;150;p11"/>
              <p:cNvCxnSpPr/>
              <p:nvPr/>
            </p:nvCxnSpPr>
            <p:spPr>
              <a:xfrm>
                <a:off x="3542400" y="45720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11"/>
              <p:cNvCxnSpPr/>
              <p:nvPr/>
            </p:nvCxnSpPr>
            <p:spPr>
              <a:xfrm>
                <a:off x="1902000" y="45696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52" name="Google Shape;152;p11"/>
          <p:cNvGrpSpPr/>
          <p:nvPr/>
        </p:nvGrpSpPr>
        <p:grpSpPr>
          <a:xfrm>
            <a:off x="2714378" y="5528580"/>
            <a:ext cx="2679258" cy="434898"/>
            <a:chOff x="3244465" y="6071919"/>
            <a:chExt cx="2679258" cy="434898"/>
          </a:xfrm>
        </p:grpSpPr>
        <p:grpSp>
          <p:nvGrpSpPr>
            <p:cNvPr id="153" name="Google Shape;153;p11"/>
            <p:cNvGrpSpPr/>
            <p:nvPr/>
          </p:nvGrpSpPr>
          <p:grpSpPr>
            <a:xfrm>
              <a:off x="3244465" y="6071919"/>
              <a:ext cx="2679258" cy="434898"/>
              <a:chOff x="3244464" y="6071919"/>
              <a:chExt cx="2864787" cy="434898"/>
            </a:xfrm>
          </p:grpSpPr>
          <p:sp>
            <p:nvSpPr>
              <p:cNvPr id="154" name="Google Shape;154;p11"/>
              <p:cNvSpPr/>
              <p:nvPr/>
            </p:nvSpPr>
            <p:spPr>
              <a:xfrm>
                <a:off x="3320909" y="6071919"/>
                <a:ext cx="2711898" cy="434898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>
                <a:off x="3244464" y="6071919"/>
                <a:ext cx="152890" cy="434896"/>
              </a:xfrm>
              <a:prstGeom prst="ellipse">
                <a:avLst/>
              </a:prstGeom>
              <a:solidFill>
                <a:srgbClr val="7ACCF4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>
                <a:off x="5956361" y="6071919"/>
                <a:ext cx="152890" cy="434896"/>
              </a:xfrm>
              <a:prstGeom prst="ellipse">
                <a:avLst/>
              </a:prstGeom>
              <a:gradFill>
                <a:gsLst>
                  <a:gs pos="0">
                    <a:srgbClr val="2E75B5"/>
                  </a:gs>
                  <a:gs pos="50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>
                <a:off x="5752507" y="6071919"/>
                <a:ext cx="280299" cy="434896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8" name="Google Shape;158;p11"/>
            <p:cNvSpPr txBox="1"/>
            <p:nvPr/>
          </p:nvSpPr>
          <p:spPr>
            <a:xfrm>
              <a:off x="3568996" y="6078283"/>
              <a:ext cx="21372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bit-error prone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1"/>
          <p:cNvGrpSpPr/>
          <p:nvPr/>
        </p:nvGrpSpPr>
        <p:grpSpPr>
          <a:xfrm>
            <a:off x="4661425" y="4717774"/>
            <a:ext cx="2325599" cy="1033670"/>
            <a:chOff x="4661425" y="4717774"/>
            <a:chExt cx="2325599" cy="1033670"/>
          </a:xfrm>
        </p:grpSpPr>
        <p:sp>
          <p:nvSpPr>
            <p:cNvPr id="160" name="Google Shape;160;p11"/>
            <p:cNvSpPr/>
            <p:nvPr/>
          </p:nvSpPr>
          <p:spPr>
            <a:xfrm>
              <a:off x="5486400" y="4717774"/>
              <a:ext cx="238539" cy="1033670"/>
            </a:xfrm>
            <a:custGeom>
              <a:rect b="b" l="l" r="r" t="t"/>
              <a:pathLst>
                <a:path extrusionOk="0" h="1033670" w="238539">
                  <a:moveTo>
                    <a:pt x="0" y="1033670"/>
                  </a:moveTo>
                  <a:lnTo>
                    <a:pt x="238539" y="1033670"/>
                  </a:lnTo>
                  <a:lnTo>
                    <a:pt x="238539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" name="Google Shape;161;p11"/>
            <p:cNvGrpSpPr/>
            <p:nvPr/>
          </p:nvGrpSpPr>
          <p:grpSpPr>
            <a:xfrm>
              <a:off x="4661425" y="4890052"/>
              <a:ext cx="2325599" cy="402510"/>
              <a:chOff x="1904400" y="5169547"/>
              <a:chExt cx="2325599" cy="402510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 txBox="1"/>
              <p:nvPr/>
            </p:nvSpPr>
            <p:spPr>
              <a:xfrm>
                <a:off x="2617147" y="5171947"/>
                <a:ext cx="40626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D’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 txBox="1"/>
              <p:nvPr/>
            </p:nvSpPr>
            <p:spPr>
              <a:xfrm>
                <a:off x="3549850" y="5169547"/>
                <a:ext cx="6783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EDC’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5" name="Google Shape;165;p11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6" name="Google Shape;166;p11"/>
          <p:cNvGrpSpPr/>
          <p:nvPr/>
        </p:nvGrpSpPr>
        <p:grpSpPr>
          <a:xfrm>
            <a:off x="4996068" y="3670851"/>
            <a:ext cx="2457775" cy="1037317"/>
            <a:chOff x="4996068" y="3670851"/>
            <a:chExt cx="2457775" cy="1037317"/>
          </a:xfrm>
        </p:grpSpPr>
        <p:grpSp>
          <p:nvGrpSpPr>
            <p:cNvPr id="167" name="Google Shape;167;p11"/>
            <p:cNvGrpSpPr/>
            <p:nvPr/>
          </p:nvGrpSpPr>
          <p:grpSpPr>
            <a:xfrm>
              <a:off x="4996068" y="3670851"/>
              <a:ext cx="1431235" cy="1037317"/>
              <a:chOff x="6718851" y="5632173"/>
              <a:chExt cx="1431235" cy="1037317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6718851" y="5632173"/>
                <a:ext cx="1431235" cy="993913"/>
              </a:xfrm>
              <a:prstGeom prst="diamond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1"/>
              <p:cNvSpPr txBox="1"/>
              <p:nvPr/>
            </p:nvSpPr>
            <p:spPr>
              <a:xfrm>
                <a:off x="6932490" y="5737183"/>
                <a:ext cx="1007327" cy="932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bits in D’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" name="Google Shape;170;p11"/>
            <p:cNvSpPr txBox="1"/>
            <p:nvPr/>
          </p:nvSpPr>
          <p:spPr>
            <a:xfrm>
              <a:off x="6440556" y="3843131"/>
              <a:ext cx="34977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1"/>
            <p:cNvSpPr txBox="1"/>
            <p:nvPr/>
          </p:nvSpPr>
          <p:spPr>
            <a:xfrm>
              <a:off x="6380921" y="4207566"/>
              <a:ext cx="1072922" cy="492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detected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error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2" name="Google Shape;172;p11"/>
            <p:cNvCxnSpPr/>
            <p:nvPr/>
          </p:nvCxnSpPr>
          <p:spPr>
            <a:xfrm>
              <a:off x="6440557" y="4161183"/>
              <a:ext cx="715618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73" name="Google Shape;173;p11"/>
          <p:cNvGrpSpPr/>
          <p:nvPr/>
        </p:nvGrpSpPr>
        <p:grpSpPr>
          <a:xfrm>
            <a:off x="4684642" y="2888974"/>
            <a:ext cx="1656522" cy="845626"/>
            <a:chOff x="4658138" y="2928730"/>
            <a:chExt cx="1656522" cy="845626"/>
          </a:xfrm>
        </p:grpSpPr>
        <p:sp>
          <p:nvSpPr>
            <p:cNvPr id="174" name="Google Shape;174;p11"/>
            <p:cNvSpPr/>
            <p:nvPr/>
          </p:nvSpPr>
          <p:spPr>
            <a:xfrm>
              <a:off x="5437808" y="3492294"/>
              <a:ext cx="176213" cy="1936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11"/>
            <p:cNvCxnSpPr/>
            <p:nvPr/>
          </p:nvCxnSpPr>
          <p:spPr>
            <a:xfrm rot="10800000">
              <a:off x="5685182" y="2928730"/>
              <a:ext cx="0" cy="72887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6" name="Google Shape;176;p11"/>
            <p:cNvSpPr txBox="1"/>
            <p:nvPr/>
          </p:nvSpPr>
          <p:spPr>
            <a:xfrm>
              <a:off x="4696239" y="3498575"/>
              <a:ext cx="1022524" cy="2757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otherwise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7" name="Google Shape;177;p11"/>
            <p:cNvGrpSpPr/>
            <p:nvPr/>
          </p:nvGrpSpPr>
          <p:grpSpPr>
            <a:xfrm>
              <a:off x="4658138" y="3028123"/>
              <a:ext cx="1656522" cy="400110"/>
              <a:chOff x="437322" y="2637183"/>
              <a:chExt cx="1656522" cy="400110"/>
            </a:xfrm>
          </p:grpSpPr>
          <p:sp>
            <p:nvSpPr>
              <p:cNvPr id="178" name="Google Shape;178;p11"/>
              <p:cNvSpPr/>
              <p:nvPr/>
            </p:nvSpPr>
            <p:spPr>
              <a:xfrm>
                <a:off x="437322" y="2690191"/>
                <a:ext cx="1656522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1"/>
              <p:cNvSpPr txBox="1"/>
              <p:nvPr/>
            </p:nvSpPr>
            <p:spPr>
              <a:xfrm>
                <a:off x="675860" y="2637183"/>
                <a:ext cx="11805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Parity checking</a:t>
            </a:r>
            <a:endParaRPr/>
          </a:p>
        </p:txBody>
      </p:sp>
      <p:sp>
        <p:nvSpPr>
          <p:cNvPr id="185" name="Google Shape;185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927030" y="1654589"/>
            <a:ext cx="3366673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single bit parity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54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single bit errors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1022592" y="2663833"/>
            <a:ext cx="2407444" cy="3821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061882" y="2670977"/>
            <a:ext cx="2056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0111000110101011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12"/>
          <p:cNvCxnSpPr/>
          <p:nvPr/>
        </p:nvCxnSpPr>
        <p:spPr>
          <a:xfrm>
            <a:off x="1002103" y="3282809"/>
            <a:ext cx="207761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90" name="Google Shape;190;p12"/>
          <p:cNvCxnSpPr/>
          <p:nvPr/>
        </p:nvCxnSpPr>
        <p:spPr>
          <a:xfrm>
            <a:off x="3089495" y="31892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12"/>
          <p:cNvCxnSpPr/>
          <p:nvPr/>
        </p:nvCxnSpPr>
        <p:spPr>
          <a:xfrm>
            <a:off x="1008149" y="31868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92" name="Google Shape;192;p12"/>
          <p:cNvGrpSpPr/>
          <p:nvPr/>
        </p:nvGrpSpPr>
        <p:grpSpPr>
          <a:xfrm>
            <a:off x="2978479" y="2669786"/>
            <a:ext cx="1354981" cy="1448181"/>
            <a:chOff x="2978479" y="2669786"/>
            <a:chExt cx="1354981" cy="1448181"/>
          </a:xfrm>
        </p:grpSpPr>
        <p:sp>
          <p:nvSpPr>
            <p:cNvPr id="193" name="Google Shape;193;p12"/>
            <p:cNvSpPr txBox="1"/>
            <p:nvPr/>
          </p:nvSpPr>
          <p:spPr>
            <a:xfrm>
              <a:off x="3093089" y="266978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2"/>
            <p:cNvSpPr txBox="1"/>
            <p:nvPr/>
          </p:nvSpPr>
          <p:spPr>
            <a:xfrm>
              <a:off x="2978479" y="3527036"/>
              <a:ext cx="1354981" cy="5909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" name="Google Shape;195;p12"/>
            <p:cNvCxnSpPr/>
            <p:nvPr/>
          </p:nvCxnSpPr>
          <p:spPr>
            <a:xfrm>
              <a:off x="3244610" y="3167702"/>
              <a:ext cx="0" cy="4247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96" name="Google Shape;196;p12"/>
          <p:cNvCxnSpPr/>
          <p:nvPr/>
        </p:nvCxnSpPr>
        <p:spPr>
          <a:xfrm>
            <a:off x="3092210" y="2665531"/>
            <a:ext cx="0" cy="38724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12"/>
          <p:cNvSpPr txBox="1"/>
          <p:nvPr/>
        </p:nvSpPr>
        <p:spPr>
          <a:xfrm>
            <a:off x="1434601" y="3122845"/>
            <a:ext cx="1354981" cy="3447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data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4734123" y="1651081"/>
            <a:ext cx="4906151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two-dimensional bit parity: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9863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bit errors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12"/>
          <p:cNvGrpSpPr/>
          <p:nvPr/>
        </p:nvGrpSpPr>
        <p:grpSpPr>
          <a:xfrm>
            <a:off x="5486401" y="2521227"/>
            <a:ext cx="3683372" cy="2054406"/>
            <a:chOff x="7427845" y="2584175"/>
            <a:chExt cx="3683372" cy="2054406"/>
          </a:xfrm>
        </p:grpSpPr>
        <p:grpSp>
          <p:nvGrpSpPr>
            <p:cNvPr id="200" name="Google Shape;200;p12"/>
            <p:cNvGrpSpPr/>
            <p:nvPr/>
          </p:nvGrpSpPr>
          <p:grpSpPr>
            <a:xfrm>
              <a:off x="8263305" y="2908577"/>
              <a:ext cx="697811" cy="1261499"/>
              <a:chOff x="6586330" y="2915478"/>
              <a:chExt cx="697811" cy="1261499"/>
            </a:xfrm>
          </p:grpSpPr>
          <p:sp>
            <p:nvSpPr>
              <p:cNvPr id="201" name="Google Shape;201;p12"/>
              <p:cNvSpPr txBox="1"/>
              <p:nvPr/>
            </p:nvSpPr>
            <p:spPr>
              <a:xfrm>
                <a:off x="6586330" y="2915478"/>
                <a:ext cx="53572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2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2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2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12"/>
            <p:cNvGrpSpPr/>
            <p:nvPr/>
          </p:nvGrpSpPr>
          <p:grpSpPr>
            <a:xfrm>
              <a:off x="10324987" y="2929914"/>
              <a:ext cx="697811" cy="1261499"/>
              <a:chOff x="6586330" y="2915478"/>
              <a:chExt cx="697811" cy="1261499"/>
            </a:xfrm>
          </p:grpSpPr>
          <p:sp>
            <p:nvSpPr>
              <p:cNvPr id="206" name="Google Shape;206;p12"/>
              <p:cNvSpPr txBox="1"/>
              <p:nvPr/>
            </p:nvSpPr>
            <p:spPr>
              <a:xfrm>
                <a:off x="6586330" y="2915478"/>
                <a:ext cx="66236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1,j+1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2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2,j+1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i,j+1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0" name="Google Shape;210;p12"/>
            <p:cNvSpPr txBox="1"/>
            <p:nvPr/>
          </p:nvSpPr>
          <p:spPr>
            <a:xfrm>
              <a:off x="9118145" y="4177312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" name="Google Shape;211;p12"/>
            <p:cNvGrpSpPr/>
            <p:nvPr/>
          </p:nvGrpSpPr>
          <p:grpSpPr>
            <a:xfrm>
              <a:off x="9722377" y="2910339"/>
              <a:ext cx="697811" cy="1261499"/>
              <a:chOff x="6586330" y="2915478"/>
              <a:chExt cx="697811" cy="1261499"/>
            </a:xfrm>
          </p:grpSpPr>
          <p:sp>
            <p:nvSpPr>
              <p:cNvPr id="212" name="Google Shape;212;p12"/>
              <p:cNvSpPr txBox="1"/>
              <p:nvPr/>
            </p:nvSpPr>
            <p:spPr>
              <a:xfrm>
                <a:off x="6586330" y="2915478"/>
                <a:ext cx="4908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2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2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</a:t>
                </a:r>
                <a:endParaRPr b="0" baseline="-25000" i="0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2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2"/>
            <p:cNvGrpSpPr/>
            <p:nvPr/>
          </p:nvGrpSpPr>
          <p:grpSpPr>
            <a:xfrm>
              <a:off x="8262620" y="4202830"/>
              <a:ext cx="2848597" cy="435751"/>
              <a:chOff x="8262620" y="4431427"/>
              <a:chExt cx="2848597" cy="435751"/>
            </a:xfrm>
          </p:grpSpPr>
          <p:sp>
            <p:nvSpPr>
              <p:cNvPr id="217" name="Google Shape;217;p12"/>
              <p:cNvSpPr txBox="1"/>
              <p:nvPr/>
            </p:nvSpPr>
            <p:spPr>
              <a:xfrm>
                <a:off x="8262620" y="4431427"/>
                <a:ext cx="6815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 txBox="1"/>
              <p:nvPr/>
            </p:nvSpPr>
            <p:spPr>
              <a:xfrm>
                <a:off x="10329998" y="4467068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i+1,j+1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 txBox="1"/>
              <p:nvPr/>
            </p:nvSpPr>
            <p:spPr>
              <a:xfrm>
                <a:off x="9727388" y="4447493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20" name="Google Shape;220;p12"/>
            <p:cNvCxnSpPr/>
            <p:nvPr/>
          </p:nvCxnSpPr>
          <p:spPr>
            <a:xfrm>
              <a:off x="8343900" y="4214192"/>
              <a:ext cx="208721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12"/>
            <p:cNvCxnSpPr/>
            <p:nvPr/>
          </p:nvCxnSpPr>
          <p:spPr>
            <a:xfrm rot="10800000">
              <a:off x="10325100" y="3064566"/>
              <a:ext cx="0" cy="128877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2" name="Google Shape;222;p12"/>
            <p:cNvSpPr txBox="1"/>
            <p:nvPr/>
          </p:nvSpPr>
          <p:spPr>
            <a:xfrm>
              <a:off x="9111519" y="3792998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2"/>
            <p:cNvSpPr txBox="1"/>
            <p:nvPr/>
          </p:nvSpPr>
          <p:spPr>
            <a:xfrm>
              <a:off x="9104893" y="3478259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2"/>
            <p:cNvSpPr txBox="1"/>
            <p:nvPr/>
          </p:nvSpPr>
          <p:spPr>
            <a:xfrm>
              <a:off x="9108206" y="3183395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2"/>
            <p:cNvSpPr txBox="1"/>
            <p:nvPr/>
          </p:nvSpPr>
          <p:spPr>
            <a:xfrm>
              <a:off x="9111519" y="2878596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2"/>
            <p:cNvSpPr txBox="1"/>
            <p:nvPr/>
          </p:nvSpPr>
          <p:spPr>
            <a:xfrm>
              <a:off x="9670775" y="2584175"/>
              <a:ext cx="10413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row parity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2"/>
            <p:cNvSpPr txBox="1"/>
            <p:nvPr/>
          </p:nvSpPr>
          <p:spPr>
            <a:xfrm>
              <a:off x="7427845" y="3998845"/>
              <a:ext cx="803297" cy="49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column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parity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" name="Google Shape;228;p12"/>
            <p:cNvCxnSpPr/>
            <p:nvPr/>
          </p:nvCxnSpPr>
          <p:spPr>
            <a:xfrm>
              <a:off x="9760226" y="2922104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9" name="Google Shape;229;p12"/>
            <p:cNvCxnSpPr/>
            <p:nvPr/>
          </p:nvCxnSpPr>
          <p:spPr>
            <a:xfrm rot="5400000">
              <a:off x="7795591" y="4137991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30" name="Google Shape;230;p12"/>
          <p:cNvGrpSpPr/>
          <p:nvPr/>
        </p:nvGrpSpPr>
        <p:grpSpPr>
          <a:xfrm>
            <a:off x="4150979" y="4938063"/>
            <a:ext cx="2320933" cy="1220735"/>
            <a:chOff x="3800015" y="4868761"/>
            <a:chExt cx="2320933" cy="1220735"/>
          </a:xfrm>
        </p:grpSpPr>
        <p:sp>
          <p:nvSpPr>
            <p:cNvPr id="231" name="Google Shape;231;p12"/>
            <p:cNvSpPr txBox="1"/>
            <p:nvPr/>
          </p:nvSpPr>
          <p:spPr>
            <a:xfrm>
              <a:off x="4903522" y="5428507"/>
              <a:ext cx="12041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0 1 1 1 0  1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2" name="Google Shape;232;p12"/>
            <p:cNvGrpSpPr/>
            <p:nvPr/>
          </p:nvGrpSpPr>
          <p:grpSpPr>
            <a:xfrm>
              <a:off x="4910146" y="4875335"/>
              <a:ext cx="1210802" cy="1214161"/>
              <a:chOff x="6394173" y="4840358"/>
              <a:chExt cx="1210802" cy="1214161"/>
            </a:xfrm>
          </p:grpSpPr>
          <p:sp>
            <p:nvSpPr>
              <p:cNvPr id="233" name="Google Shape;233;p12"/>
              <p:cNvSpPr txBox="1"/>
              <p:nvPr/>
            </p:nvSpPr>
            <p:spPr>
              <a:xfrm>
                <a:off x="6400799" y="4840358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1 0 1 0 1  1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2"/>
              <p:cNvSpPr txBox="1"/>
              <p:nvPr/>
            </p:nvSpPr>
            <p:spPr>
              <a:xfrm>
                <a:off x="6394173" y="5121968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1 1 1 1 0  0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2"/>
              <p:cNvSpPr txBox="1"/>
              <p:nvPr/>
            </p:nvSpPr>
            <p:spPr>
              <a:xfrm>
                <a:off x="6395912" y="5685187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0 0 1 0 1  0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6" name="Google Shape;236;p12"/>
              <p:cNvCxnSpPr/>
              <p:nvPr/>
            </p:nvCxnSpPr>
            <p:spPr>
              <a:xfrm>
                <a:off x="6480748" y="5751227"/>
                <a:ext cx="101933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12"/>
              <p:cNvCxnSpPr/>
              <p:nvPr/>
            </p:nvCxnSpPr>
            <p:spPr>
              <a:xfrm rot="-5400000">
                <a:off x="6828021" y="5453922"/>
                <a:ext cx="101933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38" name="Google Shape;238;p12"/>
            <p:cNvSpPr txBox="1"/>
            <p:nvPr/>
          </p:nvSpPr>
          <p:spPr>
            <a:xfrm>
              <a:off x="3800015" y="4868761"/>
              <a:ext cx="11035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errors: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12"/>
          <p:cNvGrpSpPr/>
          <p:nvPr/>
        </p:nvGrpSpPr>
        <p:grpSpPr>
          <a:xfrm>
            <a:off x="7222435" y="4943606"/>
            <a:ext cx="3312300" cy="1621566"/>
            <a:chOff x="7222435" y="4943606"/>
            <a:chExt cx="3312300" cy="1621566"/>
          </a:xfrm>
        </p:grpSpPr>
        <p:grpSp>
          <p:nvGrpSpPr>
            <p:cNvPr id="240" name="Google Shape;240;p12"/>
            <p:cNvGrpSpPr/>
            <p:nvPr/>
          </p:nvGrpSpPr>
          <p:grpSpPr>
            <a:xfrm>
              <a:off x="8752840" y="4943606"/>
              <a:ext cx="1781895" cy="1621566"/>
              <a:chOff x="5890374" y="4811085"/>
              <a:chExt cx="1781895" cy="1621566"/>
            </a:xfrm>
          </p:grpSpPr>
          <p:grpSp>
            <p:nvGrpSpPr>
              <p:cNvPr id="241" name="Google Shape;241;p12"/>
              <p:cNvGrpSpPr/>
              <p:nvPr/>
            </p:nvGrpSpPr>
            <p:grpSpPr>
              <a:xfrm>
                <a:off x="5890374" y="4812876"/>
                <a:ext cx="1781895" cy="1619775"/>
                <a:chOff x="4903522" y="4875335"/>
                <a:chExt cx="1781895" cy="1619775"/>
              </a:xfrm>
            </p:grpSpPr>
            <p:sp>
              <p:nvSpPr>
                <p:cNvPr id="242" name="Google Shape;242;p12"/>
                <p:cNvSpPr txBox="1"/>
                <p:nvPr/>
              </p:nvSpPr>
              <p:spPr>
                <a:xfrm>
                  <a:off x="4903522" y="5428507"/>
                  <a:ext cx="120417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0 1 1 1 0  1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3" name="Google Shape;243;p12"/>
                <p:cNvGrpSpPr/>
                <p:nvPr/>
              </p:nvGrpSpPr>
              <p:grpSpPr>
                <a:xfrm>
                  <a:off x="4910146" y="4875335"/>
                  <a:ext cx="1210802" cy="1214161"/>
                  <a:chOff x="6394173" y="4840358"/>
                  <a:chExt cx="1210802" cy="1214161"/>
                </a:xfrm>
              </p:grpSpPr>
              <p:sp>
                <p:nvSpPr>
                  <p:cNvPr id="244" name="Google Shape;244;p12"/>
                  <p:cNvSpPr txBox="1"/>
                  <p:nvPr/>
                </p:nvSpPr>
                <p:spPr>
                  <a:xfrm>
                    <a:off x="6400799" y="4840358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1 0 1 0 1  1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" name="Google Shape;245;p12"/>
                  <p:cNvSpPr txBox="1"/>
                  <p:nvPr/>
                </p:nvSpPr>
                <p:spPr>
                  <a:xfrm>
                    <a:off x="6394173" y="5121968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</a:t>
                    </a:r>
                    <a:r>
                      <a:rPr b="0" i="0" lang="en-US" sz="1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0</a:t>
                    </a: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1 1 0  0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6" name="Google Shape;246;p12"/>
                  <p:cNvSpPr txBox="1"/>
                  <p:nvPr/>
                </p:nvSpPr>
                <p:spPr>
                  <a:xfrm>
                    <a:off x="6395912" y="5685187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0 0 1 0 1  0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47" name="Google Shape;247;p12"/>
                  <p:cNvCxnSpPr/>
                  <p:nvPr/>
                </p:nvCxnSpPr>
                <p:spPr>
                  <a:xfrm>
                    <a:off x="6480748" y="5751227"/>
                    <a:ext cx="1019331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8" name="Google Shape;248;p12"/>
                  <p:cNvCxnSpPr/>
                  <p:nvPr/>
                </p:nvCxnSpPr>
                <p:spPr>
                  <a:xfrm rot="-5400000">
                    <a:off x="6828021" y="5453922"/>
                    <a:ext cx="1019331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49" name="Google Shape;249;p12"/>
                <p:cNvSpPr txBox="1"/>
                <p:nvPr/>
              </p:nvSpPr>
              <p:spPr>
                <a:xfrm>
                  <a:off x="4956746" y="6135973"/>
                  <a:ext cx="546945" cy="359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parity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error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2"/>
                <p:cNvSpPr txBox="1"/>
                <p:nvPr/>
              </p:nvSpPr>
              <p:spPr>
                <a:xfrm>
                  <a:off x="6138472" y="5164111"/>
                  <a:ext cx="546945" cy="359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parity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error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251" name="Google Shape;251;p12"/>
              <p:cNvCxnSpPr>
                <a:stCxn id="245" idx="1"/>
              </p:cNvCxnSpPr>
              <p:nvPr/>
            </p:nvCxnSpPr>
            <p:spPr>
              <a:xfrm flipH="1" rot="10800000">
                <a:off x="5896998" y="5271652"/>
                <a:ext cx="1303200" cy="7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52" name="Google Shape;252;p12"/>
              <p:cNvCxnSpPr/>
              <p:nvPr/>
            </p:nvCxnSpPr>
            <p:spPr>
              <a:xfrm flipH="1" rot="-5400000">
                <a:off x="5564716" y="5458918"/>
                <a:ext cx="1303277" cy="7611"/>
              </a:xfrm>
              <a:prstGeom prst="straightConnector1">
                <a:avLst/>
              </a:prstGeom>
              <a:noFill/>
              <a:ln cap="flat" cmpd="sng" w="158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253" name="Google Shape;253;p12"/>
            <p:cNvSpPr txBox="1"/>
            <p:nvPr/>
          </p:nvSpPr>
          <p:spPr>
            <a:xfrm>
              <a:off x="7222435" y="4982817"/>
              <a:ext cx="1411353" cy="1205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detected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correctable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single-bit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error: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12"/>
          <p:cNvSpPr txBox="1"/>
          <p:nvPr/>
        </p:nvSpPr>
        <p:spPr>
          <a:xfrm>
            <a:off x="967409" y="4258270"/>
            <a:ext cx="27299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Even parity: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parity bit so there is an even number of 1’s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checksum (review)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990599" y="2218943"/>
            <a:ext cx="4662055" cy="4478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treat contents of UDP segment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(including UDP header fields and IP addresses)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sequence of 16-bit integers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checksum: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(one’s complement sum)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segment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 value put into UDP checksum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r>
              <a:rPr b="0" i="0" lang="en-US" sz="35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checksum of received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if computed checksum equals checksum field value: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equal - error detected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equal - no error detected.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maybe errors nonetheless?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later 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 errors (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transmitted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5" name="Google Shape;265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</a:t>
            </a:r>
            <a:endParaRPr sz="4400"/>
          </a:p>
        </p:txBody>
      </p:sp>
      <p:sp>
        <p:nvSpPr>
          <p:cNvPr id="272" name="Google Shape;272;p14"/>
          <p:cNvSpPr txBox="1"/>
          <p:nvPr/>
        </p:nvSpPr>
        <p:spPr>
          <a:xfrm>
            <a:off x="830820" y="1239611"/>
            <a:ext cx="10632309" cy="1530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powerful error-detection 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bits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(given, think of these as a binary number)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(generator), of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r+1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850698" y="4665031"/>
            <a:ext cx="10850971" cy="186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1" lang="en-US" sz="28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CRC bits,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such that &lt;D,R&gt; exactly divisible by G (mod 2)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knows G, divides &lt;D,R&gt; by G.  If non-zero remainder: error detected!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all burst errors less than r+1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used in practice (Ethernet, 802.11 WiFi)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p14"/>
          <p:cNvGrpSpPr/>
          <p:nvPr/>
        </p:nvGrpSpPr>
        <p:grpSpPr>
          <a:xfrm>
            <a:off x="3954671" y="2770984"/>
            <a:ext cx="7036657" cy="1611402"/>
            <a:chOff x="3954671" y="2770984"/>
            <a:chExt cx="7036657" cy="1611402"/>
          </a:xfrm>
        </p:grpSpPr>
        <p:grpSp>
          <p:nvGrpSpPr>
            <p:cNvPr id="276" name="Google Shape;276;p14"/>
            <p:cNvGrpSpPr/>
            <p:nvPr/>
          </p:nvGrpSpPr>
          <p:grpSpPr>
            <a:xfrm>
              <a:off x="4243982" y="2770984"/>
              <a:ext cx="2691529" cy="1072438"/>
              <a:chOff x="2335669" y="2731227"/>
              <a:chExt cx="2691529" cy="1072438"/>
            </a:xfrm>
          </p:grpSpPr>
          <p:grpSp>
            <p:nvGrpSpPr>
              <p:cNvPr id="277" name="Google Shape;277;p14"/>
              <p:cNvGrpSpPr/>
              <p:nvPr/>
            </p:nvGrpSpPr>
            <p:grpSpPr>
              <a:xfrm>
                <a:off x="3847708" y="2731227"/>
                <a:ext cx="1179490" cy="644795"/>
                <a:chOff x="2714347" y="4114405"/>
                <a:chExt cx="1179490" cy="644795"/>
              </a:xfrm>
            </p:grpSpPr>
            <p:cxnSp>
              <p:nvCxnSpPr>
                <p:cNvPr id="278" name="Google Shape;278;p14"/>
                <p:cNvCxnSpPr/>
                <p:nvPr/>
              </p:nvCxnSpPr>
              <p:spPr>
                <a:xfrm>
                  <a:off x="2993162" y="4665600"/>
                  <a:ext cx="542038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279" name="Google Shape;279;p14"/>
                <p:cNvSpPr txBox="1"/>
                <p:nvPr/>
              </p:nvSpPr>
              <p:spPr>
                <a:xfrm>
                  <a:off x="2714347" y="4114405"/>
                  <a:ext cx="1179490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1" lang="en-US" sz="20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r>
                    <a:rPr b="0" i="0" lang="en-US" sz="20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CRC bits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" name="Google Shape;280;p14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81" name="Google Shape;281;p14"/>
              <p:cNvGrpSpPr/>
              <p:nvPr/>
            </p:nvGrpSpPr>
            <p:grpSpPr>
              <a:xfrm>
                <a:off x="2491075" y="3061148"/>
                <a:ext cx="1630353" cy="400110"/>
                <a:chOff x="1912047" y="4446000"/>
                <a:chExt cx="1630353" cy="400110"/>
              </a:xfrm>
            </p:grpSpPr>
            <p:cxnSp>
              <p:nvCxnSpPr>
                <p:cNvPr id="282" name="Google Shape;282;p14"/>
                <p:cNvCxnSpPr/>
                <p:nvPr/>
              </p:nvCxnSpPr>
              <p:spPr>
                <a:xfrm>
                  <a:off x="1914638" y="4665600"/>
                  <a:ext cx="1620562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283" name="Google Shape;283;p14"/>
                <p:cNvSpPr/>
                <p:nvPr/>
              </p:nvSpPr>
              <p:spPr>
                <a:xfrm>
                  <a:off x="2098800" y="4636800"/>
                  <a:ext cx="1245600" cy="45719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14"/>
                <p:cNvSpPr txBox="1"/>
                <p:nvPr/>
              </p:nvSpPr>
              <p:spPr>
                <a:xfrm>
                  <a:off x="2088000" y="4446000"/>
                  <a:ext cx="1278812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 data bits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5" name="Google Shape;285;p14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4"/>
                <p:cNvCxnSpPr/>
                <p:nvPr/>
              </p:nvCxnSpPr>
              <p:spPr>
                <a:xfrm>
                  <a:off x="1912047" y="45696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87" name="Google Shape;287;p14"/>
              <p:cNvGrpSpPr/>
              <p:nvPr/>
            </p:nvGrpSpPr>
            <p:grpSpPr>
              <a:xfrm>
                <a:off x="2335669" y="3342000"/>
                <a:ext cx="2325599" cy="461665"/>
                <a:chOff x="1904400" y="5143043"/>
                <a:chExt cx="2325599" cy="461665"/>
              </a:xfrm>
            </p:grpSpPr>
            <p:sp>
              <p:nvSpPr>
                <p:cNvPr id="288" name="Google Shape;288;p14"/>
                <p:cNvSpPr/>
                <p:nvPr/>
              </p:nvSpPr>
              <p:spPr>
                <a:xfrm>
                  <a:off x="1904400" y="5221355"/>
                  <a:ext cx="2325599" cy="291548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4"/>
                <p:cNvSpPr txBox="1"/>
                <p:nvPr/>
              </p:nvSpPr>
              <p:spPr>
                <a:xfrm>
                  <a:off x="2617147" y="5171947"/>
                  <a:ext cx="34176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14"/>
                <p:cNvSpPr txBox="1"/>
                <p:nvPr/>
              </p:nvSpPr>
              <p:spPr>
                <a:xfrm>
                  <a:off x="3708874" y="5143043"/>
                  <a:ext cx="35137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endParaRPr b="0" i="0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1" name="Google Shape;291;p14"/>
                <p:cNvCxnSpPr/>
                <p:nvPr/>
              </p:nvCxnSpPr>
              <p:spPr>
                <a:xfrm>
                  <a:off x="3531600" y="5223600"/>
                  <a:ext cx="0" cy="28800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92" name="Google Shape;292;p14"/>
            <p:cNvGrpSpPr/>
            <p:nvPr/>
          </p:nvGrpSpPr>
          <p:grpSpPr>
            <a:xfrm>
              <a:off x="3954671" y="3896138"/>
              <a:ext cx="2934586" cy="486248"/>
              <a:chOff x="8759687" y="3087756"/>
              <a:chExt cx="2934586" cy="486248"/>
            </a:xfrm>
          </p:grpSpPr>
          <p:sp>
            <p:nvSpPr>
              <p:cNvPr id="293" name="Google Shape;293;p14"/>
              <p:cNvSpPr txBox="1"/>
              <p:nvPr/>
            </p:nvSpPr>
            <p:spPr>
              <a:xfrm>
                <a:off x="8759687" y="3087756"/>
                <a:ext cx="293458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&lt;D,R&gt; = D  2</a:t>
                </a:r>
                <a:r>
                  <a:rPr b="0" baseline="30000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XOR  R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4"/>
              <p:cNvSpPr txBox="1"/>
              <p:nvPr/>
            </p:nvSpPr>
            <p:spPr>
              <a:xfrm>
                <a:off x="9972262" y="3173894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" name="Google Shape;295;p14"/>
            <p:cNvGrpSpPr/>
            <p:nvPr/>
          </p:nvGrpSpPr>
          <p:grpSpPr>
            <a:xfrm>
              <a:off x="6791741" y="3405809"/>
              <a:ext cx="4199587" cy="945369"/>
              <a:chOff x="7030279" y="3405809"/>
              <a:chExt cx="4199587" cy="945369"/>
            </a:xfrm>
          </p:grpSpPr>
          <p:sp>
            <p:nvSpPr>
              <p:cNvPr id="296" name="Google Shape;296;p14"/>
              <p:cNvSpPr txBox="1"/>
              <p:nvPr/>
            </p:nvSpPr>
            <p:spPr>
              <a:xfrm>
                <a:off x="8242853" y="3405809"/>
                <a:ext cx="15158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 pattern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4"/>
              <p:cNvSpPr txBox="1"/>
              <p:nvPr/>
            </p:nvSpPr>
            <p:spPr>
              <a:xfrm>
                <a:off x="8236226" y="3889513"/>
                <a:ext cx="299364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formula for bit pattern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8" name="Google Shape;298;p14"/>
              <p:cNvCxnSpPr/>
              <p:nvPr/>
            </p:nvCxnSpPr>
            <p:spPr>
              <a:xfrm>
                <a:off x="7050157" y="4134678"/>
                <a:ext cx="119269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14"/>
              <p:cNvCxnSpPr/>
              <p:nvPr/>
            </p:nvCxnSpPr>
            <p:spPr>
              <a:xfrm>
                <a:off x="7030279" y="3637722"/>
                <a:ext cx="119269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00" name="Google Shape;300;p14"/>
          <p:cNvSpPr/>
          <p:nvPr/>
        </p:nvSpPr>
        <p:spPr>
          <a:xfrm>
            <a:off x="5864088" y="3260035"/>
            <a:ext cx="715617" cy="715617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1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(CRC): example</a:t>
            </a:r>
            <a:endParaRPr sz="4400"/>
          </a:p>
        </p:txBody>
      </p:sp>
      <p:sp>
        <p:nvSpPr>
          <p:cNvPr id="308" name="Google Shape;308;p15"/>
          <p:cNvSpPr txBox="1"/>
          <p:nvPr/>
        </p:nvSpPr>
        <p:spPr>
          <a:xfrm>
            <a:off x="753303" y="1408043"/>
            <a:ext cx="4984888" cy="1044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We want:</a:t>
            </a:r>
            <a:endParaRPr b="0" i="0" sz="32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XOR  R = nG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498852" y="6357788"/>
            <a:ext cx="95330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15"/>
          <p:cNvGrpSpPr/>
          <p:nvPr/>
        </p:nvGrpSpPr>
        <p:grpSpPr>
          <a:xfrm>
            <a:off x="1783729" y="4359275"/>
            <a:ext cx="2788271" cy="822325"/>
            <a:chOff x="1783729" y="4359275"/>
            <a:chExt cx="2788271" cy="822325"/>
          </a:xfrm>
        </p:grpSpPr>
        <p:sp>
          <p:nvSpPr>
            <p:cNvPr id="311" name="Google Shape;311;p15"/>
            <p:cNvSpPr txBox="1"/>
            <p:nvPr/>
          </p:nvSpPr>
          <p:spPr>
            <a:xfrm>
              <a:off x="3184939" y="4359275"/>
              <a:ext cx="1336675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3000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" name="Google Shape;312;p15"/>
            <p:cNvCxnSpPr/>
            <p:nvPr/>
          </p:nvCxnSpPr>
          <p:spPr>
            <a:xfrm>
              <a:off x="3527839" y="4775200"/>
              <a:ext cx="63182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3" name="Google Shape;313;p15"/>
            <p:cNvSpPr txBox="1"/>
            <p:nvPr/>
          </p:nvSpPr>
          <p:spPr>
            <a:xfrm>
              <a:off x="1783729" y="4504911"/>
              <a:ext cx="2788271" cy="471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remainder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 b="0" i="1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p15"/>
          <p:cNvSpPr txBox="1"/>
          <p:nvPr/>
        </p:nvSpPr>
        <p:spPr>
          <a:xfrm>
            <a:off x="767158" y="2253170"/>
            <a:ext cx="4984888" cy="8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or equivalently:</a:t>
            </a:r>
            <a:endParaRPr b="0" i="0" sz="32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nG  XOR  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"/>
          <p:cNvSpPr txBox="1"/>
          <p:nvPr/>
        </p:nvSpPr>
        <p:spPr>
          <a:xfrm>
            <a:off x="725595" y="3126008"/>
            <a:ext cx="4984888" cy="1252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or equivalently: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457200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if we divide D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G, want remainder R to satisfy: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7679634" y="2146851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8249478" y="3041373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8249479" y="2451654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8262729" y="2756456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8256103" y="3339547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15"/>
          <p:cNvGrpSpPr/>
          <p:nvPr/>
        </p:nvGrpSpPr>
        <p:grpSpPr>
          <a:xfrm>
            <a:off x="8825948" y="3664228"/>
            <a:ext cx="1505129" cy="2259494"/>
            <a:chOff x="8825948" y="3664228"/>
            <a:chExt cx="1505129" cy="2259494"/>
          </a:xfrm>
        </p:grpSpPr>
        <p:sp>
          <p:nvSpPr>
            <p:cNvPr id="322" name="Google Shape;322;p15"/>
            <p:cNvSpPr txBox="1"/>
            <p:nvPr/>
          </p:nvSpPr>
          <p:spPr>
            <a:xfrm>
              <a:off x="8832573" y="45587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5"/>
            <p:cNvSpPr txBox="1"/>
            <p:nvPr/>
          </p:nvSpPr>
          <p:spPr>
            <a:xfrm>
              <a:off x="9110869" y="5155096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 txBox="1"/>
            <p:nvPr/>
          </p:nvSpPr>
          <p:spPr>
            <a:xfrm>
              <a:off x="8845821" y="3962406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0  0  0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 txBox="1"/>
            <p:nvPr/>
          </p:nvSpPr>
          <p:spPr>
            <a:xfrm>
              <a:off x="8825949" y="3664228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1  1  0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5"/>
            <p:cNvSpPr txBox="1"/>
            <p:nvPr/>
          </p:nvSpPr>
          <p:spPr>
            <a:xfrm>
              <a:off x="8825948" y="42539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1  1  0  0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5"/>
            <p:cNvSpPr txBox="1"/>
            <p:nvPr/>
          </p:nvSpPr>
          <p:spPr>
            <a:xfrm>
              <a:off x="9110871" y="4856920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1  0  1  0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5"/>
            <p:cNvSpPr txBox="1"/>
            <p:nvPr/>
          </p:nvSpPr>
          <p:spPr>
            <a:xfrm>
              <a:off x="9395794" y="5462057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0  1  1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15"/>
          <p:cNvSpPr txBox="1"/>
          <p:nvPr/>
        </p:nvSpPr>
        <p:spPr>
          <a:xfrm>
            <a:off x="9262887" y="1451109"/>
            <a:ext cx="10647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0  1  1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9998764" y="2537791"/>
            <a:ext cx="405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9700589" y="5963477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/>
          <p:nvPr/>
        </p:nvSpPr>
        <p:spPr>
          <a:xfrm rot="5400000">
            <a:off x="9749390" y="5609878"/>
            <a:ext cx="185531" cy="68069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5"/>
          <p:cNvGrpSpPr/>
          <p:nvPr/>
        </p:nvGrpSpPr>
        <p:grpSpPr>
          <a:xfrm>
            <a:off x="6367670" y="1219201"/>
            <a:ext cx="1220206" cy="1064637"/>
            <a:chOff x="6367670" y="1219201"/>
            <a:chExt cx="1220206" cy="1064637"/>
          </a:xfrm>
        </p:grpSpPr>
        <p:sp>
          <p:nvSpPr>
            <p:cNvPr id="334" name="Google Shape;334;p15"/>
            <p:cNvSpPr txBox="1"/>
            <p:nvPr/>
          </p:nvSpPr>
          <p:spPr>
            <a:xfrm>
              <a:off x="6367670" y="1822173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5"/>
            <p:cNvSpPr txBox="1"/>
            <p:nvPr/>
          </p:nvSpPr>
          <p:spPr>
            <a:xfrm>
              <a:off x="6745358" y="1219201"/>
              <a:ext cx="4106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 rot="-5400000">
              <a:off x="6831499" y="1265579"/>
              <a:ext cx="231910" cy="100054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7" name="Google Shape;337;p15"/>
          <p:cNvCxnSpPr>
            <a:endCxn id="330" idx="1"/>
          </p:cNvCxnSpPr>
          <p:nvPr/>
        </p:nvCxnSpPr>
        <p:spPr>
          <a:xfrm>
            <a:off x="8839264" y="2200001"/>
            <a:ext cx="1159500" cy="5994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38" name="Google Shape;338;p15"/>
          <p:cNvGrpSpPr/>
          <p:nvPr/>
        </p:nvGrpSpPr>
        <p:grpSpPr>
          <a:xfrm>
            <a:off x="7550150" y="1873802"/>
            <a:ext cx="2658303" cy="323299"/>
            <a:chOff x="7550150" y="1873802"/>
            <a:chExt cx="2658303" cy="323299"/>
          </a:xfrm>
        </p:grpSpPr>
        <p:grpSp>
          <p:nvGrpSpPr>
            <p:cNvPr id="339" name="Google Shape;339;p15"/>
            <p:cNvGrpSpPr/>
            <p:nvPr/>
          </p:nvGrpSpPr>
          <p:grpSpPr>
            <a:xfrm>
              <a:off x="7550150" y="1873802"/>
              <a:ext cx="2658303" cy="323299"/>
              <a:chOff x="7572375" y="1842052"/>
              <a:chExt cx="2658303" cy="323299"/>
            </a:xfrm>
          </p:grpSpPr>
          <p:cxnSp>
            <p:nvCxnSpPr>
              <p:cNvPr id="340" name="Google Shape;340;p15"/>
              <p:cNvCxnSpPr/>
              <p:nvPr/>
            </p:nvCxnSpPr>
            <p:spPr>
              <a:xfrm>
                <a:off x="7659757" y="1842052"/>
                <a:ext cx="257092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1" name="Google Shape;341;p15"/>
              <p:cNvSpPr/>
              <p:nvPr/>
            </p:nvSpPr>
            <p:spPr>
              <a:xfrm rot="-5400000">
                <a:off x="7488045" y="1927002"/>
                <a:ext cx="322679" cy="154018"/>
              </a:xfrm>
              <a:prstGeom prst="pie">
                <a:avLst>
                  <a:gd fmla="val 0" name="adj1"/>
                  <a:gd fmla="val 10753547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2" name="Google Shape;342;p15"/>
            <p:cNvSpPr/>
            <p:nvPr/>
          </p:nvSpPr>
          <p:spPr>
            <a:xfrm>
              <a:off x="7585075" y="1882775"/>
              <a:ext cx="85725" cy="3079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15"/>
          <p:cNvSpPr txBox="1"/>
          <p:nvPr/>
        </p:nvSpPr>
        <p:spPr>
          <a:xfrm>
            <a:off x="9406127" y="1822173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7673008" y="1828798"/>
            <a:ext cx="18069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1  0  1  1  1  0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7712766" y="1881809"/>
            <a:ext cx="2597426" cy="33130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5"/>
          <p:cNvCxnSpPr>
            <a:endCxn id="330" idx="1"/>
          </p:cNvCxnSpPr>
          <p:nvPr/>
        </p:nvCxnSpPr>
        <p:spPr>
          <a:xfrm>
            <a:off x="9720364" y="2219801"/>
            <a:ext cx="278400" cy="57960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p15"/>
          <p:cNvSpPr txBox="1"/>
          <p:nvPr/>
        </p:nvSpPr>
        <p:spPr>
          <a:xfrm>
            <a:off x="10376447" y="2544418"/>
            <a:ext cx="4507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10227366" y="2637181"/>
            <a:ext cx="3129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8523844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8810715" y="145061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9097586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40"/>
          <p:cNvSpPr txBox="1"/>
          <p:nvPr/>
        </p:nvSpPr>
        <p:spPr>
          <a:xfrm>
            <a:off x="877956" y="1480930"/>
            <a:ext cx="10903227" cy="1981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32-bit IP address: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address for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layer 3 (network layer) forwarding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e.g.: 128.119.40.136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0" name="Google Shape;360;p40"/>
          <p:cNvSpPr txBox="1"/>
          <p:nvPr/>
        </p:nvSpPr>
        <p:spPr>
          <a:xfrm>
            <a:off x="925425" y="3402170"/>
            <a:ext cx="10903227" cy="226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(or LAN or physical or Ethernet) address: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used “locally” to get frame from one interface to another physically-connected interface (same subnet, in IP-addressing sense)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48-bit MAC address (for most LANs) burned in NIC ROM, also sometimes software settable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61" name="Google Shape;361;p40"/>
          <p:cNvGrpSpPr/>
          <p:nvPr/>
        </p:nvGrpSpPr>
        <p:grpSpPr>
          <a:xfrm>
            <a:off x="912934" y="5533272"/>
            <a:ext cx="10903227" cy="903016"/>
            <a:chOff x="912934" y="5533272"/>
            <a:chExt cx="10903227" cy="903016"/>
          </a:xfrm>
        </p:grpSpPr>
        <p:sp>
          <p:nvSpPr>
            <p:cNvPr id="362" name="Google Shape;362;p40"/>
            <p:cNvSpPr txBox="1"/>
            <p:nvPr/>
          </p:nvSpPr>
          <p:spPr>
            <a:xfrm>
              <a:off x="5649171" y="5789957"/>
              <a:ext cx="338868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hexadecimal (base 16) notation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(each “numeral” represents 4 bits)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3" name="Google Shape;363;p40"/>
            <p:cNvCxnSpPr/>
            <p:nvPr/>
          </p:nvCxnSpPr>
          <p:spPr>
            <a:xfrm rot="10800000">
              <a:off x="5021744" y="5895906"/>
              <a:ext cx="623681" cy="2133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4" name="Google Shape;364;p40"/>
            <p:cNvSpPr txBox="1"/>
            <p:nvPr/>
          </p:nvSpPr>
          <p:spPr>
            <a:xfrm>
              <a:off x="912934" y="5533272"/>
              <a:ext cx="10903227" cy="582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31775" lvl="1" marL="695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e.g.: 1A-2F-BB-76-09-AD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9375" lvl="1" marL="6953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" name="Google Shape;370;p41"/>
          <p:cNvCxnSpPr/>
          <p:nvPr/>
        </p:nvCxnSpPr>
        <p:spPr>
          <a:xfrm>
            <a:off x="4798734" y="4271477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41"/>
          <p:cNvCxnSpPr/>
          <p:nvPr/>
        </p:nvCxnSpPr>
        <p:spPr>
          <a:xfrm>
            <a:off x="6583225" y="3351624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6359594" y="5298866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41"/>
          <p:cNvSpPr txBox="1"/>
          <p:nvPr/>
        </p:nvSpPr>
        <p:spPr>
          <a:xfrm>
            <a:off x="1219200" y="1216922"/>
            <a:ext cx="833125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interface on LAN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unique 48-bit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a locally unique 32-bit IP address (as we’ve seen)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1"/>
          <p:cNvSpPr/>
          <p:nvPr/>
        </p:nvSpPr>
        <p:spPr>
          <a:xfrm>
            <a:off x="5425937" y="3593615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41"/>
          <p:cNvCxnSpPr/>
          <p:nvPr/>
        </p:nvCxnSpPr>
        <p:spPr>
          <a:xfrm rot="10800000">
            <a:off x="7446825" y="4320484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41"/>
          <p:cNvSpPr txBox="1"/>
          <p:nvPr/>
        </p:nvSpPr>
        <p:spPr>
          <a:xfrm>
            <a:off x="6910286" y="3308146"/>
            <a:ext cx="20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41"/>
          <p:cNvCxnSpPr/>
          <p:nvPr/>
        </p:nvCxnSpPr>
        <p:spPr>
          <a:xfrm rot="10800000">
            <a:off x="8005327" y="443650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0" name="Google Shape;380;p41"/>
          <p:cNvSpPr txBox="1"/>
          <p:nvPr/>
        </p:nvSpPr>
        <p:spPr>
          <a:xfrm>
            <a:off x="8067964" y="4779074"/>
            <a:ext cx="197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41"/>
          <p:cNvCxnSpPr/>
          <p:nvPr/>
        </p:nvCxnSpPr>
        <p:spPr>
          <a:xfrm rot="10800000">
            <a:off x="6462781" y="5733635"/>
            <a:ext cx="36036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2" name="Google Shape;382;p41"/>
          <p:cNvSpPr txBox="1"/>
          <p:nvPr/>
        </p:nvSpPr>
        <p:spPr>
          <a:xfrm>
            <a:off x="6790346" y="5577782"/>
            <a:ext cx="198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41"/>
          <p:cNvCxnSpPr/>
          <p:nvPr/>
        </p:nvCxnSpPr>
        <p:spPr>
          <a:xfrm rot="10800000">
            <a:off x="4735234" y="442705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4" name="Google Shape;384;p41"/>
          <p:cNvSpPr txBox="1"/>
          <p:nvPr/>
        </p:nvSpPr>
        <p:spPr>
          <a:xfrm>
            <a:off x="3460448" y="4801700"/>
            <a:ext cx="204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1"/>
          <p:cNvSpPr txBox="1"/>
          <p:nvPr/>
        </p:nvSpPr>
        <p:spPr>
          <a:xfrm>
            <a:off x="5327374" y="3992146"/>
            <a:ext cx="217335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(wired or wireless)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137.196.7/24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1"/>
          <p:cNvSpPr/>
          <p:nvPr/>
        </p:nvSpPr>
        <p:spPr>
          <a:xfrm>
            <a:off x="6488853" y="335344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87" name="Google Shape;387;p41"/>
          <p:cNvGrpSpPr/>
          <p:nvPr/>
        </p:nvGrpSpPr>
        <p:grpSpPr>
          <a:xfrm>
            <a:off x="6030223" y="2820774"/>
            <a:ext cx="812800" cy="658813"/>
            <a:chOff x="-44" y="1473"/>
            <a:chExt cx="981" cy="1105"/>
          </a:xfrm>
        </p:grpSpPr>
        <p:pic>
          <p:nvPicPr>
            <p:cNvPr descr="desktop_computer_stylized_medium" id="388" name="Google Shape;388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41"/>
          <p:cNvSpPr/>
          <p:nvPr/>
        </p:nvSpPr>
        <p:spPr>
          <a:xfrm rot="5400000">
            <a:off x="4597155" y="413978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1" name="Google Shape;391;p41"/>
          <p:cNvSpPr/>
          <p:nvPr/>
        </p:nvSpPr>
        <p:spPr>
          <a:xfrm>
            <a:off x="6287678" y="560675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2" name="Google Shape;392;p41"/>
          <p:cNvSpPr/>
          <p:nvPr/>
        </p:nvSpPr>
        <p:spPr>
          <a:xfrm rot="5400000">
            <a:off x="8031860" y="420170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93" name="Google Shape;393;p41"/>
          <p:cNvGrpSpPr/>
          <p:nvPr/>
        </p:nvGrpSpPr>
        <p:grpSpPr>
          <a:xfrm>
            <a:off x="3922434" y="3893652"/>
            <a:ext cx="812800" cy="658813"/>
            <a:chOff x="-44" y="1473"/>
            <a:chExt cx="981" cy="1105"/>
          </a:xfrm>
        </p:grpSpPr>
        <p:pic>
          <p:nvPicPr>
            <p:cNvPr descr="desktop_computer_stylized_medium" id="394" name="Google Shape;394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41"/>
          <p:cNvGrpSpPr/>
          <p:nvPr/>
        </p:nvGrpSpPr>
        <p:grpSpPr>
          <a:xfrm>
            <a:off x="7880069" y="4049022"/>
            <a:ext cx="812800" cy="658812"/>
            <a:chOff x="-26" y="1473"/>
            <a:chExt cx="981" cy="1105"/>
          </a:xfrm>
        </p:grpSpPr>
        <p:pic>
          <p:nvPicPr>
            <p:cNvPr descr="desktop_computer_stylized_medium" id="397" name="Google Shape;397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9" name="Google Shape;399;p41"/>
          <p:cNvCxnSpPr/>
          <p:nvPr/>
        </p:nvCxnSpPr>
        <p:spPr>
          <a:xfrm rot="10800000">
            <a:off x="6719722" y="3486836"/>
            <a:ext cx="2548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00" name="Google Shape;400;p41"/>
          <p:cNvGrpSpPr/>
          <p:nvPr/>
        </p:nvGrpSpPr>
        <p:grpSpPr>
          <a:xfrm>
            <a:off x="5832544" y="5800310"/>
            <a:ext cx="812800" cy="658813"/>
            <a:chOff x="-44" y="1473"/>
            <a:chExt cx="981" cy="1105"/>
          </a:xfrm>
        </p:grpSpPr>
        <p:pic>
          <p:nvPicPr>
            <p:cNvPr descr="desktop_computer_stylized_medium" id="401" name="Google Shape;401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3" name="Google Shape;403;p41"/>
          <p:cNvSpPr txBox="1"/>
          <p:nvPr/>
        </p:nvSpPr>
        <p:spPr>
          <a:xfrm>
            <a:off x="6883929" y="3093700"/>
            <a:ext cx="138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8061613" y="4977856"/>
            <a:ext cx="138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6746875" y="5795350"/>
            <a:ext cx="138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1"/>
          <p:cNvSpPr txBox="1"/>
          <p:nvPr/>
        </p:nvSpPr>
        <p:spPr>
          <a:xfrm>
            <a:off x="3466134" y="5017601"/>
            <a:ext cx="14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42"/>
          <p:cNvSpPr txBox="1"/>
          <p:nvPr/>
        </p:nvSpPr>
        <p:spPr>
          <a:xfrm>
            <a:off x="1010477" y="1441173"/>
            <a:ext cx="10028583" cy="5012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address allocation administered by IEEE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manufacturer buys portion of MAC address space (to assure uniqueness)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address: like Social Security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address: like postal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 flat address: portability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move interface from one LAN to another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IP address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portable: depends on IP subnet to which node is attached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ARP: address resolution protocol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p43"/>
          <p:cNvSpPr txBox="1"/>
          <p:nvPr/>
        </p:nvSpPr>
        <p:spPr>
          <a:xfrm>
            <a:off x="6082748" y="2344599"/>
            <a:ext cx="5193195" cy="95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ARP table: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IP node (host, router) on LAN has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determine interface’s MAC address, knowing its IP address?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4" name="Google Shape;424;p43"/>
          <p:cNvGrpSpPr/>
          <p:nvPr/>
        </p:nvGrpSpPr>
        <p:grpSpPr>
          <a:xfrm>
            <a:off x="948563" y="2990022"/>
            <a:ext cx="4847955" cy="2799867"/>
            <a:chOff x="3970059" y="2973174"/>
            <a:chExt cx="6053187" cy="3638349"/>
          </a:xfrm>
        </p:grpSpPr>
        <p:cxnSp>
          <p:nvCxnSpPr>
            <p:cNvPr id="425" name="Google Shape;425;p43"/>
            <p:cNvCxnSpPr/>
            <p:nvPr/>
          </p:nvCxnSpPr>
          <p:spPr>
            <a:xfrm>
              <a:off x="4951134" y="4423877"/>
              <a:ext cx="901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43"/>
            <p:cNvCxnSpPr/>
            <p:nvPr/>
          </p:nvCxnSpPr>
          <p:spPr>
            <a:xfrm>
              <a:off x="6735625" y="3504024"/>
              <a:ext cx="0" cy="6556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p43"/>
            <p:cNvCxnSpPr/>
            <p:nvPr/>
          </p:nvCxnSpPr>
          <p:spPr>
            <a:xfrm rot="10800000">
              <a:off x="6511994" y="5451266"/>
              <a:ext cx="0" cy="4381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8" name="Google Shape;428;p43"/>
            <p:cNvSpPr/>
            <p:nvPr/>
          </p:nvSpPr>
          <p:spPr>
            <a:xfrm>
              <a:off x="5578337" y="3746015"/>
              <a:ext cx="2046288" cy="2049462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9" name="Google Shape;429;p43"/>
            <p:cNvCxnSpPr/>
            <p:nvPr/>
          </p:nvCxnSpPr>
          <p:spPr>
            <a:xfrm rot="10800000">
              <a:off x="7599225" y="4472884"/>
              <a:ext cx="7969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0" name="Google Shape;430;p43"/>
            <p:cNvSpPr txBox="1"/>
            <p:nvPr/>
          </p:nvSpPr>
          <p:spPr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1A-2F-BB-76-09-AD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43"/>
            <p:cNvCxnSpPr/>
            <p:nvPr/>
          </p:nvCxnSpPr>
          <p:spPr>
            <a:xfrm rot="10800000">
              <a:off x="8157727" y="458890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2" name="Google Shape;432;p43"/>
            <p:cNvSpPr txBox="1"/>
            <p:nvPr/>
          </p:nvSpPr>
          <p:spPr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58-23-D7-FA-20-B0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3" name="Google Shape;433;p43"/>
            <p:cNvCxnSpPr/>
            <p:nvPr/>
          </p:nvCxnSpPr>
          <p:spPr>
            <a:xfrm rot="10800000">
              <a:off x="6615181" y="5886035"/>
              <a:ext cx="360363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4" name="Google Shape;434;p43"/>
            <p:cNvSpPr txBox="1"/>
            <p:nvPr/>
          </p:nvSpPr>
          <p:spPr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0C-C4-11-6F-E3-98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5" name="Google Shape;435;p43"/>
            <p:cNvCxnSpPr/>
            <p:nvPr/>
          </p:nvCxnSpPr>
          <p:spPr>
            <a:xfrm rot="10800000">
              <a:off x="4887634" y="457945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6" name="Google Shape;436;p43"/>
            <p:cNvSpPr txBox="1"/>
            <p:nvPr/>
          </p:nvSpPr>
          <p:spPr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3"/>
            <p:cNvSpPr txBox="1"/>
            <p:nvPr/>
          </p:nvSpPr>
          <p:spPr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LAN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3"/>
            <p:cNvSpPr/>
            <p:nvPr/>
          </p:nvSpPr>
          <p:spPr>
            <a:xfrm>
              <a:off x="6641253" y="350584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" name="Google Shape;439;p43"/>
            <p:cNvGrpSpPr/>
            <p:nvPr/>
          </p:nvGrpSpPr>
          <p:grpSpPr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440" name="Google Shape;440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1" name="Google Shape;441;p4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2" name="Google Shape;442;p43"/>
            <p:cNvSpPr/>
            <p:nvPr/>
          </p:nvSpPr>
          <p:spPr>
            <a:xfrm rot="5400000">
              <a:off x="4749555" y="429218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43"/>
            <p:cNvSpPr/>
            <p:nvPr/>
          </p:nvSpPr>
          <p:spPr>
            <a:xfrm>
              <a:off x="6440078" y="575915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43"/>
            <p:cNvSpPr/>
            <p:nvPr/>
          </p:nvSpPr>
          <p:spPr>
            <a:xfrm rot="5400000">
              <a:off x="8184260" y="435410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5" name="Google Shape;445;p43"/>
            <p:cNvGrpSpPr/>
            <p:nvPr/>
          </p:nvGrpSpPr>
          <p:grpSpPr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446" name="Google Shape;446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7" name="Google Shape;447;p4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8" name="Google Shape;448;p43"/>
            <p:cNvGrpSpPr/>
            <p:nvPr/>
          </p:nvGrpSpPr>
          <p:grpSpPr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descr="desktop_computer_stylized_medium" id="449" name="Google Shape;449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0" name="Google Shape;450;p4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51" name="Google Shape;451;p43"/>
            <p:cNvCxnSpPr/>
            <p:nvPr/>
          </p:nvCxnSpPr>
          <p:spPr>
            <a:xfrm rot="10800000">
              <a:off x="6872122" y="3639236"/>
              <a:ext cx="2548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452" name="Google Shape;452;p43"/>
            <p:cNvGrpSpPr/>
            <p:nvPr/>
          </p:nvGrpSpPr>
          <p:grpSpPr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453" name="Google Shape;453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4" name="Google Shape;454;p4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5" name="Google Shape;455;p43"/>
            <p:cNvSpPr txBox="1"/>
            <p:nvPr/>
          </p:nvSpPr>
          <p:spPr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137.196.7.78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3"/>
            <p:cNvSpPr txBox="1"/>
            <p:nvPr/>
          </p:nvSpPr>
          <p:spPr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3"/>
            <p:cNvSpPr txBox="1"/>
            <p:nvPr/>
          </p:nvSpPr>
          <p:spPr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137.196.7.88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3"/>
            <p:cNvSpPr txBox="1"/>
            <p:nvPr/>
          </p:nvSpPr>
          <p:spPr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137.196.7.23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43"/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460" name="Google Shape;460;p43"/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461" name="Google Shape;461;p43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43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3" name="Google Shape;463;p43"/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464" name="Google Shape;464;p43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43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6" name="Google Shape;466;p43"/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467" name="Google Shape;467;p43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43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43"/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470" name="Google Shape;470;p43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43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2" name="Google Shape;472;p43"/>
          <p:cNvSpPr txBox="1"/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IP/MAC address mappings for some LAN nodes: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&lt; IP address; MAC address; TTL&gt;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 (Time To Live): time after which address mapping will be forgotten (typically 20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8" name="Google Shape;478;p44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44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44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4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44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44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44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6" name="Google Shape;486;p44"/>
          <p:cNvSpPr txBox="1"/>
          <p:nvPr/>
        </p:nvSpPr>
        <p:spPr>
          <a:xfrm>
            <a:off x="8214637" y="4817725"/>
            <a:ext cx="19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4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88" name="Google Shape;488;p44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489" name="Google Shape;48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44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2" name="Google Shape;492;p44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93" name="Google Shape;493;p44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494" name="Google Shape;494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44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497" name="Google Shape;497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44"/>
          <p:cNvSpPr txBox="1"/>
          <p:nvPr/>
        </p:nvSpPr>
        <p:spPr>
          <a:xfrm>
            <a:off x="8208399" y="5016514"/>
            <a:ext cx="135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4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4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4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4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4" name="Google Shape;504;p44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5" name="Google Shape;505;p44"/>
          <p:cNvSpPr txBox="1"/>
          <p:nvPr/>
        </p:nvSpPr>
        <p:spPr>
          <a:xfrm>
            <a:off x="4253700" y="4840375"/>
            <a:ext cx="182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4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07" name="Google Shape;507;p44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508" name="Google Shape;50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p44"/>
          <p:cNvSpPr txBox="1"/>
          <p:nvPr/>
        </p:nvSpPr>
        <p:spPr>
          <a:xfrm>
            <a:off x="4258765" y="5056276"/>
            <a:ext cx="131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4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44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513" name="Google Shape;513;p44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4" name="Google Shape;514;p44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515" name="Google Shape;515;p44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44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7" name="Google Shape;517;p44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18" name="Google Shape;518;p44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44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20" name="Google Shape;520;p44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44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22" name="Google Shape;522;p44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23" name="Google Shape;523;p44"/>
          <p:cNvSpPr txBox="1"/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4" name="Google Shape;524;p44"/>
          <p:cNvGrpSpPr/>
          <p:nvPr/>
        </p:nvGrpSpPr>
        <p:grpSpPr>
          <a:xfrm>
            <a:off x="689113" y="2175367"/>
            <a:ext cx="5579101" cy="1015800"/>
            <a:chOff x="689113" y="2070437"/>
            <a:chExt cx="5579101" cy="1015800"/>
          </a:xfrm>
        </p:grpSpPr>
        <p:sp>
          <p:nvSpPr>
            <p:cNvPr id="525" name="Google Shape;525;p44"/>
            <p:cNvSpPr txBox="1"/>
            <p:nvPr/>
          </p:nvSpPr>
          <p:spPr>
            <a:xfrm>
              <a:off x="993914" y="2070437"/>
              <a:ext cx="5274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1775" lvl="0" marL="23177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broadcasts ARP query, containing 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49" lvl="1" marL="404812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B’s IP addr = 137.196.7.14</a:t>
              </a:r>
              <a:endParaRPr b="0" i="0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49" lvl="1" marL="404812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destination MAC address = FF-FF-FF-FF-FF-FF</a:t>
              </a:r>
              <a:endParaRPr b="0" i="0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" name="Google Shape;526;p44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527" name="Google Shape;527;p44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44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9" name="Google Shape;529;p44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530" name="Google Shape;530;p44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6666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44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44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MAC: 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IP: 137.196.7.23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p44"/>
          <p:cNvGrpSpPr/>
          <p:nvPr/>
        </p:nvGrpSpPr>
        <p:grpSpPr>
          <a:xfrm>
            <a:off x="5367131" y="3596877"/>
            <a:ext cx="2849218" cy="2007708"/>
            <a:chOff x="437322" y="4803913"/>
            <a:chExt cx="2849218" cy="2007708"/>
          </a:xfrm>
        </p:grpSpPr>
        <p:sp>
          <p:nvSpPr>
            <p:cNvPr id="534" name="Google Shape;534;p44"/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6666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44"/>
            <p:cNvSpPr/>
            <p:nvPr/>
          </p:nvSpPr>
          <p:spPr>
            <a:xfrm rot="-5400000">
              <a:off x="1408044" y="5105399"/>
              <a:ext cx="775252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6666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44"/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6666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7" name="Google Shape;537;p44"/>
            <p:cNvGrpSpPr/>
            <p:nvPr/>
          </p:nvGrpSpPr>
          <p:grpSpPr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538" name="Google Shape;538;p44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44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44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1" name="Google Shape;541;p44"/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542" name="Google Shape;542;p44"/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4"/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" name="Google Shape;544;p44"/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frame (sent to FF-FF-FF-FF-FF-FF)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0" name="Google Shape;550;p45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p45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p45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4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5" name="Google Shape;555;p45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45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45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8" name="Google Shape;558;p45"/>
          <p:cNvSpPr txBox="1"/>
          <p:nvPr/>
        </p:nvSpPr>
        <p:spPr>
          <a:xfrm>
            <a:off x="8214950" y="4817725"/>
            <a:ext cx="203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5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60" name="Google Shape;560;p45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561" name="Google Shape;56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45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4" name="Google Shape;564;p45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65" name="Google Shape;565;p45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566" name="Google Shape;566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45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569" name="Google Shape;569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p45"/>
          <p:cNvSpPr txBox="1"/>
          <p:nvPr/>
        </p:nvSpPr>
        <p:spPr>
          <a:xfrm>
            <a:off x="8208399" y="5016514"/>
            <a:ext cx="142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5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5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5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5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45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7" name="Google Shape;577;p45"/>
          <p:cNvSpPr txBox="1"/>
          <p:nvPr/>
        </p:nvSpPr>
        <p:spPr>
          <a:xfrm>
            <a:off x="4166875" y="4840375"/>
            <a:ext cx="190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5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79" name="Google Shape;579;p45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580" name="Google Shape;580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45"/>
          <p:cNvSpPr txBox="1"/>
          <p:nvPr/>
        </p:nvSpPr>
        <p:spPr>
          <a:xfrm>
            <a:off x="4172181" y="5056276"/>
            <a:ext cx="137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5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" name="Google Shape;584;p45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585" name="Google Shape;585;p45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6" name="Google Shape;586;p45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587" name="Google Shape;587;p45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45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89" name="Google Shape;589;p45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90" name="Google Shape;590;p45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45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92" name="Google Shape;592;p45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45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94" name="Google Shape;594;p45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95" name="Google Shape;595;p45"/>
          <p:cNvSpPr txBox="1"/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6" name="Google Shape;596;p45"/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597" name="Google Shape;597;p45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replies to A with ARP response, giving its MAC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8" name="Google Shape;598;p45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599" name="Google Shape;599;p45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45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01" name="Google Shape;601;p45"/>
          <p:cNvGrpSpPr/>
          <p:nvPr/>
        </p:nvGrpSpPr>
        <p:grpSpPr>
          <a:xfrm>
            <a:off x="6633558" y="2844563"/>
            <a:ext cx="4744317" cy="1491377"/>
            <a:chOff x="7269663" y="168712"/>
            <a:chExt cx="4744317" cy="1491377"/>
          </a:xfrm>
        </p:grpSpPr>
        <p:sp>
          <p:nvSpPr>
            <p:cNvPr id="602" name="Google Shape;602;p45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6666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45"/>
            <p:cNvSpPr/>
            <p:nvPr/>
          </p:nvSpPr>
          <p:spPr>
            <a:xfrm>
              <a:off x="8575280" y="205987"/>
              <a:ext cx="3357600" cy="1020300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45"/>
            <p:cNvSpPr txBox="1"/>
            <p:nvPr/>
          </p:nvSpPr>
          <p:spPr>
            <a:xfrm>
              <a:off x="8498880" y="217412"/>
              <a:ext cx="35151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MAC address: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58-23-D7-FA-20-B0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5" name="Google Shape;605;p45"/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606" name="Google Shape;606;p45"/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6666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" name="Google Shape;607;p45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608" name="Google Shape;608;p45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45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45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45"/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612" name="Google Shape;612;p45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45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4" name="Google Shape;614;p45"/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message into Ethernet frame (sent to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71-65-F7-2B-08-53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0" name="Google Shape;620;p46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46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46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4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5" name="Google Shape;625;p46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p46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46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8" name="Google Shape;628;p46"/>
          <p:cNvSpPr txBox="1"/>
          <p:nvPr/>
        </p:nvSpPr>
        <p:spPr>
          <a:xfrm>
            <a:off x="8215377" y="4817725"/>
            <a:ext cx="217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6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630" name="Google Shape;630;p46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631" name="Google Shape;63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46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34" name="Google Shape;634;p46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635" name="Google Shape;635;p46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636" name="Google Shape;636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4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46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639" name="Google Shape;639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0" name="Google Shape;640;p4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1" name="Google Shape;641;p46"/>
          <p:cNvSpPr txBox="1"/>
          <p:nvPr/>
        </p:nvSpPr>
        <p:spPr>
          <a:xfrm>
            <a:off x="8208398" y="5016514"/>
            <a:ext cx="15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6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6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6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6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46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46"/>
          <p:cNvSpPr txBox="1"/>
          <p:nvPr/>
        </p:nvSpPr>
        <p:spPr>
          <a:xfrm>
            <a:off x="4109025" y="4840375"/>
            <a:ext cx="196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6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649" name="Google Shape;649;p46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650" name="Google Shape;650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4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2" name="Google Shape;652;p46"/>
          <p:cNvSpPr txBox="1"/>
          <p:nvPr/>
        </p:nvSpPr>
        <p:spPr>
          <a:xfrm>
            <a:off x="4114492" y="5056276"/>
            <a:ext cx="141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6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46"/>
          <p:cNvGrpSpPr/>
          <p:nvPr/>
        </p:nvGrpSpPr>
        <p:grpSpPr>
          <a:xfrm>
            <a:off x="462966" y="3311943"/>
            <a:ext cx="4413742" cy="1373671"/>
            <a:chOff x="404194" y="2544417"/>
            <a:chExt cx="3690728" cy="1373671"/>
          </a:xfrm>
        </p:grpSpPr>
        <p:sp>
          <p:nvSpPr>
            <p:cNvPr id="655" name="Google Shape;655;p46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6" name="Google Shape;656;p46"/>
            <p:cNvGrpSpPr/>
            <p:nvPr/>
          </p:nvGrpSpPr>
          <p:grpSpPr>
            <a:xfrm>
              <a:off x="404194" y="2544417"/>
              <a:ext cx="3379301" cy="1367888"/>
              <a:chOff x="404194" y="2544417"/>
              <a:chExt cx="3379301" cy="1367888"/>
            </a:xfrm>
          </p:grpSpPr>
          <p:sp>
            <p:nvSpPr>
              <p:cNvPr id="657" name="Google Shape;657;p46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46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59" name="Google Shape;659;p46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60" name="Google Shape;660;p46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46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2" name="Google Shape;662;p46"/>
              <p:cNvCxnSpPr/>
              <p:nvPr/>
            </p:nvCxnSpPr>
            <p:spPr>
              <a:xfrm>
                <a:off x="1491317" y="2848805"/>
                <a:ext cx="0" cy="106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3" name="Google Shape;663;p46"/>
              <p:cNvCxnSpPr/>
              <p:nvPr/>
            </p:nvCxnSpPr>
            <p:spPr>
              <a:xfrm>
                <a:off x="3107071" y="2848944"/>
                <a:ext cx="0" cy="106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64" name="Google Shape;664;p46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65" name="Google Shape;665;p46"/>
          <p:cNvSpPr txBox="1"/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6" name="Google Shape;666;p46"/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667" name="Google Shape;667;p46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B’s reply, adds B entry into its local ARP table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" name="Google Shape;668;p46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669" name="Google Shape;669;p46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46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71" name="Google Shape;671;p46"/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672" name="Google Shape;672;p46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6666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3" name="Google Shape;673;p46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674" name="Google Shape;674;p46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46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46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7" name="Google Shape;677;p46"/>
          <p:cNvGrpSpPr/>
          <p:nvPr/>
        </p:nvGrpSpPr>
        <p:grpSpPr>
          <a:xfrm>
            <a:off x="577475" y="3923200"/>
            <a:ext cx="3609349" cy="350875"/>
            <a:chOff x="577475" y="3818270"/>
            <a:chExt cx="3609349" cy="350875"/>
          </a:xfrm>
        </p:grpSpPr>
        <p:sp>
          <p:nvSpPr>
            <p:cNvPr id="678" name="Google Shape;678;p46"/>
            <p:cNvSpPr txBox="1"/>
            <p:nvPr/>
          </p:nvSpPr>
          <p:spPr>
            <a:xfrm>
              <a:off x="577475" y="3818270"/>
              <a:ext cx="1520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137.196.7.14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6"/>
            <p:cNvSpPr txBox="1"/>
            <p:nvPr/>
          </p:nvSpPr>
          <p:spPr>
            <a:xfrm>
              <a:off x="1961463" y="3861345"/>
              <a:ext cx="1740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58-23-D7-FA-20-B0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6"/>
            <p:cNvSpPr txBox="1"/>
            <p:nvPr/>
          </p:nvSpPr>
          <p:spPr>
            <a:xfrm>
              <a:off x="3704124" y="3854719"/>
              <a:ext cx="48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8" name="Google Shape;688;p47"/>
          <p:cNvSpPr txBox="1"/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25" lvl="0" marL="111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walkthrough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sending a  datagram from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5425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addressing – at IP (datagram) and MAC layer (frame)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p47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0" name="Google Shape;690;p47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7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2" name="Google Shape;692;p47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47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47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47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47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47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7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47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700" name="Google Shape;700;p47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01" name="Google Shape;701;p47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702" name="Google Shape;702;p47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703" name="Google Shape;703;p4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4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5" name="Google Shape;705;p4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06" name="Google Shape;706;p4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" name="Google Shape;707;p4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8" name="Google Shape;708;p4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9" name="Google Shape;709;p4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10" name="Google Shape;710;p47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11" name="Google Shape;711;p47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712" name="Google Shape;712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4" name="Google Shape;714;p47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15" name="Google Shape;715;p47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716" name="Google Shape;716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7" name="Google Shape;717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8" name="Google Shape;718;p47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19" name="Google Shape;719;p47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20" name="Google Shape;720;p47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721" name="Google Shape;721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47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724" name="Google Shape;724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5" name="Google Shape;725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47"/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727" name="Google Shape;727;p47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47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9" name="Google Shape;729;p47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730" name="Google Shape;730;p47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47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32" name="Google Shape;732;p47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7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47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7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6" name="Google Shape;736;p47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37" name="Google Shape;737;p47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38" name="Google Shape;738;p47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39" name="Google Shape;739;p47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740" name="Google Shape;740;p47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741" name="Google Shape;741;p47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47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3" name="Google Shape;743;p47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7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5" name="Google Shape;745;p47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46" name="Google Shape;746;p47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47" name="Google Shape;747;p47"/>
          <p:cNvSpPr txBox="1"/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425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that: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B’s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IP address of first hop router, R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R’s MAC address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55" name="Google Shape;755;p48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756" name="Google Shape;756;p48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7" name="Google Shape;757;p48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b="0" i="0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48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48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0" name="Google Shape;760;p48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761" name="Google Shape;761;p48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48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3" name="Google Shape;763;p48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8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8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8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8" name="Google Shape;768;p48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9" name="Google Shape;769;p48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0" name="Google Shape;770;p48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1" name="Google Shape;771;p48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2" name="Google Shape;772;p48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73" name="Google Shape;773;p48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4" name="Google Shape;774;p48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p48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776" name="Google Shape;776;p48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48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78" name="Google Shape;778;p48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9" name="Google Shape;779;p48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48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1" name="Google Shape;781;p48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2" name="Google Shape;782;p48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48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4" name="Google Shape;784;p48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785" name="Google Shape;785;p48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372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786" name="Google Shape;786;p48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372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87" name="Google Shape;787;p48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788" name="Google Shape;788;p4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4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90" name="Google Shape;790;p4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791" name="Google Shape;791;p4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792;p4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3" name="Google Shape;793;p4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4" name="Google Shape;794;p4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795" name="Google Shape;795;p48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796" name="Google Shape;796;p48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797" name="Google Shape;797;p4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8" name="Google Shape;798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9" name="Google Shape;799;p48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800" name="Google Shape;800;p48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801" name="Google Shape;801;p4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2" name="Google Shape;802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04" name="Google Shape;804;p48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805" name="Google Shape;805;p48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806" name="Google Shape;806;p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7" name="Google Shape;807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48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809" name="Google Shape;809;p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" name="Google Shape;810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11" name="Google Shape;811;p48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12" name="Google Shape;812;p48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813" name="Google Shape;813;p48"/>
          <p:cNvSpPr/>
          <p:nvPr/>
        </p:nvSpPr>
        <p:spPr>
          <a:xfrm>
            <a:off x="3527282" y="3404150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4" name="Google Shape;814;p48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815" name="Google Shape;815;p48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8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8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8" name="Google Shape;818;p48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9" name="Google Shape;819;p48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0" name="Google Shape;820;p48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1" name="Google Shape;821;p48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22" name="Google Shape;822;p48"/>
          <p:cNvGrpSpPr/>
          <p:nvPr/>
        </p:nvGrpSpPr>
        <p:grpSpPr>
          <a:xfrm>
            <a:off x="3033574" y="2961250"/>
            <a:ext cx="2381249" cy="760400"/>
            <a:chOff x="1197" y="1665"/>
            <a:chExt cx="1500" cy="479"/>
          </a:xfrm>
        </p:grpSpPr>
        <p:grpSp>
          <p:nvGrpSpPr>
            <p:cNvPr id="823" name="Google Shape;823;p48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824" name="Google Shape;824;p48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25" name="Google Shape;825;p48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" name="Google Shape;826;p48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27" name="Google Shape;827;p48"/>
            <p:cNvSpPr txBox="1"/>
            <p:nvPr/>
          </p:nvSpPr>
          <p:spPr>
            <a:xfrm>
              <a:off x="1197" y="166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8" name="Google Shape;828;p48"/>
          <p:cNvGrpSpPr/>
          <p:nvPr/>
        </p:nvGrpSpPr>
        <p:grpSpPr>
          <a:xfrm>
            <a:off x="3166920" y="3221588"/>
            <a:ext cx="146050" cy="385762"/>
            <a:chOff x="1272" y="1762"/>
            <a:chExt cx="92" cy="243"/>
          </a:xfrm>
        </p:grpSpPr>
        <p:cxnSp>
          <p:nvCxnSpPr>
            <p:cNvPr id="829" name="Google Shape;829;p48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0" name="Google Shape;830;p48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831" name="Google Shape;831;p48"/>
          <p:cNvSpPr/>
          <p:nvPr/>
        </p:nvSpPr>
        <p:spPr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IP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8"/>
          <p:cNvSpPr/>
          <p:nvPr/>
        </p:nvSpPr>
        <p:spPr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link-layer frame containing A-to-B IP datagram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574675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R's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 is frame’s destination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3" name="Google Shape;833;p48"/>
          <p:cNvGrpSpPr/>
          <p:nvPr/>
        </p:nvGrpSpPr>
        <p:grpSpPr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834" name="Google Shape;834;p48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5" name="Google Shape;835;p48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836" name="Google Shape;836;p48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48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38" name="Google Shape;838;p48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9" name="Google Shape;839;p48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0" name="Google Shape;840;p48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1" name="Google Shape;841;p48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842" name="Google Shape;842;p48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43" name="Google Shape;843;p48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44" name="Google Shape;844;p48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45" name="Google Shape;845;p48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3" name="Google Shape;853;p49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854" name="Google Shape;854;p49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5" name="Google Shape;855;p49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b="0" i="0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9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9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8" name="Google Shape;858;p49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859" name="Google Shape;859;p49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49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1" name="Google Shape;861;p49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9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9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9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9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6" name="Google Shape;866;p49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49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8" name="Google Shape;868;p49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9" name="Google Shape;869;p49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70" name="Google Shape;870;p49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71" name="Google Shape;871;p49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72" name="Google Shape;872;p49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3" name="Google Shape;873;p49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874" name="Google Shape;874;p49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9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76" name="Google Shape;876;p49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77" name="Google Shape;877;p49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49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9" name="Google Shape;879;p49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0" name="Google Shape;880;p49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9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2" name="Google Shape;882;p49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883" name="Google Shape;883;p49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372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84" name="Google Shape;884;p49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372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85" name="Google Shape;885;p49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886" name="Google Shape;886;p49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7" name="Google Shape;887;p49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8" name="Google Shape;888;p49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89" name="Google Shape;889;p49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0" name="Google Shape;890;p49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1" name="Google Shape;891;p49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2" name="Google Shape;892;p49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893" name="Google Shape;893;p49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894" name="Google Shape;894;p49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895" name="Google Shape;89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6" name="Google Shape;89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7" name="Google Shape;897;p49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898" name="Google Shape;898;p49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899" name="Google Shape;899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0" name="Google Shape;900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1" name="Google Shape;901;p49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02" name="Google Shape;902;p49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903" name="Google Shape;903;p49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904" name="Google Shape;904;p4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5" name="Google Shape;905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6" name="Google Shape;906;p49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907" name="Google Shape;907;p4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8" name="Google Shape;908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09" name="Google Shape;909;p49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10" name="Google Shape;910;p49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911" name="Google Shape;911;p49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912" name="Google Shape;912;p49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9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9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5" name="Google Shape;915;p49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6" name="Google Shape;916;p49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7" name="Google Shape;917;p49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8" name="Google Shape;918;p49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9" name="Google Shape;919;p49"/>
          <p:cNvSpPr/>
          <p:nvPr/>
        </p:nvSpPr>
        <p:spPr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sent from A to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0" name="Google Shape;920;p49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921" name="Google Shape;921;p49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9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9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4" name="Google Shape;924;p49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5" name="Google Shape;925;p49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26" name="Google Shape;926;p49"/>
          <p:cNvSpPr/>
          <p:nvPr/>
        </p:nvSpPr>
        <p:spPr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received at R, datagram removed, passed up to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7" name="Google Shape;927;p49"/>
          <p:cNvGrpSpPr/>
          <p:nvPr/>
        </p:nvGrpSpPr>
        <p:grpSpPr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928" name="Google Shape;928;p49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9" name="Google Shape;929;p49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30" name="Google Shape;930;p49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49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2" name="Google Shape;932;p49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3" name="Google Shape;933;p49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4" name="Google Shape;934;p49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5" name="Google Shape;935;p49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936" name="Google Shape;936;p49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37" name="Google Shape;937;p49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38" name="Google Shape;938;p49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39" name="Google Shape;939;p49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40" name="Google Shape;940;p49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1" name="Google Shape;941;p49"/>
          <p:cNvGrpSpPr/>
          <p:nvPr/>
        </p:nvGrpSpPr>
        <p:grpSpPr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942" name="Google Shape;942;p49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3" name="Google Shape;943;p49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4" name="Google Shape;944;p49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45" name="Google Shape;945;p49"/>
          <p:cNvGrpSpPr/>
          <p:nvPr/>
        </p:nvGrpSpPr>
        <p:grpSpPr>
          <a:xfrm>
            <a:off x="4139501" y="2695924"/>
            <a:ext cx="2381251" cy="979496"/>
            <a:chOff x="4493" y="1480"/>
            <a:chExt cx="1500" cy="617"/>
          </a:xfrm>
        </p:grpSpPr>
        <p:cxnSp>
          <p:nvCxnSpPr>
            <p:cNvPr id="946" name="Google Shape;946;p49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47" name="Google Shape;947;p49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48" name="Google Shape;948;p49"/>
            <p:cNvSpPr txBox="1"/>
            <p:nvPr/>
          </p:nvSpPr>
          <p:spPr>
            <a:xfrm>
              <a:off x="4493" y="148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6" name="Google Shape;956;p50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7" name="Google Shape;957;p50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0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0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0" name="Google Shape;960;p50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961" name="Google Shape;961;p50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0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3" name="Google Shape;963;p50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0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0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0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0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8" name="Google Shape;968;p50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9" name="Google Shape;969;p50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0" name="Google Shape;970;p50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1" name="Google Shape;971;p50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2" name="Google Shape;972;p50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73" name="Google Shape;973;p50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4" name="Google Shape;974;p50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5" name="Google Shape;975;p50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976" name="Google Shape;976;p50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0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8" name="Google Shape;978;p50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9" name="Google Shape;979;p50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0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1" name="Google Shape;981;p50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2" name="Google Shape;982;p50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50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4" name="Google Shape;984;p50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985" name="Google Shape;985;p50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86" name="Google Shape;986;p50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987" name="Google Shape;987;p50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988" name="Google Shape;988;p5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5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0" name="Google Shape;990;p5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91" name="Google Shape;991;p5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5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5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5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95" name="Google Shape;995;p50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96" name="Google Shape;996;p50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997" name="Google Shape;997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9" name="Google Shape;999;p50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000" name="Google Shape;1000;p50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1001" name="Google Shape;1001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3" name="Google Shape;1003;p50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04" name="Google Shape;1004;p50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005" name="Google Shape;1005;p50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1006" name="Google Shape;1006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08" name="Google Shape;1008;p50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9" name="Google Shape;1009;p50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0" name="Google Shape;1010;p50"/>
          <p:cNvSpPr/>
          <p:nvPr/>
        </p:nvSpPr>
        <p:spPr>
          <a:xfrm>
            <a:off x="7008951" y="3383377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1" name="Google Shape;1011;p50"/>
          <p:cNvGrpSpPr/>
          <p:nvPr/>
        </p:nvGrpSpPr>
        <p:grpSpPr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1012" name="Google Shape;1012;p50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3" name="Google Shape;1013;p50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4" name="Google Shape;1014;p50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5" name="Google Shape;1015;p50"/>
          <p:cNvSpPr txBox="1"/>
          <p:nvPr/>
        </p:nvSpPr>
        <p:spPr>
          <a:xfrm>
            <a:off x="6515252" y="2940475"/>
            <a:ext cx="231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src: 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IP dest: 222.222.222.222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6" name="Google Shape;1016;p50"/>
          <p:cNvGrpSpPr/>
          <p:nvPr/>
        </p:nvGrpSpPr>
        <p:grpSpPr>
          <a:xfrm>
            <a:off x="6639063" y="3191289"/>
            <a:ext cx="146050" cy="385763"/>
            <a:chOff x="1272" y="1762"/>
            <a:chExt cx="92" cy="243"/>
          </a:xfrm>
        </p:grpSpPr>
        <p:cxnSp>
          <p:nvCxnSpPr>
            <p:cNvPr id="1017" name="Google Shape;1017;p50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18" name="Google Shape;1018;p50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019" name="Google Shape;1019;p50"/>
          <p:cNvGrpSpPr/>
          <p:nvPr/>
        </p:nvGrpSpPr>
        <p:grpSpPr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1020" name="Google Shape;1020;p50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1" name="Google Shape;1021;p50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022" name="Google Shape;1022;p50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50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24" name="Google Shape;1024;p50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50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6" name="Google Shape;1026;p50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7" name="Google Shape;1027;p50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28" name="Google Shape;1028;p50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9" name="Google Shape;1029;p50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30" name="Google Shape;1030;p50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31" name="Google Shape;1031;p50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032" name="Google Shape;1032;p50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1033" name="Google Shape;1033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" name="Google Shape;1034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5" name="Google Shape;1035;p50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0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containing A-to-B IP datagram. Frame destination address: B's MAC address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7" name="Google Shape;1037;p50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038" name="Google Shape;1038;p50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0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0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1" name="Google Shape;1041;p50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2" name="Google Shape;1042;p50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5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0" name="Google Shape;1050;p51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1" name="Google Shape;1051;p51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1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51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4" name="Google Shape;1054;p51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055" name="Google Shape;1055;p51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1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7" name="Google Shape;1057;p51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51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1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51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1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2" name="Google Shape;1062;p51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51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51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5" name="Google Shape;1065;p51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6" name="Google Shape;1066;p51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67" name="Google Shape;1067;p51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8" name="Google Shape;1068;p51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9" name="Google Shape;1069;p51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070" name="Google Shape;1070;p51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1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72" name="Google Shape;1072;p51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3" name="Google Shape;1073;p51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51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51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6" name="Google Shape;1076;p51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51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51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1079" name="Google Shape;1079;p51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080" name="Google Shape;1080;p51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081" name="Google Shape;1081;p51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082" name="Google Shape;1082;p5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5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84" name="Google Shape;1084;p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85" name="Google Shape;1085;p5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5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5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5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089" name="Google Shape;1089;p51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090" name="Google Shape;1090;p51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1091" name="Google Shape;109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3" name="Google Shape;1093;p51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094" name="Google Shape;1094;p51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1095" name="Google Shape;109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6" name="Google Shape;109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7" name="Google Shape;1097;p51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98" name="Google Shape;1098;p51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099" name="Google Shape;1099;p51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1100" name="Google Shape;1100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2" name="Google Shape;1102;p51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3" name="Google Shape;1103;p51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4" name="Google Shape;1104;p51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1105" name="Google Shape;1105;p51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1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1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8" name="Google Shape;1108;p51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9" name="Google Shape;1109;p51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0" name="Google Shape;1110;p51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1" name="Google Shape;1111;p51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12" name="Google Shape;1112;p51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1113" name="Google Shape;1113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5" name="Google Shape;1115;p51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116" name="Google Shape;1116;p51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1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1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9" name="Google Shape;1119;p51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51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21" name="Google Shape;1121;p51"/>
          <p:cNvGrpSpPr/>
          <p:nvPr/>
        </p:nvGrpSpPr>
        <p:grpSpPr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1122" name="Google Shape;1122;p51"/>
            <p:cNvGrpSpPr/>
            <p:nvPr/>
          </p:nvGrpSpPr>
          <p:grpSpPr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1123" name="Google Shape;1123;p51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1124" name="Google Shape;1124;p51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25" name="Google Shape;1125;p51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126" name="Google Shape;1126;p51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7" name="Google Shape;1127;p51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128" name="Google Shape;1128;p51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omic Sans MS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29" name="Google Shape;1129;p51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130" name="Google Shape;1130;p51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1" name="Google Shape;1131;p51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2" name="Google Shape;1132;p51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33" name="Google Shape;1133;p51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34" name="Google Shape;1134;p51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35" name="Google Shape;1135;p51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36" name="Google Shape;1136;p51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137" name="Google Shape;1137;p51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138" name="Google Shape;1138;p51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139" name="Google Shape;1139;p51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sp>
        <p:nvSpPr>
          <p:cNvPr id="1140" name="Google Shape;1140;p51"/>
          <p:cNvSpPr/>
          <p:nvPr/>
        </p:nvSpPr>
        <p:spPr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transmits link-layer frame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51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51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containing A-to-B IP datagram. Frame destination address: B's MAC address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50" name="Google Shape;1150;p52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1" name="Google Shape;1151;p52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52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52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4" name="Google Shape;1154;p52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155" name="Google Shape;1155;p52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2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7" name="Google Shape;1157;p52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52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2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2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52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2" name="Google Shape;1162;p52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3" name="Google Shape;1163;p52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4" name="Google Shape;1164;p52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5" name="Google Shape;1165;p52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6" name="Google Shape;1166;p52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67" name="Google Shape;1167;p52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8" name="Google Shape;1168;p52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9" name="Google Shape;1169;p52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170" name="Google Shape;1170;p52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2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72" name="Google Shape;1172;p52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3" name="Google Shape;1173;p52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52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5" name="Google Shape;1175;p52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6" name="Google Shape;1176;p52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52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8" name="Google Shape;1178;p52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1179" name="Google Shape;1179;p52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180" name="Google Shape;1180;p52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181" name="Google Shape;1181;p52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182" name="Google Shape;1182;p5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5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84" name="Google Shape;1184;p5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85" name="Google Shape;1185;p5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5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5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5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89" name="Google Shape;1189;p52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90" name="Google Shape;1190;p52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1191" name="Google Shape;1191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3" name="Google Shape;1193;p52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94" name="Google Shape;1194;p52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1195" name="Google Shape;1195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7" name="Google Shape;1197;p52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98" name="Google Shape;1198;p52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99" name="Google Shape;1199;p52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1200" name="Google Shape;1200;p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02" name="Google Shape;1202;p52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3" name="Google Shape;1203;p52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04" name="Google Shape;1204;p52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1205" name="Google Shape;1205;p52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2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2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8" name="Google Shape;1208;p52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9" name="Google Shape;1209;p52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0" name="Google Shape;1210;p52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1" name="Google Shape;1211;p52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2" name="Google Shape;1212;p52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1213" name="Google Shape;1213;p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5" name="Google Shape;1215;p52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16" name="Google Shape;1216;p52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058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2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2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9" name="Google Shape;1219;p52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0" name="Google Shape;1220;p52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21" name="Google Shape;1221;p52"/>
          <p:cNvSpPr/>
          <p:nvPr/>
        </p:nvSpPr>
        <p:spPr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frame, extracts IP datagram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52"/>
          <p:cNvSpPr/>
          <p:nvPr/>
        </p:nvSpPr>
        <p:spPr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passes datagram up protocol stack to IP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3" name="Google Shape;1223;p52"/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1224" name="Google Shape;1224;p52"/>
            <p:cNvGrpSpPr/>
            <p:nvPr/>
          </p:nvGrpSpPr>
          <p:grpSpPr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1225" name="Google Shape;1225;p52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1226" name="Google Shape;1226;p52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27" name="Google Shape;1227;p52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28" name="Google Shape;1228;p52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9" name="Google Shape;1229;p52"/>
            <p:cNvSpPr/>
            <p:nvPr/>
          </p:nvSpPr>
          <p:spPr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0" name="Google Shape;1230;p52"/>
            <p:cNvCxnSpPr/>
            <p:nvPr/>
          </p:nvCxnSpPr>
          <p:spPr>
            <a:xfrm>
              <a:off x="12598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1" name="Google Shape;1231;p52"/>
            <p:cNvCxnSpPr/>
            <p:nvPr/>
          </p:nvCxnSpPr>
          <p:spPr>
            <a:xfrm>
              <a:off x="14122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2" name="Google Shape;1232;p52"/>
            <p:cNvCxnSpPr/>
            <p:nvPr/>
          </p:nvCxnSpPr>
          <p:spPr>
            <a:xfrm rot="10800000">
              <a:off x="1170948" y="3182110"/>
              <a:ext cx="3175" cy="7461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33" name="Google Shape;1233;p52"/>
            <p:cNvCxnSpPr/>
            <p:nvPr/>
          </p:nvCxnSpPr>
          <p:spPr>
            <a:xfrm>
              <a:off x="1316998" y="3359910"/>
              <a:ext cx="3175" cy="5683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6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switch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1" name="Google Shape;1241;p61"/>
          <p:cNvSpPr txBox="1"/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is a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device: takes an </a:t>
            </a: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store, forward Ethernet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examine incoming frame’s MAC address,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selectively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 frame to one-or-more outgoing links when frame is to be forwarded on segment, uses CSMA/CD to access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transparent: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unaware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presence of switches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plug-and-play, self-learning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do not need to be configured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6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49" name="Google Shape;1249;p62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250" name="Google Shape;1250;p62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51" name="Google Shape;1251;p62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62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62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62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62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62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62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8" name="Google Shape;1258;p62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59" name="Google Shape;1259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0" name="Google Shape;1260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1" name="Google Shape;1261;p62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62" name="Google Shape;1262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3" name="Google Shape;1263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4" name="Google Shape;1264;p62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62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62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62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62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2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62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62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62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62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4" name="Google Shape;1274;p62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275" name="Google Shape;1275;p6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6" name="Google Shape;1276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277" name="Google Shape;1277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62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79" name="Google Shape;1279;p62"/>
            <p:cNvCxnSpPr>
              <a:stCxn id="1270" idx="0"/>
              <a:endCxn id="1273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0" name="Google Shape;1280;p62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81" name="Google Shape;1281;p62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62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3" name="Google Shape;1283;p62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84" name="Google Shape;1284;p6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6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86" name="Google Shape;1286;p62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87" name="Google Shape;1287;p6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8" name="Google Shape;1288;p6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9" name="Google Shape;1289;p6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0" name="Google Shape;1290;p6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91" name="Google Shape;1291;p62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292" name="Google Shape;1292;p6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3" name="Google Shape;1293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62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295" name="Google Shape;1295;p6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6" name="Google Shape;1296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7" name="Google Shape;1297;p62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62"/>
          <p:cNvSpPr txBox="1"/>
          <p:nvPr/>
        </p:nvSpPr>
        <p:spPr>
          <a:xfrm>
            <a:off x="927244" y="4731250"/>
            <a:ext cx="6723621" cy="148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62"/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62"/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6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08" name="Google Shape;1308;p63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309" name="Google Shape;1309;p63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0" name="Google Shape;1310;p63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63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63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63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63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63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63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7" name="Google Shape;1317;p63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318" name="Google Shape;1318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9" name="Google Shape;1319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0" name="Google Shape;1320;p63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321" name="Google Shape;1321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2" name="Google Shape;1322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3" name="Google Shape;1323;p63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63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63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63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63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63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63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3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63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3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3" name="Google Shape;1333;p63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334" name="Google Shape;1334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5" name="Google Shape;1335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336" name="Google Shape;1336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7" name="Google Shape;1337;p63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38" name="Google Shape;1338;p63"/>
            <p:cNvCxnSpPr>
              <a:stCxn id="1329" idx="0"/>
              <a:endCxn id="1332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9" name="Google Shape;1339;p63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40" name="Google Shape;1340;p63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63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2" name="Google Shape;1342;p63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343" name="Google Shape;1343;p6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6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45" name="Google Shape;1345;p63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346" name="Google Shape;1346;p6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7" name="Google Shape;1347;p6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8" name="Google Shape;1348;p6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9" name="Google Shape;1349;p6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50" name="Google Shape;1350;p63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351" name="Google Shape;1351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2" name="Google Shape;1352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3" name="Google Shape;1353;p63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354" name="Google Shape;1354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5" name="Google Shape;1355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56" name="Google Shape;1356;p63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3"/>
          <p:cNvSpPr txBox="1"/>
          <p:nvPr/>
        </p:nvSpPr>
        <p:spPr>
          <a:xfrm>
            <a:off x="927244" y="4731249"/>
            <a:ext cx="6723621" cy="175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A-to-A’ and C to A’ can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 simultaneously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3"/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63"/>
          <p:cNvSpPr/>
          <p:nvPr/>
        </p:nvSpPr>
        <p:spPr>
          <a:xfrm>
            <a:off x="9120852" y="3472405"/>
            <a:ext cx="185194" cy="75235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0" name="Google Shape;1360;p63"/>
          <p:cNvCxnSpPr/>
          <p:nvPr/>
        </p:nvCxnSpPr>
        <p:spPr>
          <a:xfrm>
            <a:off x="9178725" y="3487837"/>
            <a:ext cx="717630" cy="36653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361" name="Google Shape;1361;p63"/>
          <p:cNvPicPr preferRelativeResize="0"/>
          <p:nvPr/>
        </p:nvPicPr>
        <p:blipFill rotWithShape="1">
          <a:blip r:embed="rId5">
            <a:alphaModFix amt="81000"/>
          </a:blip>
          <a:srcRect b="0" l="0" r="0" t="0"/>
          <a:stretch/>
        </p:blipFill>
        <p:spPr>
          <a:xfrm>
            <a:off x="8310621" y="2697717"/>
            <a:ext cx="1577693" cy="169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6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 forwarding table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69" name="Google Shape;1369;p64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370" name="Google Shape;1370;p64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71" name="Google Shape;1371;p64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64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64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64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64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64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7" name="Google Shape;1377;p64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378" name="Google Shape;1378;p6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9" name="Google Shape;1379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0" name="Google Shape;1380;p64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381" name="Google Shape;1381;p6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2" name="Google Shape;1382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83" name="Google Shape;1383;p64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64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64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64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64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64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64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64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64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64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3" name="Google Shape;1393;p64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394" name="Google Shape;1394;p6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5" name="Google Shape;1395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396" name="Google Shape;1396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7" name="Google Shape;1397;p64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98" name="Google Shape;1398;p64"/>
            <p:cNvCxnSpPr>
              <a:stCxn id="1389" idx="0"/>
              <a:endCxn id="1392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9" name="Google Shape;1399;p64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00" name="Google Shape;1400;p64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64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2" name="Google Shape;1402;p64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403" name="Google Shape;1403;p6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6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05" name="Google Shape;1405;p64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06" name="Google Shape;1406;p6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7" name="Google Shape;1407;p6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8" name="Google Shape;1408;p6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9" name="Google Shape;1409;p6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10" name="Google Shape;1410;p64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411" name="Google Shape;1411;p6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2" name="Google Shape;1412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3" name="Google Shape;1413;p64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414" name="Google Shape;1414;p6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5" name="Google Shape;1415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16" name="Google Shape;1416;p64"/>
          <p:cNvSpPr txBox="1"/>
          <p:nvPr/>
        </p:nvSpPr>
        <p:spPr>
          <a:xfrm>
            <a:off x="789457" y="1563480"/>
            <a:ext cx="6960458" cy="137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switch know A’ reachable via interface 4, B’ reachable via interface 5?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64"/>
          <p:cNvSpPr txBox="1"/>
          <p:nvPr/>
        </p:nvSpPr>
        <p:spPr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switch table,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(MAC address of host, interface to reach host, time stamp)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a routing table!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4"/>
          <p:cNvSpPr txBox="1"/>
          <p:nvPr/>
        </p:nvSpPr>
        <p:spPr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223" lvl="0" marL="4619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"/>
              <a:buNone/>
            </a:pPr>
            <a:r>
              <a:rPr b="0" i="1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are entries created, maintained in switch table?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163" lvl="1" marL="8064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 like a routing protocol?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6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self-learning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26" name="Google Shape;1426;p65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427" name="Google Shape;1427;p65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28" name="Google Shape;1428;p65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65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65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65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65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65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4" name="Google Shape;1434;p65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435" name="Google Shape;1435;p6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6" name="Google Shape;1436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7" name="Google Shape;1437;p65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438" name="Google Shape;1438;p6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9" name="Google Shape;1439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0" name="Google Shape;1440;p65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65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65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65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65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65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65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65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65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65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0" name="Google Shape;1450;p65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451" name="Google Shape;1451;p6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2" name="Google Shape;1452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453" name="Google Shape;1453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4" name="Google Shape;1454;p65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55" name="Google Shape;1455;p65"/>
            <p:cNvCxnSpPr>
              <a:stCxn id="1446" idx="0"/>
              <a:endCxn id="1449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6" name="Google Shape;1456;p65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57" name="Google Shape;1457;p65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65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9" name="Google Shape;1459;p65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460" name="Google Shape;1460;p6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6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62" name="Google Shape;1462;p65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63" name="Google Shape;1463;p6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4" name="Google Shape;1464;p6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5" name="Google Shape;1465;p6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6" name="Google Shape;1466;p6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67" name="Google Shape;1467;p65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468" name="Google Shape;1468;p6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9" name="Google Shape;1469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0" name="Google Shape;1470;p65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471" name="Google Shape;1471;p6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2" name="Google Shape;1472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73" name="Google Shape;1473;p65"/>
          <p:cNvSpPr txBox="1"/>
          <p:nvPr/>
        </p:nvSpPr>
        <p:spPr>
          <a:xfrm>
            <a:off x="976536" y="1261672"/>
            <a:ext cx="5123322" cy="495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learns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hosts can be reached through which interfaces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4" name="Google Shape;1474;p65"/>
          <p:cNvGrpSpPr/>
          <p:nvPr/>
        </p:nvGrpSpPr>
        <p:grpSpPr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1475" name="Google Shape;1475;p65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65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7" name="Google Shape;1477;p65"/>
            <p:cNvCxnSpPr/>
            <p:nvPr/>
          </p:nvCxnSpPr>
          <p:spPr>
            <a:xfrm>
              <a:off x="1936" y="354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8" name="Google Shape;1478;p65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79" name="Google Shape;1479;p65"/>
          <p:cNvGrpSpPr/>
          <p:nvPr/>
        </p:nvGrpSpPr>
        <p:grpSpPr>
          <a:xfrm>
            <a:off x="9617799" y="1001725"/>
            <a:ext cx="1610850" cy="731838"/>
            <a:chOff x="4406" y="331"/>
            <a:chExt cx="854" cy="461"/>
          </a:xfrm>
        </p:grpSpPr>
        <p:cxnSp>
          <p:nvCxnSpPr>
            <p:cNvPr id="1480" name="Google Shape;1480;p65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481" name="Google Shape;1481;p65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482" name="Google Shape;1482;p65"/>
            <p:cNvSpPr txBox="1"/>
            <p:nvPr/>
          </p:nvSpPr>
          <p:spPr>
            <a:xfrm>
              <a:off x="4643" y="33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65"/>
            <p:cNvSpPr txBox="1"/>
            <p:nvPr/>
          </p:nvSpPr>
          <p:spPr>
            <a:xfrm>
              <a:off x="4660" y="4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4" name="Google Shape;1484;p65"/>
          <p:cNvGrpSpPr/>
          <p:nvPr/>
        </p:nvGrpSpPr>
        <p:grpSpPr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1485" name="Google Shape;1485;p65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65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7" name="Google Shape;1487;p65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8" name="Google Shape;1488;p65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9" name="Google Shape;1489;p65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90" name="Google Shape;1490;p65"/>
          <p:cNvSpPr txBox="1"/>
          <p:nvPr/>
        </p:nvSpPr>
        <p:spPr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1" name="Google Shape;1491;p65"/>
          <p:cNvGrpSpPr/>
          <p:nvPr/>
        </p:nvGrpSpPr>
        <p:grpSpPr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1492" name="Google Shape;1492;p65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65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65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5" name="Google Shape;1495;p65"/>
          <p:cNvSpPr txBox="1"/>
          <p:nvPr/>
        </p:nvSpPr>
        <p:spPr>
          <a:xfrm>
            <a:off x="770121" y="2803034"/>
            <a:ext cx="5123322" cy="141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6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frame received, switch “learns”  location of sender: incoming LAN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65"/>
          <p:cNvSpPr txBox="1"/>
          <p:nvPr/>
        </p:nvSpPr>
        <p:spPr>
          <a:xfrm>
            <a:off x="783624" y="4101328"/>
            <a:ext cx="5123322" cy="103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6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sender/location pair in switch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6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frame filtering/forwarding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4" name="Google Shape;1504;p66"/>
          <p:cNvSpPr txBox="1"/>
          <p:nvPr/>
        </p:nvSpPr>
        <p:spPr>
          <a:xfrm>
            <a:off x="630237" y="1370013"/>
            <a:ext cx="10867219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frame received at switch: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incoming link, MAC address of sending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index switch table using MAC destination address</a:t>
            </a:r>
            <a:endParaRPr b="1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 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found for destination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on segment from which frame arrived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drop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frame on interface indicated by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flood  /* forward on all interfaces except arriving interface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0" name="Google Shape;1510;p67"/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1511" name="Google Shape;1511;p67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12" name="Google Shape;1512;p67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67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67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67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67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67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8" name="Google Shape;1518;p67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519" name="Google Shape;1519;p6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0" name="Google Shape;1520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1" name="Google Shape;1521;p67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522" name="Google Shape;1522;p6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3" name="Google Shape;1523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4" name="Google Shape;1524;p67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67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67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67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7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67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67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67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67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67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4" name="Google Shape;1534;p67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535" name="Google Shape;1535;p6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6" name="Google Shape;1536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537" name="Google Shape;1537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8" name="Google Shape;1538;p67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39" name="Google Shape;1539;p67"/>
            <p:cNvCxnSpPr>
              <a:stCxn id="1530" idx="0"/>
              <a:endCxn id="1533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0" name="Google Shape;1540;p67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41" name="Google Shape;1541;p67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67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372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3" name="Google Shape;1543;p67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544" name="Google Shape;1544;p6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6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46" name="Google Shape;1546;p67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47" name="Google Shape;1547;p6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8" name="Google Shape;1548;p6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9" name="Google Shape;1549;p6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0" name="Google Shape;1550;p6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1" name="Google Shape;1551;p67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552" name="Google Shape;1552;p6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3" name="Google Shape;1553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4" name="Google Shape;1554;p67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555" name="Google Shape;1555;p6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6" name="Google Shape;1556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57" name="Google Shape;1557;p6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Self-learning, forwarding: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59" name="Google Shape;1559;p67"/>
          <p:cNvGrpSpPr/>
          <p:nvPr/>
        </p:nvGrpSpPr>
        <p:grpSpPr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1560" name="Google Shape;1560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2" name="Google Shape;1562;p67"/>
            <p:cNvCxnSpPr/>
            <p:nvPr/>
          </p:nvCxnSpPr>
          <p:spPr>
            <a:xfrm>
              <a:off x="1936" y="3541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3" name="Google Shape;1563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64" name="Google Shape;1564;p67"/>
          <p:cNvGrpSpPr/>
          <p:nvPr/>
        </p:nvGrpSpPr>
        <p:grpSpPr>
          <a:xfrm>
            <a:off x="9392950" y="900225"/>
            <a:ext cx="1582236" cy="731838"/>
            <a:chOff x="4406" y="331"/>
            <a:chExt cx="854" cy="461"/>
          </a:xfrm>
        </p:grpSpPr>
        <p:cxnSp>
          <p:nvCxnSpPr>
            <p:cNvPr id="1565" name="Google Shape;1565;p67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566" name="Google Shape;1566;p67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567" name="Google Shape;1567;p67"/>
            <p:cNvSpPr txBox="1"/>
            <p:nvPr/>
          </p:nvSpPr>
          <p:spPr>
            <a:xfrm>
              <a:off x="4643" y="33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67"/>
            <p:cNvSpPr txBox="1"/>
            <p:nvPr/>
          </p:nvSpPr>
          <p:spPr>
            <a:xfrm>
              <a:off x="4660" y="4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9" name="Google Shape;1569;p67"/>
          <p:cNvGrpSpPr/>
          <p:nvPr/>
        </p:nvGrpSpPr>
        <p:grpSpPr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1570" name="Google Shape;1570;p67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67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2" name="Google Shape;1572;p67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3" name="Google Shape;1573;p67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4" name="Google Shape;1574;p67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75" name="Google Shape;1575;p67"/>
          <p:cNvSpPr txBox="1"/>
          <p:nvPr/>
        </p:nvSpPr>
        <p:spPr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6" name="Google Shape;1576;p67"/>
          <p:cNvGrpSpPr/>
          <p:nvPr/>
        </p:nvGrpSpPr>
        <p:grpSpPr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1577" name="Google Shape;1577;p67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67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6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0" name="Google Shape;1580;p67"/>
          <p:cNvGrpSpPr/>
          <p:nvPr/>
        </p:nvGrpSpPr>
        <p:grpSpPr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1581" name="Google Shape;1581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3" name="Google Shape;1583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4" name="Google Shape;1584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85" name="Google Shape;1585;p67"/>
          <p:cNvGrpSpPr/>
          <p:nvPr/>
        </p:nvGrpSpPr>
        <p:grpSpPr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1586" name="Google Shape;1586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8" name="Google Shape;1588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9" name="Google Shape;1589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90" name="Google Shape;1590;p67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1591" name="Google Shape;1591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3" name="Google Shape;1593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4" name="Google Shape;1594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95" name="Google Shape;1595;p67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1596" name="Google Shape;1596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8" name="Google Shape;1598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9" name="Google Shape;1599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00" name="Google Shape;1600;p67"/>
          <p:cNvGrpSpPr/>
          <p:nvPr/>
        </p:nvGrpSpPr>
        <p:grpSpPr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1601" name="Google Shape;1601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3" name="Google Shape;1603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4" name="Google Shape;1604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05" name="Google Shape;1605;p67"/>
          <p:cNvGrpSpPr/>
          <p:nvPr/>
        </p:nvGrpSpPr>
        <p:grpSpPr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1606" name="Google Shape;1606;p67"/>
            <p:cNvSpPr/>
            <p:nvPr/>
          </p:nvSpPr>
          <p:spPr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67"/>
            <p:cNvSpPr txBox="1"/>
            <p:nvPr/>
          </p:nvSpPr>
          <p:spPr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8" name="Google Shape;1608;p67"/>
            <p:cNvCxnSpPr/>
            <p:nvPr/>
          </p:nvCxnSpPr>
          <p:spPr>
            <a:xfrm>
              <a:off x="937" y="2499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9" name="Google Shape;1609;p67"/>
            <p:cNvCxnSpPr/>
            <p:nvPr/>
          </p:nvCxnSpPr>
          <p:spPr>
            <a:xfrm>
              <a:off x="1096" y="2498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10" name="Google Shape;1610;p67"/>
          <p:cNvGrpSpPr/>
          <p:nvPr/>
        </p:nvGrpSpPr>
        <p:grpSpPr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1611" name="Google Shape;1611;p67"/>
            <p:cNvSpPr txBox="1"/>
            <p:nvPr/>
          </p:nvSpPr>
          <p:spPr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7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6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4" name="Google Shape;1614;p67"/>
          <p:cNvSpPr txBox="1"/>
          <p:nvPr/>
        </p:nvSpPr>
        <p:spPr>
          <a:xfrm>
            <a:off x="870366" y="1583075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destination, A’, location unknown: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67"/>
          <p:cNvSpPr txBox="1"/>
          <p:nvPr/>
        </p:nvSpPr>
        <p:spPr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67"/>
          <p:cNvSpPr/>
          <p:nvPr/>
        </p:nvSpPr>
        <p:spPr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 location known: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67"/>
          <p:cNvSpPr/>
          <p:nvPr/>
        </p:nvSpPr>
        <p:spPr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         selectively send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 just one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Interconnecting switches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5" name="Google Shape;1625;p68"/>
          <p:cNvSpPr txBox="1"/>
          <p:nvPr/>
        </p:nvSpPr>
        <p:spPr>
          <a:xfrm>
            <a:off x="1058264" y="1335790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self-learning switches can be connected together: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68"/>
          <p:cNvSpPr/>
          <p:nvPr/>
        </p:nvSpPr>
        <p:spPr>
          <a:xfrm>
            <a:off x="1080308" y="4550478"/>
            <a:ext cx="1074693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4603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learning! (works exactly the same as in single-switch case!)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7" name="Google Shape;1627;p68"/>
          <p:cNvGrpSpPr/>
          <p:nvPr/>
        </p:nvGrpSpPr>
        <p:grpSpPr>
          <a:xfrm>
            <a:off x="2517827" y="2654612"/>
            <a:ext cx="2005135" cy="1358900"/>
            <a:chOff x="958850" y="2444750"/>
            <a:chExt cx="2005665" cy="1358710"/>
          </a:xfrm>
        </p:grpSpPr>
        <p:cxnSp>
          <p:nvCxnSpPr>
            <p:cNvPr id="1628" name="Google Shape;1628;p68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9" name="Google Shape;1629;p68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0" name="Google Shape;1630;p68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1" name="Google Shape;1631;p68"/>
            <p:cNvSpPr txBox="1"/>
            <p:nvPr/>
          </p:nvSpPr>
          <p:spPr>
            <a:xfrm>
              <a:off x="958850" y="2844744"/>
              <a:ext cx="317800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68"/>
            <p:cNvSpPr txBox="1"/>
            <p:nvPr/>
          </p:nvSpPr>
          <p:spPr>
            <a:xfrm>
              <a:off x="1408232" y="3306642"/>
              <a:ext cx="309782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68"/>
            <p:cNvSpPr txBox="1"/>
            <p:nvPr/>
          </p:nvSpPr>
          <p:spPr>
            <a:xfrm>
              <a:off x="2181548" y="2444750"/>
              <a:ext cx="36910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68"/>
            <p:cNvSpPr txBox="1"/>
            <p:nvPr/>
          </p:nvSpPr>
          <p:spPr>
            <a:xfrm>
              <a:off x="2656336" y="3298706"/>
              <a:ext cx="30817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5" name="Google Shape;1635;p68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36" name="Google Shape;1636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37" name="Google Shape;1637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8" name="Google Shape;1638;p68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39" name="Google Shape;1639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0" name="Google Shape;1640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1" name="Google Shape;1641;p68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42" name="Google Shape;1642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3" name="Google Shape;1643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44" name="Google Shape;1644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5" name="Google Shape;1645;p68"/>
          <p:cNvGrpSpPr/>
          <p:nvPr/>
        </p:nvGrpSpPr>
        <p:grpSpPr>
          <a:xfrm>
            <a:off x="3950752" y="2194237"/>
            <a:ext cx="4856162" cy="2044145"/>
            <a:chOff x="3950752" y="2194237"/>
            <a:chExt cx="4856162" cy="2044145"/>
          </a:xfrm>
        </p:grpSpPr>
        <p:grpSp>
          <p:nvGrpSpPr>
            <p:cNvPr id="1646" name="Google Shape;1646;p68"/>
            <p:cNvGrpSpPr/>
            <p:nvPr/>
          </p:nvGrpSpPr>
          <p:grpSpPr>
            <a:xfrm>
              <a:off x="3950752" y="2194237"/>
              <a:ext cx="4856162" cy="2044145"/>
              <a:chOff x="2379663" y="1984375"/>
              <a:chExt cx="4855711" cy="2043590"/>
            </a:xfrm>
          </p:grpSpPr>
          <p:cxnSp>
            <p:nvCxnSpPr>
              <p:cNvPr id="1647" name="Google Shape;1647;p68"/>
              <p:cNvCxnSpPr/>
              <p:nvPr/>
            </p:nvCxnSpPr>
            <p:spPr>
              <a:xfrm flipH="1">
                <a:off x="3635258" y="3068344"/>
                <a:ext cx="346043" cy="21584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8" name="Google Shape;1648;p68"/>
              <p:cNvCxnSpPr/>
              <p:nvPr/>
            </p:nvCxnSpPr>
            <p:spPr>
              <a:xfrm flipH="1">
                <a:off x="3949554" y="3087389"/>
                <a:ext cx="125401" cy="5872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9" name="Google Shape;1649;p68"/>
              <p:cNvCxnSpPr/>
              <p:nvPr/>
            </p:nvCxnSpPr>
            <p:spPr>
              <a:xfrm>
                <a:off x="4254326" y="3030254"/>
                <a:ext cx="230167" cy="36185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0" name="Google Shape;1650;p68"/>
              <p:cNvCxnSpPr/>
              <p:nvPr/>
            </p:nvCxnSpPr>
            <p:spPr>
              <a:xfrm flipH="1">
                <a:off x="5532145" y="3106433"/>
                <a:ext cx="428585" cy="2444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1" name="Google Shape;1651;p68"/>
              <p:cNvCxnSpPr/>
              <p:nvPr/>
            </p:nvCxnSpPr>
            <p:spPr>
              <a:xfrm flipH="1">
                <a:off x="6035335" y="3077866"/>
                <a:ext cx="9524" cy="4697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2" name="Google Shape;1652;p68"/>
              <p:cNvCxnSpPr/>
              <p:nvPr/>
            </p:nvCxnSpPr>
            <p:spPr>
              <a:xfrm flipH="1">
                <a:off x="2379663" y="2355749"/>
                <a:ext cx="1517509" cy="53642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3" name="Google Shape;1653;p68"/>
              <p:cNvCxnSpPr/>
              <p:nvPr/>
            </p:nvCxnSpPr>
            <p:spPr>
              <a:xfrm>
                <a:off x="4200356" y="2322421"/>
                <a:ext cx="0" cy="599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4" name="Google Shape;1654;p68"/>
              <p:cNvCxnSpPr/>
              <p:nvPr/>
            </p:nvCxnSpPr>
            <p:spPr>
              <a:xfrm rot="10800000">
                <a:off x="4449571" y="2306551"/>
                <a:ext cx="1406394" cy="68402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5" name="Google Shape;1655;p68"/>
              <p:cNvCxnSpPr/>
              <p:nvPr/>
            </p:nvCxnSpPr>
            <p:spPr>
              <a:xfrm>
                <a:off x="6411539" y="3131826"/>
                <a:ext cx="285723" cy="15870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56" name="Google Shape;1656;p68"/>
              <p:cNvSpPr txBox="1"/>
              <p:nvPr/>
            </p:nvSpPr>
            <p:spPr>
              <a:xfrm>
                <a:off x="3620973" y="3222289"/>
                <a:ext cx="327304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68"/>
              <p:cNvSpPr txBox="1"/>
              <p:nvPr/>
            </p:nvSpPr>
            <p:spPr>
              <a:xfrm>
                <a:off x="4094004" y="3658733"/>
                <a:ext cx="29684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68"/>
              <p:cNvSpPr txBox="1"/>
              <p:nvPr/>
            </p:nvSpPr>
            <p:spPr>
              <a:xfrm>
                <a:off x="4567035" y="3057234"/>
                <a:ext cx="290437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68"/>
              <p:cNvSpPr txBox="1"/>
              <p:nvPr/>
            </p:nvSpPr>
            <p:spPr>
              <a:xfrm>
                <a:off x="3408267" y="2768387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68"/>
              <p:cNvSpPr txBox="1"/>
              <p:nvPr/>
            </p:nvSpPr>
            <p:spPr>
              <a:xfrm>
                <a:off x="4635290" y="1984375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68"/>
              <p:cNvSpPr txBox="1"/>
              <p:nvPr/>
            </p:nvSpPr>
            <p:spPr>
              <a:xfrm>
                <a:off x="6009938" y="2570004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68"/>
              <p:cNvSpPr txBox="1"/>
              <p:nvPr/>
            </p:nvSpPr>
            <p:spPr>
              <a:xfrm>
                <a:off x="6240104" y="3541290"/>
                <a:ext cx="328905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68"/>
              <p:cNvSpPr txBox="1"/>
              <p:nvPr/>
            </p:nvSpPr>
            <p:spPr>
              <a:xfrm>
                <a:off x="6986160" y="3179439"/>
                <a:ext cx="249214" cy="369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68"/>
              <p:cNvSpPr txBox="1"/>
              <p:nvPr/>
            </p:nvSpPr>
            <p:spPr>
              <a:xfrm>
                <a:off x="5103560" y="3595251"/>
                <a:ext cx="330509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65" name="Google Shape;1665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763899" y="2930268"/>
                <a:ext cx="677799" cy="29995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666" name="Google Shape;1666;p68"/>
              <p:cNvGrpSpPr/>
              <p:nvPr/>
            </p:nvGrpSpPr>
            <p:grpSpPr>
              <a:xfrm>
                <a:off x="3139440" y="3180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67" name="Google Shape;1667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68" name="Google Shape;1668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9" name="Google Shape;1669;p68"/>
              <p:cNvGrpSpPr/>
              <p:nvPr/>
            </p:nvGrpSpPr>
            <p:grpSpPr>
              <a:xfrm>
                <a:off x="3576320" y="35255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70" name="Google Shape;1670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71" name="Google Shape;1671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2" name="Google Shape;1672;p68"/>
              <p:cNvGrpSpPr/>
              <p:nvPr/>
            </p:nvGrpSpPr>
            <p:grpSpPr>
              <a:xfrm>
                <a:off x="4135120" y="32816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73" name="Google Shape;1673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74" name="Google Shape;1674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5" name="Google Shape;1675;p68"/>
              <p:cNvGrpSpPr/>
              <p:nvPr/>
            </p:nvGrpSpPr>
            <p:grpSpPr>
              <a:xfrm>
                <a:off x="5049520" y="326136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76" name="Google Shape;1676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77" name="Google Shape;1677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8" name="Google Shape;1678;p68"/>
              <p:cNvGrpSpPr/>
              <p:nvPr/>
            </p:nvGrpSpPr>
            <p:grpSpPr>
              <a:xfrm>
                <a:off x="5588000" y="3434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79" name="Google Shape;1679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80" name="Google Shape;1680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81" name="Google Shape;1681;p68"/>
              <p:cNvGrpSpPr/>
              <p:nvPr/>
            </p:nvGrpSpPr>
            <p:grpSpPr>
              <a:xfrm>
                <a:off x="6380480" y="314960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82" name="Google Shape;1682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83" name="Google Shape;1683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684" name="Google Shape;1684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54313" y="2847741"/>
                <a:ext cx="677800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5" name="Google Shape;1685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74949" y="2116102"/>
                <a:ext cx="676212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86" name="Google Shape;1686;p68"/>
            <p:cNvGrpSpPr/>
            <p:nvPr/>
          </p:nvGrpSpPr>
          <p:grpSpPr>
            <a:xfrm>
              <a:off x="5398824" y="2310984"/>
              <a:ext cx="746763" cy="344773"/>
              <a:chOff x="3668110" y="2448910"/>
              <a:chExt cx="3794234" cy="2165130"/>
            </a:xfrm>
          </p:grpSpPr>
          <p:sp>
            <p:nvSpPr>
              <p:cNvPr id="1687" name="Google Shape;1687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89" name="Google Shape;1689;p68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690" name="Google Shape;1690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1" name="Google Shape;1691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2" name="Google Shape;1692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3" name="Google Shape;1693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94" name="Google Shape;1694;p68"/>
            <p:cNvGrpSpPr/>
            <p:nvPr/>
          </p:nvGrpSpPr>
          <p:grpSpPr>
            <a:xfrm>
              <a:off x="7290083" y="3122951"/>
              <a:ext cx="746763" cy="344773"/>
              <a:chOff x="3668110" y="2448910"/>
              <a:chExt cx="3794234" cy="2165130"/>
            </a:xfrm>
          </p:grpSpPr>
          <p:sp>
            <p:nvSpPr>
              <p:cNvPr id="1695" name="Google Shape;1695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97" name="Google Shape;1697;p68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698" name="Google Shape;1698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9" name="Google Shape;1699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0" name="Google Shape;1700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1" name="Google Shape;1701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02" name="Google Shape;1702;p68"/>
            <p:cNvGrpSpPr/>
            <p:nvPr/>
          </p:nvGrpSpPr>
          <p:grpSpPr>
            <a:xfrm>
              <a:off x="5371262" y="3020518"/>
              <a:ext cx="746763" cy="344773"/>
              <a:chOff x="3668110" y="2448910"/>
              <a:chExt cx="3794234" cy="2165130"/>
            </a:xfrm>
          </p:grpSpPr>
          <p:sp>
            <p:nvSpPr>
              <p:cNvPr id="1703" name="Google Shape;1703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05" name="Google Shape;1705;p68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706" name="Google Shape;1706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7" name="Google Shape;1707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8" name="Google Shape;1708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9" name="Google Shape;1709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710" name="Google Shape;1710;p68"/>
          <p:cNvGrpSpPr/>
          <p:nvPr/>
        </p:nvGrpSpPr>
        <p:grpSpPr>
          <a:xfrm>
            <a:off x="3510443" y="3070406"/>
            <a:ext cx="746763" cy="344773"/>
            <a:chOff x="3668110" y="2448910"/>
            <a:chExt cx="3794234" cy="2165130"/>
          </a:xfrm>
        </p:grpSpPr>
        <p:sp>
          <p:nvSpPr>
            <p:cNvPr id="1711" name="Google Shape;1711;p6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6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3" name="Google Shape;1713;p68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714" name="Google Shape;1714;p6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6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6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6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6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Self-learning multi-switch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5" name="Google Shape;1725;p69"/>
          <p:cNvSpPr txBox="1"/>
          <p:nvPr/>
        </p:nvSpPr>
        <p:spPr>
          <a:xfrm>
            <a:off x="1060528" y="1364678"/>
            <a:ext cx="8743038" cy="80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C sends frame to I, I responds to 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69"/>
          <p:cNvSpPr/>
          <p:nvPr/>
        </p:nvSpPr>
        <p:spPr>
          <a:xfrm>
            <a:off x="1239030" y="4858947"/>
            <a:ext cx="10952969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switch tables and packet forwarding in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7" name="Google Shape;1727;p69"/>
          <p:cNvGrpSpPr/>
          <p:nvPr/>
        </p:nvGrpSpPr>
        <p:grpSpPr>
          <a:xfrm>
            <a:off x="2517827" y="2194237"/>
            <a:ext cx="6289087" cy="2044145"/>
            <a:chOff x="2517827" y="2194237"/>
            <a:chExt cx="6289087" cy="2044145"/>
          </a:xfrm>
        </p:grpSpPr>
        <p:grpSp>
          <p:nvGrpSpPr>
            <p:cNvPr id="1728" name="Google Shape;1728;p69"/>
            <p:cNvGrpSpPr/>
            <p:nvPr/>
          </p:nvGrpSpPr>
          <p:grpSpPr>
            <a:xfrm>
              <a:off x="2517827" y="2654612"/>
              <a:ext cx="2005135" cy="1358900"/>
              <a:chOff x="958850" y="2444750"/>
              <a:chExt cx="2005665" cy="1358710"/>
            </a:xfrm>
          </p:grpSpPr>
          <p:cxnSp>
            <p:nvCxnSpPr>
              <p:cNvPr id="1729" name="Google Shape;1729;p69"/>
              <p:cNvCxnSpPr/>
              <p:nvPr/>
            </p:nvCxnSpPr>
            <p:spPr>
              <a:xfrm rot="10800000">
                <a:off x="1582903" y="3030456"/>
                <a:ext cx="55577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0" name="Google Shape;1730;p69"/>
              <p:cNvCxnSpPr/>
              <p:nvPr/>
            </p:nvCxnSpPr>
            <p:spPr>
              <a:xfrm flipH="1">
                <a:off x="1970355" y="3078074"/>
                <a:ext cx="271534" cy="3142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1" name="Google Shape;1731;p69"/>
              <p:cNvCxnSpPr/>
              <p:nvPr/>
            </p:nvCxnSpPr>
            <p:spPr>
              <a:xfrm>
                <a:off x="2389566" y="3106645"/>
                <a:ext cx="73044" cy="29523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32" name="Google Shape;1732;p69"/>
              <p:cNvSpPr txBox="1"/>
              <p:nvPr/>
            </p:nvSpPr>
            <p:spPr>
              <a:xfrm>
                <a:off x="958850" y="2844744"/>
                <a:ext cx="317800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3" name="Google Shape;1733;p69"/>
              <p:cNvSpPr txBox="1"/>
              <p:nvPr/>
            </p:nvSpPr>
            <p:spPr>
              <a:xfrm>
                <a:off x="1408232" y="3306642"/>
                <a:ext cx="309782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69"/>
              <p:cNvSpPr txBox="1"/>
              <p:nvPr/>
            </p:nvSpPr>
            <p:spPr>
              <a:xfrm>
                <a:off x="2181548" y="2444750"/>
                <a:ext cx="36910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69"/>
              <p:cNvSpPr txBox="1"/>
              <p:nvPr/>
            </p:nvSpPr>
            <p:spPr>
              <a:xfrm>
                <a:off x="2656336" y="3298706"/>
                <a:ext cx="30817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36" name="Google Shape;1736;p69"/>
              <p:cNvGrpSpPr/>
              <p:nvPr/>
            </p:nvGrpSpPr>
            <p:grpSpPr>
              <a:xfrm>
                <a:off x="1127760" y="28346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737" name="Google Shape;1737;p6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38" name="Google Shape;1738;p6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39" name="Google Shape;1739;p69"/>
              <p:cNvGrpSpPr/>
              <p:nvPr/>
            </p:nvGrpSpPr>
            <p:grpSpPr>
              <a:xfrm>
                <a:off x="1534160" y="32918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740" name="Google Shape;1740;p6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41" name="Google Shape;1741;p6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42" name="Google Shape;1742;p69"/>
              <p:cNvGrpSpPr/>
              <p:nvPr/>
            </p:nvGrpSpPr>
            <p:grpSpPr>
              <a:xfrm>
                <a:off x="2062480" y="33223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743" name="Google Shape;1743;p6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44" name="Google Shape;1744;p6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745" name="Google Shape;1745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14817" y="2879664"/>
                <a:ext cx="678041" cy="299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46" name="Google Shape;1746;p69"/>
            <p:cNvGrpSpPr/>
            <p:nvPr/>
          </p:nvGrpSpPr>
          <p:grpSpPr>
            <a:xfrm>
              <a:off x="3950752" y="2194237"/>
              <a:ext cx="4856162" cy="2044145"/>
              <a:chOff x="3950752" y="2194237"/>
              <a:chExt cx="4856162" cy="2044145"/>
            </a:xfrm>
          </p:grpSpPr>
          <p:grpSp>
            <p:nvGrpSpPr>
              <p:cNvPr id="1747" name="Google Shape;1747;p69"/>
              <p:cNvGrpSpPr/>
              <p:nvPr/>
            </p:nvGrpSpPr>
            <p:grpSpPr>
              <a:xfrm>
                <a:off x="3950752" y="2194237"/>
                <a:ext cx="4856162" cy="2044145"/>
                <a:chOff x="2379663" y="1984375"/>
                <a:chExt cx="4855711" cy="2043590"/>
              </a:xfrm>
            </p:grpSpPr>
            <p:cxnSp>
              <p:nvCxnSpPr>
                <p:cNvPr id="1748" name="Google Shape;1748;p69"/>
                <p:cNvCxnSpPr/>
                <p:nvPr/>
              </p:nvCxnSpPr>
              <p:spPr>
                <a:xfrm flipH="1">
                  <a:off x="3635258" y="3068344"/>
                  <a:ext cx="346043" cy="2158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49" name="Google Shape;1749;p69"/>
                <p:cNvCxnSpPr/>
                <p:nvPr/>
              </p:nvCxnSpPr>
              <p:spPr>
                <a:xfrm flipH="1">
                  <a:off x="3949554" y="3087389"/>
                  <a:ext cx="125401" cy="5872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0" name="Google Shape;1750;p69"/>
                <p:cNvCxnSpPr/>
                <p:nvPr/>
              </p:nvCxnSpPr>
              <p:spPr>
                <a:xfrm>
                  <a:off x="4254326" y="3030254"/>
                  <a:ext cx="230167" cy="3618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1" name="Google Shape;1751;p69"/>
                <p:cNvCxnSpPr/>
                <p:nvPr/>
              </p:nvCxnSpPr>
              <p:spPr>
                <a:xfrm flipH="1">
                  <a:off x="5532145" y="3106433"/>
                  <a:ext cx="428585" cy="2444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2" name="Google Shape;1752;p69"/>
                <p:cNvCxnSpPr/>
                <p:nvPr/>
              </p:nvCxnSpPr>
              <p:spPr>
                <a:xfrm flipH="1">
                  <a:off x="6035335" y="3077866"/>
                  <a:ext cx="9524" cy="4697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3" name="Google Shape;1753;p69"/>
                <p:cNvCxnSpPr/>
                <p:nvPr/>
              </p:nvCxnSpPr>
              <p:spPr>
                <a:xfrm flipH="1">
                  <a:off x="2379663" y="2355749"/>
                  <a:ext cx="1517509" cy="53642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4" name="Google Shape;1754;p69"/>
                <p:cNvCxnSpPr/>
                <p:nvPr/>
              </p:nvCxnSpPr>
              <p:spPr>
                <a:xfrm>
                  <a:off x="4200356" y="2322421"/>
                  <a:ext cx="0" cy="59991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5" name="Google Shape;1755;p69"/>
                <p:cNvCxnSpPr/>
                <p:nvPr/>
              </p:nvCxnSpPr>
              <p:spPr>
                <a:xfrm rot="10800000">
                  <a:off x="4449571" y="2306551"/>
                  <a:ext cx="1406394" cy="6840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6" name="Google Shape;1756;p69"/>
                <p:cNvCxnSpPr/>
                <p:nvPr/>
              </p:nvCxnSpPr>
              <p:spPr>
                <a:xfrm>
                  <a:off x="6411539" y="3131826"/>
                  <a:ext cx="285723" cy="15870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757" name="Google Shape;1757;p69"/>
                <p:cNvSpPr txBox="1"/>
                <p:nvPr/>
              </p:nvSpPr>
              <p:spPr>
                <a:xfrm>
                  <a:off x="3620973" y="3222289"/>
                  <a:ext cx="327304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8" name="Google Shape;1758;p69"/>
                <p:cNvSpPr txBox="1"/>
                <p:nvPr/>
              </p:nvSpPr>
              <p:spPr>
                <a:xfrm>
                  <a:off x="4094004" y="3658733"/>
                  <a:ext cx="29684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9" name="Google Shape;1759;p69"/>
                <p:cNvSpPr txBox="1"/>
                <p:nvPr/>
              </p:nvSpPr>
              <p:spPr>
                <a:xfrm>
                  <a:off x="4567035" y="3057234"/>
                  <a:ext cx="290437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0" name="Google Shape;1760;p69"/>
                <p:cNvSpPr txBox="1"/>
                <p:nvPr/>
              </p:nvSpPr>
              <p:spPr>
                <a:xfrm>
                  <a:off x="3408267" y="2768387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1" name="Google Shape;1761;p69"/>
                <p:cNvSpPr txBox="1"/>
                <p:nvPr/>
              </p:nvSpPr>
              <p:spPr>
                <a:xfrm>
                  <a:off x="4635290" y="1984375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2" name="Google Shape;1762;p69"/>
                <p:cNvSpPr txBox="1"/>
                <p:nvPr/>
              </p:nvSpPr>
              <p:spPr>
                <a:xfrm>
                  <a:off x="6009938" y="2570004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3" name="Google Shape;1763;p69"/>
                <p:cNvSpPr txBox="1"/>
                <p:nvPr/>
              </p:nvSpPr>
              <p:spPr>
                <a:xfrm>
                  <a:off x="6240104" y="3541290"/>
                  <a:ext cx="328905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4" name="Google Shape;1764;p69"/>
                <p:cNvSpPr txBox="1"/>
                <p:nvPr/>
              </p:nvSpPr>
              <p:spPr>
                <a:xfrm>
                  <a:off x="6986160" y="3179439"/>
                  <a:ext cx="249214" cy="3697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5" name="Google Shape;1765;p69"/>
                <p:cNvSpPr txBox="1"/>
                <p:nvPr/>
              </p:nvSpPr>
              <p:spPr>
                <a:xfrm>
                  <a:off x="5103560" y="3595251"/>
                  <a:ext cx="330509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1766" name="Google Shape;1766;p6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763899" y="2930268"/>
                  <a:ext cx="677799" cy="2999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767" name="Google Shape;1767;p69"/>
                <p:cNvGrpSpPr/>
                <p:nvPr/>
              </p:nvGrpSpPr>
              <p:grpSpPr>
                <a:xfrm>
                  <a:off x="3139440" y="3180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768" name="Google Shape;1768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69" name="Google Shape;1769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70" name="Google Shape;1770;p69"/>
                <p:cNvGrpSpPr/>
                <p:nvPr/>
              </p:nvGrpSpPr>
              <p:grpSpPr>
                <a:xfrm>
                  <a:off x="3576320" y="352552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771" name="Google Shape;1771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72" name="Google Shape;1772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73" name="Google Shape;1773;p69"/>
                <p:cNvGrpSpPr/>
                <p:nvPr/>
              </p:nvGrpSpPr>
              <p:grpSpPr>
                <a:xfrm>
                  <a:off x="4135120" y="32816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774" name="Google Shape;1774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75" name="Google Shape;1775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76" name="Google Shape;1776;p69"/>
                <p:cNvGrpSpPr/>
                <p:nvPr/>
              </p:nvGrpSpPr>
              <p:grpSpPr>
                <a:xfrm>
                  <a:off x="5049520" y="326136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777" name="Google Shape;1777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78" name="Google Shape;1778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79" name="Google Shape;1779;p69"/>
                <p:cNvGrpSpPr/>
                <p:nvPr/>
              </p:nvGrpSpPr>
              <p:grpSpPr>
                <a:xfrm>
                  <a:off x="5588000" y="3434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780" name="Google Shape;1780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81" name="Google Shape;1781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82" name="Google Shape;1782;p69"/>
                <p:cNvGrpSpPr/>
                <p:nvPr/>
              </p:nvGrpSpPr>
              <p:grpSpPr>
                <a:xfrm>
                  <a:off x="6380480" y="314960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783" name="Google Shape;1783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84" name="Google Shape;1784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1785" name="Google Shape;1785;p6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54313" y="2847741"/>
                  <a:ext cx="677800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86" name="Google Shape;1786;p6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74949" y="2116102"/>
                  <a:ext cx="676212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87" name="Google Shape;1787;p69"/>
              <p:cNvGrpSpPr/>
              <p:nvPr/>
            </p:nvGrpSpPr>
            <p:grpSpPr>
              <a:xfrm>
                <a:off x="5398824" y="2310984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788" name="Google Shape;1788;p69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9" name="Google Shape;1789;p69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90" name="Google Shape;1790;p69"/>
                <p:cNvGrpSpPr/>
                <p:nvPr/>
              </p:nvGrpSpPr>
              <p:grpSpPr>
                <a:xfrm>
                  <a:off x="3941376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791" name="Google Shape;1791;p6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2" name="Google Shape;1792;p6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3" name="Google Shape;1793;p6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4" name="Google Shape;1794;p6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95" name="Google Shape;1795;p69"/>
              <p:cNvGrpSpPr/>
              <p:nvPr/>
            </p:nvGrpSpPr>
            <p:grpSpPr>
              <a:xfrm>
                <a:off x="7290083" y="3122951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796" name="Google Shape;1796;p69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7" name="Google Shape;1797;p69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98" name="Google Shape;1798;p69"/>
                <p:cNvGrpSpPr/>
                <p:nvPr/>
              </p:nvGrpSpPr>
              <p:grpSpPr>
                <a:xfrm>
                  <a:off x="3941376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799" name="Google Shape;1799;p6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0" name="Google Shape;1800;p6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1" name="Google Shape;1801;p6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2" name="Google Shape;1802;p6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803" name="Google Shape;1803;p69"/>
              <p:cNvGrpSpPr/>
              <p:nvPr/>
            </p:nvGrpSpPr>
            <p:grpSpPr>
              <a:xfrm>
                <a:off x="5371262" y="3020518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804" name="Google Shape;1804;p69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5" name="Google Shape;1805;p69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06" name="Google Shape;1806;p69"/>
                <p:cNvGrpSpPr/>
                <p:nvPr/>
              </p:nvGrpSpPr>
              <p:grpSpPr>
                <a:xfrm>
                  <a:off x="3941376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807" name="Google Shape;1807;p6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8" name="Google Shape;1808;p6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9" name="Google Shape;1809;p6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0" name="Google Shape;1810;p6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811" name="Google Shape;1811;p69"/>
            <p:cNvGrpSpPr/>
            <p:nvPr/>
          </p:nvGrpSpPr>
          <p:grpSpPr>
            <a:xfrm>
              <a:off x="3510443" y="3070406"/>
              <a:ext cx="746763" cy="344773"/>
              <a:chOff x="3668110" y="2448910"/>
              <a:chExt cx="3794234" cy="2165130"/>
            </a:xfrm>
          </p:grpSpPr>
          <p:sp>
            <p:nvSpPr>
              <p:cNvPr id="1812" name="Google Shape;1812;p6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6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14" name="Google Shape;1814;p69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15" name="Google Shape;1815;p6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6" name="Google Shape;1816;p6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7" name="Google Shape;1817;p6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8" name="Google Shape;1818;p6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7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Small institutional network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6" name="Google Shape;1826;p70"/>
          <p:cNvSpPr/>
          <p:nvPr/>
        </p:nvSpPr>
        <p:spPr>
          <a:xfrm rot="5400000">
            <a:off x="4293252" y="22542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7" name="Google Shape;1827;p70"/>
          <p:cNvCxnSpPr/>
          <p:nvPr/>
        </p:nvCxnSpPr>
        <p:spPr>
          <a:xfrm flipH="1">
            <a:off x="4264678" y="336867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8" name="Google Shape;1828;p70"/>
          <p:cNvCxnSpPr/>
          <p:nvPr/>
        </p:nvCxnSpPr>
        <p:spPr>
          <a:xfrm>
            <a:off x="6504640" y="3355975"/>
            <a:ext cx="0" cy="14668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9" name="Google Shape;1829;p70"/>
          <p:cNvCxnSpPr/>
          <p:nvPr/>
        </p:nvCxnSpPr>
        <p:spPr>
          <a:xfrm rot="10800000">
            <a:off x="6698315" y="3290888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0" name="Google Shape;1830;p70"/>
          <p:cNvCxnSpPr/>
          <p:nvPr/>
        </p:nvCxnSpPr>
        <p:spPr>
          <a:xfrm flipH="1" rot="10800000">
            <a:off x="6801503" y="2673350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1" name="Google Shape;1831;p70"/>
          <p:cNvCxnSpPr/>
          <p:nvPr/>
        </p:nvCxnSpPr>
        <p:spPr>
          <a:xfrm flipH="1" rot="10800000">
            <a:off x="6595128" y="2351088"/>
            <a:ext cx="669925" cy="758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2" name="Google Shape;1832;p70"/>
          <p:cNvCxnSpPr/>
          <p:nvPr/>
        </p:nvCxnSpPr>
        <p:spPr>
          <a:xfrm>
            <a:off x="5501340" y="2505075"/>
            <a:ext cx="862013" cy="644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3" name="Google Shape;1833;p70"/>
          <p:cNvCxnSpPr/>
          <p:nvPr/>
        </p:nvCxnSpPr>
        <p:spPr>
          <a:xfrm rot="10800000">
            <a:off x="4109103" y="2401888"/>
            <a:ext cx="850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4" name="Google Shape;1834;p70"/>
          <p:cNvSpPr txBox="1"/>
          <p:nvPr/>
        </p:nvSpPr>
        <p:spPr>
          <a:xfrm>
            <a:off x="2858153" y="2022475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70"/>
          <p:cNvSpPr txBox="1"/>
          <p:nvPr/>
        </p:nvSpPr>
        <p:spPr>
          <a:xfrm>
            <a:off x="4829828" y="2589213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70"/>
          <p:cNvSpPr txBox="1"/>
          <p:nvPr/>
        </p:nvSpPr>
        <p:spPr>
          <a:xfrm>
            <a:off x="8549340" y="3497263"/>
            <a:ext cx="1549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70"/>
          <p:cNvSpPr txBox="1"/>
          <p:nvPr/>
        </p:nvSpPr>
        <p:spPr>
          <a:xfrm>
            <a:off x="7546040" y="1816100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70"/>
          <p:cNvSpPr txBox="1"/>
          <p:nvPr/>
        </p:nvSpPr>
        <p:spPr>
          <a:xfrm>
            <a:off x="8344553" y="2486025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9" name="Google Shape;1839;p70"/>
          <p:cNvCxnSpPr/>
          <p:nvPr/>
        </p:nvCxnSpPr>
        <p:spPr>
          <a:xfrm rot="10800000">
            <a:off x="3578878" y="47355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0" name="Google Shape;1840;p70"/>
          <p:cNvCxnSpPr/>
          <p:nvPr/>
        </p:nvCxnSpPr>
        <p:spPr>
          <a:xfrm flipH="1">
            <a:off x="3966228" y="4783138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1" name="Google Shape;1841;p70"/>
          <p:cNvCxnSpPr/>
          <p:nvPr/>
        </p:nvCxnSpPr>
        <p:spPr>
          <a:xfrm>
            <a:off x="4385328" y="481171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42" name="Google Shape;1842;p70"/>
          <p:cNvGrpSpPr/>
          <p:nvPr/>
        </p:nvGrpSpPr>
        <p:grpSpPr>
          <a:xfrm>
            <a:off x="3123265" y="4538663"/>
            <a:ext cx="568325" cy="481012"/>
            <a:chOff x="-44" y="1473"/>
            <a:chExt cx="981" cy="1105"/>
          </a:xfrm>
        </p:grpSpPr>
        <p:pic>
          <p:nvPicPr>
            <p:cNvPr descr="desktop_computer_stylized_medium" id="1843" name="Google Shape;1843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4" name="Google Shape;1844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5" name="Google Shape;1845;p70"/>
          <p:cNvGrpSpPr/>
          <p:nvPr/>
        </p:nvGrpSpPr>
        <p:grpSpPr>
          <a:xfrm>
            <a:off x="3529665" y="4995863"/>
            <a:ext cx="568325" cy="481012"/>
            <a:chOff x="-44" y="1473"/>
            <a:chExt cx="981" cy="1105"/>
          </a:xfrm>
        </p:grpSpPr>
        <p:pic>
          <p:nvPicPr>
            <p:cNvPr descr="desktop_computer_stylized_medium" id="1846" name="Google Shape;1846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8" name="Google Shape;1848;p70"/>
          <p:cNvGrpSpPr/>
          <p:nvPr/>
        </p:nvGrpSpPr>
        <p:grpSpPr>
          <a:xfrm>
            <a:off x="4058303" y="50276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49" name="Google Shape;1849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0" name="Google Shape;1850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51" name="Google Shape;1851;p70"/>
          <p:cNvCxnSpPr/>
          <p:nvPr/>
        </p:nvCxnSpPr>
        <p:spPr>
          <a:xfrm>
            <a:off x="4604403" y="474186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2" name="Google Shape;1852;p70"/>
          <p:cNvCxnSpPr/>
          <p:nvPr/>
        </p:nvCxnSpPr>
        <p:spPr>
          <a:xfrm flipH="1">
            <a:off x="4836178" y="523716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3" name="Google Shape;1853;p70"/>
          <p:cNvCxnSpPr/>
          <p:nvPr/>
        </p:nvCxnSpPr>
        <p:spPr>
          <a:xfrm>
            <a:off x="5240990" y="52482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4" name="Google Shape;1854;p70"/>
          <p:cNvCxnSpPr/>
          <p:nvPr/>
        </p:nvCxnSpPr>
        <p:spPr>
          <a:xfrm rot="10800000">
            <a:off x="5139390" y="51292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5" name="Google Shape;1855;p70"/>
          <p:cNvGrpSpPr/>
          <p:nvPr/>
        </p:nvGrpSpPr>
        <p:grpSpPr>
          <a:xfrm>
            <a:off x="4463115" y="5400675"/>
            <a:ext cx="568325" cy="481013"/>
            <a:chOff x="-44" y="1473"/>
            <a:chExt cx="981" cy="1105"/>
          </a:xfrm>
        </p:grpSpPr>
        <p:pic>
          <p:nvPicPr>
            <p:cNvPr descr="desktop_computer_stylized_medium" id="1856" name="Google Shape;1856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7" name="Google Shape;1857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8" name="Google Shape;1858;p70"/>
          <p:cNvGrpSpPr/>
          <p:nvPr/>
        </p:nvGrpSpPr>
        <p:grpSpPr>
          <a:xfrm>
            <a:off x="4920315" y="5468938"/>
            <a:ext cx="568325" cy="481012"/>
            <a:chOff x="-44" y="1473"/>
            <a:chExt cx="981" cy="1105"/>
          </a:xfrm>
        </p:grpSpPr>
        <p:pic>
          <p:nvPicPr>
            <p:cNvPr descr="desktop_computer_stylized_medium" id="1859" name="Google Shape;1859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0" name="Google Shape;1860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1" name="Google Shape;1861;p70"/>
          <p:cNvGrpSpPr/>
          <p:nvPr/>
        </p:nvGrpSpPr>
        <p:grpSpPr>
          <a:xfrm>
            <a:off x="5345765" y="4927600"/>
            <a:ext cx="568325" cy="481013"/>
            <a:chOff x="-44" y="1473"/>
            <a:chExt cx="981" cy="1105"/>
          </a:xfrm>
        </p:grpSpPr>
        <p:pic>
          <p:nvPicPr>
            <p:cNvPr descr="desktop_computer_stylized_medium" id="1862" name="Google Shape;1862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3" name="Google Shape;1863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64" name="Google Shape;1864;p70"/>
          <p:cNvCxnSpPr/>
          <p:nvPr/>
        </p:nvCxnSpPr>
        <p:spPr>
          <a:xfrm rot="10800000">
            <a:off x="7798453" y="5003800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5" name="Google Shape;1865;p70"/>
          <p:cNvCxnSpPr/>
          <p:nvPr/>
        </p:nvCxnSpPr>
        <p:spPr>
          <a:xfrm flipH="1">
            <a:off x="8185803" y="5051425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6" name="Google Shape;1866;p70"/>
          <p:cNvCxnSpPr/>
          <p:nvPr/>
        </p:nvCxnSpPr>
        <p:spPr>
          <a:xfrm>
            <a:off x="8604903" y="5080000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7" name="Google Shape;1867;p70"/>
          <p:cNvGrpSpPr/>
          <p:nvPr/>
        </p:nvGrpSpPr>
        <p:grpSpPr>
          <a:xfrm>
            <a:off x="7490478" y="4818063"/>
            <a:ext cx="568325" cy="481012"/>
            <a:chOff x="-44" y="1473"/>
            <a:chExt cx="981" cy="1105"/>
          </a:xfrm>
        </p:grpSpPr>
        <p:pic>
          <p:nvPicPr>
            <p:cNvPr descr="desktop_computer_stylized_medium" id="1868" name="Google Shape;1868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9" name="Google Shape;1869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0" name="Google Shape;1870;p70"/>
          <p:cNvGrpSpPr/>
          <p:nvPr/>
        </p:nvGrpSpPr>
        <p:grpSpPr>
          <a:xfrm>
            <a:off x="7749240" y="5264150"/>
            <a:ext cx="569913" cy="481013"/>
            <a:chOff x="-44" y="1473"/>
            <a:chExt cx="981" cy="1105"/>
          </a:xfrm>
        </p:grpSpPr>
        <p:pic>
          <p:nvPicPr>
            <p:cNvPr descr="desktop_computer_stylized_medium" id="1871" name="Google Shape;1871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3" name="Google Shape;1873;p70"/>
          <p:cNvGrpSpPr/>
          <p:nvPr/>
        </p:nvGrpSpPr>
        <p:grpSpPr>
          <a:xfrm>
            <a:off x="8277878" y="5294313"/>
            <a:ext cx="568325" cy="482600"/>
            <a:chOff x="-44" y="1473"/>
            <a:chExt cx="981" cy="1105"/>
          </a:xfrm>
        </p:grpSpPr>
        <p:pic>
          <p:nvPicPr>
            <p:cNvPr descr="desktop_computer_stylized_medium" id="1874" name="Google Shape;187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76" name="Google Shape;1876;p70"/>
          <p:cNvCxnSpPr/>
          <p:nvPr/>
        </p:nvCxnSpPr>
        <p:spPr>
          <a:xfrm rot="10800000">
            <a:off x="6772928" y="5049838"/>
            <a:ext cx="606425" cy="3127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7" name="Google Shape;1877;p70"/>
          <p:cNvCxnSpPr/>
          <p:nvPr/>
        </p:nvCxnSpPr>
        <p:spPr>
          <a:xfrm flipH="1">
            <a:off x="6309378" y="5003800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8" name="Google Shape;1878;p70"/>
          <p:cNvCxnSpPr/>
          <p:nvPr/>
        </p:nvCxnSpPr>
        <p:spPr>
          <a:xfrm>
            <a:off x="6728478" y="50323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9" name="Google Shape;1879;p70"/>
          <p:cNvGrpSpPr/>
          <p:nvPr/>
        </p:nvGrpSpPr>
        <p:grpSpPr>
          <a:xfrm>
            <a:off x="6917390" y="5211763"/>
            <a:ext cx="569913" cy="481012"/>
            <a:chOff x="-44" y="1473"/>
            <a:chExt cx="981" cy="1105"/>
          </a:xfrm>
        </p:grpSpPr>
        <p:pic>
          <p:nvPicPr>
            <p:cNvPr descr="desktop_computer_stylized_medium" id="1880" name="Google Shape;1880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1" name="Google Shape;1881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2" name="Google Shape;1882;p70"/>
          <p:cNvGrpSpPr/>
          <p:nvPr/>
        </p:nvGrpSpPr>
        <p:grpSpPr>
          <a:xfrm>
            <a:off x="5872815" y="5216525"/>
            <a:ext cx="569913" cy="482600"/>
            <a:chOff x="-44" y="1473"/>
            <a:chExt cx="981" cy="1105"/>
          </a:xfrm>
        </p:grpSpPr>
        <p:pic>
          <p:nvPicPr>
            <p:cNvPr descr="desktop_computer_stylized_medium" id="1883" name="Google Shape;1883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4" name="Google Shape;1884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5" name="Google Shape;1885;p70"/>
          <p:cNvGrpSpPr/>
          <p:nvPr/>
        </p:nvGrpSpPr>
        <p:grpSpPr>
          <a:xfrm>
            <a:off x="6401453" y="5248275"/>
            <a:ext cx="569912" cy="481013"/>
            <a:chOff x="-44" y="1473"/>
            <a:chExt cx="981" cy="1105"/>
          </a:xfrm>
        </p:grpSpPr>
        <p:pic>
          <p:nvPicPr>
            <p:cNvPr descr="desktop_computer_stylized_medium" id="1886" name="Google Shape;1886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88" name="Google Shape;1888;p70"/>
          <p:cNvCxnSpPr/>
          <p:nvPr/>
        </p:nvCxnSpPr>
        <p:spPr>
          <a:xfrm rot="10800000">
            <a:off x="8633478" y="5081588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89" name="Google Shape;1889;p70"/>
          <p:cNvGrpSpPr/>
          <p:nvPr/>
        </p:nvGrpSpPr>
        <p:grpSpPr>
          <a:xfrm>
            <a:off x="8798578" y="4865688"/>
            <a:ext cx="569912" cy="481012"/>
            <a:chOff x="-44" y="1473"/>
            <a:chExt cx="981" cy="1105"/>
          </a:xfrm>
        </p:grpSpPr>
        <p:pic>
          <p:nvPicPr>
            <p:cNvPr descr="desktop_computer_stylized_medium" id="1890" name="Google Shape;1890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1" name="Google Shape;1891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2" name="Google Shape;1892;p70"/>
          <p:cNvGrpSpPr/>
          <p:nvPr/>
        </p:nvGrpSpPr>
        <p:grpSpPr>
          <a:xfrm>
            <a:off x="7253940" y="2092325"/>
            <a:ext cx="366713" cy="579438"/>
            <a:chOff x="4140" y="429"/>
            <a:chExt cx="1425" cy="2396"/>
          </a:xfrm>
        </p:grpSpPr>
        <p:sp>
          <p:nvSpPr>
            <p:cNvPr id="1893" name="Google Shape;1893;p7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7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7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7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7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8" name="Google Shape;1898;p7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899" name="Google Shape;1899;p7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7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1" name="Google Shape;1901;p7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2" name="Google Shape;1902;p7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903" name="Google Shape;1903;p7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7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5" name="Google Shape;1905;p7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7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7" name="Google Shape;1907;p7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908" name="Google Shape;1908;p7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7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0" name="Google Shape;1910;p7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1" name="Google Shape;1911;p7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912" name="Google Shape;1912;p7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7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4" name="Google Shape;1914;p7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7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7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7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7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7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7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7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7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7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7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5" name="Google Shape;1925;p70"/>
          <p:cNvGrpSpPr/>
          <p:nvPr/>
        </p:nvGrpSpPr>
        <p:grpSpPr>
          <a:xfrm>
            <a:off x="7858778" y="2601913"/>
            <a:ext cx="366712" cy="579437"/>
            <a:chOff x="4140" y="429"/>
            <a:chExt cx="1425" cy="2396"/>
          </a:xfrm>
        </p:grpSpPr>
        <p:sp>
          <p:nvSpPr>
            <p:cNvPr id="1926" name="Google Shape;1926;p7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7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7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7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7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1" name="Google Shape;1931;p7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932" name="Google Shape;1932;p7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7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4" name="Google Shape;1934;p7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5" name="Google Shape;1935;p7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936" name="Google Shape;1936;p7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7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8" name="Google Shape;1938;p7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7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40" name="Google Shape;1940;p7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941" name="Google Shape;1941;p7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2" name="Google Shape;1942;p7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43" name="Google Shape;1943;p7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44" name="Google Shape;1944;p7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945" name="Google Shape;1945;p7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7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47" name="Google Shape;1947;p7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7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7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7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7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7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7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7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7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7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7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8" name="Google Shape;1958;p70"/>
          <p:cNvGrpSpPr/>
          <p:nvPr/>
        </p:nvGrpSpPr>
        <p:grpSpPr>
          <a:xfrm>
            <a:off x="6081784" y="2929417"/>
            <a:ext cx="914400" cy="479686"/>
            <a:chOff x="3668110" y="2448910"/>
            <a:chExt cx="3794234" cy="2165130"/>
          </a:xfrm>
        </p:grpSpPr>
        <p:sp>
          <p:nvSpPr>
            <p:cNvPr id="1959" name="Google Shape;1959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1" name="Google Shape;1961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962" name="Google Shape;1962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963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66" name="Google Shape;1966;p70"/>
          <p:cNvGrpSpPr/>
          <p:nvPr/>
        </p:nvGrpSpPr>
        <p:grpSpPr>
          <a:xfrm>
            <a:off x="4861367" y="2210765"/>
            <a:ext cx="894855" cy="442494"/>
            <a:chOff x="7493876" y="2774731"/>
            <a:chExt cx="1481958" cy="894622"/>
          </a:xfrm>
        </p:grpSpPr>
        <p:sp>
          <p:nvSpPr>
            <p:cNvPr id="1967" name="Google Shape;1967;p7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7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69" name="Google Shape;1969;p7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0" name="Google Shape;1970;p7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971;p7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7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7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74" name="Google Shape;1974;p70"/>
          <p:cNvGrpSpPr/>
          <p:nvPr/>
        </p:nvGrpSpPr>
        <p:grpSpPr>
          <a:xfrm>
            <a:off x="4035095" y="4580587"/>
            <a:ext cx="652815" cy="339144"/>
            <a:chOff x="3668110" y="2448910"/>
            <a:chExt cx="3794234" cy="2165130"/>
          </a:xfrm>
        </p:grpSpPr>
        <p:sp>
          <p:nvSpPr>
            <p:cNvPr id="1975" name="Google Shape;1975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7" name="Google Shape;1977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978" name="Google Shape;1978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9" name="Google Shape;1979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1" name="Google Shape;1981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82" name="Google Shape;1982;p70"/>
          <p:cNvGrpSpPr/>
          <p:nvPr/>
        </p:nvGrpSpPr>
        <p:grpSpPr>
          <a:xfrm>
            <a:off x="4730749" y="4991280"/>
            <a:ext cx="666096" cy="353718"/>
            <a:chOff x="3668110" y="2448910"/>
            <a:chExt cx="3794234" cy="2165130"/>
          </a:xfrm>
        </p:grpSpPr>
        <p:sp>
          <p:nvSpPr>
            <p:cNvPr id="1983" name="Google Shape;1983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5" name="Google Shape;1985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986" name="Google Shape;1986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987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988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90" name="Google Shape;1990;p70"/>
          <p:cNvGrpSpPr/>
          <p:nvPr/>
        </p:nvGrpSpPr>
        <p:grpSpPr>
          <a:xfrm>
            <a:off x="6268889" y="4785461"/>
            <a:ext cx="666096" cy="353718"/>
            <a:chOff x="3668110" y="2448910"/>
            <a:chExt cx="3794234" cy="2165130"/>
          </a:xfrm>
        </p:grpSpPr>
        <p:sp>
          <p:nvSpPr>
            <p:cNvPr id="1991" name="Google Shape;1991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3" name="Google Shape;1993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994" name="Google Shape;1994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997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98" name="Google Shape;1998;p70"/>
          <p:cNvGrpSpPr/>
          <p:nvPr/>
        </p:nvGrpSpPr>
        <p:grpSpPr>
          <a:xfrm>
            <a:off x="8198241" y="4810599"/>
            <a:ext cx="666096" cy="353718"/>
            <a:chOff x="3668110" y="2448910"/>
            <a:chExt cx="3794234" cy="2165130"/>
          </a:xfrm>
        </p:grpSpPr>
        <p:sp>
          <p:nvSpPr>
            <p:cNvPr id="1999" name="Google Shape;1999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01" name="Google Shape;2001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2002" name="Google Shape;2002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2003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2004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5" name="Google Shape;2005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7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Switches vs.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3" name="Google Shape;2013;p71"/>
          <p:cNvSpPr/>
          <p:nvPr/>
        </p:nvSpPr>
        <p:spPr>
          <a:xfrm flipH="1">
            <a:off x="9361825" y="2092325"/>
            <a:ext cx="638175" cy="803639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71"/>
          <p:cNvSpPr/>
          <p:nvPr/>
        </p:nvSpPr>
        <p:spPr>
          <a:xfrm>
            <a:off x="9349126" y="844952"/>
            <a:ext cx="360363" cy="1517612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71"/>
          <p:cNvSpPr/>
          <p:nvPr/>
        </p:nvSpPr>
        <p:spPr>
          <a:xfrm>
            <a:off x="8077539" y="862377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6" name="Google Shape;2016;p71"/>
          <p:cNvCxnSpPr/>
          <p:nvPr/>
        </p:nvCxnSpPr>
        <p:spPr>
          <a:xfrm>
            <a:off x="8077539" y="1179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7" name="Google Shape;2017;p71"/>
          <p:cNvSpPr txBox="1"/>
          <p:nvPr/>
        </p:nvSpPr>
        <p:spPr>
          <a:xfrm>
            <a:off x="8056901" y="829039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8" name="Google Shape;2018;p71"/>
          <p:cNvCxnSpPr/>
          <p:nvPr/>
        </p:nvCxnSpPr>
        <p:spPr>
          <a:xfrm>
            <a:off x="8085476" y="15005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9" name="Google Shape;2019;p71"/>
          <p:cNvCxnSpPr/>
          <p:nvPr/>
        </p:nvCxnSpPr>
        <p:spPr>
          <a:xfrm>
            <a:off x="8090239" y="17815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0" name="Google Shape;2020;p71"/>
          <p:cNvCxnSpPr/>
          <p:nvPr/>
        </p:nvCxnSpPr>
        <p:spPr>
          <a:xfrm>
            <a:off x="8090239" y="2057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21" name="Google Shape;2021;p71"/>
          <p:cNvGrpSpPr/>
          <p:nvPr/>
        </p:nvGrpSpPr>
        <p:grpSpPr>
          <a:xfrm>
            <a:off x="9518991" y="3463925"/>
            <a:ext cx="1328738" cy="996950"/>
            <a:chOff x="3593" y="192"/>
            <a:chExt cx="837" cy="628"/>
          </a:xfrm>
        </p:grpSpPr>
        <p:sp>
          <p:nvSpPr>
            <p:cNvPr id="2022" name="Google Shape;2022;p71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23" name="Google Shape;2023;p71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4" name="Google Shape;2024;p71"/>
            <p:cNvSpPr txBox="1"/>
            <p:nvPr/>
          </p:nvSpPr>
          <p:spPr>
            <a:xfrm>
              <a:off x="3593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5" name="Google Shape;2025;p71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26" name="Google Shape;2026;p71"/>
          <p:cNvGrpSpPr/>
          <p:nvPr/>
        </p:nvGrpSpPr>
        <p:grpSpPr>
          <a:xfrm>
            <a:off x="9901576" y="2097452"/>
            <a:ext cx="1317625" cy="695325"/>
            <a:chOff x="4714" y="633"/>
            <a:chExt cx="830" cy="438"/>
          </a:xfrm>
        </p:grpSpPr>
        <p:sp>
          <p:nvSpPr>
            <p:cNvPr id="2027" name="Google Shape;2027;p71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28" name="Google Shape;2028;p71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9" name="Google Shape;2029;p71"/>
            <p:cNvSpPr txBox="1"/>
            <p:nvPr/>
          </p:nvSpPr>
          <p:spPr>
            <a:xfrm>
              <a:off x="4714" y="633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0" name="Google Shape;2030;p71"/>
          <p:cNvSpPr txBox="1"/>
          <p:nvPr/>
        </p:nvSpPr>
        <p:spPr>
          <a:xfrm>
            <a:off x="8672851" y="2943589"/>
            <a:ext cx="799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1" name="Google Shape;2031;p71"/>
          <p:cNvGrpSpPr/>
          <p:nvPr/>
        </p:nvGrpSpPr>
        <p:grpSpPr>
          <a:xfrm>
            <a:off x="7270588" y="1487019"/>
            <a:ext cx="917575" cy="307975"/>
            <a:chOff x="1080" y="911"/>
            <a:chExt cx="578" cy="194"/>
          </a:xfrm>
        </p:grpSpPr>
        <p:sp>
          <p:nvSpPr>
            <p:cNvPr id="2032" name="Google Shape;2032;p71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71"/>
            <p:cNvSpPr txBox="1"/>
            <p:nvPr/>
          </p:nvSpPr>
          <p:spPr>
            <a:xfrm>
              <a:off x="1080" y="911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4" name="Google Shape;2034;p71"/>
          <p:cNvSpPr/>
          <p:nvPr/>
        </p:nvSpPr>
        <p:spPr>
          <a:xfrm>
            <a:off x="7979114" y="4605702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5" name="Google Shape;2035;p71"/>
          <p:cNvCxnSpPr/>
          <p:nvPr/>
        </p:nvCxnSpPr>
        <p:spPr>
          <a:xfrm>
            <a:off x="7979114" y="4923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6" name="Google Shape;2036;p71"/>
          <p:cNvSpPr txBox="1"/>
          <p:nvPr/>
        </p:nvSpPr>
        <p:spPr>
          <a:xfrm>
            <a:off x="7958476" y="457871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7" name="Google Shape;2037;p71"/>
          <p:cNvCxnSpPr/>
          <p:nvPr/>
        </p:nvCxnSpPr>
        <p:spPr>
          <a:xfrm>
            <a:off x="7987051" y="5243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8" name="Google Shape;2038;p71"/>
          <p:cNvCxnSpPr/>
          <p:nvPr/>
        </p:nvCxnSpPr>
        <p:spPr>
          <a:xfrm>
            <a:off x="7991814" y="55248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9" name="Google Shape;2039;p71"/>
          <p:cNvCxnSpPr/>
          <p:nvPr/>
        </p:nvCxnSpPr>
        <p:spPr>
          <a:xfrm>
            <a:off x="7991814" y="58010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0" name="Google Shape;2040;p71"/>
          <p:cNvSpPr/>
          <p:nvPr/>
        </p:nvSpPr>
        <p:spPr>
          <a:xfrm>
            <a:off x="9264650" y="4613275"/>
            <a:ext cx="406739" cy="1784714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1" name="Google Shape;2041;p71"/>
          <p:cNvGrpSpPr/>
          <p:nvPr/>
        </p:nvGrpSpPr>
        <p:grpSpPr>
          <a:xfrm>
            <a:off x="7112339" y="1754552"/>
            <a:ext cx="1095375" cy="338137"/>
            <a:chOff x="998" y="1077"/>
            <a:chExt cx="690" cy="213"/>
          </a:xfrm>
        </p:grpSpPr>
        <p:sp>
          <p:nvSpPr>
            <p:cNvPr id="2042" name="Google Shape;2042;p7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71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4" name="Google Shape;2044;p71"/>
          <p:cNvSpPr/>
          <p:nvPr/>
        </p:nvSpPr>
        <p:spPr>
          <a:xfrm>
            <a:off x="8099764" y="663939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5" name="Google Shape;2045;p71"/>
          <p:cNvGrpSpPr/>
          <p:nvPr/>
        </p:nvGrpSpPr>
        <p:grpSpPr>
          <a:xfrm>
            <a:off x="10884239" y="2106977"/>
            <a:ext cx="1095375" cy="338137"/>
            <a:chOff x="998" y="1077"/>
            <a:chExt cx="690" cy="213"/>
          </a:xfrm>
        </p:grpSpPr>
        <p:sp>
          <p:nvSpPr>
            <p:cNvPr id="2046" name="Google Shape;2046;p7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71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8" name="Google Shape;2048;p71"/>
          <p:cNvGrpSpPr/>
          <p:nvPr/>
        </p:nvGrpSpPr>
        <p:grpSpPr>
          <a:xfrm>
            <a:off x="10560389" y="3854815"/>
            <a:ext cx="1095375" cy="338137"/>
            <a:chOff x="998" y="1074"/>
            <a:chExt cx="690" cy="213"/>
          </a:xfrm>
        </p:grpSpPr>
        <p:sp>
          <p:nvSpPr>
            <p:cNvPr id="2049" name="Google Shape;2049;p7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71"/>
            <p:cNvSpPr txBox="1"/>
            <p:nvPr/>
          </p:nvSpPr>
          <p:spPr>
            <a:xfrm>
              <a:off x="1107" y="1074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1" name="Google Shape;2051;p71"/>
          <p:cNvGrpSpPr/>
          <p:nvPr/>
        </p:nvGrpSpPr>
        <p:grpSpPr>
          <a:xfrm>
            <a:off x="10646114" y="3580178"/>
            <a:ext cx="914400" cy="307975"/>
            <a:chOff x="1082" y="919"/>
            <a:chExt cx="576" cy="194"/>
          </a:xfrm>
        </p:grpSpPr>
        <p:sp>
          <p:nvSpPr>
            <p:cNvPr id="2052" name="Google Shape;2052;p71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71"/>
            <p:cNvSpPr txBox="1"/>
            <p:nvPr/>
          </p:nvSpPr>
          <p:spPr>
            <a:xfrm>
              <a:off x="1082" y="919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4" name="Google Shape;2054;p71"/>
          <p:cNvSpPr/>
          <p:nvPr/>
        </p:nvSpPr>
        <p:spPr>
          <a:xfrm>
            <a:off x="9242764" y="3479800"/>
            <a:ext cx="333036" cy="9747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5" name="Google Shape;2055;p71"/>
          <p:cNvGrpSpPr/>
          <p:nvPr/>
        </p:nvGrpSpPr>
        <p:grpSpPr>
          <a:xfrm>
            <a:off x="9299914" y="1287827"/>
            <a:ext cx="762000" cy="693737"/>
            <a:chOff x="-44" y="1473"/>
            <a:chExt cx="981" cy="1105"/>
          </a:xfrm>
        </p:grpSpPr>
        <p:pic>
          <p:nvPicPr>
            <p:cNvPr descr="desktop_computer_stylized_medium" id="2056" name="Google Shape;2056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7" name="Google Shape;2057;p7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8" name="Google Shape;2058;p71"/>
          <p:cNvGrpSpPr/>
          <p:nvPr/>
        </p:nvGrpSpPr>
        <p:grpSpPr>
          <a:xfrm>
            <a:off x="9279276" y="5942377"/>
            <a:ext cx="762000" cy="693737"/>
            <a:chOff x="-44" y="1473"/>
            <a:chExt cx="981" cy="1105"/>
          </a:xfrm>
        </p:grpSpPr>
        <p:pic>
          <p:nvPicPr>
            <p:cNvPr descr="desktop_computer_stylized_medium" id="2059" name="Google Shape;2059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0" name="Google Shape;2060;p7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1" name="Google Shape;2061;p71"/>
          <p:cNvSpPr txBox="1"/>
          <p:nvPr/>
        </p:nvSpPr>
        <p:spPr>
          <a:xfrm>
            <a:off x="11274305" y="6462404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62" name="Google Shape;2062;p71"/>
          <p:cNvGrpSpPr/>
          <p:nvPr/>
        </p:nvGrpSpPr>
        <p:grpSpPr>
          <a:xfrm>
            <a:off x="8822377" y="2470342"/>
            <a:ext cx="914400" cy="479686"/>
            <a:chOff x="3668110" y="2448910"/>
            <a:chExt cx="3794234" cy="2165130"/>
          </a:xfrm>
        </p:grpSpPr>
        <p:sp>
          <p:nvSpPr>
            <p:cNvPr id="2063" name="Google Shape;2063;p7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7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65" name="Google Shape;2065;p71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2066" name="Google Shape;2066;p7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2067;p7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7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7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0" name="Google Shape;2070;p71"/>
          <p:cNvGrpSpPr/>
          <p:nvPr/>
        </p:nvGrpSpPr>
        <p:grpSpPr>
          <a:xfrm>
            <a:off x="8461094" y="3741153"/>
            <a:ext cx="894855" cy="442494"/>
            <a:chOff x="7493876" y="2774731"/>
            <a:chExt cx="1481958" cy="894622"/>
          </a:xfrm>
        </p:grpSpPr>
        <p:sp>
          <p:nvSpPr>
            <p:cNvPr id="2071" name="Google Shape;2071;p7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7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3" name="Google Shape;2073;p7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74" name="Google Shape;2074;p7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7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7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7" name="Google Shape;2077;p7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78" name="Google Shape;2078;p71"/>
          <p:cNvSpPr txBox="1"/>
          <p:nvPr/>
        </p:nvSpPr>
        <p:spPr>
          <a:xfrm>
            <a:off x="859601" y="1465262"/>
            <a:ext cx="6270404" cy="23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are store-and-forward: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devices (examine network-layer headers)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devices (examine link-layer headers)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71"/>
          <p:cNvSpPr txBox="1"/>
          <p:nvPr/>
        </p:nvSpPr>
        <p:spPr>
          <a:xfrm>
            <a:off x="857455" y="3613887"/>
            <a:ext cx="6270404" cy="250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have forwarding tables: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tables using routing algorithms, IP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forwarding table using flooding, learning, MAC addresses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103b20d317d_0_0"/>
          <p:cNvSpPr txBox="1"/>
          <p:nvPr>
            <p:ph type="title"/>
          </p:nvPr>
        </p:nvSpPr>
        <p:spPr>
          <a:xfrm>
            <a:off x="838200" y="46287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Content Delivery Networks (CDN)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Not in syllabus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086" name="Google Shape;2086;g103b20d317d_0_0"/>
          <p:cNvSpPr txBox="1"/>
          <p:nvPr>
            <p:ph idx="1" type="body"/>
          </p:nvPr>
        </p:nvSpPr>
        <p:spPr>
          <a:xfrm>
            <a:off x="838200" y="1240600"/>
            <a:ext cx="101868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7815" lvl="0" marL="4572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1090"/>
              <a:buChar char="▪"/>
            </a:pPr>
            <a:r>
              <a:rPr lang="en-US" sz="1640"/>
              <a:t>Geographically distributed group of servers </a:t>
            </a:r>
            <a:endParaRPr sz="1640"/>
          </a:p>
          <a:p>
            <a:pPr indent="-297815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420"/>
              <a:t>Work together to provide fast delivery of Internet content</a:t>
            </a:r>
            <a:endParaRPr sz="1420"/>
          </a:p>
          <a:p>
            <a:pPr indent="-297814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200"/>
              <a:t>For example, HTML pages, javascript files, stylesheets, images, and videos</a:t>
            </a:r>
            <a:endParaRPr sz="1200"/>
          </a:p>
          <a:p>
            <a:pPr indent="-297815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420"/>
              <a:t>Today, major web traffic is served through CDNs</a:t>
            </a:r>
            <a:endParaRPr sz="1420"/>
          </a:p>
          <a:p>
            <a:pPr indent="-297814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200"/>
              <a:t>e.g., web traffic for Facebook, Netflix, Amazon</a:t>
            </a:r>
            <a:endParaRPr sz="1200"/>
          </a:p>
          <a:p>
            <a:pPr indent="-29781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▪"/>
            </a:pPr>
            <a:r>
              <a:rPr lang="en-US" sz="1640"/>
              <a:t>CDN does not replace a web server</a:t>
            </a:r>
            <a:endParaRPr sz="1640"/>
          </a:p>
          <a:p>
            <a:pPr indent="-29781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▪"/>
            </a:pPr>
            <a:r>
              <a:rPr lang="en-US" sz="1640"/>
              <a:t>CDN helps cache content at the network edge</a:t>
            </a:r>
            <a:endParaRPr sz="1640"/>
          </a:p>
          <a:p>
            <a:pPr indent="-297815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420"/>
              <a:t>Improves website load times</a:t>
            </a:r>
            <a:endParaRPr sz="1420"/>
          </a:p>
          <a:p>
            <a:pPr indent="-297815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420"/>
              <a:t>Reduces hosting bandwidth and hence bandwidth costs</a:t>
            </a:r>
            <a:endParaRPr sz="1420"/>
          </a:p>
          <a:p>
            <a:pPr indent="-297815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420"/>
              <a:t>Help prevent service interruptions</a:t>
            </a:r>
            <a:endParaRPr sz="1420"/>
          </a:p>
          <a:p>
            <a:pPr indent="-297814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200"/>
              <a:t>increased content availability and redundancy</a:t>
            </a:r>
            <a:endParaRPr sz="1200"/>
          </a:p>
          <a:p>
            <a:pPr indent="-297815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420"/>
              <a:t>Improve website security</a:t>
            </a:r>
            <a:endParaRPr sz="1420"/>
          </a:p>
          <a:p>
            <a:pPr indent="-297814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200"/>
              <a:t>Distributed Denial of Service (DDoS) mitigation and other optimisations</a:t>
            </a:r>
            <a:endParaRPr sz="1200"/>
          </a:p>
          <a:p>
            <a:pPr indent="-29781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▪"/>
            </a:pPr>
            <a:r>
              <a:rPr lang="en-US" sz="1640"/>
              <a:t>Other optimizations</a:t>
            </a:r>
            <a:endParaRPr sz="1640"/>
          </a:p>
          <a:p>
            <a:pPr indent="-297815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420"/>
              <a:t>place Data Centers at strategic locations across the globe to</a:t>
            </a:r>
            <a:endParaRPr sz="1420"/>
          </a:p>
          <a:p>
            <a:pPr indent="-297814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200"/>
              <a:t>enhance security</a:t>
            </a:r>
            <a:endParaRPr sz="1200"/>
          </a:p>
          <a:p>
            <a:pPr indent="-297814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200"/>
              <a:t>survive various types of failures</a:t>
            </a:r>
            <a:endParaRPr sz="1200"/>
          </a:p>
          <a:p>
            <a:pPr indent="-297814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090"/>
              <a:buChar char="•"/>
            </a:pPr>
            <a:r>
              <a:rPr lang="en-US" sz="1200"/>
              <a:t>survive Internet congestion.</a:t>
            </a:r>
            <a:endParaRPr sz="1200"/>
          </a:p>
        </p:txBody>
      </p:sp>
      <p:sp>
        <p:nvSpPr>
          <p:cNvPr id="2087" name="Google Shape;2087;g103b20d317d_0_0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103b20d317d_0_25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Content Delivery Networks (CDN)</a:t>
            </a:r>
            <a:endParaRPr/>
          </a:p>
        </p:txBody>
      </p:sp>
      <p:sp>
        <p:nvSpPr>
          <p:cNvPr id="2094" name="Google Shape;2094;g103b20d317d_0_25"/>
          <p:cNvSpPr txBox="1"/>
          <p:nvPr>
            <p:ph idx="1" type="body"/>
          </p:nvPr>
        </p:nvSpPr>
        <p:spPr>
          <a:xfrm>
            <a:off x="838200" y="1446825"/>
            <a:ext cx="10186800" cy="4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Internet exchange points (IXPs)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different Internet providers connect in order to provide each other access to traffic originating on their different networks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high speed and highly interconnected locations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CDN provider places servers at IXPs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reduced costs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high speed data delivery</a:t>
            </a:r>
            <a:endParaRPr/>
          </a:p>
        </p:txBody>
      </p:sp>
      <p:sp>
        <p:nvSpPr>
          <p:cNvPr id="2095" name="Google Shape;2095;g103b20d317d_0_25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103b20d317d_0_9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Example placement by CDN provider</a:t>
            </a:r>
            <a:endParaRPr/>
          </a:p>
        </p:txBody>
      </p:sp>
      <p:sp>
        <p:nvSpPr>
          <p:cNvPr id="2102" name="Google Shape;2102;g103b20d317d_0_9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3" name="Google Shape;2103;g103b20d317d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488" y="1346426"/>
            <a:ext cx="8033025" cy="535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