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  <p:sldMasterId id="2147483672" r:id="rId7"/>
    <p:sldMasterId id="2147483675" r:id="rId8"/>
    <p:sldMasterId id="2147483677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</p:sldIdLst>
  <p:sldSz cy="6858000" cx="9144000"/>
  <p:notesSz cx="7315200" cy="9601200"/>
  <p:embeddedFontLst>
    <p:embeddedFont>
      <p:font typeface="Tahoma"/>
      <p:regular r:id="rId34"/>
      <p:bold r:id="rId35"/>
    </p:embeddedFont>
    <p:embeddedFont>
      <p:font typeface="Gill Sans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i7hXmzGyar/7W1deswViUY8MFb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0DF39F-12D5-4CF3-97B7-18C56DC6068E}">
  <a:tblStyle styleId="{B80DF39F-12D5-4CF3-97B7-18C56DC6068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1" Type="http://schemas.openxmlformats.org/officeDocument/2006/relationships/theme" Target="theme/theme6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11" Type="http://schemas.openxmlformats.org/officeDocument/2006/relationships/slide" Target="slides/slide1.xml"/><Relationship Id="rId33" Type="http://schemas.openxmlformats.org/officeDocument/2006/relationships/slide" Target="slides/slide23.xml"/><Relationship Id="rId10" Type="http://schemas.openxmlformats.org/officeDocument/2006/relationships/notesMaster" Target="notesMasters/notesMaster1.xml"/><Relationship Id="rId32" Type="http://schemas.openxmlformats.org/officeDocument/2006/relationships/slide" Target="slides/slide22.xml"/><Relationship Id="rId13" Type="http://schemas.openxmlformats.org/officeDocument/2006/relationships/slide" Target="slides/slide3.xml"/><Relationship Id="rId35" Type="http://schemas.openxmlformats.org/officeDocument/2006/relationships/font" Target="fonts/Tahoma-bold.fntdata"/><Relationship Id="rId12" Type="http://schemas.openxmlformats.org/officeDocument/2006/relationships/slide" Target="slides/slide2.xml"/><Relationship Id="rId34" Type="http://schemas.openxmlformats.org/officeDocument/2006/relationships/font" Target="fonts/Tahoma-regular.fntdata"/><Relationship Id="rId15" Type="http://schemas.openxmlformats.org/officeDocument/2006/relationships/slide" Target="slides/slide5.xml"/><Relationship Id="rId37" Type="http://schemas.openxmlformats.org/officeDocument/2006/relationships/font" Target="fonts/GillSans-bold.fntdata"/><Relationship Id="rId14" Type="http://schemas.openxmlformats.org/officeDocument/2006/relationships/slide" Target="slides/slide4.xml"/><Relationship Id="rId36" Type="http://schemas.openxmlformats.org/officeDocument/2006/relationships/font" Target="fonts/GillSans-regular.fntdata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38" Type="http://customschemas.google.com/relationships/presentationmetadata" Target="metadata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1fb6fbcd5_0_56:notes"/>
          <p:cNvSpPr/>
          <p:nvPr>
            <p:ph idx="2" type="sldImg"/>
          </p:nvPr>
        </p:nvSpPr>
        <p:spPr>
          <a:xfrm>
            <a:off x="1219520" y="720090"/>
            <a:ext cx="4876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5" name="Google Shape;145;g101fb6fbcd5_0_56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fbddd66af9_0_0:notes"/>
          <p:cNvSpPr/>
          <p:nvPr>
            <p:ph idx="2" type="sldImg"/>
          </p:nvPr>
        </p:nvSpPr>
        <p:spPr>
          <a:xfrm>
            <a:off x="1219520" y="720090"/>
            <a:ext cx="4876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4" name="Google Shape;154;gfbddd66af9_0_0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4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4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4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p4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4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9" name="Google Shape;619;p4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1" name="Google Shape;811;p4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3" name="Google Shape;823;p5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3" name="Google Shape;873;p5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5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1" name="Google Shape;881;p5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9" name="Google Shape;889;p5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5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8" name="Google Shape;1008;p5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101fb6fbcd5_0_455:notes"/>
          <p:cNvSpPr/>
          <p:nvPr>
            <p:ph idx="2" type="sldImg"/>
          </p:nvPr>
        </p:nvSpPr>
        <p:spPr>
          <a:xfrm>
            <a:off x="1219520" y="720090"/>
            <a:ext cx="4876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16" name="Google Shape;1016;g101fb6fbcd5_0_455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fbddd66af9_0_32:notes"/>
          <p:cNvSpPr/>
          <p:nvPr>
            <p:ph idx="2" type="sldImg"/>
          </p:nvPr>
        </p:nvSpPr>
        <p:spPr>
          <a:xfrm>
            <a:off x="1219520" y="720090"/>
            <a:ext cx="4876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26" name="Google Shape;1026;gfbddd66af9_0_32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6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6" name="Google Shape;1036;p6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6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4" name="Google Shape;1044;p6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6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3" name="Google Shape;1073;p6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6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1" name="Google Shape;1081;p6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6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8" name="Google Shape;1138;p6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6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9" name="Google Shape;1269;p6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6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4" name="Google Shape;1434;p6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01fb6fbcd5_0_67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g101fb6fbcd5_0_67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g101fb6fbcd5_0_6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1fb6fbcd5_0_71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101fb6fbcd5_0_7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101fb6fbcd5_0_74"/>
          <p:cNvSpPr txBox="1"/>
          <p:nvPr>
            <p:ph type="title"/>
          </p:nvPr>
        </p:nvSpPr>
        <p:spPr>
          <a:xfrm>
            <a:off x="0" y="0"/>
            <a:ext cx="9144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101fb6fbcd5_0_74"/>
          <p:cNvSpPr txBox="1"/>
          <p:nvPr>
            <p:ph idx="1" type="body"/>
          </p:nvPr>
        </p:nvSpPr>
        <p:spPr>
          <a:xfrm>
            <a:off x="311700" y="997067"/>
            <a:ext cx="8520600" cy="50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g101fb6fbcd5_0_7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1fb6fbcd5_0_7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g101fb6fbcd5_0_78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g101fb6fbcd5_0_78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g101fb6fbcd5_0_7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101fb6fbcd5_0_8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g101fb6fbcd5_0_8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101fb6fbcd5_0_86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g101fb6fbcd5_0_86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g101fb6fbcd5_0_8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101fb6fbcd5_0_90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g101fb6fbcd5_0_9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01fb6fbcd5_0_9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101fb6fbcd5_0_93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g101fb6fbcd5_0_93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g101fb6fbcd5_0_93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g101fb6fbcd5_0_9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01fb6fbcd5_0_99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g101fb6fbcd5_0_9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101fb6fbcd5_0_102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101fb6fbcd5_0_102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g101fb6fbcd5_0_10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01fb6fbcd5_0_10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01fb6fbcd5_0_472"/>
          <p:cNvSpPr txBox="1"/>
          <p:nvPr>
            <p:ph type="title"/>
          </p:nvPr>
        </p:nvSpPr>
        <p:spPr>
          <a:xfrm>
            <a:off x="0" y="0"/>
            <a:ext cx="9144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101fb6fbcd5_0_472"/>
          <p:cNvSpPr txBox="1"/>
          <p:nvPr>
            <p:ph idx="1" type="body"/>
          </p:nvPr>
        </p:nvSpPr>
        <p:spPr>
          <a:xfrm>
            <a:off x="311700" y="997067"/>
            <a:ext cx="8520600" cy="50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g101fb6fbcd5_0_47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1fb6fbcd5_0_465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4" name="Google Shape;64;g101fb6fbcd5_0_465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" name="Google Shape;65;g101fb6fbcd5_0_4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01fb6fbcd5_0_469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8" name="Google Shape;68;g101fb6fbcd5_0_46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01fb6fbcd5_0_47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g101fb6fbcd5_0_476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g101fb6fbcd5_0_476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g101fb6fbcd5_0_47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01fb6fbcd5_0_48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g101fb6fbcd5_0_48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01fb6fbcd5_0_484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" name="Google Shape;79;g101fb6fbcd5_0_484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g101fb6fbcd5_0_48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01fb6fbcd5_0_48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g101fb6fbcd5_0_48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01fb6fbcd5_0_49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101fb6fbcd5_0_49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g101fb6fbcd5_0_49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g101fb6fbcd5_0_49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g101fb6fbcd5_0_49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01fb6fbcd5_0_497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2" name="Google Shape;92;g101fb6fbcd5_0_49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1fb6fbcd5_0_500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g101fb6fbcd5_0_500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g101fb6fbcd5_0_50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01fb6fbcd5_0_50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2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82"/>
          <p:cNvSpPr txBox="1"/>
          <p:nvPr>
            <p:ph idx="1" type="body"/>
          </p:nvPr>
        </p:nvSpPr>
        <p:spPr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08" name="Google Shape;108;p8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82"/>
          <p:cNvSpPr txBox="1"/>
          <p:nvPr>
            <p:ph idx="11" type="ftr"/>
          </p:nvPr>
        </p:nvSpPr>
        <p:spPr>
          <a:xfrm>
            <a:off x="553243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82"/>
          <p:cNvSpPr txBox="1"/>
          <p:nvPr>
            <p:ph idx="12" type="sldNum"/>
          </p:nvPr>
        </p:nvSpPr>
        <p:spPr>
          <a:xfrm>
            <a:off x="8324850" y="648176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01fb6fbcd5_0_2915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101fb6fbcd5_0_2915"/>
          <p:cNvSpPr txBox="1"/>
          <p:nvPr>
            <p:ph idx="1" type="body"/>
          </p:nvPr>
        </p:nvSpPr>
        <p:spPr>
          <a:xfrm>
            <a:off x="5334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114" name="Google Shape;114;g101fb6fbcd5_0_2915"/>
          <p:cNvSpPr txBox="1"/>
          <p:nvPr>
            <p:ph idx="2" type="body"/>
          </p:nvPr>
        </p:nvSpPr>
        <p:spPr>
          <a:xfrm>
            <a:off x="44958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115" name="Google Shape;115;g101fb6fbcd5_0_291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101fb6fbcd5_0_2915"/>
          <p:cNvSpPr txBox="1"/>
          <p:nvPr>
            <p:ph idx="11" type="ftr"/>
          </p:nvPr>
        </p:nvSpPr>
        <p:spPr>
          <a:xfrm>
            <a:off x="5532438" y="6467475"/>
            <a:ext cx="28956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g101fb6fbcd5_0_2915"/>
          <p:cNvSpPr txBox="1"/>
          <p:nvPr>
            <p:ph idx="12" type="sldNum"/>
          </p:nvPr>
        </p:nvSpPr>
        <p:spPr>
          <a:xfrm>
            <a:off x="8324850" y="6462713"/>
            <a:ext cx="6762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8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88"/>
          <p:cNvSpPr txBox="1"/>
          <p:nvPr>
            <p:ph idx="1" type="body"/>
          </p:nvPr>
        </p:nvSpPr>
        <p:spPr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indent="-342900" lvl="1" marL="9144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27" name="Google Shape;127;p8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88"/>
          <p:cNvSpPr txBox="1"/>
          <p:nvPr>
            <p:ph idx="11" type="ftr"/>
          </p:nvPr>
        </p:nvSpPr>
        <p:spPr>
          <a:xfrm>
            <a:off x="5576887" y="6445250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88"/>
          <p:cNvSpPr txBox="1"/>
          <p:nvPr>
            <p:ph idx="12" type="sldNum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0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80"/>
          <p:cNvSpPr txBox="1"/>
          <p:nvPr>
            <p:ph idx="1" type="body"/>
          </p:nvPr>
        </p:nvSpPr>
        <p:spPr>
          <a:xfrm>
            <a:off x="5334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139" name="Google Shape;139;p80"/>
          <p:cNvSpPr txBox="1"/>
          <p:nvPr>
            <p:ph idx="2" type="body"/>
          </p:nvPr>
        </p:nvSpPr>
        <p:spPr>
          <a:xfrm>
            <a:off x="44958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140" name="Google Shape;140;p8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80"/>
          <p:cNvSpPr txBox="1"/>
          <p:nvPr>
            <p:ph idx="11" type="ftr"/>
          </p:nvPr>
        </p:nvSpPr>
        <p:spPr>
          <a:xfrm>
            <a:off x="553243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80"/>
          <p:cNvSpPr txBox="1"/>
          <p:nvPr>
            <p:ph idx="12" type="sldNum"/>
          </p:nvPr>
        </p:nvSpPr>
        <p:spPr>
          <a:xfrm>
            <a:off x="8324850" y="648176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6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theme" Target="../theme/theme5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01fb6fbcd5_0_6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101fb6fbcd5_0_6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101fb6fbcd5_0_6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01fb6fbcd5_0_46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g101fb6fbcd5_0_46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g101fb6fbcd5_0_4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1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1" name="Google Shape;101;p81"/>
          <p:cNvSpPr txBox="1"/>
          <p:nvPr>
            <p:ph idx="1" type="body"/>
          </p:nvPr>
        </p:nvSpPr>
        <p:spPr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81000" lvl="1" marL="9144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2" name="Google Shape;102;p8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81"/>
          <p:cNvSpPr txBox="1"/>
          <p:nvPr>
            <p:ph idx="11" type="ftr"/>
          </p:nvPr>
        </p:nvSpPr>
        <p:spPr>
          <a:xfrm>
            <a:off x="553243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81"/>
          <p:cNvSpPr txBox="1"/>
          <p:nvPr>
            <p:ph idx="12" type="sldNum"/>
          </p:nvPr>
        </p:nvSpPr>
        <p:spPr>
          <a:xfrm>
            <a:off x="8324850" y="648176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4-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7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0" name="Google Shape;120;p87"/>
          <p:cNvSpPr txBox="1"/>
          <p:nvPr>
            <p:ph idx="1" type="body"/>
          </p:nvPr>
        </p:nvSpPr>
        <p:spPr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"/>
              <a:buChar char="❖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6400" lvl="1" marL="914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Char char="•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1" name="Google Shape;121;p8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87"/>
          <p:cNvSpPr txBox="1"/>
          <p:nvPr>
            <p:ph idx="11" type="ftr"/>
          </p:nvPr>
        </p:nvSpPr>
        <p:spPr>
          <a:xfrm>
            <a:off x="5576887" y="6445250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87"/>
          <p:cNvSpPr txBox="1"/>
          <p:nvPr>
            <p:ph idx="12" type="sldNum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9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2" name="Google Shape;132;p79"/>
          <p:cNvSpPr txBox="1"/>
          <p:nvPr>
            <p:ph idx="1" type="body"/>
          </p:nvPr>
        </p:nvSpPr>
        <p:spPr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81000" lvl="1" marL="9144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3" name="Google Shape;133;p7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" name="Google Shape;134;p79"/>
          <p:cNvSpPr txBox="1"/>
          <p:nvPr>
            <p:ph idx="11" type="ftr"/>
          </p:nvPr>
        </p:nvSpPr>
        <p:spPr>
          <a:xfrm>
            <a:off x="553243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5" name="Google Shape;135;p79"/>
          <p:cNvSpPr txBox="1"/>
          <p:nvPr>
            <p:ph idx="12" type="sldNum"/>
          </p:nvPr>
        </p:nvSpPr>
        <p:spPr>
          <a:xfrm>
            <a:off x="8324850" y="648176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4-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hyperlink" Target="https://en.wikipedia.org/wiki/Network_address_translation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01fb6fbcd5_0_56"/>
          <p:cNvSpPr txBox="1"/>
          <p:nvPr>
            <p:ph type="ctrTitle"/>
          </p:nvPr>
        </p:nvSpPr>
        <p:spPr>
          <a:xfrm>
            <a:off x="0" y="772735"/>
            <a:ext cx="9144000" cy="19221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3600">
                <a:solidFill>
                  <a:schemeClr val="lt1"/>
                </a:solidFill>
              </a:rPr>
              <a:t>Lec 25B: </a:t>
            </a:r>
            <a:endParaRPr sz="3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3600">
                <a:solidFill>
                  <a:schemeClr val="lt1"/>
                </a:solidFill>
              </a:rPr>
              <a:t>DHCP,NAT,STUN,IPv6</a:t>
            </a:r>
            <a:endParaRPr sz="3400">
              <a:solidFill>
                <a:schemeClr val="lt1"/>
              </a:solidFill>
            </a:endParaRPr>
          </a:p>
        </p:txBody>
      </p:sp>
      <p:sp>
        <p:nvSpPr>
          <p:cNvPr id="148" name="Google Shape;148;g101fb6fbcd5_0_56"/>
          <p:cNvSpPr txBox="1"/>
          <p:nvPr>
            <p:ph idx="1" type="subTitle"/>
          </p:nvPr>
        </p:nvSpPr>
        <p:spPr>
          <a:xfrm>
            <a:off x="0" y="2694667"/>
            <a:ext cx="9144000" cy="1293300"/>
          </a:xfrm>
          <a:prstGeom prst="rect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-US" sz="2700">
                <a:solidFill>
                  <a:srgbClr val="1155CC"/>
                </a:solidFill>
              </a:rPr>
              <a:t>Computer Networks (CSE232)</a:t>
            </a:r>
            <a:endParaRPr b="1" sz="2700">
              <a:solidFill>
                <a:srgbClr val="1155CC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SzPts val="800"/>
              <a:buNone/>
            </a:pPr>
            <a:r>
              <a:rPr b="1" lang="en-US" sz="2700">
                <a:solidFill>
                  <a:srgbClr val="1155CC"/>
                </a:solidFill>
              </a:rPr>
              <a:t>Rinku Shah</a:t>
            </a:r>
            <a:endParaRPr b="1" sz="2700">
              <a:solidFill>
                <a:srgbClr val="1155CC"/>
              </a:solidFill>
            </a:endParaRPr>
          </a:p>
        </p:txBody>
      </p:sp>
      <p:sp>
        <p:nvSpPr>
          <p:cNvPr id="149" name="Google Shape;149;g101fb6fbcd5_0_56"/>
          <p:cNvSpPr txBox="1"/>
          <p:nvPr>
            <p:ph idx="1" type="subTitle"/>
          </p:nvPr>
        </p:nvSpPr>
        <p:spPr>
          <a:xfrm>
            <a:off x="311700" y="4803333"/>
            <a:ext cx="5571300" cy="17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b="1" lang="en-US" sz="1900"/>
              <a:t>These slides are inspired and adapted from:</a:t>
            </a:r>
            <a:r>
              <a:rPr lang="en-US" sz="1900"/>
              <a:t> </a:t>
            </a:r>
            <a:endParaRPr sz="1900"/>
          </a:p>
          <a:p>
            <a:pPr indent="-4254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AutoNum type="arabicPeriod"/>
            </a:pPr>
            <a:r>
              <a:rPr i="1" lang="en-US" sz="1900">
                <a:solidFill>
                  <a:srgbClr val="0B5394"/>
                </a:solidFill>
              </a:rPr>
              <a:t>Computer Networking: A Top-Down Approach </a:t>
            </a:r>
            <a:endParaRPr i="1" sz="1900">
              <a:solidFill>
                <a:srgbClr val="0B5394"/>
              </a:solidFill>
            </a:endParaRPr>
          </a:p>
          <a:p>
            <a:pPr indent="6096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i="1" lang="en-US" sz="1900"/>
              <a:t>6th edition, Jim Kurose, Keith Ross, Pearson, 2017</a:t>
            </a:r>
            <a:endParaRPr i="1" sz="15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 i="1" sz="1500">
              <a:solidFill>
                <a:srgbClr val="0B5394"/>
              </a:solidFill>
            </a:endParaRPr>
          </a:p>
        </p:txBody>
      </p:sp>
      <p:pic>
        <p:nvPicPr>
          <p:cNvPr id="150" name="Google Shape;150;g101fb6fbcd5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2850" y="5643704"/>
            <a:ext cx="3095550" cy="59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101fb6fbcd5_0_5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fbddd66af9_0_0"/>
          <p:cNvSpPr txBox="1"/>
          <p:nvPr>
            <p:ph type="title"/>
          </p:nvPr>
        </p:nvSpPr>
        <p:spPr>
          <a:xfrm>
            <a:off x="0" y="0"/>
            <a:ext cx="9144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Routing by an ISP’s router</a:t>
            </a:r>
            <a:endParaRPr/>
          </a:p>
        </p:txBody>
      </p:sp>
      <p:sp>
        <p:nvSpPr>
          <p:cNvPr id="157" name="Google Shape;157;gfbddd66af9_0_0"/>
          <p:cNvSpPr txBox="1"/>
          <p:nvPr>
            <p:ph idx="1" type="body"/>
          </p:nvPr>
        </p:nvSpPr>
        <p:spPr>
          <a:xfrm>
            <a:off x="311700" y="997073"/>
            <a:ext cx="8520600" cy="12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Our solution to “Problem 3” had following 4 subnets: 10.129.0.0/24, 10.129.1.0/25, 10.129.1.128/26, 10.129.1.192/26. 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Assume a similar subnet with public IP addresses: 11.129.0.0/24, 11.129.1.0/25, 11.129.1.128/26, 11.129.1.192/26</a:t>
            </a:r>
            <a:endParaRPr sz="1700"/>
          </a:p>
        </p:txBody>
      </p:sp>
      <p:sp>
        <p:nvSpPr>
          <p:cNvPr id="158" name="Google Shape;158;gfbddd66af9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gfbddd66af9_0_0"/>
          <p:cNvSpPr/>
          <p:nvPr/>
        </p:nvSpPr>
        <p:spPr>
          <a:xfrm>
            <a:off x="4210650" y="3526001"/>
            <a:ext cx="2875500" cy="1622484"/>
          </a:xfrm>
          <a:prstGeom prst="cloud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ISP</a:t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gfbddd66af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2845" y="4167675"/>
            <a:ext cx="1133501" cy="62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fbddd66af9_0_0"/>
          <p:cNvSpPr/>
          <p:nvPr/>
        </p:nvSpPr>
        <p:spPr>
          <a:xfrm>
            <a:off x="787325" y="3143725"/>
            <a:ext cx="2156652" cy="524664"/>
          </a:xfrm>
          <a:prstGeom prst="cloud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11.129.0.0/24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fbddd66af9_0_0"/>
          <p:cNvSpPr/>
          <p:nvPr/>
        </p:nvSpPr>
        <p:spPr>
          <a:xfrm>
            <a:off x="787325" y="3752550"/>
            <a:ext cx="2156652" cy="524664"/>
          </a:xfrm>
          <a:prstGeom prst="cloud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11.129.1.0/25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fbddd66af9_0_0"/>
          <p:cNvSpPr/>
          <p:nvPr/>
        </p:nvSpPr>
        <p:spPr>
          <a:xfrm>
            <a:off x="311700" y="4311450"/>
            <a:ext cx="2236572" cy="524664"/>
          </a:xfrm>
          <a:prstGeom prst="cloud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11.129.1.128/26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fbddd66af9_0_0"/>
          <p:cNvSpPr/>
          <p:nvPr/>
        </p:nvSpPr>
        <p:spPr>
          <a:xfrm>
            <a:off x="420300" y="4870350"/>
            <a:ext cx="2316492" cy="524664"/>
          </a:xfrm>
          <a:prstGeom prst="cloud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11.129.1.192/26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gfbddd66af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4695" y="3904625"/>
            <a:ext cx="1133501" cy="623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gfbddd66af9_0_0"/>
          <p:cNvCxnSpPr>
            <a:stCxn id="161" idx="0"/>
            <a:endCxn id="165" idx="0"/>
          </p:cNvCxnSpPr>
          <p:nvPr/>
        </p:nvCxnSpPr>
        <p:spPr>
          <a:xfrm>
            <a:off x="2942180" y="3406057"/>
            <a:ext cx="1059300" cy="4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gfbddd66af9_0_0"/>
          <p:cNvCxnSpPr>
            <a:stCxn id="162" idx="0"/>
          </p:cNvCxnSpPr>
          <p:nvPr/>
        </p:nvCxnSpPr>
        <p:spPr>
          <a:xfrm flipH="1" rot="10800000">
            <a:off x="2942180" y="3993882"/>
            <a:ext cx="572400" cy="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gfbddd66af9_0_0"/>
          <p:cNvCxnSpPr>
            <a:stCxn id="163" idx="0"/>
            <a:endCxn id="165" idx="1"/>
          </p:cNvCxnSpPr>
          <p:nvPr/>
        </p:nvCxnSpPr>
        <p:spPr>
          <a:xfrm flipH="1" rot="10800000">
            <a:off x="2546408" y="4216482"/>
            <a:ext cx="888300" cy="35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gfbddd66af9_0_0"/>
          <p:cNvCxnSpPr>
            <a:stCxn id="164" idx="0"/>
          </p:cNvCxnSpPr>
          <p:nvPr/>
        </p:nvCxnSpPr>
        <p:spPr>
          <a:xfrm flipH="1" rot="10800000">
            <a:off x="2734862" y="4308882"/>
            <a:ext cx="743700" cy="82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70" name="Google Shape;170;gfbddd66af9_0_0"/>
          <p:cNvGraphicFramePr/>
          <p:nvPr/>
        </p:nvGraphicFramePr>
        <p:xfrm>
          <a:off x="5805850" y="47145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{B80DF39F-12D5-4CF3-97B7-18C56DC6068E}</a:tableStyleId>
              </a:tblPr>
              <a:tblGrid>
                <a:gridCol w="1118850"/>
                <a:gridCol w="898800"/>
                <a:gridCol w="828650"/>
              </a:tblGrid>
              <a:tr h="34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2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2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2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11.129.0.0/16</a:t>
                      </a:r>
                      <a:endParaRPr sz="115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---</a:t>
                      </a:r>
                      <a:endParaRPr sz="115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---</a:t>
                      </a:r>
                      <a:endParaRPr sz="115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1" name="Google Shape;171;gfbddd66af9_0_0"/>
          <p:cNvGraphicFramePr/>
          <p:nvPr/>
        </p:nvGraphicFramePr>
        <p:xfrm>
          <a:off x="2942175" y="46009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{B80DF39F-12D5-4CF3-97B7-18C56DC6068E}</a:tableStyleId>
              </a:tblPr>
              <a:tblGrid>
                <a:gridCol w="1301400"/>
                <a:gridCol w="545050"/>
                <a:gridCol w="600450"/>
              </a:tblGrid>
              <a:tr h="34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Destination</a:t>
                      </a:r>
                      <a:endParaRPr b="1" sz="12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Distance</a:t>
                      </a:r>
                      <a:endParaRPr b="1" sz="12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Next Hop</a:t>
                      </a:r>
                      <a:endParaRPr b="1" sz="120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11.129.0.0/24</a:t>
                      </a:r>
                      <a:endParaRPr sz="115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---</a:t>
                      </a:r>
                      <a:endParaRPr sz="115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---</a:t>
                      </a:r>
                      <a:endParaRPr sz="115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11.129.1.0/25</a:t>
                      </a:r>
                      <a:endParaRPr sz="115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---</a:t>
                      </a:r>
                      <a:endParaRPr sz="115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---</a:t>
                      </a:r>
                      <a:endParaRPr sz="115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11.129.1.128/26</a:t>
                      </a:r>
                      <a:endParaRPr sz="115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---</a:t>
                      </a:r>
                      <a:endParaRPr sz="115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---</a:t>
                      </a:r>
                      <a:endParaRPr sz="115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11.129.1.192/26</a:t>
                      </a:r>
                      <a:endParaRPr sz="115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---</a:t>
                      </a:r>
                      <a:endParaRPr sz="115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</a:rPr>
                        <a:t>---</a:t>
                      </a:r>
                      <a:endParaRPr sz="1150" u="none" cap="none" strike="noStrike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95250" marL="9525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gfbddd66af9_0_0"/>
          <p:cNvSpPr/>
          <p:nvPr/>
        </p:nvSpPr>
        <p:spPr>
          <a:xfrm>
            <a:off x="7451225" y="4236459"/>
            <a:ext cx="924300" cy="33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fbddd66af9_0_0"/>
          <p:cNvSpPr txBox="1"/>
          <p:nvPr/>
        </p:nvSpPr>
        <p:spPr>
          <a:xfrm>
            <a:off x="7405575" y="3525988"/>
            <a:ext cx="924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external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fbddd66af9_0_0"/>
          <p:cNvSpPr txBox="1"/>
          <p:nvPr/>
        </p:nvSpPr>
        <p:spPr>
          <a:xfrm>
            <a:off x="787325" y="2327950"/>
            <a:ext cx="79095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ISP will announce a network with prefix 11.129.0.0/16 and route packets with /24, /25, /26 prefixes to the individual organisation</a:t>
            </a:r>
            <a:endParaRPr b="1" i="0" sz="14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180" name="Google Shape;18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962" y="1025525"/>
            <a:ext cx="82280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3"/>
          <p:cNvSpPr txBox="1"/>
          <p:nvPr>
            <p:ph type="title"/>
          </p:nvPr>
        </p:nvSpPr>
        <p:spPr>
          <a:xfrm>
            <a:off x="177800" y="268287"/>
            <a:ext cx="8826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600"/>
              <a:buFont typeface="Gill Sans"/>
              <a:buNone/>
            </a:pPr>
            <a:r>
              <a:rPr b="0" i="0" lang="en-US" sz="36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DHCP: </a:t>
            </a:r>
            <a:r>
              <a:rPr b="0" i="0" lang="en-US" sz="3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Dynamic Host Configuration Protocol</a:t>
            </a:r>
            <a:endParaRPr/>
          </a:p>
        </p:txBody>
      </p:sp>
      <p:sp>
        <p:nvSpPr>
          <p:cNvPr id="182" name="Google Shape;182;p43"/>
          <p:cNvSpPr txBox="1"/>
          <p:nvPr>
            <p:ph idx="1" type="body"/>
          </p:nvPr>
        </p:nvSpPr>
        <p:spPr>
          <a:xfrm>
            <a:off x="511175" y="1587500"/>
            <a:ext cx="8632825" cy="335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1" lang="en-US" sz="280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goal:</a:t>
            </a: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allow host to </a:t>
            </a:r>
            <a:r>
              <a:rPr b="0" i="1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dynamically </a:t>
            </a: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obtain its IP address from network server when it joins network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can renew its lease on address in use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allows reuse of addresses (only hold address while connected/“on”)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support for mobile users who want to join network (more shortly)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b="0" i="1" lang="en-US" sz="280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DHCP overview: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host broadcasts </a:t>
            </a:r>
            <a:r>
              <a:rPr b="0" i="0" lang="en-US" sz="240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“DHCP discover”</a:t>
            </a: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msg [optional]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DHCP server responds with </a:t>
            </a:r>
            <a:r>
              <a:rPr b="0" i="0" lang="en-US" sz="240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“DHCP offer”</a:t>
            </a: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msg [optional]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host requests IP address: </a:t>
            </a:r>
            <a:r>
              <a:rPr b="0" i="0" lang="en-US" sz="240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“DHCP request”</a:t>
            </a: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msg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DHCP server sends address: </a:t>
            </a:r>
            <a:r>
              <a:rPr b="0" i="0" lang="en-US" sz="240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“DHCP ack”</a:t>
            </a: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msg </a:t>
            </a:r>
            <a:endParaRPr/>
          </a:p>
          <a:p>
            <a:pPr indent="-1905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43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4"/>
          <p:cNvSpPr txBox="1"/>
          <p:nvPr>
            <p:ph type="title"/>
          </p:nvPr>
        </p:nvSpPr>
        <p:spPr>
          <a:xfrm>
            <a:off x="438150" y="255587"/>
            <a:ext cx="6824662" cy="898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Gill Sans"/>
              <a:buNone/>
            </a:pPr>
            <a:r>
              <a:rPr b="0" i="0" lang="en-US" sz="40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DHCP client-server scenario</a:t>
            </a:r>
            <a:endParaRPr/>
          </a:p>
        </p:txBody>
      </p:sp>
      <p:sp>
        <p:nvSpPr>
          <p:cNvPr id="190" name="Google Shape;190;p44"/>
          <p:cNvSpPr txBox="1"/>
          <p:nvPr/>
        </p:nvSpPr>
        <p:spPr>
          <a:xfrm>
            <a:off x="2408237" y="6037262"/>
            <a:ext cx="4978400" cy="3190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4"/>
          <p:cNvSpPr txBox="1"/>
          <p:nvPr/>
        </p:nvSpPr>
        <p:spPr>
          <a:xfrm>
            <a:off x="869950" y="1903412"/>
            <a:ext cx="13144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223.1.1.0/24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4"/>
          <p:cNvSpPr txBox="1"/>
          <p:nvPr/>
        </p:nvSpPr>
        <p:spPr>
          <a:xfrm>
            <a:off x="4348162" y="4398962"/>
            <a:ext cx="13144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223.1.2.0/24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4"/>
          <p:cNvSpPr txBox="1"/>
          <p:nvPr/>
        </p:nvSpPr>
        <p:spPr>
          <a:xfrm>
            <a:off x="2651125" y="5992812"/>
            <a:ext cx="13144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223.1.3.0/24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4"/>
          <p:cNvSpPr txBox="1"/>
          <p:nvPr/>
        </p:nvSpPr>
        <p:spPr>
          <a:xfrm>
            <a:off x="1663700" y="4233862"/>
            <a:ext cx="847725" cy="1809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4"/>
          <p:cNvSpPr/>
          <p:nvPr/>
        </p:nvSpPr>
        <p:spPr>
          <a:xfrm>
            <a:off x="1076325" y="2173287"/>
            <a:ext cx="1941512" cy="2049462"/>
          </a:xfrm>
          <a:custGeom>
            <a:rect b="b" l="l" r="r" t="t"/>
            <a:pathLst>
              <a:path extrusionOk="0" h="1291" w="1223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/>
          <p:cNvSpPr/>
          <p:nvPr/>
        </p:nvSpPr>
        <p:spPr>
          <a:xfrm>
            <a:off x="3603625" y="2482850"/>
            <a:ext cx="1906587" cy="1958975"/>
          </a:xfrm>
          <a:custGeom>
            <a:rect b="b" l="l" r="r" t="t"/>
            <a:pathLst>
              <a:path extrusionOk="0" h="1234" w="1201">
                <a:moveTo>
                  <a:pt x="25" y="709"/>
                </a:moveTo>
                <a:cubicBezTo>
                  <a:pt x="49" y="824"/>
                  <a:pt x="428" y="709"/>
                  <a:pt x="526" y="780"/>
                </a:cubicBezTo>
                <a:cubicBezTo>
                  <a:pt x="624" y="851"/>
                  <a:pt x="543" y="1059"/>
                  <a:pt x="613" y="1134"/>
                </a:cubicBezTo>
                <a:cubicBezTo>
                  <a:pt x="683" y="1209"/>
                  <a:pt x="853" y="1234"/>
                  <a:pt x="946" y="1230"/>
                </a:cubicBezTo>
                <a:cubicBezTo>
                  <a:pt x="1039" y="1226"/>
                  <a:pt x="1141" y="1163"/>
                  <a:pt x="1171" y="1107"/>
                </a:cubicBezTo>
                <a:cubicBezTo>
                  <a:pt x="1201" y="1051"/>
                  <a:pt x="1135" y="963"/>
                  <a:pt x="1126" y="894"/>
                </a:cubicBezTo>
                <a:cubicBezTo>
                  <a:pt x="1117" y="825"/>
                  <a:pt x="1119" y="772"/>
                  <a:pt x="1114" y="693"/>
                </a:cubicBezTo>
                <a:cubicBezTo>
                  <a:pt x="1109" y="614"/>
                  <a:pt x="1095" y="502"/>
                  <a:pt x="1099" y="423"/>
                </a:cubicBezTo>
                <a:cubicBezTo>
                  <a:pt x="1103" y="344"/>
                  <a:pt x="1141" y="281"/>
                  <a:pt x="1141" y="216"/>
                </a:cubicBezTo>
                <a:cubicBezTo>
                  <a:pt x="1141" y="151"/>
                  <a:pt x="1185" y="56"/>
                  <a:pt x="1102" y="33"/>
                </a:cubicBezTo>
                <a:cubicBezTo>
                  <a:pt x="1019" y="10"/>
                  <a:pt x="740" y="0"/>
                  <a:pt x="646" y="81"/>
                </a:cubicBezTo>
                <a:cubicBezTo>
                  <a:pt x="552" y="162"/>
                  <a:pt x="635" y="441"/>
                  <a:pt x="535" y="519"/>
                </a:cubicBezTo>
                <a:cubicBezTo>
                  <a:pt x="435" y="597"/>
                  <a:pt x="129" y="516"/>
                  <a:pt x="44" y="548"/>
                </a:cubicBezTo>
                <a:cubicBezTo>
                  <a:pt x="15" y="601"/>
                  <a:pt x="0" y="594"/>
                  <a:pt x="25" y="70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4"/>
          <p:cNvSpPr/>
          <p:nvPr/>
        </p:nvSpPr>
        <p:spPr>
          <a:xfrm>
            <a:off x="2276475" y="3916362"/>
            <a:ext cx="2041525" cy="1979612"/>
          </a:xfrm>
          <a:custGeom>
            <a:rect b="b" l="l" r="r" t="t"/>
            <a:pathLst>
              <a:path extrusionOk="0" h="1247" w="1286">
                <a:moveTo>
                  <a:pt x="587" y="30"/>
                </a:moveTo>
                <a:cubicBezTo>
                  <a:pt x="473" y="60"/>
                  <a:pt x="601" y="475"/>
                  <a:pt x="509" y="618"/>
                </a:cubicBezTo>
                <a:cubicBezTo>
                  <a:pt x="424" y="765"/>
                  <a:pt x="154" y="830"/>
                  <a:pt x="77" y="909"/>
                </a:cubicBezTo>
                <a:cubicBezTo>
                  <a:pt x="0" y="988"/>
                  <a:pt x="37" y="1043"/>
                  <a:pt x="47" y="1095"/>
                </a:cubicBezTo>
                <a:cubicBezTo>
                  <a:pt x="57" y="1147"/>
                  <a:pt x="71" y="1205"/>
                  <a:pt x="140" y="1224"/>
                </a:cubicBezTo>
                <a:cubicBezTo>
                  <a:pt x="209" y="1243"/>
                  <a:pt x="369" y="1212"/>
                  <a:pt x="461" y="1209"/>
                </a:cubicBezTo>
                <a:cubicBezTo>
                  <a:pt x="553" y="1206"/>
                  <a:pt x="571" y="1206"/>
                  <a:pt x="692" y="1209"/>
                </a:cubicBezTo>
                <a:cubicBezTo>
                  <a:pt x="813" y="1212"/>
                  <a:pt x="1094" y="1247"/>
                  <a:pt x="1190" y="1227"/>
                </a:cubicBezTo>
                <a:cubicBezTo>
                  <a:pt x="1286" y="1207"/>
                  <a:pt x="1279" y="1170"/>
                  <a:pt x="1271" y="1089"/>
                </a:cubicBezTo>
                <a:cubicBezTo>
                  <a:pt x="1263" y="1008"/>
                  <a:pt x="1217" y="818"/>
                  <a:pt x="1139" y="741"/>
                </a:cubicBezTo>
                <a:cubicBezTo>
                  <a:pt x="1061" y="664"/>
                  <a:pt x="865" y="743"/>
                  <a:pt x="800" y="627"/>
                </a:cubicBezTo>
                <a:cubicBezTo>
                  <a:pt x="735" y="511"/>
                  <a:pt x="785" y="142"/>
                  <a:pt x="749" y="42"/>
                </a:cubicBezTo>
                <a:cubicBezTo>
                  <a:pt x="695" y="15"/>
                  <a:pt x="701" y="0"/>
                  <a:pt x="587" y="30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44"/>
          <p:cNvCxnSpPr/>
          <p:nvPr/>
        </p:nvCxnSpPr>
        <p:spPr>
          <a:xfrm>
            <a:off x="1625600" y="2695575"/>
            <a:ext cx="277812" cy="1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9" name="Google Shape;199;p44"/>
          <p:cNvCxnSpPr/>
          <p:nvPr/>
        </p:nvCxnSpPr>
        <p:spPr>
          <a:xfrm flipH="1" rot="10800000">
            <a:off x="1674812" y="3416300"/>
            <a:ext cx="277812" cy="317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0" name="Google Shape;200;p44"/>
          <p:cNvCxnSpPr/>
          <p:nvPr/>
        </p:nvCxnSpPr>
        <p:spPr>
          <a:xfrm>
            <a:off x="1635125" y="3967162"/>
            <a:ext cx="273050" cy="1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1" name="Google Shape;201;p44"/>
          <p:cNvCxnSpPr/>
          <p:nvPr/>
        </p:nvCxnSpPr>
        <p:spPr>
          <a:xfrm flipH="1" rot="10800000">
            <a:off x="2478087" y="3544887"/>
            <a:ext cx="561975" cy="1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2" name="Google Shape;202;p44"/>
          <p:cNvSpPr txBox="1"/>
          <p:nvPr/>
        </p:nvSpPr>
        <p:spPr>
          <a:xfrm>
            <a:off x="1673225" y="2370137"/>
            <a:ext cx="9334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223.1.1.1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4"/>
          <p:cNvSpPr txBox="1"/>
          <p:nvPr/>
        </p:nvSpPr>
        <p:spPr>
          <a:xfrm>
            <a:off x="1558925" y="3995737"/>
            <a:ext cx="9334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223.1.1.3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4"/>
          <p:cNvSpPr txBox="1"/>
          <p:nvPr/>
        </p:nvSpPr>
        <p:spPr>
          <a:xfrm>
            <a:off x="2305050" y="3235325"/>
            <a:ext cx="9334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223.1.1.4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44"/>
          <p:cNvCxnSpPr/>
          <p:nvPr/>
        </p:nvCxnSpPr>
        <p:spPr>
          <a:xfrm flipH="1" rot="10800000">
            <a:off x="3552825" y="3546475"/>
            <a:ext cx="533400" cy="1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6" name="Google Shape;206;p44"/>
          <p:cNvSpPr txBox="1"/>
          <p:nvPr/>
        </p:nvSpPr>
        <p:spPr>
          <a:xfrm>
            <a:off x="3425825" y="3236912"/>
            <a:ext cx="9334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223.1.2.9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44"/>
          <p:cNvCxnSpPr/>
          <p:nvPr/>
        </p:nvCxnSpPr>
        <p:spPr>
          <a:xfrm>
            <a:off x="4745037" y="2857500"/>
            <a:ext cx="234950" cy="63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8" name="Google Shape;208;p44"/>
          <p:cNvCxnSpPr/>
          <p:nvPr/>
        </p:nvCxnSpPr>
        <p:spPr>
          <a:xfrm>
            <a:off x="4799012" y="4133850"/>
            <a:ext cx="234950" cy="63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9" name="Google Shape;209;p44"/>
          <p:cNvCxnSpPr/>
          <p:nvPr/>
        </p:nvCxnSpPr>
        <p:spPr>
          <a:xfrm flipH="1">
            <a:off x="3311525" y="3886200"/>
            <a:ext cx="3175" cy="70802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0" name="Google Shape;210;p44"/>
          <p:cNvCxnSpPr/>
          <p:nvPr/>
        </p:nvCxnSpPr>
        <p:spPr>
          <a:xfrm rot="10800000">
            <a:off x="2736850" y="5230812"/>
            <a:ext cx="3175" cy="24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1" name="Google Shape;211;p44"/>
          <p:cNvCxnSpPr/>
          <p:nvPr/>
        </p:nvCxnSpPr>
        <p:spPr>
          <a:xfrm rot="10800000">
            <a:off x="3878262" y="5164137"/>
            <a:ext cx="3175" cy="24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2" name="Google Shape;212;p44"/>
          <p:cNvSpPr txBox="1"/>
          <p:nvPr/>
        </p:nvSpPr>
        <p:spPr>
          <a:xfrm>
            <a:off x="3849687" y="5041900"/>
            <a:ext cx="9334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223.1.3.2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4"/>
          <p:cNvSpPr txBox="1"/>
          <p:nvPr/>
        </p:nvSpPr>
        <p:spPr>
          <a:xfrm>
            <a:off x="1701800" y="5053012"/>
            <a:ext cx="9334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223.1.3.1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44"/>
          <p:cNvGrpSpPr/>
          <p:nvPr/>
        </p:nvGrpSpPr>
        <p:grpSpPr>
          <a:xfrm>
            <a:off x="1071562" y="2397125"/>
            <a:ext cx="641350" cy="558800"/>
            <a:chOff x="-44" y="1473"/>
            <a:chExt cx="981" cy="1105"/>
          </a:xfrm>
        </p:grpSpPr>
        <p:pic>
          <p:nvPicPr>
            <p:cNvPr descr="desktop_computer_stylized_medium" id="215" name="Google Shape;215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99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" name="Google Shape;217;p44"/>
          <p:cNvGrpSpPr/>
          <p:nvPr/>
        </p:nvGrpSpPr>
        <p:grpSpPr>
          <a:xfrm>
            <a:off x="1066800" y="3006725"/>
            <a:ext cx="641350" cy="558800"/>
            <a:chOff x="-44" y="1473"/>
            <a:chExt cx="981" cy="1105"/>
          </a:xfrm>
        </p:grpSpPr>
        <p:pic>
          <p:nvPicPr>
            <p:cNvPr descr="desktop_computer_stylized_medium" id="218" name="Google Shape;218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99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" name="Google Shape;220;p44"/>
          <p:cNvGrpSpPr/>
          <p:nvPr/>
        </p:nvGrpSpPr>
        <p:grpSpPr>
          <a:xfrm>
            <a:off x="1095375" y="3616325"/>
            <a:ext cx="641350" cy="558800"/>
            <a:chOff x="-44" y="1473"/>
            <a:chExt cx="981" cy="1105"/>
          </a:xfrm>
        </p:grpSpPr>
        <p:pic>
          <p:nvPicPr>
            <p:cNvPr descr="desktop_computer_stylized_medium" id="221" name="Google Shape;221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" name="Google Shape;222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99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44"/>
          <p:cNvGrpSpPr/>
          <p:nvPr/>
        </p:nvGrpSpPr>
        <p:grpSpPr>
          <a:xfrm flipH="1">
            <a:off x="4803775" y="2565400"/>
            <a:ext cx="641350" cy="558800"/>
            <a:chOff x="-44" y="1473"/>
            <a:chExt cx="981" cy="1105"/>
          </a:xfrm>
        </p:grpSpPr>
        <p:pic>
          <p:nvPicPr>
            <p:cNvPr descr="desktop_computer_stylized_medium" id="224" name="Google Shape;224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" name="Google Shape;225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99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44"/>
          <p:cNvGrpSpPr/>
          <p:nvPr/>
        </p:nvGrpSpPr>
        <p:grpSpPr>
          <a:xfrm flipH="1">
            <a:off x="4878387" y="3844925"/>
            <a:ext cx="641350" cy="558800"/>
            <a:chOff x="-44" y="1473"/>
            <a:chExt cx="981" cy="1105"/>
          </a:xfrm>
        </p:grpSpPr>
        <p:pic>
          <p:nvPicPr>
            <p:cNvPr descr="desktop_computer_stylized_medium" id="227" name="Google Shape;227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99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44"/>
          <p:cNvGrpSpPr/>
          <p:nvPr/>
        </p:nvGrpSpPr>
        <p:grpSpPr>
          <a:xfrm flipH="1">
            <a:off x="3670300" y="5368925"/>
            <a:ext cx="641350" cy="558800"/>
            <a:chOff x="-44" y="1473"/>
            <a:chExt cx="981" cy="1105"/>
          </a:xfrm>
        </p:grpSpPr>
        <p:pic>
          <p:nvPicPr>
            <p:cNvPr descr="desktop_computer_stylized_medium" id="230" name="Google Shape;230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99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44"/>
          <p:cNvGrpSpPr/>
          <p:nvPr/>
        </p:nvGrpSpPr>
        <p:grpSpPr>
          <a:xfrm flipH="1">
            <a:off x="2506662" y="5410200"/>
            <a:ext cx="641350" cy="558800"/>
            <a:chOff x="-44" y="1473"/>
            <a:chExt cx="981" cy="1105"/>
          </a:xfrm>
        </p:grpSpPr>
        <p:pic>
          <p:nvPicPr>
            <p:cNvPr descr="desktop_computer_stylized_medium" id="233" name="Google Shape;233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99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44"/>
          <p:cNvGrpSpPr/>
          <p:nvPr/>
        </p:nvGrpSpPr>
        <p:grpSpPr>
          <a:xfrm>
            <a:off x="2935287" y="3503612"/>
            <a:ext cx="698500" cy="355600"/>
            <a:chOff x="4396" y="1245"/>
            <a:chExt cx="672" cy="248"/>
          </a:xfrm>
        </p:grpSpPr>
        <p:sp>
          <p:nvSpPr>
            <p:cNvPr id="236" name="Google Shape;236;p44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CCCCFF"/>
                </a:gs>
              </a:gsLst>
              <a:lin ang="10800000" scaled="0"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4"/>
            <p:cNvSpPr txBox="1"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CCCC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4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CCCCFF"/>
                </a:gs>
              </a:gsLst>
              <a:lin ang="10800000" scaled="0"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9" name="Google Shape;239;p44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240" name="Google Shape;240;p44"/>
              <p:cNvSpPr/>
              <p:nvPr/>
            </p:nvSpPr>
            <p:spPr>
              <a:xfrm>
                <a:off x="2468" y="1332"/>
                <a:ext cx="310" cy="60"/>
              </a:xfrm>
              <a:custGeom>
                <a:rect b="b" l="l" r="r" t="t"/>
                <a:pathLst>
                  <a:path extrusionOk="0" h="60" w="31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44"/>
              <p:cNvSpPr/>
              <p:nvPr/>
            </p:nvSpPr>
            <p:spPr>
              <a:xfrm>
                <a:off x="2482" y="1332"/>
                <a:ext cx="282" cy="60"/>
              </a:xfrm>
              <a:custGeom>
                <a:rect b="b" l="l" r="r" t="t"/>
                <a:pathLst>
                  <a:path extrusionOk="0" h="60" w="282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42" name="Google Shape;242;p44"/>
            <p:cNvCxnSpPr/>
            <p:nvPr/>
          </p:nvCxnSpPr>
          <p:spPr>
            <a:xfrm>
              <a:off x="4399" y="1321"/>
              <a:ext cx="0" cy="10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3" name="Google Shape;243;p44"/>
            <p:cNvCxnSpPr/>
            <p:nvPr/>
          </p:nvCxnSpPr>
          <p:spPr>
            <a:xfrm>
              <a:off x="5063" y="1326"/>
              <a:ext cx="0" cy="10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44" name="Google Shape;244;p44"/>
          <p:cNvSpPr txBox="1"/>
          <p:nvPr/>
        </p:nvSpPr>
        <p:spPr>
          <a:xfrm>
            <a:off x="1789112" y="3119437"/>
            <a:ext cx="288925" cy="233362"/>
          </a:xfrm>
          <a:prstGeom prst="rect">
            <a:avLst/>
          </a:pr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4"/>
          <p:cNvSpPr txBox="1"/>
          <p:nvPr/>
        </p:nvSpPr>
        <p:spPr>
          <a:xfrm>
            <a:off x="1624012" y="3025775"/>
            <a:ext cx="9334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223.1.1.2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4"/>
          <p:cNvSpPr txBox="1"/>
          <p:nvPr/>
        </p:nvSpPr>
        <p:spPr>
          <a:xfrm>
            <a:off x="4530725" y="3829050"/>
            <a:ext cx="288925" cy="233362"/>
          </a:xfrm>
          <a:prstGeom prst="rect">
            <a:avLst/>
          </a:pr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4"/>
          <p:cNvSpPr txBox="1"/>
          <p:nvPr/>
        </p:nvSpPr>
        <p:spPr>
          <a:xfrm>
            <a:off x="3178175" y="4014787"/>
            <a:ext cx="288925" cy="233362"/>
          </a:xfrm>
          <a:prstGeom prst="rect">
            <a:avLst/>
          </a:pr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4"/>
          <p:cNvSpPr txBox="1"/>
          <p:nvPr/>
        </p:nvSpPr>
        <p:spPr>
          <a:xfrm>
            <a:off x="2801937" y="3976687"/>
            <a:ext cx="10334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223.1.3.27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4"/>
          <p:cNvSpPr txBox="1"/>
          <p:nvPr/>
        </p:nvSpPr>
        <p:spPr>
          <a:xfrm>
            <a:off x="3900487" y="3843337"/>
            <a:ext cx="9334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223.1.2.2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4"/>
          <p:cNvSpPr txBox="1"/>
          <p:nvPr/>
        </p:nvSpPr>
        <p:spPr>
          <a:xfrm>
            <a:off x="4730750" y="2327275"/>
            <a:ext cx="9334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223.1.2.1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4"/>
          <p:cNvSpPr txBox="1"/>
          <p:nvPr/>
        </p:nvSpPr>
        <p:spPr>
          <a:xfrm>
            <a:off x="3465512" y="1760537"/>
            <a:ext cx="9064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DHCP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4"/>
          <p:cNvSpPr txBox="1"/>
          <p:nvPr/>
        </p:nvSpPr>
        <p:spPr>
          <a:xfrm>
            <a:off x="6627812" y="3059112"/>
            <a:ext cx="1820862" cy="112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arriving </a:t>
            </a:r>
            <a:r>
              <a:rPr b="0" i="1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DHCP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needs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in this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3" name="Google Shape;253;p44"/>
          <p:cNvGrpSpPr/>
          <p:nvPr/>
        </p:nvGrpSpPr>
        <p:grpSpPr>
          <a:xfrm>
            <a:off x="3873500" y="2395537"/>
            <a:ext cx="401637" cy="681037"/>
            <a:chOff x="4140" y="429"/>
            <a:chExt cx="1425" cy="2396"/>
          </a:xfrm>
        </p:grpSpPr>
        <p:sp>
          <p:nvSpPr>
            <p:cNvPr id="254" name="Google Shape;254;p4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333333"/>
                </a:gs>
                <a:gs pos="100000">
                  <a:srgbClr val="DDDDDD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4"/>
            <p:cNvSpPr txBox="1"/>
            <p:nvPr/>
          </p:nvSpPr>
          <p:spPr>
            <a:xfrm>
              <a:off x="4208" y="429"/>
              <a:ext cx="1048" cy="2284"/>
            </a:xfrm>
            <a:prstGeom prst="rect">
              <a:avLst/>
            </a:pr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F8F8F8"/>
                </a:gs>
                <a:gs pos="100000">
                  <a:srgbClr val="808080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4"/>
            <p:cNvSpPr txBox="1"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9" name="Google Shape;259;p44"/>
            <p:cNvGrpSpPr/>
            <p:nvPr/>
          </p:nvGrpSpPr>
          <p:grpSpPr>
            <a:xfrm>
              <a:off x="4748" y="669"/>
              <a:ext cx="580" cy="145"/>
              <a:chOff x="613" y="2569"/>
              <a:chExt cx="724" cy="139"/>
            </a:xfrm>
          </p:grpSpPr>
          <p:sp>
            <p:nvSpPr>
              <p:cNvPr id="260" name="Google Shape;260;p44"/>
              <p:cNvSpPr/>
              <p:nvPr/>
            </p:nvSpPr>
            <p:spPr>
              <a:xfrm>
                <a:off x="613" y="2569"/>
                <a:ext cx="724" cy="139"/>
              </a:xfrm>
              <a:prstGeom prst="roundRect">
                <a:avLst>
                  <a:gd fmla="val 108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44"/>
              <p:cNvSpPr/>
              <p:nvPr/>
            </p:nvSpPr>
            <p:spPr>
              <a:xfrm>
                <a:off x="627" y="2585"/>
                <a:ext cx="689" cy="107"/>
              </a:xfrm>
              <a:prstGeom prst="roundRect">
                <a:avLst>
                  <a:gd fmla="val 108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2" name="Google Shape;262;p44"/>
            <p:cNvSpPr txBox="1"/>
            <p:nvPr/>
          </p:nvSpPr>
          <p:spPr>
            <a:xfrm>
              <a:off x="4224" y="1021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3" name="Google Shape;263;p44"/>
            <p:cNvGrpSpPr/>
            <p:nvPr/>
          </p:nvGrpSpPr>
          <p:grpSpPr>
            <a:xfrm>
              <a:off x="4749" y="993"/>
              <a:ext cx="580" cy="134"/>
              <a:chOff x="616" y="2567"/>
              <a:chExt cx="724" cy="139"/>
            </a:xfrm>
          </p:grpSpPr>
          <p:sp>
            <p:nvSpPr>
              <p:cNvPr id="264" name="Google Shape;264;p44"/>
              <p:cNvSpPr/>
              <p:nvPr/>
            </p:nvSpPr>
            <p:spPr>
              <a:xfrm>
                <a:off x="616" y="2567"/>
                <a:ext cx="724" cy="139"/>
              </a:xfrm>
              <a:prstGeom prst="roundRect">
                <a:avLst>
                  <a:gd fmla="val 108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44"/>
              <p:cNvSpPr/>
              <p:nvPr/>
            </p:nvSpPr>
            <p:spPr>
              <a:xfrm>
                <a:off x="630" y="2584"/>
                <a:ext cx="689" cy="104"/>
              </a:xfrm>
              <a:prstGeom prst="roundRect">
                <a:avLst>
                  <a:gd fmla="val 108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6" name="Google Shape;266;p44"/>
            <p:cNvSpPr txBox="1"/>
            <p:nvPr/>
          </p:nvSpPr>
          <p:spPr>
            <a:xfrm>
              <a:off x="4219" y="1356"/>
              <a:ext cx="591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44"/>
            <p:cNvSpPr txBox="1"/>
            <p:nvPr/>
          </p:nvSpPr>
          <p:spPr>
            <a:xfrm>
              <a:off x="4230" y="1658"/>
              <a:ext cx="591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8" name="Google Shape;268;p44"/>
            <p:cNvGrpSpPr/>
            <p:nvPr/>
          </p:nvGrpSpPr>
          <p:grpSpPr>
            <a:xfrm>
              <a:off x="4737" y="1636"/>
              <a:ext cx="580" cy="151"/>
              <a:chOff x="617" y="2576"/>
              <a:chExt cx="723" cy="139"/>
            </a:xfrm>
          </p:grpSpPr>
          <p:sp>
            <p:nvSpPr>
              <p:cNvPr id="269" name="Google Shape;269;p44"/>
              <p:cNvSpPr/>
              <p:nvPr/>
            </p:nvSpPr>
            <p:spPr>
              <a:xfrm>
                <a:off x="617" y="2576"/>
                <a:ext cx="723" cy="139"/>
              </a:xfrm>
              <a:prstGeom prst="roundRect">
                <a:avLst>
                  <a:gd fmla="val 108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44"/>
              <p:cNvSpPr/>
              <p:nvPr/>
            </p:nvSpPr>
            <p:spPr>
              <a:xfrm>
                <a:off x="631" y="2586"/>
                <a:ext cx="688" cy="108"/>
              </a:xfrm>
              <a:prstGeom prst="roundRect">
                <a:avLst>
                  <a:gd fmla="val 108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1" name="Google Shape;271;p4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2" name="Google Shape;272;p44"/>
            <p:cNvGrpSpPr/>
            <p:nvPr/>
          </p:nvGrpSpPr>
          <p:grpSpPr>
            <a:xfrm>
              <a:off x="4737" y="1328"/>
              <a:ext cx="586" cy="140"/>
              <a:chOff x="612" y="2569"/>
              <a:chExt cx="730" cy="140"/>
            </a:xfrm>
          </p:grpSpPr>
          <p:sp>
            <p:nvSpPr>
              <p:cNvPr id="273" name="Google Shape;273;p44"/>
              <p:cNvSpPr/>
              <p:nvPr/>
            </p:nvSpPr>
            <p:spPr>
              <a:xfrm>
                <a:off x="612" y="2569"/>
                <a:ext cx="730" cy="140"/>
              </a:xfrm>
              <a:prstGeom prst="roundRect">
                <a:avLst>
                  <a:gd fmla="val 108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44"/>
              <p:cNvSpPr/>
              <p:nvPr/>
            </p:nvSpPr>
            <p:spPr>
              <a:xfrm>
                <a:off x="626" y="2586"/>
                <a:ext cx="695" cy="106"/>
              </a:xfrm>
              <a:prstGeom prst="roundRect">
                <a:avLst>
                  <a:gd fmla="val 108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5" name="Google Shape;275;p44"/>
            <p:cNvSpPr txBox="1"/>
            <p:nvPr/>
          </p:nvSpPr>
          <p:spPr>
            <a:xfrm>
              <a:off x="5250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108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4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4"/>
            <p:cNvSpPr/>
            <p:nvPr/>
          </p:nvSpPr>
          <p:spPr>
            <a:xfrm>
              <a:off x="5514" y="2613"/>
              <a:ext cx="51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44"/>
            <p:cNvSpPr/>
            <p:nvPr/>
          </p:nvSpPr>
          <p:spPr>
            <a:xfrm>
              <a:off x="4140" y="2680"/>
              <a:ext cx="1200" cy="145"/>
            </a:xfrm>
            <a:prstGeom prst="roundRect">
              <a:avLst>
                <a:gd fmla="val 108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44"/>
            <p:cNvSpPr/>
            <p:nvPr/>
          </p:nvSpPr>
          <p:spPr>
            <a:xfrm>
              <a:off x="4208" y="2713"/>
              <a:ext cx="1070" cy="78"/>
            </a:xfrm>
            <a:prstGeom prst="roundRect">
              <a:avLst>
                <a:gd fmla="val 108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08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4"/>
            <p:cNvSpPr/>
            <p:nvPr/>
          </p:nvSpPr>
          <p:spPr>
            <a:xfrm>
              <a:off x="4309" y="2384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4"/>
            <p:cNvSpPr/>
            <p:nvPr/>
          </p:nvSpPr>
          <p:spPr>
            <a:xfrm>
              <a:off x="4484" y="2384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4"/>
            <p:cNvSpPr/>
            <p:nvPr/>
          </p:nvSpPr>
          <p:spPr>
            <a:xfrm>
              <a:off x="4664" y="2384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4"/>
            <p:cNvSpPr txBox="1"/>
            <p:nvPr/>
          </p:nvSpPr>
          <p:spPr>
            <a:xfrm>
              <a:off x="5064" y="1836"/>
              <a:ext cx="84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6" name="Google Shape;286;p44"/>
          <p:cNvGrpSpPr/>
          <p:nvPr/>
        </p:nvGrpSpPr>
        <p:grpSpPr>
          <a:xfrm>
            <a:off x="5486400" y="3141662"/>
            <a:ext cx="1101725" cy="560981"/>
            <a:chOff x="3428" y="1798"/>
            <a:chExt cx="694" cy="353"/>
          </a:xfrm>
        </p:grpSpPr>
        <p:grpSp>
          <p:nvGrpSpPr>
            <p:cNvPr id="287" name="Google Shape;287;p44"/>
            <p:cNvGrpSpPr/>
            <p:nvPr/>
          </p:nvGrpSpPr>
          <p:grpSpPr>
            <a:xfrm>
              <a:off x="3625" y="1798"/>
              <a:ext cx="497" cy="353"/>
              <a:chOff x="4416" y="878"/>
              <a:chExt cx="618" cy="467"/>
            </a:xfrm>
          </p:grpSpPr>
          <p:pic>
            <p:nvPicPr>
              <p:cNvPr descr="laptop_keyboard" id="288" name="Google Shape;288;p4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 rot="120000">
                <a:off x="4420" y="1108"/>
                <a:ext cx="527" cy="2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9" name="Google Shape;289;p44"/>
              <p:cNvSpPr/>
              <p:nvPr/>
            </p:nvSpPr>
            <p:spPr>
              <a:xfrm>
                <a:off x="4595" y="888"/>
                <a:ext cx="424" cy="29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screen" id="290" name="Google Shape;290;p4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616" y="895"/>
                <a:ext cx="385" cy="27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1" name="Google Shape;291;p44"/>
              <p:cNvSpPr/>
              <p:nvPr/>
            </p:nvSpPr>
            <p:spPr>
              <a:xfrm>
                <a:off x="4672" y="879"/>
                <a:ext cx="359" cy="55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AEAEA"/>
                  </a:gs>
                  <a:gs pos="100000">
                    <a:srgbClr val="0000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44"/>
              <p:cNvSpPr/>
              <p:nvPr/>
            </p:nvSpPr>
            <p:spPr>
              <a:xfrm>
                <a:off x="4591" y="878"/>
                <a:ext cx="100" cy="230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44"/>
              <p:cNvSpPr/>
              <p:nvPr/>
            </p:nvSpPr>
            <p:spPr>
              <a:xfrm>
                <a:off x="4921" y="920"/>
                <a:ext cx="108" cy="26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44"/>
              <p:cNvSpPr/>
              <p:nvPr/>
            </p:nvSpPr>
            <p:spPr>
              <a:xfrm>
                <a:off x="4590" y="1097"/>
                <a:ext cx="394" cy="89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0000CC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44"/>
              <p:cNvSpPr/>
              <p:nvPr/>
            </p:nvSpPr>
            <p:spPr>
              <a:xfrm>
                <a:off x="4933" y="922"/>
                <a:ext cx="101" cy="266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44"/>
              <p:cNvSpPr/>
              <p:nvPr/>
            </p:nvSpPr>
            <p:spPr>
              <a:xfrm>
                <a:off x="4590" y="1109"/>
                <a:ext cx="351" cy="8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0000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97" name="Google Shape;297;p44"/>
              <p:cNvGrpSpPr/>
              <p:nvPr/>
            </p:nvGrpSpPr>
            <p:grpSpPr>
              <a:xfrm>
                <a:off x="4584" y="1203"/>
                <a:ext cx="119" cy="53"/>
                <a:chOff x="1740" y="2642"/>
                <a:chExt cx="752" cy="327"/>
              </a:xfrm>
            </p:grpSpPr>
            <p:sp>
              <p:nvSpPr>
                <p:cNvPr id="298" name="Google Shape;298;p44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9" name="Google Shape;299;p44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4D4D4D"/>
                    </a:gs>
                  </a:gsLst>
                  <a:lin ang="81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" name="Google Shape;300;p44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" name="Google Shape;301;p44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" name="Google Shape;302;p44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" name="Google Shape;303;p44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04" name="Google Shape;304;p44"/>
              <p:cNvSpPr/>
              <p:nvPr/>
            </p:nvSpPr>
            <p:spPr>
              <a:xfrm>
                <a:off x="4788" y="1211"/>
                <a:ext cx="144" cy="11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44"/>
              <p:cNvSpPr/>
              <p:nvPr/>
            </p:nvSpPr>
            <p:spPr>
              <a:xfrm>
                <a:off x="4420" y="1220"/>
                <a:ext cx="369" cy="10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44"/>
              <p:cNvSpPr/>
              <p:nvPr/>
            </p:nvSpPr>
            <p:spPr>
              <a:xfrm>
                <a:off x="4420" y="1201"/>
                <a:ext cx="4" cy="21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44"/>
              <p:cNvSpPr/>
              <p:nvPr/>
            </p:nvSpPr>
            <p:spPr>
              <a:xfrm>
                <a:off x="4421" y="1114"/>
                <a:ext cx="171" cy="88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44"/>
              <p:cNvSpPr/>
              <p:nvPr/>
            </p:nvSpPr>
            <p:spPr>
              <a:xfrm>
                <a:off x="4432" y="1205"/>
                <a:ext cx="350" cy="1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44"/>
              <p:cNvSpPr/>
              <p:nvPr/>
            </p:nvSpPr>
            <p:spPr>
              <a:xfrm flipH="1" rot="10800000">
                <a:off x="4782" y="1198"/>
                <a:ext cx="142" cy="10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10" name="Google Shape;310;p44"/>
            <p:cNvCxnSpPr/>
            <p:nvPr/>
          </p:nvCxnSpPr>
          <p:spPr>
            <a:xfrm rot="10800000">
              <a:off x="3428" y="2002"/>
              <a:ext cx="27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11" name="Google Shape;311;p44"/>
          <p:cNvSpPr/>
          <p:nvPr/>
        </p:nvSpPr>
        <p:spPr>
          <a:xfrm>
            <a:off x="5754687" y="3698875"/>
            <a:ext cx="976312" cy="374650"/>
          </a:xfrm>
          <a:prstGeom prst="lef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CC0000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" name="Google Shape;312;p44"/>
          <p:cNvCxnSpPr/>
          <p:nvPr/>
        </p:nvCxnSpPr>
        <p:spPr>
          <a:xfrm flipH="1">
            <a:off x="4268787" y="2954337"/>
            <a:ext cx="314325" cy="47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underline_base" id="313" name="Google Shape;313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350" y="931862"/>
            <a:ext cx="63992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4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5"/>
          <p:cNvSpPr txBox="1"/>
          <p:nvPr/>
        </p:nvSpPr>
        <p:spPr>
          <a:xfrm>
            <a:off x="881062" y="1270000"/>
            <a:ext cx="23415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DHCP server: 223.1.2.5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5"/>
          <p:cNvSpPr txBox="1"/>
          <p:nvPr/>
        </p:nvSpPr>
        <p:spPr>
          <a:xfrm>
            <a:off x="6037262" y="1311275"/>
            <a:ext cx="849312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arriving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" name="Google Shape;322;p45"/>
          <p:cNvCxnSpPr/>
          <p:nvPr/>
        </p:nvCxnSpPr>
        <p:spPr>
          <a:xfrm flipH="1">
            <a:off x="1816100" y="2163762"/>
            <a:ext cx="11112" cy="4027487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3" name="Google Shape;323;p45"/>
          <p:cNvCxnSpPr/>
          <p:nvPr/>
        </p:nvCxnSpPr>
        <p:spPr>
          <a:xfrm flipH="1">
            <a:off x="6342062" y="2239962"/>
            <a:ext cx="11112" cy="41402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24" name="Google Shape;324;p45"/>
          <p:cNvGrpSpPr/>
          <p:nvPr/>
        </p:nvGrpSpPr>
        <p:grpSpPr>
          <a:xfrm>
            <a:off x="1860550" y="1343025"/>
            <a:ext cx="4395787" cy="1401762"/>
            <a:chOff x="1860550" y="1343025"/>
            <a:chExt cx="4395788" cy="1401763"/>
          </a:xfrm>
        </p:grpSpPr>
        <p:cxnSp>
          <p:nvCxnSpPr>
            <p:cNvPr id="325" name="Google Shape;325;p45"/>
            <p:cNvCxnSpPr/>
            <p:nvPr/>
          </p:nvCxnSpPr>
          <p:spPr>
            <a:xfrm flipH="1">
              <a:off x="1860550" y="2208213"/>
              <a:ext cx="4395788" cy="536575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26" name="Google Shape;326;p45"/>
            <p:cNvGrpSpPr/>
            <p:nvPr/>
          </p:nvGrpSpPr>
          <p:grpSpPr>
            <a:xfrm>
              <a:off x="3389313" y="1343025"/>
              <a:ext cx="2673350" cy="1116013"/>
              <a:chOff x="11865" y="3885"/>
              <a:chExt cx="3720" cy="1260"/>
            </a:xfrm>
          </p:grpSpPr>
          <p:sp>
            <p:nvSpPr>
              <p:cNvPr id="327" name="Google Shape;327;p45"/>
              <p:cNvSpPr txBox="1"/>
              <p:nvPr/>
            </p:nvSpPr>
            <p:spPr>
              <a:xfrm>
                <a:off x="11865" y="3885"/>
                <a:ext cx="2062" cy="4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 discover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45"/>
              <p:cNvSpPr txBox="1"/>
              <p:nvPr/>
            </p:nvSpPr>
            <p:spPr>
              <a:xfrm>
                <a:off x="12015" y="4231"/>
                <a:ext cx="3570" cy="9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src : 0.0.0.0, 68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dest.: 255.255.255.255,67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yiaddr:    0.0.0.0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transaction ID: 654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329" name="Google Shape;329;p45"/>
          <p:cNvCxnSpPr/>
          <p:nvPr/>
        </p:nvCxnSpPr>
        <p:spPr>
          <a:xfrm>
            <a:off x="1903412" y="3194050"/>
            <a:ext cx="4395787" cy="538162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30" name="Google Shape;330;p45"/>
          <p:cNvGrpSpPr/>
          <p:nvPr/>
        </p:nvGrpSpPr>
        <p:grpSpPr>
          <a:xfrm>
            <a:off x="3562350" y="2579687"/>
            <a:ext cx="2520950" cy="1217612"/>
            <a:chOff x="3562350" y="2579688"/>
            <a:chExt cx="2520950" cy="1217612"/>
          </a:xfrm>
        </p:grpSpPr>
        <p:sp>
          <p:nvSpPr>
            <p:cNvPr id="331" name="Google Shape;331;p45"/>
            <p:cNvSpPr txBox="1"/>
            <p:nvPr/>
          </p:nvSpPr>
          <p:spPr>
            <a:xfrm>
              <a:off x="3562350" y="2579688"/>
              <a:ext cx="1379538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DHCP offer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45"/>
            <p:cNvSpPr txBox="1"/>
            <p:nvPr/>
          </p:nvSpPr>
          <p:spPr>
            <a:xfrm>
              <a:off x="3659188" y="2832100"/>
              <a:ext cx="2424112" cy="96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src: 223.1.2.5, 67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 255.255.255.255, 68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yiaddrr: 223.1.2.4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transaction ID: 654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lifetime: 3600 secs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3" name="Google Shape;333;p45"/>
          <p:cNvCxnSpPr/>
          <p:nvPr/>
        </p:nvCxnSpPr>
        <p:spPr>
          <a:xfrm flipH="1">
            <a:off x="1795462" y="4422775"/>
            <a:ext cx="4395787" cy="5365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34" name="Google Shape;334;p45"/>
          <p:cNvGrpSpPr/>
          <p:nvPr/>
        </p:nvGrpSpPr>
        <p:grpSpPr>
          <a:xfrm>
            <a:off x="1966912" y="3765550"/>
            <a:ext cx="2887662" cy="1260475"/>
            <a:chOff x="1966913" y="3765550"/>
            <a:chExt cx="2887662" cy="1260475"/>
          </a:xfrm>
        </p:grpSpPr>
        <p:sp>
          <p:nvSpPr>
            <p:cNvPr id="335" name="Google Shape;335;p45"/>
            <p:cNvSpPr txBox="1"/>
            <p:nvPr/>
          </p:nvSpPr>
          <p:spPr>
            <a:xfrm>
              <a:off x="1966913" y="3765550"/>
              <a:ext cx="1379537" cy="328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DHCP request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5"/>
            <p:cNvSpPr txBox="1"/>
            <p:nvPr/>
          </p:nvSpPr>
          <p:spPr>
            <a:xfrm>
              <a:off x="2097088" y="4027488"/>
              <a:ext cx="2757487" cy="99853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src:  0.0.0.0, 68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dest::  255.255.255.255, 67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yiaddrr: 223.1.2.4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transaction ID: 655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lifetime: 3600 secs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7" name="Google Shape;337;p45"/>
          <p:cNvCxnSpPr/>
          <p:nvPr/>
        </p:nvCxnSpPr>
        <p:spPr>
          <a:xfrm>
            <a:off x="1881187" y="5453062"/>
            <a:ext cx="4395787" cy="538162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38" name="Google Shape;338;p45"/>
          <p:cNvGrpSpPr/>
          <p:nvPr/>
        </p:nvGrpSpPr>
        <p:grpSpPr>
          <a:xfrm>
            <a:off x="3519487" y="5168900"/>
            <a:ext cx="2509837" cy="1271587"/>
            <a:chOff x="3519488" y="5168900"/>
            <a:chExt cx="2509837" cy="1271588"/>
          </a:xfrm>
        </p:grpSpPr>
        <p:sp>
          <p:nvSpPr>
            <p:cNvPr id="339" name="Google Shape;339;p45"/>
            <p:cNvSpPr txBox="1"/>
            <p:nvPr/>
          </p:nvSpPr>
          <p:spPr>
            <a:xfrm>
              <a:off x="3519488" y="5168900"/>
              <a:ext cx="1379537" cy="328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DHCP ACK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5"/>
            <p:cNvSpPr txBox="1"/>
            <p:nvPr/>
          </p:nvSpPr>
          <p:spPr>
            <a:xfrm>
              <a:off x="3616325" y="5421313"/>
              <a:ext cx="2413000" cy="101917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src: 223.1.2.5, 67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 255.255.255.255, 68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yiaddrr: 223.1.2.4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transaction ID: 655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lifetime: 3600 secs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1" name="Google Shape;341;p45"/>
          <p:cNvGrpSpPr/>
          <p:nvPr/>
        </p:nvGrpSpPr>
        <p:grpSpPr>
          <a:xfrm>
            <a:off x="6290720" y="1781175"/>
            <a:ext cx="787942" cy="560981"/>
            <a:chOff x="4416" y="878"/>
            <a:chExt cx="618" cy="467"/>
          </a:xfrm>
        </p:grpSpPr>
        <p:pic>
          <p:nvPicPr>
            <p:cNvPr descr="laptop_keyboard" id="342" name="Google Shape;342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20000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" name="Google Shape;343;p45"/>
            <p:cNvSpPr/>
            <p:nvPr/>
          </p:nvSpPr>
          <p:spPr>
            <a:xfrm>
              <a:off x="4595" y="888"/>
              <a:ext cx="424" cy="29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344" name="Google Shape;344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45"/>
            <p:cNvSpPr/>
            <p:nvPr/>
          </p:nvSpPr>
          <p:spPr>
            <a:xfrm>
              <a:off x="4672" y="879"/>
              <a:ext cx="359" cy="55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EAEAEA"/>
                </a:gs>
                <a:gs pos="100000">
                  <a:srgbClr val="0000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5"/>
            <p:cNvSpPr/>
            <p:nvPr/>
          </p:nvSpPr>
          <p:spPr>
            <a:xfrm>
              <a:off x="4591" y="878"/>
              <a:ext cx="100" cy="230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5"/>
            <p:cNvSpPr/>
            <p:nvPr/>
          </p:nvSpPr>
          <p:spPr>
            <a:xfrm>
              <a:off x="4921" y="920"/>
              <a:ext cx="108" cy="26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5"/>
            <p:cNvSpPr/>
            <p:nvPr/>
          </p:nvSpPr>
          <p:spPr>
            <a:xfrm>
              <a:off x="4590" y="1097"/>
              <a:ext cx="394" cy="8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CC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5"/>
            <p:cNvSpPr/>
            <p:nvPr/>
          </p:nvSpPr>
          <p:spPr>
            <a:xfrm>
              <a:off x="4933" y="922"/>
              <a:ext cx="101" cy="266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5"/>
            <p:cNvSpPr/>
            <p:nvPr/>
          </p:nvSpPr>
          <p:spPr>
            <a:xfrm>
              <a:off x="4590" y="1109"/>
              <a:ext cx="351" cy="8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0000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1" name="Google Shape;351;p45"/>
            <p:cNvGrpSpPr/>
            <p:nvPr/>
          </p:nvGrpSpPr>
          <p:grpSpPr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352" name="Google Shape;352;p45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45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4D4D4D"/>
                  </a:gs>
                </a:gsLst>
                <a:lin ang="81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45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45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45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45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8" name="Google Shape;358;p45"/>
            <p:cNvSpPr/>
            <p:nvPr/>
          </p:nvSpPr>
          <p:spPr>
            <a:xfrm>
              <a:off x="4788" y="1211"/>
              <a:ext cx="144" cy="11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45"/>
            <p:cNvSpPr/>
            <p:nvPr/>
          </p:nvSpPr>
          <p:spPr>
            <a:xfrm>
              <a:off x="4420" y="1220"/>
              <a:ext cx="369" cy="10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45"/>
            <p:cNvSpPr/>
            <p:nvPr/>
          </p:nvSpPr>
          <p:spPr>
            <a:xfrm>
              <a:off x="4420" y="1201"/>
              <a:ext cx="4" cy="21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5"/>
            <p:cNvSpPr/>
            <p:nvPr/>
          </p:nvSpPr>
          <p:spPr>
            <a:xfrm>
              <a:off x="4421" y="1114"/>
              <a:ext cx="171" cy="88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5"/>
            <p:cNvSpPr/>
            <p:nvPr/>
          </p:nvSpPr>
          <p:spPr>
            <a:xfrm>
              <a:off x="4432" y="1205"/>
              <a:ext cx="350" cy="1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45"/>
            <p:cNvSpPr/>
            <p:nvPr/>
          </p:nvSpPr>
          <p:spPr>
            <a:xfrm flipH="1" rot="10800000">
              <a:off x="4782" y="1198"/>
              <a:ext cx="142" cy="10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4" name="Google Shape;364;p45"/>
          <p:cNvGrpSpPr/>
          <p:nvPr/>
        </p:nvGrpSpPr>
        <p:grpSpPr>
          <a:xfrm>
            <a:off x="1717675" y="1590675"/>
            <a:ext cx="334962" cy="536575"/>
            <a:chOff x="4140" y="429"/>
            <a:chExt cx="1425" cy="2396"/>
          </a:xfrm>
        </p:grpSpPr>
        <p:sp>
          <p:nvSpPr>
            <p:cNvPr id="365" name="Google Shape;365;p4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333333"/>
                </a:gs>
                <a:gs pos="100000">
                  <a:srgbClr val="DDDDDD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45"/>
            <p:cNvSpPr txBox="1"/>
            <p:nvPr/>
          </p:nvSpPr>
          <p:spPr>
            <a:xfrm>
              <a:off x="4208" y="429"/>
              <a:ext cx="1047" cy="2283"/>
            </a:xfrm>
            <a:prstGeom prst="rect">
              <a:avLst/>
            </a:pr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F8F8F8"/>
                </a:gs>
                <a:gs pos="100000">
                  <a:srgbClr val="808080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45"/>
            <p:cNvSpPr txBox="1"/>
            <p:nvPr/>
          </p:nvSpPr>
          <p:spPr>
            <a:xfrm>
              <a:off x="4214" y="691"/>
              <a:ext cx="594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0" name="Google Shape;370;p45"/>
            <p:cNvGrpSpPr/>
            <p:nvPr/>
          </p:nvGrpSpPr>
          <p:grpSpPr>
            <a:xfrm>
              <a:off x="4748" y="670"/>
              <a:ext cx="581" cy="142"/>
              <a:chOff x="613" y="2570"/>
              <a:chExt cx="725" cy="136"/>
            </a:xfrm>
          </p:grpSpPr>
          <p:sp>
            <p:nvSpPr>
              <p:cNvPr id="371" name="Google Shape;371;p45"/>
              <p:cNvSpPr/>
              <p:nvPr/>
            </p:nvSpPr>
            <p:spPr>
              <a:xfrm>
                <a:off x="613" y="2570"/>
                <a:ext cx="725" cy="136"/>
              </a:xfrm>
              <a:prstGeom prst="roundRect">
                <a:avLst>
                  <a:gd fmla="val 108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45"/>
              <p:cNvSpPr/>
              <p:nvPr/>
            </p:nvSpPr>
            <p:spPr>
              <a:xfrm>
                <a:off x="629" y="2584"/>
                <a:ext cx="691" cy="109"/>
              </a:xfrm>
              <a:prstGeom prst="roundRect">
                <a:avLst>
                  <a:gd fmla="val 108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3" name="Google Shape;373;p45"/>
            <p:cNvSpPr txBox="1"/>
            <p:nvPr/>
          </p:nvSpPr>
          <p:spPr>
            <a:xfrm>
              <a:off x="4221" y="1017"/>
              <a:ext cx="601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4" name="Google Shape;374;p45"/>
            <p:cNvGrpSpPr/>
            <p:nvPr/>
          </p:nvGrpSpPr>
          <p:grpSpPr>
            <a:xfrm>
              <a:off x="4748" y="996"/>
              <a:ext cx="581" cy="135"/>
              <a:chOff x="615" y="2570"/>
              <a:chExt cx="725" cy="140"/>
            </a:xfrm>
          </p:grpSpPr>
          <p:sp>
            <p:nvSpPr>
              <p:cNvPr id="375" name="Google Shape;375;p45"/>
              <p:cNvSpPr/>
              <p:nvPr/>
            </p:nvSpPr>
            <p:spPr>
              <a:xfrm>
                <a:off x="615" y="2570"/>
                <a:ext cx="725" cy="140"/>
              </a:xfrm>
              <a:prstGeom prst="roundRect">
                <a:avLst>
                  <a:gd fmla="val 108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45"/>
              <p:cNvSpPr/>
              <p:nvPr/>
            </p:nvSpPr>
            <p:spPr>
              <a:xfrm>
                <a:off x="632" y="2585"/>
                <a:ext cx="691" cy="110"/>
              </a:xfrm>
              <a:prstGeom prst="roundRect">
                <a:avLst>
                  <a:gd fmla="val 108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7" name="Google Shape;377;p45"/>
            <p:cNvSpPr txBox="1"/>
            <p:nvPr/>
          </p:nvSpPr>
          <p:spPr>
            <a:xfrm>
              <a:off x="4214" y="1358"/>
              <a:ext cx="601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5"/>
            <p:cNvSpPr txBox="1"/>
            <p:nvPr/>
          </p:nvSpPr>
          <p:spPr>
            <a:xfrm>
              <a:off x="4228" y="1655"/>
              <a:ext cx="594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9" name="Google Shape;379;p45"/>
            <p:cNvGrpSpPr/>
            <p:nvPr/>
          </p:nvGrpSpPr>
          <p:grpSpPr>
            <a:xfrm>
              <a:off x="4734" y="1627"/>
              <a:ext cx="581" cy="149"/>
              <a:chOff x="613" y="2568"/>
              <a:chExt cx="724" cy="137"/>
            </a:xfrm>
          </p:grpSpPr>
          <p:sp>
            <p:nvSpPr>
              <p:cNvPr id="380" name="Google Shape;380;p45"/>
              <p:cNvSpPr/>
              <p:nvPr/>
            </p:nvSpPr>
            <p:spPr>
              <a:xfrm>
                <a:off x="613" y="2568"/>
                <a:ext cx="724" cy="137"/>
              </a:xfrm>
              <a:prstGeom prst="roundRect">
                <a:avLst>
                  <a:gd fmla="val 108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45"/>
              <p:cNvSpPr/>
              <p:nvPr/>
            </p:nvSpPr>
            <p:spPr>
              <a:xfrm>
                <a:off x="630" y="2581"/>
                <a:ext cx="690" cy="104"/>
              </a:xfrm>
              <a:prstGeom prst="roundRect">
                <a:avLst>
                  <a:gd fmla="val 108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2" name="Google Shape;382;p4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3" name="Google Shape;383;p45"/>
            <p:cNvGrpSpPr/>
            <p:nvPr/>
          </p:nvGrpSpPr>
          <p:grpSpPr>
            <a:xfrm>
              <a:off x="4741" y="1329"/>
              <a:ext cx="581" cy="135"/>
              <a:chOff x="617" y="2570"/>
              <a:chExt cx="724" cy="135"/>
            </a:xfrm>
          </p:grpSpPr>
          <p:sp>
            <p:nvSpPr>
              <p:cNvPr id="384" name="Google Shape;384;p45"/>
              <p:cNvSpPr/>
              <p:nvPr/>
            </p:nvSpPr>
            <p:spPr>
              <a:xfrm>
                <a:off x="617" y="2570"/>
                <a:ext cx="724" cy="135"/>
              </a:xfrm>
              <a:prstGeom prst="roundRect">
                <a:avLst>
                  <a:gd fmla="val 108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45"/>
              <p:cNvSpPr/>
              <p:nvPr/>
            </p:nvSpPr>
            <p:spPr>
              <a:xfrm>
                <a:off x="633" y="2584"/>
                <a:ext cx="690" cy="106"/>
              </a:xfrm>
              <a:prstGeom prst="roundRect">
                <a:avLst>
                  <a:gd fmla="val 108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6" name="Google Shape;386;p45"/>
            <p:cNvSpPr txBox="1"/>
            <p:nvPr/>
          </p:nvSpPr>
          <p:spPr>
            <a:xfrm>
              <a:off x="5248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108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5"/>
            <p:cNvSpPr/>
            <p:nvPr/>
          </p:nvSpPr>
          <p:spPr>
            <a:xfrm>
              <a:off x="5518" y="2612"/>
              <a:ext cx="47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5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108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5"/>
            <p:cNvSpPr/>
            <p:nvPr/>
          </p:nvSpPr>
          <p:spPr>
            <a:xfrm>
              <a:off x="4208" y="2712"/>
              <a:ext cx="1067" cy="78"/>
            </a:xfrm>
            <a:prstGeom prst="roundRect">
              <a:avLst>
                <a:gd fmla="val 108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08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5"/>
            <p:cNvSpPr/>
            <p:nvPr/>
          </p:nvSpPr>
          <p:spPr>
            <a:xfrm>
              <a:off x="4309" y="2385"/>
              <a:ext cx="155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5"/>
            <p:cNvSpPr/>
            <p:nvPr/>
          </p:nvSpPr>
          <p:spPr>
            <a:xfrm>
              <a:off x="4484" y="2385"/>
              <a:ext cx="162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5"/>
            <p:cNvSpPr/>
            <p:nvPr/>
          </p:nvSpPr>
          <p:spPr>
            <a:xfrm>
              <a:off x="4660" y="2378"/>
              <a:ext cx="162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5"/>
            <p:cNvSpPr txBox="1"/>
            <p:nvPr/>
          </p:nvSpPr>
          <p:spPr>
            <a:xfrm>
              <a:off x="5065" y="1833"/>
              <a:ext cx="81" cy="76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7" name="Google Shape;397;p45"/>
          <p:cNvSpPr txBox="1"/>
          <p:nvPr>
            <p:ph type="title"/>
          </p:nvPr>
        </p:nvSpPr>
        <p:spPr>
          <a:xfrm>
            <a:off x="438150" y="255587"/>
            <a:ext cx="6824662" cy="898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DHCP client-server scenario</a:t>
            </a:r>
            <a:endParaRPr/>
          </a:p>
        </p:txBody>
      </p:sp>
      <p:pic>
        <p:nvPicPr>
          <p:cNvPr descr="underline_base" id="398" name="Google Shape;398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350" y="931862"/>
            <a:ext cx="6399212" cy="173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9" name="Google Shape;399;p45"/>
          <p:cNvGrpSpPr/>
          <p:nvPr/>
        </p:nvGrpSpPr>
        <p:grpSpPr>
          <a:xfrm>
            <a:off x="3505200" y="1663700"/>
            <a:ext cx="2540000" cy="733425"/>
            <a:chOff x="7333085" y="2736938"/>
            <a:chExt cx="2539755" cy="733428"/>
          </a:xfrm>
        </p:grpSpPr>
        <p:sp>
          <p:nvSpPr>
            <p:cNvPr id="400" name="Google Shape;400;p45"/>
            <p:cNvSpPr txBox="1"/>
            <p:nvPr/>
          </p:nvSpPr>
          <p:spPr>
            <a:xfrm>
              <a:off x="7333085" y="2736938"/>
              <a:ext cx="2521866" cy="7334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5"/>
            <p:cNvSpPr txBox="1"/>
            <p:nvPr/>
          </p:nvSpPr>
          <p:spPr>
            <a:xfrm>
              <a:off x="7344917" y="2797391"/>
              <a:ext cx="2527923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Broadcast: is there a DHCP server out there?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2" name="Google Shape;402;p45"/>
          <p:cNvGrpSpPr/>
          <p:nvPr/>
        </p:nvGrpSpPr>
        <p:grpSpPr>
          <a:xfrm>
            <a:off x="3670300" y="2871787"/>
            <a:ext cx="2528887" cy="884237"/>
            <a:chOff x="9144000" y="3229217"/>
            <a:chExt cx="2527923" cy="885135"/>
          </a:xfrm>
        </p:grpSpPr>
        <p:sp>
          <p:nvSpPr>
            <p:cNvPr id="403" name="Google Shape;403;p45"/>
            <p:cNvSpPr txBox="1"/>
            <p:nvPr/>
          </p:nvSpPr>
          <p:spPr>
            <a:xfrm>
              <a:off x="9144000" y="3229217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45"/>
            <p:cNvSpPr txBox="1"/>
            <p:nvPr/>
          </p:nvSpPr>
          <p:spPr>
            <a:xfrm>
              <a:off x="9144000" y="3271783"/>
              <a:ext cx="2527923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Broadcast: I’m a DHCP server! Here’s an IP address you can use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5" name="Google Shape;405;p45"/>
          <p:cNvGrpSpPr/>
          <p:nvPr/>
        </p:nvGrpSpPr>
        <p:grpSpPr>
          <a:xfrm>
            <a:off x="2286000" y="4097337"/>
            <a:ext cx="2527300" cy="884237"/>
            <a:chOff x="8956574" y="4615923"/>
            <a:chExt cx="2527923" cy="885135"/>
          </a:xfrm>
        </p:grpSpPr>
        <p:sp>
          <p:nvSpPr>
            <p:cNvPr id="406" name="Google Shape;406;p45"/>
            <p:cNvSpPr txBox="1"/>
            <p:nvPr/>
          </p:nvSpPr>
          <p:spPr>
            <a:xfrm>
              <a:off x="8956574" y="4615923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5"/>
            <p:cNvSpPr txBox="1"/>
            <p:nvPr/>
          </p:nvSpPr>
          <p:spPr>
            <a:xfrm>
              <a:off x="8956574" y="4765817"/>
              <a:ext cx="2527923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Broadcast: OK.  I’ll take that IP address!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8" name="Google Shape;408;p45"/>
          <p:cNvGrpSpPr/>
          <p:nvPr/>
        </p:nvGrpSpPr>
        <p:grpSpPr>
          <a:xfrm>
            <a:off x="3652837" y="5465762"/>
            <a:ext cx="2528764" cy="885825"/>
            <a:chOff x="9144000" y="5555417"/>
            <a:chExt cx="2527800" cy="885135"/>
          </a:xfrm>
        </p:grpSpPr>
        <p:sp>
          <p:nvSpPr>
            <p:cNvPr id="409" name="Google Shape;409;p45"/>
            <p:cNvSpPr txBox="1"/>
            <p:nvPr/>
          </p:nvSpPr>
          <p:spPr>
            <a:xfrm>
              <a:off x="9144000" y="5555417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5"/>
            <p:cNvSpPr txBox="1"/>
            <p:nvPr/>
          </p:nvSpPr>
          <p:spPr>
            <a:xfrm>
              <a:off x="9144000" y="5705311"/>
              <a:ext cx="2527800" cy="5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Broadcast: OK.  You’ve got that IP address!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1" name="Google Shape;411;p45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6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DHCP: more than IP addresses</a:t>
            </a:r>
            <a:endParaRPr/>
          </a:p>
        </p:txBody>
      </p:sp>
      <p:sp>
        <p:nvSpPr>
          <p:cNvPr id="417" name="Google Shape;417;p46"/>
          <p:cNvSpPr txBox="1"/>
          <p:nvPr>
            <p:ph idx="1" type="body"/>
          </p:nvPr>
        </p:nvSpPr>
        <p:spPr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DHCP can return more than just allocated IP address on subnet: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address of first-hop router for client</a:t>
            </a:r>
            <a:endParaRPr>
              <a:solidFill>
                <a:schemeClr val="accent6"/>
              </a:solidFill>
            </a:endParaRPr>
          </a:p>
          <a:p>
            <a:pPr indent="-231775" lvl="1" marL="68897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name and IP address of DNS sever</a:t>
            </a:r>
            <a:endParaRPr>
              <a:solidFill>
                <a:schemeClr val="accent6"/>
              </a:solidFill>
            </a:endParaRPr>
          </a:p>
          <a:p>
            <a:pPr indent="-231775" lvl="1" marL="68897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network mask </a:t>
            </a:r>
            <a:endParaRPr b="0" i="0" sz="2400" u="none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81000" lvl="2" marL="13716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indicating network versus host portion of address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descr="underline_base" id="418" name="Google Shape;41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662" y="1047750"/>
            <a:ext cx="68564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6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 txBox="1"/>
          <p:nvPr>
            <p:ph idx="1" type="body"/>
          </p:nvPr>
        </p:nvSpPr>
        <p:spPr>
          <a:xfrm>
            <a:off x="5037137" y="1284287"/>
            <a:ext cx="3421062" cy="126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1" lvl="0" marL="23336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connecting laptop needs its IP address, addr of first-hop router, addr of DNS server: use DHCP</a:t>
            </a:r>
            <a:endParaRPr/>
          </a:p>
        </p:txBody>
      </p:sp>
      <p:sp>
        <p:nvSpPr>
          <p:cNvPr id="425" name="Google Shape;425;p47"/>
          <p:cNvSpPr/>
          <p:nvPr/>
        </p:nvSpPr>
        <p:spPr>
          <a:xfrm>
            <a:off x="773112" y="1428750"/>
            <a:ext cx="3554412" cy="2754312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6" name="Google Shape;426;p47"/>
          <p:cNvCxnSpPr/>
          <p:nvPr/>
        </p:nvCxnSpPr>
        <p:spPr>
          <a:xfrm flipH="1" rot="10800000">
            <a:off x="3775075" y="2500312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7" name="Google Shape;427;p47"/>
          <p:cNvCxnSpPr/>
          <p:nvPr/>
        </p:nvCxnSpPr>
        <p:spPr>
          <a:xfrm>
            <a:off x="2665412" y="2673350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8" name="Google Shape;428;p47"/>
          <p:cNvCxnSpPr/>
          <p:nvPr/>
        </p:nvCxnSpPr>
        <p:spPr>
          <a:xfrm flipH="1" rot="10800000">
            <a:off x="3924300" y="2357437"/>
            <a:ext cx="138112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9" name="Google Shape;429;p47"/>
          <p:cNvCxnSpPr/>
          <p:nvPr/>
        </p:nvCxnSpPr>
        <p:spPr>
          <a:xfrm flipH="1" rot="10800000">
            <a:off x="3279775" y="2892425"/>
            <a:ext cx="512762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0" name="Google Shape;430;p47"/>
          <p:cNvSpPr txBox="1"/>
          <p:nvPr/>
        </p:nvSpPr>
        <p:spPr>
          <a:xfrm>
            <a:off x="2562225" y="3967162"/>
            <a:ext cx="20256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router with DHCP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 built into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7"/>
          <p:cNvSpPr txBox="1"/>
          <p:nvPr/>
        </p:nvSpPr>
        <p:spPr>
          <a:xfrm>
            <a:off x="5037137" y="2574925"/>
            <a:ext cx="3892550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1" lvl="0" marL="23336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DHCP request encapsulated in UDP, encapsulated in IP, encapsulated in 802.1 Ethernet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7"/>
          <p:cNvSpPr txBox="1"/>
          <p:nvPr/>
        </p:nvSpPr>
        <p:spPr>
          <a:xfrm>
            <a:off x="5056187" y="3821112"/>
            <a:ext cx="3924300" cy="156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1" lvl="0" marL="23336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Ethernet frame broadcast (dest: </a:t>
            </a:r>
            <a:r>
              <a:rPr b="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FFFFFFFFFFFF</a:t>
            </a:r>
            <a:r>
              <a:rPr b="0" i="0" lang="en-US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) on LAN, received at router running DHCP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7"/>
          <p:cNvSpPr txBox="1"/>
          <p:nvPr/>
        </p:nvSpPr>
        <p:spPr>
          <a:xfrm>
            <a:off x="5033962" y="5157787"/>
            <a:ext cx="3802062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1" lvl="0" marL="23336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Ethernet demuxed to IP demuxed, UDP demuxed to DHCP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7"/>
          <p:cNvSpPr txBox="1"/>
          <p:nvPr/>
        </p:nvSpPr>
        <p:spPr>
          <a:xfrm>
            <a:off x="3327400" y="3284537"/>
            <a:ext cx="104775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168.1.1.1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5" name="Google Shape;435;p47"/>
          <p:cNvGrpSpPr/>
          <p:nvPr/>
        </p:nvGrpSpPr>
        <p:grpSpPr>
          <a:xfrm>
            <a:off x="3140075" y="2598737"/>
            <a:ext cx="963612" cy="300037"/>
            <a:chOff x="4410" y="1365"/>
            <a:chExt cx="663" cy="224"/>
          </a:xfrm>
        </p:grpSpPr>
        <p:sp>
          <p:nvSpPr>
            <p:cNvPr id="436" name="Google Shape;436;p47"/>
            <p:cNvSpPr txBox="1"/>
            <p:nvPr/>
          </p:nvSpPr>
          <p:spPr>
            <a:xfrm>
              <a:off x="4410" y="1500"/>
              <a:ext cx="495" cy="87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009999"/>
                </a:gs>
              </a:gsLst>
              <a:lin ang="108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47"/>
            <p:cNvSpPr/>
            <p:nvPr/>
          </p:nvSpPr>
          <p:spPr>
            <a:xfrm>
              <a:off x="4410" y="1369"/>
              <a:ext cx="663" cy="134"/>
            </a:xfrm>
            <a:prstGeom prst="parallelogram">
              <a:avLst>
                <a:gd fmla="val 5360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009999"/>
                </a:gs>
              </a:gsLst>
              <a:lin ang="108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7"/>
            <p:cNvSpPr/>
            <p:nvPr/>
          </p:nvSpPr>
          <p:spPr>
            <a:xfrm>
              <a:off x="4904" y="1365"/>
              <a:ext cx="169" cy="224"/>
            </a:xfrm>
            <a:custGeom>
              <a:rect b="b" l="l" r="r" t="t"/>
              <a:pathLst>
                <a:path extrusionOk="0" h="224" w="169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7"/>
            <p:cNvSpPr/>
            <p:nvPr/>
          </p:nvSpPr>
          <p:spPr>
            <a:xfrm>
              <a:off x="4475" y="1395"/>
              <a:ext cx="506" cy="80"/>
            </a:xfrm>
            <a:custGeom>
              <a:rect b="b" l="l" r="r" t="t"/>
              <a:pathLst>
                <a:path extrusionOk="0" h="63" w="280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47"/>
            <p:cNvSpPr/>
            <p:nvPr/>
          </p:nvSpPr>
          <p:spPr>
            <a:xfrm>
              <a:off x="4593" y="1391"/>
              <a:ext cx="293" cy="93"/>
            </a:xfrm>
            <a:custGeom>
              <a:rect b="b" l="l" r="r" t="t"/>
              <a:pathLst>
                <a:path extrusionOk="0" h="93" w="2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1" name="Google Shape;441;p47"/>
          <p:cNvGrpSpPr/>
          <p:nvPr/>
        </p:nvGrpSpPr>
        <p:grpSpPr>
          <a:xfrm>
            <a:off x="2674937" y="3525837"/>
            <a:ext cx="1066800" cy="406400"/>
            <a:chOff x="4396" y="1245"/>
            <a:chExt cx="672" cy="248"/>
          </a:xfrm>
        </p:grpSpPr>
        <p:sp>
          <p:nvSpPr>
            <p:cNvPr id="442" name="Google Shape;442;p4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CCCCFF"/>
                </a:gs>
              </a:gsLst>
              <a:lin ang="10800000" scaled="0"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47"/>
            <p:cNvSpPr txBox="1"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CCCC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47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CCCCFF"/>
                </a:gs>
              </a:gsLst>
              <a:lin ang="10800000" scaled="0"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5" name="Google Shape;445;p47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446" name="Google Shape;446;p47"/>
              <p:cNvSpPr/>
              <p:nvPr/>
            </p:nvSpPr>
            <p:spPr>
              <a:xfrm>
                <a:off x="2468" y="1332"/>
                <a:ext cx="310" cy="60"/>
              </a:xfrm>
              <a:custGeom>
                <a:rect b="b" l="l" r="r" t="t"/>
                <a:pathLst>
                  <a:path extrusionOk="0" h="60" w="31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47"/>
              <p:cNvSpPr/>
              <p:nvPr/>
            </p:nvSpPr>
            <p:spPr>
              <a:xfrm>
                <a:off x="2482" y="1332"/>
                <a:ext cx="282" cy="60"/>
              </a:xfrm>
              <a:custGeom>
                <a:rect b="b" l="l" r="r" t="t"/>
                <a:pathLst>
                  <a:path extrusionOk="0" h="60" w="282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48" name="Google Shape;448;p47"/>
            <p:cNvCxnSpPr/>
            <p:nvPr/>
          </p:nvCxnSpPr>
          <p:spPr>
            <a:xfrm>
              <a:off x="4399" y="1321"/>
              <a:ext cx="0" cy="10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9" name="Google Shape;449;p47"/>
            <p:cNvCxnSpPr/>
            <p:nvPr/>
          </p:nvCxnSpPr>
          <p:spPr>
            <a:xfrm>
              <a:off x="5063" y="1326"/>
              <a:ext cx="0" cy="10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50" name="Google Shape;450;p47"/>
          <p:cNvGrpSpPr/>
          <p:nvPr/>
        </p:nvGrpSpPr>
        <p:grpSpPr>
          <a:xfrm>
            <a:off x="2706687" y="3330575"/>
            <a:ext cx="423862" cy="647700"/>
            <a:chOff x="4140" y="429"/>
            <a:chExt cx="1425" cy="2396"/>
          </a:xfrm>
        </p:grpSpPr>
        <p:sp>
          <p:nvSpPr>
            <p:cNvPr id="451" name="Google Shape;451;p4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333333"/>
                </a:gs>
                <a:gs pos="100000">
                  <a:srgbClr val="DDDDDD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7"/>
            <p:cNvSpPr txBox="1"/>
            <p:nvPr/>
          </p:nvSpPr>
          <p:spPr>
            <a:xfrm>
              <a:off x="4204" y="429"/>
              <a:ext cx="1051" cy="2284"/>
            </a:xfrm>
            <a:prstGeom prst="rect">
              <a:avLst/>
            </a:pr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F8F8F8"/>
                </a:gs>
                <a:gs pos="100000">
                  <a:srgbClr val="808080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7"/>
            <p:cNvSpPr txBox="1"/>
            <p:nvPr/>
          </p:nvSpPr>
          <p:spPr>
            <a:xfrm>
              <a:off x="4209" y="693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6" name="Google Shape;456;p47"/>
            <p:cNvGrpSpPr/>
            <p:nvPr/>
          </p:nvGrpSpPr>
          <p:grpSpPr>
            <a:xfrm>
              <a:off x="4748" y="670"/>
              <a:ext cx="582" cy="141"/>
              <a:chOff x="613" y="2570"/>
              <a:chExt cx="726" cy="135"/>
            </a:xfrm>
          </p:grpSpPr>
          <p:sp>
            <p:nvSpPr>
              <p:cNvPr id="457" name="Google Shape;457;p47"/>
              <p:cNvSpPr/>
              <p:nvPr/>
            </p:nvSpPr>
            <p:spPr>
              <a:xfrm>
                <a:off x="613" y="2570"/>
                <a:ext cx="726" cy="135"/>
              </a:xfrm>
              <a:prstGeom prst="roundRect">
                <a:avLst>
                  <a:gd fmla="val 108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47"/>
              <p:cNvSpPr/>
              <p:nvPr/>
            </p:nvSpPr>
            <p:spPr>
              <a:xfrm>
                <a:off x="627" y="2587"/>
                <a:ext cx="693" cy="101"/>
              </a:xfrm>
              <a:prstGeom prst="roundRect">
                <a:avLst>
                  <a:gd fmla="val 108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9" name="Google Shape;459;p47"/>
            <p:cNvSpPr txBox="1"/>
            <p:nvPr/>
          </p:nvSpPr>
          <p:spPr>
            <a:xfrm>
              <a:off x="4225" y="1016"/>
              <a:ext cx="592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" name="Google Shape;460;p47"/>
            <p:cNvGrpSpPr/>
            <p:nvPr/>
          </p:nvGrpSpPr>
          <p:grpSpPr>
            <a:xfrm>
              <a:off x="4749" y="993"/>
              <a:ext cx="582" cy="135"/>
              <a:chOff x="616" y="2567"/>
              <a:chExt cx="726" cy="140"/>
            </a:xfrm>
          </p:grpSpPr>
          <p:sp>
            <p:nvSpPr>
              <p:cNvPr id="461" name="Google Shape;461;p47"/>
              <p:cNvSpPr/>
              <p:nvPr/>
            </p:nvSpPr>
            <p:spPr>
              <a:xfrm>
                <a:off x="616" y="2567"/>
                <a:ext cx="726" cy="140"/>
              </a:xfrm>
              <a:prstGeom prst="roundRect">
                <a:avLst>
                  <a:gd fmla="val 108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47"/>
              <p:cNvSpPr/>
              <p:nvPr/>
            </p:nvSpPr>
            <p:spPr>
              <a:xfrm>
                <a:off x="629" y="2585"/>
                <a:ext cx="693" cy="104"/>
              </a:xfrm>
              <a:prstGeom prst="roundRect">
                <a:avLst>
                  <a:gd fmla="val 108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3" name="Google Shape;463;p47"/>
            <p:cNvSpPr txBox="1"/>
            <p:nvPr/>
          </p:nvSpPr>
          <p:spPr>
            <a:xfrm>
              <a:off x="4215" y="1357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7"/>
            <p:cNvSpPr txBox="1"/>
            <p:nvPr/>
          </p:nvSpPr>
          <p:spPr>
            <a:xfrm>
              <a:off x="4225" y="1656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5" name="Google Shape;465;p47"/>
            <p:cNvGrpSpPr/>
            <p:nvPr/>
          </p:nvGrpSpPr>
          <p:grpSpPr>
            <a:xfrm>
              <a:off x="4733" y="1627"/>
              <a:ext cx="587" cy="153"/>
              <a:chOff x="611" y="2568"/>
              <a:chExt cx="731" cy="141"/>
            </a:xfrm>
          </p:grpSpPr>
          <p:sp>
            <p:nvSpPr>
              <p:cNvPr id="466" name="Google Shape;466;p47"/>
              <p:cNvSpPr/>
              <p:nvPr/>
            </p:nvSpPr>
            <p:spPr>
              <a:xfrm>
                <a:off x="611" y="2568"/>
                <a:ext cx="731" cy="141"/>
              </a:xfrm>
              <a:prstGeom prst="roundRect">
                <a:avLst>
                  <a:gd fmla="val 108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47"/>
              <p:cNvSpPr/>
              <p:nvPr/>
            </p:nvSpPr>
            <p:spPr>
              <a:xfrm>
                <a:off x="624" y="2584"/>
                <a:ext cx="698" cy="108"/>
              </a:xfrm>
              <a:prstGeom prst="roundRect">
                <a:avLst>
                  <a:gd fmla="val 108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8" name="Google Shape;468;p4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9" name="Google Shape;469;p47"/>
            <p:cNvGrpSpPr/>
            <p:nvPr/>
          </p:nvGrpSpPr>
          <p:grpSpPr>
            <a:xfrm>
              <a:off x="4737" y="1328"/>
              <a:ext cx="582" cy="147"/>
              <a:chOff x="612" y="2569"/>
              <a:chExt cx="725" cy="147"/>
            </a:xfrm>
          </p:grpSpPr>
          <p:sp>
            <p:nvSpPr>
              <p:cNvPr id="470" name="Google Shape;470;p47"/>
              <p:cNvSpPr/>
              <p:nvPr/>
            </p:nvSpPr>
            <p:spPr>
              <a:xfrm>
                <a:off x="612" y="2569"/>
                <a:ext cx="725" cy="147"/>
              </a:xfrm>
              <a:prstGeom prst="roundRect">
                <a:avLst>
                  <a:gd fmla="val 108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47"/>
              <p:cNvSpPr/>
              <p:nvPr/>
            </p:nvSpPr>
            <p:spPr>
              <a:xfrm>
                <a:off x="626" y="2586"/>
                <a:ext cx="691" cy="106"/>
              </a:xfrm>
              <a:prstGeom prst="roundRect">
                <a:avLst>
                  <a:gd fmla="val 108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2" name="Google Shape;472;p47"/>
            <p:cNvSpPr txBox="1"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108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7"/>
            <p:cNvSpPr/>
            <p:nvPr/>
          </p:nvSpPr>
          <p:spPr>
            <a:xfrm>
              <a:off x="5517" y="2614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7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108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7"/>
            <p:cNvSpPr/>
            <p:nvPr/>
          </p:nvSpPr>
          <p:spPr>
            <a:xfrm>
              <a:off x="4204" y="2713"/>
              <a:ext cx="1073" cy="82"/>
            </a:xfrm>
            <a:prstGeom prst="roundRect">
              <a:avLst>
                <a:gd fmla="val 108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08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7"/>
            <p:cNvSpPr/>
            <p:nvPr/>
          </p:nvSpPr>
          <p:spPr>
            <a:xfrm>
              <a:off x="4305" y="2385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7"/>
            <p:cNvSpPr/>
            <p:nvPr/>
          </p:nvSpPr>
          <p:spPr>
            <a:xfrm>
              <a:off x="4487" y="2385"/>
              <a:ext cx="160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7"/>
            <p:cNvSpPr/>
            <p:nvPr/>
          </p:nvSpPr>
          <p:spPr>
            <a:xfrm>
              <a:off x="4663" y="2379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7"/>
            <p:cNvSpPr txBox="1"/>
            <p:nvPr/>
          </p:nvSpPr>
          <p:spPr>
            <a:xfrm>
              <a:off x="5063" y="1833"/>
              <a:ext cx="85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3" name="Google Shape;483;p47"/>
          <p:cNvGrpSpPr/>
          <p:nvPr/>
        </p:nvGrpSpPr>
        <p:grpSpPr>
          <a:xfrm>
            <a:off x="1973993" y="2295525"/>
            <a:ext cx="854932" cy="629074"/>
            <a:chOff x="4416" y="878"/>
            <a:chExt cx="618" cy="467"/>
          </a:xfrm>
        </p:grpSpPr>
        <p:pic>
          <p:nvPicPr>
            <p:cNvPr descr="laptop_keyboard" id="484" name="Google Shape;484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20000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5" name="Google Shape;485;p47"/>
            <p:cNvSpPr/>
            <p:nvPr/>
          </p:nvSpPr>
          <p:spPr>
            <a:xfrm>
              <a:off x="4595" y="888"/>
              <a:ext cx="424" cy="29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486" name="Google Shape;486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p47"/>
            <p:cNvSpPr/>
            <p:nvPr/>
          </p:nvSpPr>
          <p:spPr>
            <a:xfrm>
              <a:off x="4672" y="879"/>
              <a:ext cx="359" cy="55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EAEAEA"/>
                </a:gs>
                <a:gs pos="100000">
                  <a:srgbClr val="0000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7"/>
            <p:cNvSpPr/>
            <p:nvPr/>
          </p:nvSpPr>
          <p:spPr>
            <a:xfrm>
              <a:off x="4591" y="878"/>
              <a:ext cx="100" cy="230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7"/>
            <p:cNvSpPr/>
            <p:nvPr/>
          </p:nvSpPr>
          <p:spPr>
            <a:xfrm>
              <a:off x="4921" y="920"/>
              <a:ext cx="108" cy="26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7"/>
            <p:cNvSpPr/>
            <p:nvPr/>
          </p:nvSpPr>
          <p:spPr>
            <a:xfrm>
              <a:off x="4590" y="1097"/>
              <a:ext cx="394" cy="8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CC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7"/>
            <p:cNvSpPr/>
            <p:nvPr/>
          </p:nvSpPr>
          <p:spPr>
            <a:xfrm>
              <a:off x="4933" y="922"/>
              <a:ext cx="101" cy="266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7"/>
            <p:cNvSpPr/>
            <p:nvPr/>
          </p:nvSpPr>
          <p:spPr>
            <a:xfrm>
              <a:off x="4590" y="1109"/>
              <a:ext cx="351" cy="8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0000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3" name="Google Shape;493;p47"/>
            <p:cNvGrpSpPr/>
            <p:nvPr/>
          </p:nvGrpSpPr>
          <p:grpSpPr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494" name="Google Shape;494;p47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47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4D4D4D"/>
                  </a:gs>
                </a:gsLst>
                <a:lin ang="81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47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47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47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47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0" name="Google Shape;500;p47"/>
            <p:cNvSpPr/>
            <p:nvPr/>
          </p:nvSpPr>
          <p:spPr>
            <a:xfrm>
              <a:off x="4788" y="1211"/>
              <a:ext cx="144" cy="11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7"/>
            <p:cNvSpPr/>
            <p:nvPr/>
          </p:nvSpPr>
          <p:spPr>
            <a:xfrm>
              <a:off x="4420" y="1220"/>
              <a:ext cx="369" cy="10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7"/>
            <p:cNvSpPr/>
            <p:nvPr/>
          </p:nvSpPr>
          <p:spPr>
            <a:xfrm>
              <a:off x="4420" y="1201"/>
              <a:ext cx="4" cy="21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7"/>
            <p:cNvSpPr/>
            <p:nvPr/>
          </p:nvSpPr>
          <p:spPr>
            <a:xfrm>
              <a:off x="4421" y="1114"/>
              <a:ext cx="171" cy="88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7"/>
            <p:cNvSpPr/>
            <p:nvPr/>
          </p:nvSpPr>
          <p:spPr>
            <a:xfrm>
              <a:off x="4432" y="1205"/>
              <a:ext cx="350" cy="1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7"/>
            <p:cNvSpPr/>
            <p:nvPr/>
          </p:nvSpPr>
          <p:spPr>
            <a:xfrm flipH="1" rot="10800000">
              <a:off x="4782" y="1198"/>
              <a:ext cx="142" cy="10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6" name="Google Shape;506;p47"/>
          <p:cNvSpPr/>
          <p:nvPr/>
        </p:nvSpPr>
        <p:spPr>
          <a:xfrm>
            <a:off x="830262" y="2422525"/>
            <a:ext cx="976312" cy="485775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7" name="Google Shape;507;p47"/>
          <p:cNvGrpSpPr/>
          <p:nvPr/>
        </p:nvGrpSpPr>
        <p:grpSpPr>
          <a:xfrm>
            <a:off x="1195387" y="1285875"/>
            <a:ext cx="990599" cy="1458813"/>
            <a:chOff x="651" y="698"/>
            <a:chExt cx="624" cy="919"/>
          </a:xfrm>
        </p:grpSpPr>
        <p:sp>
          <p:nvSpPr>
            <p:cNvPr id="508" name="Google Shape;508;p47"/>
            <p:cNvSpPr/>
            <p:nvPr/>
          </p:nvSpPr>
          <p:spPr>
            <a:xfrm>
              <a:off x="662" y="698"/>
              <a:ext cx="604" cy="903"/>
            </a:xfrm>
            <a:custGeom>
              <a:rect b="b" l="l" r="r" t="t"/>
              <a:pathLst>
                <a:path extrusionOk="0" h="903" w="604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rgbClr val="000099">
                    <a:alpha val="64705"/>
                  </a:srgbClr>
                </a:gs>
                <a:gs pos="100000">
                  <a:srgbClr val="FFFFFF">
                    <a:alpha val="63921"/>
                  </a:srgbClr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9" name="Google Shape;509;p47"/>
            <p:cNvGrpSpPr/>
            <p:nvPr/>
          </p:nvGrpSpPr>
          <p:grpSpPr>
            <a:xfrm>
              <a:off x="651" y="700"/>
              <a:ext cx="624" cy="917"/>
              <a:chOff x="569" y="2973"/>
              <a:chExt cx="624" cy="917"/>
            </a:xfrm>
          </p:grpSpPr>
          <p:sp>
            <p:nvSpPr>
              <p:cNvPr id="510" name="Google Shape;510;p47"/>
              <p:cNvSpPr txBox="1"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47"/>
              <p:cNvSpPr txBox="1"/>
              <p:nvPr/>
            </p:nvSpPr>
            <p:spPr>
              <a:xfrm>
                <a:off x="593" y="2990"/>
                <a:ext cx="600" cy="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12" name="Google Shape;512;p47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13" name="Google Shape;513;p47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14" name="Google Shape;514;p47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15" name="Google Shape;515;p47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516" name="Google Shape;516;p47"/>
          <p:cNvGrpSpPr/>
          <p:nvPr/>
        </p:nvGrpSpPr>
        <p:grpSpPr>
          <a:xfrm>
            <a:off x="520700" y="1317625"/>
            <a:ext cx="544512" cy="244475"/>
            <a:chOff x="844" y="3337"/>
            <a:chExt cx="343" cy="154"/>
          </a:xfrm>
        </p:grpSpPr>
        <p:sp>
          <p:nvSpPr>
            <p:cNvPr id="517" name="Google Shape;517;p47"/>
            <p:cNvSpPr txBox="1"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7"/>
            <p:cNvSpPr txBox="1"/>
            <p:nvPr/>
          </p:nvSpPr>
          <p:spPr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DHCP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9" name="Google Shape;519;p47"/>
          <p:cNvGrpSpPr/>
          <p:nvPr/>
        </p:nvGrpSpPr>
        <p:grpSpPr>
          <a:xfrm>
            <a:off x="66675" y="1336675"/>
            <a:ext cx="1081087" cy="1166812"/>
            <a:chOff x="42" y="744"/>
            <a:chExt cx="681" cy="735"/>
          </a:xfrm>
        </p:grpSpPr>
        <p:grpSp>
          <p:nvGrpSpPr>
            <p:cNvPr id="520" name="Google Shape;520;p47"/>
            <p:cNvGrpSpPr/>
            <p:nvPr/>
          </p:nvGrpSpPr>
          <p:grpSpPr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521" name="Google Shape;521;p47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522" name="Google Shape;522;p47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523" name="Google Shape;523;p47"/>
                  <p:cNvSpPr txBox="1"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4" name="Google Shape;524;p47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25" name="Google Shape;525;p47"/>
                <p:cNvSpPr txBox="1"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" name="Google Shape;526;p47"/>
                <p:cNvSpPr txBox="1"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7" name="Google Shape;527;p47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528" name="Google Shape;528;p47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529" name="Google Shape;529;p47"/>
                  <p:cNvSpPr txBox="1"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0" name="Google Shape;530;p47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31" name="Google Shape;531;p47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532" name="Google Shape;532;p47"/>
                  <p:cNvSpPr txBox="1"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9525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3" name="Google Shape;533;p47"/>
                  <p:cNvSpPr txBox="1"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534" name="Google Shape;534;p47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535" name="Google Shape;535;p47"/>
                <p:cNvSpPr txBox="1"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6" name="Google Shape;536;p47"/>
                <p:cNvSpPr txBox="1"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7" name="Google Shape;537;p47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538" name="Google Shape;538;p47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539" name="Google Shape;539;p47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540" name="Google Shape;540;p47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541" name="Google Shape;541;p47"/>
                      <p:cNvSpPr txBox="1"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chemeClr val="l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542" name="Google Shape;542;p47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chemeClr val="lt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grpSp>
                  <p:nvGrpSpPr>
                    <p:cNvPr id="543" name="Google Shape;543;p47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544" name="Google Shape;544;p47"/>
                      <p:cNvSpPr txBox="1"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cap="flat" cmpd="sng" w="9525">
                        <a:solidFill>
                          <a:schemeClr val="l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545" name="Google Shape;545;p47"/>
                      <p:cNvSpPr txBox="1"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546" name="Google Shape;546;p47"/>
                  <p:cNvSpPr txBox="1"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7" name="Google Shape;547;p47"/>
                  <p:cNvSpPr txBox="1"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2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48" name="Google Shape;548;p47"/>
                <p:cNvSpPr txBox="1"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9" name="Google Shape;549;p47"/>
                <p:cNvSpPr txBox="1"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0" name="Google Shape;550;p47"/>
                <p:cNvSpPr txBox="1"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551" name="Google Shape;551;p47"/>
            <p:cNvSpPr/>
            <p:nvPr/>
          </p:nvSpPr>
          <p:spPr>
            <a:xfrm>
              <a:off x="384" y="744"/>
              <a:ext cx="240" cy="735"/>
            </a:xfrm>
            <a:prstGeom prst="downArrow">
              <a:avLst>
                <a:gd fmla="val 18132" name="adj1"/>
                <a:gd fmla="val 4950" name="adj2"/>
              </a:avLst>
            </a:prstGeom>
            <a:gradFill>
              <a:gsLst>
                <a:gs pos="0">
                  <a:srgbClr val="FF0000">
                    <a:alpha val="22745"/>
                  </a:srgbClr>
                </a:gs>
                <a:gs pos="100000">
                  <a:srgbClr val="FF0000">
                    <a:alpha val="2274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2" name="Google Shape;552;p47"/>
          <p:cNvGrpSpPr/>
          <p:nvPr/>
        </p:nvGrpSpPr>
        <p:grpSpPr>
          <a:xfrm>
            <a:off x="650875" y="2544762"/>
            <a:ext cx="1081087" cy="244475"/>
            <a:chOff x="504" y="3523"/>
            <a:chExt cx="681" cy="154"/>
          </a:xfrm>
        </p:grpSpPr>
        <p:grpSp>
          <p:nvGrpSpPr>
            <p:cNvPr id="553" name="Google Shape;553;p47"/>
            <p:cNvGrpSpPr/>
            <p:nvPr/>
          </p:nvGrpSpPr>
          <p:grpSpPr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554" name="Google Shape;554;p47"/>
              <p:cNvGrpSpPr/>
              <p:nvPr/>
            </p:nvGrpSpPr>
            <p:grpSpPr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555" name="Google Shape;555;p47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556" name="Google Shape;556;p47"/>
                  <p:cNvSpPr txBox="1"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7" name="Google Shape;557;p47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58" name="Google Shape;558;p47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559" name="Google Shape;559;p47"/>
                  <p:cNvSpPr txBox="1"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9525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0" name="Google Shape;560;p47"/>
                  <p:cNvSpPr txBox="1"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61" name="Google Shape;561;p47"/>
              <p:cNvSpPr txBox="1"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47"/>
              <p:cNvSpPr txBox="1"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3" name="Google Shape;563;p47"/>
            <p:cNvSpPr txBox="1"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7"/>
            <p:cNvSpPr txBox="1"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7"/>
            <p:cNvSpPr txBox="1"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6" name="Google Shape;566;p47"/>
          <p:cNvGrpSpPr/>
          <p:nvPr/>
        </p:nvGrpSpPr>
        <p:grpSpPr>
          <a:xfrm>
            <a:off x="1477962" y="3267074"/>
            <a:ext cx="1316037" cy="1455638"/>
            <a:chOff x="931" y="1960"/>
            <a:chExt cx="829" cy="917"/>
          </a:xfrm>
        </p:grpSpPr>
        <p:sp>
          <p:nvSpPr>
            <p:cNvPr id="567" name="Google Shape;567;p47"/>
            <p:cNvSpPr/>
            <p:nvPr/>
          </p:nvSpPr>
          <p:spPr>
            <a:xfrm>
              <a:off x="1424" y="1965"/>
              <a:ext cx="336" cy="801"/>
            </a:xfrm>
            <a:custGeom>
              <a:rect b="b" l="l" r="r" t="t"/>
              <a:pathLst>
                <a:path extrusionOk="0" h="801" w="55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>
                    <a:alpha val="62745"/>
                  </a:srgbClr>
                </a:gs>
                <a:gs pos="100000">
                  <a:srgbClr val="FFFFFF">
                    <a:alpha val="62745"/>
                  </a:srgbClr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8" name="Google Shape;568;p47"/>
            <p:cNvGrpSpPr/>
            <p:nvPr/>
          </p:nvGrpSpPr>
          <p:grpSpPr>
            <a:xfrm>
              <a:off x="931" y="1960"/>
              <a:ext cx="624" cy="917"/>
              <a:chOff x="569" y="2973"/>
              <a:chExt cx="624" cy="917"/>
            </a:xfrm>
          </p:grpSpPr>
          <p:sp>
            <p:nvSpPr>
              <p:cNvPr id="569" name="Google Shape;569;p47"/>
              <p:cNvSpPr txBox="1"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47"/>
              <p:cNvSpPr txBox="1"/>
              <p:nvPr/>
            </p:nvSpPr>
            <p:spPr>
              <a:xfrm>
                <a:off x="593" y="2990"/>
                <a:ext cx="600" cy="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71" name="Google Shape;571;p47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2" name="Google Shape;572;p47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3" name="Google Shape;573;p47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47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575" name="Google Shape;575;p47"/>
          <p:cNvGrpSpPr/>
          <p:nvPr/>
        </p:nvGrpSpPr>
        <p:grpSpPr>
          <a:xfrm>
            <a:off x="339725" y="3136900"/>
            <a:ext cx="1081087" cy="1217612"/>
            <a:chOff x="1404" y="3105"/>
            <a:chExt cx="681" cy="767"/>
          </a:xfrm>
        </p:grpSpPr>
        <p:grpSp>
          <p:nvGrpSpPr>
            <p:cNvPr id="576" name="Google Shape;576;p47"/>
            <p:cNvGrpSpPr/>
            <p:nvPr/>
          </p:nvGrpSpPr>
          <p:grpSpPr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577" name="Google Shape;577;p47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578" name="Google Shape;578;p47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579" name="Google Shape;579;p47"/>
                  <p:cNvSpPr txBox="1"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0" name="Google Shape;580;p47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81" name="Google Shape;581;p47"/>
                <p:cNvSpPr txBox="1"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2" name="Google Shape;582;p47"/>
                <p:cNvSpPr txBox="1"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83" name="Google Shape;583;p47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584" name="Google Shape;584;p47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585" name="Google Shape;585;p47"/>
                  <p:cNvSpPr txBox="1"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6" name="Google Shape;586;p47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87" name="Google Shape;587;p47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588" name="Google Shape;588;p47"/>
                  <p:cNvSpPr txBox="1"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9525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9" name="Google Shape;589;p47"/>
                  <p:cNvSpPr txBox="1"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590" name="Google Shape;590;p47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591" name="Google Shape;591;p47"/>
                <p:cNvSpPr txBox="1"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2" name="Google Shape;592;p47"/>
                <p:cNvSpPr txBox="1"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93" name="Google Shape;593;p47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594" name="Google Shape;594;p47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595" name="Google Shape;595;p47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596" name="Google Shape;596;p47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597" name="Google Shape;597;p47"/>
                      <p:cNvSpPr txBox="1"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chemeClr val="l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598" name="Google Shape;598;p47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chemeClr val="lt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grpSp>
                  <p:nvGrpSpPr>
                    <p:cNvPr id="599" name="Google Shape;599;p47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600" name="Google Shape;600;p47"/>
                      <p:cNvSpPr txBox="1"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cap="flat" cmpd="sng" w="9525">
                        <a:solidFill>
                          <a:schemeClr val="l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601" name="Google Shape;601;p47"/>
                      <p:cNvSpPr txBox="1"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602" name="Google Shape;602;p47"/>
                  <p:cNvSpPr txBox="1"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3" name="Google Shape;603;p47"/>
                  <p:cNvSpPr txBox="1"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2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04" name="Google Shape;604;p47"/>
                <p:cNvSpPr txBox="1"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5" name="Google Shape;605;p47"/>
                <p:cNvSpPr txBox="1"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6" name="Google Shape;606;p47"/>
                <p:cNvSpPr txBox="1"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607" name="Google Shape;607;p47"/>
            <p:cNvSpPr/>
            <p:nvPr/>
          </p:nvSpPr>
          <p:spPr>
            <a:xfrm rot="10800000">
              <a:off x="1727" y="3105"/>
              <a:ext cx="240" cy="767"/>
            </a:xfrm>
            <a:prstGeom prst="downArrow">
              <a:avLst>
                <a:gd fmla="val 18132" name="adj1"/>
                <a:gd fmla="val 4950" name="adj2"/>
              </a:avLst>
            </a:prstGeom>
            <a:gradFill>
              <a:gsLst>
                <a:gs pos="0">
                  <a:srgbClr val="FF0000">
                    <a:alpha val="22745"/>
                  </a:srgbClr>
                </a:gs>
                <a:gs pos="100000">
                  <a:srgbClr val="FF0000">
                    <a:alpha val="2274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8" name="Google Shape;608;p47"/>
            <p:cNvGrpSpPr/>
            <p:nvPr/>
          </p:nvGrpSpPr>
          <p:grpSpPr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609" name="Google Shape;609;p47"/>
              <p:cNvSpPr txBox="1"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47"/>
              <p:cNvSpPr txBox="1"/>
              <p:nvPr/>
            </p:nvSpPr>
            <p:spPr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11" name="Google Shape;611;p47"/>
          <p:cNvGrpSpPr/>
          <p:nvPr/>
        </p:nvGrpSpPr>
        <p:grpSpPr>
          <a:xfrm>
            <a:off x="803275" y="3333750"/>
            <a:ext cx="544512" cy="244475"/>
            <a:chOff x="844" y="3337"/>
            <a:chExt cx="343" cy="154"/>
          </a:xfrm>
        </p:grpSpPr>
        <p:sp>
          <p:nvSpPr>
            <p:cNvPr id="612" name="Google Shape;612;p47"/>
            <p:cNvSpPr txBox="1"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47"/>
            <p:cNvSpPr txBox="1"/>
            <p:nvPr/>
          </p:nvSpPr>
          <p:spPr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DHCP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614" name="Google Shape;614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462" y="722312"/>
            <a:ext cx="31988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7"/>
          <p:cNvSpPr txBox="1"/>
          <p:nvPr>
            <p:ph type="title"/>
          </p:nvPr>
        </p:nvSpPr>
        <p:spPr>
          <a:xfrm>
            <a:off x="323850" y="77787"/>
            <a:ext cx="4354512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600"/>
              <a:buFont typeface="Gill Sans"/>
              <a:buNone/>
            </a:pPr>
            <a:r>
              <a:rPr b="0" i="0" lang="en-US" sz="36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DHCP: example</a:t>
            </a:r>
            <a:endParaRPr/>
          </a:p>
        </p:txBody>
      </p:sp>
      <p:sp>
        <p:nvSpPr>
          <p:cNvPr id="616" name="Google Shape;616;p47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621" name="Google Shape;62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462" y="722312"/>
            <a:ext cx="31988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8"/>
          <p:cNvSpPr txBox="1"/>
          <p:nvPr>
            <p:ph idx="1" type="body"/>
          </p:nvPr>
        </p:nvSpPr>
        <p:spPr>
          <a:xfrm>
            <a:off x="5037137" y="1158875"/>
            <a:ext cx="3430587" cy="1573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1" lvl="0" marL="23336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DCHP server formulates DHCP ACK containing client’s IP address, IP address of first-hop router for client, name &amp; IP address of DNS server</a:t>
            </a:r>
            <a:endParaRPr/>
          </a:p>
          <a:p>
            <a:pPr indent="-203200" lvl="0" marL="34290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3" name="Google Shape;623;p48"/>
          <p:cNvSpPr/>
          <p:nvPr/>
        </p:nvSpPr>
        <p:spPr>
          <a:xfrm>
            <a:off x="773112" y="1428750"/>
            <a:ext cx="3554412" cy="2754312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4" name="Google Shape;624;p48"/>
          <p:cNvCxnSpPr/>
          <p:nvPr/>
        </p:nvCxnSpPr>
        <p:spPr>
          <a:xfrm flipH="1" rot="10800000">
            <a:off x="3775075" y="251142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5" name="Google Shape;625;p48"/>
          <p:cNvCxnSpPr/>
          <p:nvPr/>
        </p:nvCxnSpPr>
        <p:spPr>
          <a:xfrm>
            <a:off x="2665412" y="2673350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6" name="Google Shape;626;p48"/>
          <p:cNvCxnSpPr/>
          <p:nvPr/>
        </p:nvCxnSpPr>
        <p:spPr>
          <a:xfrm flipH="1" rot="10800000">
            <a:off x="3924300" y="2368550"/>
            <a:ext cx="138112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7" name="Google Shape;627;p48"/>
          <p:cNvCxnSpPr/>
          <p:nvPr/>
        </p:nvCxnSpPr>
        <p:spPr>
          <a:xfrm flipH="1" rot="10800000">
            <a:off x="3279775" y="2903537"/>
            <a:ext cx="512762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8" name="Google Shape;628;p48"/>
          <p:cNvSpPr txBox="1"/>
          <p:nvPr/>
        </p:nvSpPr>
        <p:spPr>
          <a:xfrm>
            <a:off x="5030787" y="2930525"/>
            <a:ext cx="3421062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1" lvl="0" marL="23336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encapsulation of DHCP server, frame forwarded to client, demuxing up to DHCP at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48"/>
          <p:cNvSpPr txBox="1"/>
          <p:nvPr>
            <p:ph type="title"/>
          </p:nvPr>
        </p:nvSpPr>
        <p:spPr>
          <a:xfrm>
            <a:off x="323850" y="77787"/>
            <a:ext cx="4354512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600"/>
              <a:buFont typeface="Gill Sans"/>
              <a:buNone/>
            </a:pPr>
            <a:r>
              <a:rPr b="0" i="0" lang="en-US" sz="36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DHCP: example</a:t>
            </a:r>
            <a:endParaRPr/>
          </a:p>
        </p:txBody>
      </p:sp>
      <p:grpSp>
        <p:nvGrpSpPr>
          <p:cNvPr id="630" name="Google Shape;630;p48"/>
          <p:cNvGrpSpPr/>
          <p:nvPr/>
        </p:nvGrpSpPr>
        <p:grpSpPr>
          <a:xfrm>
            <a:off x="1973993" y="2295525"/>
            <a:ext cx="854932" cy="629074"/>
            <a:chOff x="4416" y="878"/>
            <a:chExt cx="618" cy="467"/>
          </a:xfrm>
        </p:grpSpPr>
        <p:pic>
          <p:nvPicPr>
            <p:cNvPr descr="laptop_keyboard" id="631" name="Google Shape;631;p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120000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48"/>
            <p:cNvSpPr/>
            <p:nvPr/>
          </p:nvSpPr>
          <p:spPr>
            <a:xfrm>
              <a:off x="4595" y="888"/>
              <a:ext cx="424" cy="29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633" name="Google Shape;633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4" name="Google Shape;634;p48"/>
            <p:cNvSpPr/>
            <p:nvPr/>
          </p:nvSpPr>
          <p:spPr>
            <a:xfrm>
              <a:off x="4672" y="879"/>
              <a:ext cx="359" cy="55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EAEAEA"/>
                </a:gs>
                <a:gs pos="100000">
                  <a:srgbClr val="0000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8"/>
            <p:cNvSpPr/>
            <p:nvPr/>
          </p:nvSpPr>
          <p:spPr>
            <a:xfrm>
              <a:off x="4591" y="878"/>
              <a:ext cx="100" cy="230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8"/>
            <p:cNvSpPr/>
            <p:nvPr/>
          </p:nvSpPr>
          <p:spPr>
            <a:xfrm>
              <a:off x="4921" y="920"/>
              <a:ext cx="108" cy="26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48"/>
            <p:cNvSpPr/>
            <p:nvPr/>
          </p:nvSpPr>
          <p:spPr>
            <a:xfrm>
              <a:off x="4590" y="1097"/>
              <a:ext cx="394" cy="8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CC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8"/>
            <p:cNvSpPr/>
            <p:nvPr/>
          </p:nvSpPr>
          <p:spPr>
            <a:xfrm>
              <a:off x="4933" y="922"/>
              <a:ext cx="101" cy="266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48"/>
            <p:cNvSpPr/>
            <p:nvPr/>
          </p:nvSpPr>
          <p:spPr>
            <a:xfrm>
              <a:off x="4590" y="1109"/>
              <a:ext cx="351" cy="8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0000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0" name="Google Shape;640;p48"/>
            <p:cNvGrpSpPr/>
            <p:nvPr/>
          </p:nvGrpSpPr>
          <p:grpSpPr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641" name="Google Shape;641;p4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4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4D4D4D"/>
                  </a:gs>
                </a:gsLst>
                <a:lin ang="81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4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4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4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4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7" name="Google Shape;647;p48"/>
            <p:cNvSpPr/>
            <p:nvPr/>
          </p:nvSpPr>
          <p:spPr>
            <a:xfrm>
              <a:off x="4788" y="1211"/>
              <a:ext cx="144" cy="11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8"/>
            <p:cNvSpPr/>
            <p:nvPr/>
          </p:nvSpPr>
          <p:spPr>
            <a:xfrm>
              <a:off x="4420" y="1220"/>
              <a:ext cx="369" cy="10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48"/>
            <p:cNvSpPr/>
            <p:nvPr/>
          </p:nvSpPr>
          <p:spPr>
            <a:xfrm>
              <a:off x="4420" y="1201"/>
              <a:ext cx="4" cy="21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48"/>
            <p:cNvSpPr/>
            <p:nvPr/>
          </p:nvSpPr>
          <p:spPr>
            <a:xfrm>
              <a:off x="4421" y="1114"/>
              <a:ext cx="171" cy="88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48"/>
            <p:cNvSpPr/>
            <p:nvPr/>
          </p:nvSpPr>
          <p:spPr>
            <a:xfrm>
              <a:off x="4432" y="1205"/>
              <a:ext cx="350" cy="1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8"/>
            <p:cNvSpPr/>
            <p:nvPr/>
          </p:nvSpPr>
          <p:spPr>
            <a:xfrm flipH="1" rot="10800000">
              <a:off x="4782" y="1198"/>
              <a:ext cx="142" cy="10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3" name="Google Shape;653;p48"/>
          <p:cNvSpPr txBox="1"/>
          <p:nvPr/>
        </p:nvSpPr>
        <p:spPr>
          <a:xfrm>
            <a:off x="2562225" y="3967162"/>
            <a:ext cx="20256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router with DHCP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 built into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4" name="Google Shape;654;p48"/>
          <p:cNvGrpSpPr/>
          <p:nvPr/>
        </p:nvGrpSpPr>
        <p:grpSpPr>
          <a:xfrm>
            <a:off x="2674937" y="3525837"/>
            <a:ext cx="1066800" cy="406400"/>
            <a:chOff x="4396" y="1245"/>
            <a:chExt cx="672" cy="248"/>
          </a:xfrm>
        </p:grpSpPr>
        <p:sp>
          <p:nvSpPr>
            <p:cNvPr id="655" name="Google Shape;655;p48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CCCCFF"/>
                </a:gs>
              </a:gsLst>
              <a:lin ang="10800000" scaled="0"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8"/>
            <p:cNvSpPr txBox="1"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CCCC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8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CCCCFF"/>
                </a:gs>
              </a:gsLst>
              <a:lin ang="10800000" scaled="0"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8" name="Google Shape;658;p48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659" name="Google Shape;659;p48"/>
              <p:cNvSpPr/>
              <p:nvPr/>
            </p:nvSpPr>
            <p:spPr>
              <a:xfrm>
                <a:off x="2468" y="1332"/>
                <a:ext cx="310" cy="60"/>
              </a:xfrm>
              <a:custGeom>
                <a:rect b="b" l="l" r="r" t="t"/>
                <a:pathLst>
                  <a:path extrusionOk="0" h="60" w="31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48"/>
              <p:cNvSpPr/>
              <p:nvPr/>
            </p:nvSpPr>
            <p:spPr>
              <a:xfrm>
                <a:off x="2482" y="1332"/>
                <a:ext cx="282" cy="60"/>
              </a:xfrm>
              <a:custGeom>
                <a:rect b="b" l="l" r="r" t="t"/>
                <a:pathLst>
                  <a:path extrusionOk="0" h="60" w="282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661" name="Google Shape;661;p48"/>
            <p:cNvCxnSpPr/>
            <p:nvPr/>
          </p:nvCxnSpPr>
          <p:spPr>
            <a:xfrm>
              <a:off x="4399" y="1321"/>
              <a:ext cx="0" cy="10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2" name="Google Shape;662;p48"/>
            <p:cNvCxnSpPr/>
            <p:nvPr/>
          </p:nvCxnSpPr>
          <p:spPr>
            <a:xfrm>
              <a:off x="5063" y="1326"/>
              <a:ext cx="0" cy="10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63" name="Google Shape;663;p48"/>
          <p:cNvGrpSpPr/>
          <p:nvPr/>
        </p:nvGrpSpPr>
        <p:grpSpPr>
          <a:xfrm>
            <a:off x="2706687" y="3330575"/>
            <a:ext cx="423862" cy="647700"/>
            <a:chOff x="4140" y="429"/>
            <a:chExt cx="1425" cy="2396"/>
          </a:xfrm>
        </p:grpSpPr>
        <p:sp>
          <p:nvSpPr>
            <p:cNvPr id="664" name="Google Shape;664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333333"/>
                </a:gs>
                <a:gs pos="100000">
                  <a:srgbClr val="DDDDDD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48"/>
            <p:cNvSpPr txBox="1"/>
            <p:nvPr/>
          </p:nvSpPr>
          <p:spPr>
            <a:xfrm>
              <a:off x="4204" y="429"/>
              <a:ext cx="1051" cy="2284"/>
            </a:xfrm>
            <a:prstGeom prst="rect">
              <a:avLst/>
            </a:pr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F8F8F8"/>
                </a:gs>
                <a:gs pos="100000">
                  <a:srgbClr val="808080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48"/>
            <p:cNvSpPr txBox="1"/>
            <p:nvPr/>
          </p:nvSpPr>
          <p:spPr>
            <a:xfrm>
              <a:off x="4209" y="693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9" name="Google Shape;669;p48"/>
            <p:cNvGrpSpPr/>
            <p:nvPr/>
          </p:nvGrpSpPr>
          <p:grpSpPr>
            <a:xfrm>
              <a:off x="4748" y="670"/>
              <a:ext cx="582" cy="141"/>
              <a:chOff x="613" y="2570"/>
              <a:chExt cx="726" cy="135"/>
            </a:xfrm>
          </p:grpSpPr>
          <p:sp>
            <p:nvSpPr>
              <p:cNvPr id="670" name="Google Shape;670;p48"/>
              <p:cNvSpPr/>
              <p:nvPr/>
            </p:nvSpPr>
            <p:spPr>
              <a:xfrm>
                <a:off x="613" y="2570"/>
                <a:ext cx="726" cy="135"/>
              </a:xfrm>
              <a:prstGeom prst="roundRect">
                <a:avLst>
                  <a:gd fmla="val 108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48"/>
              <p:cNvSpPr/>
              <p:nvPr/>
            </p:nvSpPr>
            <p:spPr>
              <a:xfrm>
                <a:off x="627" y="2587"/>
                <a:ext cx="693" cy="101"/>
              </a:xfrm>
              <a:prstGeom prst="roundRect">
                <a:avLst>
                  <a:gd fmla="val 108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2" name="Google Shape;672;p48"/>
            <p:cNvSpPr txBox="1"/>
            <p:nvPr/>
          </p:nvSpPr>
          <p:spPr>
            <a:xfrm>
              <a:off x="4225" y="1016"/>
              <a:ext cx="592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3" name="Google Shape;673;p48"/>
            <p:cNvGrpSpPr/>
            <p:nvPr/>
          </p:nvGrpSpPr>
          <p:grpSpPr>
            <a:xfrm>
              <a:off x="4749" y="993"/>
              <a:ext cx="582" cy="135"/>
              <a:chOff x="616" y="2567"/>
              <a:chExt cx="726" cy="140"/>
            </a:xfrm>
          </p:grpSpPr>
          <p:sp>
            <p:nvSpPr>
              <p:cNvPr id="674" name="Google Shape;674;p48"/>
              <p:cNvSpPr/>
              <p:nvPr/>
            </p:nvSpPr>
            <p:spPr>
              <a:xfrm>
                <a:off x="616" y="2567"/>
                <a:ext cx="726" cy="140"/>
              </a:xfrm>
              <a:prstGeom prst="roundRect">
                <a:avLst>
                  <a:gd fmla="val 108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48"/>
              <p:cNvSpPr/>
              <p:nvPr/>
            </p:nvSpPr>
            <p:spPr>
              <a:xfrm>
                <a:off x="629" y="2585"/>
                <a:ext cx="693" cy="104"/>
              </a:xfrm>
              <a:prstGeom prst="roundRect">
                <a:avLst>
                  <a:gd fmla="val 108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6" name="Google Shape;676;p48"/>
            <p:cNvSpPr txBox="1"/>
            <p:nvPr/>
          </p:nvSpPr>
          <p:spPr>
            <a:xfrm>
              <a:off x="4215" y="1357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48"/>
            <p:cNvSpPr txBox="1"/>
            <p:nvPr/>
          </p:nvSpPr>
          <p:spPr>
            <a:xfrm>
              <a:off x="4225" y="1656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8" name="Google Shape;678;p48"/>
            <p:cNvGrpSpPr/>
            <p:nvPr/>
          </p:nvGrpSpPr>
          <p:grpSpPr>
            <a:xfrm>
              <a:off x="4733" y="1627"/>
              <a:ext cx="587" cy="153"/>
              <a:chOff x="611" y="2568"/>
              <a:chExt cx="731" cy="141"/>
            </a:xfrm>
          </p:grpSpPr>
          <p:sp>
            <p:nvSpPr>
              <p:cNvPr id="679" name="Google Shape;679;p48"/>
              <p:cNvSpPr/>
              <p:nvPr/>
            </p:nvSpPr>
            <p:spPr>
              <a:xfrm>
                <a:off x="611" y="2568"/>
                <a:ext cx="731" cy="141"/>
              </a:xfrm>
              <a:prstGeom prst="roundRect">
                <a:avLst>
                  <a:gd fmla="val 108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48"/>
              <p:cNvSpPr/>
              <p:nvPr/>
            </p:nvSpPr>
            <p:spPr>
              <a:xfrm>
                <a:off x="624" y="2584"/>
                <a:ext cx="698" cy="108"/>
              </a:xfrm>
              <a:prstGeom prst="roundRect">
                <a:avLst>
                  <a:gd fmla="val 108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1" name="Google Shape;681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2" name="Google Shape;682;p48"/>
            <p:cNvGrpSpPr/>
            <p:nvPr/>
          </p:nvGrpSpPr>
          <p:grpSpPr>
            <a:xfrm>
              <a:off x="4737" y="1328"/>
              <a:ext cx="582" cy="147"/>
              <a:chOff x="612" y="2569"/>
              <a:chExt cx="725" cy="147"/>
            </a:xfrm>
          </p:grpSpPr>
          <p:sp>
            <p:nvSpPr>
              <p:cNvPr id="683" name="Google Shape;683;p48"/>
              <p:cNvSpPr/>
              <p:nvPr/>
            </p:nvSpPr>
            <p:spPr>
              <a:xfrm>
                <a:off x="612" y="2569"/>
                <a:ext cx="725" cy="147"/>
              </a:xfrm>
              <a:prstGeom prst="roundRect">
                <a:avLst>
                  <a:gd fmla="val 108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48"/>
              <p:cNvSpPr/>
              <p:nvPr/>
            </p:nvSpPr>
            <p:spPr>
              <a:xfrm>
                <a:off x="626" y="2586"/>
                <a:ext cx="691" cy="106"/>
              </a:xfrm>
              <a:prstGeom prst="roundRect">
                <a:avLst>
                  <a:gd fmla="val 108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5" name="Google Shape;685;p48"/>
            <p:cNvSpPr txBox="1"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108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292929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48"/>
            <p:cNvSpPr/>
            <p:nvPr/>
          </p:nvSpPr>
          <p:spPr>
            <a:xfrm>
              <a:off x="5517" y="2614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48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108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48"/>
            <p:cNvSpPr/>
            <p:nvPr/>
          </p:nvSpPr>
          <p:spPr>
            <a:xfrm>
              <a:off x="4204" y="2713"/>
              <a:ext cx="1073" cy="82"/>
            </a:xfrm>
            <a:prstGeom prst="roundRect">
              <a:avLst>
                <a:gd fmla="val 108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08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48"/>
            <p:cNvSpPr/>
            <p:nvPr/>
          </p:nvSpPr>
          <p:spPr>
            <a:xfrm>
              <a:off x="4305" y="2385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48"/>
            <p:cNvSpPr/>
            <p:nvPr/>
          </p:nvSpPr>
          <p:spPr>
            <a:xfrm>
              <a:off x="4487" y="2385"/>
              <a:ext cx="160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48"/>
            <p:cNvSpPr/>
            <p:nvPr/>
          </p:nvSpPr>
          <p:spPr>
            <a:xfrm>
              <a:off x="4663" y="2379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48"/>
            <p:cNvSpPr txBox="1"/>
            <p:nvPr/>
          </p:nvSpPr>
          <p:spPr>
            <a:xfrm>
              <a:off x="5063" y="1833"/>
              <a:ext cx="85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96" name="Google Shape;696;p48"/>
          <p:cNvCxnSpPr/>
          <p:nvPr/>
        </p:nvCxnSpPr>
        <p:spPr>
          <a:xfrm flipH="1" rot="10800000">
            <a:off x="3775075" y="2500312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97" name="Google Shape;697;p48"/>
          <p:cNvGrpSpPr/>
          <p:nvPr/>
        </p:nvGrpSpPr>
        <p:grpSpPr>
          <a:xfrm>
            <a:off x="3140075" y="2598737"/>
            <a:ext cx="963612" cy="300037"/>
            <a:chOff x="4410" y="1365"/>
            <a:chExt cx="663" cy="224"/>
          </a:xfrm>
        </p:grpSpPr>
        <p:sp>
          <p:nvSpPr>
            <p:cNvPr id="698" name="Google Shape;698;p48"/>
            <p:cNvSpPr txBox="1"/>
            <p:nvPr/>
          </p:nvSpPr>
          <p:spPr>
            <a:xfrm>
              <a:off x="4410" y="1500"/>
              <a:ext cx="495" cy="87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009999"/>
                </a:gs>
              </a:gsLst>
              <a:lin ang="108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48"/>
            <p:cNvSpPr/>
            <p:nvPr/>
          </p:nvSpPr>
          <p:spPr>
            <a:xfrm>
              <a:off x="4410" y="1369"/>
              <a:ext cx="663" cy="134"/>
            </a:xfrm>
            <a:prstGeom prst="parallelogram">
              <a:avLst>
                <a:gd fmla="val 5360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009999"/>
                </a:gs>
              </a:gsLst>
              <a:lin ang="108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48"/>
            <p:cNvSpPr/>
            <p:nvPr/>
          </p:nvSpPr>
          <p:spPr>
            <a:xfrm>
              <a:off x="4904" y="1365"/>
              <a:ext cx="169" cy="224"/>
            </a:xfrm>
            <a:custGeom>
              <a:rect b="b" l="l" r="r" t="t"/>
              <a:pathLst>
                <a:path extrusionOk="0" h="224" w="169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48"/>
            <p:cNvSpPr/>
            <p:nvPr/>
          </p:nvSpPr>
          <p:spPr>
            <a:xfrm>
              <a:off x="4475" y="1395"/>
              <a:ext cx="506" cy="80"/>
            </a:xfrm>
            <a:custGeom>
              <a:rect b="b" l="l" r="r" t="t"/>
              <a:pathLst>
                <a:path extrusionOk="0" h="63" w="280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48"/>
            <p:cNvSpPr/>
            <p:nvPr/>
          </p:nvSpPr>
          <p:spPr>
            <a:xfrm>
              <a:off x="4593" y="1391"/>
              <a:ext cx="293" cy="93"/>
            </a:xfrm>
            <a:custGeom>
              <a:rect b="b" l="l" r="r" t="t"/>
              <a:pathLst>
                <a:path extrusionOk="0" h="93" w="2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3" name="Google Shape;703;p48"/>
          <p:cNvGrpSpPr/>
          <p:nvPr/>
        </p:nvGrpSpPr>
        <p:grpSpPr>
          <a:xfrm>
            <a:off x="352425" y="3319462"/>
            <a:ext cx="1081087" cy="1166812"/>
            <a:chOff x="42" y="744"/>
            <a:chExt cx="681" cy="735"/>
          </a:xfrm>
        </p:grpSpPr>
        <p:grpSp>
          <p:nvGrpSpPr>
            <p:cNvPr id="704" name="Google Shape;704;p48"/>
            <p:cNvGrpSpPr/>
            <p:nvPr/>
          </p:nvGrpSpPr>
          <p:grpSpPr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705" name="Google Shape;705;p48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706" name="Google Shape;706;p48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707" name="Google Shape;707;p48"/>
                  <p:cNvSpPr txBox="1"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8" name="Google Shape;708;p48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709" name="Google Shape;709;p48"/>
                <p:cNvSpPr txBox="1"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0" name="Google Shape;710;p48"/>
                <p:cNvSpPr txBox="1"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11" name="Google Shape;711;p48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712" name="Google Shape;712;p48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713" name="Google Shape;713;p48"/>
                  <p:cNvSpPr txBox="1"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4" name="Google Shape;714;p48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15" name="Google Shape;715;p48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716" name="Google Shape;716;p48"/>
                  <p:cNvSpPr txBox="1"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9525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7" name="Google Shape;717;p48"/>
                  <p:cNvSpPr txBox="1"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718" name="Google Shape;718;p48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719" name="Google Shape;719;p48"/>
                <p:cNvSpPr txBox="1"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0" name="Google Shape;720;p48"/>
                <p:cNvSpPr txBox="1"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21" name="Google Shape;721;p48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722" name="Google Shape;722;p48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723" name="Google Shape;723;p48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724" name="Google Shape;724;p48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725" name="Google Shape;725;p48"/>
                      <p:cNvSpPr txBox="1"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chemeClr val="l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726" name="Google Shape;726;p48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chemeClr val="lt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grpSp>
                  <p:nvGrpSpPr>
                    <p:cNvPr id="727" name="Google Shape;727;p48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728" name="Google Shape;728;p48"/>
                      <p:cNvSpPr txBox="1"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cap="flat" cmpd="sng" w="9525">
                        <a:solidFill>
                          <a:schemeClr val="l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729" name="Google Shape;729;p48"/>
                      <p:cNvSpPr txBox="1"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730" name="Google Shape;730;p48"/>
                  <p:cNvSpPr txBox="1"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1" name="Google Shape;731;p48"/>
                  <p:cNvSpPr txBox="1"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2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732" name="Google Shape;732;p48"/>
                <p:cNvSpPr txBox="1"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3" name="Google Shape;733;p48"/>
                <p:cNvSpPr txBox="1"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4" name="Google Shape;734;p48"/>
                <p:cNvSpPr txBox="1"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735" name="Google Shape;735;p48"/>
            <p:cNvSpPr/>
            <p:nvPr/>
          </p:nvSpPr>
          <p:spPr>
            <a:xfrm>
              <a:off x="384" y="744"/>
              <a:ext cx="240" cy="735"/>
            </a:xfrm>
            <a:prstGeom prst="downArrow">
              <a:avLst>
                <a:gd fmla="val 18132" name="adj1"/>
                <a:gd fmla="val 4950" name="adj2"/>
              </a:avLst>
            </a:prstGeom>
            <a:gradFill>
              <a:gsLst>
                <a:gs pos="0">
                  <a:srgbClr val="FF0000">
                    <a:alpha val="22745"/>
                  </a:srgbClr>
                </a:gs>
                <a:gs pos="100000">
                  <a:srgbClr val="FF0000">
                    <a:alpha val="2274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6" name="Google Shape;736;p48"/>
          <p:cNvGrpSpPr/>
          <p:nvPr/>
        </p:nvGrpSpPr>
        <p:grpSpPr>
          <a:xfrm>
            <a:off x="449262" y="4405312"/>
            <a:ext cx="1081087" cy="244475"/>
            <a:chOff x="504" y="3523"/>
            <a:chExt cx="681" cy="154"/>
          </a:xfrm>
        </p:grpSpPr>
        <p:grpSp>
          <p:nvGrpSpPr>
            <p:cNvPr id="737" name="Google Shape;737;p48"/>
            <p:cNvGrpSpPr/>
            <p:nvPr/>
          </p:nvGrpSpPr>
          <p:grpSpPr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738" name="Google Shape;738;p48"/>
              <p:cNvGrpSpPr/>
              <p:nvPr/>
            </p:nvGrpSpPr>
            <p:grpSpPr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739" name="Google Shape;739;p48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740" name="Google Shape;740;p48"/>
                  <p:cNvSpPr txBox="1"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1" name="Google Shape;741;p48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42" name="Google Shape;742;p48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743" name="Google Shape;743;p48"/>
                  <p:cNvSpPr txBox="1"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9525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4" name="Google Shape;744;p48"/>
                  <p:cNvSpPr txBox="1"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45" name="Google Shape;745;p48"/>
              <p:cNvSpPr txBox="1"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48"/>
              <p:cNvSpPr txBox="1"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7" name="Google Shape;747;p48"/>
            <p:cNvSpPr txBox="1"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48"/>
            <p:cNvSpPr txBox="1"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48"/>
            <p:cNvSpPr txBox="1"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0" name="Google Shape;750;p48"/>
          <p:cNvGrpSpPr/>
          <p:nvPr/>
        </p:nvGrpSpPr>
        <p:grpSpPr>
          <a:xfrm>
            <a:off x="1477962" y="3267074"/>
            <a:ext cx="1316037" cy="1444228"/>
            <a:chOff x="931" y="1960"/>
            <a:chExt cx="829" cy="910"/>
          </a:xfrm>
        </p:grpSpPr>
        <p:sp>
          <p:nvSpPr>
            <p:cNvPr id="751" name="Google Shape;751;p48"/>
            <p:cNvSpPr/>
            <p:nvPr/>
          </p:nvSpPr>
          <p:spPr>
            <a:xfrm>
              <a:off x="1424" y="1965"/>
              <a:ext cx="336" cy="801"/>
            </a:xfrm>
            <a:custGeom>
              <a:rect b="b" l="l" r="r" t="t"/>
              <a:pathLst>
                <a:path extrusionOk="0" h="801" w="55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>
                    <a:alpha val="63921"/>
                  </a:srgbClr>
                </a:gs>
                <a:gs pos="100000">
                  <a:srgbClr val="FFFFFF">
                    <a:alpha val="63921"/>
                  </a:srgbClr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2" name="Google Shape;752;p48"/>
            <p:cNvGrpSpPr/>
            <p:nvPr/>
          </p:nvGrpSpPr>
          <p:grpSpPr>
            <a:xfrm>
              <a:off x="931" y="1960"/>
              <a:ext cx="624" cy="910"/>
              <a:chOff x="569" y="2973"/>
              <a:chExt cx="624" cy="910"/>
            </a:xfrm>
          </p:grpSpPr>
          <p:sp>
            <p:nvSpPr>
              <p:cNvPr id="753" name="Google Shape;753;p48"/>
              <p:cNvSpPr txBox="1"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48"/>
              <p:cNvSpPr txBox="1"/>
              <p:nvPr/>
            </p:nvSpPr>
            <p:spPr>
              <a:xfrm>
                <a:off x="593" y="2983"/>
                <a:ext cx="600" cy="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55" name="Google Shape;755;p48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6" name="Google Shape;756;p48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7" name="Google Shape;757;p48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8" name="Google Shape;758;p48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59" name="Google Shape;759;p48"/>
          <p:cNvGrpSpPr/>
          <p:nvPr/>
        </p:nvGrpSpPr>
        <p:grpSpPr>
          <a:xfrm>
            <a:off x="803275" y="3344862"/>
            <a:ext cx="544512" cy="244475"/>
            <a:chOff x="844" y="3337"/>
            <a:chExt cx="343" cy="154"/>
          </a:xfrm>
        </p:grpSpPr>
        <p:sp>
          <p:nvSpPr>
            <p:cNvPr id="760" name="Google Shape;760;p48"/>
            <p:cNvSpPr txBox="1"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48"/>
            <p:cNvSpPr txBox="1"/>
            <p:nvPr/>
          </p:nvSpPr>
          <p:spPr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DHCP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2" name="Google Shape;762;p48"/>
          <p:cNvGrpSpPr/>
          <p:nvPr/>
        </p:nvGrpSpPr>
        <p:grpSpPr>
          <a:xfrm>
            <a:off x="1195387" y="1274763"/>
            <a:ext cx="990599" cy="1458813"/>
            <a:chOff x="651" y="698"/>
            <a:chExt cx="624" cy="919"/>
          </a:xfrm>
        </p:grpSpPr>
        <p:sp>
          <p:nvSpPr>
            <p:cNvPr id="763" name="Google Shape;763;p48"/>
            <p:cNvSpPr/>
            <p:nvPr/>
          </p:nvSpPr>
          <p:spPr>
            <a:xfrm>
              <a:off x="662" y="698"/>
              <a:ext cx="604" cy="903"/>
            </a:xfrm>
            <a:custGeom>
              <a:rect b="b" l="l" r="r" t="t"/>
              <a:pathLst>
                <a:path extrusionOk="0" h="903" w="604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rgbClr val="000099">
                    <a:alpha val="63921"/>
                  </a:srgbClr>
                </a:gs>
                <a:gs pos="100000">
                  <a:srgbClr val="FFFFFF">
                    <a:alpha val="63921"/>
                  </a:srgbClr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4" name="Google Shape;764;p48"/>
            <p:cNvGrpSpPr/>
            <p:nvPr/>
          </p:nvGrpSpPr>
          <p:grpSpPr>
            <a:xfrm>
              <a:off x="651" y="700"/>
              <a:ext cx="624" cy="917"/>
              <a:chOff x="569" y="2973"/>
              <a:chExt cx="624" cy="917"/>
            </a:xfrm>
          </p:grpSpPr>
          <p:sp>
            <p:nvSpPr>
              <p:cNvPr id="765" name="Google Shape;765;p48"/>
              <p:cNvSpPr txBox="1"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48"/>
              <p:cNvSpPr txBox="1"/>
              <p:nvPr/>
            </p:nvSpPr>
            <p:spPr>
              <a:xfrm>
                <a:off x="593" y="2990"/>
                <a:ext cx="600" cy="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67" name="Google Shape;767;p48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8" name="Google Shape;768;p48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9" name="Google Shape;769;p48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0" name="Google Shape;770;p48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71" name="Google Shape;771;p48"/>
          <p:cNvGrpSpPr/>
          <p:nvPr/>
        </p:nvGrpSpPr>
        <p:grpSpPr>
          <a:xfrm>
            <a:off x="71437" y="1136650"/>
            <a:ext cx="1081087" cy="1217612"/>
            <a:chOff x="1404" y="3105"/>
            <a:chExt cx="681" cy="767"/>
          </a:xfrm>
        </p:grpSpPr>
        <p:grpSp>
          <p:nvGrpSpPr>
            <p:cNvPr id="772" name="Google Shape;772;p48"/>
            <p:cNvGrpSpPr/>
            <p:nvPr/>
          </p:nvGrpSpPr>
          <p:grpSpPr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773" name="Google Shape;773;p48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774" name="Google Shape;774;p48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775" name="Google Shape;775;p48"/>
                  <p:cNvSpPr txBox="1"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76" name="Google Shape;776;p48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777" name="Google Shape;777;p48"/>
                <p:cNvSpPr txBox="1"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8" name="Google Shape;778;p48"/>
                <p:cNvSpPr txBox="1"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79" name="Google Shape;779;p48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780" name="Google Shape;780;p48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781" name="Google Shape;781;p48"/>
                  <p:cNvSpPr txBox="1"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82" name="Google Shape;782;p48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83" name="Google Shape;783;p48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784" name="Google Shape;784;p48"/>
                  <p:cNvSpPr txBox="1"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9525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85" name="Google Shape;785;p48"/>
                  <p:cNvSpPr txBox="1"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786" name="Google Shape;786;p48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787" name="Google Shape;787;p48"/>
                <p:cNvSpPr txBox="1"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8" name="Google Shape;788;p48"/>
                <p:cNvSpPr txBox="1"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89" name="Google Shape;789;p48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790" name="Google Shape;790;p48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791" name="Google Shape;791;p48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792" name="Google Shape;792;p48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793" name="Google Shape;793;p48"/>
                      <p:cNvSpPr txBox="1"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chemeClr val="l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794" name="Google Shape;794;p48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chemeClr val="lt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grpSp>
                  <p:nvGrpSpPr>
                    <p:cNvPr id="795" name="Google Shape;795;p48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796" name="Google Shape;796;p48"/>
                      <p:cNvSpPr txBox="1"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cap="flat" cmpd="sng" w="9525">
                        <a:solidFill>
                          <a:schemeClr val="l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797" name="Google Shape;797;p48"/>
                      <p:cNvSpPr txBox="1"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798" name="Google Shape;798;p48"/>
                  <p:cNvSpPr txBox="1"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9" name="Google Shape;799;p48"/>
                  <p:cNvSpPr txBox="1"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2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0" name="Google Shape;800;p48"/>
                <p:cNvSpPr txBox="1"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1" name="Google Shape;801;p48"/>
                <p:cNvSpPr txBox="1"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2" name="Google Shape;802;p48"/>
                <p:cNvSpPr txBox="1"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03" name="Google Shape;803;p48"/>
            <p:cNvSpPr/>
            <p:nvPr/>
          </p:nvSpPr>
          <p:spPr>
            <a:xfrm rot="10800000">
              <a:off x="1727" y="3105"/>
              <a:ext cx="240" cy="767"/>
            </a:xfrm>
            <a:prstGeom prst="downArrow">
              <a:avLst>
                <a:gd fmla="val 18132" name="adj1"/>
                <a:gd fmla="val 4950" name="adj2"/>
              </a:avLst>
            </a:prstGeom>
            <a:gradFill>
              <a:gsLst>
                <a:gs pos="0">
                  <a:srgbClr val="FF0000">
                    <a:alpha val="22745"/>
                  </a:srgbClr>
                </a:gs>
                <a:gs pos="100000">
                  <a:srgbClr val="FF0000">
                    <a:alpha val="2274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4" name="Google Shape;804;p48"/>
            <p:cNvGrpSpPr/>
            <p:nvPr/>
          </p:nvGrpSpPr>
          <p:grpSpPr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805" name="Google Shape;805;p48"/>
              <p:cNvSpPr txBox="1"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48"/>
              <p:cNvSpPr txBox="1"/>
              <p:nvPr/>
            </p:nvSpPr>
            <p:spPr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07" name="Google Shape;807;p48"/>
          <p:cNvSpPr txBox="1"/>
          <p:nvPr/>
        </p:nvSpPr>
        <p:spPr>
          <a:xfrm>
            <a:off x="5026025" y="4230687"/>
            <a:ext cx="3421062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1" lvl="0" marL="23336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client now knows its IP address, name and IP address of DNS server, IP address of its first-hop 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8" name="Google Shape;808;p48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813" name="Google Shape;81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12" y="1101725"/>
            <a:ext cx="36560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49"/>
          <p:cNvSpPr txBox="1"/>
          <p:nvPr>
            <p:ph type="title"/>
          </p:nvPr>
        </p:nvSpPr>
        <p:spPr>
          <a:xfrm>
            <a:off x="358775" y="174625"/>
            <a:ext cx="37036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600"/>
              <a:buFont typeface="Gill Sans"/>
              <a:buNone/>
            </a:pPr>
            <a:r>
              <a:rPr b="0" i="0" lang="en-US" sz="36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DHCP: Wireshark output </a:t>
            </a:r>
            <a:r>
              <a:rPr b="0" i="0" lang="en-US" sz="32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(home LAN)</a:t>
            </a:r>
            <a:endParaRPr/>
          </a:p>
        </p:txBody>
      </p:sp>
      <p:sp>
        <p:nvSpPr>
          <p:cNvPr id="815" name="Google Shape;815;p49"/>
          <p:cNvSpPr txBox="1"/>
          <p:nvPr/>
        </p:nvSpPr>
        <p:spPr>
          <a:xfrm>
            <a:off x="4570412" y="500062"/>
            <a:ext cx="4492625" cy="4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 type: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Boot Reply (2)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type: Ethernet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address length: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Hops: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Transaction ID: 0x6b3a11b7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Seconds elapsed: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Bootp flags: 0x0000 (Unicast)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Client IP address: 192.168.1.101 (192.168.1.101)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(client) IP address: 0.0.0.0 (0.0.0.0)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Next server IP address: 192.168.1.1 (192.168.1.1)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Relay agent IP address: 0.0.0.0 (0.0.0.0)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 MAC address: Wistron_23:68:8a (00:16:d3:23:68:8a)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 host name not given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Boot file name not given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Magic cookie: (OK)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Option: (t=53,l=1) DHCP Message Type = DHCP 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Option: (t=54,l=4) Server Identifier = 192.168.1.1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Option: (t=1,l=4) Subnet Mask = 255.255.255.0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Option: (t=3,l=4) Router = 192.168.1.1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Option: (6) Domain Name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Length: 12; Value: 445747E2445749F244574092;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IP Address: 68.87.71.226;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IP Address: 68.87.73.242;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IP Address: 68.87.64.146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Option: (t=15,l=20) Domain Name = "hsd1.ma.comcast.net."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6" name="Google Shape;816;p49"/>
          <p:cNvCxnSpPr/>
          <p:nvPr/>
        </p:nvCxnSpPr>
        <p:spPr>
          <a:xfrm>
            <a:off x="4522787" y="298450"/>
            <a:ext cx="9525" cy="6276975"/>
          </a:xfrm>
          <a:prstGeom prst="straightConnector1">
            <a:avLst/>
          </a:prstGeom>
          <a:noFill/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7" name="Google Shape;817;p49"/>
          <p:cNvSpPr txBox="1"/>
          <p:nvPr/>
        </p:nvSpPr>
        <p:spPr>
          <a:xfrm>
            <a:off x="7634287" y="485775"/>
            <a:ext cx="846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reply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49"/>
          <p:cNvSpPr txBox="1"/>
          <p:nvPr/>
        </p:nvSpPr>
        <p:spPr>
          <a:xfrm>
            <a:off x="157162" y="1506537"/>
            <a:ext cx="4394200" cy="471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 type: </a:t>
            </a:r>
            <a:r>
              <a:rPr b="1" i="0" lang="en-US" sz="12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Boot Request 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type: Ethernet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address length: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Hops: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Transaction ID: 0x6b3a11b7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Seconds elapsed: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Bootp flags: 0x0000 (Unicast)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 IP address: 0.0.0.0 (0.0.0.0)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(client) IP address: 0.0.0.0 (0.0.0.0)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server IP address: 0.0.0.0 (0.0.0.0)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Relay agent IP address: 0.0.0.0 (0.0.0.0)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Client MAC address: Wistron_23:68:8a (00:16:d3:23:68:8a)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 host name not given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Boot file name not given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Magic cookie: (OK)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Option: (t=53,l=1)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DHCP Message Type = DHCP Request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Option: (61) Client identifier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Length: 7; Value: 010016D323688A;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Hardware type: Ethernet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Client MAC address: Wistron_23:68:8a (00:16:d3:23:68:8a)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Option: (t=50,l=4) Requested IP Address = 192.168.1.101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Option: (t=12,l=5) Host Name = "nomad"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Option: (55) Parameter Request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Length: 11; Value: 010F03062C2E2F1F21F92B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 = Subnet Mask; 15 = Domain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3 = Router; 6 = Domain Name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44 = NetBIOS over TCP/IP Name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49"/>
          <p:cNvSpPr txBox="1"/>
          <p:nvPr/>
        </p:nvSpPr>
        <p:spPr>
          <a:xfrm>
            <a:off x="2613025" y="1885950"/>
            <a:ext cx="1201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49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4"/>
          <p:cNvSpPr/>
          <p:nvPr/>
        </p:nvSpPr>
        <p:spPr>
          <a:xfrm>
            <a:off x="4152900" y="1871662"/>
            <a:ext cx="3738562" cy="2697162"/>
          </a:xfrm>
          <a:custGeom>
            <a:rect b="b" l="l" r="r" t="t"/>
            <a:pathLst>
              <a:path extrusionOk="0" h="1699" w="2355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54"/>
          <p:cNvSpPr txBox="1"/>
          <p:nvPr>
            <p:ph type="title"/>
          </p:nvPr>
        </p:nvSpPr>
        <p:spPr>
          <a:xfrm>
            <a:off x="533400" y="230187"/>
            <a:ext cx="8091487" cy="908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NAT: network address translation</a:t>
            </a:r>
            <a:endParaRPr/>
          </a:p>
        </p:txBody>
      </p:sp>
      <p:sp>
        <p:nvSpPr>
          <p:cNvPr id="827" name="Google Shape;827;p54"/>
          <p:cNvSpPr/>
          <p:nvPr/>
        </p:nvSpPr>
        <p:spPr>
          <a:xfrm>
            <a:off x="0" y="2579687"/>
            <a:ext cx="3849687" cy="1425575"/>
          </a:xfrm>
          <a:custGeom>
            <a:rect b="b" l="l" r="r" t="t"/>
            <a:pathLst>
              <a:path extrusionOk="0" h="898" w="2425">
                <a:moveTo>
                  <a:pt x="2056" y="289"/>
                </a:moveTo>
                <a:cubicBezTo>
                  <a:pt x="1826" y="223"/>
                  <a:pt x="1133" y="113"/>
                  <a:pt x="810" y="75"/>
                </a:cubicBezTo>
                <a:cubicBezTo>
                  <a:pt x="487" y="37"/>
                  <a:pt x="230" y="0"/>
                  <a:pt x="115" y="60"/>
                </a:cubicBezTo>
                <a:cubicBezTo>
                  <a:pt x="0" y="120"/>
                  <a:pt x="121" y="301"/>
                  <a:pt x="121" y="433"/>
                </a:cubicBezTo>
                <a:cubicBezTo>
                  <a:pt x="121" y="565"/>
                  <a:pt x="25" y="802"/>
                  <a:pt x="115" y="850"/>
                </a:cubicBezTo>
                <a:cubicBezTo>
                  <a:pt x="205" y="898"/>
                  <a:pt x="316" y="784"/>
                  <a:pt x="662" y="721"/>
                </a:cubicBezTo>
                <a:cubicBezTo>
                  <a:pt x="1008" y="658"/>
                  <a:pt x="1961" y="544"/>
                  <a:pt x="2193" y="472"/>
                </a:cubicBezTo>
                <a:cubicBezTo>
                  <a:pt x="2425" y="400"/>
                  <a:pt x="2292" y="327"/>
                  <a:pt x="2056" y="289"/>
                </a:cubicBezTo>
                <a:close/>
              </a:path>
            </a:pathLst>
          </a:custGeom>
          <a:gradFill>
            <a:gsLst>
              <a:gs pos="0">
                <a:srgbClr val="66CCFF"/>
              </a:gs>
              <a:gs pos="100000">
                <a:srgbClr val="FFFFFF">
                  <a:alpha val="95686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8" name="Google Shape;828;p54"/>
          <p:cNvCxnSpPr/>
          <p:nvPr/>
        </p:nvCxnSpPr>
        <p:spPr>
          <a:xfrm flipH="1" rot="10800000">
            <a:off x="4267200" y="3182937"/>
            <a:ext cx="1214437" cy="1111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9" name="Google Shape;829;p54"/>
          <p:cNvCxnSpPr/>
          <p:nvPr/>
        </p:nvCxnSpPr>
        <p:spPr>
          <a:xfrm rot="10800000">
            <a:off x="7010400" y="3233737"/>
            <a:ext cx="30003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0" name="Google Shape;830;p54"/>
          <p:cNvCxnSpPr/>
          <p:nvPr/>
        </p:nvCxnSpPr>
        <p:spPr>
          <a:xfrm>
            <a:off x="7107237" y="2446337"/>
            <a:ext cx="133350" cy="63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1" name="Google Shape;831;p54"/>
          <p:cNvCxnSpPr/>
          <p:nvPr/>
        </p:nvCxnSpPr>
        <p:spPr>
          <a:xfrm>
            <a:off x="7113587" y="3951287"/>
            <a:ext cx="17145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2" name="Google Shape;832;p54"/>
          <p:cNvSpPr txBox="1"/>
          <p:nvPr/>
        </p:nvSpPr>
        <p:spPr>
          <a:xfrm>
            <a:off x="7732712" y="2176462"/>
            <a:ext cx="9191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10.0.0.1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54"/>
          <p:cNvSpPr txBox="1"/>
          <p:nvPr/>
        </p:nvSpPr>
        <p:spPr>
          <a:xfrm>
            <a:off x="7859712" y="2944812"/>
            <a:ext cx="9191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10.0.0.2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54"/>
          <p:cNvSpPr txBox="1"/>
          <p:nvPr/>
        </p:nvSpPr>
        <p:spPr>
          <a:xfrm>
            <a:off x="7810500" y="3751262"/>
            <a:ext cx="9191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10.0.0.3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54"/>
          <p:cNvSpPr txBox="1"/>
          <p:nvPr/>
        </p:nvSpPr>
        <p:spPr>
          <a:xfrm>
            <a:off x="4217987" y="2667000"/>
            <a:ext cx="9191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10.0.0.4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6" name="Google Shape;836;p54"/>
          <p:cNvCxnSpPr/>
          <p:nvPr/>
        </p:nvCxnSpPr>
        <p:spPr>
          <a:xfrm flipH="1">
            <a:off x="4341812" y="2944812"/>
            <a:ext cx="85725" cy="128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37" name="Google Shape;837;p54"/>
          <p:cNvSpPr txBox="1"/>
          <p:nvPr/>
        </p:nvSpPr>
        <p:spPr>
          <a:xfrm>
            <a:off x="2324100" y="3324225"/>
            <a:ext cx="12573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138.76.29.7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8" name="Google Shape;838;p54"/>
          <p:cNvCxnSpPr/>
          <p:nvPr/>
        </p:nvCxnSpPr>
        <p:spPr>
          <a:xfrm flipH="1">
            <a:off x="3502025" y="3271837"/>
            <a:ext cx="85725" cy="128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839" name="Google Shape;839;p54"/>
          <p:cNvCxnSpPr/>
          <p:nvPr/>
        </p:nvCxnSpPr>
        <p:spPr>
          <a:xfrm>
            <a:off x="706437" y="3222625"/>
            <a:ext cx="3025775" cy="63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0" name="Google Shape;840;p54"/>
          <p:cNvSpPr txBox="1"/>
          <p:nvPr/>
        </p:nvSpPr>
        <p:spPr>
          <a:xfrm>
            <a:off x="4716462" y="1674812"/>
            <a:ext cx="22796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(e.g., home network)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10.0.0/24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1" name="Google Shape;841;p54"/>
          <p:cNvCxnSpPr/>
          <p:nvPr/>
        </p:nvCxnSpPr>
        <p:spPr>
          <a:xfrm>
            <a:off x="6985000" y="1900237"/>
            <a:ext cx="13858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2" name="Google Shape;842;p54"/>
          <p:cNvCxnSpPr/>
          <p:nvPr/>
        </p:nvCxnSpPr>
        <p:spPr>
          <a:xfrm>
            <a:off x="4033837" y="1760537"/>
            <a:ext cx="0" cy="10810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3" name="Google Shape;843;p54"/>
          <p:cNvCxnSpPr/>
          <p:nvPr/>
        </p:nvCxnSpPr>
        <p:spPr>
          <a:xfrm rot="10800000">
            <a:off x="4173537" y="1887537"/>
            <a:ext cx="8985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4" name="Google Shape;844;p54"/>
          <p:cNvCxnSpPr/>
          <p:nvPr/>
        </p:nvCxnSpPr>
        <p:spPr>
          <a:xfrm>
            <a:off x="2578100" y="1900237"/>
            <a:ext cx="13858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5" name="Google Shape;845;p54"/>
          <p:cNvCxnSpPr/>
          <p:nvPr/>
        </p:nvCxnSpPr>
        <p:spPr>
          <a:xfrm rot="10800000">
            <a:off x="766762" y="1887537"/>
            <a:ext cx="8985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46" name="Google Shape;846;p54"/>
          <p:cNvSpPr txBox="1"/>
          <p:nvPr/>
        </p:nvSpPr>
        <p:spPr>
          <a:xfrm>
            <a:off x="1654175" y="1662112"/>
            <a:ext cx="9588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54"/>
          <p:cNvSpPr txBox="1"/>
          <p:nvPr/>
        </p:nvSpPr>
        <p:spPr>
          <a:xfrm>
            <a:off x="4260850" y="4741862"/>
            <a:ext cx="3763962" cy="1336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datagrams with source or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destination in this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have 10.0.0/24 address for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source, destination (as usual)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54"/>
          <p:cNvSpPr txBox="1"/>
          <p:nvPr/>
        </p:nvSpPr>
        <p:spPr>
          <a:xfrm>
            <a:off x="269875" y="4746625"/>
            <a:ext cx="3684587" cy="164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Gill San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all</a:t>
            </a:r>
            <a:r>
              <a:rPr b="0" i="0" lang="en-US" sz="24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datagrams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leaving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local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network have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same</a:t>
            </a: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single source NAT IP address: 138.76.29.7,different source port numbers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derline_base" id="849" name="Google Shape;84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487" y="922337"/>
            <a:ext cx="7769225" cy="173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0" name="Google Shape;850;p54"/>
          <p:cNvCxnSpPr/>
          <p:nvPr/>
        </p:nvCxnSpPr>
        <p:spPr>
          <a:xfrm flipH="1" rot="10800000">
            <a:off x="4818062" y="3344862"/>
            <a:ext cx="668337" cy="1427162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1" name="Google Shape;851;p54"/>
          <p:cNvCxnSpPr/>
          <p:nvPr/>
        </p:nvCxnSpPr>
        <p:spPr>
          <a:xfrm flipH="1" rot="10800000">
            <a:off x="2706687" y="3308350"/>
            <a:ext cx="668337" cy="1427162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52" name="Google Shape;852;p54"/>
          <p:cNvGrpSpPr/>
          <p:nvPr/>
        </p:nvGrpSpPr>
        <p:grpSpPr>
          <a:xfrm>
            <a:off x="3633787" y="3059112"/>
            <a:ext cx="900112" cy="347662"/>
            <a:chOff x="4396" y="1245"/>
            <a:chExt cx="672" cy="248"/>
          </a:xfrm>
        </p:grpSpPr>
        <p:sp>
          <p:nvSpPr>
            <p:cNvPr id="853" name="Google Shape;853;p54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CCCCFF"/>
                </a:gs>
              </a:gsLst>
              <a:lin ang="10800000" scaled="0"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4"/>
            <p:cNvSpPr txBox="1"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CCCC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4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CCCCFF"/>
                </a:gs>
              </a:gsLst>
              <a:lin ang="10800000" scaled="0"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6" name="Google Shape;856;p54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857" name="Google Shape;857;p54"/>
              <p:cNvSpPr/>
              <p:nvPr/>
            </p:nvSpPr>
            <p:spPr>
              <a:xfrm>
                <a:off x="2468" y="1332"/>
                <a:ext cx="310" cy="60"/>
              </a:xfrm>
              <a:custGeom>
                <a:rect b="b" l="l" r="r" t="t"/>
                <a:pathLst>
                  <a:path extrusionOk="0" h="60" w="31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54"/>
              <p:cNvSpPr/>
              <p:nvPr/>
            </p:nvSpPr>
            <p:spPr>
              <a:xfrm>
                <a:off x="2482" y="1332"/>
                <a:ext cx="282" cy="60"/>
              </a:xfrm>
              <a:custGeom>
                <a:rect b="b" l="l" r="r" t="t"/>
                <a:pathLst>
                  <a:path extrusionOk="0" h="60" w="282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59" name="Google Shape;859;p54"/>
            <p:cNvCxnSpPr/>
            <p:nvPr/>
          </p:nvCxnSpPr>
          <p:spPr>
            <a:xfrm>
              <a:off x="4400" y="1321"/>
              <a:ext cx="0" cy="10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0" name="Google Shape;860;p54"/>
            <p:cNvCxnSpPr/>
            <p:nvPr/>
          </p:nvCxnSpPr>
          <p:spPr>
            <a:xfrm>
              <a:off x="5063" y="1327"/>
              <a:ext cx="0" cy="106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61" name="Google Shape;861;p54"/>
          <p:cNvGrpSpPr/>
          <p:nvPr/>
        </p:nvGrpSpPr>
        <p:grpSpPr>
          <a:xfrm flipH="1">
            <a:off x="7207250" y="2239962"/>
            <a:ext cx="641350" cy="558800"/>
            <a:chOff x="-44" y="1473"/>
            <a:chExt cx="981" cy="1105"/>
          </a:xfrm>
        </p:grpSpPr>
        <p:pic>
          <p:nvPicPr>
            <p:cNvPr descr="desktop_computer_stylized_medium" id="862" name="Google Shape;862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3" name="Google Shape;863;p5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99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4" name="Google Shape;864;p54"/>
          <p:cNvGrpSpPr/>
          <p:nvPr/>
        </p:nvGrpSpPr>
        <p:grpSpPr>
          <a:xfrm flipH="1">
            <a:off x="7246937" y="2916237"/>
            <a:ext cx="641350" cy="558800"/>
            <a:chOff x="-44" y="1473"/>
            <a:chExt cx="981" cy="1105"/>
          </a:xfrm>
        </p:grpSpPr>
        <p:pic>
          <p:nvPicPr>
            <p:cNvPr descr="desktop_computer_stylized_medium" id="865" name="Google Shape;865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6" name="Google Shape;866;p5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99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7" name="Google Shape;867;p54"/>
          <p:cNvGrpSpPr/>
          <p:nvPr/>
        </p:nvGrpSpPr>
        <p:grpSpPr>
          <a:xfrm flipH="1">
            <a:off x="7254875" y="3670300"/>
            <a:ext cx="641350" cy="558800"/>
            <a:chOff x="-44" y="1473"/>
            <a:chExt cx="981" cy="1105"/>
          </a:xfrm>
        </p:grpSpPr>
        <p:pic>
          <p:nvPicPr>
            <p:cNvPr descr="desktop_computer_stylized_medium" id="868" name="Google Shape;868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9" name="Google Shape;869;p5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99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0" name="Google Shape;870;p54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55"/>
          <p:cNvSpPr txBox="1"/>
          <p:nvPr>
            <p:ph idx="1" type="body"/>
          </p:nvPr>
        </p:nvSpPr>
        <p:spPr>
          <a:xfrm>
            <a:off x="385762" y="1600200"/>
            <a:ext cx="841851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1" lang="en-US" sz="280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motivation:</a:t>
            </a: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local network uses just one IP address as far as outside world is concerned: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range of addresses not needed from ISP:  just one IP address for all devices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can change addresses of devices in local network without notifying outside world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can change ISP without changing addresses of devices in local network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devices inside local net not explicitly addressable, visible by outside world (a security plus)</a:t>
            </a:r>
            <a:endParaRPr/>
          </a:p>
          <a:p>
            <a:pPr indent="-1651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6" name="Google Shape;876;p55"/>
          <p:cNvSpPr txBox="1"/>
          <p:nvPr>
            <p:ph type="title"/>
          </p:nvPr>
        </p:nvSpPr>
        <p:spPr>
          <a:xfrm>
            <a:off x="533400" y="230187"/>
            <a:ext cx="8091487" cy="908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NAT: network address translation</a:t>
            </a:r>
            <a:endParaRPr/>
          </a:p>
        </p:txBody>
      </p:sp>
      <p:pic>
        <p:nvPicPr>
          <p:cNvPr descr="underline_base" id="877" name="Google Shape;87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487" y="922337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55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56"/>
          <p:cNvSpPr txBox="1"/>
          <p:nvPr>
            <p:ph idx="1" type="body"/>
          </p:nvPr>
        </p:nvSpPr>
        <p:spPr>
          <a:xfrm>
            <a:off x="234950" y="1482725"/>
            <a:ext cx="857567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r>
              <a:rPr b="0" i="1" lang="en-US" sz="280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implementation</a:t>
            </a:r>
            <a:r>
              <a:rPr b="0" i="0" lang="en-US" sz="280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NAT router must:</a:t>
            </a:r>
            <a:b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endParaRPr/>
          </a:p>
          <a:p>
            <a:pPr indent="-231775" lvl="1" marL="688975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1" lang="en-US" sz="2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outgoing datagrams:</a:t>
            </a:r>
            <a:r>
              <a:rPr b="0" i="0" lang="en-US" sz="2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1" lang="en-US" sz="2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replace</a:t>
            </a: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(source IP address, port #) of every outgoing datagram to (NAT IP address, new port #)</a:t>
            </a:r>
            <a:endParaRPr/>
          </a:p>
          <a:p>
            <a:pPr indent="0" lvl="2" marL="9144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</a:pP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 . . remote clients/servers will respond using (NAT IP address, new port #) as destination addr</a:t>
            </a:r>
            <a:b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endParaRPr/>
          </a:p>
          <a:p>
            <a:pPr indent="-231775" lvl="1" marL="688975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1" lang="en-US" sz="2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remember (in NAT translation table)</a:t>
            </a:r>
            <a:r>
              <a:rPr b="0" i="1" lang="en-US" sz="2400" u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every (source IP address, port #)  to (NAT IP address, new port #) translation pair</a:t>
            </a:r>
            <a:b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endParaRPr/>
          </a:p>
          <a:p>
            <a:pPr indent="-231775" lvl="1" marL="688975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1" lang="en-US" sz="2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incoming datagrams:</a:t>
            </a:r>
            <a:r>
              <a:rPr b="0" i="0" lang="en-US" sz="2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1" lang="en-US" sz="2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replace</a:t>
            </a: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(NAT IP address, new port #) in dest fields of every incoming datagram with corresponding (source IP address, port #) stored in NAT table</a:t>
            </a:r>
            <a:endParaRPr/>
          </a:p>
          <a:p>
            <a:pPr indent="-1905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4" name="Google Shape;884;p56"/>
          <p:cNvSpPr txBox="1"/>
          <p:nvPr>
            <p:ph type="title"/>
          </p:nvPr>
        </p:nvSpPr>
        <p:spPr>
          <a:xfrm>
            <a:off x="533400" y="230187"/>
            <a:ext cx="8091487" cy="908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NAT: network address translation</a:t>
            </a:r>
            <a:endParaRPr/>
          </a:p>
        </p:txBody>
      </p:sp>
      <p:pic>
        <p:nvPicPr>
          <p:cNvPr descr="underline_base" id="885" name="Google Shape;88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487" y="922337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56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7"/>
          <p:cNvSpPr/>
          <p:nvPr/>
        </p:nvSpPr>
        <p:spPr>
          <a:xfrm>
            <a:off x="179387" y="3651250"/>
            <a:ext cx="4089400" cy="1355725"/>
          </a:xfrm>
          <a:custGeom>
            <a:rect b="b" l="l" r="r" t="t"/>
            <a:pathLst>
              <a:path extrusionOk="0" h="854" w="2269">
                <a:moveTo>
                  <a:pt x="1888" y="285"/>
                </a:moveTo>
                <a:cubicBezTo>
                  <a:pt x="1622" y="258"/>
                  <a:pt x="723" y="317"/>
                  <a:pt x="418" y="283"/>
                </a:cubicBezTo>
                <a:cubicBezTo>
                  <a:pt x="113" y="249"/>
                  <a:pt x="120" y="0"/>
                  <a:pt x="60" y="83"/>
                </a:cubicBezTo>
                <a:cubicBezTo>
                  <a:pt x="0" y="166"/>
                  <a:pt x="8" y="708"/>
                  <a:pt x="60" y="781"/>
                </a:cubicBezTo>
                <a:cubicBezTo>
                  <a:pt x="112" y="854"/>
                  <a:pt x="48" y="575"/>
                  <a:pt x="374" y="519"/>
                </a:cubicBezTo>
                <a:cubicBezTo>
                  <a:pt x="700" y="463"/>
                  <a:pt x="1765" y="486"/>
                  <a:pt x="2017" y="447"/>
                </a:cubicBezTo>
                <a:cubicBezTo>
                  <a:pt x="2269" y="408"/>
                  <a:pt x="2110" y="319"/>
                  <a:pt x="1888" y="285"/>
                </a:cubicBezTo>
                <a:close/>
              </a:path>
            </a:pathLst>
          </a:custGeom>
          <a:gradFill>
            <a:gsLst>
              <a:gs pos="0">
                <a:srgbClr val="66CCFF"/>
              </a:gs>
              <a:gs pos="100000">
                <a:srgbClr val="FFFFFF">
                  <a:alpha val="95686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57"/>
          <p:cNvSpPr/>
          <p:nvPr/>
        </p:nvSpPr>
        <p:spPr>
          <a:xfrm>
            <a:off x="4468812" y="2922587"/>
            <a:ext cx="3738562" cy="2697162"/>
          </a:xfrm>
          <a:custGeom>
            <a:rect b="b" l="l" r="r" t="t"/>
            <a:pathLst>
              <a:path extrusionOk="0" h="1699" w="2355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3" name="Google Shape;893;p57"/>
          <p:cNvCxnSpPr/>
          <p:nvPr/>
        </p:nvCxnSpPr>
        <p:spPr>
          <a:xfrm>
            <a:off x="4583112" y="4244975"/>
            <a:ext cx="60483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4" name="Google Shape;894;p57"/>
          <p:cNvCxnSpPr/>
          <p:nvPr/>
        </p:nvCxnSpPr>
        <p:spPr>
          <a:xfrm>
            <a:off x="7423150" y="3497262"/>
            <a:ext cx="133350" cy="63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5" name="Google Shape;895;p57"/>
          <p:cNvCxnSpPr/>
          <p:nvPr/>
        </p:nvCxnSpPr>
        <p:spPr>
          <a:xfrm>
            <a:off x="7429500" y="5002212"/>
            <a:ext cx="17145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6" name="Google Shape;896;p57"/>
          <p:cNvSpPr txBox="1"/>
          <p:nvPr/>
        </p:nvSpPr>
        <p:spPr>
          <a:xfrm>
            <a:off x="8048625" y="3227387"/>
            <a:ext cx="9191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10.0.0.1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57"/>
          <p:cNvSpPr txBox="1"/>
          <p:nvPr/>
        </p:nvSpPr>
        <p:spPr>
          <a:xfrm>
            <a:off x="8175625" y="3995737"/>
            <a:ext cx="9191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10.0.0.2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57"/>
          <p:cNvSpPr txBox="1"/>
          <p:nvPr/>
        </p:nvSpPr>
        <p:spPr>
          <a:xfrm>
            <a:off x="8137525" y="4891087"/>
            <a:ext cx="9191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10.0.0.3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9" name="Google Shape;899;p57"/>
          <p:cNvGrpSpPr/>
          <p:nvPr/>
        </p:nvGrpSpPr>
        <p:grpSpPr>
          <a:xfrm>
            <a:off x="5630862" y="2855912"/>
            <a:ext cx="1871662" cy="1033462"/>
            <a:chOff x="3550" y="2055"/>
            <a:chExt cx="1179" cy="651"/>
          </a:xfrm>
        </p:grpSpPr>
        <p:grpSp>
          <p:nvGrpSpPr>
            <p:cNvPr id="900" name="Google Shape;900;p57"/>
            <p:cNvGrpSpPr/>
            <p:nvPr/>
          </p:nvGrpSpPr>
          <p:grpSpPr>
            <a:xfrm>
              <a:off x="3550" y="2055"/>
              <a:ext cx="1179" cy="357"/>
              <a:chOff x="4381" y="786"/>
              <a:chExt cx="1108" cy="357"/>
            </a:xfrm>
          </p:grpSpPr>
          <p:sp>
            <p:nvSpPr>
              <p:cNvPr id="901" name="Google Shape;901;p57"/>
              <p:cNvSpPr txBox="1"/>
              <p:nvPr/>
            </p:nvSpPr>
            <p:spPr>
              <a:xfrm>
                <a:off x="4385" y="830"/>
                <a:ext cx="1104" cy="256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57"/>
              <p:cNvSpPr txBox="1"/>
              <p:nvPr/>
            </p:nvSpPr>
            <p:spPr>
              <a:xfrm>
                <a:off x="4381" y="813"/>
                <a:ext cx="1045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S: 10.0.0.1, 3345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D: 128.119.40.186, 80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03" name="Google Shape;903;p57"/>
              <p:cNvGrpSpPr/>
              <p:nvPr/>
            </p:nvGrpSpPr>
            <p:grpSpPr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904" name="Google Shape;904;p57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rect b="b" l="l" r="r" t="t"/>
                  <a:pathLst>
                    <a:path extrusionOk="0" h="99" w="48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05" name="Google Shape;905;p57"/>
                <p:cNvCxnSpPr/>
                <p:nvPr/>
              </p:nvCxnSpPr>
              <p:spPr>
                <a:xfrm flipH="1">
                  <a:off x="5512" y="1608"/>
                  <a:ext cx="22" cy="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06" name="Google Shape;906;p57"/>
                <p:cNvCxnSpPr/>
                <p:nvPr/>
              </p:nvCxnSpPr>
              <p:spPr>
                <a:xfrm flipH="1">
                  <a:off x="5536" y="1620"/>
                  <a:ext cx="20" cy="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07" name="Google Shape;907;p57"/>
              <p:cNvGrpSpPr/>
              <p:nvPr/>
            </p:nvGrpSpPr>
            <p:grpSpPr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908" name="Google Shape;908;p57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rect b="b" l="l" r="r" t="t"/>
                  <a:pathLst>
                    <a:path extrusionOk="0" h="99" w="48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09" name="Google Shape;909;p57"/>
                <p:cNvCxnSpPr/>
                <p:nvPr/>
              </p:nvCxnSpPr>
              <p:spPr>
                <a:xfrm flipH="1">
                  <a:off x="5512" y="1608"/>
                  <a:ext cx="22" cy="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10" name="Google Shape;910;p57"/>
                <p:cNvCxnSpPr/>
                <p:nvPr/>
              </p:nvCxnSpPr>
              <p:spPr>
                <a:xfrm flipH="1">
                  <a:off x="5536" y="1620"/>
                  <a:ext cx="20" cy="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911" name="Google Shape;911;p57"/>
            <p:cNvSpPr/>
            <p:nvPr/>
          </p:nvSpPr>
          <p:spPr>
            <a:xfrm>
              <a:off x="3573" y="2364"/>
              <a:ext cx="564" cy="342"/>
            </a:xfrm>
            <a:custGeom>
              <a:rect b="b" l="l" r="r" t="t"/>
              <a:pathLst>
                <a:path extrusionOk="0" h="264" w="417">
                  <a:moveTo>
                    <a:pt x="0" y="264"/>
                  </a:moveTo>
                  <a:lnTo>
                    <a:pt x="417" y="264"/>
                  </a:lnTo>
                  <a:lnTo>
                    <a:pt x="417" y="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2" name="Google Shape;912;p57"/>
            <p:cNvGrpSpPr/>
            <p:nvPr/>
          </p:nvGrpSpPr>
          <p:grpSpPr>
            <a:xfrm>
              <a:off x="4032" y="2416"/>
              <a:ext cx="218" cy="231"/>
              <a:chOff x="5140" y="400"/>
              <a:chExt cx="218" cy="231"/>
            </a:xfrm>
          </p:grpSpPr>
          <p:sp>
            <p:nvSpPr>
              <p:cNvPr id="913" name="Google Shape;913;p57"/>
              <p:cNvSpPr/>
              <p:nvPr/>
            </p:nvSpPr>
            <p:spPr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57"/>
              <p:cNvSpPr txBox="1"/>
              <p:nvPr/>
            </p:nvSpPr>
            <p:spPr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15" name="Google Shape;915;p57"/>
          <p:cNvSpPr txBox="1"/>
          <p:nvPr/>
        </p:nvSpPr>
        <p:spPr>
          <a:xfrm>
            <a:off x="4533900" y="3817937"/>
            <a:ext cx="9191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10.0.0.4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6" name="Google Shape;916;p57"/>
          <p:cNvCxnSpPr/>
          <p:nvPr/>
        </p:nvCxnSpPr>
        <p:spPr>
          <a:xfrm flipH="1">
            <a:off x="4657725" y="4073525"/>
            <a:ext cx="85725" cy="128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17" name="Google Shape;917;p57"/>
          <p:cNvSpPr txBox="1"/>
          <p:nvPr/>
        </p:nvSpPr>
        <p:spPr>
          <a:xfrm>
            <a:off x="2695575" y="4375150"/>
            <a:ext cx="12573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138.76.29.7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8" name="Google Shape;918;p57"/>
          <p:cNvCxnSpPr/>
          <p:nvPr/>
        </p:nvCxnSpPr>
        <p:spPr>
          <a:xfrm flipH="1">
            <a:off x="3917950" y="4311650"/>
            <a:ext cx="85725" cy="128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grpSp>
        <p:nvGrpSpPr>
          <p:cNvPr id="919" name="Google Shape;919;p57"/>
          <p:cNvGrpSpPr/>
          <p:nvPr/>
        </p:nvGrpSpPr>
        <p:grpSpPr>
          <a:xfrm>
            <a:off x="6469062" y="1570037"/>
            <a:ext cx="2433637" cy="1389062"/>
            <a:chOff x="3944" y="989"/>
            <a:chExt cx="1533" cy="875"/>
          </a:xfrm>
        </p:grpSpPr>
        <p:sp>
          <p:nvSpPr>
            <p:cNvPr id="920" name="Google Shape;920;p57"/>
            <p:cNvSpPr txBox="1"/>
            <p:nvPr/>
          </p:nvSpPr>
          <p:spPr>
            <a:xfrm>
              <a:off x="4121" y="989"/>
              <a:ext cx="1356" cy="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1:</a:t>
              </a: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host 10.0.0.1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sends datagram to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128.119.40.186, 80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21" name="Google Shape;921;p57"/>
            <p:cNvCxnSpPr/>
            <p:nvPr/>
          </p:nvCxnSpPr>
          <p:spPr>
            <a:xfrm flipH="1">
              <a:off x="3944" y="1105"/>
              <a:ext cx="197" cy="759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22" name="Google Shape;922;p57"/>
          <p:cNvSpPr/>
          <p:nvPr/>
        </p:nvSpPr>
        <p:spPr>
          <a:xfrm>
            <a:off x="2344737" y="2627312"/>
            <a:ext cx="3862387" cy="1531937"/>
          </a:xfrm>
          <a:custGeom>
            <a:rect b="b" l="l" r="r" t="t"/>
            <a:pathLst>
              <a:path extrusionOk="0" h="965" w="2433">
                <a:moveTo>
                  <a:pt x="0" y="64"/>
                </a:moveTo>
                <a:cubicBezTo>
                  <a:pt x="0" y="64"/>
                  <a:pt x="2079" y="0"/>
                  <a:pt x="2352" y="64"/>
                </a:cubicBezTo>
                <a:cubicBezTo>
                  <a:pt x="2433" y="57"/>
                  <a:pt x="1814" y="309"/>
                  <a:pt x="1640" y="450"/>
                </a:cubicBezTo>
                <a:cubicBezTo>
                  <a:pt x="1466" y="591"/>
                  <a:pt x="1383" y="888"/>
                  <a:pt x="1308" y="965"/>
                </a:cubicBezTo>
                <a:lnTo>
                  <a:pt x="1159" y="965"/>
                </a:lnTo>
                <a:cubicBezTo>
                  <a:pt x="1078" y="870"/>
                  <a:pt x="1013" y="546"/>
                  <a:pt x="820" y="396"/>
                </a:cubicBezTo>
                <a:cubicBezTo>
                  <a:pt x="583" y="207"/>
                  <a:pt x="189" y="142"/>
                  <a:pt x="0" y="64"/>
                </a:cubicBezTo>
                <a:close/>
              </a:path>
            </a:pathLst>
          </a:custGeom>
          <a:gradFill>
            <a:gsLst>
              <a:gs pos="0">
                <a:schemeClr val="hlink"/>
              </a:gs>
              <a:gs pos="100000">
                <a:schemeClr val="lt1"/>
              </a:gs>
            </a:gsLst>
            <a:lin ang="5400000" scaled="0"/>
          </a:gradFill>
          <a:ln cap="flat" cmpd="sng" w="9525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57"/>
          <p:cNvSpPr txBox="1"/>
          <p:nvPr/>
        </p:nvSpPr>
        <p:spPr>
          <a:xfrm>
            <a:off x="2344737" y="1374775"/>
            <a:ext cx="3784600" cy="135413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57"/>
          <p:cNvSpPr txBox="1"/>
          <p:nvPr/>
        </p:nvSpPr>
        <p:spPr>
          <a:xfrm>
            <a:off x="2386012" y="1419225"/>
            <a:ext cx="36766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translation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WAN side addr        LAN side addr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5" name="Google Shape;925;p57"/>
          <p:cNvCxnSpPr/>
          <p:nvPr/>
        </p:nvCxnSpPr>
        <p:spPr>
          <a:xfrm flipH="1" rot="10800000">
            <a:off x="2344737" y="1747837"/>
            <a:ext cx="3790950" cy="111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6" name="Google Shape;926;p57"/>
          <p:cNvCxnSpPr/>
          <p:nvPr/>
        </p:nvCxnSpPr>
        <p:spPr>
          <a:xfrm flipH="1" rot="10800000">
            <a:off x="2359025" y="2025650"/>
            <a:ext cx="3749675" cy="111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7" name="Google Shape;927;p57"/>
          <p:cNvCxnSpPr/>
          <p:nvPr/>
        </p:nvCxnSpPr>
        <p:spPr>
          <a:xfrm>
            <a:off x="4468812" y="1770062"/>
            <a:ext cx="3175" cy="9556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8" name="Google Shape;928;p57"/>
          <p:cNvSpPr txBox="1"/>
          <p:nvPr/>
        </p:nvSpPr>
        <p:spPr>
          <a:xfrm>
            <a:off x="2401887" y="2044700"/>
            <a:ext cx="37020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138.76.29.7, 5001   10.0.0.1, 3345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                                         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9" name="Google Shape;929;p57"/>
          <p:cNvGrpSpPr/>
          <p:nvPr/>
        </p:nvGrpSpPr>
        <p:grpSpPr>
          <a:xfrm>
            <a:off x="4765675" y="3435350"/>
            <a:ext cx="2784475" cy="1631950"/>
            <a:chOff x="3002" y="2417"/>
            <a:chExt cx="1754" cy="1028"/>
          </a:xfrm>
        </p:grpSpPr>
        <p:sp>
          <p:nvSpPr>
            <p:cNvPr id="930" name="Google Shape;930;p57"/>
            <p:cNvSpPr txBox="1"/>
            <p:nvPr/>
          </p:nvSpPr>
          <p:spPr>
            <a:xfrm>
              <a:off x="3002" y="3051"/>
              <a:ext cx="1175" cy="25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57"/>
            <p:cNvSpPr txBox="1"/>
            <p:nvPr/>
          </p:nvSpPr>
          <p:spPr>
            <a:xfrm>
              <a:off x="3104" y="3042"/>
              <a:ext cx="1112" cy="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S: 128.119.40.186, 80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D: 10.0.0.1, 3345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2" name="Google Shape;932;p57"/>
            <p:cNvGrpSpPr/>
            <p:nvPr/>
          </p:nvGrpSpPr>
          <p:grpSpPr>
            <a:xfrm>
              <a:off x="3054" y="3007"/>
              <a:ext cx="51" cy="99"/>
              <a:chOff x="5508" y="1599"/>
              <a:chExt cx="48" cy="99"/>
            </a:xfrm>
          </p:grpSpPr>
          <p:sp>
            <p:nvSpPr>
              <p:cNvPr id="933" name="Google Shape;933;p57"/>
              <p:cNvSpPr/>
              <p:nvPr/>
            </p:nvSpPr>
            <p:spPr>
              <a:xfrm>
                <a:off x="5508" y="1599"/>
                <a:ext cx="48" cy="99"/>
              </a:xfrm>
              <a:custGeom>
                <a:rect b="b" l="l" r="r" t="t"/>
                <a:pathLst>
                  <a:path extrusionOk="0" h="99" w="48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34" name="Google Shape;934;p57"/>
              <p:cNvCxnSpPr/>
              <p:nvPr/>
            </p:nvCxnSpPr>
            <p:spPr>
              <a:xfrm flipH="1">
                <a:off x="5512" y="1608"/>
                <a:ext cx="22" cy="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35" name="Google Shape;935;p57"/>
              <p:cNvCxnSpPr/>
              <p:nvPr/>
            </p:nvCxnSpPr>
            <p:spPr>
              <a:xfrm flipH="1">
                <a:off x="5536" y="1620"/>
                <a:ext cx="20" cy="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36" name="Google Shape;936;p57"/>
            <p:cNvGrpSpPr/>
            <p:nvPr/>
          </p:nvGrpSpPr>
          <p:grpSpPr>
            <a:xfrm>
              <a:off x="3059" y="3248"/>
              <a:ext cx="51" cy="99"/>
              <a:chOff x="5508" y="1599"/>
              <a:chExt cx="48" cy="99"/>
            </a:xfrm>
          </p:grpSpPr>
          <p:sp>
            <p:nvSpPr>
              <p:cNvPr id="937" name="Google Shape;937;p57"/>
              <p:cNvSpPr/>
              <p:nvPr/>
            </p:nvSpPr>
            <p:spPr>
              <a:xfrm>
                <a:off x="5508" y="1599"/>
                <a:ext cx="48" cy="99"/>
              </a:xfrm>
              <a:custGeom>
                <a:rect b="b" l="l" r="r" t="t"/>
                <a:pathLst>
                  <a:path extrusionOk="0" h="99" w="48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38" name="Google Shape;938;p57"/>
              <p:cNvCxnSpPr/>
              <p:nvPr/>
            </p:nvCxnSpPr>
            <p:spPr>
              <a:xfrm flipH="1">
                <a:off x="5512" y="1608"/>
                <a:ext cx="22" cy="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39" name="Google Shape;939;p57"/>
              <p:cNvCxnSpPr/>
              <p:nvPr/>
            </p:nvCxnSpPr>
            <p:spPr>
              <a:xfrm flipH="1">
                <a:off x="5536" y="1620"/>
                <a:ext cx="20" cy="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940" name="Google Shape;940;p57"/>
            <p:cNvSpPr/>
            <p:nvPr/>
          </p:nvSpPr>
          <p:spPr>
            <a:xfrm>
              <a:off x="4179" y="2417"/>
              <a:ext cx="577" cy="768"/>
            </a:xfrm>
            <a:custGeom>
              <a:rect b="b" l="l" r="r" t="t"/>
              <a:pathLst>
                <a:path extrusionOk="0" h="768" w="577">
                  <a:moveTo>
                    <a:pt x="577" y="0"/>
                  </a:moveTo>
                  <a:lnTo>
                    <a:pt x="342" y="0"/>
                  </a:lnTo>
                  <a:lnTo>
                    <a:pt x="342" y="768"/>
                  </a:lnTo>
                  <a:lnTo>
                    <a:pt x="0" y="760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1" name="Google Shape;941;p57"/>
            <p:cNvGrpSpPr/>
            <p:nvPr/>
          </p:nvGrpSpPr>
          <p:grpSpPr>
            <a:xfrm>
              <a:off x="4240" y="3061"/>
              <a:ext cx="218" cy="231"/>
              <a:chOff x="5140" y="400"/>
              <a:chExt cx="218" cy="231"/>
            </a:xfrm>
          </p:grpSpPr>
          <p:sp>
            <p:nvSpPr>
              <p:cNvPr id="942" name="Google Shape;942;p57"/>
              <p:cNvSpPr/>
              <p:nvPr/>
            </p:nvSpPr>
            <p:spPr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57"/>
              <p:cNvSpPr txBox="1"/>
              <p:nvPr/>
            </p:nvSpPr>
            <p:spPr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44" name="Google Shape;944;p57"/>
          <p:cNvGrpSpPr/>
          <p:nvPr/>
        </p:nvGrpSpPr>
        <p:grpSpPr>
          <a:xfrm>
            <a:off x="1531937" y="3652837"/>
            <a:ext cx="2497137" cy="566737"/>
            <a:chOff x="1026" y="3559"/>
            <a:chExt cx="1573" cy="357"/>
          </a:xfrm>
        </p:grpSpPr>
        <p:grpSp>
          <p:nvGrpSpPr>
            <p:cNvPr id="945" name="Google Shape;945;p57"/>
            <p:cNvGrpSpPr/>
            <p:nvPr/>
          </p:nvGrpSpPr>
          <p:grpSpPr>
            <a:xfrm>
              <a:off x="1412" y="3559"/>
              <a:ext cx="1187" cy="357"/>
              <a:chOff x="4381" y="786"/>
              <a:chExt cx="1108" cy="357"/>
            </a:xfrm>
          </p:grpSpPr>
          <p:sp>
            <p:nvSpPr>
              <p:cNvPr id="946" name="Google Shape;946;p57"/>
              <p:cNvSpPr txBox="1"/>
              <p:nvPr/>
            </p:nvSpPr>
            <p:spPr>
              <a:xfrm>
                <a:off x="4385" y="830"/>
                <a:ext cx="1104" cy="256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57"/>
              <p:cNvSpPr txBox="1"/>
              <p:nvPr/>
            </p:nvSpPr>
            <p:spPr>
              <a:xfrm>
                <a:off x="4381" y="813"/>
                <a:ext cx="1045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S: 138.76.29.7, 5001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D: 128.119.40.186, 80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48" name="Google Shape;948;p57"/>
              <p:cNvGrpSpPr/>
              <p:nvPr/>
            </p:nvGrpSpPr>
            <p:grpSpPr>
              <a:xfrm>
                <a:off x="5394" y="786"/>
                <a:ext cx="49" cy="99"/>
                <a:chOff x="5508" y="1599"/>
                <a:chExt cx="49" cy="99"/>
              </a:xfrm>
            </p:grpSpPr>
            <p:sp>
              <p:nvSpPr>
                <p:cNvPr id="949" name="Google Shape;949;p57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rect b="b" l="l" r="r" t="t"/>
                  <a:pathLst>
                    <a:path extrusionOk="0" h="99" w="48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50" name="Google Shape;950;p57"/>
                <p:cNvCxnSpPr/>
                <p:nvPr/>
              </p:nvCxnSpPr>
              <p:spPr>
                <a:xfrm flipH="1">
                  <a:off x="5512" y="1608"/>
                  <a:ext cx="21" cy="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51" name="Google Shape;951;p57"/>
                <p:cNvCxnSpPr/>
                <p:nvPr/>
              </p:nvCxnSpPr>
              <p:spPr>
                <a:xfrm flipH="1">
                  <a:off x="5536" y="1620"/>
                  <a:ext cx="21" cy="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52" name="Google Shape;952;p57"/>
              <p:cNvGrpSpPr/>
              <p:nvPr/>
            </p:nvGrpSpPr>
            <p:grpSpPr>
              <a:xfrm>
                <a:off x="5382" y="1044"/>
                <a:ext cx="49" cy="99"/>
                <a:chOff x="5508" y="1599"/>
                <a:chExt cx="49" cy="99"/>
              </a:xfrm>
            </p:grpSpPr>
            <p:sp>
              <p:nvSpPr>
                <p:cNvPr id="953" name="Google Shape;953;p57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rect b="b" l="l" r="r" t="t"/>
                  <a:pathLst>
                    <a:path extrusionOk="0" h="99" w="48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54" name="Google Shape;954;p57"/>
                <p:cNvCxnSpPr/>
                <p:nvPr/>
              </p:nvCxnSpPr>
              <p:spPr>
                <a:xfrm flipH="1">
                  <a:off x="5510" y="1608"/>
                  <a:ext cx="21" cy="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55" name="Google Shape;955;p57"/>
                <p:cNvCxnSpPr/>
                <p:nvPr/>
              </p:nvCxnSpPr>
              <p:spPr>
                <a:xfrm flipH="1">
                  <a:off x="5536" y="1620"/>
                  <a:ext cx="21" cy="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956" name="Google Shape;956;p57"/>
            <p:cNvCxnSpPr/>
            <p:nvPr/>
          </p:nvCxnSpPr>
          <p:spPr>
            <a:xfrm rot="10800000">
              <a:off x="1026" y="3729"/>
              <a:ext cx="37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957" name="Google Shape;957;p57"/>
            <p:cNvGrpSpPr/>
            <p:nvPr/>
          </p:nvGrpSpPr>
          <p:grpSpPr>
            <a:xfrm>
              <a:off x="1143" y="3613"/>
              <a:ext cx="218" cy="231"/>
              <a:chOff x="5140" y="400"/>
              <a:chExt cx="218" cy="231"/>
            </a:xfrm>
          </p:grpSpPr>
          <p:sp>
            <p:nvSpPr>
              <p:cNvPr id="958" name="Google Shape;958;p57"/>
              <p:cNvSpPr/>
              <p:nvPr/>
            </p:nvSpPr>
            <p:spPr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57"/>
              <p:cNvSpPr txBox="1"/>
              <p:nvPr/>
            </p:nvSpPr>
            <p:spPr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60" name="Google Shape;960;p57"/>
          <p:cNvGrpSpPr/>
          <p:nvPr/>
        </p:nvGrpSpPr>
        <p:grpSpPr>
          <a:xfrm>
            <a:off x="0" y="1671637"/>
            <a:ext cx="5154612" cy="2052637"/>
            <a:chOff x="0" y="1306"/>
            <a:chExt cx="3247" cy="1293"/>
          </a:xfrm>
        </p:grpSpPr>
        <p:sp>
          <p:nvSpPr>
            <p:cNvPr id="961" name="Google Shape;961;p57"/>
            <p:cNvSpPr txBox="1"/>
            <p:nvPr/>
          </p:nvSpPr>
          <p:spPr>
            <a:xfrm>
              <a:off x="0" y="1306"/>
              <a:ext cx="1316" cy="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2:</a:t>
              </a: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NAT router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changes datagram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source addr from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10.0.0.1, 3345 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138.76.29.7, 5001,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updates table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2" name="Google Shape;962;p57"/>
            <p:cNvCxnSpPr/>
            <p:nvPr/>
          </p:nvCxnSpPr>
          <p:spPr>
            <a:xfrm>
              <a:off x="1285" y="2243"/>
              <a:ext cx="147" cy="356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3" name="Google Shape;963;p57"/>
            <p:cNvCxnSpPr/>
            <p:nvPr/>
          </p:nvCxnSpPr>
          <p:spPr>
            <a:xfrm flipH="1" rot="10800000">
              <a:off x="1275" y="1788"/>
              <a:ext cx="663" cy="455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4" name="Google Shape;964;p57"/>
            <p:cNvCxnSpPr/>
            <p:nvPr/>
          </p:nvCxnSpPr>
          <p:spPr>
            <a:xfrm flipH="1" rot="10800000">
              <a:off x="1275" y="1751"/>
              <a:ext cx="1972" cy="491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65" name="Google Shape;965;p57"/>
          <p:cNvGrpSpPr/>
          <p:nvPr/>
        </p:nvGrpSpPr>
        <p:grpSpPr>
          <a:xfrm>
            <a:off x="1360487" y="4681537"/>
            <a:ext cx="2471737" cy="696912"/>
            <a:chOff x="1163" y="3752"/>
            <a:chExt cx="1557" cy="439"/>
          </a:xfrm>
        </p:grpSpPr>
        <p:sp>
          <p:nvSpPr>
            <p:cNvPr id="966" name="Google Shape;966;p57"/>
            <p:cNvSpPr txBox="1"/>
            <p:nvPr/>
          </p:nvSpPr>
          <p:spPr>
            <a:xfrm>
              <a:off x="1163" y="3796"/>
              <a:ext cx="1183" cy="25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57"/>
            <p:cNvSpPr txBox="1"/>
            <p:nvPr/>
          </p:nvSpPr>
          <p:spPr>
            <a:xfrm>
              <a:off x="1281" y="3788"/>
              <a:ext cx="1120" cy="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S: 128.119.40.186, 80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D: 138.76.29.7, 5001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8" name="Google Shape;968;p57"/>
            <p:cNvGrpSpPr/>
            <p:nvPr/>
          </p:nvGrpSpPr>
          <p:grpSpPr>
            <a:xfrm>
              <a:off x="1214" y="3752"/>
              <a:ext cx="52" cy="99"/>
              <a:chOff x="5508" y="1599"/>
              <a:chExt cx="48" cy="99"/>
            </a:xfrm>
          </p:grpSpPr>
          <p:sp>
            <p:nvSpPr>
              <p:cNvPr id="969" name="Google Shape;969;p57"/>
              <p:cNvSpPr/>
              <p:nvPr/>
            </p:nvSpPr>
            <p:spPr>
              <a:xfrm>
                <a:off x="5508" y="1599"/>
                <a:ext cx="48" cy="99"/>
              </a:xfrm>
              <a:custGeom>
                <a:rect b="b" l="l" r="r" t="t"/>
                <a:pathLst>
                  <a:path extrusionOk="0" h="99" w="48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70" name="Google Shape;970;p57"/>
              <p:cNvCxnSpPr/>
              <p:nvPr/>
            </p:nvCxnSpPr>
            <p:spPr>
              <a:xfrm flipH="1">
                <a:off x="5512" y="1608"/>
                <a:ext cx="20" cy="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1" name="Google Shape;971;p57"/>
              <p:cNvCxnSpPr/>
              <p:nvPr/>
            </p:nvCxnSpPr>
            <p:spPr>
              <a:xfrm flipH="1">
                <a:off x="5536" y="1620"/>
                <a:ext cx="20" cy="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72" name="Google Shape;972;p57"/>
            <p:cNvGrpSpPr/>
            <p:nvPr/>
          </p:nvGrpSpPr>
          <p:grpSpPr>
            <a:xfrm>
              <a:off x="1193" y="3984"/>
              <a:ext cx="52" cy="99"/>
              <a:chOff x="5508" y="1599"/>
              <a:chExt cx="48" cy="99"/>
            </a:xfrm>
          </p:grpSpPr>
          <p:sp>
            <p:nvSpPr>
              <p:cNvPr id="973" name="Google Shape;973;p57"/>
              <p:cNvSpPr/>
              <p:nvPr/>
            </p:nvSpPr>
            <p:spPr>
              <a:xfrm>
                <a:off x="5508" y="1599"/>
                <a:ext cx="48" cy="99"/>
              </a:xfrm>
              <a:custGeom>
                <a:rect b="b" l="l" r="r" t="t"/>
                <a:pathLst>
                  <a:path extrusionOk="0" h="99" w="48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74" name="Google Shape;974;p57"/>
              <p:cNvCxnSpPr/>
              <p:nvPr/>
            </p:nvCxnSpPr>
            <p:spPr>
              <a:xfrm flipH="1">
                <a:off x="5512" y="1608"/>
                <a:ext cx="20" cy="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5" name="Google Shape;975;p57"/>
              <p:cNvCxnSpPr/>
              <p:nvPr/>
            </p:nvCxnSpPr>
            <p:spPr>
              <a:xfrm flipH="1">
                <a:off x="5536" y="1620"/>
                <a:ext cx="20" cy="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976" name="Google Shape;976;p57"/>
            <p:cNvCxnSpPr/>
            <p:nvPr/>
          </p:nvCxnSpPr>
          <p:spPr>
            <a:xfrm rot="10800000">
              <a:off x="2344" y="3931"/>
              <a:ext cx="37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grpSp>
          <p:nvGrpSpPr>
            <p:cNvPr id="977" name="Google Shape;977;p57"/>
            <p:cNvGrpSpPr/>
            <p:nvPr/>
          </p:nvGrpSpPr>
          <p:grpSpPr>
            <a:xfrm>
              <a:off x="2409" y="3815"/>
              <a:ext cx="218" cy="231"/>
              <a:chOff x="5140" y="400"/>
              <a:chExt cx="218" cy="231"/>
            </a:xfrm>
          </p:grpSpPr>
          <p:sp>
            <p:nvSpPr>
              <p:cNvPr id="978" name="Google Shape;978;p57"/>
              <p:cNvSpPr/>
              <p:nvPr/>
            </p:nvSpPr>
            <p:spPr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p57"/>
              <p:cNvSpPr txBox="1"/>
              <p:nvPr/>
            </p:nvSpPr>
            <p:spPr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80" name="Google Shape;980;p57"/>
          <p:cNvSpPr txBox="1"/>
          <p:nvPr/>
        </p:nvSpPr>
        <p:spPr>
          <a:xfrm>
            <a:off x="1317625" y="5170487"/>
            <a:ext cx="2089150" cy="792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3: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reply arrives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 dest. address: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 138.76.29.7, 5001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57"/>
          <p:cNvSpPr txBox="1"/>
          <p:nvPr/>
        </p:nvSpPr>
        <p:spPr>
          <a:xfrm>
            <a:off x="4741862" y="5005387"/>
            <a:ext cx="3867150" cy="1300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4: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NAT 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changes datagram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 addr from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138.76.29.7, 5001 to 10.0.0.1, 3345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2" name="Google Shape;982;p57"/>
          <p:cNvCxnSpPr/>
          <p:nvPr/>
        </p:nvCxnSpPr>
        <p:spPr>
          <a:xfrm>
            <a:off x="1022350" y="4273550"/>
            <a:ext cx="3025775" cy="63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3" name="Google Shape;983;p57"/>
          <p:cNvSpPr txBox="1"/>
          <p:nvPr>
            <p:ph type="title"/>
          </p:nvPr>
        </p:nvSpPr>
        <p:spPr>
          <a:xfrm>
            <a:off x="533400" y="230187"/>
            <a:ext cx="8091487" cy="908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NAT: network address translation</a:t>
            </a:r>
            <a:endParaRPr/>
          </a:p>
        </p:txBody>
      </p:sp>
      <p:pic>
        <p:nvPicPr>
          <p:cNvPr descr="underline_base" id="984" name="Google Shape;98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487" y="922337"/>
            <a:ext cx="7769225" cy="173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5" name="Google Shape;985;p57"/>
          <p:cNvGrpSpPr/>
          <p:nvPr/>
        </p:nvGrpSpPr>
        <p:grpSpPr>
          <a:xfrm>
            <a:off x="4035425" y="4095750"/>
            <a:ext cx="587375" cy="323850"/>
            <a:chOff x="4396" y="1245"/>
            <a:chExt cx="672" cy="248"/>
          </a:xfrm>
        </p:grpSpPr>
        <p:sp>
          <p:nvSpPr>
            <p:cNvPr id="986" name="Google Shape;986;p5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CCCCFF"/>
                </a:gs>
              </a:gsLst>
              <a:lin ang="10800000" scaled="0"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57"/>
            <p:cNvSpPr txBox="1"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CCCC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57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CCCCFF"/>
                </a:gs>
              </a:gsLst>
              <a:lin ang="10800000" scaled="0"/>
            </a:gra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9" name="Google Shape;989;p57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990" name="Google Shape;990;p57"/>
              <p:cNvSpPr/>
              <p:nvPr/>
            </p:nvSpPr>
            <p:spPr>
              <a:xfrm>
                <a:off x="2468" y="1332"/>
                <a:ext cx="310" cy="60"/>
              </a:xfrm>
              <a:custGeom>
                <a:rect b="b" l="l" r="r" t="t"/>
                <a:pathLst>
                  <a:path extrusionOk="0" h="60" w="31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1" name="Google Shape;991;p57"/>
              <p:cNvSpPr/>
              <p:nvPr/>
            </p:nvSpPr>
            <p:spPr>
              <a:xfrm>
                <a:off x="2482" y="1332"/>
                <a:ext cx="282" cy="60"/>
              </a:xfrm>
              <a:custGeom>
                <a:rect b="b" l="l" r="r" t="t"/>
                <a:pathLst>
                  <a:path extrusionOk="0" h="60" w="282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992" name="Google Shape;992;p57"/>
            <p:cNvCxnSpPr/>
            <p:nvPr/>
          </p:nvCxnSpPr>
          <p:spPr>
            <a:xfrm>
              <a:off x="4400" y="1322"/>
              <a:ext cx="0" cy="108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3" name="Google Shape;993;p57"/>
            <p:cNvCxnSpPr/>
            <p:nvPr/>
          </p:nvCxnSpPr>
          <p:spPr>
            <a:xfrm>
              <a:off x="5063" y="1326"/>
              <a:ext cx="0" cy="10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94" name="Google Shape;994;p57"/>
          <p:cNvGrpSpPr/>
          <p:nvPr/>
        </p:nvGrpSpPr>
        <p:grpSpPr>
          <a:xfrm flipH="1">
            <a:off x="7529512" y="3311525"/>
            <a:ext cx="641350" cy="558800"/>
            <a:chOff x="-44" y="1473"/>
            <a:chExt cx="981" cy="1105"/>
          </a:xfrm>
        </p:grpSpPr>
        <p:pic>
          <p:nvPicPr>
            <p:cNvPr descr="desktop_computer_stylized_medium" id="995" name="Google Shape;995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6" name="Google Shape;996;p5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99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7" name="Google Shape;997;p57"/>
          <p:cNvGrpSpPr/>
          <p:nvPr/>
        </p:nvGrpSpPr>
        <p:grpSpPr>
          <a:xfrm flipH="1">
            <a:off x="7540625" y="4054475"/>
            <a:ext cx="641350" cy="558800"/>
            <a:chOff x="-44" y="1473"/>
            <a:chExt cx="981" cy="1105"/>
          </a:xfrm>
        </p:grpSpPr>
        <p:pic>
          <p:nvPicPr>
            <p:cNvPr descr="desktop_computer_stylized_medium" id="998" name="Google Shape;998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5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99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0" name="Google Shape;1000;p57"/>
          <p:cNvGrpSpPr/>
          <p:nvPr/>
        </p:nvGrpSpPr>
        <p:grpSpPr>
          <a:xfrm flipH="1">
            <a:off x="7548562" y="4808537"/>
            <a:ext cx="641350" cy="558800"/>
            <a:chOff x="-44" y="1473"/>
            <a:chExt cx="981" cy="1105"/>
          </a:xfrm>
        </p:grpSpPr>
        <p:pic>
          <p:nvPicPr>
            <p:cNvPr descr="desktop_computer_stylized_medium" id="1001" name="Google Shape;1001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2" name="Google Shape;1002;p5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99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03" name="Google Shape;1003;p57"/>
          <p:cNvCxnSpPr/>
          <p:nvPr/>
        </p:nvCxnSpPr>
        <p:spPr>
          <a:xfrm>
            <a:off x="7386637" y="4238625"/>
            <a:ext cx="21907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4" name="Google Shape;1004;p57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57"/>
          <p:cNvSpPr txBox="1"/>
          <p:nvPr/>
        </p:nvSpPr>
        <p:spPr>
          <a:xfrm>
            <a:off x="339725" y="6199187"/>
            <a:ext cx="4506912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58"/>
          <p:cNvSpPr txBox="1"/>
          <p:nvPr>
            <p:ph idx="1" type="body"/>
          </p:nvPr>
        </p:nvSpPr>
        <p:spPr>
          <a:xfrm>
            <a:off x="533400" y="14732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16-bit port-number field: 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60,000 simultaneous connections with a single LAN-side address!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NAT is controversial: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routers should only process up to layer 3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 shortage should be solved by IPv6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violates end-to-end argument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NAT possibility must be taken into account by app designers, e.g., P2P applications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NAT traversal: what if client wants to connect to server behind NAT?</a:t>
            </a:r>
            <a:endParaRPr/>
          </a:p>
          <a:p>
            <a:pPr indent="-1651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1" name="Google Shape;1011;p58"/>
          <p:cNvSpPr txBox="1"/>
          <p:nvPr>
            <p:ph type="title"/>
          </p:nvPr>
        </p:nvSpPr>
        <p:spPr>
          <a:xfrm>
            <a:off x="533400" y="230187"/>
            <a:ext cx="8091487" cy="908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NAT: network address translation</a:t>
            </a:r>
            <a:endParaRPr/>
          </a:p>
        </p:txBody>
      </p:sp>
      <p:pic>
        <p:nvPicPr>
          <p:cNvPr descr="underline_base" id="1012" name="Google Shape;101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487" y="922337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58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101fb6fbcd5_0_455"/>
          <p:cNvSpPr txBox="1"/>
          <p:nvPr>
            <p:ph type="title"/>
          </p:nvPr>
        </p:nvSpPr>
        <p:spPr>
          <a:xfrm>
            <a:off x="0" y="0"/>
            <a:ext cx="9144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600"/>
              <a:t>Motivation for STUN (Session Traversal Utilities for NAT) </a:t>
            </a:r>
            <a:endParaRPr sz="2600"/>
          </a:p>
        </p:txBody>
      </p:sp>
      <p:sp>
        <p:nvSpPr>
          <p:cNvPr id="1019" name="Google Shape;1019;g101fb6fbcd5_0_45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0" name="Google Shape;1020;g101fb6fbcd5_0_4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0625" y="-754533"/>
            <a:ext cx="6817849" cy="4552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g101fb6fbcd5_0_4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8701" y="2276125"/>
            <a:ext cx="5321699" cy="35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g101fb6fbcd5_0_455"/>
          <p:cNvSpPr txBox="1"/>
          <p:nvPr/>
        </p:nvSpPr>
        <p:spPr>
          <a:xfrm>
            <a:off x="410800" y="6013575"/>
            <a:ext cx="806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Reference: https://anyconnect.com/stun-turn-ice/</a:t>
            </a:r>
            <a:endParaRPr b="0" i="0" sz="11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g101fb6fbcd5_0_455"/>
          <p:cNvSpPr txBox="1"/>
          <p:nvPr/>
        </p:nvSpPr>
        <p:spPr>
          <a:xfrm>
            <a:off x="154125" y="654981"/>
            <a:ext cx="345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IN SYLLABUS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fbddd66af9_0_32"/>
          <p:cNvSpPr txBox="1"/>
          <p:nvPr>
            <p:ph type="title"/>
          </p:nvPr>
        </p:nvSpPr>
        <p:spPr>
          <a:xfrm>
            <a:off x="0" y="0"/>
            <a:ext cx="9144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600"/>
              <a:t>Motivation for STUN (Session Traversal Utilities for NAT) </a:t>
            </a:r>
            <a:endParaRPr sz="2600"/>
          </a:p>
        </p:txBody>
      </p:sp>
      <p:sp>
        <p:nvSpPr>
          <p:cNvPr id="1029" name="Google Shape;1029;gfbddd66af9_0_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0" name="Google Shape;1030;gfbddd66af9_0_32"/>
          <p:cNvSpPr txBox="1"/>
          <p:nvPr/>
        </p:nvSpPr>
        <p:spPr>
          <a:xfrm>
            <a:off x="1006050" y="3767975"/>
            <a:ext cx="7131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Client-&gt;STUN server</a:t>
            </a:r>
            <a:endParaRPr b="0" i="0" sz="12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Font typeface="Arial"/>
              <a:buAutoNum type="alphaLcPeriod"/>
            </a:pPr>
            <a:r>
              <a:rPr b="0" i="0" lang="en-US" sz="12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STUN binding</a:t>
            </a:r>
            <a:endParaRPr b="0" i="0" sz="12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STUN server-&gt;Client </a:t>
            </a:r>
            <a:endParaRPr b="0" i="0" sz="12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Font typeface="Arial"/>
              <a:buAutoNum type="alphaLcPeriod"/>
            </a:pPr>
            <a:r>
              <a:rPr b="0" i="0" lang="en-US" sz="12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Success response</a:t>
            </a:r>
            <a:endParaRPr b="0" i="0" sz="12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Font typeface="Arial"/>
              <a:buAutoNum type="romanLcPeriod"/>
            </a:pPr>
            <a:r>
              <a:rPr b="0" i="0" lang="en-US" sz="12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contains Client IP, Client Port address</a:t>
            </a:r>
            <a:endParaRPr b="0" i="0" sz="12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Font typeface="Arial"/>
              <a:buAutoNum type="romanLcPeriod"/>
            </a:pPr>
            <a:r>
              <a:rPr b="0" i="0" lang="en-US" sz="12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obfuscated  (XOR) to avoid packet translation by app gateways</a:t>
            </a:r>
            <a:endParaRPr b="0" i="0" sz="12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Typically, STUN messages sent over UDP</a:t>
            </a:r>
            <a:endParaRPr b="0" i="0" sz="12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Client uses DNS to determine STUN server’s IP </a:t>
            </a:r>
            <a:endParaRPr b="0" i="0" sz="12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Limitation: </a:t>
            </a:r>
            <a:endParaRPr b="0" i="0" sz="12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Font typeface="Arial"/>
              <a:buAutoNum type="alphaLcPeriod"/>
            </a:pPr>
            <a:r>
              <a:rPr b="0" i="0" lang="en-US" sz="12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Not self-contained NAT traversal tool</a:t>
            </a:r>
            <a:endParaRPr b="0" i="0" sz="12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Font typeface="Arial"/>
              <a:buAutoNum type="alphaLcPeriod"/>
            </a:pPr>
            <a:r>
              <a:rPr b="0" i="0" lang="en-US" sz="12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Does not work for all NAT types, for example, symmetric NAT</a:t>
            </a:r>
            <a:endParaRPr b="0" i="0" sz="12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1" name="Google Shape;1031;gfbddd66af9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2513" y="696775"/>
            <a:ext cx="5138974" cy="288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gfbddd66af9_0_32"/>
          <p:cNvSpPr txBox="1"/>
          <p:nvPr/>
        </p:nvSpPr>
        <p:spPr>
          <a:xfrm>
            <a:off x="1141075" y="6217625"/>
            <a:ext cx="6620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about NAT types here: </a:t>
            </a: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https://en.wikipedia.org/wiki/Network_address_translation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gfbddd66af9_0_32"/>
          <p:cNvSpPr txBox="1"/>
          <p:nvPr/>
        </p:nvSpPr>
        <p:spPr>
          <a:xfrm>
            <a:off x="154125" y="654981"/>
            <a:ext cx="345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IN SYLLABUS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60"/>
          <p:cNvSpPr txBox="1"/>
          <p:nvPr>
            <p:ph type="title"/>
          </p:nvPr>
        </p:nvSpPr>
        <p:spPr>
          <a:xfrm>
            <a:off x="685800" y="422275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IPv6: motivation</a:t>
            </a:r>
            <a:endParaRPr/>
          </a:p>
        </p:txBody>
      </p:sp>
      <p:sp>
        <p:nvSpPr>
          <p:cNvPr id="1039" name="Google Shape;1039;p60"/>
          <p:cNvSpPr txBox="1"/>
          <p:nvPr>
            <p:ph idx="1" type="body"/>
          </p:nvPr>
        </p:nvSpPr>
        <p:spPr>
          <a:xfrm>
            <a:off x="511175" y="1401762"/>
            <a:ext cx="8205787" cy="402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1" lang="en-US" sz="280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initial motivation:</a:t>
            </a:r>
            <a:r>
              <a:rPr b="0" i="1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32-bit address space soon to be completely allocated.  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additional motivation: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header format helps speed processing/forwarding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header changes to facilitate QoS </a:t>
            </a:r>
            <a:endParaRPr/>
          </a:p>
          <a:p>
            <a:pPr indent="-79375" lvl="1" marL="68897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b="0" i="1" lang="en-US" sz="280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IPv6 datagram format: 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fixed-length 40 byte header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 fragmentation allowed</a:t>
            </a:r>
            <a:endParaRPr/>
          </a:p>
        </p:txBody>
      </p:sp>
      <p:pic>
        <p:nvPicPr>
          <p:cNvPr descr="underline_base" id="1040" name="Google Shape;104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212" y="1055687"/>
            <a:ext cx="36560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60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1046" name="Google Shape;104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12" y="871537"/>
            <a:ext cx="5027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61"/>
          <p:cNvSpPr txBox="1"/>
          <p:nvPr/>
        </p:nvSpPr>
        <p:spPr>
          <a:xfrm>
            <a:off x="2216150" y="3263900"/>
            <a:ext cx="4748212" cy="2817812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61"/>
          <p:cNvSpPr txBox="1"/>
          <p:nvPr>
            <p:ph type="title"/>
          </p:nvPr>
        </p:nvSpPr>
        <p:spPr>
          <a:xfrm>
            <a:off x="533400" y="185737"/>
            <a:ext cx="7772400" cy="908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IPv6 datagram format</a:t>
            </a:r>
            <a:endParaRPr/>
          </a:p>
        </p:txBody>
      </p:sp>
      <p:sp>
        <p:nvSpPr>
          <p:cNvPr id="1049" name="Google Shape;1049;p61"/>
          <p:cNvSpPr txBox="1"/>
          <p:nvPr/>
        </p:nvSpPr>
        <p:spPr>
          <a:xfrm>
            <a:off x="479425" y="1306500"/>
            <a:ext cx="83028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Gill San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priority:</a:t>
            </a: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identify priority among datagrams in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Gill San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flow Label:</a:t>
            </a: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identify datagrams in same “flow.”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      (concept of“flow” not well defined).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Gill San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next header:</a:t>
            </a: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identify upper layer protocol for data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61"/>
          <p:cNvSpPr txBox="1"/>
          <p:nvPr/>
        </p:nvSpPr>
        <p:spPr>
          <a:xfrm>
            <a:off x="2141537" y="3344862"/>
            <a:ext cx="4748212" cy="2817812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1" name="Google Shape;1051;p61"/>
          <p:cNvCxnSpPr/>
          <p:nvPr/>
        </p:nvCxnSpPr>
        <p:spPr>
          <a:xfrm>
            <a:off x="2143125" y="3654425"/>
            <a:ext cx="472757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2" name="Google Shape;1052;p61"/>
          <p:cNvCxnSpPr/>
          <p:nvPr/>
        </p:nvCxnSpPr>
        <p:spPr>
          <a:xfrm>
            <a:off x="2794000" y="3354387"/>
            <a:ext cx="0" cy="2936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3" name="Google Shape;1053;p61"/>
          <p:cNvCxnSpPr/>
          <p:nvPr/>
        </p:nvCxnSpPr>
        <p:spPr>
          <a:xfrm>
            <a:off x="3482975" y="3351212"/>
            <a:ext cx="0" cy="2936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4" name="Google Shape;1054;p61"/>
          <p:cNvCxnSpPr/>
          <p:nvPr/>
        </p:nvCxnSpPr>
        <p:spPr>
          <a:xfrm>
            <a:off x="4410075" y="3649662"/>
            <a:ext cx="0" cy="2936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5" name="Google Shape;1055;p61"/>
          <p:cNvCxnSpPr/>
          <p:nvPr/>
        </p:nvCxnSpPr>
        <p:spPr>
          <a:xfrm>
            <a:off x="5556250" y="3652837"/>
            <a:ext cx="0" cy="2936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6" name="Google Shape;1056;p61"/>
          <p:cNvCxnSpPr/>
          <p:nvPr/>
        </p:nvCxnSpPr>
        <p:spPr>
          <a:xfrm>
            <a:off x="2130425" y="5175250"/>
            <a:ext cx="476091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7" name="Google Shape;1057;p61"/>
          <p:cNvCxnSpPr/>
          <p:nvPr/>
        </p:nvCxnSpPr>
        <p:spPr>
          <a:xfrm>
            <a:off x="2147887" y="4535487"/>
            <a:ext cx="476091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8" name="Google Shape;1058;p61"/>
          <p:cNvCxnSpPr/>
          <p:nvPr/>
        </p:nvCxnSpPr>
        <p:spPr>
          <a:xfrm>
            <a:off x="2133600" y="3952875"/>
            <a:ext cx="476091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9" name="Google Shape;1059;p61"/>
          <p:cNvSpPr txBox="1"/>
          <p:nvPr/>
        </p:nvSpPr>
        <p:spPr>
          <a:xfrm>
            <a:off x="4046537" y="5440362"/>
            <a:ext cx="628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61"/>
          <p:cNvSpPr txBox="1"/>
          <p:nvPr/>
        </p:nvSpPr>
        <p:spPr>
          <a:xfrm>
            <a:off x="3378200" y="4578350"/>
            <a:ext cx="25683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destination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(128 bits)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61"/>
          <p:cNvSpPr txBox="1"/>
          <p:nvPr/>
        </p:nvSpPr>
        <p:spPr>
          <a:xfrm>
            <a:off x="3543300" y="3971925"/>
            <a:ext cx="174625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(128 bits)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61"/>
          <p:cNvSpPr txBox="1"/>
          <p:nvPr/>
        </p:nvSpPr>
        <p:spPr>
          <a:xfrm>
            <a:off x="2627312" y="3619500"/>
            <a:ext cx="1352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payload len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61"/>
          <p:cNvSpPr txBox="1"/>
          <p:nvPr/>
        </p:nvSpPr>
        <p:spPr>
          <a:xfrm>
            <a:off x="4408487" y="3627437"/>
            <a:ext cx="1009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hdr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61"/>
          <p:cNvSpPr txBox="1"/>
          <p:nvPr/>
        </p:nvSpPr>
        <p:spPr>
          <a:xfrm>
            <a:off x="5664200" y="3613150"/>
            <a:ext cx="1035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hop limit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61"/>
          <p:cNvSpPr txBox="1"/>
          <p:nvPr/>
        </p:nvSpPr>
        <p:spPr>
          <a:xfrm>
            <a:off x="4533900" y="3319462"/>
            <a:ext cx="1136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flow label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61"/>
          <p:cNvSpPr txBox="1"/>
          <p:nvPr/>
        </p:nvSpPr>
        <p:spPr>
          <a:xfrm>
            <a:off x="2913062" y="3305175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61"/>
          <p:cNvSpPr txBox="1"/>
          <p:nvPr/>
        </p:nvSpPr>
        <p:spPr>
          <a:xfrm>
            <a:off x="2206625" y="3313112"/>
            <a:ext cx="501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8" name="Google Shape;1068;p61"/>
          <p:cNvCxnSpPr/>
          <p:nvPr/>
        </p:nvCxnSpPr>
        <p:spPr>
          <a:xfrm>
            <a:off x="2119312" y="6400800"/>
            <a:ext cx="48164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069" name="Google Shape;1069;p61"/>
          <p:cNvSpPr txBox="1"/>
          <p:nvPr/>
        </p:nvSpPr>
        <p:spPr>
          <a:xfrm>
            <a:off x="3978275" y="6210300"/>
            <a:ext cx="857250" cy="3667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61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1075" name="Google Shape;1075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587" y="1042987"/>
            <a:ext cx="63992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62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Other changes from IPv4</a:t>
            </a:r>
            <a:endParaRPr/>
          </a:p>
        </p:txBody>
      </p:sp>
      <p:sp>
        <p:nvSpPr>
          <p:cNvPr id="1077" name="Google Shape;1077;p62"/>
          <p:cNvSpPr txBox="1"/>
          <p:nvPr>
            <p:ph idx="1" type="body"/>
          </p:nvPr>
        </p:nvSpPr>
        <p:spPr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1" lang="en-US" sz="280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checksum</a:t>
            </a:r>
            <a:r>
              <a:rPr b="0" i="0" lang="en-US" sz="280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r>
              <a:rPr b="0" i="1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removed entirely to reduce processing time at each hop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1" lang="en-US" sz="280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options:</a:t>
            </a: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allowed, but outside of header, indicated by “Next Header” field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1" lang="en-US" sz="280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ICMPv6:</a:t>
            </a: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new version of ICMP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additional message types, e.g. “Packet Too Big”</a:t>
            </a:r>
            <a:endParaRPr/>
          </a:p>
          <a:p>
            <a:pPr indent="-231775" lvl="1" marL="688975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multicast group management functions</a:t>
            </a:r>
            <a:endParaRPr/>
          </a:p>
        </p:txBody>
      </p:sp>
      <p:sp>
        <p:nvSpPr>
          <p:cNvPr id="1078" name="Google Shape;1078;p62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63"/>
          <p:cNvSpPr txBox="1"/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Transition from IPv4 to IPv6</a:t>
            </a:r>
            <a:endParaRPr/>
          </a:p>
        </p:txBody>
      </p:sp>
      <p:sp>
        <p:nvSpPr>
          <p:cNvPr id="1084" name="Google Shape;1084;p63"/>
          <p:cNvSpPr txBox="1"/>
          <p:nvPr>
            <p:ph idx="1" type="body"/>
          </p:nvPr>
        </p:nvSpPr>
        <p:spPr>
          <a:xfrm>
            <a:off x="611187" y="1500187"/>
            <a:ext cx="8256587" cy="2487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not all routers can be upgraded simultaneously</a:t>
            </a:r>
            <a:endParaRPr/>
          </a:p>
          <a:p>
            <a:pPr indent="-231775" lvl="1" marL="688975" rtl="0" algn="l">
              <a:lnSpc>
                <a:spcPct val="7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 “flag days”</a:t>
            </a:r>
            <a:endParaRPr/>
          </a:p>
          <a:p>
            <a:pPr indent="-231775" lvl="1" marL="688975" rtl="0" algn="l">
              <a:lnSpc>
                <a:spcPct val="7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how will network operate with mixed IPv4 and IPv6 routers? 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1" lang="en-US" sz="280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tunneling:</a:t>
            </a: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IPv6 datagram carried as </a:t>
            </a:r>
            <a:r>
              <a:rPr b="0" i="1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payload</a:t>
            </a: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in IPv4 datagram among IPv4 routers</a:t>
            </a:r>
            <a:endParaRPr/>
          </a:p>
        </p:txBody>
      </p:sp>
      <p:pic>
        <p:nvPicPr>
          <p:cNvPr descr="underline_base" id="1085" name="Google Shape;108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" y="1025525"/>
            <a:ext cx="6856412" cy="173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6" name="Google Shape;1086;p63"/>
          <p:cNvGrpSpPr/>
          <p:nvPr/>
        </p:nvGrpSpPr>
        <p:grpSpPr>
          <a:xfrm>
            <a:off x="2101850" y="5176837"/>
            <a:ext cx="4854575" cy="473075"/>
            <a:chOff x="1163" y="3504"/>
            <a:chExt cx="3058" cy="298"/>
          </a:xfrm>
        </p:grpSpPr>
        <p:sp>
          <p:nvSpPr>
            <p:cNvPr id="1087" name="Google Shape;1087;p63"/>
            <p:cNvSpPr txBox="1"/>
            <p:nvPr/>
          </p:nvSpPr>
          <p:spPr>
            <a:xfrm>
              <a:off x="1163" y="3505"/>
              <a:ext cx="3058" cy="295"/>
            </a:xfrm>
            <a:prstGeom prst="rect">
              <a:avLst/>
            </a:prstGeom>
            <a:gradFill>
              <a:gsLst>
                <a:gs pos="0">
                  <a:srgbClr val="CC0000">
                    <a:alpha val="40000"/>
                  </a:srgbClr>
                </a:gs>
                <a:gs pos="100000">
                  <a:srgbClr val="CC0000">
                    <a:alpha val="35686"/>
                  </a:srgbClr>
                </a:gs>
              </a:gsLst>
              <a:lin ang="540000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88" name="Google Shape;1088;p63"/>
            <p:cNvCxnSpPr/>
            <p:nvPr/>
          </p:nvCxnSpPr>
          <p:spPr>
            <a:xfrm>
              <a:off x="2022" y="3504"/>
              <a:ext cx="0" cy="295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9" name="Google Shape;1089;p63"/>
            <p:cNvCxnSpPr/>
            <p:nvPr/>
          </p:nvCxnSpPr>
          <p:spPr>
            <a:xfrm>
              <a:off x="1781" y="3507"/>
              <a:ext cx="0" cy="295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0" name="Google Shape;1090;p63"/>
            <p:cNvCxnSpPr/>
            <p:nvPr/>
          </p:nvCxnSpPr>
          <p:spPr>
            <a:xfrm>
              <a:off x="1532" y="3504"/>
              <a:ext cx="0" cy="295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1" name="Google Shape;1091;p63"/>
            <p:cNvCxnSpPr/>
            <p:nvPr/>
          </p:nvCxnSpPr>
          <p:spPr>
            <a:xfrm>
              <a:off x="1187" y="3504"/>
              <a:ext cx="0" cy="5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2" name="Google Shape;1092;p63"/>
            <p:cNvCxnSpPr/>
            <p:nvPr/>
          </p:nvCxnSpPr>
          <p:spPr>
            <a:xfrm>
              <a:off x="1187" y="3742"/>
              <a:ext cx="0" cy="5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3" name="Google Shape;1093;p63"/>
            <p:cNvCxnSpPr/>
            <p:nvPr/>
          </p:nvCxnSpPr>
          <p:spPr>
            <a:xfrm>
              <a:off x="1283" y="3504"/>
              <a:ext cx="0" cy="5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" name="Google Shape;1094;p63"/>
            <p:cNvCxnSpPr/>
            <p:nvPr/>
          </p:nvCxnSpPr>
          <p:spPr>
            <a:xfrm>
              <a:off x="1283" y="3742"/>
              <a:ext cx="0" cy="5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5" name="Google Shape;1095;p63"/>
            <p:cNvCxnSpPr/>
            <p:nvPr/>
          </p:nvCxnSpPr>
          <p:spPr>
            <a:xfrm>
              <a:off x="1379" y="3504"/>
              <a:ext cx="0" cy="5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6" name="Google Shape;1096;p63"/>
            <p:cNvCxnSpPr/>
            <p:nvPr/>
          </p:nvCxnSpPr>
          <p:spPr>
            <a:xfrm>
              <a:off x="1379" y="3742"/>
              <a:ext cx="0" cy="5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7" name="Google Shape;1097;p63"/>
            <p:cNvCxnSpPr/>
            <p:nvPr/>
          </p:nvCxnSpPr>
          <p:spPr>
            <a:xfrm>
              <a:off x="1475" y="3504"/>
              <a:ext cx="0" cy="5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8" name="Google Shape;1098;p63"/>
            <p:cNvCxnSpPr/>
            <p:nvPr/>
          </p:nvCxnSpPr>
          <p:spPr>
            <a:xfrm>
              <a:off x="1475" y="3742"/>
              <a:ext cx="0" cy="5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9" name="Google Shape;1099;p63"/>
            <p:cNvCxnSpPr/>
            <p:nvPr/>
          </p:nvCxnSpPr>
          <p:spPr>
            <a:xfrm>
              <a:off x="1327" y="3506"/>
              <a:ext cx="0" cy="5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0" name="Google Shape;1100;p63"/>
            <p:cNvCxnSpPr/>
            <p:nvPr/>
          </p:nvCxnSpPr>
          <p:spPr>
            <a:xfrm>
              <a:off x="1327" y="3744"/>
              <a:ext cx="0" cy="5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1" name="Google Shape;1101;p63"/>
            <p:cNvCxnSpPr/>
            <p:nvPr/>
          </p:nvCxnSpPr>
          <p:spPr>
            <a:xfrm>
              <a:off x="1213" y="3508"/>
              <a:ext cx="0" cy="5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2" name="Google Shape;1102;p63"/>
            <p:cNvCxnSpPr/>
            <p:nvPr/>
          </p:nvCxnSpPr>
          <p:spPr>
            <a:xfrm>
              <a:off x="1213" y="3746"/>
              <a:ext cx="0" cy="5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03" name="Google Shape;1103;p63"/>
          <p:cNvSpPr txBox="1"/>
          <p:nvPr/>
        </p:nvSpPr>
        <p:spPr>
          <a:xfrm>
            <a:off x="1597025" y="4375150"/>
            <a:ext cx="200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IPv4 source, dest addr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63"/>
          <p:cNvSpPr txBox="1"/>
          <p:nvPr/>
        </p:nvSpPr>
        <p:spPr>
          <a:xfrm>
            <a:off x="1303337" y="4143375"/>
            <a:ext cx="16525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IPv4 header fields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5" name="Google Shape;1105;p63"/>
          <p:cNvCxnSpPr/>
          <p:nvPr/>
        </p:nvCxnSpPr>
        <p:spPr>
          <a:xfrm>
            <a:off x="2855912" y="4633912"/>
            <a:ext cx="0" cy="738187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6" name="Google Shape;1106;p63"/>
          <p:cNvCxnSpPr/>
          <p:nvPr/>
        </p:nvCxnSpPr>
        <p:spPr>
          <a:xfrm>
            <a:off x="2860675" y="4629150"/>
            <a:ext cx="381000" cy="738187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7" name="Google Shape;1107;p63"/>
          <p:cNvCxnSpPr/>
          <p:nvPr/>
        </p:nvCxnSpPr>
        <p:spPr>
          <a:xfrm>
            <a:off x="2260600" y="4386262"/>
            <a:ext cx="0" cy="976312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8" name="Google Shape;1108;p63"/>
          <p:cNvSpPr txBox="1"/>
          <p:nvPr/>
        </p:nvSpPr>
        <p:spPr>
          <a:xfrm>
            <a:off x="3663950" y="6003925"/>
            <a:ext cx="1670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IPv4 datagram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9" name="Google Shape;1109;p63"/>
          <p:cNvCxnSpPr/>
          <p:nvPr/>
        </p:nvCxnSpPr>
        <p:spPr>
          <a:xfrm>
            <a:off x="5284787" y="6192837"/>
            <a:ext cx="16954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10" name="Google Shape;1110;p63"/>
          <p:cNvCxnSpPr/>
          <p:nvPr/>
        </p:nvCxnSpPr>
        <p:spPr>
          <a:xfrm rot="10800000">
            <a:off x="2095500" y="6192837"/>
            <a:ext cx="16065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11" name="Google Shape;1111;p63"/>
          <p:cNvSpPr txBox="1"/>
          <p:nvPr/>
        </p:nvSpPr>
        <p:spPr>
          <a:xfrm>
            <a:off x="4384675" y="5654675"/>
            <a:ext cx="1670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IPv6 datagram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2" name="Google Shape;1112;p63"/>
          <p:cNvCxnSpPr/>
          <p:nvPr/>
        </p:nvCxnSpPr>
        <p:spPr>
          <a:xfrm>
            <a:off x="6021387" y="5824537"/>
            <a:ext cx="8572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13" name="Google Shape;1113;p63"/>
          <p:cNvCxnSpPr/>
          <p:nvPr/>
        </p:nvCxnSpPr>
        <p:spPr>
          <a:xfrm rot="10800000">
            <a:off x="3522662" y="5824537"/>
            <a:ext cx="92551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14" name="Google Shape;1114;p63"/>
          <p:cNvSpPr txBox="1"/>
          <p:nvPr/>
        </p:nvSpPr>
        <p:spPr>
          <a:xfrm>
            <a:off x="3490912" y="5211762"/>
            <a:ext cx="3422650" cy="401637"/>
          </a:xfrm>
          <a:prstGeom prst="rect">
            <a:avLst/>
          </a:pr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5" name="Google Shape;1115;p63"/>
          <p:cNvGrpSpPr/>
          <p:nvPr/>
        </p:nvGrpSpPr>
        <p:grpSpPr>
          <a:xfrm>
            <a:off x="4552950" y="4241800"/>
            <a:ext cx="3379787" cy="1109662"/>
            <a:chOff x="2868" y="2782"/>
            <a:chExt cx="2129" cy="699"/>
          </a:xfrm>
        </p:grpSpPr>
        <p:sp>
          <p:nvSpPr>
            <p:cNvPr id="1116" name="Google Shape;1116;p63"/>
            <p:cNvSpPr txBox="1"/>
            <p:nvPr/>
          </p:nvSpPr>
          <p:spPr>
            <a:xfrm>
              <a:off x="4204" y="2782"/>
              <a:ext cx="79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IPv4 payload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17" name="Google Shape;1117;p63"/>
            <p:cNvCxnSpPr/>
            <p:nvPr/>
          </p:nvCxnSpPr>
          <p:spPr>
            <a:xfrm flipH="1">
              <a:off x="2868" y="2979"/>
              <a:ext cx="1532" cy="50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18" name="Google Shape;1118;p63"/>
          <p:cNvGrpSpPr/>
          <p:nvPr/>
        </p:nvGrpSpPr>
        <p:grpSpPr>
          <a:xfrm>
            <a:off x="3506787" y="4146550"/>
            <a:ext cx="3402012" cy="1476375"/>
            <a:chOff x="2280" y="1247"/>
            <a:chExt cx="2143" cy="930"/>
          </a:xfrm>
        </p:grpSpPr>
        <p:sp>
          <p:nvSpPr>
            <p:cNvPr id="1119" name="Google Shape;1119;p63"/>
            <p:cNvSpPr txBox="1"/>
            <p:nvPr/>
          </p:nvSpPr>
          <p:spPr>
            <a:xfrm>
              <a:off x="2280" y="1918"/>
              <a:ext cx="2143" cy="253"/>
            </a:xfrm>
            <a:prstGeom prst="rect">
              <a:avLst/>
            </a:prstGeom>
            <a:solidFill>
              <a:srgbClr val="66CCF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20" name="Google Shape;1120;p63"/>
            <p:cNvCxnSpPr/>
            <p:nvPr/>
          </p:nvCxnSpPr>
          <p:spPr>
            <a:xfrm>
              <a:off x="2333" y="1918"/>
              <a:ext cx="0" cy="2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1" name="Google Shape;1121;p63"/>
            <p:cNvCxnSpPr/>
            <p:nvPr/>
          </p:nvCxnSpPr>
          <p:spPr>
            <a:xfrm>
              <a:off x="2307" y="1917"/>
              <a:ext cx="0" cy="2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2" name="Google Shape;1122;p63"/>
            <p:cNvCxnSpPr/>
            <p:nvPr/>
          </p:nvCxnSpPr>
          <p:spPr>
            <a:xfrm>
              <a:off x="2381" y="1918"/>
              <a:ext cx="0" cy="2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3" name="Google Shape;1123;p63"/>
            <p:cNvCxnSpPr/>
            <p:nvPr/>
          </p:nvCxnSpPr>
          <p:spPr>
            <a:xfrm>
              <a:off x="2407" y="1916"/>
              <a:ext cx="0" cy="2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4" name="Google Shape;1124;p63"/>
            <p:cNvCxnSpPr/>
            <p:nvPr/>
          </p:nvCxnSpPr>
          <p:spPr>
            <a:xfrm>
              <a:off x="2441" y="1916"/>
              <a:ext cx="0" cy="2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5" name="Google Shape;1125;p63"/>
            <p:cNvCxnSpPr/>
            <p:nvPr/>
          </p:nvCxnSpPr>
          <p:spPr>
            <a:xfrm>
              <a:off x="2483" y="1916"/>
              <a:ext cx="0" cy="2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6" name="Google Shape;1126;p63"/>
            <p:cNvCxnSpPr/>
            <p:nvPr/>
          </p:nvCxnSpPr>
          <p:spPr>
            <a:xfrm>
              <a:off x="2679" y="1923"/>
              <a:ext cx="0" cy="2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7" name="Google Shape;1127;p63"/>
            <p:cNvCxnSpPr/>
            <p:nvPr/>
          </p:nvCxnSpPr>
          <p:spPr>
            <a:xfrm>
              <a:off x="2915" y="1923"/>
              <a:ext cx="0" cy="2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28" name="Google Shape;1128;p63"/>
            <p:cNvSpPr txBox="1"/>
            <p:nvPr/>
          </p:nvSpPr>
          <p:spPr>
            <a:xfrm>
              <a:off x="2672" y="1557"/>
              <a:ext cx="1030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UDP/TCP payload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63"/>
            <p:cNvSpPr txBox="1"/>
            <p:nvPr/>
          </p:nvSpPr>
          <p:spPr>
            <a:xfrm>
              <a:off x="2500" y="1396"/>
              <a:ext cx="120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IPv6 source dest addr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63"/>
            <p:cNvSpPr txBox="1"/>
            <p:nvPr/>
          </p:nvSpPr>
          <p:spPr>
            <a:xfrm>
              <a:off x="2314" y="1247"/>
              <a:ext cx="101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IPv6 header fields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31" name="Google Shape;1131;p63"/>
            <p:cNvCxnSpPr/>
            <p:nvPr/>
          </p:nvCxnSpPr>
          <p:spPr>
            <a:xfrm>
              <a:off x="2602" y="1543"/>
              <a:ext cx="3" cy="44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2" name="Google Shape;1132;p63"/>
            <p:cNvCxnSpPr/>
            <p:nvPr/>
          </p:nvCxnSpPr>
          <p:spPr>
            <a:xfrm>
              <a:off x="2594" y="1546"/>
              <a:ext cx="174" cy="440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3" name="Google Shape;1133;p63"/>
            <p:cNvCxnSpPr/>
            <p:nvPr/>
          </p:nvCxnSpPr>
          <p:spPr>
            <a:xfrm>
              <a:off x="2386" y="1399"/>
              <a:ext cx="0" cy="549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4" name="Google Shape;1134;p63"/>
            <p:cNvCxnSpPr/>
            <p:nvPr/>
          </p:nvCxnSpPr>
          <p:spPr>
            <a:xfrm>
              <a:off x="3334" y="1720"/>
              <a:ext cx="0" cy="25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35" name="Google Shape;1135;p63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1140" name="Google Shape;114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162" y="966787"/>
            <a:ext cx="2741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64"/>
          <p:cNvSpPr txBox="1"/>
          <p:nvPr>
            <p:ph type="title"/>
          </p:nvPr>
        </p:nvSpPr>
        <p:spPr>
          <a:xfrm>
            <a:off x="307975" y="214312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Tunneling</a:t>
            </a:r>
            <a:endParaRPr/>
          </a:p>
        </p:txBody>
      </p:sp>
      <p:sp>
        <p:nvSpPr>
          <p:cNvPr id="1142" name="Google Shape;1142;p64"/>
          <p:cNvSpPr txBox="1"/>
          <p:nvPr/>
        </p:nvSpPr>
        <p:spPr>
          <a:xfrm>
            <a:off x="309562" y="2597150"/>
            <a:ext cx="15938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physical view: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3" name="Google Shape;1143;p64"/>
          <p:cNvCxnSpPr/>
          <p:nvPr/>
        </p:nvCxnSpPr>
        <p:spPr>
          <a:xfrm>
            <a:off x="3895725" y="2868612"/>
            <a:ext cx="232568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4" name="Google Shape;1144;p64"/>
          <p:cNvSpPr txBox="1"/>
          <p:nvPr/>
        </p:nvSpPr>
        <p:spPr>
          <a:xfrm>
            <a:off x="4227512" y="2992437"/>
            <a:ext cx="5905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IPv4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64"/>
          <p:cNvSpPr txBox="1"/>
          <p:nvPr/>
        </p:nvSpPr>
        <p:spPr>
          <a:xfrm>
            <a:off x="5221287" y="2994025"/>
            <a:ext cx="5905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IPv4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6" name="Google Shape;1146;p64"/>
          <p:cNvGrpSpPr/>
          <p:nvPr/>
        </p:nvGrpSpPr>
        <p:grpSpPr>
          <a:xfrm>
            <a:off x="4230687" y="2703512"/>
            <a:ext cx="693737" cy="338137"/>
            <a:chOff x="4396" y="1245"/>
            <a:chExt cx="672" cy="248"/>
          </a:xfrm>
        </p:grpSpPr>
        <p:sp>
          <p:nvSpPr>
            <p:cNvPr id="1147" name="Google Shape;1147;p64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10800000" scaled="0"/>
            </a:gra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64"/>
            <p:cNvSpPr txBox="1"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64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10800000" scaled="0"/>
            </a:gra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50" name="Google Shape;1150;p64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151" name="Google Shape;1151;p64"/>
              <p:cNvSpPr/>
              <p:nvPr/>
            </p:nvSpPr>
            <p:spPr>
              <a:xfrm>
                <a:off x="2468" y="1332"/>
                <a:ext cx="310" cy="60"/>
              </a:xfrm>
              <a:custGeom>
                <a:rect b="b" l="l" r="r" t="t"/>
                <a:pathLst>
                  <a:path extrusionOk="0" h="60" w="31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CC0000"/>
                  </a:gs>
                </a:gsLst>
                <a:lin ang="10800000" scaled="0"/>
              </a:gra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64"/>
              <p:cNvSpPr/>
              <p:nvPr/>
            </p:nvSpPr>
            <p:spPr>
              <a:xfrm>
                <a:off x="2482" y="1332"/>
                <a:ext cx="282" cy="60"/>
              </a:xfrm>
              <a:custGeom>
                <a:rect b="b" l="l" r="r" t="t"/>
                <a:pathLst>
                  <a:path extrusionOk="0" h="60" w="282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CC0000"/>
                  </a:gs>
                </a:gsLst>
                <a:lin ang="10800000" scaled="0"/>
              </a:gra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53" name="Google Shape;1153;p64"/>
            <p:cNvCxnSpPr/>
            <p:nvPr/>
          </p:nvCxnSpPr>
          <p:spPr>
            <a:xfrm>
              <a:off x="4399" y="1321"/>
              <a:ext cx="0" cy="10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4" name="Google Shape;1154;p64"/>
            <p:cNvCxnSpPr/>
            <p:nvPr/>
          </p:nvCxnSpPr>
          <p:spPr>
            <a:xfrm>
              <a:off x="5063" y="1327"/>
              <a:ext cx="0" cy="10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55" name="Google Shape;1155;p64"/>
          <p:cNvGrpSpPr/>
          <p:nvPr/>
        </p:nvGrpSpPr>
        <p:grpSpPr>
          <a:xfrm>
            <a:off x="2163762" y="2360612"/>
            <a:ext cx="1728787" cy="965200"/>
            <a:chOff x="1363" y="1403"/>
            <a:chExt cx="1089" cy="608"/>
          </a:xfrm>
        </p:grpSpPr>
        <p:sp>
          <p:nvSpPr>
            <p:cNvPr id="1156" name="Google Shape;1156;p64"/>
            <p:cNvSpPr txBox="1"/>
            <p:nvPr/>
          </p:nvSpPr>
          <p:spPr>
            <a:xfrm>
              <a:off x="1462" y="140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64"/>
            <p:cNvSpPr txBox="1"/>
            <p:nvPr/>
          </p:nvSpPr>
          <p:spPr>
            <a:xfrm>
              <a:off x="2121" y="1406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58" name="Google Shape;1158;p64"/>
            <p:cNvCxnSpPr/>
            <p:nvPr/>
          </p:nvCxnSpPr>
          <p:spPr>
            <a:xfrm>
              <a:off x="1803" y="1729"/>
              <a:ext cx="20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59" name="Google Shape;1159;p64"/>
            <p:cNvSpPr txBox="1"/>
            <p:nvPr/>
          </p:nvSpPr>
          <p:spPr>
            <a:xfrm>
              <a:off x="1386" y="1798"/>
              <a:ext cx="37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IPv6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64"/>
            <p:cNvSpPr txBox="1"/>
            <p:nvPr/>
          </p:nvSpPr>
          <p:spPr>
            <a:xfrm>
              <a:off x="2045" y="1799"/>
              <a:ext cx="37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IPv6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1" name="Google Shape;1161;p64"/>
            <p:cNvGrpSpPr/>
            <p:nvPr/>
          </p:nvGrpSpPr>
          <p:grpSpPr>
            <a:xfrm>
              <a:off x="1363" y="1621"/>
              <a:ext cx="437" cy="213"/>
              <a:chOff x="4396" y="1245"/>
              <a:chExt cx="672" cy="248"/>
            </a:xfrm>
          </p:grpSpPr>
          <p:sp>
            <p:nvSpPr>
              <p:cNvPr id="1162" name="Google Shape;1162;p64"/>
              <p:cNvSpPr/>
              <p:nvPr/>
            </p:nvSpPr>
            <p:spPr>
              <a:xfrm>
                <a:off x="4399" y="1355"/>
                <a:ext cx="666" cy="138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64"/>
              <p:cNvSpPr txBox="1"/>
              <p:nvPr/>
            </p:nvSpPr>
            <p:spPr>
              <a:xfrm>
                <a:off x="4399" y="1339"/>
                <a:ext cx="669" cy="8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64"/>
              <p:cNvSpPr/>
              <p:nvPr/>
            </p:nvSpPr>
            <p:spPr>
              <a:xfrm>
                <a:off x="4396" y="1245"/>
                <a:ext cx="667" cy="162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65" name="Google Shape;1165;p64"/>
              <p:cNvGrpSpPr/>
              <p:nvPr/>
            </p:nvGrpSpPr>
            <p:grpSpPr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166" name="Google Shape;1166;p64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7" name="Google Shape;1167;p64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168" name="Google Shape;1168;p64"/>
              <p:cNvCxnSpPr/>
              <p:nvPr/>
            </p:nvCxnSpPr>
            <p:spPr>
              <a:xfrm>
                <a:off x="4399" y="1321"/>
                <a:ext cx="0" cy="109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9" name="Google Shape;1169;p64"/>
              <p:cNvCxnSpPr/>
              <p:nvPr/>
            </p:nvCxnSpPr>
            <p:spPr>
              <a:xfrm>
                <a:off x="5063" y="1327"/>
                <a:ext cx="0" cy="106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70" name="Google Shape;1170;p64"/>
            <p:cNvGrpSpPr/>
            <p:nvPr/>
          </p:nvGrpSpPr>
          <p:grpSpPr>
            <a:xfrm>
              <a:off x="2015" y="1617"/>
              <a:ext cx="437" cy="213"/>
              <a:chOff x="4396" y="1245"/>
              <a:chExt cx="672" cy="248"/>
            </a:xfrm>
          </p:grpSpPr>
          <p:sp>
            <p:nvSpPr>
              <p:cNvPr id="1171" name="Google Shape;1171;p64"/>
              <p:cNvSpPr/>
              <p:nvPr/>
            </p:nvSpPr>
            <p:spPr>
              <a:xfrm>
                <a:off x="4399" y="1355"/>
                <a:ext cx="666" cy="138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2" name="Google Shape;1172;p64"/>
              <p:cNvSpPr txBox="1"/>
              <p:nvPr/>
            </p:nvSpPr>
            <p:spPr>
              <a:xfrm>
                <a:off x="4399" y="1339"/>
                <a:ext cx="669" cy="8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3" name="Google Shape;1173;p64"/>
              <p:cNvSpPr/>
              <p:nvPr/>
            </p:nvSpPr>
            <p:spPr>
              <a:xfrm>
                <a:off x="4396" y="1245"/>
                <a:ext cx="667" cy="162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74" name="Google Shape;1174;p64"/>
              <p:cNvGrpSpPr/>
              <p:nvPr/>
            </p:nvGrpSpPr>
            <p:grpSpPr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175" name="Google Shape;1175;p64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76" name="Google Shape;1176;p64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177" name="Google Shape;1177;p64"/>
              <p:cNvCxnSpPr/>
              <p:nvPr/>
            </p:nvCxnSpPr>
            <p:spPr>
              <a:xfrm>
                <a:off x="4399" y="1321"/>
                <a:ext cx="0" cy="109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8" name="Google Shape;1178;p64"/>
              <p:cNvCxnSpPr/>
              <p:nvPr/>
            </p:nvCxnSpPr>
            <p:spPr>
              <a:xfrm>
                <a:off x="5063" y="1327"/>
                <a:ext cx="0" cy="106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179" name="Google Shape;1179;p64"/>
          <p:cNvGrpSpPr/>
          <p:nvPr/>
        </p:nvGrpSpPr>
        <p:grpSpPr>
          <a:xfrm>
            <a:off x="5195887" y="2706687"/>
            <a:ext cx="693737" cy="338137"/>
            <a:chOff x="4396" y="1245"/>
            <a:chExt cx="672" cy="248"/>
          </a:xfrm>
        </p:grpSpPr>
        <p:sp>
          <p:nvSpPr>
            <p:cNvPr id="1180" name="Google Shape;1180;p64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10800000" scaled="0"/>
            </a:gra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64"/>
            <p:cNvSpPr txBox="1"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64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10800000" scaled="0"/>
            </a:gra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83" name="Google Shape;1183;p64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184" name="Google Shape;1184;p64"/>
              <p:cNvSpPr/>
              <p:nvPr/>
            </p:nvSpPr>
            <p:spPr>
              <a:xfrm>
                <a:off x="2468" y="1332"/>
                <a:ext cx="310" cy="60"/>
              </a:xfrm>
              <a:custGeom>
                <a:rect b="b" l="l" r="r" t="t"/>
                <a:pathLst>
                  <a:path extrusionOk="0" h="60" w="31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CC0000"/>
                  </a:gs>
                </a:gsLst>
                <a:lin ang="10800000" scaled="0"/>
              </a:gra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5" name="Google Shape;1185;p64"/>
              <p:cNvSpPr/>
              <p:nvPr/>
            </p:nvSpPr>
            <p:spPr>
              <a:xfrm>
                <a:off x="2482" y="1332"/>
                <a:ext cx="282" cy="60"/>
              </a:xfrm>
              <a:custGeom>
                <a:rect b="b" l="l" r="r" t="t"/>
                <a:pathLst>
                  <a:path extrusionOk="0" h="60" w="282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CC0000"/>
                  </a:gs>
                </a:gsLst>
                <a:lin ang="10800000" scaled="0"/>
              </a:gra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86" name="Google Shape;1186;p64"/>
            <p:cNvCxnSpPr/>
            <p:nvPr/>
          </p:nvCxnSpPr>
          <p:spPr>
            <a:xfrm>
              <a:off x="4399" y="1321"/>
              <a:ext cx="0" cy="10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7" name="Google Shape;1187;p64"/>
            <p:cNvCxnSpPr/>
            <p:nvPr/>
          </p:nvCxnSpPr>
          <p:spPr>
            <a:xfrm>
              <a:off x="5063" y="1327"/>
              <a:ext cx="0" cy="10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88" name="Google Shape;1188;p64"/>
          <p:cNvGrpSpPr/>
          <p:nvPr/>
        </p:nvGrpSpPr>
        <p:grpSpPr>
          <a:xfrm>
            <a:off x="6202362" y="2362200"/>
            <a:ext cx="1668462" cy="958850"/>
            <a:chOff x="3907" y="1404"/>
            <a:chExt cx="1051" cy="604"/>
          </a:xfrm>
        </p:grpSpPr>
        <p:sp>
          <p:nvSpPr>
            <p:cNvPr id="1189" name="Google Shape;1189;p64"/>
            <p:cNvSpPr txBox="1"/>
            <p:nvPr/>
          </p:nvSpPr>
          <p:spPr>
            <a:xfrm>
              <a:off x="4012" y="1404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90" name="Google Shape;1190;p64"/>
            <p:cNvCxnSpPr/>
            <p:nvPr/>
          </p:nvCxnSpPr>
          <p:spPr>
            <a:xfrm>
              <a:off x="4352" y="1717"/>
              <a:ext cx="20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91" name="Google Shape;1191;p64"/>
            <p:cNvSpPr txBox="1"/>
            <p:nvPr/>
          </p:nvSpPr>
          <p:spPr>
            <a:xfrm>
              <a:off x="3951" y="1794"/>
              <a:ext cx="37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IPv6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64"/>
            <p:cNvSpPr txBox="1"/>
            <p:nvPr/>
          </p:nvSpPr>
          <p:spPr>
            <a:xfrm>
              <a:off x="4569" y="1796"/>
              <a:ext cx="37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IPv6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3" name="Google Shape;1193;p64"/>
            <p:cNvGrpSpPr/>
            <p:nvPr/>
          </p:nvGrpSpPr>
          <p:grpSpPr>
            <a:xfrm>
              <a:off x="3907" y="1621"/>
              <a:ext cx="437" cy="213"/>
              <a:chOff x="4396" y="1245"/>
              <a:chExt cx="672" cy="248"/>
            </a:xfrm>
          </p:grpSpPr>
          <p:sp>
            <p:nvSpPr>
              <p:cNvPr id="1194" name="Google Shape;1194;p64"/>
              <p:cNvSpPr/>
              <p:nvPr/>
            </p:nvSpPr>
            <p:spPr>
              <a:xfrm>
                <a:off x="4399" y="1355"/>
                <a:ext cx="666" cy="138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5" name="Google Shape;1195;p64"/>
              <p:cNvSpPr txBox="1"/>
              <p:nvPr/>
            </p:nvSpPr>
            <p:spPr>
              <a:xfrm>
                <a:off x="4399" y="1339"/>
                <a:ext cx="669" cy="8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6" name="Google Shape;1196;p64"/>
              <p:cNvSpPr/>
              <p:nvPr/>
            </p:nvSpPr>
            <p:spPr>
              <a:xfrm>
                <a:off x="4396" y="1245"/>
                <a:ext cx="667" cy="162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97" name="Google Shape;1197;p64"/>
              <p:cNvGrpSpPr/>
              <p:nvPr/>
            </p:nvGrpSpPr>
            <p:grpSpPr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198" name="Google Shape;1198;p64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9" name="Google Shape;1199;p64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200" name="Google Shape;1200;p64"/>
              <p:cNvCxnSpPr/>
              <p:nvPr/>
            </p:nvCxnSpPr>
            <p:spPr>
              <a:xfrm>
                <a:off x="4399" y="1321"/>
                <a:ext cx="0" cy="109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1" name="Google Shape;1201;p64"/>
              <p:cNvCxnSpPr/>
              <p:nvPr/>
            </p:nvCxnSpPr>
            <p:spPr>
              <a:xfrm>
                <a:off x="5063" y="1327"/>
                <a:ext cx="0" cy="106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02" name="Google Shape;1202;p64"/>
            <p:cNvGrpSpPr/>
            <p:nvPr/>
          </p:nvGrpSpPr>
          <p:grpSpPr>
            <a:xfrm>
              <a:off x="4521" y="1619"/>
              <a:ext cx="437" cy="213"/>
              <a:chOff x="4396" y="1245"/>
              <a:chExt cx="672" cy="248"/>
            </a:xfrm>
          </p:grpSpPr>
          <p:sp>
            <p:nvSpPr>
              <p:cNvPr id="1203" name="Google Shape;1203;p64"/>
              <p:cNvSpPr/>
              <p:nvPr/>
            </p:nvSpPr>
            <p:spPr>
              <a:xfrm>
                <a:off x="4399" y="1355"/>
                <a:ext cx="666" cy="138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64"/>
              <p:cNvSpPr txBox="1"/>
              <p:nvPr/>
            </p:nvSpPr>
            <p:spPr>
              <a:xfrm>
                <a:off x="4399" y="1339"/>
                <a:ext cx="669" cy="8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5" name="Google Shape;1205;p64"/>
              <p:cNvSpPr/>
              <p:nvPr/>
            </p:nvSpPr>
            <p:spPr>
              <a:xfrm>
                <a:off x="4396" y="1245"/>
                <a:ext cx="667" cy="162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06" name="Google Shape;1206;p64"/>
              <p:cNvGrpSpPr/>
              <p:nvPr/>
            </p:nvGrpSpPr>
            <p:grpSpPr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207" name="Google Shape;1207;p64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8" name="Google Shape;1208;p64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209" name="Google Shape;1209;p64"/>
              <p:cNvCxnSpPr/>
              <p:nvPr/>
            </p:nvCxnSpPr>
            <p:spPr>
              <a:xfrm>
                <a:off x="4399" y="1321"/>
                <a:ext cx="0" cy="109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10" name="Google Shape;1210;p64"/>
              <p:cNvCxnSpPr/>
              <p:nvPr/>
            </p:nvCxnSpPr>
            <p:spPr>
              <a:xfrm>
                <a:off x="5063" y="1327"/>
                <a:ext cx="0" cy="106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211" name="Google Shape;1211;p64"/>
            <p:cNvSpPr txBox="1"/>
            <p:nvPr/>
          </p:nvSpPr>
          <p:spPr>
            <a:xfrm>
              <a:off x="4635" y="1408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2" name="Google Shape;1212;p64"/>
          <p:cNvSpPr txBox="1"/>
          <p:nvPr/>
        </p:nvSpPr>
        <p:spPr>
          <a:xfrm>
            <a:off x="4386262" y="2355850"/>
            <a:ext cx="349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64"/>
          <p:cNvSpPr txBox="1"/>
          <p:nvPr/>
        </p:nvSpPr>
        <p:spPr>
          <a:xfrm>
            <a:off x="5362575" y="2359025"/>
            <a:ext cx="349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4" name="Google Shape;1214;p64"/>
          <p:cNvGrpSpPr/>
          <p:nvPr/>
        </p:nvGrpSpPr>
        <p:grpSpPr>
          <a:xfrm>
            <a:off x="458787" y="1216025"/>
            <a:ext cx="7418387" cy="979487"/>
            <a:chOff x="289" y="766"/>
            <a:chExt cx="4673" cy="617"/>
          </a:xfrm>
        </p:grpSpPr>
        <p:sp>
          <p:nvSpPr>
            <p:cNvPr id="1215" name="Google Shape;1215;p64"/>
            <p:cNvSpPr txBox="1"/>
            <p:nvPr/>
          </p:nvSpPr>
          <p:spPr>
            <a:xfrm>
              <a:off x="2424" y="1085"/>
              <a:ext cx="1515" cy="42"/>
            </a:xfrm>
            <a:prstGeom prst="rect">
              <a:avLst/>
            </a:prstGeom>
            <a:solidFill>
              <a:srgbClr val="CC0000"/>
            </a:soli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64"/>
            <p:cNvSpPr txBox="1"/>
            <p:nvPr/>
          </p:nvSpPr>
          <p:spPr>
            <a:xfrm>
              <a:off x="289" y="979"/>
              <a:ext cx="8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logical view: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64"/>
            <p:cNvSpPr txBox="1"/>
            <p:nvPr/>
          </p:nvSpPr>
          <p:spPr>
            <a:xfrm>
              <a:off x="2494" y="766"/>
              <a:ext cx="1461" cy="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IPv4 tunnel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connecting IPv6 routers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8" name="Google Shape;1218;p64"/>
            <p:cNvGrpSpPr/>
            <p:nvPr/>
          </p:nvGrpSpPr>
          <p:grpSpPr>
            <a:xfrm>
              <a:off x="3911" y="779"/>
              <a:ext cx="1051" cy="604"/>
              <a:chOff x="3907" y="1404"/>
              <a:chExt cx="1051" cy="604"/>
            </a:xfrm>
          </p:grpSpPr>
          <p:sp>
            <p:nvSpPr>
              <p:cNvPr id="1219" name="Google Shape;1219;p64"/>
              <p:cNvSpPr txBox="1"/>
              <p:nvPr/>
            </p:nvSpPr>
            <p:spPr>
              <a:xfrm>
                <a:off x="4012" y="1404"/>
                <a:ext cx="21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220" name="Google Shape;1220;p64"/>
              <p:cNvCxnSpPr/>
              <p:nvPr/>
            </p:nvCxnSpPr>
            <p:spPr>
              <a:xfrm>
                <a:off x="4352" y="1717"/>
                <a:ext cx="204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21" name="Google Shape;1221;p64"/>
              <p:cNvSpPr txBox="1"/>
              <p:nvPr/>
            </p:nvSpPr>
            <p:spPr>
              <a:xfrm>
                <a:off x="3951" y="1794"/>
                <a:ext cx="372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IPv6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2" name="Google Shape;1222;p64"/>
              <p:cNvSpPr txBox="1"/>
              <p:nvPr/>
            </p:nvSpPr>
            <p:spPr>
              <a:xfrm>
                <a:off x="4569" y="1796"/>
                <a:ext cx="372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IPv6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23" name="Google Shape;1223;p64"/>
              <p:cNvGrpSpPr/>
              <p:nvPr/>
            </p:nvGrpSpPr>
            <p:grpSpPr>
              <a:xfrm>
                <a:off x="3907" y="1621"/>
                <a:ext cx="437" cy="213"/>
                <a:chOff x="4396" y="1245"/>
                <a:chExt cx="672" cy="248"/>
              </a:xfrm>
            </p:grpSpPr>
            <p:sp>
              <p:nvSpPr>
                <p:cNvPr id="1224" name="Google Shape;1224;p64"/>
                <p:cNvSpPr/>
                <p:nvPr/>
              </p:nvSpPr>
              <p:spPr>
                <a:xfrm>
                  <a:off x="4399" y="1355"/>
                  <a:ext cx="666" cy="138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5" name="Google Shape;1225;p64"/>
                <p:cNvSpPr txBox="1"/>
                <p:nvPr/>
              </p:nvSpPr>
              <p:spPr>
                <a:xfrm>
                  <a:off x="4399" y="1339"/>
                  <a:ext cx="669" cy="86"/>
                </a:xfrm>
                <a:prstGeom prst="rect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6" name="Google Shape;1226;p64"/>
                <p:cNvSpPr/>
                <p:nvPr/>
              </p:nvSpPr>
              <p:spPr>
                <a:xfrm>
                  <a:off x="4396" y="1245"/>
                  <a:ext cx="667" cy="162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27" name="Google Shape;1227;p64"/>
                <p:cNvGrpSpPr/>
                <p:nvPr/>
              </p:nvGrpSpPr>
              <p:grpSpPr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1228" name="Google Shape;1228;p6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9" name="Google Shape;1229;p6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1230" name="Google Shape;1230;p64"/>
                <p:cNvCxnSpPr/>
                <p:nvPr/>
              </p:nvCxnSpPr>
              <p:spPr>
                <a:xfrm>
                  <a:off x="4399" y="1321"/>
                  <a:ext cx="0" cy="109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31" name="Google Shape;1231;p64"/>
                <p:cNvCxnSpPr/>
                <p:nvPr/>
              </p:nvCxnSpPr>
              <p:spPr>
                <a:xfrm>
                  <a:off x="5063" y="1327"/>
                  <a:ext cx="0" cy="106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232" name="Google Shape;1232;p64"/>
              <p:cNvGrpSpPr/>
              <p:nvPr/>
            </p:nvGrpSpPr>
            <p:grpSpPr>
              <a:xfrm>
                <a:off x="4521" y="1619"/>
                <a:ext cx="437" cy="213"/>
                <a:chOff x="4396" y="1245"/>
                <a:chExt cx="672" cy="248"/>
              </a:xfrm>
            </p:grpSpPr>
            <p:sp>
              <p:nvSpPr>
                <p:cNvPr id="1233" name="Google Shape;1233;p64"/>
                <p:cNvSpPr/>
                <p:nvPr/>
              </p:nvSpPr>
              <p:spPr>
                <a:xfrm>
                  <a:off x="4399" y="1355"/>
                  <a:ext cx="666" cy="138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4" name="Google Shape;1234;p64"/>
                <p:cNvSpPr txBox="1"/>
                <p:nvPr/>
              </p:nvSpPr>
              <p:spPr>
                <a:xfrm>
                  <a:off x="4399" y="1339"/>
                  <a:ext cx="669" cy="86"/>
                </a:xfrm>
                <a:prstGeom prst="rect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5" name="Google Shape;1235;p64"/>
                <p:cNvSpPr/>
                <p:nvPr/>
              </p:nvSpPr>
              <p:spPr>
                <a:xfrm>
                  <a:off x="4396" y="1245"/>
                  <a:ext cx="667" cy="162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36" name="Google Shape;1236;p64"/>
                <p:cNvGrpSpPr/>
                <p:nvPr/>
              </p:nvGrpSpPr>
              <p:grpSpPr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1237" name="Google Shape;1237;p6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8" name="Google Shape;1238;p6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1239" name="Google Shape;1239;p64"/>
                <p:cNvCxnSpPr/>
                <p:nvPr/>
              </p:nvCxnSpPr>
              <p:spPr>
                <a:xfrm>
                  <a:off x="4399" y="1321"/>
                  <a:ext cx="0" cy="109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40" name="Google Shape;1240;p64"/>
                <p:cNvCxnSpPr/>
                <p:nvPr/>
              </p:nvCxnSpPr>
              <p:spPr>
                <a:xfrm>
                  <a:off x="5063" y="1327"/>
                  <a:ext cx="0" cy="106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241" name="Google Shape;1241;p64"/>
              <p:cNvSpPr txBox="1"/>
              <p:nvPr/>
            </p:nvSpPr>
            <p:spPr>
              <a:xfrm>
                <a:off x="4635" y="1408"/>
                <a:ext cx="204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2" name="Google Shape;1242;p64"/>
            <p:cNvGrpSpPr/>
            <p:nvPr/>
          </p:nvGrpSpPr>
          <p:grpSpPr>
            <a:xfrm>
              <a:off x="1361" y="771"/>
              <a:ext cx="1089" cy="608"/>
              <a:chOff x="1363" y="1403"/>
              <a:chExt cx="1089" cy="608"/>
            </a:xfrm>
          </p:grpSpPr>
          <p:sp>
            <p:nvSpPr>
              <p:cNvPr id="1243" name="Google Shape;1243;p64"/>
              <p:cNvSpPr txBox="1"/>
              <p:nvPr/>
            </p:nvSpPr>
            <p:spPr>
              <a:xfrm>
                <a:off x="1462" y="1403"/>
                <a:ext cx="21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p64"/>
              <p:cNvSpPr txBox="1"/>
              <p:nvPr/>
            </p:nvSpPr>
            <p:spPr>
              <a:xfrm>
                <a:off x="2121" y="1406"/>
                <a:ext cx="21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245" name="Google Shape;1245;p64"/>
              <p:cNvCxnSpPr/>
              <p:nvPr/>
            </p:nvCxnSpPr>
            <p:spPr>
              <a:xfrm>
                <a:off x="1803" y="1729"/>
                <a:ext cx="204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46" name="Google Shape;1246;p64"/>
              <p:cNvSpPr txBox="1"/>
              <p:nvPr/>
            </p:nvSpPr>
            <p:spPr>
              <a:xfrm>
                <a:off x="1386" y="1798"/>
                <a:ext cx="372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IPv6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7" name="Google Shape;1247;p64"/>
              <p:cNvSpPr txBox="1"/>
              <p:nvPr/>
            </p:nvSpPr>
            <p:spPr>
              <a:xfrm>
                <a:off x="2045" y="1799"/>
                <a:ext cx="372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IPv6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48" name="Google Shape;1248;p64"/>
              <p:cNvGrpSpPr/>
              <p:nvPr/>
            </p:nvGrpSpPr>
            <p:grpSpPr>
              <a:xfrm>
                <a:off x="1363" y="1621"/>
                <a:ext cx="437" cy="213"/>
                <a:chOff x="4396" y="1245"/>
                <a:chExt cx="672" cy="248"/>
              </a:xfrm>
            </p:grpSpPr>
            <p:sp>
              <p:nvSpPr>
                <p:cNvPr id="1249" name="Google Shape;1249;p64"/>
                <p:cNvSpPr/>
                <p:nvPr/>
              </p:nvSpPr>
              <p:spPr>
                <a:xfrm>
                  <a:off x="4399" y="1355"/>
                  <a:ext cx="666" cy="138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0" name="Google Shape;1250;p64"/>
                <p:cNvSpPr txBox="1"/>
                <p:nvPr/>
              </p:nvSpPr>
              <p:spPr>
                <a:xfrm>
                  <a:off x="4399" y="1339"/>
                  <a:ext cx="669" cy="86"/>
                </a:xfrm>
                <a:prstGeom prst="rect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1" name="Google Shape;1251;p64"/>
                <p:cNvSpPr/>
                <p:nvPr/>
              </p:nvSpPr>
              <p:spPr>
                <a:xfrm>
                  <a:off x="4396" y="1245"/>
                  <a:ext cx="667" cy="162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52" name="Google Shape;1252;p64"/>
                <p:cNvGrpSpPr/>
                <p:nvPr/>
              </p:nvGrpSpPr>
              <p:grpSpPr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1253" name="Google Shape;1253;p6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4" name="Google Shape;1254;p6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1255" name="Google Shape;1255;p64"/>
                <p:cNvCxnSpPr/>
                <p:nvPr/>
              </p:nvCxnSpPr>
              <p:spPr>
                <a:xfrm>
                  <a:off x="4399" y="1321"/>
                  <a:ext cx="0" cy="109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6" name="Google Shape;1256;p64"/>
                <p:cNvCxnSpPr/>
                <p:nvPr/>
              </p:nvCxnSpPr>
              <p:spPr>
                <a:xfrm>
                  <a:off x="5063" y="1327"/>
                  <a:ext cx="0" cy="106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257" name="Google Shape;1257;p64"/>
              <p:cNvGrpSpPr/>
              <p:nvPr/>
            </p:nvGrpSpPr>
            <p:grpSpPr>
              <a:xfrm>
                <a:off x="2015" y="1617"/>
                <a:ext cx="437" cy="213"/>
                <a:chOff x="4396" y="1245"/>
                <a:chExt cx="672" cy="248"/>
              </a:xfrm>
            </p:grpSpPr>
            <p:sp>
              <p:nvSpPr>
                <p:cNvPr id="1258" name="Google Shape;1258;p64"/>
                <p:cNvSpPr/>
                <p:nvPr/>
              </p:nvSpPr>
              <p:spPr>
                <a:xfrm>
                  <a:off x="4399" y="1355"/>
                  <a:ext cx="666" cy="138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9" name="Google Shape;1259;p64"/>
                <p:cNvSpPr txBox="1"/>
                <p:nvPr/>
              </p:nvSpPr>
              <p:spPr>
                <a:xfrm>
                  <a:off x="4399" y="1339"/>
                  <a:ext cx="669" cy="86"/>
                </a:xfrm>
                <a:prstGeom prst="rect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0" name="Google Shape;1260;p64"/>
                <p:cNvSpPr/>
                <p:nvPr/>
              </p:nvSpPr>
              <p:spPr>
                <a:xfrm>
                  <a:off x="4396" y="1245"/>
                  <a:ext cx="667" cy="162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61" name="Google Shape;1261;p64"/>
                <p:cNvGrpSpPr/>
                <p:nvPr/>
              </p:nvGrpSpPr>
              <p:grpSpPr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1262" name="Google Shape;1262;p64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3" name="Google Shape;1263;p64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1264" name="Google Shape;1264;p64"/>
                <p:cNvCxnSpPr/>
                <p:nvPr/>
              </p:nvCxnSpPr>
              <p:spPr>
                <a:xfrm>
                  <a:off x="4399" y="1321"/>
                  <a:ext cx="0" cy="109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65" name="Google Shape;1265;p64"/>
                <p:cNvCxnSpPr/>
                <p:nvPr/>
              </p:nvCxnSpPr>
              <p:spPr>
                <a:xfrm>
                  <a:off x="5063" y="1327"/>
                  <a:ext cx="0" cy="106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1266" name="Google Shape;1266;p64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1" name="Google Shape;1271;p65"/>
          <p:cNvGrpSpPr/>
          <p:nvPr/>
        </p:nvGrpSpPr>
        <p:grpSpPr>
          <a:xfrm>
            <a:off x="2557462" y="3384550"/>
            <a:ext cx="817562" cy="2981325"/>
            <a:chOff x="1611" y="2132"/>
            <a:chExt cx="515" cy="1878"/>
          </a:xfrm>
        </p:grpSpPr>
        <p:grpSp>
          <p:nvGrpSpPr>
            <p:cNvPr id="1272" name="Google Shape;1272;p65"/>
            <p:cNvGrpSpPr/>
            <p:nvPr/>
          </p:nvGrpSpPr>
          <p:grpSpPr>
            <a:xfrm>
              <a:off x="1625" y="2200"/>
              <a:ext cx="471" cy="908"/>
              <a:chOff x="643" y="2144"/>
              <a:chExt cx="471" cy="908"/>
            </a:xfrm>
          </p:grpSpPr>
          <p:sp>
            <p:nvSpPr>
              <p:cNvPr id="1273" name="Google Shape;1273;p65"/>
              <p:cNvSpPr txBox="1"/>
              <p:nvPr/>
            </p:nvSpPr>
            <p:spPr>
              <a:xfrm>
                <a:off x="652" y="2144"/>
                <a:ext cx="462" cy="908"/>
              </a:xfrm>
              <a:prstGeom prst="rect">
                <a:avLst/>
              </a:prstGeom>
              <a:solidFill>
                <a:srgbClr val="66CC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65"/>
              <p:cNvSpPr txBox="1"/>
              <p:nvPr/>
            </p:nvSpPr>
            <p:spPr>
              <a:xfrm>
                <a:off x="643" y="2169"/>
                <a:ext cx="457" cy="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flow: 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src: 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dest: 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275" name="Google Shape;1275;p65"/>
            <p:cNvCxnSpPr/>
            <p:nvPr/>
          </p:nvCxnSpPr>
          <p:spPr>
            <a:xfrm>
              <a:off x="1661" y="2132"/>
              <a:ext cx="43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276" name="Google Shape;1276;p65"/>
            <p:cNvSpPr txBox="1"/>
            <p:nvPr/>
          </p:nvSpPr>
          <p:spPr>
            <a:xfrm>
              <a:off x="1611" y="3690"/>
              <a:ext cx="515" cy="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A-to-B: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IPv6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77" name="Google Shape;1277;p65"/>
            <p:cNvCxnSpPr/>
            <p:nvPr/>
          </p:nvCxnSpPr>
          <p:spPr>
            <a:xfrm>
              <a:off x="1856" y="3230"/>
              <a:ext cx="0" cy="49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</p:grpSp>
      <p:grpSp>
        <p:nvGrpSpPr>
          <p:cNvPr id="1278" name="Google Shape;1278;p65"/>
          <p:cNvGrpSpPr/>
          <p:nvPr/>
        </p:nvGrpSpPr>
        <p:grpSpPr>
          <a:xfrm>
            <a:off x="3532187" y="3376612"/>
            <a:ext cx="1185862" cy="3319462"/>
            <a:chOff x="2225" y="2127"/>
            <a:chExt cx="747" cy="2091"/>
          </a:xfrm>
        </p:grpSpPr>
        <p:grpSp>
          <p:nvGrpSpPr>
            <p:cNvPr id="1279" name="Google Shape;1279;p65"/>
            <p:cNvGrpSpPr/>
            <p:nvPr/>
          </p:nvGrpSpPr>
          <p:grpSpPr>
            <a:xfrm>
              <a:off x="2225" y="2194"/>
              <a:ext cx="620" cy="1388"/>
              <a:chOff x="441" y="2082"/>
              <a:chExt cx="620" cy="1388"/>
            </a:xfrm>
          </p:grpSpPr>
          <p:sp>
            <p:nvSpPr>
              <p:cNvPr id="1280" name="Google Shape;1280;p65"/>
              <p:cNvSpPr txBox="1"/>
              <p:nvPr/>
            </p:nvSpPr>
            <p:spPr>
              <a:xfrm>
                <a:off x="478" y="2088"/>
                <a:ext cx="583" cy="1382"/>
              </a:xfrm>
              <a:prstGeom prst="rect">
                <a:avLst/>
              </a:prstGeom>
              <a:solidFill>
                <a:srgbClr val="CC000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81" name="Google Shape;1281;p65"/>
              <p:cNvGrpSpPr/>
              <p:nvPr/>
            </p:nvGrpSpPr>
            <p:grpSpPr>
              <a:xfrm>
                <a:off x="499" y="2471"/>
                <a:ext cx="489" cy="908"/>
                <a:chOff x="4869" y="143"/>
                <a:chExt cx="489" cy="908"/>
              </a:xfrm>
            </p:grpSpPr>
            <p:sp>
              <p:nvSpPr>
                <p:cNvPr id="1282" name="Google Shape;1282;p65"/>
                <p:cNvSpPr txBox="1"/>
                <p:nvPr/>
              </p:nvSpPr>
              <p:spPr>
                <a:xfrm>
                  <a:off x="4893" y="143"/>
                  <a:ext cx="462" cy="908"/>
                </a:xfrm>
                <a:prstGeom prst="rect">
                  <a:avLst/>
                </a:prstGeom>
                <a:solidFill>
                  <a:srgbClr val="66CCF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3" name="Google Shape;1283;p65"/>
                <p:cNvSpPr txBox="1"/>
                <p:nvPr/>
              </p:nvSpPr>
              <p:spPr>
                <a:xfrm>
                  <a:off x="4869" y="161"/>
                  <a:ext cx="489" cy="8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Flow: X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Src: A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Dest: F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84" name="Google Shape;1284;p65"/>
              <p:cNvSpPr txBox="1"/>
              <p:nvPr/>
            </p:nvSpPr>
            <p:spPr>
              <a:xfrm>
                <a:off x="441" y="2082"/>
                <a:ext cx="564" cy="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src:B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dest: 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285" name="Google Shape;1285;p65"/>
            <p:cNvCxnSpPr/>
            <p:nvPr/>
          </p:nvCxnSpPr>
          <p:spPr>
            <a:xfrm>
              <a:off x="2345" y="2127"/>
              <a:ext cx="43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286" name="Google Shape;1286;p65"/>
            <p:cNvSpPr txBox="1"/>
            <p:nvPr/>
          </p:nvSpPr>
          <p:spPr>
            <a:xfrm>
              <a:off x="2231" y="3767"/>
              <a:ext cx="741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B-to-C: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IPv6 inside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IPv4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7" name="Google Shape;1287;p65"/>
            <p:cNvCxnSpPr/>
            <p:nvPr/>
          </p:nvCxnSpPr>
          <p:spPr>
            <a:xfrm>
              <a:off x="2588" y="3604"/>
              <a:ext cx="0" cy="1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</p:grpSp>
      <p:grpSp>
        <p:nvGrpSpPr>
          <p:cNvPr id="1288" name="Google Shape;1288;p65"/>
          <p:cNvGrpSpPr/>
          <p:nvPr/>
        </p:nvGrpSpPr>
        <p:grpSpPr>
          <a:xfrm>
            <a:off x="6748462" y="3379787"/>
            <a:ext cx="881062" cy="2998787"/>
            <a:chOff x="4251" y="2129"/>
            <a:chExt cx="555" cy="1889"/>
          </a:xfrm>
        </p:grpSpPr>
        <p:cxnSp>
          <p:nvCxnSpPr>
            <p:cNvPr id="1289" name="Google Shape;1289;p65"/>
            <p:cNvCxnSpPr/>
            <p:nvPr/>
          </p:nvCxnSpPr>
          <p:spPr>
            <a:xfrm>
              <a:off x="4292" y="2129"/>
              <a:ext cx="43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290" name="Google Shape;1290;p65"/>
            <p:cNvSpPr txBox="1"/>
            <p:nvPr/>
          </p:nvSpPr>
          <p:spPr>
            <a:xfrm>
              <a:off x="4298" y="3698"/>
              <a:ext cx="508" cy="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E-to-F: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IPv6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91" name="Google Shape;1291;p65"/>
            <p:cNvCxnSpPr/>
            <p:nvPr/>
          </p:nvCxnSpPr>
          <p:spPr>
            <a:xfrm>
              <a:off x="4540" y="3238"/>
              <a:ext cx="0" cy="49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grpSp>
          <p:nvGrpSpPr>
            <p:cNvPr id="1292" name="Google Shape;1292;p65"/>
            <p:cNvGrpSpPr/>
            <p:nvPr/>
          </p:nvGrpSpPr>
          <p:grpSpPr>
            <a:xfrm>
              <a:off x="4251" y="2205"/>
              <a:ext cx="471" cy="908"/>
              <a:chOff x="643" y="2144"/>
              <a:chExt cx="471" cy="908"/>
            </a:xfrm>
          </p:grpSpPr>
          <p:sp>
            <p:nvSpPr>
              <p:cNvPr id="1293" name="Google Shape;1293;p65"/>
              <p:cNvSpPr txBox="1"/>
              <p:nvPr/>
            </p:nvSpPr>
            <p:spPr>
              <a:xfrm>
                <a:off x="652" y="2144"/>
                <a:ext cx="462" cy="908"/>
              </a:xfrm>
              <a:prstGeom prst="rect">
                <a:avLst/>
              </a:prstGeom>
              <a:solidFill>
                <a:srgbClr val="66CC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p65"/>
              <p:cNvSpPr txBox="1"/>
              <p:nvPr/>
            </p:nvSpPr>
            <p:spPr>
              <a:xfrm>
                <a:off x="643" y="2169"/>
                <a:ext cx="457" cy="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flow: 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src: 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dest: 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95" name="Google Shape;1295;p65"/>
          <p:cNvGrpSpPr/>
          <p:nvPr/>
        </p:nvGrpSpPr>
        <p:grpSpPr>
          <a:xfrm>
            <a:off x="5567362" y="3378200"/>
            <a:ext cx="1176337" cy="3330575"/>
            <a:chOff x="3507" y="2128"/>
            <a:chExt cx="741" cy="2098"/>
          </a:xfrm>
        </p:grpSpPr>
        <p:cxnSp>
          <p:nvCxnSpPr>
            <p:cNvPr id="1296" name="Google Shape;1296;p65"/>
            <p:cNvCxnSpPr/>
            <p:nvPr/>
          </p:nvCxnSpPr>
          <p:spPr>
            <a:xfrm>
              <a:off x="3627" y="2128"/>
              <a:ext cx="43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297" name="Google Shape;1297;p65"/>
            <p:cNvSpPr txBox="1"/>
            <p:nvPr/>
          </p:nvSpPr>
          <p:spPr>
            <a:xfrm>
              <a:off x="3507" y="3775"/>
              <a:ext cx="741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B-to-C: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IPv6 inside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IPv4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98" name="Google Shape;1298;p65"/>
            <p:cNvCxnSpPr/>
            <p:nvPr/>
          </p:nvCxnSpPr>
          <p:spPr>
            <a:xfrm>
              <a:off x="3883" y="3640"/>
              <a:ext cx="0" cy="1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grpSp>
          <p:nvGrpSpPr>
            <p:cNvPr id="1299" name="Google Shape;1299;p65"/>
            <p:cNvGrpSpPr/>
            <p:nvPr/>
          </p:nvGrpSpPr>
          <p:grpSpPr>
            <a:xfrm>
              <a:off x="3521" y="2220"/>
              <a:ext cx="620" cy="1388"/>
              <a:chOff x="441" y="2082"/>
              <a:chExt cx="620" cy="1388"/>
            </a:xfrm>
          </p:grpSpPr>
          <p:sp>
            <p:nvSpPr>
              <p:cNvPr id="1300" name="Google Shape;1300;p65"/>
              <p:cNvSpPr txBox="1"/>
              <p:nvPr/>
            </p:nvSpPr>
            <p:spPr>
              <a:xfrm>
                <a:off x="478" y="2088"/>
                <a:ext cx="583" cy="1382"/>
              </a:xfrm>
              <a:prstGeom prst="rect">
                <a:avLst/>
              </a:prstGeom>
              <a:solidFill>
                <a:srgbClr val="CC000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01" name="Google Shape;1301;p65"/>
              <p:cNvGrpSpPr/>
              <p:nvPr/>
            </p:nvGrpSpPr>
            <p:grpSpPr>
              <a:xfrm>
                <a:off x="499" y="2471"/>
                <a:ext cx="489" cy="908"/>
                <a:chOff x="4869" y="143"/>
                <a:chExt cx="489" cy="908"/>
              </a:xfrm>
            </p:grpSpPr>
            <p:sp>
              <p:nvSpPr>
                <p:cNvPr id="1302" name="Google Shape;1302;p65"/>
                <p:cNvSpPr txBox="1"/>
                <p:nvPr/>
              </p:nvSpPr>
              <p:spPr>
                <a:xfrm>
                  <a:off x="4893" y="143"/>
                  <a:ext cx="462" cy="908"/>
                </a:xfrm>
                <a:prstGeom prst="rect">
                  <a:avLst/>
                </a:prstGeom>
                <a:solidFill>
                  <a:srgbClr val="66CCF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3" name="Google Shape;1303;p65"/>
                <p:cNvSpPr txBox="1"/>
                <p:nvPr/>
              </p:nvSpPr>
              <p:spPr>
                <a:xfrm>
                  <a:off x="4869" y="161"/>
                  <a:ext cx="489" cy="8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Flow: X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Src: A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Dest: F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04" name="Google Shape;1304;p65"/>
              <p:cNvSpPr txBox="1"/>
              <p:nvPr/>
            </p:nvSpPr>
            <p:spPr>
              <a:xfrm>
                <a:off x="441" y="2082"/>
                <a:ext cx="564" cy="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src:B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dest: 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05" name="Google Shape;1305;p65"/>
          <p:cNvSpPr txBox="1"/>
          <p:nvPr/>
        </p:nvSpPr>
        <p:spPr>
          <a:xfrm>
            <a:off x="309562" y="2597150"/>
            <a:ext cx="15938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physical view: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6" name="Google Shape;1306;p65"/>
          <p:cNvCxnSpPr/>
          <p:nvPr/>
        </p:nvCxnSpPr>
        <p:spPr>
          <a:xfrm>
            <a:off x="3895725" y="2868612"/>
            <a:ext cx="232568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307" name="Google Shape;1307;p65"/>
          <p:cNvGrpSpPr/>
          <p:nvPr/>
        </p:nvGrpSpPr>
        <p:grpSpPr>
          <a:xfrm>
            <a:off x="4230687" y="2703512"/>
            <a:ext cx="693737" cy="338137"/>
            <a:chOff x="4396" y="1245"/>
            <a:chExt cx="672" cy="248"/>
          </a:xfrm>
        </p:grpSpPr>
        <p:sp>
          <p:nvSpPr>
            <p:cNvPr id="1308" name="Google Shape;1308;p65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10800000" scaled="0"/>
            </a:gra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65"/>
            <p:cNvSpPr txBox="1"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65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10800000" scaled="0"/>
            </a:gra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11" name="Google Shape;1311;p65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312" name="Google Shape;1312;p65"/>
              <p:cNvSpPr/>
              <p:nvPr/>
            </p:nvSpPr>
            <p:spPr>
              <a:xfrm>
                <a:off x="2468" y="1332"/>
                <a:ext cx="310" cy="60"/>
              </a:xfrm>
              <a:custGeom>
                <a:rect b="b" l="l" r="r" t="t"/>
                <a:pathLst>
                  <a:path extrusionOk="0" h="60" w="31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CC0000"/>
                  </a:gs>
                </a:gsLst>
                <a:lin ang="10800000" scaled="0"/>
              </a:gra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Google Shape;1313;p65"/>
              <p:cNvSpPr/>
              <p:nvPr/>
            </p:nvSpPr>
            <p:spPr>
              <a:xfrm>
                <a:off x="2482" y="1332"/>
                <a:ext cx="282" cy="60"/>
              </a:xfrm>
              <a:custGeom>
                <a:rect b="b" l="l" r="r" t="t"/>
                <a:pathLst>
                  <a:path extrusionOk="0" h="60" w="282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CC0000"/>
                  </a:gs>
                </a:gsLst>
                <a:lin ang="10800000" scaled="0"/>
              </a:gra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314" name="Google Shape;1314;p65"/>
            <p:cNvCxnSpPr/>
            <p:nvPr/>
          </p:nvCxnSpPr>
          <p:spPr>
            <a:xfrm>
              <a:off x="4399" y="1321"/>
              <a:ext cx="0" cy="10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5" name="Google Shape;1315;p65"/>
            <p:cNvCxnSpPr/>
            <p:nvPr/>
          </p:nvCxnSpPr>
          <p:spPr>
            <a:xfrm>
              <a:off x="5063" y="1327"/>
              <a:ext cx="0" cy="10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316" name="Google Shape;1316;p65"/>
          <p:cNvGrpSpPr/>
          <p:nvPr/>
        </p:nvGrpSpPr>
        <p:grpSpPr>
          <a:xfrm>
            <a:off x="2163762" y="2360612"/>
            <a:ext cx="1728787" cy="965200"/>
            <a:chOff x="1363" y="1403"/>
            <a:chExt cx="1089" cy="608"/>
          </a:xfrm>
        </p:grpSpPr>
        <p:sp>
          <p:nvSpPr>
            <p:cNvPr id="1317" name="Google Shape;1317;p65"/>
            <p:cNvSpPr txBox="1"/>
            <p:nvPr/>
          </p:nvSpPr>
          <p:spPr>
            <a:xfrm>
              <a:off x="1462" y="140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65"/>
            <p:cNvSpPr txBox="1"/>
            <p:nvPr/>
          </p:nvSpPr>
          <p:spPr>
            <a:xfrm>
              <a:off x="2121" y="1406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19" name="Google Shape;1319;p65"/>
            <p:cNvCxnSpPr/>
            <p:nvPr/>
          </p:nvCxnSpPr>
          <p:spPr>
            <a:xfrm>
              <a:off x="1803" y="1729"/>
              <a:ext cx="20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20" name="Google Shape;1320;p65"/>
            <p:cNvSpPr txBox="1"/>
            <p:nvPr/>
          </p:nvSpPr>
          <p:spPr>
            <a:xfrm>
              <a:off x="1386" y="1798"/>
              <a:ext cx="37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IPv6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65"/>
            <p:cNvSpPr txBox="1"/>
            <p:nvPr/>
          </p:nvSpPr>
          <p:spPr>
            <a:xfrm>
              <a:off x="2045" y="1799"/>
              <a:ext cx="37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IPv6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22" name="Google Shape;1322;p65"/>
            <p:cNvGrpSpPr/>
            <p:nvPr/>
          </p:nvGrpSpPr>
          <p:grpSpPr>
            <a:xfrm>
              <a:off x="1363" y="1621"/>
              <a:ext cx="437" cy="213"/>
              <a:chOff x="4396" y="1245"/>
              <a:chExt cx="672" cy="248"/>
            </a:xfrm>
          </p:grpSpPr>
          <p:sp>
            <p:nvSpPr>
              <p:cNvPr id="1323" name="Google Shape;1323;p65"/>
              <p:cNvSpPr/>
              <p:nvPr/>
            </p:nvSpPr>
            <p:spPr>
              <a:xfrm>
                <a:off x="4399" y="1355"/>
                <a:ext cx="666" cy="138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4" name="Google Shape;1324;p65"/>
              <p:cNvSpPr txBox="1"/>
              <p:nvPr/>
            </p:nvSpPr>
            <p:spPr>
              <a:xfrm>
                <a:off x="4399" y="1339"/>
                <a:ext cx="669" cy="8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5" name="Google Shape;1325;p65"/>
              <p:cNvSpPr/>
              <p:nvPr/>
            </p:nvSpPr>
            <p:spPr>
              <a:xfrm>
                <a:off x="4396" y="1245"/>
                <a:ext cx="667" cy="162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26" name="Google Shape;1326;p65"/>
              <p:cNvGrpSpPr/>
              <p:nvPr/>
            </p:nvGrpSpPr>
            <p:grpSpPr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327" name="Google Shape;1327;p65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8" name="Google Shape;1328;p65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329" name="Google Shape;1329;p65"/>
              <p:cNvCxnSpPr/>
              <p:nvPr/>
            </p:nvCxnSpPr>
            <p:spPr>
              <a:xfrm>
                <a:off x="4399" y="1321"/>
                <a:ext cx="0" cy="109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30" name="Google Shape;1330;p65"/>
              <p:cNvCxnSpPr/>
              <p:nvPr/>
            </p:nvCxnSpPr>
            <p:spPr>
              <a:xfrm>
                <a:off x="5063" y="1327"/>
                <a:ext cx="0" cy="106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31" name="Google Shape;1331;p65"/>
            <p:cNvGrpSpPr/>
            <p:nvPr/>
          </p:nvGrpSpPr>
          <p:grpSpPr>
            <a:xfrm>
              <a:off x="2015" y="1617"/>
              <a:ext cx="437" cy="213"/>
              <a:chOff x="4396" y="1245"/>
              <a:chExt cx="672" cy="248"/>
            </a:xfrm>
          </p:grpSpPr>
          <p:sp>
            <p:nvSpPr>
              <p:cNvPr id="1332" name="Google Shape;1332;p65"/>
              <p:cNvSpPr/>
              <p:nvPr/>
            </p:nvSpPr>
            <p:spPr>
              <a:xfrm>
                <a:off x="4399" y="1355"/>
                <a:ext cx="666" cy="138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3" name="Google Shape;1333;p65"/>
              <p:cNvSpPr txBox="1"/>
              <p:nvPr/>
            </p:nvSpPr>
            <p:spPr>
              <a:xfrm>
                <a:off x="4399" y="1339"/>
                <a:ext cx="669" cy="8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4" name="Google Shape;1334;p65"/>
              <p:cNvSpPr/>
              <p:nvPr/>
            </p:nvSpPr>
            <p:spPr>
              <a:xfrm>
                <a:off x="4396" y="1245"/>
                <a:ext cx="667" cy="162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35" name="Google Shape;1335;p65"/>
              <p:cNvGrpSpPr/>
              <p:nvPr/>
            </p:nvGrpSpPr>
            <p:grpSpPr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336" name="Google Shape;1336;p65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7" name="Google Shape;1337;p65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338" name="Google Shape;1338;p65"/>
              <p:cNvCxnSpPr/>
              <p:nvPr/>
            </p:nvCxnSpPr>
            <p:spPr>
              <a:xfrm>
                <a:off x="4399" y="1321"/>
                <a:ext cx="0" cy="109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39" name="Google Shape;1339;p65"/>
              <p:cNvCxnSpPr/>
              <p:nvPr/>
            </p:nvCxnSpPr>
            <p:spPr>
              <a:xfrm>
                <a:off x="5063" y="1327"/>
                <a:ext cx="0" cy="106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340" name="Google Shape;1340;p65"/>
          <p:cNvGrpSpPr/>
          <p:nvPr/>
        </p:nvGrpSpPr>
        <p:grpSpPr>
          <a:xfrm>
            <a:off x="5195887" y="2706687"/>
            <a:ext cx="693737" cy="338137"/>
            <a:chOff x="4396" y="1245"/>
            <a:chExt cx="672" cy="248"/>
          </a:xfrm>
        </p:grpSpPr>
        <p:sp>
          <p:nvSpPr>
            <p:cNvPr id="1341" name="Google Shape;1341;p65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10800000" scaled="0"/>
            </a:gra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65"/>
            <p:cNvSpPr txBox="1"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65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10800000" scaled="0"/>
            </a:gra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4" name="Google Shape;1344;p65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345" name="Google Shape;1345;p65"/>
              <p:cNvSpPr/>
              <p:nvPr/>
            </p:nvSpPr>
            <p:spPr>
              <a:xfrm>
                <a:off x="2468" y="1332"/>
                <a:ext cx="310" cy="60"/>
              </a:xfrm>
              <a:custGeom>
                <a:rect b="b" l="l" r="r" t="t"/>
                <a:pathLst>
                  <a:path extrusionOk="0" h="60" w="31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CC0000"/>
                  </a:gs>
                </a:gsLst>
                <a:lin ang="10800000" scaled="0"/>
              </a:gra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65"/>
              <p:cNvSpPr/>
              <p:nvPr/>
            </p:nvSpPr>
            <p:spPr>
              <a:xfrm>
                <a:off x="2482" y="1332"/>
                <a:ext cx="282" cy="60"/>
              </a:xfrm>
              <a:custGeom>
                <a:rect b="b" l="l" r="r" t="t"/>
                <a:pathLst>
                  <a:path extrusionOk="0" h="60" w="282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CC0000"/>
                  </a:gs>
                </a:gsLst>
                <a:lin ang="10800000" scaled="0"/>
              </a:gra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347" name="Google Shape;1347;p65"/>
            <p:cNvCxnSpPr/>
            <p:nvPr/>
          </p:nvCxnSpPr>
          <p:spPr>
            <a:xfrm>
              <a:off x="4399" y="1321"/>
              <a:ext cx="0" cy="10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8" name="Google Shape;1348;p65"/>
            <p:cNvCxnSpPr/>
            <p:nvPr/>
          </p:nvCxnSpPr>
          <p:spPr>
            <a:xfrm>
              <a:off x="5063" y="1327"/>
              <a:ext cx="0" cy="10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349" name="Google Shape;1349;p65"/>
          <p:cNvGrpSpPr/>
          <p:nvPr/>
        </p:nvGrpSpPr>
        <p:grpSpPr>
          <a:xfrm>
            <a:off x="6202362" y="2362200"/>
            <a:ext cx="1668462" cy="958850"/>
            <a:chOff x="3907" y="1404"/>
            <a:chExt cx="1051" cy="604"/>
          </a:xfrm>
        </p:grpSpPr>
        <p:sp>
          <p:nvSpPr>
            <p:cNvPr id="1350" name="Google Shape;1350;p65"/>
            <p:cNvSpPr txBox="1"/>
            <p:nvPr/>
          </p:nvSpPr>
          <p:spPr>
            <a:xfrm>
              <a:off x="4012" y="1404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1" name="Google Shape;1351;p65"/>
            <p:cNvCxnSpPr/>
            <p:nvPr/>
          </p:nvCxnSpPr>
          <p:spPr>
            <a:xfrm>
              <a:off x="4352" y="1717"/>
              <a:ext cx="20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52" name="Google Shape;1352;p65"/>
            <p:cNvSpPr txBox="1"/>
            <p:nvPr/>
          </p:nvSpPr>
          <p:spPr>
            <a:xfrm>
              <a:off x="3951" y="1794"/>
              <a:ext cx="37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IPv6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65"/>
            <p:cNvSpPr txBox="1"/>
            <p:nvPr/>
          </p:nvSpPr>
          <p:spPr>
            <a:xfrm>
              <a:off x="4569" y="1796"/>
              <a:ext cx="37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IPv6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4" name="Google Shape;1354;p65"/>
            <p:cNvGrpSpPr/>
            <p:nvPr/>
          </p:nvGrpSpPr>
          <p:grpSpPr>
            <a:xfrm>
              <a:off x="3907" y="1621"/>
              <a:ext cx="437" cy="213"/>
              <a:chOff x="4396" y="1245"/>
              <a:chExt cx="672" cy="248"/>
            </a:xfrm>
          </p:grpSpPr>
          <p:sp>
            <p:nvSpPr>
              <p:cNvPr id="1355" name="Google Shape;1355;p65"/>
              <p:cNvSpPr/>
              <p:nvPr/>
            </p:nvSpPr>
            <p:spPr>
              <a:xfrm>
                <a:off x="4399" y="1355"/>
                <a:ext cx="666" cy="138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65"/>
              <p:cNvSpPr txBox="1"/>
              <p:nvPr/>
            </p:nvSpPr>
            <p:spPr>
              <a:xfrm>
                <a:off x="4399" y="1339"/>
                <a:ext cx="669" cy="8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65"/>
              <p:cNvSpPr/>
              <p:nvPr/>
            </p:nvSpPr>
            <p:spPr>
              <a:xfrm>
                <a:off x="4396" y="1245"/>
                <a:ext cx="667" cy="162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58" name="Google Shape;1358;p65"/>
              <p:cNvGrpSpPr/>
              <p:nvPr/>
            </p:nvGrpSpPr>
            <p:grpSpPr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359" name="Google Shape;1359;p65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0" name="Google Shape;1360;p65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361" name="Google Shape;1361;p65"/>
              <p:cNvCxnSpPr/>
              <p:nvPr/>
            </p:nvCxnSpPr>
            <p:spPr>
              <a:xfrm>
                <a:off x="4399" y="1321"/>
                <a:ext cx="0" cy="109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62" name="Google Shape;1362;p65"/>
              <p:cNvCxnSpPr/>
              <p:nvPr/>
            </p:nvCxnSpPr>
            <p:spPr>
              <a:xfrm>
                <a:off x="5063" y="1327"/>
                <a:ext cx="0" cy="106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63" name="Google Shape;1363;p65"/>
            <p:cNvGrpSpPr/>
            <p:nvPr/>
          </p:nvGrpSpPr>
          <p:grpSpPr>
            <a:xfrm>
              <a:off x="4521" y="1619"/>
              <a:ext cx="437" cy="213"/>
              <a:chOff x="4396" y="1245"/>
              <a:chExt cx="672" cy="248"/>
            </a:xfrm>
          </p:grpSpPr>
          <p:sp>
            <p:nvSpPr>
              <p:cNvPr id="1364" name="Google Shape;1364;p65"/>
              <p:cNvSpPr/>
              <p:nvPr/>
            </p:nvSpPr>
            <p:spPr>
              <a:xfrm>
                <a:off x="4399" y="1355"/>
                <a:ext cx="666" cy="138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65"/>
              <p:cNvSpPr txBox="1"/>
              <p:nvPr/>
            </p:nvSpPr>
            <p:spPr>
              <a:xfrm>
                <a:off x="4399" y="1339"/>
                <a:ext cx="669" cy="8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6" name="Google Shape;1366;p65"/>
              <p:cNvSpPr/>
              <p:nvPr/>
            </p:nvSpPr>
            <p:spPr>
              <a:xfrm>
                <a:off x="4396" y="1245"/>
                <a:ext cx="667" cy="162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CCCCFF"/>
                  </a:gs>
                </a:gsLst>
                <a:lin ang="10800000" scaled="0"/>
              </a:gra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67" name="Google Shape;1367;p65"/>
              <p:cNvGrpSpPr/>
              <p:nvPr/>
            </p:nvGrpSpPr>
            <p:grpSpPr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368" name="Google Shape;1368;p65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9" name="Google Shape;1369;p65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370" name="Google Shape;1370;p65"/>
              <p:cNvCxnSpPr/>
              <p:nvPr/>
            </p:nvCxnSpPr>
            <p:spPr>
              <a:xfrm>
                <a:off x="4399" y="1321"/>
                <a:ext cx="0" cy="109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71" name="Google Shape;1371;p65"/>
              <p:cNvCxnSpPr/>
              <p:nvPr/>
            </p:nvCxnSpPr>
            <p:spPr>
              <a:xfrm>
                <a:off x="5063" y="1327"/>
                <a:ext cx="0" cy="106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372" name="Google Shape;1372;p65"/>
            <p:cNvSpPr txBox="1"/>
            <p:nvPr/>
          </p:nvSpPr>
          <p:spPr>
            <a:xfrm>
              <a:off x="4635" y="1408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3" name="Google Shape;1373;p65"/>
          <p:cNvSpPr txBox="1"/>
          <p:nvPr/>
        </p:nvSpPr>
        <p:spPr>
          <a:xfrm>
            <a:off x="4386262" y="2355850"/>
            <a:ext cx="349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65"/>
          <p:cNvSpPr txBox="1"/>
          <p:nvPr/>
        </p:nvSpPr>
        <p:spPr>
          <a:xfrm>
            <a:off x="5362575" y="2359025"/>
            <a:ext cx="349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5" name="Google Shape;1375;p65"/>
          <p:cNvGrpSpPr/>
          <p:nvPr/>
        </p:nvGrpSpPr>
        <p:grpSpPr>
          <a:xfrm>
            <a:off x="458787" y="1216025"/>
            <a:ext cx="7418387" cy="979487"/>
            <a:chOff x="289" y="766"/>
            <a:chExt cx="4673" cy="617"/>
          </a:xfrm>
        </p:grpSpPr>
        <p:sp>
          <p:nvSpPr>
            <p:cNvPr id="1376" name="Google Shape;1376;p65"/>
            <p:cNvSpPr txBox="1"/>
            <p:nvPr/>
          </p:nvSpPr>
          <p:spPr>
            <a:xfrm>
              <a:off x="2424" y="1085"/>
              <a:ext cx="1515" cy="42"/>
            </a:xfrm>
            <a:prstGeom prst="rect">
              <a:avLst/>
            </a:prstGeom>
            <a:solidFill>
              <a:srgbClr val="CC0000"/>
            </a:soli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65"/>
            <p:cNvSpPr txBox="1"/>
            <p:nvPr/>
          </p:nvSpPr>
          <p:spPr>
            <a:xfrm>
              <a:off x="289" y="979"/>
              <a:ext cx="8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logical view: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65"/>
            <p:cNvSpPr txBox="1"/>
            <p:nvPr/>
          </p:nvSpPr>
          <p:spPr>
            <a:xfrm>
              <a:off x="2494" y="766"/>
              <a:ext cx="1461" cy="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IPv4 tunnel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connecting IPv6 routers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9" name="Google Shape;1379;p65"/>
            <p:cNvGrpSpPr/>
            <p:nvPr/>
          </p:nvGrpSpPr>
          <p:grpSpPr>
            <a:xfrm>
              <a:off x="3911" y="779"/>
              <a:ext cx="1051" cy="604"/>
              <a:chOff x="3907" y="1404"/>
              <a:chExt cx="1051" cy="604"/>
            </a:xfrm>
          </p:grpSpPr>
          <p:sp>
            <p:nvSpPr>
              <p:cNvPr id="1380" name="Google Shape;1380;p65"/>
              <p:cNvSpPr txBox="1"/>
              <p:nvPr/>
            </p:nvSpPr>
            <p:spPr>
              <a:xfrm>
                <a:off x="4012" y="1404"/>
                <a:ext cx="21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81" name="Google Shape;1381;p65"/>
              <p:cNvCxnSpPr/>
              <p:nvPr/>
            </p:nvCxnSpPr>
            <p:spPr>
              <a:xfrm>
                <a:off x="4352" y="1717"/>
                <a:ext cx="204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382" name="Google Shape;1382;p65"/>
              <p:cNvSpPr txBox="1"/>
              <p:nvPr/>
            </p:nvSpPr>
            <p:spPr>
              <a:xfrm>
                <a:off x="3951" y="1794"/>
                <a:ext cx="372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IPv6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p65"/>
              <p:cNvSpPr txBox="1"/>
              <p:nvPr/>
            </p:nvSpPr>
            <p:spPr>
              <a:xfrm>
                <a:off x="4569" y="1796"/>
                <a:ext cx="372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IPv6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84" name="Google Shape;1384;p65"/>
              <p:cNvGrpSpPr/>
              <p:nvPr/>
            </p:nvGrpSpPr>
            <p:grpSpPr>
              <a:xfrm>
                <a:off x="3907" y="1621"/>
                <a:ext cx="437" cy="213"/>
                <a:chOff x="4396" y="1245"/>
                <a:chExt cx="672" cy="248"/>
              </a:xfrm>
            </p:grpSpPr>
            <p:sp>
              <p:nvSpPr>
                <p:cNvPr id="1385" name="Google Shape;1385;p65"/>
                <p:cNvSpPr/>
                <p:nvPr/>
              </p:nvSpPr>
              <p:spPr>
                <a:xfrm>
                  <a:off x="4399" y="1355"/>
                  <a:ext cx="666" cy="138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6" name="Google Shape;1386;p65"/>
                <p:cNvSpPr txBox="1"/>
                <p:nvPr/>
              </p:nvSpPr>
              <p:spPr>
                <a:xfrm>
                  <a:off x="4399" y="1339"/>
                  <a:ext cx="669" cy="86"/>
                </a:xfrm>
                <a:prstGeom prst="rect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7" name="Google Shape;1387;p65"/>
                <p:cNvSpPr/>
                <p:nvPr/>
              </p:nvSpPr>
              <p:spPr>
                <a:xfrm>
                  <a:off x="4396" y="1245"/>
                  <a:ext cx="667" cy="162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88" name="Google Shape;1388;p65"/>
                <p:cNvGrpSpPr/>
                <p:nvPr/>
              </p:nvGrpSpPr>
              <p:grpSpPr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1389" name="Google Shape;1389;p65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0" name="Google Shape;1390;p65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1391" name="Google Shape;1391;p65"/>
                <p:cNvCxnSpPr/>
                <p:nvPr/>
              </p:nvCxnSpPr>
              <p:spPr>
                <a:xfrm>
                  <a:off x="4399" y="1321"/>
                  <a:ext cx="0" cy="109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92" name="Google Shape;1392;p65"/>
                <p:cNvCxnSpPr/>
                <p:nvPr/>
              </p:nvCxnSpPr>
              <p:spPr>
                <a:xfrm>
                  <a:off x="5063" y="1327"/>
                  <a:ext cx="0" cy="106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393" name="Google Shape;1393;p65"/>
              <p:cNvGrpSpPr/>
              <p:nvPr/>
            </p:nvGrpSpPr>
            <p:grpSpPr>
              <a:xfrm>
                <a:off x="4521" y="1619"/>
                <a:ext cx="437" cy="213"/>
                <a:chOff x="4396" y="1245"/>
                <a:chExt cx="672" cy="248"/>
              </a:xfrm>
            </p:grpSpPr>
            <p:sp>
              <p:nvSpPr>
                <p:cNvPr id="1394" name="Google Shape;1394;p65"/>
                <p:cNvSpPr/>
                <p:nvPr/>
              </p:nvSpPr>
              <p:spPr>
                <a:xfrm>
                  <a:off x="4399" y="1355"/>
                  <a:ext cx="666" cy="138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5" name="Google Shape;1395;p65"/>
                <p:cNvSpPr txBox="1"/>
                <p:nvPr/>
              </p:nvSpPr>
              <p:spPr>
                <a:xfrm>
                  <a:off x="4399" y="1339"/>
                  <a:ext cx="669" cy="86"/>
                </a:xfrm>
                <a:prstGeom prst="rect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6" name="Google Shape;1396;p65"/>
                <p:cNvSpPr/>
                <p:nvPr/>
              </p:nvSpPr>
              <p:spPr>
                <a:xfrm>
                  <a:off x="4396" y="1245"/>
                  <a:ext cx="667" cy="162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97" name="Google Shape;1397;p65"/>
                <p:cNvGrpSpPr/>
                <p:nvPr/>
              </p:nvGrpSpPr>
              <p:grpSpPr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1398" name="Google Shape;1398;p65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9" name="Google Shape;1399;p65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1400" name="Google Shape;1400;p65"/>
                <p:cNvCxnSpPr/>
                <p:nvPr/>
              </p:nvCxnSpPr>
              <p:spPr>
                <a:xfrm>
                  <a:off x="4399" y="1321"/>
                  <a:ext cx="0" cy="109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401" name="Google Shape;1401;p65"/>
                <p:cNvCxnSpPr/>
                <p:nvPr/>
              </p:nvCxnSpPr>
              <p:spPr>
                <a:xfrm>
                  <a:off x="5063" y="1327"/>
                  <a:ext cx="0" cy="106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402" name="Google Shape;1402;p65"/>
              <p:cNvSpPr txBox="1"/>
              <p:nvPr/>
            </p:nvSpPr>
            <p:spPr>
              <a:xfrm>
                <a:off x="4635" y="1408"/>
                <a:ext cx="204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3" name="Google Shape;1403;p65"/>
            <p:cNvGrpSpPr/>
            <p:nvPr/>
          </p:nvGrpSpPr>
          <p:grpSpPr>
            <a:xfrm>
              <a:off x="1361" y="771"/>
              <a:ext cx="1089" cy="608"/>
              <a:chOff x="1363" y="1403"/>
              <a:chExt cx="1089" cy="608"/>
            </a:xfrm>
          </p:grpSpPr>
          <p:sp>
            <p:nvSpPr>
              <p:cNvPr id="1404" name="Google Shape;1404;p65"/>
              <p:cNvSpPr txBox="1"/>
              <p:nvPr/>
            </p:nvSpPr>
            <p:spPr>
              <a:xfrm>
                <a:off x="1462" y="1403"/>
                <a:ext cx="21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65"/>
              <p:cNvSpPr txBox="1"/>
              <p:nvPr/>
            </p:nvSpPr>
            <p:spPr>
              <a:xfrm>
                <a:off x="2121" y="1406"/>
                <a:ext cx="21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06" name="Google Shape;1406;p65"/>
              <p:cNvCxnSpPr/>
              <p:nvPr/>
            </p:nvCxnSpPr>
            <p:spPr>
              <a:xfrm>
                <a:off x="1803" y="1729"/>
                <a:ext cx="204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407" name="Google Shape;1407;p65"/>
              <p:cNvSpPr txBox="1"/>
              <p:nvPr/>
            </p:nvSpPr>
            <p:spPr>
              <a:xfrm>
                <a:off x="1386" y="1798"/>
                <a:ext cx="372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IPv6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65"/>
              <p:cNvSpPr txBox="1"/>
              <p:nvPr/>
            </p:nvSpPr>
            <p:spPr>
              <a:xfrm>
                <a:off x="2045" y="1799"/>
                <a:ext cx="372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IPv6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09" name="Google Shape;1409;p65"/>
              <p:cNvGrpSpPr/>
              <p:nvPr/>
            </p:nvGrpSpPr>
            <p:grpSpPr>
              <a:xfrm>
                <a:off x="1363" y="1621"/>
                <a:ext cx="437" cy="213"/>
                <a:chOff x="4396" y="1245"/>
                <a:chExt cx="672" cy="248"/>
              </a:xfrm>
            </p:grpSpPr>
            <p:sp>
              <p:nvSpPr>
                <p:cNvPr id="1410" name="Google Shape;1410;p65"/>
                <p:cNvSpPr/>
                <p:nvPr/>
              </p:nvSpPr>
              <p:spPr>
                <a:xfrm>
                  <a:off x="4399" y="1355"/>
                  <a:ext cx="666" cy="138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1" name="Google Shape;1411;p65"/>
                <p:cNvSpPr txBox="1"/>
                <p:nvPr/>
              </p:nvSpPr>
              <p:spPr>
                <a:xfrm>
                  <a:off x="4399" y="1339"/>
                  <a:ext cx="669" cy="86"/>
                </a:xfrm>
                <a:prstGeom prst="rect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2" name="Google Shape;1412;p65"/>
                <p:cNvSpPr/>
                <p:nvPr/>
              </p:nvSpPr>
              <p:spPr>
                <a:xfrm>
                  <a:off x="4396" y="1245"/>
                  <a:ext cx="667" cy="162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13" name="Google Shape;1413;p65"/>
                <p:cNvGrpSpPr/>
                <p:nvPr/>
              </p:nvGrpSpPr>
              <p:grpSpPr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1414" name="Google Shape;1414;p65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15" name="Google Shape;1415;p65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1416" name="Google Shape;1416;p65"/>
                <p:cNvCxnSpPr/>
                <p:nvPr/>
              </p:nvCxnSpPr>
              <p:spPr>
                <a:xfrm>
                  <a:off x="4399" y="1321"/>
                  <a:ext cx="0" cy="109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417" name="Google Shape;1417;p65"/>
                <p:cNvCxnSpPr/>
                <p:nvPr/>
              </p:nvCxnSpPr>
              <p:spPr>
                <a:xfrm>
                  <a:off x="5063" y="1327"/>
                  <a:ext cx="0" cy="106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418" name="Google Shape;1418;p65"/>
              <p:cNvGrpSpPr/>
              <p:nvPr/>
            </p:nvGrpSpPr>
            <p:grpSpPr>
              <a:xfrm>
                <a:off x="2015" y="1617"/>
                <a:ext cx="437" cy="213"/>
                <a:chOff x="4396" y="1245"/>
                <a:chExt cx="672" cy="248"/>
              </a:xfrm>
            </p:grpSpPr>
            <p:sp>
              <p:nvSpPr>
                <p:cNvPr id="1419" name="Google Shape;1419;p65"/>
                <p:cNvSpPr/>
                <p:nvPr/>
              </p:nvSpPr>
              <p:spPr>
                <a:xfrm>
                  <a:off x="4399" y="1355"/>
                  <a:ext cx="666" cy="138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0" name="Google Shape;1420;p65"/>
                <p:cNvSpPr txBox="1"/>
                <p:nvPr/>
              </p:nvSpPr>
              <p:spPr>
                <a:xfrm>
                  <a:off x="4399" y="1339"/>
                  <a:ext cx="669" cy="86"/>
                </a:xfrm>
                <a:prstGeom prst="rect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1" name="Google Shape;1421;p65"/>
                <p:cNvSpPr/>
                <p:nvPr/>
              </p:nvSpPr>
              <p:spPr>
                <a:xfrm>
                  <a:off x="4396" y="1245"/>
                  <a:ext cx="667" cy="162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100000">
                      <a:srgbClr val="CCCCFF"/>
                    </a:gs>
                  </a:gsLst>
                  <a:lin ang="10800000" scaled="0"/>
                </a:gra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22" name="Google Shape;1422;p65"/>
                <p:cNvGrpSpPr/>
                <p:nvPr/>
              </p:nvGrpSpPr>
              <p:grpSpPr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1423" name="Google Shape;1423;p65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4" name="Google Shape;1424;p65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1425" name="Google Shape;1425;p65"/>
                <p:cNvCxnSpPr/>
                <p:nvPr/>
              </p:nvCxnSpPr>
              <p:spPr>
                <a:xfrm>
                  <a:off x="4399" y="1321"/>
                  <a:ext cx="0" cy="109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426" name="Google Shape;1426;p65"/>
                <p:cNvCxnSpPr/>
                <p:nvPr/>
              </p:nvCxnSpPr>
              <p:spPr>
                <a:xfrm>
                  <a:off x="5063" y="1327"/>
                  <a:ext cx="0" cy="106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pic>
        <p:nvPicPr>
          <p:cNvPr descr="underline_base" id="1427" name="Google Shape;142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162" y="966787"/>
            <a:ext cx="2741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65"/>
          <p:cNvSpPr txBox="1"/>
          <p:nvPr>
            <p:ph type="title"/>
          </p:nvPr>
        </p:nvSpPr>
        <p:spPr>
          <a:xfrm>
            <a:off x="307975" y="214312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Tunneling</a:t>
            </a:r>
            <a:endParaRPr/>
          </a:p>
        </p:txBody>
      </p:sp>
      <p:sp>
        <p:nvSpPr>
          <p:cNvPr id="1429" name="Google Shape;1429;p65"/>
          <p:cNvSpPr txBox="1"/>
          <p:nvPr/>
        </p:nvSpPr>
        <p:spPr>
          <a:xfrm>
            <a:off x="4227512" y="2992437"/>
            <a:ext cx="5905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IPv4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65"/>
          <p:cNvSpPr txBox="1"/>
          <p:nvPr/>
        </p:nvSpPr>
        <p:spPr>
          <a:xfrm>
            <a:off x="5221287" y="2994025"/>
            <a:ext cx="5905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IPv4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65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66"/>
          <p:cNvSpPr txBox="1"/>
          <p:nvPr>
            <p:ph type="title"/>
          </p:nvPr>
        </p:nvSpPr>
        <p:spPr>
          <a:xfrm>
            <a:off x="685800" y="422275"/>
            <a:ext cx="3589337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IPv6: adoption</a:t>
            </a:r>
            <a:endParaRPr/>
          </a:p>
        </p:txBody>
      </p:sp>
      <p:sp>
        <p:nvSpPr>
          <p:cNvPr id="1437" name="Google Shape;1437;p66"/>
          <p:cNvSpPr txBox="1"/>
          <p:nvPr>
            <p:ph idx="1" type="body"/>
          </p:nvPr>
        </p:nvSpPr>
        <p:spPr>
          <a:xfrm>
            <a:off x="511175" y="1630362"/>
            <a:ext cx="8205787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Google: 8% of clients access services via IPv6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NIST: 1/3 of all US government domains are IPv6 capable</a:t>
            </a:r>
            <a:endParaRPr/>
          </a:p>
          <a:p>
            <a:pPr indent="0" lvl="1" marL="4572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1" lang="en-US" sz="280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Long (long!) time for deployment, use</a:t>
            </a:r>
            <a:endParaRPr/>
          </a:p>
          <a:p>
            <a:pPr indent="-152400" lvl="1" marL="4572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20 years and counting!</a:t>
            </a:r>
            <a:endParaRPr/>
          </a:p>
          <a:p>
            <a:pPr indent="-152400" lvl="1" marL="4572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think of application-level changes in last 20 years: WWW, Facebook, streaming media, Skype, …</a:t>
            </a:r>
            <a:endParaRPr/>
          </a:p>
          <a:p>
            <a:pPr indent="-152400" lvl="1" marL="4572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1" lang="en-US" sz="240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Why?</a:t>
            </a:r>
            <a:endParaRPr/>
          </a:p>
        </p:txBody>
      </p:sp>
      <p:pic>
        <p:nvPicPr>
          <p:cNvPr descr="underline_base" id="1438" name="Google Shape;143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212" y="1055687"/>
            <a:ext cx="3267075" cy="1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66"/>
          <p:cNvSpPr txBox="1"/>
          <p:nvPr/>
        </p:nvSpPr>
        <p:spPr>
          <a:xfrm>
            <a:off x="8456612" y="6475412"/>
            <a:ext cx="561975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1999-10-08T19:08:27Z</dcterms:created>
  <dc:creator>Jim Kurose and Keith Ross</dc:creator>
</cp:coreProperties>
</file>