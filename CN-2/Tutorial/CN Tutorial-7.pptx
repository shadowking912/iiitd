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d02b1261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d02b1261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5d02b1261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d02b1261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5d02b1261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5d02b1261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5d02b1261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5d02b1261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5d02b1261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5d02b1261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5d02b1261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5d02b1261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d02b1261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d02b1261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d02b1261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d02b1261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5d02b1261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5d02b1261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45d997f1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45d997f1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94630f0f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94630f0f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9613707d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9613707d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9613707d6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9613707d6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9613707d6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9613707d6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9613707d6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9613707d6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9613707d6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9613707d6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5d02b1261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5d02b1261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knICRq6hIAtf6QibWCxb0x9CUmcO13kE/view"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geeksforgeeks.org/tcp-congestion-control/" TargetMode="External"/><Relationship Id="rId4" Type="http://schemas.openxmlformats.org/officeDocument/2006/relationships/hyperlink" Target="https://en.wikipedia.org/wiki/TCP_congestion_control" TargetMode="External"/><Relationship Id="rId5" Type="http://schemas.openxmlformats.org/officeDocument/2006/relationships/hyperlink" Target="https://witestlab.poly.edu/blog/tcp-congestion-control-basics/" TargetMode="External"/><Relationship Id="rId6" Type="http://schemas.openxmlformats.org/officeDocument/2006/relationships/hyperlink" Target="https://datatracker.ietf.org/doc/html/rfc568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78575"/>
            <a:ext cx="8520600" cy="2518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6644"/>
              <a:t>CN </a:t>
            </a:r>
            <a:r>
              <a:rPr lang="en" sz="6644"/>
              <a:t>Tutorial-7</a:t>
            </a:r>
            <a:endParaRPr sz="6644"/>
          </a:p>
          <a:p>
            <a:pPr indent="0" lvl="0" marL="0" rtl="0" algn="l">
              <a:spcBef>
                <a:spcPts val="0"/>
              </a:spcBef>
              <a:spcAft>
                <a:spcPts val="0"/>
              </a:spcAft>
              <a:buNone/>
            </a:pPr>
            <a:r>
              <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Aman Sharma and Shambhavi Pathak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87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5200"/>
              <a:t>Topics to be covered </a:t>
            </a:r>
            <a:endParaRPr/>
          </a:p>
        </p:txBody>
      </p:sp>
      <p:sp>
        <p:nvSpPr>
          <p:cNvPr id="61" name="Google Shape;61;p14"/>
          <p:cNvSpPr txBox="1"/>
          <p:nvPr>
            <p:ph idx="1" type="body"/>
          </p:nvPr>
        </p:nvSpPr>
        <p:spPr>
          <a:xfrm>
            <a:off x="466775" y="1436225"/>
            <a:ext cx="8365500" cy="3132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3600">
                <a:solidFill>
                  <a:schemeClr val="dk1"/>
                </a:solidFill>
              </a:rPr>
              <a:t>1)</a:t>
            </a:r>
            <a:r>
              <a:rPr lang="en" sz="3600">
                <a:solidFill>
                  <a:schemeClr val="dk1"/>
                </a:solidFill>
              </a:rPr>
              <a:t>TCP Congestion </a:t>
            </a:r>
            <a:endParaRPr sz="3600">
              <a:solidFill>
                <a:schemeClr val="dk1"/>
              </a:solidFill>
            </a:endParaRPr>
          </a:p>
          <a:p>
            <a:pPr indent="0" lvl="0" marL="0" rtl="0" algn="l">
              <a:lnSpc>
                <a:spcPct val="100000"/>
              </a:lnSpc>
              <a:spcBef>
                <a:spcPts val="0"/>
              </a:spcBef>
              <a:spcAft>
                <a:spcPts val="0"/>
              </a:spcAft>
              <a:buNone/>
            </a:pPr>
            <a:r>
              <a:rPr lang="en" sz="3600">
                <a:solidFill>
                  <a:schemeClr val="dk1"/>
                </a:solidFill>
              </a:rPr>
              <a:t>2)TCP Sawtooth Behavior</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84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5200"/>
              <a:t>TCP Congestion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 </a:t>
            </a:r>
            <a:r>
              <a:rPr lang="en"/>
              <a:t>TCP congestion refers to a situation in a computer network where there is an excessive demand for network resources, leading to a degradation of performance.</a:t>
            </a:r>
            <a:endParaRPr/>
          </a:p>
          <a:p>
            <a:pPr indent="-342900" lvl="0" marL="457200" rtl="0" algn="l">
              <a:spcBef>
                <a:spcPts val="0"/>
              </a:spcBef>
              <a:spcAft>
                <a:spcPts val="0"/>
              </a:spcAft>
              <a:buSzPts val="1800"/>
              <a:buChar char="●"/>
            </a:pPr>
            <a:r>
              <a:rPr lang="en"/>
              <a:t> This occurs when the amount of data being sent over a network surpasses its capacity to handle that data, resulting in delays, packet loss, and reduced throughput.</a:t>
            </a:r>
            <a:endParaRPr/>
          </a:p>
          <a:p>
            <a:pPr indent="-342900" lvl="0" marL="457200" rtl="0" algn="l">
              <a:spcBef>
                <a:spcPts val="0"/>
              </a:spcBef>
              <a:spcAft>
                <a:spcPts val="0"/>
              </a:spcAft>
              <a:buSzPts val="1800"/>
              <a:buChar char="●"/>
            </a:pPr>
            <a:r>
              <a:rPr lang="en"/>
              <a:t>Congestion can happen at various points in a network, such as routers, switches, or links.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ts val="990"/>
              <a:buFont typeface="Arial"/>
              <a:buNone/>
            </a:pPr>
            <a:r>
              <a:rPr lang="en" sz="5200"/>
              <a:t>TCP Congestion Control</a:t>
            </a:r>
            <a:endParaRPr/>
          </a:p>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 </a:t>
            </a:r>
            <a:r>
              <a:rPr b="1" lang="en"/>
              <a:t>Congestion Window (CWND): </a:t>
            </a:r>
            <a:r>
              <a:rPr lang="en"/>
              <a:t>TCP uses a congestion control mechanism to avoid overloading the network. The congestion window (CWND) is a key parameter that determines how much data can be in transit at any given time. It dynamically adjusts based on network conditions.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 </a:t>
            </a:r>
            <a:r>
              <a:rPr b="1" lang="en"/>
              <a:t>Slow Start and Congestion Avoidance: </a:t>
            </a:r>
            <a:r>
              <a:rPr lang="en"/>
              <a:t>TCP uses a slow-start mechanism when a connection is initiated or after a timeout, gradually increasing the amount of data sent. Once a certain threshold is reached, it enters congestion avoidance mode, where the congestion window grows more slowly to prevent overloading the network.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5200"/>
              <a:t>TCP Congestion Control</a:t>
            </a:r>
            <a:endParaRPr/>
          </a:p>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 Retransmission Timeout (RTO):</a:t>
            </a:r>
            <a:r>
              <a:rPr lang="en"/>
              <a:t> If a TCP sender does not receive an acknowledgment for a sent packet within a certain time (RTO), it assumes the packet is lost and retransmits it. This mechanism helps deal with packet loss, which can be an indicator of congestion.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en"/>
              <a:t>Fast Retransmit and Fast Recovery: </a:t>
            </a:r>
            <a:r>
              <a:rPr lang="en"/>
              <a:t>If TCP detects three duplicate acknowledgments for the same packet, it assumes that the original packet was lost and performs a fast retransmit, resending the missing packet without waiting for the RTO. Fast recovery helps TCP to quickly regain its momentum after a fast retransmit.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Sawtooth behavior</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TCP sawtooth behavior refers to the characteristic pattern observed in the congestion window size of a TCP connection over time. </a:t>
            </a:r>
            <a:endParaRPr/>
          </a:p>
          <a:p>
            <a:pPr indent="-342900" lvl="0" marL="457200" rtl="0" algn="l">
              <a:spcBef>
                <a:spcPts val="0"/>
              </a:spcBef>
              <a:spcAft>
                <a:spcPts val="0"/>
              </a:spcAft>
              <a:buSzPts val="1800"/>
              <a:buChar char="●"/>
            </a:pPr>
            <a:r>
              <a:rPr lang="en"/>
              <a:t> This pattern resembles a sawtooth shape on a graph, hence the name. </a:t>
            </a:r>
            <a:endParaRPr/>
          </a:p>
          <a:p>
            <a:pPr indent="-342900" lvl="0" marL="457200" rtl="0" algn="l">
              <a:spcBef>
                <a:spcPts val="0"/>
              </a:spcBef>
              <a:spcAft>
                <a:spcPts val="0"/>
              </a:spcAft>
              <a:buSzPts val="1800"/>
              <a:buChar char="●"/>
            </a:pPr>
            <a:r>
              <a:rPr lang="en"/>
              <a:t>The congestion window represents the number of unacknowledged packets that a sender can have in transit at any given time.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TCP Sawtooth behavior</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Slow Start:</a:t>
            </a:r>
            <a:endParaRPr b="1"/>
          </a:p>
          <a:p>
            <a:pPr indent="0" lvl="0" marL="0" rtl="0" algn="l">
              <a:spcBef>
                <a:spcPts val="1200"/>
              </a:spcBef>
              <a:spcAft>
                <a:spcPts val="0"/>
              </a:spcAft>
              <a:buNone/>
            </a:pPr>
            <a:r>
              <a:rPr lang="en"/>
              <a:t>The sawtooth behavior begins with the slow start phase. In this phase, the sender starts by sending a few packets into the network. For every acknowledgment received, the sender doubles the size of its congestion window. This results in an exponential increase in the amount of data being sent.</a:t>
            </a:r>
            <a:endParaRPr/>
          </a:p>
          <a:p>
            <a:pPr indent="0" lvl="0" marL="0" rtl="0" algn="l">
              <a:spcBef>
                <a:spcPts val="1200"/>
              </a:spcBef>
              <a:spcAft>
                <a:spcPts val="0"/>
              </a:spcAft>
              <a:buNone/>
            </a:pPr>
            <a:r>
              <a:rPr b="1" lang="en"/>
              <a:t>Congestion Avoidance:</a:t>
            </a:r>
            <a:endParaRPr b="1"/>
          </a:p>
          <a:p>
            <a:pPr indent="0" lvl="0" marL="0" rtl="0" algn="l">
              <a:spcBef>
                <a:spcPts val="1200"/>
              </a:spcBef>
              <a:spcAft>
                <a:spcPts val="1200"/>
              </a:spcAft>
              <a:buNone/>
            </a:pPr>
            <a:r>
              <a:rPr lang="en"/>
              <a:t>As the congestion window size grows, TCP transitions to the congestion avoidance phase. In this phase, the sender increases the congestion window more gradually, typically by adding one packet for every round-trip time. This helps to prevent the sender from flooding the network and causing congestion.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TCP Sawtooth behavior</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Packet Loss and Reduction:</a:t>
            </a:r>
            <a:endParaRPr/>
          </a:p>
          <a:p>
            <a:pPr indent="0" lvl="0" marL="0" rtl="0" algn="l">
              <a:spcBef>
                <a:spcPts val="1200"/>
              </a:spcBef>
              <a:spcAft>
                <a:spcPts val="0"/>
              </a:spcAft>
              <a:buNone/>
            </a:pPr>
            <a:r>
              <a:rPr lang="en"/>
              <a:t>If TCP detects packet loss, which is often an indication of network congestion, it reacts by reducing the congestion window size. The sender interprets packet loss as a signal that the network capacity has been reached, and it needs to back off to alleviate congestion. This reduction in the congestion window is what gives the Sawtooth pattern its characteristic downward slope.</a:t>
            </a:r>
            <a:endParaRPr/>
          </a:p>
          <a:p>
            <a:pPr indent="0" lvl="0" marL="0" rtl="0" algn="l">
              <a:spcBef>
                <a:spcPts val="1200"/>
              </a:spcBef>
              <a:spcAft>
                <a:spcPts val="0"/>
              </a:spcAft>
              <a:buNone/>
            </a:pPr>
            <a:r>
              <a:rPr b="1" lang="en"/>
              <a:t>Fast Recovery:</a:t>
            </a:r>
            <a:endParaRPr/>
          </a:p>
          <a:p>
            <a:pPr indent="0" lvl="0" marL="0" rtl="0" algn="l">
              <a:spcBef>
                <a:spcPts val="1200"/>
              </a:spcBef>
              <a:spcAft>
                <a:spcPts val="1200"/>
              </a:spcAft>
              <a:buNone/>
            </a:pPr>
            <a:r>
              <a:rPr lang="en"/>
              <a:t>Instead of immediately going back to a slow start after detecting packet loss, TCP uses a mechanism called fast recovery. When a sender receives three duplicate acknowledgments (indicating that a packet was likely lost), it assumes that the next packet in sequence was lost and retransmits it without waiting for a timeout. This helps TCP to quickly recover from the episode of congestion without fully returning to the slow start.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Sawtooth behavior</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Resume Growth:</a:t>
            </a:r>
            <a:endParaRPr b="1"/>
          </a:p>
          <a:p>
            <a:pPr indent="0" lvl="0" marL="0" rtl="0" algn="l">
              <a:spcBef>
                <a:spcPts val="1200"/>
              </a:spcBef>
              <a:spcAft>
                <a:spcPts val="1200"/>
              </a:spcAft>
              <a:buNone/>
            </a:pPr>
            <a:r>
              <a:rPr lang="en"/>
              <a:t>After reducing the congestion window size due to packet loss, TCP resumes its growth in the congestion avoidance phase. The window size gradually increases until packet loss is detected again, at which point the cycle repeats.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TCP Sawtooth behavior</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t>
            </a:r>
            <a:r>
              <a:rPr b="1" lang="en"/>
              <a:t>sawtooth behavior</a:t>
            </a:r>
            <a:r>
              <a:rPr lang="en"/>
              <a:t> is a fundamental part of TCP's congestion control algorithm. It allows TCP to adapt dynamically to network conditions, finding an optimal balance between utilizing available bandwidth and avoiding congestion.</a:t>
            </a:r>
            <a:endParaRPr/>
          </a:p>
          <a:p>
            <a:pPr indent="-342900" lvl="0" marL="457200" rtl="0" algn="l">
              <a:spcBef>
                <a:spcPts val="0"/>
              </a:spcBef>
              <a:spcAft>
                <a:spcPts val="0"/>
              </a:spcAft>
              <a:buSzPts val="1800"/>
              <a:buChar char="●"/>
            </a:pPr>
            <a:r>
              <a:rPr lang="en"/>
              <a:t>This </a:t>
            </a:r>
            <a:r>
              <a:rPr b="1" lang="en"/>
              <a:t>dynamic adjustment</a:t>
            </a:r>
            <a:r>
              <a:rPr lang="en"/>
              <a:t> helps TCP maintain network stability and efficiency, making it a reliable protocol for data transmission over diverse and changing network environments.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1854825"/>
            <a:ext cx="8520600" cy="156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Demonstration of TCP  Sawtooth Behavior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see in action…..</a:t>
            </a:r>
            <a:endParaRPr/>
          </a:p>
        </p:txBody>
      </p:sp>
      <p:pic>
        <p:nvPicPr>
          <p:cNvPr id="120" name="Google Shape;120;p24" title="Final_Sawtooth_experiment recording.mov">
            <a:hlinkClick r:id="rId3"/>
          </p:cNvPr>
          <p:cNvPicPr preferRelativeResize="0"/>
          <p:nvPr/>
        </p:nvPicPr>
        <p:blipFill>
          <a:blip r:embed="rId4">
            <a:alphaModFix/>
          </a:blip>
          <a:stretch>
            <a:fillRect/>
          </a:stretch>
        </p:blipFill>
        <p:spPr>
          <a:xfrm>
            <a:off x="152400" y="11701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t>
            </a:r>
            <a:r>
              <a:rPr lang="en"/>
              <a:t>s command</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latin typeface="Courier New"/>
                <a:ea typeface="Courier New"/>
                <a:cs typeface="Courier New"/>
                <a:sym typeface="Courier New"/>
              </a:rPr>
              <a:t>utility to investigate sockets</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b="1">
              <a:solidFill>
                <a:schemeClr val="dk1"/>
              </a:solidFill>
              <a:latin typeface="Courier New"/>
              <a:ea typeface="Courier New"/>
              <a:cs typeface="Courier New"/>
              <a:sym typeface="Courier New"/>
            </a:endParaRPr>
          </a:p>
          <a:p>
            <a:pPr indent="-342900" lvl="0" marL="457200" rtl="0" algn="l">
              <a:spcBef>
                <a:spcPts val="0"/>
              </a:spcBef>
              <a:spcAft>
                <a:spcPts val="0"/>
              </a:spcAft>
              <a:buClr>
                <a:schemeClr val="dk1"/>
              </a:buClr>
              <a:buSzPts val="1800"/>
              <a:buChar char="●"/>
            </a:pPr>
            <a:r>
              <a:rPr b="1" lang="en">
                <a:solidFill>
                  <a:schemeClr val="dk1"/>
                </a:solidFill>
                <a:latin typeface="Courier New"/>
                <a:ea typeface="Courier New"/>
                <a:cs typeface="Courier New"/>
                <a:sym typeface="Courier New"/>
              </a:rPr>
              <a:t>It can display TCP and other socket state information.</a:t>
            </a:r>
            <a:endParaRPr b="1">
              <a:solidFill>
                <a:schemeClr val="dk1"/>
              </a:solidFill>
              <a:latin typeface="Courier New"/>
              <a:ea typeface="Courier New"/>
              <a:cs typeface="Courier New"/>
              <a:sym typeface="Courier New"/>
            </a:endParaRPr>
          </a:p>
          <a:p>
            <a:pPr indent="0" lvl="0" marL="0" rtl="0" algn="l">
              <a:spcBef>
                <a:spcPts val="1200"/>
              </a:spcBef>
              <a:spcAft>
                <a:spcPts val="0"/>
              </a:spcAft>
              <a:buNone/>
            </a:pPr>
            <a:r>
              <a:t/>
            </a:r>
            <a:endParaRPr b="1">
              <a:solidFill>
                <a:schemeClr val="dk1"/>
              </a:solidFill>
              <a:latin typeface="Courier New"/>
              <a:ea typeface="Courier New"/>
              <a:cs typeface="Courier New"/>
              <a:sym typeface="Courier New"/>
            </a:endParaRPr>
          </a:p>
          <a:p>
            <a:pPr indent="-342900" lvl="0" marL="457200" rtl="0" algn="l">
              <a:spcBef>
                <a:spcPts val="1200"/>
              </a:spcBef>
              <a:spcAft>
                <a:spcPts val="0"/>
              </a:spcAft>
              <a:buClr>
                <a:schemeClr val="dk1"/>
              </a:buClr>
              <a:buSzPts val="1800"/>
              <a:buChar char="●"/>
            </a:pPr>
            <a:r>
              <a:rPr b="1" lang="en">
                <a:solidFill>
                  <a:schemeClr val="dk1"/>
                </a:solidFill>
                <a:latin typeface="Courier New"/>
                <a:ea typeface="Courier New"/>
                <a:cs typeface="Courier New"/>
                <a:sym typeface="Courier New"/>
              </a:rPr>
              <a:t>f</a:t>
            </a:r>
            <a:r>
              <a:rPr b="1" lang="en">
                <a:solidFill>
                  <a:schemeClr val="dk1"/>
                </a:solidFill>
                <a:latin typeface="Courier New"/>
                <a:ea typeface="Courier New"/>
                <a:cs typeface="Courier New"/>
                <a:sym typeface="Courier New"/>
              </a:rPr>
              <a:t>lags that might be of our interest for the current task</a:t>
            </a: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a:p>
            <a:pPr indent="-317500" lvl="1" marL="914400" rtl="0" algn="l">
              <a:spcBef>
                <a:spcPts val="0"/>
              </a:spcBef>
              <a:spcAft>
                <a:spcPts val="0"/>
              </a:spcAft>
              <a:buClr>
                <a:schemeClr val="dk1"/>
              </a:buClr>
              <a:buSzPts val="1400"/>
              <a:buFont typeface="Courier New"/>
              <a:buChar char="○"/>
            </a:pPr>
            <a:r>
              <a:rPr b="1" lang="en">
                <a:solidFill>
                  <a:schemeClr val="dk1"/>
                </a:solidFill>
                <a:latin typeface="Courier New"/>
                <a:ea typeface="Courier New"/>
                <a:cs typeface="Courier New"/>
                <a:sym typeface="Courier New"/>
              </a:rPr>
              <a:t>-e: </a:t>
            </a:r>
            <a:r>
              <a:rPr lang="en" sz="1200">
                <a:solidFill>
                  <a:schemeClr val="dk1"/>
                </a:solidFill>
                <a:highlight>
                  <a:srgbClr val="444654"/>
                </a:highlight>
              </a:rPr>
              <a:t>show detailed socket information</a:t>
            </a:r>
            <a:endParaRPr sz="1200">
              <a:solidFill>
                <a:schemeClr val="dk1"/>
              </a:solidFill>
              <a:highlight>
                <a:srgbClr val="444654"/>
              </a:highlight>
            </a:endParaRPr>
          </a:p>
          <a:p>
            <a:pPr indent="-317500" lvl="1" marL="914400" rtl="0" algn="l">
              <a:spcBef>
                <a:spcPts val="0"/>
              </a:spcBef>
              <a:spcAft>
                <a:spcPts val="0"/>
              </a:spcAft>
              <a:buClr>
                <a:schemeClr val="dk1"/>
              </a:buClr>
              <a:buSzPts val="1400"/>
              <a:buFont typeface="Courier New"/>
              <a:buChar char="○"/>
            </a:pPr>
            <a:r>
              <a:rPr b="1" lang="en">
                <a:solidFill>
                  <a:schemeClr val="dk1"/>
                </a:solidFill>
                <a:latin typeface="Courier New"/>
                <a:ea typeface="Courier New"/>
                <a:cs typeface="Courier New"/>
                <a:sym typeface="Courier New"/>
              </a:rPr>
              <a:t>-i: </a:t>
            </a:r>
            <a:r>
              <a:rPr lang="en" sz="1200">
                <a:solidFill>
                  <a:schemeClr val="dk1"/>
                </a:solidFill>
                <a:highlight>
                  <a:srgbClr val="444654"/>
                </a:highlight>
                <a:latin typeface="Roboto"/>
                <a:ea typeface="Roboto"/>
                <a:cs typeface="Roboto"/>
                <a:sym typeface="Roboto"/>
              </a:rPr>
              <a:t>shows information about the domain sockets that match the specified criteria.</a:t>
            </a:r>
            <a:endParaRPr sz="1200">
              <a:solidFill>
                <a:schemeClr val="dk1"/>
              </a:solidFill>
              <a:highlight>
                <a:srgbClr val="444654"/>
              </a:highlight>
              <a:latin typeface="Roboto"/>
              <a:ea typeface="Roboto"/>
              <a:cs typeface="Roboto"/>
              <a:sym typeface="Roboto"/>
            </a:endParaRPr>
          </a:p>
          <a:p>
            <a:pPr indent="-317500" lvl="1" marL="914400" rtl="0" algn="l">
              <a:spcBef>
                <a:spcPts val="0"/>
              </a:spcBef>
              <a:spcAft>
                <a:spcPts val="0"/>
              </a:spcAft>
              <a:buClr>
                <a:schemeClr val="dk1"/>
              </a:buClr>
              <a:buSzPts val="1400"/>
              <a:buFont typeface="Courier New"/>
              <a:buChar char="○"/>
            </a:pPr>
            <a:r>
              <a:rPr b="1" lang="en">
                <a:solidFill>
                  <a:schemeClr val="dk1"/>
                </a:solidFill>
                <a:latin typeface="Courier New"/>
                <a:ea typeface="Courier New"/>
                <a:cs typeface="Courier New"/>
                <a:sym typeface="Courier New"/>
              </a:rPr>
              <a:t>-n: </a:t>
            </a:r>
            <a:r>
              <a:rPr lang="en" sz="1200">
                <a:solidFill>
                  <a:schemeClr val="dk1"/>
                </a:solidFill>
                <a:highlight>
                  <a:srgbClr val="444654"/>
                </a:highlight>
                <a:latin typeface="Roboto"/>
                <a:ea typeface="Roboto"/>
                <a:cs typeface="Roboto"/>
                <a:sym typeface="Roboto"/>
              </a:rPr>
              <a:t>Shows numerical addresses instead of resolving them to hostnames.</a:t>
            </a:r>
            <a:br>
              <a:rPr b="1" lang="en">
                <a:solidFill>
                  <a:schemeClr val="dk1"/>
                </a:solidFill>
                <a:latin typeface="Courier New"/>
                <a:ea typeface="Courier New"/>
                <a:cs typeface="Courier New"/>
                <a:sym typeface="Courier New"/>
              </a:rPr>
            </a:br>
            <a:endParaRPr b="1">
              <a:solidFill>
                <a:schemeClr val="dk1"/>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940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Shell Scripts involved in the experimental setup were related to the following tasks:</a:t>
            </a:r>
            <a:endParaRPr/>
          </a:p>
        </p:txBody>
      </p:sp>
      <p:sp>
        <p:nvSpPr>
          <p:cNvPr id="132" name="Google Shape;132;p26"/>
          <p:cNvSpPr txBox="1"/>
          <p:nvPr>
            <p:ph idx="1" type="body"/>
          </p:nvPr>
        </p:nvSpPr>
        <p:spPr>
          <a:xfrm>
            <a:off x="311700" y="1590100"/>
            <a:ext cx="8520600" cy="2978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Collecting </a:t>
            </a:r>
            <a:r>
              <a:rPr b="1" i="1" lang="en"/>
              <a:t>cwnd</a:t>
            </a:r>
            <a:r>
              <a:rPr lang="en"/>
              <a:t>, a </a:t>
            </a:r>
            <a:r>
              <a:rPr lang="en"/>
              <a:t>TCP state variable. (</a:t>
            </a:r>
            <a:r>
              <a:rPr lang="en" sz="1000"/>
              <a:t>Why not from the packet header?</a:t>
            </a:r>
            <a:r>
              <a:rPr lang="en"/>
              <a:t>)</a:t>
            </a:r>
            <a:endParaRPr/>
          </a:p>
          <a:p>
            <a:pPr indent="-342900" lvl="0" marL="457200" rtl="0" algn="l">
              <a:spcBef>
                <a:spcPts val="0"/>
              </a:spcBef>
              <a:spcAft>
                <a:spcPts val="0"/>
              </a:spcAft>
              <a:buSzPts val="1800"/>
              <a:buChar char="●"/>
            </a:pPr>
            <a:r>
              <a:rPr lang="en"/>
              <a:t>Creating congestion in the network. </a:t>
            </a:r>
            <a:endParaRPr/>
          </a:p>
          <a:p>
            <a:pPr indent="0" lvl="0" marL="0" rtl="0" algn="l">
              <a:spcBef>
                <a:spcPts val="1200"/>
              </a:spcBef>
              <a:spcAft>
                <a:spcPts val="1200"/>
              </a:spcAft>
              <a:buNone/>
            </a:pPr>
            <a:r>
              <a:rPr lang="en"/>
              <a:t>Let’s look at them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script to plot the graph b/w cwnd and time </a:t>
            </a:r>
            <a:endParaRPr/>
          </a:p>
        </p:txBody>
      </p:sp>
      <p:sp>
        <p:nvSpPr>
          <p:cNvPr id="138" name="Google Shape;13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Let’s have a quick look over it..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nvSpPr>
        <p:spPr>
          <a:xfrm>
            <a:off x="1128050" y="1528625"/>
            <a:ext cx="6229500" cy="7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1"/>
                </a:solidFill>
              </a:rPr>
              <a:t>The Graph….</a:t>
            </a:r>
            <a:endParaRPr b="1" sz="3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9" name="Google Shape;14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0" name="Google Shape;150;p29"/>
          <p:cNvPicPr preferRelativeResize="0"/>
          <p:nvPr/>
        </p:nvPicPr>
        <p:blipFill>
          <a:blip r:embed="rId3">
            <a:alphaModFix/>
          </a:blip>
          <a:stretch>
            <a:fillRect/>
          </a:stretch>
        </p:blipFill>
        <p:spPr>
          <a:xfrm>
            <a:off x="236650" y="0"/>
            <a:ext cx="8442727" cy="5206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156" name="Google Shape;15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TCP Congestion Control - GeeksforGeeks</a:t>
            </a:r>
            <a:endParaRPr/>
          </a:p>
          <a:p>
            <a:pPr indent="0" lvl="0" marL="0" rtl="0" algn="l">
              <a:spcBef>
                <a:spcPts val="1200"/>
              </a:spcBef>
              <a:spcAft>
                <a:spcPts val="0"/>
              </a:spcAft>
              <a:buNone/>
            </a:pPr>
            <a:r>
              <a:rPr lang="en" u="sng">
                <a:solidFill>
                  <a:schemeClr val="hlink"/>
                </a:solidFill>
                <a:hlinkClick r:id="rId4"/>
              </a:rPr>
              <a:t>TCP congestion control - Wikipedia</a:t>
            </a:r>
            <a:endParaRPr/>
          </a:p>
          <a:p>
            <a:pPr indent="0" lvl="0" marL="0" rtl="0" algn="l">
              <a:spcBef>
                <a:spcPts val="1200"/>
              </a:spcBef>
              <a:spcAft>
                <a:spcPts val="0"/>
              </a:spcAft>
              <a:buNone/>
            </a:pPr>
            <a:r>
              <a:rPr lang="en" u="sng">
                <a:solidFill>
                  <a:schemeClr val="hlink"/>
                </a:solidFill>
                <a:hlinkClick r:id="rId5"/>
              </a:rPr>
              <a:t>TCP congestion control - witestlab.poly.edu</a:t>
            </a:r>
            <a:r>
              <a:rPr lang="en"/>
              <a:t> (cwnd collection script, python plotting script)</a:t>
            </a:r>
            <a:endParaRPr/>
          </a:p>
          <a:p>
            <a:pPr indent="0" lvl="0" marL="0" rtl="0" algn="l">
              <a:spcBef>
                <a:spcPts val="1200"/>
              </a:spcBef>
              <a:spcAft>
                <a:spcPts val="0"/>
              </a:spcAft>
              <a:buNone/>
            </a:pPr>
            <a:r>
              <a:rPr lang="en" u="sng">
                <a:solidFill>
                  <a:schemeClr val="hlink"/>
                </a:solidFill>
                <a:hlinkClick r:id="rId6"/>
              </a:rPr>
              <a:t>TCP congestion control - RFC 5681</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