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0" r:id="rId1"/>
  </p:sldMasterIdLst>
  <p:notesMasterIdLst>
    <p:notesMasterId r:id="rId27"/>
  </p:notesMasterIdLst>
  <p:sldIdLst>
    <p:sldId id="256" r:id="rId2"/>
    <p:sldId id="257" r:id="rId3"/>
    <p:sldId id="258" r:id="rId4"/>
    <p:sldId id="260" r:id="rId5"/>
    <p:sldId id="261" r:id="rId6"/>
    <p:sldId id="271" r:id="rId7"/>
    <p:sldId id="272" r:id="rId8"/>
    <p:sldId id="273" r:id="rId9"/>
    <p:sldId id="274" r:id="rId10"/>
    <p:sldId id="275" r:id="rId11"/>
    <p:sldId id="276" r:id="rId12"/>
    <p:sldId id="277" r:id="rId13"/>
    <p:sldId id="279" r:id="rId14"/>
    <p:sldId id="280" r:id="rId15"/>
    <p:sldId id="281" r:id="rId16"/>
    <p:sldId id="288" r:id="rId17"/>
    <p:sldId id="289" r:id="rId18"/>
    <p:sldId id="290" r:id="rId19"/>
    <p:sldId id="282" r:id="rId20"/>
    <p:sldId id="291" r:id="rId21"/>
    <p:sldId id="292" r:id="rId22"/>
    <p:sldId id="286" r:id="rId23"/>
    <p:sldId id="293" r:id="rId24"/>
    <p:sldId id="294" r:id="rId25"/>
    <p:sldId id="287" r:id="rId26"/>
  </p:sldIdLst>
  <p:sldSz cx="9144000" cy="5143500" type="screen16x9"/>
  <p:notesSz cx="6858000" cy="9144000"/>
  <p:embeddedFontLst>
    <p:embeddedFont>
      <p:font typeface="Courier Prime" panose="020B0604020202020204" charset="0"/>
      <p:regular r:id="rId28"/>
      <p:bold r:id="rId29"/>
      <p:italic r:id="rId30"/>
      <p:boldItalic r:id="rId31"/>
    </p:embeddedFont>
    <p:embeddedFont>
      <p:font typeface="Georgia" panose="02040502050405020303" pitchFamily="18" charset="0"/>
      <p:regular r:id="rId32"/>
      <p:bold r:id="rId33"/>
      <p:italic r:id="rId34"/>
      <p:boldItalic r:id="rId35"/>
    </p:embeddedFont>
    <p:embeddedFont>
      <p:font typeface="Gill Sans MT" panose="020B0502020104020203" pitchFamily="34" charset="0"/>
      <p:regular r:id="rId36"/>
      <p:bold r:id="rId37"/>
      <p:italic r:id="rId38"/>
      <p:boldItalic r:id="rId39"/>
    </p:embeddedFont>
    <p:embeddedFont>
      <p:font typeface="Roboto" panose="02000000000000000000" pitchFamily="2" charset="0"/>
      <p:regular r:id="rId40"/>
      <p:bold r:id="rId41"/>
      <p:italic r:id="rId42"/>
      <p:boldItalic r:id="rId43"/>
    </p:embeddedFont>
    <p:embeddedFont>
      <p:font typeface="Trebuchet MS" panose="020B0603020202020204" pitchFamily="34" charset="0"/>
      <p:regular r:id="rId44"/>
      <p:bold r:id="rId45"/>
      <p:italic r:id="rId46"/>
      <p:boldItalic r:id="rId4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4" name="Google Shape;40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1" name="Google Shape;45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0" name="Google Shape;59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5" name="Google Shape;595;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1" name="Google Shape;60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243c431583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243c431583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7" name="Google Shape;63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3" name="Google Shape;64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F364CA-C019-4184-BC05-08F9BCB9325E}" type="datetimeFigureOut">
              <a:rPr lang="en-IN" smtClean="0"/>
              <a:t>13-09-2023</a:t>
            </a:fld>
            <a:endParaRPr lang="en-IN"/>
          </a:p>
        </p:txBody>
      </p:sp>
      <p:sp>
        <p:nvSpPr>
          <p:cNvPr id="5" name="Footer Placeholder 4"/>
          <p:cNvSpPr>
            <a:spLocks noGrp="1"/>
          </p:cNvSpPr>
          <p:nvPr>
            <p:ph type="ftr" sz="quarter" idx="11"/>
          </p:nvPr>
        </p:nvSpPr>
        <p:spPr>
          <a:xfrm>
            <a:off x="1812376" y="246981"/>
            <a:ext cx="3730436" cy="231901"/>
          </a:xfrm>
        </p:spPr>
        <p:txBody>
          <a:bodyPr/>
          <a:lstStyle/>
          <a:p>
            <a:endParaRPr lang="en-IN"/>
          </a:p>
        </p:txBody>
      </p:sp>
      <p:sp>
        <p:nvSpPr>
          <p:cNvPr id="6" name="Slide Number Placeholder 5"/>
          <p:cNvSpPr>
            <a:spLocks noGrp="1"/>
          </p:cNvSpPr>
          <p:nvPr>
            <p:ph type="sldNum" sz="quarter" idx="12"/>
          </p:nvPr>
        </p:nvSpPr>
        <p:spPr>
          <a:xfrm>
            <a:off x="1078249" y="599230"/>
            <a:ext cx="608264" cy="377684"/>
          </a:xfrm>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249045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F364CA-C019-4184-BC05-08F9BCB9325E}" type="datetimeFigureOut">
              <a:rPr lang="en-IN" smtClean="0"/>
              <a:t>13-09-2023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982632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F364CA-C019-4184-BC05-08F9BCB9325E}" type="datetimeFigureOut">
              <a:rPr lang="en-IN" smtClean="0"/>
              <a:t>13-09-2023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7078153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F364CA-C019-4184-BC05-08F9BCB9325E}" type="datetimeFigureOut">
              <a:rPr lang="en-IN" smtClean="0"/>
              <a:t>13-09-2023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186408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F364CA-C019-4184-BC05-08F9BCB9325E}" type="datetimeFigureOut">
              <a:rPr lang="en-IN" smtClean="0"/>
              <a:t>13-09-2023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61174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F364CA-C019-4184-BC05-08F9BCB9325E}" type="datetimeFigureOut">
              <a:rPr lang="en-IN" smtClean="0"/>
              <a:t>13-09-2023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01968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364CA-C019-4184-BC05-08F9BCB9325E}" type="datetimeFigureOut">
              <a:rPr lang="en-IN" smtClean="0"/>
              <a:t>13-09-2023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63409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7F364CA-C019-4184-BC05-08F9BCB9325E}" type="datetimeFigureOut">
              <a:rPr lang="en-IN" smtClean="0"/>
              <a:t>13-09-2023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38292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37F364CA-C019-4184-BC05-08F9BCB9325E}" type="datetimeFigureOut">
              <a:rPr lang="en-IN" smtClean="0"/>
              <a:t>13-09-2023</a:t>
            </a:fld>
            <a:endParaRPr lang="en-IN"/>
          </a:p>
        </p:txBody>
      </p:sp>
      <p:sp>
        <p:nvSpPr>
          <p:cNvPr id="6" name="Footer Placeholder 5"/>
          <p:cNvSpPr>
            <a:spLocks noGrp="1"/>
          </p:cNvSpPr>
          <p:nvPr>
            <p:ph type="ftr" sz="quarter" idx="11"/>
          </p:nvPr>
        </p:nvSpPr>
        <p:spPr>
          <a:xfrm>
            <a:off x="1085537" y="238981"/>
            <a:ext cx="4155753" cy="240698"/>
          </a:xfrm>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602768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F364CA-C019-4184-BC05-08F9BCB9325E}" type="datetimeFigureOut">
              <a:rPr lang="en-IN" smtClean="0"/>
              <a:t>13-09-2023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11630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F364CA-C019-4184-BC05-08F9BCB9325E}" type="datetimeFigureOut">
              <a:rPr lang="en-IN" smtClean="0"/>
              <a:t>13-09-2023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8562918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37F364CA-C019-4184-BC05-08F9BCB9325E}" type="datetimeFigureOut">
              <a:rPr lang="en-IN" smtClean="0"/>
              <a:t>13-09-2023</a:t>
            </a:fld>
            <a:endParaRPr lang="en-IN"/>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786740"/>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hf sldNum="0" hdr="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baeldung.com/cs/inter-process-communication#1-what-is-a-process"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hyperlink" Target="https://www.baeldung.com/cs/semaphore#process-synchronizatio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man7.org/linux/man-pages/man2/clone.2.html" TargetMode="External"/><Relationship Id="rId13" Type="http://schemas.openxmlformats.org/officeDocument/2006/relationships/hyperlink" Target="https://www.softprayog.in/programming/io-multiplexing-select-poll-epol" TargetMode="External"/><Relationship Id="rId3" Type="http://schemas.openxmlformats.org/officeDocument/2006/relationships/hyperlink" Target="https://man7.org/linux/man-pages/man2/bind.2.html" TargetMode="External"/><Relationship Id="rId7" Type="http://schemas.openxmlformats.org/officeDocument/2006/relationships/hyperlink" Target="http://www.cs.ucr.edu/~makho001/masoud/cs164/fork.pdf" TargetMode="External"/><Relationship Id="rId12" Type="http://schemas.openxmlformats.org/officeDocument/2006/relationships/hyperlink" Target="https://man7.org/linux/man-pages/man7/epoll.7.html"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hyperlink" Target="https://man7.org/linux/man-pages/man2/connect.2.html" TargetMode="External"/><Relationship Id="rId11" Type="http://schemas.openxmlformats.org/officeDocument/2006/relationships/hyperlink" Target="https://man7.org/linux/man-pages/man2/poll.2.html" TargetMode="External"/><Relationship Id="rId5" Type="http://schemas.openxmlformats.org/officeDocument/2006/relationships/hyperlink" Target="https://man7.org/linux/man-pages/man2/accept.2.html" TargetMode="External"/><Relationship Id="rId10" Type="http://schemas.openxmlformats.org/officeDocument/2006/relationships/hyperlink" Target="https://man7.org/linux/man-pages/man2/select.2.html" TargetMode="External"/><Relationship Id="rId4" Type="http://schemas.openxmlformats.org/officeDocument/2006/relationships/hyperlink" Target="https://man7.org/linux/man-pages/man2/listen.2.html" TargetMode="External"/><Relationship Id="rId9" Type="http://schemas.openxmlformats.org/officeDocument/2006/relationships/hyperlink" Target="https://man7.org/tlp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p:nvPr/>
        </p:nvSpPr>
        <p:spPr>
          <a:xfrm>
            <a:off x="384840" y="1029960"/>
            <a:ext cx="4859280" cy="123120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3000" i="0" u="none" strike="noStrike" cap="none" dirty="0">
                <a:latin typeface="Trebuchet MS"/>
                <a:ea typeface="Trebuchet MS"/>
                <a:cs typeface="Trebuchet MS"/>
                <a:sym typeface="Trebuchet MS"/>
              </a:rPr>
              <a:t>Socket</a:t>
            </a:r>
            <a:r>
              <a:rPr lang="en-US" sz="3000" i="0" u="none" strike="noStrike" cap="none" dirty="0">
                <a:solidFill>
                  <a:srgbClr val="FFFFFF"/>
                </a:solidFill>
                <a:latin typeface="Trebuchet MS"/>
                <a:ea typeface="Trebuchet MS"/>
                <a:cs typeface="Trebuchet MS"/>
                <a:sym typeface="Trebuchet MS"/>
              </a:rPr>
              <a:t> </a:t>
            </a:r>
            <a:r>
              <a:rPr lang="en-US" sz="3000" i="0" u="none" strike="noStrike" cap="none" dirty="0">
                <a:latin typeface="Trebuchet MS"/>
                <a:ea typeface="Trebuchet MS"/>
                <a:cs typeface="Trebuchet MS"/>
                <a:sym typeface="Trebuchet MS"/>
              </a:rPr>
              <a:t>Programming - II</a:t>
            </a:r>
            <a:endParaRPr sz="3000" i="0" u="none" strike="noStrike" cap="none" dirty="0">
              <a:latin typeface="Arial"/>
              <a:ea typeface="Arial"/>
              <a:cs typeface="Arial"/>
              <a:sym typeface="Arial"/>
            </a:endParaRPr>
          </a:p>
        </p:txBody>
      </p:sp>
      <p:sp>
        <p:nvSpPr>
          <p:cNvPr id="278" name="Google Shape;278;p13"/>
          <p:cNvSpPr/>
          <p:nvPr/>
        </p:nvSpPr>
        <p:spPr>
          <a:xfrm>
            <a:off x="384840" y="1897560"/>
            <a:ext cx="5632920" cy="439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4000" b="1" i="0" u="none" strike="noStrike" cap="none" dirty="0">
                <a:latin typeface="Trebuchet MS"/>
                <a:ea typeface="Trebuchet MS"/>
                <a:cs typeface="Trebuchet MS"/>
                <a:sym typeface="Trebuchet MS"/>
              </a:rPr>
              <a:t>Computer</a:t>
            </a:r>
            <a:r>
              <a:rPr lang="en-US" sz="4000" b="1" i="0" u="none" strike="noStrike" cap="none" dirty="0">
                <a:solidFill>
                  <a:srgbClr val="F3F3F3"/>
                </a:solidFill>
                <a:latin typeface="Trebuchet MS"/>
                <a:ea typeface="Trebuchet MS"/>
                <a:cs typeface="Trebuchet MS"/>
                <a:sym typeface="Trebuchet MS"/>
              </a:rPr>
              <a:t> </a:t>
            </a:r>
            <a:r>
              <a:rPr lang="en-US" sz="4000" b="1" i="0" u="none" strike="noStrike" cap="none" dirty="0">
                <a:latin typeface="Trebuchet MS"/>
                <a:ea typeface="Trebuchet MS"/>
                <a:cs typeface="Trebuchet MS"/>
                <a:sym typeface="Trebuchet MS"/>
              </a:rPr>
              <a:t>Networks</a:t>
            </a:r>
            <a:endParaRPr sz="4000" b="1" i="0" u="none" strike="noStrike" cap="none" dirty="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p:nvPr/>
        </p:nvSpPr>
        <p:spPr>
          <a:xfrm>
            <a:off x="362880" y="228240"/>
            <a:ext cx="681336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800" b="0" i="0" u="none" strike="noStrike" cap="none">
                <a:solidFill>
                  <a:srgbClr val="434343"/>
                </a:solidFill>
                <a:latin typeface="Trebuchet MS"/>
                <a:ea typeface="Trebuchet MS"/>
                <a:cs typeface="Trebuchet MS"/>
                <a:sym typeface="Trebuchet MS"/>
              </a:rPr>
              <a:t>What will you learn?</a:t>
            </a:r>
            <a:endParaRPr sz="2800" b="0" i="0" u="none" strike="noStrike" cap="none">
              <a:solidFill>
                <a:srgbClr val="000000"/>
              </a:solidFill>
              <a:latin typeface="Arial"/>
              <a:ea typeface="Arial"/>
              <a:cs typeface="Arial"/>
              <a:sym typeface="Arial"/>
            </a:endParaRPr>
          </a:p>
        </p:txBody>
      </p:sp>
      <p:sp>
        <p:nvSpPr>
          <p:cNvPr id="284" name="Google Shape;284;p14"/>
          <p:cNvSpPr/>
          <p:nvPr/>
        </p:nvSpPr>
        <p:spPr>
          <a:xfrm>
            <a:off x="426240" y="1176480"/>
            <a:ext cx="4123440" cy="875880"/>
          </a:xfrm>
          <a:prstGeom prst="rect">
            <a:avLst/>
          </a:prstGeom>
          <a:noFill/>
          <a:ln>
            <a:noFill/>
          </a:ln>
        </p:spPr>
        <p:txBody>
          <a:bodyPr spcFirstLastPara="1" wrap="square" lIns="0" tIns="52550" rIns="0" bIns="0" anchor="t" anchorCtr="0">
            <a:noAutofit/>
          </a:bodyPr>
          <a:lstStyle/>
          <a:p>
            <a:pPr marL="457200" marR="0" lvl="0" indent="-342720" algn="l" rtl="0">
              <a:lnSpc>
                <a:spcPct val="100000"/>
              </a:lnSpc>
              <a:spcBef>
                <a:spcPts val="0"/>
              </a:spcBef>
              <a:spcAft>
                <a:spcPts val="0"/>
              </a:spcAft>
              <a:buClr>
                <a:srgbClr val="000000"/>
              </a:buClr>
              <a:buSzPts val="1800"/>
              <a:buFont typeface="Noto Sans Symbols"/>
              <a:buAutoNum type="arabicPeriod"/>
            </a:pPr>
            <a:r>
              <a:rPr lang="en-US" sz="1800" b="0" i="0" u="none" strike="noStrike" cap="none" dirty="0">
                <a:solidFill>
                  <a:srgbClr val="000000"/>
                </a:solidFill>
                <a:latin typeface="Trebuchet MS"/>
                <a:ea typeface="Trebuchet MS"/>
                <a:cs typeface="Trebuchet MS"/>
                <a:sym typeface="Trebuchet MS"/>
              </a:rPr>
              <a:t>Socket Programming</a:t>
            </a:r>
          </a:p>
          <a:p>
            <a:pPr marL="457200" marR="0" lvl="0" indent="-342720" algn="l" rtl="0">
              <a:lnSpc>
                <a:spcPct val="100000"/>
              </a:lnSpc>
              <a:spcBef>
                <a:spcPts val="0"/>
              </a:spcBef>
              <a:spcAft>
                <a:spcPts val="0"/>
              </a:spcAft>
              <a:buClr>
                <a:srgbClr val="000000"/>
              </a:buClr>
              <a:buSzPts val="1800"/>
              <a:buFont typeface="Noto Sans Symbols"/>
              <a:buAutoNum type="arabicPeriod"/>
            </a:pPr>
            <a:r>
              <a:rPr lang="en-US" dirty="0">
                <a:solidFill>
                  <a:srgbClr val="000000"/>
                </a:solidFill>
                <a:latin typeface="Trebuchet MS"/>
                <a:ea typeface="Arial"/>
                <a:cs typeface="Arial"/>
                <a:sym typeface="Trebuchet MS"/>
              </a:rPr>
              <a:t>Event-driven programming</a:t>
            </a:r>
            <a:endParaRPr sz="1800" b="0" i="0" u="none" strike="noStrike" cap="none" dirty="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p:nvPr/>
        </p:nvSpPr>
        <p:spPr>
          <a:xfrm>
            <a:off x="2227680" y="2237400"/>
            <a:ext cx="4688280" cy="662400"/>
          </a:xfrm>
          <a:prstGeom prst="rect">
            <a:avLst/>
          </a:prstGeom>
          <a:noFill/>
          <a:ln>
            <a:noFill/>
          </a:ln>
        </p:spPr>
        <p:txBody>
          <a:bodyPr spcFirstLastPara="1" wrap="square" lIns="0" tIns="52550" rIns="0" bIns="0" anchor="t" anchorCtr="0">
            <a:noAutofit/>
          </a:bodyPr>
          <a:lstStyle/>
          <a:p>
            <a:pPr marL="0" marR="0" lvl="0" indent="0" algn="l" rtl="0">
              <a:lnSpc>
                <a:spcPct val="100000"/>
              </a:lnSpc>
              <a:spcBef>
                <a:spcPts val="0"/>
              </a:spcBef>
              <a:spcAft>
                <a:spcPts val="0"/>
              </a:spcAft>
              <a:buNone/>
            </a:pPr>
            <a:r>
              <a:rPr lang="en-US" sz="4000" b="0" i="0" u="none" strike="noStrike" cap="none">
                <a:solidFill>
                  <a:srgbClr val="000000"/>
                </a:solidFill>
                <a:latin typeface="Trebuchet MS"/>
                <a:ea typeface="Trebuchet MS"/>
                <a:cs typeface="Trebuchet MS"/>
                <a:sym typeface="Trebuchet MS"/>
              </a:rPr>
              <a:t>Socket Programming</a:t>
            </a:r>
            <a:endParaRPr sz="4000" b="0" i="0" u="none" strike="noStrike" cap="non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p:nvPr/>
        </p:nvSpPr>
        <p:spPr>
          <a:xfrm>
            <a:off x="362880" y="228240"/>
            <a:ext cx="302544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800" b="0" i="0" u="none" strike="noStrike" cap="none">
                <a:solidFill>
                  <a:srgbClr val="434343"/>
                </a:solidFill>
                <a:latin typeface="Trebuchet MS"/>
                <a:ea typeface="Trebuchet MS"/>
                <a:cs typeface="Trebuchet MS"/>
                <a:sym typeface="Trebuchet MS"/>
              </a:rPr>
              <a:t>TCP Stream Socket</a:t>
            </a:r>
            <a:endParaRPr sz="2800" b="0" i="0" u="none" strike="noStrike" cap="none">
              <a:solidFill>
                <a:srgbClr val="000000"/>
              </a:solidFill>
              <a:latin typeface="Arial"/>
              <a:ea typeface="Arial"/>
              <a:cs typeface="Arial"/>
              <a:sym typeface="Arial"/>
            </a:endParaRPr>
          </a:p>
        </p:txBody>
      </p:sp>
      <p:sp>
        <p:nvSpPr>
          <p:cNvPr id="307" name="Google Shape;307;p17"/>
          <p:cNvSpPr/>
          <p:nvPr/>
        </p:nvSpPr>
        <p:spPr>
          <a:xfrm>
            <a:off x="388440" y="1005480"/>
            <a:ext cx="8066520" cy="1896840"/>
          </a:xfrm>
          <a:prstGeom prst="rect">
            <a:avLst/>
          </a:prstGeom>
          <a:noFill/>
          <a:ln>
            <a:noFill/>
          </a:ln>
        </p:spPr>
        <p:txBody>
          <a:bodyPr spcFirstLastPara="1" wrap="square" lIns="0" tIns="12600" rIns="0" bIns="0" anchor="t" anchorCtr="0">
            <a:noAutofit/>
          </a:bodyPr>
          <a:lstStyle/>
          <a:p>
            <a:pPr marL="379080" marR="0" lvl="0" indent="-366840" algn="just" rtl="0">
              <a:lnSpc>
                <a:spcPct val="114000"/>
              </a:lnSpc>
              <a:spcBef>
                <a:spcPts val="0"/>
              </a:spcBef>
              <a:spcAft>
                <a:spcPts val="0"/>
              </a:spcAft>
              <a:buClr>
                <a:srgbClr val="595959"/>
              </a:buClr>
              <a:buSzPts val="1800"/>
              <a:buFont typeface="Arial"/>
              <a:buChar char="●"/>
            </a:pPr>
            <a:r>
              <a:rPr lang="en-US" sz="1800" b="0" i="0" u="none" strike="noStrike" cap="none" dirty="0">
                <a:solidFill>
                  <a:srgbClr val="595959"/>
                </a:solidFill>
                <a:latin typeface="Trebuchet MS"/>
                <a:ea typeface="Trebuchet MS"/>
                <a:cs typeface="Trebuchet MS"/>
                <a:sym typeface="Trebuchet MS"/>
              </a:rPr>
              <a:t>Reliable</a:t>
            </a:r>
            <a:endParaRPr sz="1800" b="0" i="0" u="none" strike="noStrike" cap="none" dirty="0">
              <a:latin typeface="Arial"/>
              <a:ea typeface="Arial"/>
              <a:cs typeface="Arial"/>
              <a:sym typeface="Arial"/>
            </a:endParaRPr>
          </a:p>
          <a:p>
            <a:pPr marL="379080" marR="0" lvl="0" indent="-366840" algn="just" rtl="0">
              <a:lnSpc>
                <a:spcPct val="100000"/>
              </a:lnSpc>
              <a:spcBef>
                <a:spcPts val="315"/>
              </a:spcBef>
              <a:spcAft>
                <a:spcPts val="0"/>
              </a:spcAft>
              <a:buClr>
                <a:srgbClr val="595959"/>
              </a:buClr>
              <a:buSzPts val="1800"/>
              <a:buFont typeface="Arial"/>
              <a:buChar char="●"/>
            </a:pPr>
            <a:r>
              <a:rPr lang="en-US" sz="1800" b="0" i="0" u="none" strike="noStrike" cap="none" dirty="0">
                <a:solidFill>
                  <a:srgbClr val="595959"/>
                </a:solidFill>
                <a:latin typeface="Trebuchet MS"/>
                <a:ea typeface="Trebuchet MS"/>
                <a:cs typeface="Trebuchet MS"/>
                <a:sym typeface="Trebuchet MS"/>
              </a:rPr>
              <a:t>Handles packet loss.</a:t>
            </a:r>
            <a:endParaRPr sz="1800" b="0" i="0" u="none" strike="noStrike" cap="none" dirty="0">
              <a:latin typeface="Arial"/>
              <a:ea typeface="Arial"/>
              <a:cs typeface="Arial"/>
              <a:sym typeface="Arial"/>
            </a:endParaRPr>
          </a:p>
          <a:p>
            <a:pPr marL="379080" marR="0" lvl="0" indent="-366840" algn="just" rtl="0">
              <a:lnSpc>
                <a:spcPct val="100000"/>
              </a:lnSpc>
              <a:spcBef>
                <a:spcPts val="315"/>
              </a:spcBef>
              <a:spcAft>
                <a:spcPts val="0"/>
              </a:spcAft>
              <a:buClr>
                <a:srgbClr val="595959"/>
              </a:buClr>
              <a:buSzPts val="1800"/>
              <a:buFont typeface="Trebuchet MS"/>
              <a:buChar char="●"/>
            </a:pPr>
            <a:r>
              <a:rPr lang="en-US" sz="1800" b="0" i="0" u="none" strike="noStrike" cap="none" dirty="0">
                <a:solidFill>
                  <a:srgbClr val="595959"/>
                </a:solidFill>
                <a:latin typeface="Trebuchet MS"/>
                <a:ea typeface="Trebuchet MS"/>
                <a:cs typeface="Trebuchet MS"/>
                <a:sym typeface="Trebuchet MS"/>
              </a:rPr>
              <a:t>In-order delivery.</a:t>
            </a:r>
            <a:endParaRPr sz="1800" b="0" i="0" u="none" strike="noStrike" cap="none" dirty="0">
              <a:latin typeface="Arial"/>
              <a:ea typeface="Arial"/>
              <a:cs typeface="Arial"/>
              <a:sym typeface="Arial"/>
            </a:endParaRPr>
          </a:p>
          <a:p>
            <a:pPr marL="379080" marR="0" lvl="0" indent="-366840" algn="just" rtl="0">
              <a:lnSpc>
                <a:spcPct val="100000"/>
              </a:lnSpc>
              <a:spcBef>
                <a:spcPts val="315"/>
              </a:spcBef>
              <a:spcAft>
                <a:spcPts val="0"/>
              </a:spcAft>
              <a:buClr>
                <a:srgbClr val="595959"/>
              </a:buClr>
              <a:buSzPts val="1800"/>
              <a:buFont typeface="Arial"/>
              <a:buChar char="●"/>
            </a:pPr>
            <a:r>
              <a:rPr lang="en-US" sz="1800" b="0" i="0" u="none" strike="noStrike" cap="none" dirty="0">
                <a:solidFill>
                  <a:srgbClr val="595959"/>
                </a:solidFill>
                <a:latin typeface="Trebuchet MS"/>
                <a:ea typeface="Trebuchet MS"/>
                <a:cs typeface="Trebuchet MS"/>
                <a:sym typeface="Trebuchet MS"/>
              </a:rPr>
              <a:t>Requires acknowledgement.</a:t>
            </a:r>
            <a:endParaRPr sz="1800" b="0" i="0" u="none" strike="noStrike" cap="none" dirty="0">
              <a:latin typeface="Arial"/>
              <a:ea typeface="Arial"/>
              <a:cs typeface="Arial"/>
              <a:sym typeface="Arial"/>
            </a:endParaRPr>
          </a:p>
          <a:p>
            <a:pPr marL="379080" marR="0" lvl="0" indent="-366840" algn="just" rtl="0">
              <a:lnSpc>
                <a:spcPct val="100000"/>
              </a:lnSpc>
              <a:spcBef>
                <a:spcPts val="315"/>
              </a:spcBef>
              <a:spcAft>
                <a:spcPts val="0"/>
              </a:spcAft>
              <a:buClr>
                <a:srgbClr val="595959"/>
              </a:buClr>
              <a:buSzPts val="1800"/>
              <a:buFont typeface="Trebuchet MS"/>
              <a:buChar char="●"/>
            </a:pPr>
            <a:r>
              <a:rPr lang="en-US" sz="1800" b="0" i="0" u="none" strike="noStrike" cap="none" dirty="0">
                <a:solidFill>
                  <a:srgbClr val="595959"/>
                </a:solidFill>
                <a:latin typeface="Trebuchet MS"/>
                <a:ea typeface="Trebuchet MS"/>
                <a:cs typeface="Trebuchet MS"/>
                <a:sym typeface="Trebuchet MS"/>
              </a:rPr>
              <a:t>Has Congestion control.</a:t>
            </a:r>
            <a:endParaRPr sz="1800" b="0" i="0" u="none" strike="noStrike" cap="none" dirty="0">
              <a:latin typeface="Arial"/>
              <a:ea typeface="Arial"/>
              <a:cs typeface="Arial"/>
              <a:sym typeface="Arial"/>
            </a:endParaRPr>
          </a:p>
          <a:p>
            <a:pPr marL="379080" marR="0" lvl="0" indent="-366840" algn="just" rtl="0">
              <a:lnSpc>
                <a:spcPct val="100000"/>
              </a:lnSpc>
              <a:spcBef>
                <a:spcPts val="315"/>
              </a:spcBef>
              <a:spcAft>
                <a:spcPts val="0"/>
              </a:spcAft>
              <a:buClr>
                <a:srgbClr val="595959"/>
              </a:buClr>
              <a:buSzPts val="1800"/>
              <a:buFont typeface="Trebuchet MS"/>
              <a:buChar char="●"/>
            </a:pPr>
            <a:r>
              <a:rPr lang="en-US" sz="1800" b="0" i="0" u="none" strike="noStrike" cap="none" dirty="0">
                <a:solidFill>
                  <a:srgbClr val="595959"/>
                </a:solidFill>
                <a:latin typeface="Trebuchet MS"/>
                <a:ea typeface="Trebuchet MS"/>
                <a:cs typeface="Trebuchet MS"/>
                <a:sym typeface="Trebuchet MS"/>
              </a:rPr>
              <a:t>Similar to telephone connection.</a:t>
            </a:r>
            <a:endParaRPr sz="1800" b="0" i="0" u="none" strike="noStrike" cap="none"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8"/>
          <p:cNvSpPr txBox="1"/>
          <p:nvPr/>
        </p:nvSpPr>
        <p:spPr>
          <a:xfrm>
            <a:off x="362880" y="228240"/>
            <a:ext cx="504612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800" b="0" i="0" u="none" strike="noStrike" cap="none">
                <a:solidFill>
                  <a:srgbClr val="434343"/>
                </a:solidFill>
                <a:latin typeface="Trebuchet MS"/>
                <a:ea typeface="Trebuchet MS"/>
                <a:cs typeface="Trebuchet MS"/>
                <a:sym typeface="Trebuchet MS"/>
              </a:rPr>
              <a:t>TCP Client-Server Model</a:t>
            </a:r>
            <a:endParaRPr sz="2800" b="0" i="0" u="none" strike="noStrike" cap="none">
              <a:solidFill>
                <a:srgbClr val="000000"/>
              </a:solidFill>
              <a:latin typeface="Arial"/>
              <a:ea typeface="Arial"/>
              <a:cs typeface="Arial"/>
              <a:sym typeface="Arial"/>
            </a:endParaRPr>
          </a:p>
        </p:txBody>
      </p:sp>
      <p:pic>
        <p:nvPicPr>
          <p:cNvPr id="313" name="Google Shape;313;p18"/>
          <p:cNvPicPr preferRelativeResize="0"/>
          <p:nvPr/>
        </p:nvPicPr>
        <p:blipFill rotWithShape="1">
          <a:blip r:embed="rId3">
            <a:alphaModFix/>
          </a:blip>
          <a:srcRect/>
          <a:stretch/>
        </p:blipFill>
        <p:spPr>
          <a:xfrm>
            <a:off x="2971080" y="956520"/>
            <a:ext cx="3101400" cy="40172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8"/>
          <p:cNvSpPr txBox="1"/>
          <p:nvPr/>
        </p:nvSpPr>
        <p:spPr>
          <a:xfrm>
            <a:off x="920160" y="2149920"/>
            <a:ext cx="775188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3600" b="0" i="0" u="none" strike="noStrike" cap="none">
                <a:solidFill>
                  <a:srgbClr val="000000"/>
                </a:solidFill>
                <a:latin typeface="Trebuchet MS"/>
                <a:ea typeface="Trebuchet MS"/>
                <a:cs typeface="Trebuchet MS"/>
                <a:sym typeface="Trebuchet MS"/>
              </a:rPr>
              <a:t>How would you implement a server?</a:t>
            </a:r>
            <a:endParaRPr sz="36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9"/>
          <p:cNvSpPr txBox="1"/>
          <p:nvPr/>
        </p:nvSpPr>
        <p:spPr>
          <a:xfrm>
            <a:off x="362880" y="228240"/>
            <a:ext cx="475200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800" b="0" i="0" u="none" strike="noStrike" cap="none">
                <a:solidFill>
                  <a:srgbClr val="434343"/>
                </a:solidFill>
                <a:latin typeface="Trebuchet MS"/>
                <a:ea typeface="Trebuchet MS"/>
                <a:cs typeface="Trebuchet MS"/>
                <a:sym typeface="Trebuchet MS"/>
              </a:rPr>
              <a:t>Single threaded TCP server</a:t>
            </a:r>
            <a:endParaRPr sz="2800" b="0" i="0" u="none" strike="noStrike" cap="none">
              <a:solidFill>
                <a:srgbClr val="000000"/>
              </a:solidFill>
              <a:latin typeface="Arial"/>
              <a:ea typeface="Arial"/>
              <a:cs typeface="Arial"/>
              <a:sym typeface="Arial"/>
            </a:endParaRPr>
          </a:p>
        </p:txBody>
      </p:sp>
      <p:grpSp>
        <p:nvGrpSpPr>
          <p:cNvPr id="380" name="Google Shape;380;p29"/>
          <p:cNvGrpSpPr/>
          <p:nvPr/>
        </p:nvGrpSpPr>
        <p:grpSpPr>
          <a:xfrm>
            <a:off x="5200560" y="2477880"/>
            <a:ext cx="3007800" cy="757800"/>
            <a:chOff x="5200560" y="2477880"/>
            <a:chExt cx="3007800" cy="757800"/>
          </a:xfrm>
        </p:grpSpPr>
        <p:sp>
          <p:nvSpPr>
            <p:cNvPr id="381" name="Google Shape;381;p29"/>
            <p:cNvSpPr/>
            <p:nvPr/>
          </p:nvSpPr>
          <p:spPr>
            <a:xfrm>
              <a:off x="5200560" y="2477880"/>
              <a:ext cx="3007800" cy="757800"/>
            </a:xfrm>
            <a:custGeom>
              <a:avLst/>
              <a:gdLst/>
              <a:ahLst/>
              <a:cxnLst/>
              <a:rect l="l" t="t" r="r" b="b"/>
              <a:pathLst>
                <a:path w="3007995" h="758189" extrusionOk="0">
                  <a:moveTo>
                    <a:pt x="2881447" y="758099"/>
                  </a:moveTo>
                  <a:lnTo>
                    <a:pt x="126352" y="758099"/>
                  </a:lnTo>
                  <a:lnTo>
                    <a:pt x="77170" y="748170"/>
                  </a:lnTo>
                  <a:lnTo>
                    <a:pt x="37007" y="721092"/>
                  </a:lnTo>
                  <a:lnTo>
                    <a:pt x="9929" y="680929"/>
                  </a:lnTo>
                  <a:lnTo>
                    <a:pt x="0" y="631747"/>
                  </a:lnTo>
                  <a:lnTo>
                    <a:pt x="0" y="126352"/>
                  </a:ln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close/>
                </a:path>
              </a:pathLst>
            </a:custGeom>
            <a:solidFill>
              <a:srgbClr val="EEEEEE"/>
            </a:solidFill>
            <a:ln>
              <a:noFill/>
            </a:ln>
          </p:spPr>
          <p:txBody>
            <a:bodyPr/>
            <a:lstStyle/>
            <a:p>
              <a:endParaRPr lang="en-IN"/>
            </a:p>
          </p:txBody>
        </p:sp>
        <p:sp>
          <p:nvSpPr>
            <p:cNvPr id="382" name="Google Shape;382;p29"/>
            <p:cNvSpPr/>
            <p:nvPr/>
          </p:nvSpPr>
          <p:spPr>
            <a:xfrm>
              <a:off x="5200560" y="2477880"/>
              <a:ext cx="3007800" cy="757800"/>
            </a:xfrm>
            <a:custGeom>
              <a:avLst/>
              <a:gdLst/>
              <a:ahLst/>
              <a:cxnLst/>
              <a:rect l="l" t="t" r="r" b="b"/>
              <a:pathLst>
                <a:path w="3007995" h="758189" extrusionOk="0">
                  <a:moveTo>
                    <a:pt x="0" y="126352"/>
                  </a:move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lnTo>
                    <a:pt x="126352" y="758099"/>
                  </a:lnTo>
                  <a:lnTo>
                    <a:pt x="77170" y="748170"/>
                  </a:lnTo>
                  <a:lnTo>
                    <a:pt x="37007" y="721092"/>
                  </a:lnTo>
                  <a:lnTo>
                    <a:pt x="9929" y="680929"/>
                  </a:lnTo>
                  <a:lnTo>
                    <a:pt x="0" y="631747"/>
                  </a:lnTo>
                  <a:lnTo>
                    <a:pt x="0" y="126352"/>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383" name="Google Shape;383;p29"/>
            <p:cNvSpPr/>
            <p:nvPr/>
          </p:nvSpPr>
          <p:spPr>
            <a:xfrm>
              <a:off x="6591960" y="2621880"/>
              <a:ext cx="1233360" cy="470160"/>
            </a:xfrm>
            <a:custGeom>
              <a:avLst/>
              <a:gdLst/>
              <a:ahLst/>
              <a:cxnLst/>
              <a:rect l="l" t="t" r="r" b="b"/>
              <a:pathLst>
                <a:path w="1233804" h="470535" extrusionOk="0">
                  <a:moveTo>
                    <a:pt x="1233599" y="470099"/>
                  </a:moveTo>
                  <a:lnTo>
                    <a:pt x="0" y="470099"/>
                  </a:lnTo>
                  <a:lnTo>
                    <a:pt x="0" y="0"/>
                  </a:lnTo>
                  <a:lnTo>
                    <a:pt x="1233599" y="0"/>
                  </a:lnTo>
                  <a:lnTo>
                    <a:pt x="1233599" y="470099"/>
                  </a:lnTo>
                  <a:close/>
                </a:path>
              </a:pathLst>
            </a:custGeom>
            <a:solidFill>
              <a:srgbClr val="EEEEEE"/>
            </a:solidFill>
            <a:ln>
              <a:noFill/>
            </a:ln>
          </p:spPr>
          <p:txBody>
            <a:bodyPr/>
            <a:lstStyle/>
            <a:p>
              <a:endParaRPr lang="en-IN"/>
            </a:p>
          </p:txBody>
        </p:sp>
      </p:grpSp>
      <p:sp>
        <p:nvSpPr>
          <p:cNvPr id="384" name="Google Shape;384;p29"/>
          <p:cNvSpPr/>
          <p:nvPr/>
        </p:nvSpPr>
        <p:spPr>
          <a:xfrm>
            <a:off x="6591960" y="2621880"/>
            <a:ext cx="1233720" cy="526320"/>
          </a:xfrm>
          <a:prstGeom prst="rect">
            <a:avLst/>
          </a:prstGeom>
          <a:noFill/>
          <a:ln w="9525" cap="flat" cmpd="sng">
            <a:solidFill>
              <a:srgbClr val="595959"/>
            </a:solidFill>
            <a:prstDash val="solid"/>
            <a:round/>
            <a:headEnd type="none" w="sm" len="sm"/>
            <a:tailEnd type="none" w="sm" len="sm"/>
          </a:ln>
        </p:spPr>
        <p:txBody>
          <a:bodyPr spcFirstLastPara="1" wrap="square" lIns="0" tIns="28425" rIns="0" bIns="0" anchor="t" anchorCtr="0">
            <a:noAutofit/>
          </a:bodyPr>
          <a:lstStyle/>
          <a:p>
            <a:pPr marL="295200" marR="0" lvl="0" indent="59040" algn="l" rtl="0">
              <a:lnSpc>
                <a:spcPct val="117000"/>
              </a:lnSpc>
              <a:spcBef>
                <a:spcPts val="0"/>
              </a:spcBef>
              <a:spcAft>
                <a:spcPts val="0"/>
              </a:spcAft>
              <a:buNone/>
            </a:pPr>
            <a:r>
              <a:rPr lang="en-US" sz="1400" b="0" i="0" u="none" strike="noStrike" cap="none">
                <a:solidFill>
                  <a:srgbClr val="000000"/>
                </a:solidFill>
                <a:latin typeface="Arial"/>
                <a:ea typeface="Arial"/>
                <a:cs typeface="Arial"/>
                <a:sym typeface="Arial"/>
              </a:rPr>
              <a:t>Server  Process</a:t>
            </a:r>
            <a:endParaRPr sz="1400" b="0" i="0" u="none" strike="noStrike" cap="none">
              <a:latin typeface="Arial"/>
              <a:ea typeface="Arial"/>
              <a:cs typeface="Arial"/>
              <a:sym typeface="Arial"/>
            </a:endParaRPr>
          </a:p>
        </p:txBody>
      </p:sp>
      <p:grpSp>
        <p:nvGrpSpPr>
          <p:cNvPr id="385" name="Google Shape;385;p29"/>
          <p:cNvGrpSpPr/>
          <p:nvPr/>
        </p:nvGrpSpPr>
        <p:grpSpPr>
          <a:xfrm>
            <a:off x="1160640" y="2585880"/>
            <a:ext cx="1386000" cy="572400"/>
            <a:chOff x="1160640" y="2585880"/>
            <a:chExt cx="1386000" cy="572400"/>
          </a:xfrm>
        </p:grpSpPr>
        <p:sp>
          <p:nvSpPr>
            <p:cNvPr id="386" name="Google Shape;386;p29"/>
            <p:cNvSpPr/>
            <p:nvPr/>
          </p:nvSpPr>
          <p:spPr>
            <a:xfrm>
              <a:off x="1160640" y="2585880"/>
              <a:ext cx="1386000" cy="572400"/>
            </a:xfrm>
            <a:custGeom>
              <a:avLst/>
              <a:gdLst/>
              <a:ahLst/>
              <a:cxnLst/>
              <a:rect l="l" t="t" r="r" b="b"/>
              <a:pathLst>
                <a:path w="1386205" h="572769" extrusionOk="0">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lstStyle/>
            <a:p>
              <a:endParaRPr lang="en-IN"/>
            </a:p>
          </p:txBody>
        </p:sp>
        <p:sp>
          <p:nvSpPr>
            <p:cNvPr id="387" name="Google Shape;387;p29"/>
            <p:cNvSpPr/>
            <p:nvPr/>
          </p:nvSpPr>
          <p:spPr>
            <a:xfrm>
              <a:off x="1160640" y="2585880"/>
              <a:ext cx="1386000" cy="572400"/>
            </a:xfrm>
            <a:custGeom>
              <a:avLst/>
              <a:gdLst/>
              <a:ahLst/>
              <a:cxnLst/>
              <a:rect l="l" t="t" r="r" b="b"/>
              <a:pathLst>
                <a:path w="1386205" h="572769" extrusionOk="0">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388" name="Google Shape;388;p29"/>
          <p:cNvSpPr/>
          <p:nvPr/>
        </p:nvSpPr>
        <p:spPr>
          <a:xfrm>
            <a:off x="1539720" y="2747880"/>
            <a:ext cx="627480" cy="22608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Client 1</a:t>
            </a:r>
            <a:endParaRPr sz="1400" b="0" i="0" u="none" strike="noStrike" cap="none">
              <a:latin typeface="Arial"/>
              <a:ea typeface="Arial"/>
              <a:cs typeface="Arial"/>
              <a:sym typeface="Arial"/>
            </a:endParaRPr>
          </a:p>
        </p:txBody>
      </p:sp>
      <p:sp>
        <p:nvSpPr>
          <p:cNvPr id="389" name="Google Shape;389;p29"/>
          <p:cNvSpPr/>
          <p:nvPr/>
        </p:nvSpPr>
        <p:spPr>
          <a:xfrm>
            <a:off x="3089160" y="2639520"/>
            <a:ext cx="115488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Connection Request</a:t>
            </a:r>
            <a:endParaRPr sz="1000" b="0" i="0" u="none" strike="noStrike" cap="none">
              <a:latin typeface="Arial"/>
              <a:ea typeface="Arial"/>
              <a:cs typeface="Arial"/>
              <a:sym typeface="Arial"/>
            </a:endParaRPr>
          </a:p>
        </p:txBody>
      </p:sp>
      <p:sp>
        <p:nvSpPr>
          <p:cNvPr id="390" name="Google Shape;390;p29"/>
          <p:cNvSpPr/>
          <p:nvPr/>
        </p:nvSpPr>
        <p:spPr>
          <a:xfrm>
            <a:off x="3089160" y="2944440"/>
            <a:ext cx="74916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IP:Port</a:t>
            </a:r>
            <a:endParaRPr sz="1000" b="0" i="0" u="none" strike="noStrike" cap="none">
              <a:latin typeface="Arial"/>
              <a:ea typeface="Arial"/>
              <a:cs typeface="Arial"/>
              <a:sym typeface="Arial"/>
            </a:endParaRPr>
          </a:p>
        </p:txBody>
      </p:sp>
      <p:grpSp>
        <p:nvGrpSpPr>
          <p:cNvPr id="391" name="Google Shape;391;p29"/>
          <p:cNvGrpSpPr/>
          <p:nvPr/>
        </p:nvGrpSpPr>
        <p:grpSpPr>
          <a:xfrm>
            <a:off x="5420520" y="2687760"/>
            <a:ext cx="920880" cy="338760"/>
            <a:chOff x="5420520" y="2687760"/>
            <a:chExt cx="920880" cy="338760"/>
          </a:xfrm>
        </p:grpSpPr>
        <p:sp>
          <p:nvSpPr>
            <p:cNvPr id="392" name="Google Shape;392;p29"/>
            <p:cNvSpPr/>
            <p:nvPr/>
          </p:nvSpPr>
          <p:spPr>
            <a:xfrm>
              <a:off x="5420520" y="2687760"/>
              <a:ext cx="920880" cy="338760"/>
            </a:xfrm>
            <a:custGeom>
              <a:avLst/>
              <a:gdLst/>
              <a:ahLst/>
              <a:cxnLst/>
              <a:rect l="l" t="t" r="r" b="b"/>
              <a:pathLst>
                <a:path w="921385" h="339089" extrusionOk="0">
                  <a:moveTo>
                    <a:pt x="836324" y="338699"/>
                  </a:moveTo>
                  <a:lnTo>
                    <a:pt x="0" y="338699"/>
                  </a:lnTo>
                  <a:lnTo>
                    <a:pt x="84674" y="0"/>
                  </a:lnTo>
                  <a:lnTo>
                    <a:pt x="920999" y="0"/>
                  </a:lnTo>
                  <a:lnTo>
                    <a:pt x="836324" y="338699"/>
                  </a:lnTo>
                  <a:close/>
                </a:path>
              </a:pathLst>
            </a:custGeom>
            <a:solidFill>
              <a:srgbClr val="EEEEEE"/>
            </a:solidFill>
            <a:ln>
              <a:noFill/>
            </a:ln>
          </p:spPr>
          <p:txBody>
            <a:bodyPr/>
            <a:lstStyle/>
            <a:p>
              <a:endParaRPr lang="en-IN"/>
            </a:p>
          </p:txBody>
        </p:sp>
        <p:sp>
          <p:nvSpPr>
            <p:cNvPr id="393" name="Google Shape;393;p29"/>
            <p:cNvSpPr/>
            <p:nvPr/>
          </p:nvSpPr>
          <p:spPr>
            <a:xfrm>
              <a:off x="5420520" y="268776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394" name="Google Shape;394;p29"/>
          <p:cNvSpPr/>
          <p:nvPr/>
        </p:nvSpPr>
        <p:spPr>
          <a:xfrm>
            <a:off x="5605560" y="2687040"/>
            <a:ext cx="533520" cy="31752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Arial"/>
                <a:ea typeface="Arial"/>
                <a:cs typeface="Arial"/>
                <a:sym typeface="Arial"/>
              </a:rPr>
              <a:t>Listening  Socket</a:t>
            </a:r>
            <a:endParaRPr sz="1000" b="0" i="0" u="none" strike="noStrike" cap="none">
              <a:latin typeface="Arial"/>
              <a:ea typeface="Arial"/>
              <a:cs typeface="Arial"/>
              <a:sym typeface="Arial"/>
            </a:endParaRPr>
          </a:p>
        </p:txBody>
      </p:sp>
      <p:grpSp>
        <p:nvGrpSpPr>
          <p:cNvPr id="395" name="Google Shape;395;p29"/>
          <p:cNvGrpSpPr/>
          <p:nvPr/>
        </p:nvGrpSpPr>
        <p:grpSpPr>
          <a:xfrm>
            <a:off x="2546280" y="2841480"/>
            <a:ext cx="4045320" cy="31320"/>
            <a:chOff x="2546280" y="2841480"/>
            <a:chExt cx="4045320" cy="31320"/>
          </a:xfrm>
        </p:grpSpPr>
        <p:sp>
          <p:nvSpPr>
            <p:cNvPr id="396" name="Google Shape;396;p29"/>
            <p:cNvSpPr/>
            <p:nvPr/>
          </p:nvSpPr>
          <p:spPr>
            <a:xfrm>
              <a:off x="2546280" y="2857320"/>
              <a:ext cx="2859840" cy="14760"/>
            </a:xfrm>
            <a:custGeom>
              <a:avLst/>
              <a:gdLst/>
              <a:ahLst/>
              <a:cxnLst/>
              <a:rect l="l" t="t" r="r" b="b"/>
              <a:pathLst>
                <a:path w="2860040" h="15239" extrusionOk="0">
                  <a:moveTo>
                    <a:pt x="0" y="15000"/>
                  </a:moveTo>
                  <a:lnTo>
                    <a:pt x="285945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397" name="Google Shape;397;p29"/>
            <p:cNvSpPr/>
            <p:nvPr/>
          </p:nvSpPr>
          <p:spPr>
            <a:xfrm>
              <a:off x="5405760" y="2841480"/>
              <a:ext cx="43560" cy="31320"/>
            </a:xfrm>
            <a:custGeom>
              <a:avLst/>
              <a:gdLst/>
              <a:ahLst/>
              <a:cxnLst/>
              <a:rect l="l" t="t" r="r" b="b"/>
              <a:pathLst>
                <a:path w="43814" h="31750" extrusionOk="0">
                  <a:moveTo>
                    <a:pt x="164" y="31465"/>
                  </a:moveTo>
                  <a:lnTo>
                    <a:pt x="0" y="0"/>
                  </a:lnTo>
                  <a:lnTo>
                    <a:pt x="43307" y="15505"/>
                  </a:lnTo>
                  <a:lnTo>
                    <a:pt x="164" y="31465"/>
                  </a:lnTo>
                  <a:close/>
                </a:path>
              </a:pathLst>
            </a:custGeom>
            <a:solidFill>
              <a:srgbClr val="595959"/>
            </a:solidFill>
            <a:ln>
              <a:noFill/>
            </a:ln>
          </p:spPr>
          <p:txBody>
            <a:bodyPr/>
            <a:lstStyle/>
            <a:p>
              <a:endParaRPr lang="en-IN"/>
            </a:p>
          </p:txBody>
        </p:sp>
        <p:sp>
          <p:nvSpPr>
            <p:cNvPr id="398" name="Google Shape;398;p29"/>
            <p:cNvSpPr/>
            <p:nvPr/>
          </p:nvSpPr>
          <p:spPr>
            <a:xfrm>
              <a:off x="5405760" y="2841480"/>
              <a:ext cx="43560" cy="31320"/>
            </a:xfrm>
            <a:custGeom>
              <a:avLst/>
              <a:gdLst/>
              <a:ahLst/>
              <a:cxnLst/>
              <a:rect l="l" t="t" r="r" b="b"/>
              <a:pathLst>
                <a:path w="43814" h="31750" extrusionOk="0">
                  <a:moveTo>
                    <a:pt x="164" y="31465"/>
                  </a:moveTo>
                  <a:lnTo>
                    <a:pt x="43307" y="15505"/>
                  </a:lnTo>
                  <a:lnTo>
                    <a:pt x="0" y="0"/>
                  </a:lnTo>
                  <a:lnTo>
                    <a:pt x="164" y="31465"/>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399" name="Google Shape;399;p29"/>
            <p:cNvSpPr/>
            <p:nvPr/>
          </p:nvSpPr>
          <p:spPr>
            <a:xfrm>
              <a:off x="6356520" y="2856960"/>
              <a:ext cx="235080" cy="360"/>
            </a:xfrm>
            <a:custGeom>
              <a:avLst/>
              <a:gdLst/>
              <a:ahLst/>
              <a:cxnLst/>
              <a:rect l="l" t="t" r="r" b="b"/>
              <a:pathLst>
                <a:path w="235584" h="120000" extrusionOk="0">
                  <a:moveTo>
                    <a:pt x="235349" y="0"/>
                  </a:moveTo>
                  <a:lnTo>
                    <a:pt x="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00" name="Google Shape;400;p29"/>
            <p:cNvSpPr/>
            <p:nvPr/>
          </p:nvSpPr>
          <p:spPr>
            <a:xfrm>
              <a:off x="6313320" y="284148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401" name="Google Shape;401;p29"/>
            <p:cNvSpPr/>
            <p:nvPr/>
          </p:nvSpPr>
          <p:spPr>
            <a:xfrm>
              <a:off x="6313320" y="284148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grpSp>
        <p:nvGrpSpPr>
          <p:cNvPr id="406" name="Google Shape;406;p30"/>
          <p:cNvGrpSpPr/>
          <p:nvPr/>
        </p:nvGrpSpPr>
        <p:grpSpPr>
          <a:xfrm>
            <a:off x="1160640" y="2585880"/>
            <a:ext cx="1386000" cy="572400"/>
            <a:chOff x="1160640" y="2585880"/>
            <a:chExt cx="1386000" cy="572400"/>
          </a:xfrm>
        </p:grpSpPr>
        <p:sp>
          <p:nvSpPr>
            <p:cNvPr id="407" name="Google Shape;407;p30"/>
            <p:cNvSpPr/>
            <p:nvPr/>
          </p:nvSpPr>
          <p:spPr>
            <a:xfrm>
              <a:off x="1160640" y="2585880"/>
              <a:ext cx="1386000" cy="572400"/>
            </a:xfrm>
            <a:custGeom>
              <a:avLst/>
              <a:gdLst/>
              <a:ahLst/>
              <a:cxnLst/>
              <a:rect l="l" t="t" r="r" b="b"/>
              <a:pathLst>
                <a:path w="1386205" h="572769" extrusionOk="0">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lstStyle/>
            <a:p>
              <a:endParaRPr lang="en-IN"/>
            </a:p>
          </p:txBody>
        </p:sp>
        <p:sp>
          <p:nvSpPr>
            <p:cNvPr id="408" name="Google Shape;408;p30"/>
            <p:cNvSpPr/>
            <p:nvPr/>
          </p:nvSpPr>
          <p:spPr>
            <a:xfrm>
              <a:off x="1160640" y="2585880"/>
              <a:ext cx="1386000" cy="572400"/>
            </a:xfrm>
            <a:custGeom>
              <a:avLst/>
              <a:gdLst/>
              <a:ahLst/>
              <a:cxnLst/>
              <a:rect l="l" t="t" r="r" b="b"/>
              <a:pathLst>
                <a:path w="1386205" h="572769" extrusionOk="0">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409" name="Google Shape;409;p30"/>
          <p:cNvSpPr/>
          <p:nvPr/>
        </p:nvSpPr>
        <p:spPr>
          <a:xfrm>
            <a:off x="1539720" y="2747880"/>
            <a:ext cx="627480" cy="22608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Client 1</a:t>
            </a:r>
            <a:endParaRPr sz="1400" b="0" i="0" u="none" strike="noStrike" cap="none">
              <a:latin typeface="Arial"/>
              <a:ea typeface="Arial"/>
              <a:cs typeface="Arial"/>
              <a:sym typeface="Arial"/>
            </a:endParaRPr>
          </a:p>
        </p:txBody>
      </p:sp>
      <p:sp>
        <p:nvSpPr>
          <p:cNvPr id="410" name="Google Shape;410;p30"/>
          <p:cNvSpPr/>
          <p:nvPr/>
        </p:nvSpPr>
        <p:spPr>
          <a:xfrm>
            <a:off x="3463920" y="3039120"/>
            <a:ext cx="66672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Connection</a:t>
            </a:r>
            <a:endParaRPr sz="1000" b="0" i="0" u="none" strike="noStrike" cap="none">
              <a:latin typeface="Arial"/>
              <a:ea typeface="Arial"/>
              <a:cs typeface="Arial"/>
              <a:sym typeface="Arial"/>
            </a:endParaRPr>
          </a:p>
        </p:txBody>
      </p:sp>
      <p:grpSp>
        <p:nvGrpSpPr>
          <p:cNvPr id="411" name="Google Shape;411;p30"/>
          <p:cNvGrpSpPr/>
          <p:nvPr/>
        </p:nvGrpSpPr>
        <p:grpSpPr>
          <a:xfrm>
            <a:off x="5241240" y="2457720"/>
            <a:ext cx="3007800" cy="813600"/>
            <a:chOff x="5241240" y="2457720"/>
            <a:chExt cx="3007800" cy="813600"/>
          </a:xfrm>
        </p:grpSpPr>
        <p:sp>
          <p:nvSpPr>
            <p:cNvPr id="412" name="Google Shape;412;p30"/>
            <p:cNvSpPr/>
            <p:nvPr/>
          </p:nvSpPr>
          <p:spPr>
            <a:xfrm>
              <a:off x="5241240" y="2457720"/>
              <a:ext cx="3007800" cy="813600"/>
            </a:xfrm>
            <a:custGeom>
              <a:avLst/>
              <a:gdLst/>
              <a:ahLst/>
              <a:cxnLst/>
              <a:rect l="l" t="t" r="r" b="b"/>
              <a:pathLst>
                <a:path w="3007995" h="1394460" extrusionOk="0">
                  <a:moveTo>
                    <a:pt x="2775394" y="1394399"/>
                  </a:move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close/>
                </a:path>
              </a:pathLst>
            </a:custGeom>
            <a:solidFill>
              <a:srgbClr val="EEEEEE"/>
            </a:solidFill>
            <a:ln>
              <a:noFill/>
            </a:ln>
          </p:spPr>
          <p:txBody>
            <a:bodyPr/>
            <a:lstStyle/>
            <a:p>
              <a:endParaRPr lang="en-IN"/>
            </a:p>
          </p:txBody>
        </p:sp>
        <p:sp>
          <p:nvSpPr>
            <p:cNvPr id="413" name="Google Shape;413;p30"/>
            <p:cNvSpPr/>
            <p:nvPr/>
          </p:nvSpPr>
          <p:spPr>
            <a:xfrm>
              <a:off x="5241240" y="2457720"/>
              <a:ext cx="3007800" cy="813600"/>
            </a:xfrm>
            <a:custGeom>
              <a:avLst/>
              <a:gdLst/>
              <a:ahLst/>
              <a:cxnLst/>
              <a:rect l="l" t="t" r="r" b="b"/>
              <a:pathLst>
                <a:path w="3007995" h="1394460" extrusionOk="0">
                  <a:moveTo>
                    <a:pt x="0" y="232404"/>
                  </a:move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14" name="Google Shape;414;p30"/>
            <p:cNvSpPr/>
            <p:nvPr/>
          </p:nvSpPr>
          <p:spPr>
            <a:xfrm>
              <a:off x="6632640" y="2541960"/>
              <a:ext cx="1233360" cy="274320"/>
            </a:xfrm>
            <a:custGeom>
              <a:avLst/>
              <a:gdLst/>
              <a:ahLst/>
              <a:cxnLst/>
              <a:rect l="l" t="t" r="r" b="b"/>
              <a:pathLst>
                <a:path w="1233804" h="470535" extrusionOk="0">
                  <a:moveTo>
                    <a:pt x="1233599" y="470099"/>
                  </a:moveTo>
                  <a:lnTo>
                    <a:pt x="0" y="470099"/>
                  </a:lnTo>
                  <a:lnTo>
                    <a:pt x="0" y="0"/>
                  </a:lnTo>
                  <a:lnTo>
                    <a:pt x="1233599" y="0"/>
                  </a:lnTo>
                  <a:lnTo>
                    <a:pt x="1233599" y="470099"/>
                  </a:lnTo>
                  <a:close/>
                </a:path>
              </a:pathLst>
            </a:custGeom>
            <a:solidFill>
              <a:srgbClr val="EEEEEE"/>
            </a:solidFill>
            <a:ln>
              <a:noFill/>
            </a:ln>
          </p:spPr>
          <p:txBody>
            <a:bodyPr/>
            <a:lstStyle/>
            <a:p>
              <a:endParaRPr lang="en-IN"/>
            </a:p>
          </p:txBody>
        </p:sp>
      </p:grpSp>
      <p:sp>
        <p:nvSpPr>
          <p:cNvPr id="415" name="Google Shape;415;p30"/>
          <p:cNvSpPr/>
          <p:nvPr/>
        </p:nvSpPr>
        <p:spPr>
          <a:xfrm>
            <a:off x="6632640" y="2624040"/>
            <a:ext cx="1233720" cy="526320"/>
          </a:xfrm>
          <a:prstGeom prst="rect">
            <a:avLst/>
          </a:prstGeom>
          <a:noFill/>
          <a:ln w="9525" cap="flat" cmpd="sng">
            <a:solidFill>
              <a:srgbClr val="595959"/>
            </a:solidFill>
            <a:prstDash val="solid"/>
            <a:round/>
            <a:headEnd type="none" w="sm" len="sm"/>
            <a:tailEnd type="none" w="sm" len="sm"/>
          </a:ln>
        </p:spPr>
        <p:txBody>
          <a:bodyPr spcFirstLastPara="1" wrap="square" lIns="0" tIns="28425" rIns="0" bIns="0" anchor="t" anchorCtr="0">
            <a:noAutofit/>
          </a:bodyPr>
          <a:lstStyle/>
          <a:p>
            <a:pPr marL="295200" marR="0" lvl="0" indent="59040" algn="l" rtl="0">
              <a:lnSpc>
                <a:spcPct val="117000"/>
              </a:lnSpc>
              <a:spcBef>
                <a:spcPts val="0"/>
              </a:spcBef>
              <a:spcAft>
                <a:spcPts val="0"/>
              </a:spcAft>
              <a:buNone/>
            </a:pPr>
            <a:r>
              <a:rPr lang="en-US" sz="1400" b="0" i="0" u="none" strike="noStrike" cap="none">
                <a:solidFill>
                  <a:srgbClr val="000000"/>
                </a:solidFill>
                <a:latin typeface="Arial"/>
                <a:ea typeface="Arial"/>
                <a:cs typeface="Arial"/>
                <a:sym typeface="Arial"/>
              </a:rPr>
              <a:t>Server  Process</a:t>
            </a:r>
            <a:endParaRPr sz="1400" b="0" i="0" u="none" strike="noStrike" cap="none">
              <a:latin typeface="Arial"/>
              <a:ea typeface="Arial"/>
              <a:cs typeface="Arial"/>
              <a:sym typeface="Arial"/>
            </a:endParaRPr>
          </a:p>
        </p:txBody>
      </p:sp>
      <p:sp>
        <p:nvSpPr>
          <p:cNvPr id="416" name="Google Shape;416;p30"/>
          <p:cNvSpPr/>
          <p:nvPr/>
        </p:nvSpPr>
        <p:spPr>
          <a:xfrm>
            <a:off x="5461560" y="278064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17" name="Google Shape;417;p30"/>
          <p:cNvSpPr/>
          <p:nvPr/>
        </p:nvSpPr>
        <p:spPr>
          <a:xfrm>
            <a:off x="5663880" y="2809440"/>
            <a:ext cx="516600" cy="256680"/>
          </a:xfrm>
          <a:prstGeom prst="rect">
            <a:avLst/>
          </a:prstGeom>
          <a:noFill/>
          <a:ln>
            <a:noFill/>
          </a:ln>
        </p:spPr>
        <p:txBody>
          <a:bodyPr spcFirstLastPara="1" wrap="square" lIns="0" tIns="10800" rIns="0" bIns="0" anchor="t" anchorCtr="0">
            <a:noAutofit/>
          </a:bodyPr>
          <a:lstStyle/>
          <a:p>
            <a:pPr marL="102959" marR="0" lvl="0" indent="-90359" algn="l" rtl="0">
              <a:lnSpc>
                <a:spcPct val="101000"/>
              </a:lnSpc>
              <a:spcBef>
                <a:spcPts val="0"/>
              </a:spcBef>
              <a:spcAft>
                <a:spcPts val="0"/>
              </a:spcAft>
              <a:buNone/>
            </a:pPr>
            <a:r>
              <a:rPr lang="en-US" sz="800" b="0" i="0" u="none" strike="noStrike" cap="none">
                <a:solidFill>
                  <a:srgbClr val="000000"/>
                </a:solidFill>
                <a:latin typeface="Arial"/>
                <a:ea typeface="Arial"/>
                <a:cs typeface="Arial"/>
                <a:sym typeface="Arial"/>
              </a:rPr>
              <a:t>Connected  Socket</a:t>
            </a:r>
            <a:endParaRPr sz="800" b="0" i="0" u="none" strike="noStrike" cap="none">
              <a:latin typeface="Arial"/>
              <a:ea typeface="Arial"/>
              <a:cs typeface="Arial"/>
              <a:sym typeface="Arial"/>
            </a:endParaRPr>
          </a:p>
        </p:txBody>
      </p:sp>
      <p:sp>
        <p:nvSpPr>
          <p:cNvPr id="418" name="Google Shape;418;p30"/>
          <p:cNvSpPr/>
          <p:nvPr/>
        </p:nvSpPr>
        <p:spPr>
          <a:xfrm>
            <a:off x="2603160" y="2876400"/>
            <a:ext cx="2907720" cy="31320"/>
          </a:xfrm>
          <a:custGeom>
            <a:avLst/>
            <a:gdLst/>
            <a:ahLst/>
            <a:cxnLst/>
            <a:rect l="l" t="t" r="r" b="b"/>
            <a:pathLst>
              <a:path w="2900679" h="226060" extrusionOk="0">
                <a:moveTo>
                  <a:pt x="2900422" y="225666"/>
                </a:moveTo>
                <a:lnTo>
                  <a:pt x="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19" name="Google Shape;419;p30"/>
          <p:cNvSpPr/>
          <p:nvPr/>
        </p:nvSpPr>
        <p:spPr>
          <a:xfrm>
            <a:off x="2560320" y="2860920"/>
            <a:ext cx="43920" cy="31320"/>
          </a:xfrm>
          <a:custGeom>
            <a:avLst/>
            <a:gdLst/>
            <a:ahLst/>
            <a:cxnLst/>
            <a:rect l="l" t="t" r="r" b="b"/>
            <a:pathLst>
              <a:path w="44450" h="31750" extrusionOk="0">
                <a:moveTo>
                  <a:pt x="41874" y="31370"/>
                </a:moveTo>
                <a:lnTo>
                  <a:pt x="0" y="12332"/>
                </a:lnTo>
                <a:lnTo>
                  <a:pt x="44315" y="0"/>
                </a:lnTo>
                <a:lnTo>
                  <a:pt x="41874" y="31370"/>
                </a:lnTo>
                <a:close/>
              </a:path>
            </a:pathLst>
          </a:custGeom>
          <a:solidFill>
            <a:srgbClr val="595959"/>
          </a:solidFill>
          <a:ln>
            <a:noFill/>
          </a:ln>
        </p:spPr>
        <p:txBody>
          <a:bodyPr/>
          <a:lstStyle/>
          <a:p>
            <a:endParaRPr lang="en-IN"/>
          </a:p>
        </p:txBody>
      </p:sp>
      <p:sp>
        <p:nvSpPr>
          <p:cNvPr id="420" name="Google Shape;420;p30"/>
          <p:cNvSpPr/>
          <p:nvPr/>
        </p:nvSpPr>
        <p:spPr>
          <a:xfrm>
            <a:off x="2560320" y="2860920"/>
            <a:ext cx="43920" cy="31320"/>
          </a:xfrm>
          <a:custGeom>
            <a:avLst/>
            <a:gdLst/>
            <a:ahLst/>
            <a:cxnLst/>
            <a:rect l="l" t="t" r="r" b="b"/>
            <a:pathLst>
              <a:path w="44450" h="31750" extrusionOk="0">
                <a:moveTo>
                  <a:pt x="44315" y="0"/>
                </a:moveTo>
                <a:lnTo>
                  <a:pt x="0" y="12332"/>
                </a:lnTo>
                <a:lnTo>
                  <a:pt x="41874" y="31370"/>
                </a:lnTo>
                <a:lnTo>
                  <a:pt x="44315" y="0"/>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21" name="Google Shape;421;p30"/>
          <p:cNvSpPr txBox="1"/>
          <p:nvPr/>
        </p:nvSpPr>
        <p:spPr>
          <a:xfrm>
            <a:off x="362880" y="228240"/>
            <a:ext cx="475200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800" b="0" i="0" u="none" strike="noStrike" cap="none">
                <a:solidFill>
                  <a:srgbClr val="434343"/>
                </a:solidFill>
                <a:latin typeface="Trebuchet MS"/>
                <a:ea typeface="Trebuchet MS"/>
                <a:cs typeface="Trebuchet MS"/>
                <a:sym typeface="Trebuchet MS"/>
              </a:rPr>
              <a:t>Single threaded TCP server</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1"/>
          <p:cNvSpPr txBox="1"/>
          <p:nvPr/>
        </p:nvSpPr>
        <p:spPr>
          <a:xfrm>
            <a:off x="362880" y="228240"/>
            <a:ext cx="475200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800" b="0" i="0" u="none" strike="noStrike" cap="none">
                <a:solidFill>
                  <a:srgbClr val="434343"/>
                </a:solidFill>
                <a:latin typeface="Trebuchet MS"/>
                <a:ea typeface="Trebuchet MS"/>
                <a:cs typeface="Trebuchet MS"/>
                <a:sym typeface="Trebuchet MS"/>
              </a:rPr>
              <a:t>Multi threaded TCP server</a:t>
            </a:r>
            <a:endParaRPr sz="2800" b="0" i="0" u="none" strike="noStrike" cap="none">
              <a:solidFill>
                <a:srgbClr val="000000"/>
              </a:solidFill>
              <a:latin typeface="Arial"/>
              <a:ea typeface="Arial"/>
              <a:cs typeface="Arial"/>
              <a:sym typeface="Arial"/>
            </a:endParaRPr>
          </a:p>
        </p:txBody>
      </p:sp>
      <p:grpSp>
        <p:nvGrpSpPr>
          <p:cNvPr id="427" name="Google Shape;427;p31"/>
          <p:cNvGrpSpPr/>
          <p:nvPr/>
        </p:nvGrpSpPr>
        <p:grpSpPr>
          <a:xfrm>
            <a:off x="5200560" y="2477880"/>
            <a:ext cx="3007800" cy="757800"/>
            <a:chOff x="5200560" y="2477880"/>
            <a:chExt cx="3007800" cy="757800"/>
          </a:xfrm>
        </p:grpSpPr>
        <p:sp>
          <p:nvSpPr>
            <p:cNvPr id="428" name="Google Shape;428;p31"/>
            <p:cNvSpPr/>
            <p:nvPr/>
          </p:nvSpPr>
          <p:spPr>
            <a:xfrm>
              <a:off x="5200560" y="2477880"/>
              <a:ext cx="3007800" cy="757800"/>
            </a:xfrm>
            <a:custGeom>
              <a:avLst/>
              <a:gdLst/>
              <a:ahLst/>
              <a:cxnLst/>
              <a:rect l="l" t="t" r="r" b="b"/>
              <a:pathLst>
                <a:path w="3007995" h="758189" extrusionOk="0">
                  <a:moveTo>
                    <a:pt x="2881447" y="758099"/>
                  </a:moveTo>
                  <a:lnTo>
                    <a:pt x="126352" y="758099"/>
                  </a:lnTo>
                  <a:lnTo>
                    <a:pt x="77170" y="748170"/>
                  </a:lnTo>
                  <a:lnTo>
                    <a:pt x="37007" y="721092"/>
                  </a:lnTo>
                  <a:lnTo>
                    <a:pt x="9929" y="680929"/>
                  </a:lnTo>
                  <a:lnTo>
                    <a:pt x="0" y="631747"/>
                  </a:lnTo>
                  <a:lnTo>
                    <a:pt x="0" y="126352"/>
                  </a:ln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close/>
                </a:path>
              </a:pathLst>
            </a:custGeom>
            <a:solidFill>
              <a:srgbClr val="EEEEEE"/>
            </a:solidFill>
            <a:ln>
              <a:noFill/>
            </a:ln>
          </p:spPr>
          <p:txBody>
            <a:bodyPr/>
            <a:lstStyle/>
            <a:p>
              <a:endParaRPr lang="en-IN"/>
            </a:p>
          </p:txBody>
        </p:sp>
        <p:sp>
          <p:nvSpPr>
            <p:cNvPr id="429" name="Google Shape;429;p31"/>
            <p:cNvSpPr/>
            <p:nvPr/>
          </p:nvSpPr>
          <p:spPr>
            <a:xfrm>
              <a:off x="5200560" y="2477880"/>
              <a:ext cx="3007800" cy="757800"/>
            </a:xfrm>
            <a:custGeom>
              <a:avLst/>
              <a:gdLst/>
              <a:ahLst/>
              <a:cxnLst/>
              <a:rect l="l" t="t" r="r" b="b"/>
              <a:pathLst>
                <a:path w="3007995" h="758189" extrusionOk="0">
                  <a:moveTo>
                    <a:pt x="0" y="126352"/>
                  </a:move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lnTo>
                    <a:pt x="126352" y="758099"/>
                  </a:lnTo>
                  <a:lnTo>
                    <a:pt x="77170" y="748170"/>
                  </a:lnTo>
                  <a:lnTo>
                    <a:pt x="37007" y="721092"/>
                  </a:lnTo>
                  <a:lnTo>
                    <a:pt x="9929" y="680929"/>
                  </a:lnTo>
                  <a:lnTo>
                    <a:pt x="0" y="631747"/>
                  </a:lnTo>
                  <a:lnTo>
                    <a:pt x="0" y="126352"/>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30" name="Google Shape;430;p31"/>
            <p:cNvSpPr/>
            <p:nvPr/>
          </p:nvSpPr>
          <p:spPr>
            <a:xfrm>
              <a:off x="6591960" y="2621880"/>
              <a:ext cx="1233360" cy="470160"/>
            </a:xfrm>
            <a:custGeom>
              <a:avLst/>
              <a:gdLst/>
              <a:ahLst/>
              <a:cxnLst/>
              <a:rect l="l" t="t" r="r" b="b"/>
              <a:pathLst>
                <a:path w="1233804" h="470535" extrusionOk="0">
                  <a:moveTo>
                    <a:pt x="1233599" y="470099"/>
                  </a:moveTo>
                  <a:lnTo>
                    <a:pt x="0" y="470099"/>
                  </a:lnTo>
                  <a:lnTo>
                    <a:pt x="0" y="0"/>
                  </a:lnTo>
                  <a:lnTo>
                    <a:pt x="1233599" y="0"/>
                  </a:lnTo>
                  <a:lnTo>
                    <a:pt x="1233599" y="470099"/>
                  </a:lnTo>
                  <a:close/>
                </a:path>
              </a:pathLst>
            </a:custGeom>
            <a:solidFill>
              <a:srgbClr val="EEEEEE"/>
            </a:solidFill>
            <a:ln>
              <a:noFill/>
            </a:ln>
          </p:spPr>
          <p:txBody>
            <a:bodyPr/>
            <a:lstStyle/>
            <a:p>
              <a:endParaRPr lang="en-IN"/>
            </a:p>
          </p:txBody>
        </p:sp>
      </p:grpSp>
      <p:sp>
        <p:nvSpPr>
          <p:cNvPr id="431" name="Google Shape;431;p31"/>
          <p:cNvSpPr/>
          <p:nvPr/>
        </p:nvSpPr>
        <p:spPr>
          <a:xfrm>
            <a:off x="6591960" y="2621880"/>
            <a:ext cx="1233720" cy="526320"/>
          </a:xfrm>
          <a:prstGeom prst="rect">
            <a:avLst/>
          </a:prstGeom>
          <a:noFill/>
          <a:ln w="9525" cap="flat" cmpd="sng">
            <a:solidFill>
              <a:srgbClr val="595959"/>
            </a:solidFill>
            <a:prstDash val="solid"/>
            <a:round/>
            <a:headEnd type="none" w="sm" len="sm"/>
            <a:tailEnd type="none" w="sm" len="sm"/>
          </a:ln>
        </p:spPr>
        <p:txBody>
          <a:bodyPr spcFirstLastPara="1" wrap="square" lIns="0" tIns="28425" rIns="0" bIns="0" anchor="t" anchorCtr="0">
            <a:noAutofit/>
          </a:bodyPr>
          <a:lstStyle/>
          <a:p>
            <a:pPr marL="295200" marR="0" lvl="0" indent="59040" algn="l" rtl="0">
              <a:lnSpc>
                <a:spcPct val="117000"/>
              </a:lnSpc>
              <a:spcBef>
                <a:spcPts val="0"/>
              </a:spcBef>
              <a:spcAft>
                <a:spcPts val="0"/>
              </a:spcAft>
              <a:buNone/>
            </a:pPr>
            <a:r>
              <a:rPr lang="en-US" sz="1400" b="0" i="0" u="none" strike="noStrike" cap="none">
                <a:solidFill>
                  <a:srgbClr val="000000"/>
                </a:solidFill>
                <a:latin typeface="Arial"/>
                <a:ea typeface="Arial"/>
                <a:cs typeface="Arial"/>
                <a:sym typeface="Arial"/>
              </a:rPr>
              <a:t>Server  Process</a:t>
            </a:r>
            <a:endParaRPr sz="1400" b="0" i="0" u="none" strike="noStrike" cap="none">
              <a:latin typeface="Arial"/>
              <a:ea typeface="Arial"/>
              <a:cs typeface="Arial"/>
              <a:sym typeface="Arial"/>
            </a:endParaRPr>
          </a:p>
        </p:txBody>
      </p:sp>
      <p:grpSp>
        <p:nvGrpSpPr>
          <p:cNvPr id="432" name="Google Shape;432;p31"/>
          <p:cNvGrpSpPr/>
          <p:nvPr/>
        </p:nvGrpSpPr>
        <p:grpSpPr>
          <a:xfrm>
            <a:off x="1160640" y="2585880"/>
            <a:ext cx="1386000" cy="572400"/>
            <a:chOff x="1160640" y="2585880"/>
            <a:chExt cx="1386000" cy="572400"/>
          </a:xfrm>
        </p:grpSpPr>
        <p:sp>
          <p:nvSpPr>
            <p:cNvPr id="433" name="Google Shape;433;p31"/>
            <p:cNvSpPr/>
            <p:nvPr/>
          </p:nvSpPr>
          <p:spPr>
            <a:xfrm>
              <a:off x="1160640" y="2585880"/>
              <a:ext cx="1386000" cy="572400"/>
            </a:xfrm>
            <a:custGeom>
              <a:avLst/>
              <a:gdLst/>
              <a:ahLst/>
              <a:cxnLst/>
              <a:rect l="l" t="t" r="r" b="b"/>
              <a:pathLst>
                <a:path w="1386205" h="572769" extrusionOk="0">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lstStyle/>
            <a:p>
              <a:endParaRPr lang="en-IN"/>
            </a:p>
          </p:txBody>
        </p:sp>
        <p:sp>
          <p:nvSpPr>
            <p:cNvPr id="434" name="Google Shape;434;p31"/>
            <p:cNvSpPr/>
            <p:nvPr/>
          </p:nvSpPr>
          <p:spPr>
            <a:xfrm>
              <a:off x="1160640" y="2585880"/>
              <a:ext cx="1386000" cy="572400"/>
            </a:xfrm>
            <a:custGeom>
              <a:avLst/>
              <a:gdLst/>
              <a:ahLst/>
              <a:cxnLst/>
              <a:rect l="l" t="t" r="r" b="b"/>
              <a:pathLst>
                <a:path w="1386205" h="572769" extrusionOk="0">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435" name="Google Shape;435;p31"/>
          <p:cNvSpPr/>
          <p:nvPr/>
        </p:nvSpPr>
        <p:spPr>
          <a:xfrm>
            <a:off x="1539720" y="2747880"/>
            <a:ext cx="627480" cy="22608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Client 1</a:t>
            </a:r>
            <a:endParaRPr sz="1400" b="0" i="0" u="none" strike="noStrike" cap="none">
              <a:latin typeface="Arial"/>
              <a:ea typeface="Arial"/>
              <a:cs typeface="Arial"/>
              <a:sym typeface="Arial"/>
            </a:endParaRPr>
          </a:p>
        </p:txBody>
      </p:sp>
      <p:sp>
        <p:nvSpPr>
          <p:cNvPr id="436" name="Google Shape;436;p31"/>
          <p:cNvSpPr/>
          <p:nvPr/>
        </p:nvSpPr>
        <p:spPr>
          <a:xfrm>
            <a:off x="3089160" y="2639520"/>
            <a:ext cx="115452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Connection Request</a:t>
            </a:r>
            <a:endParaRPr sz="1000" b="0" i="0" u="none" strike="noStrike" cap="none">
              <a:latin typeface="Arial"/>
              <a:ea typeface="Arial"/>
              <a:cs typeface="Arial"/>
              <a:sym typeface="Arial"/>
            </a:endParaRPr>
          </a:p>
        </p:txBody>
      </p:sp>
      <p:sp>
        <p:nvSpPr>
          <p:cNvPr id="437" name="Google Shape;437;p31"/>
          <p:cNvSpPr/>
          <p:nvPr/>
        </p:nvSpPr>
        <p:spPr>
          <a:xfrm>
            <a:off x="3089160" y="2944440"/>
            <a:ext cx="62748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IP:Port</a:t>
            </a:r>
            <a:endParaRPr sz="1000" b="0" i="0" u="none" strike="noStrike" cap="none">
              <a:latin typeface="Arial"/>
              <a:ea typeface="Arial"/>
              <a:cs typeface="Arial"/>
              <a:sym typeface="Arial"/>
            </a:endParaRPr>
          </a:p>
        </p:txBody>
      </p:sp>
      <p:grpSp>
        <p:nvGrpSpPr>
          <p:cNvPr id="438" name="Google Shape;438;p31"/>
          <p:cNvGrpSpPr/>
          <p:nvPr/>
        </p:nvGrpSpPr>
        <p:grpSpPr>
          <a:xfrm>
            <a:off x="5420520" y="2687760"/>
            <a:ext cx="920880" cy="338760"/>
            <a:chOff x="5420520" y="2687760"/>
            <a:chExt cx="920880" cy="338760"/>
          </a:xfrm>
        </p:grpSpPr>
        <p:sp>
          <p:nvSpPr>
            <p:cNvPr id="439" name="Google Shape;439;p31"/>
            <p:cNvSpPr/>
            <p:nvPr/>
          </p:nvSpPr>
          <p:spPr>
            <a:xfrm>
              <a:off x="5420520" y="2687760"/>
              <a:ext cx="920880" cy="338760"/>
            </a:xfrm>
            <a:custGeom>
              <a:avLst/>
              <a:gdLst/>
              <a:ahLst/>
              <a:cxnLst/>
              <a:rect l="l" t="t" r="r" b="b"/>
              <a:pathLst>
                <a:path w="921385" h="339089" extrusionOk="0">
                  <a:moveTo>
                    <a:pt x="836324" y="338699"/>
                  </a:moveTo>
                  <a:lnTo>
                    <a:pt x="0" y="338699"/>
                  </a:lnTo>
                  <a:lnTo>
                    <a:pt x="84674" y="0"/>
                  </a:lnTo>
                  <a:lnTo>
                    <a:pt x="920999" y="0"/>
                  </a:lnTo>
                  <a:lnTo>
                    <a:pt x="836324" y="338699"/>
                  </a:lnTo>
                  <a:close/>
                </a:path>
              </a:pathLst>
            </a:custGeom>
            <a:solidFill>
              <a:srgbClr val="EEEEEE"/>
            </a:solidFill>
            <a:ln>
              <a:noFill/>
            </a:ln>
          </p:spPr>
          <p:txBody>
            <a:bodyPr/>
            <a:lstStyle/>
            <a:p>
              <a:endParaRPr lang="en-IN"/>
            </a:p>
          </p:txBody>
        </p:sp>
        <p:sp>
          <p:nvSpPr>
            <p:cNvPr id="440" name="Google Shape;440;p31"/>
            <p:cNvSpPr/>
            <p:nvPr/>
          </p:nvSpPr>
          <p:spPr>
            <a:xfrm>
              <a:off x="5420520" y="268776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441" name="Google Shape;441;p31"/>
          <p:cNvSpPr/>
          <p:nvPr/>
        </p:nvSpPr>
        <p:spPr>
          <a:xfrm>
            <a:off x="5605560" y="2687040"/>
            <a:ext cx="533520" cy="31752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Arial"/>
                <a:ea typeface="Arial"/>
                <a:cs typeface="Arial"/>
                <a:sym typeface="Arial"/>
              </a:rPr>
              <a:t>Listening  Socket</a:t>
            </a:r>
            <a:endParaRPr sz="1000" b="0" i="0" u="none" strike="noStrike" cap="none">
              <a:latin typeface="Arial"/>
              <a:ea typeface="Arial"/>
              <a:cs typeface="Arial"/>
              <a:sym typeface="Arial"/>
            </a:endParaRPr>
          </a:p>
        </p:txBody>
      </p:sp>
      <p:grpSp>
        <p:nvGrpSpPr>
          <p:cNvPr id="442" name="Google Shape;442;p31"/>
          <p:cNvGrpSpPr/>
          <p:nvPr/>
        </p:nvGrpSpPr>
        <p:grpSpPr>
          <a:xfrm>
            <a:off x="2546280" y="2841480"/>
            <a:ext cx="4045320" cy="31320"/>
            <a:chOff x="2546280" y="2841480"/>
            <a:chExt cx="4045320" cy="31320"/>
          </a:xfrm>
        </p:grpSpPr>
        <p:sp>
          <p:nvSpPr>
            <p:cNvPr id="443" name="Google Shape;443;p31"/>
            <p:cNvSpPr/>
            <p:nvPr/>
          </p:nvSpPr>
          <p:spPr>
            <a:xfrm>
              <a:off x="2546280" y="2857320"/>
              <a:ext cx="2859840" cy="14760"/>
            </a:xfrm>
            <a:custGeom>
              <a:avLst/>
              <a:gdLst/>
              <a:ahLst/>
              <a:cxnLst/>
              <a:rect l="l" t="t" r="r" b="b"/>
              <a:pathLst>
                <a:path w="2860040" h="15239" extrusionOk="0">
                  <a:moveTo>
                    <a:pt x="0" y="15000"/>
                  </a:moveTo>
                  <a:lnTo>
                    <a:pt x="285945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44" name="Google Shape;444;p31"/>
            <p:cNvSpPr/>
            <p:nvPr/>
          </p:nvSpPr>
          <p:spPr>
            <a:xfrm>
              <a:off x="5405760" y="2841480"/>
              <a:ext cx="43560" cy="31320"/>
            </a:xfrm>
            <a:custGeom>
              <a:avLst/>
              <a:gdLst/>
              <a:ahLst/>
              <a:cxnLst/>
              <a:rect l="l" t="t" r="r" b="b"/>
              <a:pathLst>
                <a:path w="43814" h="31750" extrusionOk="0">
                  <a:moveTo>
                    <a:pt x="164" y="31465"/>
                  </a:moveTo>
                  <a:lnTo>
                    <a:pt x="0" y="0"/>
                  </a:lnTo>
                  <a:lnTo>
                    <a:pt x="43307" y="15505"/>
                  </a:lnTo>
                  <a:lnTo>
                    <a:pt x="164" y="31465"/>
                  </a:lnTo>
                  <a:close/>
                </a:path>
              </a:pathLst>
            </a:custGeom>
            <a:solidFill>
              <a:srgbClr val="595959"/>
            </a:solidFill>
            <a:ln>
              <a:noFill/>
            </a:ln>
          </p:spPr>
          <p:txBody>
            <a:bodyPr/>
            <a:lstStyle/>
            <a:p>
              <a:endParaRPr lang="en-IN"/>
            </a:p>
          </p:txBody>
        </p:sp>
        <p:sp>
          <p:nvSpPr>
            <p:cNvPr id="445" name="Google Shape;445;p31"/>
            <p:cNvSpPr/>
            <p:nvPr/>
          </p:nvSpPr>
          <p:spPr>
            <a:xfrm>
              <a:off x="5405760" y="2841480"/>
              <a:ext cx="43560" cy="31320"/>
            </a:xfrm>
            <a:custGeom>
              <a:avLst/>
              <a:gdLst/>
              <a:ahLst/>
              <a:cxnLst/>
              <a:rect l="l" t="t" r="r" b="b"/>
              <a:pathLst>
                <a:path w="43814" h="31750" extrusionOk="0">
                  <a:moveTo>
                    <a:pt x="164" y="31465"/>
                  </a:moveTo>
                  <a:lnTo>
                    <a:pt x="43307" y="15505"/>
                  </a:lnTo>
                  <a:lnTo>
                    <a:pt x="0" y="0"/>
                  </a:lnTo>
                  <a:lnTo>
                    <a:pt x="164" y="31465"/>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46" name="Google Shape;446;p31"/>
            <p:cNvSpPr/>
            <p:nvPr/>
          </p:nvSpPr>
          <p:spPr>
            <a:xfrm>
              <a:off x="6356520" y="2856960"/>
              <a:ext cx="235080" cy="360"/>
            </a:xfrm>
            <a:custGeom>
              <a:avLst/>
              <a:gdLst/>
              <a:ahLst/>
              <a:cxnLst/>
              <a:rect l="l" t="t" r="r" b="b"/>
              <a:pathLst>
                <a:path w="235584" h="120000" extrusionOk="0">
                  <a:moveTo>
                    <a:pt x="235349" y="0"/>
                  </a:moveTo>
                  <a:lnTo>
                    <a:pt x="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47" name="Google Shape;447;p31"/>
            <p:cNvSpPr/>
            <p:nvPr/>
          </p:nvSpPr>
          <p:spPr>
            <a:xfrm>
              <a:off x="6313320" y="284148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448" name="Google Shape;448;p31"/>
            <p:cNvSpPr/>
            <p:nvPr/>
          </p:nvSpPr>
          <p:spPr>
            <a:xfrm>
              <a:off x="6313320" y="284148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grpSp>
        <p:nvGrpSpPr>
          <p:cNvPr id="453" name="Google Shape;453;p32"/>
          <p:cNvGrpSpPr/>
          <p:nvPr/>
        </p:nvGrpSpPr>
        <p:grpSpPr>
          <a:xfrm>
            <a:off x="1160640" y="2585880"/>
            <a:ext cx="1386000" cy="572400"/>
            <a:chOff x="1160640" y="2585880"/>
            <a:chExt cx="1386000" cy="572400"/>
          </a:xfrm>
        </p:grpSpPr>
        <p:sp>
          <p:nvSpPr>
            <p:cNvPr id="454" name="Google Shape;454;p32"/>
            <p:cNvSpPr/>
            <p:nvPr/>
          </p:nvSpPr>
          <p:spPr>
            <a:xfrm>
              <a:off x="1160640" y="2585880"/>
              <a:ext cx="1386000" cy="572400"/>
            </a:xfrm>
            <a:custGeom>
              <a:avLst/>
              <a:gdLst/>
              <a:ahLst/>
              <a:cxnLst/>
              <a:rect l="l" t="t" r="r" b="b"/>
              <a:pathLst>
                <a:path w="1386205" h="572769" extrusionOk="0">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lstStyle/>
            <a:p>
              <a:endParaRPr lang="en-IN"/>
            </a:p>
          </p:txBody>
        </p:sp>
        <p:sp>
          <p:nvSpPr>
            <p:cNvPr id="455" name="Google Shape;455;p32"/>
            <p:cNvSpPr/>
            <p:nvPr/>
          </p:nvSpPr>
          <p:spPr>
            <a:xfrm>
              <a:off x="1160640" y="2585880"/>
              <a:ext cx="1386000" cy="572400"/>
            </a:xfrm>
            <a:custGeom>
              <a:avLst/>
              <a:gdLst/>
              <a:ahLst/>
              <a:cxnLst/>
              <a:rect l="l" t="t" r="r" b="b"/>
              <a:pathLst>
                <a:path w="1386205" h="572769" extrusionOk="0">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456" name="Google Shape;456;p32"/>
          <p:cNvSpPr/>
          <p:nvPr/>
        </p:nvSpPr>
        <p:spPr>
          <a:xfrm>
            <a:off x="1539720" y="2747880"/>
            <a:ext cx="627480" cy="22608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Client 1</a:t>
            </a:r>
            <a:endParaRPr sz="1400" b="0" i="0" u="none" strike="noStrike" cap="none">
              <a:latin typeface="Arial"/>
              <a:ea typeface="Arial"/>
              <a:cs typeface="Arial"/>
              <a:sym typeface="Arial"/>
            </a:endParaRPr>
          </a:p>
        </p:txBody>
      </p:sp>
      <p:sp>
        <p:nvSpPr>
          <p:cNvPr id="457" name="Google Shape;457;p32"/>
          <p:cNvSpPr/>
          <p:nvPr/>
        </p:nvSpPr>
        <p:spPr>
          <a:xfrm>
            <a:off x="3463920" y="3039120"/>
            <a:ext cx="66672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Connection</a:t>
            </a:r>
            <a:endParaRPr sz="1000" b="0" i="0" u="none" strike="noStrike" cap="none">
              <a:latin typeface="Arial"/>
              <a:ea typeface="Arial"/>
              <a:cs typeface="Arial"/>
              <a:sym typeface="Arial"/>
            </a:endParaRPr>
          </a:p>
        </p:txBody>
      </p:sp>
      <p:grpSp>
        <p:nvGrpSpPr>
          <p:cNvPr id="458" name="Google Shape;458;p32"/>
          <p:cNvGrpSpPr/>
          <p:nvPr/>
        </p:nvGrpSpPr>
        <p:grpSpPr>
          <a:xfrm>
            <a:off x="5241240" y="2175120"/>
            <a:ext cx="3007800" cy="1394280"/>
            <a:chOff x="5241240" y="2175120"/>
            <a:chExt cx="3007800" cy="1394280"/>
          </a:xfrm>
        </p:grpSpPr>
        <p:sp>
          <p:nvSpPr>
            <p:cNvPr id="459" name="Google Shape;459;p32"/>
            <p:cNvSpPr/>
            <p:nvPr/>
          </p:nvSpPr>
          <p:spPr>
            <a:xfrm>
              <a:off x="5241240" y="2175120"/>
              <a:ext cx="3007800" cy="1394280"/>
            </a:xfrm>
            <a:custGeom>
              <a:avLst/>
              <a:gdLst/>
              <a:ahLst/>
              <a:cxnLst/>
              <a:rect l="l" t="t" r="r" b="b"/>
              <a:pathLst>
                <a:path w="3007995" h="1394460" extrusionOk="0">
                  <a:moveTo>
                    <a:pt x="2775394" y="1394399"/>
                  </a:move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close/>
                </a:path>
              </a:pathLst>
            </a:custGeom>
            <a:solidFill>
              <a:srgbClr val="EEEEEE"/>
            </a:solidFill>
            <a:ln>
              <a:noFill/>
            </a:ln>
          </p:spPr>
          <p:txBody>
            <a:bodyPr/>
            <a:lstStyle/>
            <a:p>
              <a:endParaRPr lang="en-IN"/>
            </a:p>
          </p:txBody>
        </p:sp>
        <p:sp>
          <p:nvSpPr>
            <p:cNvPr id="460" name="Google Shape;460;p32"/>
            <p:cNvSpPr/>
            <p:nvPr/>
          </p:nvSpPr>
          <p:spPr>
            <a:xfrm>
              <a:off x="5241240" y="2175120"/>
              <a:ext cx="3007800" cy="1394280"/>
            </a:xfrm>
            <a:custGeom>
              <a:avLst/>
              <a:gdLst/>
              <a:ahLst/>
              <a:cxnLst/>
              <a:rect l="l" t="t" r="r" b="b"/>
              <a:pathLst>
                <a:path w="3007995" h="1394460" extrusionOk="0">
                  <a:moveTo>
                    <a:pt x="0" y="232404"/>
                  </a:move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61" name="Google Shape;461;p32"/>
            <p:cNvSpPr/>
            <p:nvPr/>
          </p:nvSpPr>
          <p:spPr>
            <a:xfrm>
              <a:off x="6632640" y="2319120"/>
              <a:ext cx="1233360" cy="470160"/>
            </a:xfrm>
            <a:custGeom>
              <a:avLst/>
              <a:gdLst/>
              <a:ahLst/>
              <a:cxnLst/>
              <a:rect l="l" t="t" r="r" b="b"/>
              <a:pathLst>
                <a:path w="1233804" h="470535" extrusionOk="0">
                  <a:moveTo>
                    <a:pt x="1233599" y="470099"/>
                  </a:moveTo>
                  <a:lnTo>
                    <a:pt x="0" y="470099"/>
                  </a:lnTo>
                  <a:lnTo>
                    <a:pt x="0" y="0"/>
                  </a:lnTo>
                  <a:lnTo>
                    <a:pt x="1233599" y="0"/>
                  </a:lnTo>
                  <a:lnTo>
                    <a:pt x="1233599" y="470099"/>
                  </a:lnTo>
                  <a:close/>
                </a:path>
              </a:pathLst>
            </a:custGeom>
            <a:solidFill>
              <a:srgbClr val="EEEEEE"/>
            </a:solidFill>
            <a:ln>
              <a:noFill/>
            </a:ln>
          </p:spPr>
          <p:txBody>
            <a:bodyPr/>
            <a:lstStyle/>
            <a:p>
              <a:endParaRPr lang="en-IN"/>
            </a:p>
          </p:txBody>
        </p:sp>
      </p:grpSp>
      <p:sp>
        <p:nvSpPr>
          <p:cNvPr id="462" name="Google Shape;462;p32"/>
          <p:cNvSpPr/>
          <p:nvPr/>
        </p:nvSpPr>
        <p:spPr>
          <a:xfrm>
            <a:off x="6632640" y="2319120"/>
            <a:ext cx="1233720" cy="526320"/>
          </a:xfrm>
          <a:prstGeom prst="rect">
            <a:avLst/>
          </a:prstGeom>
          <a:noFill/>
          <a:ln w="9525" cap="flat" cmpd="sng">
            <a:solidFill>
              <a:srgbClr val="595959"/>
            </a:solidFill>
            <a:prstDash val="solid"/>
            <a:round/>
            <a:headEnd type="none" w="sm" len="sm"/>
            <a:tailEnd type="none" w="sm" len="sm"/>
          </a:ln>
        </p:spPr>
        <p:txBody>
          <a:bodyPr spcFirstLastPara="1" wrap="square" lIns="0" tIns="28425" rIns="0" bIns="0" anchor="t" anchorCtr="0">
            <a:noAutofit/>
          </a:bodyPr>
          <a:lstStyle/>
          <a:p>
            <a:pPr marL="295200" marR="0" lvl="0" indent="59040" algn="l" rtl="0">
              <a:lnSpc>
                <a:spcPct val="117000"/>
              </a:lnSpc>
              <a:spcBef>
                <a:spcPts val="0"/>
              </a:spcBef>
              <a:spcAft>
                <a:spcPts val="0"/>
              </a:spcAft>
              <a:buNone/>
            </a:pPr>
            <a:r>
              <a:rPr lang="en-US" sz="1400" b="0" i="0" u="none" strike="noStrike" cap="none">
                <a:solidFill>
                  <a:srgbClr val="000000"/>
                </a:solidFill>
                <a:latin typeface="Arial"/>
                <a:ea typeface="Arial"/>
                <a:cs typeface="Arial"/>
                <a:sym typeface="Arial"/>
              </a:rPr>
              <a:t>Server  Process</a:t>
            </a:r>
            <a:endParaRPr sz="1400" b="0" i="0" u="none" strike="noStrike" cap="none">
              <a:latin typeface="Arial"/>
              <a:ea typeface="Arial"/>
              <a:cs typeface="Arial"/>
              <a:sym typeface="Arial"/>
            </a:endParaRPr>
          </a:p>
        </p:txBody>
      </p:sp>
      <p:grpSp>
        <p:nvGrpSpPr>
          <p:cNvPr id="463" name="Google Shape;463;p32"/>
          <p:cNvGrpSpPr/>
          <p:nvPr/>
        </p:nvGrpSpPr>
        <p:grpSpPr>
          <a:xfrm>
            <a:off x="5461560" y="2384640"/>
            <a:ext cx="920880" cy="338760"/>
            <a:chOff x="5461560" y="2384640"/>
            <a:chExt cx="920880" cy="338760"/>
          </a:xfrm>
        </p:grpSpPr>
        <p:sp>
          <p:nvSpPr>
            <p:cNvPr id="464" name="Google Shape;464;p32"/>
            <p:cNvSpPr/>
            <p:nvPr/>
          </p:nvSpPr>
          <p:spPr>
            <a:xfrm>
              <a:off x="5461560" y="2384640"/>
              <a:ext cx="920880" cy="338760"/>
            </a:xfrm>
            <a:custGeom>
              <a:avLst/>
              <a:gdLst/>
              <a:ahLst/>
              <a:cxnLst/>
              <a:rect l="l" t="t" r="r" b="b"/>
              <a:pathLst>
                <a:path w="921385" h="339089" extrusionOk="0">
                  <a:moveTo>
                    <a:pt x="836324" y="338699"/>
                  </a:moveTo>
                  <a:lnTo>
                    <a:pt x="0" y="338699"/>
                  </a:lnTo>
                  <a:lnTo>
                    <a:pt x="84674" y="0"/>
                  </a:lnTo>
                  <a:lnTo>
                    <a:pt x="920999" y="0"/>
                  </a:lnTo>
                  <a:lnTo>
                    <a:pt x="836324" y="338699"/>
                  </a:lnTo>
                  <a:close/>
                </a:path>
              </a:pathLst>
            </a:custGeom>
            <a:solidFill>
              <a:srgbClr val="EEEEEE"/>
            </a:solidFill>
            <a:ln>
              <a:noFill/>
            </a:ln>
          </p:spPr>
          <p:txBody>
            <a:bodyPr/>
            <a:lstStyle/>
            <a:p>
              <a:endParaRPr lang="en-IN"/>
            </a:p>
          </p:txBody>
        </p:sp>
        <p:sp>
          <p:nvSpPr>
            <p:cNvPr id="465" name="Google Shape;465;p32"/>
            <p:cNvSpPr/>
            <p:nvPr/>
          </p:nvSpPr>
          <p:spPr>
            <a:xfrm>
              <a:off x="5461560" y="238464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466" name="Google Shape;466;p32"/>
          <p:cNvSpPr/>
          <p:nvPr/>
        </p:nvSpPr>
        <p:spPr>
          <a:xfrm>
            <a:off x="5655240" y="2383920"/>
            <a:ext cx="533520" cy="317520"/>
          </a:xfrm>
          <a:prstGeom prst="rect">
            <a:avLst/>
          </a:prstGeom>
          <a:noFill/>
          <a:ln>
            <a:noFill/>
          </a:ln>
        </p:spPr>
        <p:txBody>
          <a:bodyPr spcFirstLastPara="1" wrap="square" lIns="0" tIns="12600" rIns="0" bIns="0" anchor="t" anchorCtr="0">
            <a:noAutofit/>
          </a:bodyPr>
          <a:lstStyle/>
          <a:p>
            <a:pPr marL="72360" marR="0" lvl="0" indent="-60119" algn="l" rtl="0">
              <a:lnSpc>
                <a:spcPct val="100000"/>
              </a:lnSpc>
              <a:spcBef>
                <a:spcPts val="0"/>
              </a:spcBef>
              <a:spcAft>
                <a:spcPts val="0"/>
              </a:spcAft>
              <a:buNone/>
            </a:pPr>
            <a:r>
              <a:rPr lang="en-US" sz="1000" b="0" i="0" u="none" strike="noStrike" cap="none">
                <a:solidFill>
                  <a:srgbClr val="000000"/>
                </a:solidFill>
                <a:latin typeface="Arial"/>
                <a:ea typeface="Arial"/>
                <a:cs typeface="Arial"/>
                <a:sym typeface="Arial"/>
              </a:rPr>
              <a:t>Listening  Socket</a:t>
            </a:r>
            <a:endParaRPr sz="1000" b="0" i="0" u="none" strike="noStrike" cap="none">
              <a:latin typeface="Arial"/>
              <a:ea typeface="Arial"/>
              <a:cs typeface="Arial"/>
              <a:sym typeface="Arial"/>
            </a:endParaRPr>
          </a:p>
        </p:txBody>
      </p:sp>
      <p:grpSp>
        <p:nvGrpSpPr>
          <p:cNvPr id="467" name="Google Shape;467;p32"/>
          <p:cNvGrpSpPr/>
          <p:nvPr/>
        </p:nvGrpSpPr>
        <p:grpSpPr>
          <a:xfrm>
            <a:off x="5461560" y="2538360"/>
            <a:ext cx="2203560" cy="733320"/>
            <a:chOff x="5461560" y="2538360"/>
            <a:chExt cx="2203560" cy="733320"/>
          </a:xfrm>
        </p:grpSpPr>
        <p:sp>
          <p:nvSpPr>
            <p:cNvPr id="468" name="Google Shape;468;p32"/>
            <p:cNvSpPr/>
            <p:nvPr/>
          </p:nvSpPr>
          <p:spPr>
            <a:xfrm>
              <a:off x="6397200" y="2554200"/>
              <a:ext cx="235080" cy="360"/>
            </a:xfrm>
            <a:custGeom>
              <a:avLst/>
              <a:gdLst/>
              <a:ahLst/>
              <a:cxnLst/>
              <a:rect l="l" t="t" r="r" b="b"/>
              <a:pathLst>
                <a:path w="235584" h="120000" extrusionOk="0">
                  <a:moveTo>
                    <a:pt x="235349" y="0"/>
                  </a:moveTo>
                  <a:lnTo>
                    <a:pt x="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69" name="Google Shape;469;p32"/>
            <p:cNvSpPr/>
            <p:nvPr/>
          </p:nvSpPr>
          <p:spPr>
            <a:xfrm>
              <a:off x="6354000" y="253836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470" name="Google Shape;470;p32"/>
            <p:cNvSpPr/>
            <p:nvPr/>
          </p:nvSpPr>
          <p:spPr>
            <a:xfrm>
              <a:off x="6354000" y="253836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71" name="Google Shape;471;p32"/>
            <p:cNvSpPr/>
            <p:nvPr/>
          </p:nvSpPr>
          <p:spPr>
            <a:xfrm>
              <a:off x="6833520" y="2935080"/>
              <a:ext cx="831600" cy="334440"/>
            </a:xfrm>
            <a:custGeom>
              <a:avLst/>
              <a:gdLst/>
              <a:ahLst/>
              <a:cxnLst/>
              <a:rect l="l" t="t" r="r" b="b"/>
              <a:pathLst>
                <a:path w="831850" h="334645" extrusionOk="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lstStyle/>
            <a:p>
              <a:endParaRPr lang="en-IN"/>
            </a:p>
          </p:txBody>
        </p:sp>
        <p:sp>
          <p:nvSpPr>
            <p:cNvPr id="472" name="Google Shape;472;p32"/>
            <p:cNvSpPr/>
            <p:nvPr/>
          </p:nvSpPr>
          <p:spPr>
            <a:xfrm>
              <a:off x="6833520" y="2935080"/>
              <a:ext cx="831600" cy="334440"/>
            </a:xfrm>
            <a:custGeom>
              <a:avLst/>
              <a:gdLst/>
              <a:ahLst/>
              <a:cxnLst/>
              <a:rect l="l" t="t" r="r" b="b"/>
              <a:pathLst>
                <a:path w="831850" h="334645" extrusionOk="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73" name="Google Shape;473;p32"/>
            <p:cNvSpPr/>
            <p:nvPr/>
          </p:nvSpPr>
          <p:spPr>
            <a:xfrm>
              <a:off x="5461560" y="2932920"/>
              <a:ext cx="920880" cy="338760"/>
            </a:xfrm>
            <a:custGeom>
              <a:avLst/>
              <a:gdLst/>
              <a:ahLst/>
              <a:cxnLst/>
              <a:rect l="l" t="t" r="r" b="b"/>
              <a:pathLst>
                <a:path w="921385" h="339089" extrusionOk="0">
                  <a:moveTo>
                    <a:pt x="836324" y="338699"/>
                  </a:moveTo>
                  <a:lnTo>
                    <a:pt x="0" y="338699"/>
                  </a:lnTo>
                  <a:lnTo>
                    <a:pt x="84674" y="0"/>
                  </a:lnTo>
                  <a:lnTo>
                    <a:pt x="920999" y="0"/>
                  </a:lnTo>
                  <a:lnTo>
                    <a:pt x="836324" y="338699"/>
                  </a:lnTo>
                  <a:close/>
                </a:path>
              </a:pathLst>
            </a:custGeom>
            <a:solidFill>
              <a:srgbClr val="EEEEEE"/>
            </a:solidFill>
            <a:ln>
              <a:noFill/>
            </a:ln>
          </p:spPr>
          <p:txBody>
            <a:bodyPr/>
            <a:lstStyle/>
            <a:p>
              <a:endParaRPr lang="en-IN"/>
            </a:p>
          </p:txBody>
        </p:sp>
        <p:sp>
          <p:nvSpPr>
            <p:cNvPr id="474" name="Google Shape;474;p32"/>
            <p:cNvSpPr/>
            <p:nvPr/>
          </p:nvSpPr>
          <p:spPr>
            <a:xfrm>
              <a:off x="5461560" y="293292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475" name="Google Shape;475;p32"/>
          <p:cNvSpPr/>
          <p:nvPr/>
        </p:nvSpPr>
        <p:spPr>
          <a:xfrm>
            <a:off x="5663880" y="2961720"/>
            <a:ext cx="516600" cy="256680"/>
          </a:xfrm>
          <a:prstGeom prst="rect">
            <a:avLst/>
          </a:prstGeom>
          <a:noFill/>
          <a:ln>
            <a:noFill/>
          </a:ln>
        </p:spPr>
        <p:txBody>
          <a:bodyPr spcFirstLastPara="1" wrap="square" lIns="0" tIns="10800" rIns="0" bIns="0" anchor="t" anchorCtr="0">
            <a:noAutofit/>
          </a:bodyPr>
          <a:lstStyle/>
          <a:p>
            <a:pPr marL="102959" marR="0" lvl="0" indent="-90359" algn="l" rtl="0">
              <a:lnSpc>
                <a:spcPct val="101000"/>
              </a:lnSpc>
              <a:spcBef>
                <a:spcPts val="0"/>
              </a:spcBef>
              <a:spcAft>
                <a:spcPts val="0"/>
              </a:spcAft>
              <a:buNone/>
            </a:pPr>
            <a:r>
              <a:rPr lang="en-US" sz="800" b="0" i="0" u="none" strike="noStrike" cap="none">
                <a:solidFill>
                  <a:srgbClr val="000000"/>
                </a:solidFill>
                <a:latin typeface="Arial"/>
                <a:ea typeface="Arial"/>
                <a:cs typeface="Arial"/>
                <a:sym typeface="Arial"/>
              </a:rPr>
              <a:t>Connected  Socket</a:t>
            </a:r>
            <a:endParaRPr sz="800" b="0" i="0" u="none" strike="noStrike" cap="none">
              <a:latin typeface="Arial"/>
              <a:ea typeface="Arial"/>
              <a:cs typeface="Arial"/>
              <a:sym typeface="Arial"/>
            </a:endParaRPr>
          </a:p>
        </p:txBody>
      </p:sp>
      <p:sp>
        <p:nvSpPr>
          <p:cNvPr id="476" name="Google Shape;476;p32"/>
          <p:cNvSpPr/>
          <p:nvPr/>
        </p:nvSpPr>
        <p:spPr>
          <a:xfrm>
            <a:off x="2603160" y="2876760"/>
            <a:ext cx="2900160" cy="225720"/>
          </a:xfrm>
          <a:custGeom>
            <a:avLst/>
            <a:gdLst/>
            <a:ahLst/>
            <a:cxnLst/>
            <a:rect l="l" t="t" r="r" b="b"/>
            <a:pathLst>
              <a:path w="2900679" h="226060" extrusionOk="0">
                <a:moveTo>
                  <a:pt x="2900422" y="225666"/>
                </a:moveTo>
                <a:lnTo>
                  <a:pt x="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77" name="Google Shape;477;p32"/>
          <p:cNvSpPr/>
          <p:nvPr/>
        </p:nvSpPr>
        <p:spPr>
          <a:xfrm>
            <a:off x="2560320" y="2860920"/>
            <a:ext cx="43920" cy="31320"/>
          </a:xfrm>
          <a:custGeom>
            <a:avLst/>
            <a:gdLst/>
            <a:ahLst/>
            <a:cxnLst/>
            <a:rect l="l" t="t" r="r" b="b"/>
            <a:pathLst>
              <a:path w="44450" h="31750" extrusionOk="0">
                <a:moveTo>
                  <a:pt x="41874" y="31370"/>
                </a:moveTo>
                <a:lnTo>
                  <a:pt x="0" y="12332"/>
                </a:lnTo>
                <a:lnTo>
                  <a:pt x="44315" y="0"/>
                </a:lnTo>
                <a:lnTo>
                  <a:pt x="41874" y="31370"/>
                </a:lnTo>
                <a:close/>
              </a:path>
            </a:pathLst>
          </a:custGeom>
          <a:solidFill>
            <a:srgbClr val="595959"/>
          </a:solidFill>
          <a:ln>
            <a:noFill/>
          </a:ln>
        </p:spPr>
        <p:txBody>
          <a:bodyPr/>
          <a:lstStyle/>
          <a:p>
            <a:endParaRPr lang="en-IN"/>
          </a:p>
        </p:txBody>
      </p:sp>
      <p:sp>
        <p:nvSpPr>
          <p:cNvPr id="478" name="Google Shape;478;p32"/>
          <p:cNvSpPr/>
          <p:nvPr/>
        </p:nvSpPr>
        <p:spPr>
          <a:xfrm>
            <a:off x="2560320" y="2860920"/>
            <a:ext cx="43920" cy="31320"/>
          </a:xfrm>
          <a:custGeom>
            <a:avLst/>
            <a:gdLst/>
            <a:ahLst/>
            <a:cxnLst/>
            <a:rect l="l" t="t" r="r" b="b"/>
            <a:pathLst>
              <a:path w="44450" h="31750" extrusionOk="0">
                <a:moveTo>
                  <a:pt x="44315" y="0"/>
                </a:moveTo>
                <a:lnTo>
                  <a:pt x="0" y="12332"/>
                </a:lnTo>
                <a:lnTo>
                  <a:pt x="41874" y="31370"/>
                </a:lnTo>
                <a:lnTo>
                  <a:pt x="44315" y="0"/>
                </a:lnTo>
                <a:close/>
              </a:path>
            </a:pathLst>
          </a:custGeom>
          <a:noFill/>
          <a:ln w="9525" cap="flat" cmpd="sng">
            <a:solidFill>
              <a:srgbClr val="595959"/>
            </a:solidFill>
            <a:prstDash val="solid"/>
            <a:round/>
            <a:headEnd type="none" w="sm" len="sm"/>
            <a:tailEnd type="none" w="sm" len="sm"/>
          </a:ln>
        </p:spPr>
        <p:txBody>
          <a:bodyPr/>
          <a:lstStyle/>
          <a:p>
            <a:endParaRPr lang="en-IN"/>
          </a:p>
        </p:txBody>
      </p:sp>
      <p:grpSp>
        <p:nvGrpSpPr>
          <p:cNvPr id="479" name="Google Shape;479;p32"/>
          <p:cNvGrpSpPr/>
          <p:nvPr/>
        </p:nvGrpSpPr>
        <p:grpSpPr>
          <a:xfrm>
            <a:off x="6354000" y="3086640"/>
            <a:ext cx="43560" cy="31320"/>
            <a:chOff x="6354000" y="3086640"/>
            <a:chExt cx="43560" cy="31320"/>
          </a:xfrm>
        </p:grpSpPr>
        <p:sp>
          <p:nvSpPr>
            <p:cNvPr id="480" name="Google Shape;480;p32"/>
            <p:cNvSpPr/>
            <p:nvPr/>
          </p:nvSpPr>
          <p:spPr>
            <a:xfrm>
              <a:off x="6354000" y="308664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481" name="Google Shape;481;p32"/>
            <p:cNvSpPr/>
            <p:nvPr/>
          </p:nvSpPr>
          <p:spPr>
            <a:xfrm>
              <a:off x="6354000" y="308664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482" name="Google Shape;482;p32"/>
          <p:cNvSpPr txBox="1"/>
          <p:nvPr/>
        </p:nvSpPr>
        <p:spPr>
          <a:xfrm>
            <a:off x="362880" y="228240"/>
            <a:ext cx="475200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800" b="0" i="0" u="none" strike="noStrike" cap="none">
                <a:solidFill>
                  <a:srgbClr val="434343"/>
                </a:solidFill>
                <a:latin typeface="Trebuchet MS"/>
                <a:ea typeface="Trebuchet MS"/>
                <a:cs typeface="Trebuchet MS"/>
                <a:sym typeface="Trebuchet MS"/>
              </a:rPr>
              <a:t>Multi threaded TCP server</a:t>
            </a:r>
            <a:endParaRPr sz="2800" b="0" i="0" u="none" strike="noStrike" cap="none">
              <a:solidFill>
                <a:srgbClr val="000000"/>
              </a:solidFill>
              <a:latin typeface="Arial"/>
              <a:ea typeface="Arial"/>
              <a:cs typeface="Arial"/>
              <a:sym typeface="Arial"/>
            </a:endParaRPr>
          </a:p>
        </p:txBody>
      </p:sp>
      <p:sp>
        <p:nvSpPr>
          <p:cNvPr id="483" name="Google Shape;483;p32"/>
          <p:cNvSpPr/>
          <p:nvPr/>
        </p:nvSpPr>
        <p:spPr>
          <a:xfrm>
            <a:off x="6968880" y="3016440"/>
            <a:ext cx="533520" cy="272160"/>
          </a:xfrm>
          <a:prstGeom prst="rect">
            <a:avLst/>
          </a:prstGeom>
          <a:noFill/>
          <a:ln>
            <a:noFill/>
          </a:ln>
        </p:spPr>
        <p:txBody>
          <a:bodyPr spcFirstLastPara="1" wrap="square" lIns="0" tIns="12600" rIns="0" bIns="0" anchor="t" anchorCtr="0">
            <a:noAutofit/>
          </a:bodyPr>
          <a:lstStyle/>
          <a:p>
            <a:pPr marL="38160" marR="0" lvl="0" indent="0" algn="l" rtl="0">
              <a:lnSpc>
                <a:spcPct val="100000"/>
              </a:lnSpc>
              <a:spcBef>
                <a:spcPts val="0"/>
              </a:spcBef>
              <a:spcAft>
                <a:spcPts val="0"/>
              </a:spcAft>
              <a:buNone/>
            </a:pPr>
            <a:r>
              <a:rPr lang="en-US" sz="1700" b="0" i="0" u="none" strike="noStrike" cap="none" baseline="30000">
                <a:solidFill>
                  <a:srgbClr val="000000"/>
                </a:solidFill>
                <a:latin typeface="Arial"/>
                <a:ea typeface="Arial"/>
                <a:cs typeface="Arial"/>
                <a:sym typeface="Arial"/>
              </a:rPr>
              <a:t>Thread</a:t>
            </a:r>
            <a:endParaRPr sz="1700" b="0" i="0" u="none" strike="noStrike" cap="non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grpSp>
        <p:nvGrpSpPr>
          <p:cNvPr id="488" name="Google Shape;488;p33"/>
          <p:cNvGrpSpPr/>
          <p:nvPr/>
        </p:nvGrpSpPr>
        <p:grpSpPr>
          <a:xfrm>
            <a:off x="5241240" y="2175120"/>
            <a:ext cx="3007800" cy="1394280"/>
            <a:chOff x="5241240" y="2175120"/>
            <a:chExt cx="3007800" cy="1394280"/>
          </a:xfrm>
        </p:grpSpPr>
        <p:sp>
          <p:nvSpPr>
            <p:cNvPr id="489" name="Google Shape;489;p33"/>
            <p:cNvSpPr/>
            <p:nvPr/>
          </p:nvSpPr>
          <p:spPr>
            <a:xfrm>
              <a:off x="5241240" y="2175120"/>
              <a:ext cx="3007800" cy="1394280"/>
            </a:xfrm>
            <a:custGeom>
              <a:avLst/>
              <a:gdLst/>
              <a:ahLst/>
              <a:cxnLst/>
              <a:rect l="l" t="t" r="r" b="b"/>
              <a:pathLst>
                <a:path w="3007995" h="1394460" extrusionOk="0">
                  <a:moveTo>
                    <a:pt x="2775394" y="1394399"/>
                  </a:move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close/>
                </a:path>
              </a:pathLst>
            </a:custGeom>
            <a:solidFill>
              <a:srgbClr val="EEEEEE"/>
            </a:solidFill>
            <a:ln>
              <a:noFill/>
            </a:ln>
          </p:spPr>
          <p:txBody>
            <a:bodyPr/>
            <a:lstStyle/>
            <a:p>
              <a:endParaRPr lang="en-IN"/>
            </a:p>
          </p:txBody>
        </p:sp>
        <p:sp>
          <p:nvSpPr>
            <p:cNvPr id="490" name="Google Shape;490;p33"/>
            <p:cNvSpPr/>
            <p:nvPr/>
          </p:nvSpPr>
          <p:spPr>
            <a:xfrm>
              <a:off x="5241240" y="2175120"/>
              <a:ext cx="3007800" cy="1394280"/>
            </a:xfrm>
            <a:custGeom>
              <a:avLst/>
              <a:gdLst/>
              <a:ahLst/>
              <a:cxnLst/>
              <a:rect l="l" t="t" r="r" b="b"/>
              <a:pathLst>
                <a:path w="3007995" h="1394460" extrusionOk="0">
                  <a:moveTo>
                    <a:pt x="0" y="232404"/>
                  </a:move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491" name="Google Shape;491;p33"/>
            <p:cNvSpPr/>
            <p:nvPr/>
          </p:nvSpPr>
          <p:spPr>
            <a:xfrm>
              <a:off x="6632640" y="2319120"/>
              <a:ext cx="1233360" cy="470160"/>
            </a:xfrm>
            <a:custGeom>
              <a:avLst/>
              <a:gdLst/>
              <a:ahLst/>
              <a:cxnLst/>
              <a:rect l="l" t="t" r="r" b="b"/>
              <a:pathLst>
                <a:path w="1233804" h="470535" extrusionOk="0">
                  <a:moveTo>
                    <a:pt x="1233599" y="470099"/>
                  </a:moveTo>
                  <a:lnTo>
                    <a:pt x="0" y="470099"/>
                  </a:lnTo>
                  <a:lnTo>
                    <a:pt x="0" y="0"/>
                  </a:lnTo>
                  <a:lnTo>
                    <a:pt x="1233599" y="0"/>
                  </a:lnTo>
                  <a:lnTo>
                    <a:pt x="1233599" y="470099"/>
                  </a:lnTo>
                  <a:close/>
                </a:path>
              </a:pathLst>
            </a:custGeom>
            <a:solidFill>
              <a:srgbClr val="EEEEEE"/>
            </a:solidFill>
            <a:ln>
              <a:noFill/>
            </a:ln>
          </p:spPr>
          <p:txBody>
            <a:bodyPr/>
            <a:lstStyle/>
            <a:p>
              <a:endParaRPr lang="en-IN"/>
            </a:p>
          </p:txBody>
        </p:sp>
      </p:grpSp>
      <p:sp>
        <p:nvSpPr>
          <p:cNvPr id="492" name="Google Shape;492;p33"/>
          <p:cNvSpPr/>
          <p:nvPr/>
        </p:nvSpPr>
        <p:spPr>
          <a:xfrm>
            <a:off x="6632640" y="2319120"/>
            <a:ext cx="1233360" cy="526320"/>
          </a:xfrm>
          <a:prstGeom prst="rect">
            <a:avLst/>
          </a:prstGeom>
          <a:noFill/>
          <a:ln w="9525" cap="flat" cmpd="sng">
            <a:solidFill>
              <a:srgbClr val="595959"/>
            </a:solidFill>
            <a:prstDash val="solid"/>
            <a:round/>
            <a:headEnd type="none" w="sm" len="sm"/>
            <a:tailEnd type="none" w="sm" len="sm"/>
          </a:ln>
        </p:spPr>
        <p:txBody>
          <a:bodyPr spcFirstLastPara="1" wrap="square" lIns="0" tIns="28425" rIns="0" bIns="0" anchor="t" anchorCtr="0">
            <a:noAutofit/>
          </a:bodyPr>
          <a:lstStyle/>
          <a:p>
            <a:pPr marL="295200" marR="0" lvl="0" indent="59040" algn="l" rtl="0">
              <a:lnSpc>
                <a:spcPct val="117000"/>
              </a:lnSpc>
              <a:spcBef>
                <a:spcPts val="0"/>
              </a:spcBef>
              <a:spcAft>
                <a:spcPts val="0"/>
              </a:spcAft>
              <a:buNone/>
            </a:pPr>
            <a:r>
              <a:rPr lang="en-US" sz="1400" b="0" i="0" u="none" strike="noStrike" cap="none">
                <a:solidFill>
                  <a:srgbClr val="000000"/>
                </a:solidFill>
                <a:latin typeface="Arial"/>
                <a:ea typeface="Arial"/>
                <a:cs typeface="Arial"/>
                <a:sym typeface="Arial"/>
              </a:rPr>
              <a:t>Server  Process</a:t>
            </a:r>
            <a:endParaRPr sz="1400" b="0" i="0" u="none" strike="noStrike" cap="none">
              <a:latin typeface="Arial"/>
              <a:ea typeface="Arial"/>
              <a:cs typeface="Arial"/>
              <a:sym typeface="Arial"/>
            </a:endParaRPr>
          </a:p>
        </p:txBody>
      </p:sp>
      <p:grpSp>
        <p:nvGrpSpPr>
          <p:cNvPr id="493" name="Google Shape;493;p33"/>
          <p:cNvGrpSpPr/>
          <p:nvPr/>
        </p:nvGrpSpPr>
        <p:grpSpPr>
          <a:xfrm>
            <a:off x="1103760" y="2932920"/>
            <a:ext cx="1386000" cy="572400"/>
            <a:chOff x="1103760" y="2932920"/>
            <a:chExt cx="1386000" cy="572400"/>
          </a:xfrm>
        </p:grpSpPr>
        <p:sp>
          <p:nvSpPr>
            <p:cNvPr id="494" name="Google Shape;494;p33"/>
            <p:cNvSpPr/>
            <p:nvPr/>
          </p:nvSpPr>
          <p:spPr>
            <a:xfrm>
              <a:off x="1103760" y="2932920"/>
              <a:ext cx="1386000" cy="572400"/>
            </a:xfrm>
            <a:custGeom>
              <a:avLst/>
              <a:gdLst/>
              <a:ahLst/>
              <a:cxnLst/>
              <a:rect l="l" t="t" r="r" b="b"/>
              <a:pathLst>
                <a:path w="1386205" h="572770" extrusionOk="0">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lstStyle/>
            <a:p>
              <a:endParaRPr lang="en-IN"/>
            </a:p>
          </p:txBody>
        </p:sp>
        <p:sp>
          <p:nvSpPr>
            <p:cNvPr id="495" name="Google Shape;495;p33"/>
            <p:cNvSpPr/>
            <p:nvPr/>
          </p:nvSpPr>
          <p:spPr>
            <a:xfrm>
              <a:off x="1103760" y="2932920"/>
              <a:ext cx="1386000" cy="572400"/>
            </a:xfrm>
            <a:custGeom>
              <a:avLst/>
              <a:gdLst/>
              <a:ahLst/>
              <a:cxnLst/>
              <a:rect l="l" t="t" r="r" b="b"/>
              <a:pathLst>
                <a:path w="1386205" h="572770" extrusionOk="0">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496" name="Google Shape;496;p33"/>
          <p:cNvSpPr/>
          <p:nvPr/>
        </p:nvSpPr>
        <p:spPr>
          <a:xfrm>
            <a:off x="1482480" y="3094560"/>
            <a:ext cx="627480" cy="22608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Client 1</a:t>
            </a:r>
            <a:endParaRPr sz="1400" b="0" i="0" u="none" strike="noStrike" cap="none">
              <a:latin typeface="Arial"/>
              <a:ea typeface="Arial"/>
              <a:cs typeface="Arial"/>
              <a:sym typeface="Arial"/>
            </a:endParaRPr>
          </a:p>
        </p:txBody>
      </p:sp>
      <p:sp>
        <p:nvSpPr>
          <p:cNvPr id="497" name="Google Shape;497;p33"/>
          <p:cNvSpPr/>
          <p:nvPr/>
        </p:nvSpPr>
        <p:spPr>
          <a:xfrm>
            <a:off x="3522600" y="3234960"/>
            <a:ext cx="66636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Connection</a:t>
            </a:r>
            <a:endParaRPr sz="1000" b="0" i="0" u="none" strike="noStrike" cap="none">
              <a:latin typeface="Arial"/>
              <a:ea typeface="Arial"/>
              <a:cs typeface="Arial"/>
              <a:sym typeface="Arial"/>
            </a:endParaRPr>
          </a:p>
        </p:txBody>
      </p:sp>
      <p:grpSp>
        <p:nvGrpSpPr>
          <p:cNvPr id="498" name="Google Shape;498;p33"/>
          <p:cNvGrpSpPr/>
          <p:nvPr/>
        </p:nvGrpSpPr>
        <p:grpSpPr>
          <a:xfrm>
            <a:off x="5461560" y="2384640"/>
            <a:ext cx="920880" cy="338760"/>
            <a:chOff x="5461560" y="2384640"/>
            <a:chExt cx="920880" cy="338760"/>
          </a:xfrm>
        </p:grpSpPr>
        <p:sp>
          <p:nvSpPr>
            <p:cNvPr id="499" name="Google Shape;499;p33"/>
            <p:cNvSpPr/>
            <p:nvPr/>
          </p:nvSpPr>
          <p:spPr>
            <a:xfrm>
              <a:off x="5461560" y="2384640"/>
              <a:ext cx="920880" cy="338760"/>
            </a:xfrm>
            <a:custGeom>
              <a:avLst/>
              <a:gdLst/>
              <a:ahLst/>
              <a:cxnLst/>
              <a:rect l="l" t="t" r="r" b="b"/>
              <a:pathLst>
                <a:path w="921385" h="339089" extrusionOk="0">
                  <a:moveTo>
                    <a:pt x="836324" y="338699"/>
                  </a:moveTo>
                  <a:lnTo>
                    <a:pt x="0" y="338699"/>
                  </a:lnTo>
                  <a:lnTo>
                    <a:pt x="84674" y="0"/>
                  </a:lnTo>
                  <a:lnTo>
                    <a:pt x="920999" y="0"/>
                  </a:lnTo>
                  <a:lnTo>
                    <a:pt x="836324" y="338699"/>
                  </a:lnTo>
                  <a:close/>
                </a:path>
              </a:pathLst>
            </a:custGeom>
            <a:solidFill>
              <a:srgbClr val="EEEEEE"/>
            </a:solidFill>
            <a:ln>
              <a:noFill/>
            </a:ln>
          </p:spPr>
          <p:txBody>
            <a:bodyPr/>
            <a:lstStyle/>
            <a:p>
              <a:endParaRPr lang="en-IN"/>
            </a:p>
          </p:txBody>
        </p:sp>
        <p:sp>
          <p:nvSpPr>
            <p:cNvPr id="500" name="Google Shape;500;p33"/>
            <p:cNvSpPr/>
            <p:nvPr/>
          </p:nvSpPr>
          <p:spPr>
            <a:xfrm>
              <a:off x="5461560" y="238464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01" name="Google Shape;501;p33"/>
          <p:cNvSpPr/>
          <p:nvPr/>
        </p:nvSpPr>
        <p:spPr>
          <a:xfrm>
            <a:off x="5655240" y="2383920"/>
            <a:ext cx="533520" cy="317520"/>
          </a:xfrm>
          <a:prstGeom prst="rect">
            <a:avLst/>
          </a:prstGeom>
          <a:noFill/>
          <a:ln>
            <a:noFill/>
          </a:ln>
        </p:spPr>
        <p:txBody>
          <a:bodyPr spcFirstLastPara="1" wrap="square" lIns="0" tIns="12600" rIns="0" bIns="0" anchor="t" anchorCtr="0">
            <a:noAutofit/>
          </a:bodyPr>
          <a:lstStyle/>
          <a:p>
            <a:pPr marL="72360" marR="0" lvl="0" indent="-60119" algn="l" rtl="0">
              <a:lnSpc>
                <a:spcPct val="100000"/>
              </a:lnSpc>
              <a:spcBef>
                <a:spcPts val="0"/>
              </a:spcBef>
              <a:spcAft>
                <a:spcPts val="0"/>
              </a:spcAft>
              <a:buNone/>
            </a:pPr>
            <a:r>
              <a:rPr lang="en-US" sz="1000" b="0" i="0" u="none" strike="noStrike" cap="none">
                <a:solidFill>
                  <a:srgbClr val="000000"/>
                </a:solidFill>
                <a:latin typeface="Arial"/>
                <a:ea typeface="Arial"/>
                <a:cs typeface="Arial"/>
                <a:sym typeface="Arial"/>
              </a:rPr>
              <a:t>Listening  Socket</a:t>
            </a:r>
            <a:endParaRPr sz="1000" b="0" i="0" u="none" strike="noStrike" cap="none">
              <a:latin typeface="Arial"/>
              <a:ea typeface="Arial"/>
              <a:cs typeface="Arial"/>
              <a:sym typeface="Arial"/>
            </a:endParaRPr>
          </a:p>
        </p:txBody>
      </p:sp>
      <p:grpSp>
        <p:nvGrpSpPr>
          <p:cNvPr id="502" name="Google Shape;502;p33"/>
          <p:cNvGrpSpPr/>
          <p:nvPr/>
        </p:nvGrpSpPr>
        <p:grpSpPr>
          <a:xfrm>
            <a:off x="5461560" y="2538360"/>
            <a:ext cx="2203560" cy="733320"/>
            <a:chOff x="5461560" y="2538360"/>
            <a:chExt cx="2203560" cy="733320"/>
          </a:xfrm>
        </p:grpSpPr>
        <p:sp>
          <p:nvSpPr>
            <p:cNvPr id="503" name="Google Shape;503;p33"/>
            <p:cNvSpPr/>
            <p:nvPr/>
          </p:nvSpPr>
          <p:spPr>
            <a:xfrm>
              <a:off x="6397200" y="2554200"/>
              <a:ext cx="235080" cy="360"/>
            </a:xfrm>
            <a:custGeom>
              <a:avLst/>
              <a:gdLst/>
              <a:ahLst/>
              <a:cxnLst/>
              <a:rect l="l" t="t" r="r" b="b"/>
              <a:pathLst>
                <a:path w="235584" h="120000" extrusionOk="0">
                  <a:moveTo>
                    <a:pt x="235349" y="0"/>
                  </a:moveTo>
                  <a:lnTo>
                    <a:pt x="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04" name="Google Shape;504;p33"/>
            <p:cNvSpPr/>
            <p:nvPr/>
          </p:nvSpPr>
          <p:spPr>
            <a:xfrm>
              <a:off x="6354000" y="253836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505" name="Google Shape;505;p33"/>
            <p:cNvSpPr/>
            <p:nvPr/>
          </p:nvSpPr>
          <p:spPr>
            <a:xfrm>
              <a:off x="6354000" y="253836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06" name="Google Shape;506;p33"/>
            <p:cNvSpPr/>
            <p:nvPr/>
          </p:nvSpPr>
          <p:spPr>
            <a:xfrm>
              <a:off x="6833520" y="2935080"/>
              <a:ext cx="831600" cy="334440"/>
            </a:xfrm>
            <a:custGeom>
              <a:avLst/>
              <a:gdLst/>
              <a:ahLst/>
              <a:cxnLst/>
              <a:rect l="l" t="t" r="r" b="b"/>
              <a:pathLst>
                <a:path w="831850" h="334645" extrusionOk="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lstStyle/>
            <a:p>
              <a:endParaRPr lang="en-IN"/>
            </a:p>
          </p:txBody>
        </p:sp>
        <p:sp>
          <p:nvSpPr>
            <p:cNvPr id="507" name="Google Shape;507;p33"/>
            <p:cNvSpPr/>
            <p:nvPr/>
          </p:nvSpPr>
          <p:spPr>
            <a:xfrm>
              <a:off x="6833520" y="2935080"/>
              <a:ext cx="831600" cy="334440"/>
            </a:xfrm>
            <a:custGeom>
              <a:avLst/>
              <a:gdLst/>
              <a:ahLst/>
              <a:cxnLst/>
              <a:rect l="l" t="t" r="r" b="b"/>
              <a:pathLst>
                <a:path w="831850" h="334645" extrusionOk="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08" name="Google Shape;508;p33"/>
            <p:cNvSpPr/>
            <p:nvPr/>
          </p:nvSpPr>
          <p:spPr>
            <a:xfrm>
              <a:off x="5461560" y="2932920"/>
              <a:ext cx="920880" cy="338760"/>
            </a:xfrm>
            <a:custGeom>
              <a:avLst/>
              <a:gdLst/>
              <a:ahLst/>
              <a:cxnLst/>
              <a:rect l="l" t="t" r="r" b="b"/>
              <a:pathLst>
                <a:path w="921385" h="339089" extrusionOk="0">
                  <a:moveTo>
                    <a:pt x="836324" y="338699"/>
                  </a:moveTo>
                  <a:lnTo>
                    <a:pt x="0" y="338699"/>
                  </a:lnTo>
                  <a:lnTo>
                    <a:pt x="84674" y="0"/>
                  </a:lnTo>
                  <a:lnTo>
                    <a:pt x="920999" y="0"/>
                  </a:lnTo>
                  <a:lnTo>
                    <a:pt x="836324" y="338699"/>
                  </a:lnTo>
                  <a:close/>
                </a:path>
              </a:pathLst>
            </a:custGeom>
            <a:solidFill>
              <a:srgbClr val="EEEEEE"/>
            </a:solidFill>
            <a:ln>
              <a:noFill/>
            </a:ln>
          </p:spPr>
          <p:txBody>
            <a:bodyPr/>
            <a:lstStyle/>
            <a:p>
              <a:endParaRPr lang="en-IN"/>
            </a:p>
          </p:txBody>
        </p:sp>
        <p:sp>
          <p:nvSpPr>
            <p:cNvPr id="509" name="Google Shape;509;p33"/>
            <p:cNvSpPr/>
            <p:nvPr/>
          </p:nvSpPr>
          <p:spPr>
            <a:xfrm>
              <a:off x="5461560" y="293292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10" name="Google Shape;510;p33"/>
          <p:cNvSpPr/>
          <p:nvPr/>
        </p:nvSpPr>
        <p:spPr>
          <a:xfrm>
            <a:off x="5663880" y="2961720"/>
            <a:ext cx="516600" cy="256680"/>
          </a:xfrm>
          <a:prstGeom prst="rect">
            <a:avLst/>
          </a:prstGeom>
          <a:noFill/>
          <a:ln>
            <a:noFill/>
          </a:ln>
        </p:spPr>
        <p:txBody>
          <a:bodyPr spcFirstLastPara="1" wrap="square" lIns="0" tIns="10800" rIns="0" bIns="0" anchor="t" anchorCtr="0">
            <a:noAutofit/>
          </a:bodyPr>
          <a:lstStyle/>
          <a:p>
            <a:pPr marL="102959" marR="0" lvl="0" indent="-90359" algn="l" rtl="0">
              <a:lnSpc>
                <a:spcPct val="101000"/>
              </a:lnSpc>
              <a:spcBef>
                <a:spcPts val="0"/>
              </a:spcBef>
              <a:spcAft>
                <a:spcPts val="0"/>
              </a:spcAft>
              <a:buNone/>
            </a:pPr>
            <a:r>
              <a:rPr lang="en-US" sz="800" b="0" i="0" u="none" strike="noStrike" cap="none">
                <a:solidFill>
                  <a:srgbClr val="000000"/>
                </a:solidFill>
                <a:latin typeface="Arial"/>
                <a:ea typeface="Arial"/>
                <a:cs typeface="Arial"/>
                <a:sym typeface="Arial"/>
              </a:rPr>
              <a:t>Connected  Socket</a:t>
            </a:r>
            <a:endParaRPr sz="800" b="0" i="0" u="none" strike="noStrike" cap="none">
              <a:latin typeface="Arial"/>
              <a:ea typeface="Arial"/>
              <a:cs typeface="Arial"/>
              <a:sym typeface="Arial"/>
            </a:endParaRPr>
          </a:p>
        </p:txBody>
      </p:sp>
      <p:grpSp>
        <p:nvGrpSpPr>
          <p:cNvPr id="511" name="Google Shape;511;p33"/>
          <p:cNvGrpSpPr/>
          <p:nvPr/>
        </p:nvGrpSpPr>
        <p:grpSpPr>
          <a:xfrm>
            <a:off x="1103760" y="2267640"/>
            <a:ext cx="4399920" cy="965160"/>
            <a:chOff x="1103760" y="2267640"/>
            <a:chExt cx="4399920" cy="965160"/>
          </a:xfrm>
        </p:grpSpPr>
        <p:sp>
          <p:nvSpPr>
            <p:cNvPr id="512" name="Google Shape;512;p33"/>
            <p:cNvSpPr/>
            <p:nvPr/>
          </p:nvSpPr>
          <p:spPr>
            <a:xfrm>
              <a:off x="2546280" y="3102120"/>
              <a:ext cx="2957400" cy="114480"/>
            </a:xfrm>
            <a:custGeom>
              <a:avLst/>
              <a:gdLst/>
              <a:ahLst/>
              <a:cxnLst/>
              <a:rect l="l" t="t" r="r" b="b"/>
              <a:pathLst>
                <a:path w="2957829" h="114935" extrusionOk="0">
                  <a:moveTo>
                    <a:pt x="2957292" y="0"/>
                  </a:moveTo>
                  <a:lnTo>
                    <a:pt x="0" y="114783"/>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13" name="Google Shape;513;p33"/>
            <p:cNvSpPr/>
            <p:nvPr/>
          </p:nvSpPr>
          <p:spPr>
            <a:xfrm>
              <a:off x="2503080" y="3201480"/>
              <a:ext cx="43560" cy="31320"/>
            </a:xfrm>
            <a:custGeom>
              <a:avLst/>
              <a:gdLst/>
              <a:ahLst/>
              <a:cxnLst/>
              <a:rect l="l" t="t" r="r" b="b"/>
              <a:pathLst>
                <a:path w="43814" h="31750" extrusionOk="0">
                  <a:moveTo>
                    <a:pt x="43803" y="31441"/>
                  </a:moveTo>
                  <a:lnTo>
                    <a:pt x="0" y="17397"/>
                  </a:lnTo>
                  <a:lnTo>
                    <a:pt x="42582" y="0"/>
                  </a:lnTo>
                  <a:lnTo>
                    <a:pt x="43803" y="31441"/>
                  </a:lnTo>
                  <a:close/>
                </a:path>
              </a:pathLst>
            </a:custGeom>
            <a:solidFill>
              <a:srgbClr val="595959"/>
            </a:solidFill>
            <a:ln>
              <a:noFill/>
            </a:ln>
          </p:spPr>
          <p:txBody>
            <a:bodyPr/>
            <a:lstStyle/>
            <a:p>
              <a:endParaRPr lang="en-IN"/>
            </a:p>
          </p:txBody>
        </p:sp>
        <p:sp>
          <p:nvSpPr>
            <p:cNvPr id="514" name="Google Shape;514;p33"/>
            <p:cNvSpPr/>
            <p:nvPr/>
          </p:nvSpPr>
          <p:spPr>
            <a:xfrm>
              <a:off x="2503080" y="3201480"/>
              <a:ext cx="43560" cy="31320"/>
            </a:xfrm>
            <a:custGeom>
              <a:avLst/>
              <a:gdLst/>
              <a:ahLst/>
              <a:cxnLst/>
              <a:rect l="l" t="t" r="r" b="b"/>
              <a:pathLst>
                <a:path w="43814" h="31750" extrusionOk="0">
                  <a:moveTo>
                    <a:pt x="42582" y="0"/>
                  </a:moveTo>
                  <a:lnTo>
                    <a:pt x="0" y="17397"/>
                  </a:lnTo>
                  <a:lnTo>
                    <a:pt x="43803" y="31441"/>
                  </a:lnTo>
                  <a:lnTo>
                    <a:pt x="42582" y="0"/>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15" name="Google Shape;515;p33"/>
            <p:cNvSpPr/>
            <p:nvPr/>
          </p:nvSpPr>
          <p:spPr>
            <a:xfrm>
              <a:off x="1103760" y="2267640"/>
              <a:ext cx="1386000" cy="572400"/>
            </a:xfrm>
            <a:custGeom>
              <a:avLst/>
              <a:gdLst/>
              <a:ahLst/>
              <a:cxnLst/>
              <a:rect l="l" t="t" r="r" b="b"/>
              <a:pathLst>
                <a:path w="1386205" h="572769" extrusionOk="0">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lstStyle/>
            <a:p>
              <a:endParaRPr lang="en-IN"/>
            </a:p>
          </p:txBody>
        </p:sp>
        <p:sp>
          <p:nvSpPr>
            <p:cNvPr id="516" name="Google Shape;516;p33"/>
            <p:cNvSpPr/>
            <p:nvPr/>
          </p:nvSpPr>
          <p:spPr>
            <a:xfrm>
              <a:off x="1103760" y="2267640"/>
              <a:ext cx="1386000" cy="572400"/>
            </a:xfrm>
            <a:custGeom>
              <a:avLst/>
              <a:gdLst/>
              <a:ahLst/>
              <a:cxnLst/>
              <a:rect l="l" t="t" r="r" b="b"/>
              <a:pathLst>
                <a:path w="1386205" h="572769" extrusionOk="0">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17" name="Google Shape;517;p33"/>
          <p:cNvSpPr/>
          <p:nvPr/>
        </p:nvSpPr>
        <p:spPr>
          <a:xfrm>
            <a:off x="1482480" y="2429640"/>
            <a:ext cx="627480" cy="22608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Client 2</a:t>
            </a:r>
            <a:endParaRPr sz="1400" b="0" i="0" u="none" strike="noStrike" cap="none">
              <a:latin typeface="Arial"/>
              <a:ea typeface="Arial"/>
              <a:cs typeface="Arial"/>
              <a:sym typeface="Arial"/>
            </a:endParaRPr>
          </a:p>
        </p:txBody>
      </p:sp>
      <p:grpSp>
        <p:nvGrpSpPr>
          <p:cNvPr id="518" name="Google Shape;518;p33"/>
          <p:cNvGrpSpPr/>
          <p:nvPr/>
        </p:nvGrpSpPr>
        <p:grpSpPr>
          <a:xfrm>
            <a:off x="2489400" y="2538360"/>
            <a:ext cx="3000600" cy="31320"/>
            <a:chOff x="2489400" y="2538360"/>
            <a:chExt cx="3000600" cy="31320"/>
          </a:xfrm>
        </p:grpSpPr>
        <p:sp>
          <p:nvSpPr>
            <p:cNvPr id="519" name="Google Shape;519;p33"/>
            <p:cNvSpPr/>
            <p:nvPr/>
          </p:nvSpPr>
          <p:spPr>
            <a:xfrm>
              <a:off x="2489400" y="2554200"/>
              <a:ext cx="2957400" cy="360"/>
            </a:xfrm>
            <a:custGeom>
              <a:avLst/>
              <a:gdLst/>
              <a:ahLst/>
              <a:cxnLst/>
              <a:rect l="l" t="t" r="r" b="b"/>
              <a:pathLst>
                <a:path w="2957829" h="120000" extrusionOk="0">
                  <a:moveTo>
                    <a:pt x="0" y="0"/>
                  </a:moveTo>
                  <a:lnTo>
                    <a:pt x="2957249"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20" name="Google Shape;520;p33"/>
            <p:cNvSpPr/>
            <p:nvPr/>
          </p:nvSpPr>
          <p:spPr>
            <a:xfrm>
              <a:off x="5446440" y="2538360"/>
              <a:ext cx="43560" cy="31320"/>
            </a:xfrm>
            <a:custGeom>
              <a:avLst/>
              <a:gdLst/>
              <a:ahLst/>
              <a:cxnLst/>
              <a:rect l="l" t="t" r="r" b="b"/>
              <a:pathLst>
                <a:path w="43814" h="31750" extrusionOk="0">
                  <a:moveTo>
                    <a:pt x="0" y="31465"/>
                  </a:moveTo>
                  <a:lnTo>
                    <a:pt x="0" y="0"/>
                  </a:lnTo>
                  <a:lnTo>
                    <a:pt x="43225" y="15732"/>
                  </a:lnTo>
                  <a:lnTo>
                    <a:pt x="0" y="31465"/>
                  </a:lnTo>
                  <a:close/>
                </a:path>
              </a:pathLst>
            </a:custGeom>
            <a:solidFill>
              <a:srgbClr val="595959"/>
            </a:solidFill>
            <a:ln>
              <a:noFill/>
            </a:ln>
          </p:spPr>
          <p:txBody>
            <a:bodyPr/>
            <a:lstStyle/>
            <a:p>
              <a:endParaRPr lang="en-IN"/>
            </a:p>
          </p:txBody>
        </p:sp>
        <p:sp>
          <p:nvSpPr>
            <p:cNvPr id="521" name="Google Shape;521;p33"/>
            <p:cNvSpPr/>
            <p:nvPr/>
          </p:nvSpPr>
          <p:spPr>
            <a:xfrm>
              <a:off x="5446440" y="2538360"/>
              <a:ext cx="43560" cy="31320"/>
            </a:xfrm>
            <a:custGeom>
              <a:avLst/>
              <a:gdLst/>
              <a:ahLst/>
              <a:cxnLst/>
              <a:rect l="l" t="t" r="r" b="b"/>
              <a:pathLst>
                <a:path w="43814" h="31750" extrusionOk="0">
                  <a:moveTo>
                    <a:pt x="0" y="31465"/>
                  </a:moveTo>
                  <a:lnTo>
                    <a:pt x="43225" y="15732"/>
                  </a:lnTo>
                  <a:lnTo>
                    <a:pt x="0" y="0"/>
                  </a:lnTo>
                  <a:lnTo>
                    <a:pt x="0" y="31465"/>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22" name="Google Shape;522;p33"/>
          <p:cNvSpPr/>
          <p:nvPr/>
        </p:nvSpPr>
        <p:spPr>
          <a:xfrm>
            <a:off x="3113280" y="2335680"/>
            <a:ext cx="115488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Connection Request</a:t>
            </a:r>
            <a:endParaRPr sz="1000" b="0" i="0" u="none" strike="noStrike" cap="none">
              <a:latin typeface="Arial"/>
              <a:ea typeface="Arial"/>
              <a:cs typeface="Arial"/>
              <a:sym typeface="Arial"/>
            </a:endParaRPr>
          </a:p>
        </p:txBody>
      </p:sp>
      <p:sp>
        <p:nvSpPr>
          <p:cNvPr id="523" name="Google Shape;523;p33"/>
          <p:cNvSpPr/>
          <p:nvPr/>
        </p:nvSpPr>
        <p:spPr>
          <a:xfrm>
            <a:off x="3113280" y="2640600"/>
            <a:ext cx="53352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IP:Port</a:t>
            </a:r>
            <a:endParaRPr sz="1000" b="0" i="0" u="none" strike="noStrike" cap="none">
              <a:latin typeface="Arial"/>
              <a:ea typeface="Arial"/>
              <a:cs typeface="Arial"/>
              <a:sym typeface="Arial"/>
            </a:endParaRPr>
          </a:p>
        </p:txBody>
      </p:sp>
      <p:grpSp>
        <p:nvGrpSpPr>
          <p:cNvPr id="524" name="Google Shape;524;p33"/>
          <p:cNvGrpSpPr/>
          <p:nvPr/>
        </p:nvGrpSpPr>
        <p:grpSpPr>
          <a:xfrm>
            <a:off x="6354000" y="3086640"/>
            <a:ext cx="43560" cy="31320"/>
            <a:chOff x="6354000" y="3086640"/>
            <a:chExt cx="43560" cy="31320"/>
          </a:xfrm>
        </p:grpSpPr>
        <p:sp>
          <p:nvSpPr>
            <p:cNvPr id="525" name="Google Shape;525;p33"/>
            <p:cNvSpPr/>
            <p:nvPr/>
          </p:nvSpPr>
          <p:spPr>
            <a:xfrm>
              <a:off x="6354000" y="308664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526" name="Google Shape;526;p33"/>
            <p:cNvSpPr/>
            <p:nvPr/>
          </p:nvSpPr>
          <p:spPr>
            <a:xfrm>
              <a:off x="6354000" y="308664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27" name="Google Shape;527;p33"/>
          <p:cNvSpPr txBox="1"/>
          <p:nvPr/>
        </p:nvSpPr>
        <p:spPr>
          <a:xfrm>
            <a:off x="362880" y="228240"/>
            <a:ext cx="475200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800" b="0" i="0" u="none" strike="noStrike" cap="none">
                <a:solidFill>
                  <a:srgbClr val="434343"/>
                </a:solidFill>
                <a:latin typeface="Trebuchet MS"/>
                <a:ea typeface="Trebuchet MS"/>
                <a:cs typeface="Trebuchet MS"/>
                <a:sym typeface="Trebuchet MS"/>
              </a:rPr>
              <a:t>Multi threaded TCP server</a:t>
            </a:r>
            <a:endParaRPr sz="2800" b="0" i="0" u="none" strike="noStrike" cap="none">
              <a:solidFill>
                <a:srgbClr val="000000"/>
              </a:solidFill>
              <a:latin typeface="Arial"/>
              <a:ea typeface="Arial"/>
              <a:cs typeface="Arial"/>
              <a:sym typeface="Arial"/>
            </a:endParaRPr>
          </a:p>
        </p:txBody>
      </p:sp>
      <p:sp>
        <p:nvSpPr>
          <p:cNvPr id="528" name="Google Shape;528;p33"/>
          <p:cNvSpPr/>
          <p:nvPr/>
        </p:nvSpPr>
        <p:spPr>
          <a:xfrm>
            <a:off x="6968880" y="3016440"/>
            <a:ext cx="533520" cy="272160"/>
          </a:xfrm>
          <a:prstGeom prst="rect">
            <a:avLst/>
          </a:prstGeom>
          <a:noFill/>
          <a:ln>
            <a:noFill/>
          </a:ln>
        </p:spPr>
        <p:txBody>
          <a:bodyPr spcFirstLastPara="1" wrap="square" lIns="0" tIns="12600" rIns="0" bIns="0" anchor="t" anchorCtr="0">
            <a:noAutofit/>
          </a:bodyPr>
          <a:lstStyle/>
          <a:p>
            <a:pPr marL="38160" marR="0" lvl="0" indent="0" algn="l" rtl="0">
              <a:lnSpc>
                <a:spcPct val="100000"/>
              </a:lnSpc>
              <a:spcBef>
                <a:spcPts val="0"/>
              </a:spcBef>
              <a:spcAft>
                <a:spcPts val="0"/>
              </a:spcAft>
              <a:buNone/>
            </a:pPr>
            <a:r>
              <a:rPr lang="en-US" sz="1700" b="0" i="0" u="none" strike="noStrike" cap="none" baseline="30000">
                <a:solidFill>
                  <a:srgbClr val="000000"/>
                </a:solidFill>
                <a:latin typeface="Arial"/>
                <a:ea typeface="Arial"/>
                <a:cs typeface="Arial"/>
                <a:sym typeface="Arial"/>
              </a:rPr>
              <a:t>Thread</a:t>
            </a:r>
            <a:endParaRPr sz="1700" b="0" i="0" u="none" strike="noStrike" cap="non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grpSp>
        <p:nvGrpSpPr>
          <p:cNvPr id="533" name="Google Shape;533;p34"/>
          <p:cNvGrpSpPr/>
          <p:nvPr/>
        </p:nvGrpSpPr>
        <p:grpSpPr>
          <a:xfrm>
            <a:off x="5241240" y="2078640"/>
            <a:ext cx="3007800" cy="2017080"/>
            <a:chOff x="5241240" y="2078640"/>
            <a:chExt cx="3007800" cy="2017080"/>
          </a:xfrm>
        </p:grpSpPr>
        <p:sp>
          <p:nvSpPr>
            <p:cNvPr id="534" name="Google Shape;534;p34"/>
            <p:cNvSpPr/>
            <p:nvPr/>
          </p:nvSpPr>
          <p:spPr>
            <a:xfrm>
              <a:off x="5241240" y="2078640"/>
              <a:ext cx="3007800" cy="2017080"/>
            </a:xfrm>
            <a:custGeom>
              <a:avLst/>
              <a:gdLst/>
              <a:ahLst/>
              <a:cxnLst/>
              <a:rect l="l" t="t" r="r" b="b"/>
              <a:pathLst>
                <a:path w="3007995" h="2017395" extrusionOk="0">
                  <a:moveTo>
                    <a:pt x="2671592" y="2017199"/>
                  </a:moveTo>
                  <a:lnTo>
                    <a:pt x="336206" y="2017199"/>
                  </a:lnTo>
                  <a:lnTo>
                    <a:pt x="290585" y="2014130"/>
                  </a:lnTo>
                  <a:lnTo>
                    <a:pt x="246829" y="2005190"/>
                  </a:lnTo>
                  <a:lnTo>
                    <a:pt x="205339" y="1990779"/>
                  </a:lnTo>
                  <a:lnTo>
                    <a:pt x="166516" y="1971297"/>
                  </a:lnTo>
                  <a:lnTo>
                    <a:pt x="130760" y="1947147"/>
                  </a:lnTo>
                  <a:lnTo>
                    <a:pt x="98472" y="1918727"/>
                  </a:lnTo>
                  <a:lnTo>
                    <a:pt x="70052" y="1886439"/>
                  </a:lnTo>
                  <a:lnTo>
                    <a:pt x="45902" y="1850683"/>
                  </a:lnTo>
                  <a:lnTo>
                    <a:pt x="26420" y="1811860"/>
                  </a:lnTo>
                  <a:lnTo>
                    <a:pt x="12009" y="1770370"/>
                  </a:lnTo>
                  <a:lnTo>
                    <a:pt x="3069" y="1726614"/>
                  </a:lnTo>
                  <a:lnTo>
                    <a:pt x="0" y="1680993"/>
                  </a:lnTo>
                  <a:lnTo>
                    <a:pt x="0" y="336206"/>
                  </a:lnTo>
                  <a:lnTo>
                    <a:pt x="3069" y="290585"/>
                  </a:lnTo>
                  <a:lnTo>
                    <a:pt x="12009" y="246829"/>
                  </a:lnTo>
                  <a:lnTo>
                    <a:pt x="26420" y="205339"/>
                  </a:lnTo>
                  <a:lnTo>
                    <a:pt x="45902" y="166516"/>
                  </a:lnTo>
                  <a:lnTo>
                    <a:pt x="70052" y="130760"/>
                  </a:lnTo>
                  <a:lnTo>
                    <a:pt x="98472" y="98472"/>
                  </a:lnTo>
                  <a:lnTo>
                    <a:pt x="130760" y="70052"/>
                  </a:lnTo>
                  <a:lnTo>
                    <a:pt x="166516" y="45902"/>
                  </a:lnTo>
                  <a:lnTo>
                    <a:pt x="205339" y="26420"/>
                  </a:lnTo>
                  <a:lnTo>
                    <a:pt x="246829" y="12009"/>
                  </a:lnTo>
                  <a:lnTo>
                    <a:pt x="290585" y="3069"/>
                  </a:lnTo>
                  <a:lnTo>
                    <a:pt x="336206" y="0"/>
                  </a:lnTo>
                  <a:lnTo>
                    <a:pt x="2671592" y="0"/>
                  </a:lnTo>
                  <a:lnTo>
                    <a:pt x="2724504" y="4188"/>
                  </a:lnTo>
                  <a:lnTo>
                    <a:pt x="2775637" y="16503"/>
                  </a:lnTo>
                  <a:lnTo>
                    <a:pt x="2824087" y="36572"/>
                  </a:lnTo>
                  <a:lnTo>
                    <a:pt x="2868951" y="64019"/>
                  </a:lnTo>
                  <a:lnTo>
                    <a:pt x="2909327" y="98472"/>
                  </a:lnTo>
                  <a:lnTo>
                    <a:pt x="2943780" y="138848"/>
                  </a:lnTo>
                  <a:lnTo>
                    <a:pt x="2971227" y="183712"/>
                  </a:lnTo>
                  <a:lnTo>
                    <a:pt x="2991296" y="232162"/>
                  </a:lnTo>
                  <a:lnTo>
                    <a:pt x="3003611" y="283294"/>
                  </a:lnTo>
                  <a:lnTo>
                    <a:pt x="3007799" y="336206"/>
                  </a:lnTo>
                  <a:lnTo>
                    <a:pt x="3007799" y="1680993"/>
                  </a:lnTo>
                  <a:lnTo>
                    <a:pt x="3004730" y="1726614"/>
                  </a:lnTo>
                  <a:lnTo>
                    <a:pt x="2995790" y="1770370"/>
                  </a:lnTo>
                  <a:lnTo>
                    <a:pt x="2981379" y="1811860"/>
                  </a:lnTo>
                  <a:lnTo>
                    <a:pt x="2961897" y="1850683"/>
                  </a:lnTo>
                  <a:lnTo>
                    <a:pt x="2937747" y="1886439"/>
                  </a:lnTo>
                  <a:lnTo>
                    <a:pt x="2909327" y="1918727"/>
                  </a:lnTo>
                  <a:lnTo>
                    <a:pt x="2877039" y="1947147"/>
                  </a:lnTo>
                  <a:lnTo>
                    <a:pt x="2841283" y="1971297"/>
                  </a:lnTo>
                  <a:lnTo>
                    <a:pt x="2802459" y="1990779"/>
                  </a:lnTo>
                  <a:lnTo>
                    <a:pt x="2760970" y="2005190"/>
                  </a:lnTo>
                  <a:lnTo>
                    <a:pt x="2717214" y="2014130"/>
                  </a:lnTo>
                  <a:lnTo>
                    <a:pt x="2671592" y="2017199"/>
                  </a:lnTo>
                  <a:close/>
                </a:path>
              </a:pathLst>
            </a:custGeom>
            <a:solidFill>
              <a:srgbClr val="EEEEEE"/>
            </a:solidFill>
            <a:ln>
              <a:noFill/>
            </a:ln>
          </p:spPr>
          <p:txBody>
            <a:bodyPr/>
            <a:lstStyle/>
            <a:p>
              <a:endParaRPr lang="en-IN"/>
            </a:p>
          </p:txBody>
        </p:sp>
        <p:sp>
          <p:nvSpPr>
            <p:cNvPr id="535" name="Google Shape;535;p34"/>
            <p:cNvSpPr/>
            <p:nvPr/>
          </p:nvSpPr>
          <p:spPr>
            <a:xfrm>
              <a:off x="5241240" y="2078640"/>
              <a:ext cx="3007800" cy="2017080"/>
            </a:xfrm>
            <a:custGeom>
              <a:avLst/>
              <a:gdLst/>
              <a:ahLst/>
              <a:cxnLst/>
              <a:rect l="l" t="t" r="r" b="b"/>
              <a:pathLst>
                <a:path w="3007995" h="2017395" extrusionOk="0">
                  <a:moveTo>
                    <a:pt x="0" y="336206"/>
                  </a:moveTo>
                  <a:lnTo>
                    <a:pt x="3069" y="290585"/>
                  </a:lnTo>
                  <a:lnTo>
                    <a:pt x="12009" y="246829"/>
                  </a:lnTo>
                  <a:lnTo>
                    <a:pt x="26420" y="205339"/>
                  </a:lnTo>
                  <a:lnTo>
                    <a:pt x="45902" y="166516"/>
                  </a:lnTo>
                  <a:lnTo>
                    <a:pt x="70052" y="130760"/>
                  </a:lnTo>
                  <a:lnTo>
                    <a:pt x="98472" y="98472"/>
                  </a:lnTo>
                  <a:lnTo>
                    <a:pt x="130760" y="70052"/>
                  </a:lnTo>
                  <a:lnTo>
                    <a:pt x="166516" y="45902"/>
                  </a:lnTo>
                  <a:lnTo>
                    <a:pt x="205339" y="26420"/>
                  </a:lnTo>
                  <a:lnTo>
                    <a:pt x="246829" y="12009"/>
                  </a:lnTo>
                  <a:lnTo>
                    <a:pt x="290585" y="3069"/>
                  </a:lnTo>
                  <a:lnTo>
                    <a:pt x="336206" y="0"/>
                  </a:lnTo>
                  <a:lnTo>
                    <a:pt x="2671592" y="0"/>
                  </a:lnTo>
                  <a:lnTo>
                    <a:pt x="2724504" y="4188"/>
                  </a:lnTo>
                  <a:lnTo>
                    <a:pt x="2775637" y="16503"/>
                  </a:lnTo>
                  <a:lnTo>
                    <a:pt x="2824087" y="36572"/>
                  </a:lnTo>
                  <a:lnTo>
                    <a:pt x="2868951" y="64019"/>
                  </a:lnTo>
                  <a:lnTo>
                    <a:pt x="2909327" y="98472"/>
                  </a:lnTo>
                  <a:lnTo>
                    <a:pt x="2943780" y="138848"/>
                  </a:lnTo>
                  <a:lnTo>
                    <a:pt x="2971227" y="183712"/>
                  </a:lnTo>
                  <a:lnTo>
                    <a:pt x="2991296" y="232162"/>
                  </a:lnTo>
                  <a:lnTo>
                    <a:pt x="3003611" y="283294"/>
                  </a:lnTo>
                  <a:lnTo>
                    <a:pt x="3007799" y="336206"/>
                  </a:lnTo>
                  <a:lnTo>
                    <a:pt x="3007799" y="1680993"/>
                  </a:lnTo>
                  <a:lnTo>
                    <a:pt x="3004730" y="1726614"/>
                  </a:lnTo>
                  <a:lnTo>
                    <a:pt x="2995790" y="1770370"/>
                  </a:lnTo>
                  <a:lnTo>
                    <a:pt x="2981379" y="1811860"/>
                  </a:lnTo>
                  <a:lnTo>
                    <a:pt x="2961897" y="1850683"/>
                  </a:lnTo>
                  <a:lnTo>
                    <a:pt x="2937747" y="1886439"/>
                  </a:lnTo>
                  <a:lnTo>
                    <a:pt x="2909327" y="1918727"/>
                  </a:lnTo>
                  <a:lnTo>
                    <a:pt x="2877039" y="1947147"/>
                  </a:lnTo>
                  <a:lnTo>
                    <a:pt x="2841283" y="1971297"/>
                  </a:lnTo>
                  <a:lnTo>
                    <a:pt x="2802459" y="1990779"/>
                  </a:lnTo>
                  <a:lnTo>
                    <a:pt x="2760970" y="2005190"/>
                  </a:lnTo>
                  <a:lnTo>
                    <a:pt x="2717214" y="2014130"/>
                  </a:lnTo>
                  <a:lnTo>
                    <a:pt x="2671592" y="2017199"/>
                  </a:lnTo>
                  <a:lnTo>
                    <a:pt x="336206" y="2017199"/>
                  </a:lnTo>
                  <a:lnTo>
                    <a:pt x="290585" y="2014130"/>
                  </a:lnTo>
                  <a:lnTo>
                    <a:pt x="246829" y="2005190"/>
                  </a:lnTo>
                  <a:lnTo>
                    <a:pt x="205339" y="1990779"/>
                  </a:lnTo>
                  <a:lnTo>
                    <a:pt x="166516" y="1971297"/>
                  </a:lnTo>
                  <a:lnTo>
                    <a:pt x="130760" y="1947147"/>
                  </a:lnTo>
                  <a:lnTo>
                    <a:pt x="98472" y="1918727"/>
                  </a:lnTo>
                  <a:lnTo>
                    <a:pt x="70052" y="1886439"/>
                  </a:lnTo>
                  <a:lnTo>
                    <a:pt x="45902" y="1850683"/>
                  </a:lnTo>
                  <a:lnTo>
                    <a:pt x="26420" y="1811860"/>
                  </a:lnTo>
                  <a:lnTo>
                    <a:pt x="12009" y="1770370"/>
                  </a:lnTo>
                  <a:lnTo>
                    <a:pt x="3069" y="1726614"/>
                  </a:lnTo>
                  <a:lnTo>
                    <a:pt x="0" y="1680993"/>
                  </a:lnTo>
                  <a:lnTo>
                    <a:pt x="0" y="336206"/>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36" name="Google Shape;536;p34"/>
            <p:cNvSpPr/>
            <p:nvPr/>
          </p:nvSpPr>
          <p:spPr>
            <a:xfrm>
              <a:off x="6632640" y="2845440"/>
              <a:ext cx="1233360" cy="470160"/>
            </a:xfrm>
            <a:custGeom>
              <a:avLst/>
              <a:gdLst/>
              <a:ahLst/>
              <a:cxnLst/>
              <a:rect l="l" t="t" r="r" b="b"/>
              <a:pathLst>
                <a:path w="1233804" h="470535" extrusionOk="0">
                  <a:moveTo>
                    <a:pt x="1233599" y="470099"/>
                  </a:moveTo>
                  <a:lnTo>
                    <a:pt x="0" y="470099"/>
                  </a:lnTo>
                  <a:lnTo>
                    <a:pt x="0" y="0"/>
                  </a:lnTo>
                  <a:lnTo>
                    <a:pt x="1233599" y="0"/>
                  </a:lnTo>
                  <a:lnTo>
                    <a:pt x="1233599" y="470099"/>
                  </a:lnTo>
                  <a:close/>
                </a:path>
              </a:pathLst>
            </a:custGeom>
            <a:solidFill>
              <a:srgbClr val="EEEEEE"/>
            </a:solidFill>
            <a:ln>
              <a:noFill/>
            </a:ln>
          </p:spPr>
          <p:txBody>
            <a:bodyPr/>
            <a:lstStyle/>
            <a:p>
              <a:endParaRPr lang="en-IN"/>
            </a:p>
          </p:txBody>
        </p:sp>
      </p:grpSp>
      <p:sp>
        <p:nvSpPr>
          <p:cNvPr id="537" name="Google Shape;537;p34"/>
          <p:cNvSpPr/>
          <p:nvPr/>
        </p:nvSpPr>
        <p:spPr>
          <a:xfrm>
            <a:off x="6632640" y="2845440"/>
            <a:ext cx="1233360" cy="526320"/>
          </a:xfrm>
          <a:prstGeom prst="rect">
            <a:avLst/>
          </a:prstGeom>
          <a:noFill/>
          <a:ln w="9525" cap="flat" cmpd="sng">
            <a:solidFill>
              <a:srgbClr val="595959"/>
            </a:solidFill>
            <a:prstDash val="solid"/>
            <a:round/>
            <a:headEnd type="none" w="sm" len="sm"/>
            <a:tailEnd type="none" w="sm" len="sm"/>
          </a:ln>
        </p:spPr>
        <p:txBody>
          <a:bodyPr spcFirstLastPara="1" wrap="square" lIns="0" tIns="28425" rIns="0" bIns="0" anchor="t" anchorCtr="0">
            <a:noAutofit/>
          </a:bodyPr>
          <a:lstStyle/>
          <a:p>
            <a:pPr marL="295200" marR="0" lvl="0" indent="59040" algn="l" rtl="0">
              <a:lnSpc>
                <a:spcPct val="117000"/>
              </a:lnSpc>
              <a:spcBef>
                <a:spcPts val="0"/>
              </a:spcBef>
              <a:spcAft>
                <a:spcPts val="0"/>
              </a:spcAft>
              <a:buNone/>
            </a:pPr>
            <a:r>
              <a:rPr lang="en-US" sz="1400" b="0" i="0" u="none" strike="noStrike" cap="none">
                <a:solidFill>
                  <a:srgbClr val="000000"/>
                </a:solidFill>
                <a:latin typeface="Arial"/>
                <a:ea typeface="Arial"/>
                <a:cs typeface="Arial"/>
                <a:sym typeface="Arial"/>
              </a:rPr>
              <a:t>Server  Process</a:t>
            </a:r>
            <a:endParaRPr sz="1400" b="0" i="0" u="none" strike="noStrike" cap="none">
              <a:latin typeface="Arial"/>
              <a:ea typeface="Arial"/>
              <a:cs typeface="Arial"/>
              <a:sym typeface="Arial"/>
            </a:endParaRPr>
          </a:p>
        </p:txBody>
      </p:sp>
      <p:grpSp>
        <p:nvGrpSpPr>
          <p:cNvPr id="538" name="Google Shape;538;p34"/>
          <p:cNvGrpSpPr/>
          <p:nvPr/>
        </p:nvGrpSpPr>
        <p:grpSpPr>
          <a:xfrm>
            <a:off x="1103760" y="3342240"/>
            <a:ext cx="1386000" cy="572400"/>
            <a:chOff x="1103760" y="3342240"/>
            <a:chExt cx="1386000" cy="572400"/>
          </a:xfrm>
        </p:grpSpPr>
        <p:sp>
          <p:nvSpPr>
            <p:cNvPr id="539" name="Google Shape;539;p34"/>
            <p:cNvSpPr/>
            <p:nvPr/>
          </p:nvSpPr>
          <p:spPr>
            <a:xfrm>
              <a:off x="1103760" y="3342240"/>
              <a:ext cx="1386000" cy="572400"/>
            </a:xfrm>
            <a:custGeom>
              <a:avLst/>
              <a:gdLst/>
              <a:ahLst/>
              <a:cxnLst/>
              <a:rect l="l" t="t" r="r" b="b"/>
              <a:pathLst>
                <a:path w="1386205" h="572770" extrusionOk="0">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2"/>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2"/>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lstStyle/>
            <a:p>
              <a:endParaRPr lang="en-IN"/>
            </a:p>
          </p:txBody>
        </p:sp>
        <p:sp>
          <p:nvSpPr>
            <p:cNvPr id="540" name="Google Shape;540;p34"/>
            <p:cNvSpPr/>
            <p:nvPr/>
          </p:nvSpPr>
          <p:spPr>
            <a:xfrm>
              <a:off x="1103760" y="3342240"/>
              <a:ext cx="1386000" cy="572400"/>
            </a:xfrm>
            <a:custGeom>
              <a:avLst/>
              <a:gdLst/>
              <a:ahLst/>
              <a:cxnLst/>
              <a:rect l="l" t="t" r="r" b="b"/>
              <a:pathLst>
                <a:path w="1386205" h="572770" extrusionOk="0">
                  <a:moveTo>
                    <a:pt x="0" y="286349"/>
                  </a:moveTo>
                  <a:lnTo>
                    <a:pt x="3171" y="258772"/>
                  </a:lnTo>
                  <a:lnTo>
                    <a:pt x="12493" y="231936"/>
                  </a:lnTo>
                  <a:lnTo>
                    <a:pt x="48423" y="180970"/>
                  </a:lnTo>
                  <a:lnTo>
                    <a:pt x="105469" y="134410"/>
                  </a:lnTo>
                  <a:lnTo>
                    <a:pt x="141184" y="113082"/>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2"/>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41" name="Google Shape;541;p34"/>
          <p:cNvSpPr/>
          <p:nvPr/>
        </p:nvSpPr>
        <p:spPr>
          <a:xfrm>
            <a:off x="1482480" y="3503880"/>
            <a:ext cx="627480" cy="22608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Client 1</a:t>
            </a:r>
            <a:endParaRPr sz="1400" b="0" i="0" u="none" strike="noStrike" cap="none">
              <a:latin typeface="Arial"/>
              <a:ea typeface="Arial"/>
              <a:cs typeface="Arial"/>
              <a:sym typeface="Arial"/>
            </a:endParaRPr>
          </a:p>
        </p:txBody>
      </p:sp>
      <p:sp>
        <p:nvSpPr>
          <p:cNvPr id="542" name="Google Shape;542;p34"/>
          <p:cNvSpPr/>
          <p:nvPr/>
        </p:nvSpPr>
        <p:spPr>
          <a:xfrm>
            <a:off x="3561840" y="3696480"/>
            <a:ext cx="66636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Connection</a:t>
            </a:r>
            <a:endParaRPr sz="1000" b="0" i="0" u="none" strike="noStrike" cap="none">
              <a:latin typeface="Arial"/>
              <a:ea typeface="Arial"/>
              <a:cs typeface="Arial"/>
              <a:sym typeface="Arial"/>
            </a:endParaRPr>
          </a:p>
        </p:txBody>
      </p:sp>
      <p:grpSp>
        <p:nvGrpSpPr>
          <p:cNvPr id="543" name="Google Shape;543;p34"/>
          <p:cNvGrpSpPr/>
          <p:nvPr/>
        </p:nvGrpSpPr>
        <p:grpSpPr>
          <a:xfrm>
            <a:off x="5461560" y="2910960"/>
            <a:ext cx="920880" cy="338760"/>
            <a:chOff x="5461560" y="2910960"/>
            <a:chExt cx="920880" cy="338760"/>
          </a:xfrm>
        </p:grpSpPr>
        <p:sp>
          <p:nvSpPr>
            <p:cNvPr id="544" name="Google Shape;544;p34"/>
            <p:cNvSpPr/>
            <p:nvPr/>
          </p:nvSpPr>
          <p:spPr>
            <a:xfrm>
              <a:off x="5461560" y="2910960"/>
              <a:ext cx="920880" cy="338760"/>
            </a:xfrm>
            <a:custGeom>
              <a:avLst/>
              <a:gdLst/>
              <a:ahLst/>
              <a:cxnLst/>
              <a:rect l="l" t="t" r="r" b="b"/>
              <a:pathLst>
                <a:path w="921385" h="339089" extrusionOk="0">
                  <a:moveTo>
                    <a:pt x="836324" y="338699"/>
                  </a:moveTo>
                  <a:lnTo>
                    <a:pt x="0" y="338699"/>
                  </a:lnTo>
                  <a:lnTo>
                    <a:pt x="84674" y="0"/>
                  </a:lnTo>
                  <a:lnTo>
                    <a:pt x="920999" y="0"/>
                  </a:lnTo>
                  <a:lnTo>
                    <a:pt x="836324" y="338699"/>
                  </a:lnTo>
                  <a:close/>
                </a:path>
              </a:pathLst>
            </a:custGeom>
            <a:solidFill>
              <a:srgbClr val="EEEEEE"/>
            </a:solidFill>
            <a:ln>
              <a:noFill/>
            </a:ln>
          </p:spPr>
          <p:txBody>
            <a:bodyPr/>
            <a:lstStyle/>
            <a:p>
              <a:endParaRPr lang="en-IN"/>
            </a:p>
          </p:txBody>
        </p:sp>
        <p:sp>
          <p:nvSpPr>
            <p:cNvPr id="545" name="Google Shape;545;p34"/>
            <p:cNvSpPr/>
            <p:nvPr/>
          </p:nvSpPr>
          <p:spPr>
            <a:xfrm>
              <a:off x="5461560" y="291096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46" name="Google Shape;546;p34"/>
          <p:cNvSpPr/>
          <p:nvPr/>
        </p:nvSpPr>
        <p:spPr>
          <a:xfrm>
            <a:off x="5655240" y="2910240"/>
            <a:ext cx="533520" cy="317520"/>
          </a:xfrm>
          <a:prstGeom prst="rect">
            <a:avLst/>
          </a:prstGeom>
          <a:noFill/>
          <a:ln>
            <a:noFill/>
          </a:ln>
        </p:spPr>
        <p:txBody>
          <a:bodyPr spcFirstLastPara="1" wrap="square" lIns="0" tIns="12600" rIns="0" bIns="0" anchor="t" anchorCtr="0">
            <a:noAutofit/>
          </a:bodyPr>
          <a:lstStyle/>
          <a:p>
            <a:pPr marL="72360" marR="0" lvl="0" indent="-60119" algn="l" rtl="0">
              <a:lnSpc>
                <a:spcPct val="100000"/>
              </a:lnSpc>
              <a:spcBef>
                <a:spcPts val="0"/>
              </a:spcBef>
              <a:spcAft>
                <a:spcPts val="0"/>
              </a:spcAft>
              <a:buNone/>
            </a:pPr>
            <a:r>
              <a:rPr lang="en-US" sz="1000" b="0" i="0" u="none" strike="noStrike" cap="none">
                <a:solidFill>
                  <a:srgbClr val="000000"/>
                </a:solidFill>
                <a:latin typeface="Arial"/>
                <a:ea typeface="Arial"/>
                <a:cs typeface="Arial"/>
                <a:sym typeface="Arial"/>
              </a:rPr>
              <a:t>Listening  Socket</a:t>
            </a:r>
            <a:endParaRPr sz="1000" b="0" i="0" u="none" strike="noStrike" cap="none">
              <a:latin typeface="Arial"/>
              <a:ea typeface="Arial"/>
              <a:cs typeface="Arial"/>
              <a:sym typeface="Arial"/>
            </a:endParaRPr>
          </a:p>
        </p:txBody>
      </p:sp>
      <p:grpSp>
        <p:nvGrpSpPr>
          <p:cNvPr id="547" name="Google Shape;547;p34"/>
          <p:cNvGrpSpPr/>
          <p:nvPr/>
        </p:nvGrpSpPr>
        <p:grpSpPr>
          <a:xfrm>
            <a:off x="5461560" y="3064680"/>
            <a:ext cx="2203560" cy="733320"/>
            <a:chOff x="5461560" y="3064680"/>
            <a:chExt cx="2203560" cy="733320"/>
          </a:xfrm>
        </p:grpSpPr>
        <p:sp>
          <p:nvSpPr>
            <p:cNvPr id="548" name="Google Shape;548;p34"/>
            <p:cNvSpPr/>
            <p:nvPr/>
          </p:nvSpPr>
          <p:spPr>
            <a:xfrm>
              <a:off x="6397200" y="3080520"/>
              <a:ext cx="235080" cy="360"/>
            </a:xfrm>
            <a:custGeom>
              <a:avLst/>
              <a:gdLst/>
              <a:ahLst/>
              <a:cxnLst/>
              <a:rect l="l" t="t" r="r" b="b"/>
              <a:pathLst>
                <a:path w="235584" h="120000" extrusionOk="0">
                  <a:moveTo>
                    <a:pt x="235349" y="0"/>
                  </a:moveTo>
                  <a:lnTo>
                    <a:pt x="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49" name="Google Shape;549;p34"/>
            <p:cNvSpPr/>
            <p:nvPr/>
          </p:nvSpPr>
          <p:spPr>
            <a:xfrm>
              <a:off x="6354000" y="306468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550" name="Google Shape;550;p34"/>
            <p:cNvSpPr/>
            <p:nvPr/>
          </p:nvSpPr>
          <p:spPr>
            <a:xfrm>
              <a:off x="6354000" y="306468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51" name="Google Shape;551;p34"/>
            <p:cNvSpPr/>
            <p:nvPr/>
          </p:nvSpPr>
          <p:spPr>
            <a:xfrm>
              <a:off x="6833520" y="3461400"/>
              <a:ext cx="831600" cy="334440"/>
            </a:xfrm>
            <a:custGeom>
              <a:avLst/>
              <a:gdLst/>
              <a:ahLst/>
              <a:cxnLst/>
              <a:rect l="l" t="t" r="r" b="b"/>
              <a:pathLst>
                <a:path w="831850" h="334645" extrusionOk="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lstStyle/>
            <a:p>
              <a:endParaRPr lang="en-IN"/>
            </a:p>
          </p:txBody>
        </p:sp>
        <p:sp>
          <p:nvSpPr>
            <p:cNvPr id="552" name="Google Shape;552;p34"/>
            <p:cNvSpPr/>
            <p:nvPr/>
          </p:nvSpPr>
          <p:spPr>
            <a:xfrm>
              <a:off x="6833520" y="3461400"/>
              <a:ext cx="831600" cy="334440"/>
            </a:xfrm>
            <a:custGeom>
              <a:avLst/>
              <a:gdLst/>
              <a:ahLst/>
              <a:cxnLst/>
              <a:rect l="l" t="t" r="r" b="b"/>
              <a:pathLst>
                <a:path w="831850" h="334645" extrusionOk="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53" name="Google Shape;553;p34"/>
            <p:cNvSpPr/>
            <p:nvPr/>
          </p:nvSpPr>
          <p:spPr>
            <a:xfrm>
              <a:off x="5461560" y="3459240"/>
              <a:ext cx="920880" cy="338760"/>
            </a:xfrm>
            <a:custGeom>
              <a:avLst/>
              <a:gdLst/>
              <a:ahLst/>
              <a:cxnLst/>
              <a:rect l="l" t="t" r="r" b="b"/>
              <a:pathLst>
                <a:path w="921385" h="339089" extrusionOk="0">
                  <a:moveTo>
                    <a:pt x="836324" y="338699"/>
                  </a:moveTo>
                  <a:lnTo>
                    <a:pt x="0" y="338699"/>
                  </a:lnTo>
                  <a:lnTo>
                    <a:pt x="84674" y="0"/>
                  </a:lnTo>
                  <a:lnTo>
                    <a:pt x="920999" y="0"/>
                  </a:lnTo>
                  <a:lnTo>
                    <a:pt x="836324" y="338699"/>
                  </a:lnTo>
                  <a:close/>
                </a:path>
              </a:pathLst>
            </a:custGeom>
            <a:solidFill>
              <a:srgbClr val="EEEEEE"/>
            </a:solidFill>
            <a:ln>
              <a:noFill/>
            </a:ln>
          </p:spPr>
          <p:txBody>
            <a:bodyPr/>
            <a:lstStyle/>
            <a:p>
              <a:endParaRPr lang="en-IN"/>
            </a:p>
          </p:txBody>
        </p:sp>
        <p:sp>
          <p:nvSpPr>
            <p:cNvPr id="554" name="Google Shape;554;p34"/>
            <p:cNvSpPr/>
            <p:nvPr/>
          </p:nvSpPr>
          <p:spPr>
            <a:xfrm>
              <a:off x="5461560" y="345924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55" name="Google Shape;555;p34"/>
          <p:cNvSpPr/>
          <p:nvPr/>
        </p:nvSpPr>
        <p:spPr>
          <a:xfrm>
            <a:off x="5663880" y="3488040"/>
            <a:ext cx="516600" cy="256680"/>
          </a:xfrm>
          <a:prstGeom prst="rect">
            <a:avLst/>
          </a:prstGeom>
          <a:noFill/>
          <a:ln>
            <a:noFill/>
          </a:ln>
        </p:spPr>
        <p:txBody>
          <a:bodyPr spcFirstLastPara="1" wrap="square" lIns="0" tIns="10800" rIns="0" bIns="0" anchor="t" anchorCtr="0">
            <a:noAutofit/>
          </a:bodyPr>
          <a:lstStyle/>
          <a:p>
            <a:pPr marL="102959" marR="0" lvl="0" indent="-90359" algn="l" rtl="0">
              <a:lnSpc>
                <a:spcPct val="101000"/>
              </a:lnSpc>
              <a:spcBef>
                <a:spcPts val="0"/>
              </a:spcBef>
              <a:spcAft>
                <a:spcPts val="0"/>
              </a:spcAft>
              <a:buNone/>
            </a:pPr>
            <a:r>
              <a:rPr lang="en-US" sz="800" b="0" i="0" u="none" strike="noStrike" cap="none">
                <a:solidFill>
                  <a:srgbClr val="000000"/>
                </a:solidFill>
                <a:latin typeface="Arial"/>
                <a:ea typeface="Arial"/>
                <a:cs typeface="Arial"/>
                <a:sym typeface="Arial"/>
              </a:rPr>
              <a:t>Connected  Socket</a:t>
            </a:r>
            <a:endParaRPr sz="800" b="0" i="0" u="none" strike="noStrike" cap="none">
              <a:latin typeface="Arial"/>
              <a:ea typeface="Arial"/>
              <a:cs typeface="Arial"/>
              <a:sym typeface="Arial"/>
            </a:endParaRPr>
          </a:p>
        </p:txBody>
      </p:sp>
      <p:sp>
        <p:nvSpPr>
          <p:cNvPr id="556" name="Google Shape;556;p34"/>
          <p:cNvSpPr/>
          <p:nvPr/>
        </p:nvSpPr>
        <p:spPr>
          <a:xfrm>
            <a:off x="6968880" y="3549600"/>
            <a:ext cx="533520" cy="272160"/>
          </a:xfrm>
          <a:prstGeom prst="rect">
            <a:avLst/>
          </a:prstGeom>
          <a:noFill/>
          <a:ln>
            <a:noFill/>
          </a:ln>
        </p:spPr>
        <p:txBody>
          <a:bodyPr spcFirstLastPara="1" wrap="square" lIns="0" tIns="12600" rIns="0" bIns="0" anchor="t" anchorCtr="0">
            <a:noAutofit/>
          </a:bodyPr>
          <a:lstStyle/>
          <a:p>
            <a:pPr marL="38160" marR="0" lvl="0" indent="0" algn="l" rtl="0">
              <a:lnSpc>
                <a:spcPct val="100000"/>
              </a:lnSpc>
              <a:spcBef>
                <a:spcPts val="0"/>
              </a:spcBef>
              <a:spcAft>
                <a:spcPts val="0"/>
              </a:spcAft>
              <a:buNone/>
            </a:pPr>
            <a:r>
              <a:rPr lang="en-US" sz="1700" b="0" i="0" u="none" strike="noStrike" cap="none" baseline="30000">
                <a:solidFill>
                  <a:srgbClr val="000000"/>
                </a:solidFill>
                <a:latin typeface="Arial"/>
                <a:ea typeface="Arial"/>
                <a:cs typeface="Arial"/>
                <a:sym typeface="Arial"/>
              </a:rPr>
              <a:t>Thread</a:t>
            </a:r>
            <a:endParaRPr sz="1700" b="0" i="0" u="none" strike="noStrike" cap="none">
              <a:latin typeface="Arial"/>
              <a:ea typeface="Arial"/>
              <a:cs typeface="Arial"/>
              <a:sym typeface="Arial"/>
            </a:endParaRPr>
          </a:p>
        </p:txBody>
      </p:sp>
      <p:grpSp>
        <p:nvGrpSpPr>
          <p:cNvPr id="557" name="Google Shape;557;p34"/>
          <p:cNvGrpSpPr/>
          <p:nvPr/>
        </p:nvGrpSpPr>
        <p:grpSpPr>
          <a:xfrm>
            <a:off x="1144440" y="2243520"/>
            <a:ext cx="4359600" cy="1400400"/>
            <a:chOff x="1144440" y="2243520"/>
            <a:chExt cx="4359600" cy="1400400"/>
          </a:xfrm>
        </p:grpSpPr>
        <p:sp>
          <p:nvSpPr>
            <p:cNvPr id="558" name="Google Shape;558;p34"/>
            <p:cNvSpPr/>
            <p:nvPr/>
          </p:nvSpPr>
          <p:spPr>
            <a:xfrm>
              <a:off x="2546640" y="3628440"/>
              <a:ext cx="2957400" cy="360"/>
            </a:xfrm>
            <a:custGeom>
              <a:avLst/>
              <a:gdLst/>
              <a:ahLst/>
              <a:cxnLst/>
              <a:rect l="l" t="t" r="r" b="b"/>
              <a:pathLst>
                <a:path w="2957829" h="120000" extrusionOk="0">
                  <a:moveTo>
                    <a:pt x="2957249" y="0"/>
                  </a:moveTo>
                  <a:lnTo>
                    <a:pt x="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59" name="Google Shape;559;p34"/>
            <p:cNvSpPr/>
            <p:nvPr/>
          </p:nvSpPr>
          <p:spPr>
            <a:xfrm>
              <a:off x="2503440" y="361260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560" name="Google Shape;560;p34"/>
            <p:cNvSpPr/>
            <p:nvPr/>
          </p:nvSpPr>
          <p:spPr>
            <a:xfrm>
              <a:off x="2503440" y="361260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61" name="Google Shape;561;p34"/>
            <p:cNvSpPr/>
            <p:nvPr/>
          </p:nvSpPr>
          <p:spPr>
            <a:xfrm>
              <a:off x="1144440" y="2243520"/>
              <a:ext cx="1386000" cy="572400"/>
            </a:xfrm>
            <a:custGeom>
              <a:avLst/>
              <a:gdLst/>
              <a:ahLst/>
              <a:cxnLst/>
              <a:rect l="l" t="t" r="r" b="b"/>
              <a:pathLst>
                <a:path w="1386205" h="572769" extrusionOk="0">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lstStyle/>
            <a:p>
              <a:endParaRPr lang="en-IN"/>
            </a:p>
          </p:txBody>
        </p:sp>
        <p:sp>
          <p:nvSpPr>
            <p:cNvPr id="562" name="Google Shape;562;p34"/>
            <p:cNvSpPr/>
            <p:nvPr/>
          </p:nvSpPr>
          <p:spPr>
            <a:xfrm>
              <a:off x="1144440" y="2243520"/>
              <a:ext cx="1386000" cy="572400"/>
            </a:xfrm>
            <a:custGeom>
              <a:avLst/>
              <a:gdLst/>
              <a:ahLst/>
              <a:cxnLst/>
              <a:rect l="l" t="t" r="r" b="b"/>
              <a:pathLst>
                <a:path w="1386205" h="572769" extrusionOk="0">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63" name="Google Shape;563;p34"/>
          <p:cNvSpPr/>
          <p:nvPr/>
        </p:nvSpPr>
        <p:spPr>
          <a:xfrm>
            <a:off x="1523160" y="2405520"/>
            <a:ext cx="627480" cy="22608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Client 2</a:t>
            </a:r>
            <a:endParaRPr sz="1400" b="0" i="0" u="none" strike="noStrike" cap="none">
              <a:latin typeface="Arial"/>
              <a:ea typeface="Arial"/>
              <a:cs typeface="Arial"/>
              <a:sym typeface="Arial"/>
            </a:endParaRPr>
          </a:p>
        </p:txBody>
      </p:sp>
      <p:sp>
        <p:nvSpPr>
          <p:cNvPr id="564" name="Google Shape;564;p34"/>
          <p:cNvSpPr/>
          <p:nvPr/>
        </p:nvSpPr>
        <p:spPr>
          <a:xfrm>
            <a:off x="3455640" y="2259360"/>
            <a:ext cx="666360" cy="16524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000" b="0" i="0" u="none" strike="noStrike" cap="none">
                <a:solidFill>
                  <a:srgbClr val="000000"/>
                </a:solidFill>
                <a:latin typeface="Trebuchet MS"/>
                <a:ea typeface="Trebuchet MS"/>
                <a:cs typeface="Trebuchet MS"/>
                <a:sym typeface="Trebuchet MS"/>
              </a:rPr>
              <a:t>Connection</a:t>
            </a:r>
            <a:endParaRPr sz="1000" b="0" i="0" u="none" strike="noStrike" cap="none">
              <a:latin typeface="Arial"/>
              <a:ea typeface="Arial"/>
              <a:cs typeface="Arial"/>
              <a:sym typeface="Arial"/>
            </a:endParaRPr>
          </a:p>
        </p:txBody>
      </p:sp>
      <p:grpSp>
        <p:nvGrpSpPr>
          <p:cNvPr id="565" name="Google Shape;565;p34"/>
          <p:cNvGrpSpPr/>
          <p:nvPr/>
        </p:nvGrpSpPr>
        <p:grpSpPr>
          <a:xfrm>
            <a:off x="5461560" y="2360520"/>
            <a:ext cx="2203560" cy="338760"/>
            <a:chOff x="5461560" y="2360520"/>
            <a:chExt cx="2203560" cy="338760"/>
          </a:xfrm>
        </p:grpSpPr>
        <p:sp>
          <p:nvSpPr>
            <p:cNvPr id="566" name="Google Shape;566;p34"/>
            <p:cNvSpPr/>
            <p:nvPr/>
          </p:nvSpPr>
          <p:spPr>
            <a:xfrm>
              <a:off x="6833520" y="2363040"/>
              <a:ext cx="831600" cy="334440"/>
            </a:xfrm>
            <a:custGeom>
              <a:avLst/>
              <a:gdLst/>
              <a:ahLst/>
              <a:cxnLst/>
              <a:rect l="l" t="t" r="r" b="b"/>
              <a:pathLst>
                <a:path w="831850" h="334644" extrusionOk="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lstStyle/>
            <a:p>
              <a:endParaRPr lang="en-IN"/>
            </a:p>
          </p:txBody>
        </p:sp>
        <p:sp>
          <p:nvSpPr>
            <p:cNvPr id="567" name="Google Shape;567;p34"/>
            <p:cNvSpPr/>
            <p:nvPr/>
          </p:nvSpPr>
          <p:spPr>
            <a:xfrm>
              <a:off x="6833520" y="2363040"/>
              <a:ext cx="831600" cy="334440"/>
            </a:xfrm>
            <a:custGeom>
              <a:avLst/>
              <a:gdLst/>
              <a:ahLst/>
              <a:cxnLst/>
              <a:rect l="l" t="t" r="r" b="b"/>
              <a:pathLst>
                <a:path w="831850" h="334644" extrusionOk="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68" name="Google Shape;568;p34"/>
            <p:cNvSpPr/>
            <p:nvPr/>
          </p:nvSpPr>
          <p:spPr>
            <a:xfrm>
              <a:off x="5461560" y="2360520"/>
              <a:ext cx="920880" cy="338760"/>
            </a:xfrm>
            <a:custGeom>
              <a:avLst/>
              <a:gdLst/>
              <a:ahLst/>
              <a:cxnLst/>
              <a:rect l="l" t="t" r="r" b="b"/>
              <a:pathLst>
                <a:path w="921385" h="339089" extrusionOk="0">
                  <a:moveTo>
                    <a:pt x="836324" y="338699"/>
                  </a:moveTo>
                  <a:lnTo>
                    <a:pt x="0" y="338699"/>
                  </a:lnTo>
                  <a:lnTo>
                    <a:pt x="84674" y="0"/>
                  </a:lnTo>
                  <a:lnTo>
                    <a:pt x="920999" y="0"/>
                  </a:lnTo>
                  <a:lnTo>
                    <a:pt x="836324" y="338699"/>
                  </a:lnTo>
                  <a:close/>
                </a:path>
              </a:pathLst>
            </a:custGeom>
            <a:solidFill>
              <a:srgbClr val="EEEEEE"/>
            </a:solidFill>
            <a:ln>
              <a:noFill/>
            </a:ln>
          </p:spPr>
          <p:txBody>
            <a:bodyPr/>
            <a:lstStyle/>
            <a:p>
              <a:endParaRPr lang="en-IN"/>
            </a:p>
          </p:txBody>
        </p:sp>
        <p:sp>
          <p:nvSpPr>
            <p:cNvPr id="569" name="Google Shape;569;p34"/>
            <p:cNvSpPr/>
            <p:nvPr/>
          </p:nvSpPr>
          <p:spPr>
            <a:xfrm>
              <a:off x="5461560" y="2360520"/>
              <a:ext cx="920880" cy="338760"/>
            </a:xfrm>
            <a:custGeom>
              <a:avLst/>
              <a:gdLst/>
              <a:ahLst/>
              <a:cxnLst/>
              <a:rect l="l" t="t" r="r" b="b"/>
              <a:pathLst>
                <a:path w="921385" h="339089" extrusionOk="0">
                  <a:moveTo>
                    <a:pt x="0" y="338699"/>
                  </a:moveTo>
                  <a:lnTo>
                    <a:pt x="84674" y="0"/>
                  </a:lnTo>
                  <a:lnTo>
                    <a:pt x="920999" y="0"/>
                  </a:lnTo>
                  <a:lnTo>
                    <a:pt x="836324" y="338699"/>
                  </a:lnTo>
                  <a:lnTo>
                    <a:pt x="0" y="338699"/>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70" name="Google Shape;570;p34"/>
          <p:cNvSpPr/>
          <p:nvPr/>
        </p:nvSpPr>
        <p:spPr>
          <a:xfrm>
            <a:off x="5663880" y="2389320"/>
            <a:ext cx="516600" cy="256680"/>
          </a:xfrm>
          <a:prstGeom prst="rect">
            <a:avLst/>
          </a:prstGeom>
          <a:noFill/>
          <a:ln>
            <a:noFill/>
          </a:ln>
        </p:spPr>
        <p:txBody>
          <a:bodyPr spcFirstLastPara="1" wrap="square" lIns="0" tIns="10800" rIns="0" bIns="0" anchor="t" anchorCtr="0">
            <a:noAutofit/>
          </a:bodyPr>
          <a:lstStyle/>
          <a:p>
            <a:pPr marL="102959" marR="0" lvl="0" indent="-90359" algn="l" rtl="0">
              <a:lnSpc>
                <a:spcPct val="101000"/>
              </a:lnSpc>
              <a:spcBef>
                <a:spcPts val="0"/>
              </a:spcBef>
              <a:spcAft>
                <a:spcPts val="0"/>
              </a:spcAft>
              <a:buNone/>
            </a:pPr>
            <a:r>
              <a:rPr lang="en-US" sz="800" b="0" i="0" u="none" strike="noStrike" cap="none">
                <a:solidFill>
                  <a:srgbClr val="000000"/>
                </a:solidFill>
                <a:latin typeface="Arial"/>
                <a:ea typeface="Arial"/>
                <a:cs typeface="Arial"/>
                <a:sym typeface="Arial"/>
              </a:rPr>
              <a:t>Connected  Socket</a:t>
            </a:r>
            <a:endParaRPr sz="800" b="0" i="0" u="none" strike="noStrike" cap="none">
              <a:latin typeface="Arial"/>
              <a:ea typeface="Arial"/>
              <a:cs typeface="Arial"/>
              <a:sym typeface="Arial"/>
            </a:endParaRPr>
          </a:p>
        </p:txBody>
      </p:sp>
      <p:grpSp>
        <p:nvGrpSpPr>
          <p:cNvPr id="571" name="Google Shape;571;p34"/>
          <p:cNvGrpSpPr/>
          <p:nvPr/>
        </p:nvGrpSpPr>
        <p:grpSpPr>
          <a:xfrm>
            <a:off x="2544120" y="2514240"/>
            <a:ext cx="3853440" cy="1129680"/>
            <a:chOff x="2544120" y="2514240"/>
            <a:chExt cx="3853440" cy="1129680"/>
          </a:xfrm>
        </p:grpSpPr>
        <p:sp>
          <p:nvSpPr>
            <p:cNvPr id="572" name="Google Shape;572;p34"/>
            <p:cNvSpPr/>
            <p:nvPr/>
          </p:nvSpPr>
          <p:spPr>
            <a:xfrm>
              <a:off x="6354000" y="361260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573" name="Google Shape;573;p34"/>
            <p:cNvSpPr/>
            <p:nvPr/>
          </p:nvSpPr>
          <p:spPr>
            <a:xfrm>
              <a:off x="6354000" y="361260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74" name="Google Shape;574;p34"/>
            <p:cNvSpPr/>
            <p:nvPr/>
          </p:nvSpPr>
          <p:spPr>
            <a:xfrm>
              <a:off x="6354000" y="251424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575" name="Google Shape;575;p34"/>
            <p:cNvSpPr/>
            <p:nvPr/>
          </p:nvSpPr>
          <p:spPr>
            <a:xfrm>
              <a:off x="6354000" y="251424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76" name="Google Shape;576;p34"/>
            <p:cNvSpPr/>
            <p:nvPr/>
          </p:nvSpPr>
          <p:spPr>
            <a:xfrm>
              <a:off x="2587320" y="2530080"/>
              <a:ext cx="2916360" cy="360"/>
            </a:xfrm>
            <a:custGeom>
              <a:avLst/>
              <a:gdLst/>
              <a:ahLst/>
              <a:cxnLst/>
              <a:rect l="l" t="t" r="r" b="b"/>
              <a:pathLst>
                <a:path w="2916554" h="120000" extrusionOk="0">
                  <a:moveTo>
                    <a:pt x="2916449" y="0"/>
                  </a:moveTo>
                  <a:lnTo>
                    <a:pt x="0" y="0"/>
                  </a:lnTo>
                </a:path>
              </a:pathLst>
            </a:custGeom>
            <a:noFill/>
            <a:ln w="9525" cap="flat" cmpd="sng">
              <a:solidFill>
                <a:srgbClr val="595959"/>
              </a:solidFill>
              <a:prstDash val="solid"/>
              <a:round/>
              <a:headEnd type="none" w="sm" len="sm"/>
              <a:tailEnd type="none" w="sm" len="sm"/>
            </a:ln>
          </p:spPr>
          <p:txBody>
            <a:bodyPr/>
            <a:lstStyle/>
            <a:p>
              <a:endParaRPr lang="en-IN"/>
            </a:p>
          </p:txBody>
        </p:sp>
        <p:sp>
          <p:nvSpPr>
            <p:cNvPr id="577" name="Google Shape;577;p34"/>
            <p:cNvSpPr/>
            <p:nvPr/>
          </p:nvSpPr>
          <p:spPr>
            <a:xfrm>
              <a:off x="2544120" y="2514240"/>
              <a:ext cx="43560" cy="31320"/>
            </a:xfrm>
            <a:custGeom>
              <a:avLst/>
              <a:gdLst/>
              <a:ahLst/>
              <a:cxnLst/>
              <a:rect l="l" t="t" r="r" b="b"/>
              <a:pathLst>
                <a:path w="43814" h="31750" extrusionOk="0">
                  <a:moveTo>
                    <a:pt x="43225" y="31465"/>
                  </a:moveTo>
                  <a:lnTo>
                    <a:pt x="0" y="15732"/>
                  </a:lnTo>
                  <a:lnTo>
                    <a:pt x="43225" y="0"/>
                  </a:lnTo>
                  <a:lnTo>
                    <a:pt x="43225" y="31465"/>
                  </a:lnTo>
                  <a:close/>
                </a:path>
              </a:pathLst>
            </a:custGeom>
            <a:solidFill>
              <a:srgbClr val="595959"/>
            </a:solidFill>
            <a:ln>
              <a:noFill/>
            </a:ln>
          </p:spPr>
          <p:txBody>
            <a:bodyPr/>
            <a:lstStyle/>
            <a:p>
              <a:endParaRPr lang="en-IN"/>
            </a:p>
          </p:txBody>
        </p:sp>
        <p:sp>
          <p:nvSpPr>
            <p:cNvPr id="578" name="Google Shape;578;p34"/>
            <p:cNvSpPr/>
            <p:nvPr/>
          </p:nvSpPr>
          <p:spPr>
            <a:xfrm>
              <a:off x="2544120" y="2514240"/>
              <a:ext cx="43560" cy="31320"/>
            </a:xfrm>
            <a:custGeom>
              <a:avLst/>
              <a:gdLst/>
              <a:ahLst/>
              <a:cxnLst/>
              <a:rect l="l" t="t" r="r" b="b"/>
              <a:pathLst>
                <a:path w="43814" h="31750" extrusionOk="0">
                  <a:moveTo>
                    <a:pt x="43225" y="0"/>
                  </a:moveTo>
                  <a:lnTo>
                    <a:pt x="0" y="15732"/>
                  </a:lnTo>
                  <a:lnTo>
                    <a:pt x="43225" y="31465"/>
                  </a:lnTo>
                  <a:lnTo>
                    <a:pt x="43225" y="0"/>
                  </a:lnTo>
                  <a:close/>
                </a:path>
              </a:pathLst>
            </a:custGeom>
            <a:noFill/>
            <a:ln w="9525" cap="flat" cmpd="sng">
              <a:solidFill>
                <a:srgbClr val="595959"/>
              </a:solidFill>
              <a:prstDash val="solid"/>
              <a:round/>
              <a:headEnd type="none" w="sm" len="sm"/>
              <a:tailEnd type="none" w="sm" len="sm"/>
            </a:ln>
          </p:spPr>
          <p:txBody>
            <a:bodyPr/>
            <a:lstStyle/>
            <a:p>
              <a:endParaRPr lang="en-IN"/>
            </a:p>
          </p:txBody>
        </p:sp>
      </p:grpSp>
      <p:sp>
        <p:nvSpPr>
          <p:cNvPr id="579" name="Google Shape;579;p34"/>
          <p:cNvSpPr/>
          <p:nvPr/>
        </p:nvSpPr>
        <p:spPr>
          <a:xfrm>
            <a:off x="1566360" y="4572720"/>
            <a:ext cx="6098760" cy="22608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1400" b="0" i="0" u="none" strike="noStrike" cap="none">
                <a:solidFill>
                  <a:srgbClr val="000000"/>
                </a:solidFill>
                <a:latin typeface="Trebuchet MS"/>
                <a:ea typeface="Trebuchet MS"/>
                <a:cs typeface="Trebuchet MS"/>
                <a:sym typeface="Trebuchet MS"/>
              </a:rPr>
              <a:t>All the sockets are associated with a single port in the server process.</a:t>
            </a:r>
            <a:endParaRPr sz="1400" b="0" i="0" u="none" strike="noStrike" cap="none">
              <a:latin typeface="Arial"/>
              <a:ea typeface="Arial"/>
              <a:cs typeface="Arial"/>
              <a:sym typeface="Arial"/>
            </a:endParaRPr>
          </a:p>
        </p:txBody>
      </p:sp>
      <p:sp>
        <p:nvSpPr>
          <p:cNvPr id="580" name="Google Shape;580;p34"/>
          <p:cNvSpPr txBox="1"/>
          <p:nvPr/>
        </p:nvSpPr>
        <p:spPr>
          <a:xfrm>
            <a:off x="362880" y="228240"/>
            <a:ext cx="475200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800" b="0" i="0" u="none" strike="noStrike" cap="none">
                <a:solidFill>
                  <a:srgbClr val="434343"/>
                </a:solidFill>
                <a:latin typeface="Trebuchet MS"/>
                <a:ea typeface="Trebuchet MS"/>
                <a:cs typeface="Trebuchet MS"/>
                <a:sym typeface="Trebuchet MS"/>
              </a:rPr>
              <a:t>Multi threaded TCP server</a:t>
            </a:r>
            <a:endParaRPr sz="2800" b="0" i="0" u="none" strike="noStrike" cap="none">
              <a:solidFill>
                <a:srgbClr val="000000"/>
              </a:solidFill>
              <a:latin typeface="Arial"/>
              <a:ea typeface="Arial"/>
              <a:cs typeface="Arial"/>
              <a:sym typeface="Arial"/>
            </a:endParaRPr>
          </a:p>
        </p:txBody>
      </p:sp>
      <p:sp>
        <p:nvSpPr>
          <p:cNvPr id="581" name="Google Shape;581;p34"/>
          <p:cNvSpPr/>
          <p:nvPr/>
        </p:nvSpPr>
        <p:spPr>
          <a:xfrm>
            <a:off x="6968880" y="2406600"/>
            <a:ext cx="533520" cy="272160"/>
          </a:xfrm>
          <a:prstGeom prst="rect">
            <a:avLst/>
          </a:prstGeom>
          <a:noFill/>
          <a:ln>
            <a:noFill/>
          </a:ln>
        </p:spPr>
        <p:txBody>
          <a:bodyPr spcFirstLastPara="1" wrap="square" lIns="0" tIns="12600" rIns="0" bIns="0" anchor="t" anchorCtr="0">
            <a:noAutofit/>
          </a:bodyPr>
          <a:lstStyle/>
          <a:p>
            <a:pPr marL="38160" marR="0" lvl="0" indent="0" algn="l" rtl="0">
              <a:lnSpc>
                <a:spcPct val="100000"/>
              </a:lnSpc>
              <a:spcBef>
                <a:spcPts val="0"/>
              </a:spcBef>
              <a:spcAft>
                <a:spcPts val="0"/>
              </a:spcAft>
              <a:buNone/>
            </a:pPr>
            <a:r>
              <a:rPr lang="en-US" sz="1700" b="0" i="0" u="none" strike="noStrike" cap="none" baseline="30000">
                <a:solidFill>
                  <a:srgbClr val="000000"/>
                </a:solidFill>
                <a:latin typeface="Arial"/>
                <a:ea typeface="Arial"/>
                <a:cs typeface="Arial"/>
                <a:sym typeface="Arial"/>
              </a:rPr>
              <a:t>Thread</a:t>
            </a:r>
            <a:endParaRPr sz="1700" b="0" i="0" u="none" strike="noStrike" cap="non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36"/>
          <p:cNvSpPr/>
          <p:nvPr/>
        </p:nvSpPr>
        <p:spPr>
          <a:xfrm>
            <a:off x="1609920" y="2237400"/>
            <a:ext cx="6675480" cy="662400"/>
          </a:xfrm>
          <a:prstGeom prst="rect">
            <a:avLst/>
          </a:prstGeom>
          <a:noFill/>
          <a:ln>
            <a:noFill/>
          </a:ln>
        </p:spPr>
        <p:txBody>
          <a:bodyPr spcFirstLastPara="1" wrap="square" lIns="0" tIns="52550" rIns="0" bIns="0" anchor="t" anchorCtr="0">
            <a:noAutofit/>
          </a:bodyPr>
          <a:lstStyle/>
          <a:p>
            <a:pPr marL="0" marR="0" lvl="0" indent="0" algn="l" rtl="0">
              <a:lnSpc>
                <a:spcPct val="100000"/>
              </a:lnSpc>
              <a:spcBef>
                <a:spcPts val="0"/>
              </a:spcBef>
              <a:spcAft>
                <a:spcPts val="0"/>
              </a:spcAft>
              <a:buNone/>
            </a:pPr>
            <a:r>
              <a:rPr lang="en-US" sz="4000" b="0" i="0" u="none" strike="noStrike" cap="none">
                <a:solidFill>
                  <a:srgbClr val="000000"/>
                </a:solidFill>
                <a:latin typeface="Trebuchet MS"/>
                <a:ea typeface="Trebuchet MS"/>
                <a:cs typeface="Trebuchet MS"/>
                <a:sym typeface="Trebuchet MS"/>
              </a:rPr>
              <a:t>Event-driven Programming</a:t>
            </a:r>
            <a:endParaRPr sz="4000" b="0" i="0" u="none" strike="noStrike" cap="none">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37"/>
          <p:cNvSpPr txBox="1"/>
          <p:nvPr/>
        </p:nvSpPr>
        <p:spPr>
          <a:xfrm>
            <a:off x="335954" y="259634"/>
            <a:ext cx="6757560" cy="8589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dirty="0">
                <a:solidFill>
                  <a:srgbClr val="000000"/>
                </a:solidFill>
                <a:latin typeface="Trebuchet MS"/>
                <a:ea typeface="Trebuchet MS"/>
                <a:cs typeface="Trebuchet MS"/>
                <a:sym typeface="Trebuchet MS"/>
              </a:rPr>
              <a:t>poll(), select(), epoll()</a:t>
            </a:r>
            <a:endParaRPr sz="2400" b="0" i="0" u="none" strike="noStrike" cap="none" dirty="0">
              <a:solidFill>
                <a:srgbClr val="000000"/>
              </a:solidFill>
              <a:latin typeface="Arial"/>
              <a:ea typeface="Arial"/>
              <a:cs typeface="Arial"/>
              <a:sym typeface="Arial"/>
            </a:endParaRPr>
          </a:p>
        </p:txBody>
      </p:sp>
      <p:sp>
        <p:nvSpPr>
          <p:cNvPr id="598" name="Google Shape;598;p37"/>
          <p:cNvSpPr txBox="1"/>
          <p:nvPr/>
        </p:nvSpPr>
        <p:spPr>
          <a:xfrm>
            <a:off x="272520" y="1035000"/>
            <a:ext cx="7807320" cy="2983320"/>
          </a:xfrm>
          <a:prstGeom prst="rect">
            <a:avLst/>
          </a:prstGeom>
          <a:noFill/>
          <a:ln>
            <a:noFill/>
          </a:ln>
        </p:spPr>
        <p:txBody>
          <a:bodyPr spcFirstLastPara="1" wrap="square" lIns="0" tIns="0" rIns="0" bIns="0" anchor="t" anchorCtr="0">
            <a:noAutofit/>
          </a:bodyPr>
          <a:lstStyle/>
          <a:p>
            <a:pPr marL="457200" marR="0" lvl="0" indent="-342720" algn="l" rtl="0">
              <a:lnSpc>
                <a:spcPct val="115000"/>
              </a:lnSpc>
              <a:spcBef>
                <a:spcPts val="0"/>
              </a:spcBef>
              <a:spcAft>
                <a:spcPts val="0"/>
              </a:spcAft>
              <a:buClr>
                <a:srgbClr val="000000"/>
              </a:buClr>
              <a:buSzPts val="1800"/>
              <a:buFont typeface="Georgia"/>
              <a:buChar char="●"/>
            </a:pPr>
            <a:r>
              <a:rPr lang="en-US" sz="1800" b="0" i="0" u="none" strike="noStrike" cap="none" dirty="0">
                <a:solidFill>
                  <a:srgbClr val="000000"/>
                </a:solidFill>
                <a:latin typeface="Georgia"/>
                <a:ea typeface="Georgia"/>
                <a:cs typeface="Georgia"/>
                <a:sym typeface="Georgia"/>
              </a:rPr>
              <a:t>How to monitor a lot of file descriptors for new input/output ? Who needs to watch a lot of file descriptors at a time? </a:t>
            </a:r>
            <a:endParaRPr sz="1800" b="0" i="0" u="none" strike="noStrike" cap="none" dirty="0">
              <a:latin typeface="Arial"/>
              <a:ea typeface="Arial"/>
              <a:cs typeface="Arial"/>
              <a:sym typeface="Arial"/>
            </a:endParaRPr>
          </a:p>
          <a:p>
            <a:pPr marL="0" marR="0" lvl="0" indent="0" algn="l" rtl="0">
              <a:lnSpc>
                <a:spcPct val="115000"/>
              </a:lnSpc>
              <a:spcBef>
                <a:spcPts val="901"/>
              </a:spcBef>
              <a:spcAft>
                <a:spcPts val="0"/>
              </a:spcAft>
              <a:buNone/>
            </a:pPr>
            <a:endParaRPr sz="1800" b="0" i="0" u="none" strike="noStrike" cap="none" dirty="0">
              <a:latin typeface="Arial"/>
              <a:ea typeface="Arial"/>
              <a:cs typeface="Arial"/>
              <a:sym typeface="Arial"/>
            </a:endParaRPr>
          </a:p>
          <a:p>
            <a:pPr marL="457200" marR="0" lvl="0" indent="-342720" algn="l" rtl="0">
              <a:lnSpc>
                <a:spcPct val="115000"/>
              </a:lnSpc>
              <a:spcBef>
                <a:spcPts val="901"/>
              </a:spcBef>
              <a:spcAft>
                <a:spcPts val="0"/>
              </a:spcAft>
              <a:buClr>
                <a:srgbClr val="000000"/>
              </a:buClr>
              <a:buSzPts val="1800"/>
              <a:buFont typeface="Georgia"/>
              <a:buChar char="●"/>
            </a:pPr>
            <a:r>
              <a:rPr lang="en-US" sz="1800" b="0" i="0" u="none" strike="noStrike" cap="none" dirty="0">
                <a:solidFill>
                  <a:srgbClr val="000000"/>
                </a:solidFill>
                <a:latin typeface="Georgia"/>
                <a:ea typeface="Georgia"/>
                <a:cs typeface="Georgia"/>
                <a:sym typeface="Georgia"/>
              </a:rPr>
              <a:t>Servers!</a:t>
            </a:r>
            <a:endParaRPr sz="1800" b="0" i="0" u="none" strike="noStrike" cap="none" dirty="0">
              <a:latin typeface="Arial"/>
              <a:ea typeface="Arial"/>
              <a:cs typeface="Arial"/>
              <a:sym typeface="Arial"/>
            </a:endParaRPr>
          </a:p>
          <a:p>
            <a:pPr marL="457200" marR="0" lvl="0" indent="0" algn="l" rtl="0">
              <a:lnSpc>
                <a:spcPct val="115000"/>
              </a:lnSpc>
              <a:spcBef>
                <a:spcPts val="901"/>
              </a:spcBef>
              <a:spcAft>
                <a:spcPts val="0"/>
              </a:spcAft>
              <a:buNone/>
            </a:pPr>
            <a:endParaRPr sz="1800" b="0" i="0" u="none" strike="noStrike" cap="none" dirty="0">
              <a:latin typeface="Arial"/>
              <a:ea typeface="Arial"/>
              <a:cs typeface="Arial"/>
              <a:sym typeface="Arial"/>
            </a:endParaRPr>
          </a:p>
          <a:p>
            <a:pPr marL="457200" marR="0" lvl="0" indent="-342720" algn="l" rtl="0">
              <a:lnSpc>
                <a:spcPct val="115000"/>
              </a:lnSpc>
              <a:spcBef>
                <a:spcPts val="901"/>
              </a:spcBef>
              <a:spcAft>
                <a:spcPts val="0"/>
              </a:spcAft>
              <a:buClr>
                <a:srgbClr val="000000"/>
              </a:buClr>
              <a:buSzPts val="1800"/>
              <a:buFont typeface="Arial"/>
              <a:buChar char="●"/>
            </a:pPr>
            <a:r>
              <a:rPr lang="en-US" sz="1800" b="0" i="0" u="none" strike="noStrike" cap="none" dirty="0">
                <a:solidFill>
                  <a:srgbClr val="000000"/>
                </a:solidFill>
                <a:latin typeface="Georgia"/>
                <a:ea typeface="Georgia"/>
                <a:cs typeface="Georgia"/>
                <a:sym typeface="Georgia"/>
              </a:rPr>
              <a:t>For example if you’re writing a web server in node.js on Linux, it’s actually using the </a:t>
            </a:r>
            <a:r>
              <a:rPr lang="en-US" sz="1800" b="0" i="0" u="none" strike="noStrike" cap="none" dirty="0">
                <a:solidFill>
                  <a:srgbClr val="000000"/>
                </a:solidFill>
                <a:latin typeface="Courier New"/>
                <a:ea typeface="Courier New"/>
                <a:cs typeface="Courier New"/>
                <a:sym typeface="Courier New"/>
              </a:rPr>
              <a:t>epoll</a:t>
            </a:r>
            <a:r>
              <a:rPr lang="en-US" sz="1800" b="0" i="0" u="none" strike="noStrike" cap="none" dirty="0">
                <a:solidFill>
                  <a:srgbClr val="000000"/>
                </a:solidFill>
                <a:latin typeface="Georgia"/>
                <a:ea typeface="Georgia"/>
                <a:cs typeface="Georgia"/>
                <a:sym typeface="Georgia"/>
              </a:rPr>
              <a:t> Linux system call under the hood. </a:t>
            </a:r>
            <a:endParaRPr sz="1800" b="0" i="0" u="none" strike="noStrike" cap="none" dirty="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4" name="Google Shape;604;p38"/>
          <p:cNvSpPr txBox="1"/>
          <p:nvPr/>
        </p:nvSpPr>
        <p:spPr>
          <a:xfrm>
            <a:off x="348480" y="1011960"/>
            <a:ext cx="7688520" cy="2897640"/>
          </a:xfrm>
          <a:prstGeom prst="rect">
            <a:avLst/>
          </a:prstGeom>
          <a:noFill/>
          <a:ln>
            <a:noFill/>
          </a:ln>
        </p:spPr>
        <p:txBody>
          <a:bodyPr spcFirstLastPara="1" wrap="square" lIns="0" tIns="0" rIns="0" bIns="0" anchor="t" anchorCtr="0">
            <a:noAutofit/>
          </a:bodyPr>
          <a:lstStyle/>
          <a:p>
            <a:pPr marL="457200" marR="0" lvl="0" indent="-317160" algn="l" rtl="0">
              <a:lnSpc>
                <a:spcPct val="100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A web server may simultaneously be handling thousands of connections. To process and respond to new data that is sent to the server  over such connections, it  must be aware of when it is received.</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457200" marR="0" lvl="0" indent="-317160" algn="l" rtl="0">
              <a:lnSpc>
                <a:spcPct val="100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It can have a for loop which runs like : </a:t>
            </a:r>
            <a:br>
              <a:rPr lang="en-US" sz="1800" b="0" i="0" u="none" strike="noStrike" cap="none" dirty="0"/>
            </a:br>
            <a:r>
              <a:rPr lang="en-US" sz="1400" b="0" i="0" u="none" strike="noStrike" cap="none" dirty="0">
                <a:solidFill>
                  <a:srgbClr val="000000"/>
                </a:solidFill>
                <a:latin typeface="Arial"/>
                <a:ea typeface="Arial"/>
                <a:cs typeface="Arial"/>
                <a:sym typeface="Arial"/>
              </a:rPr>
              <a:t>For con in open_connections:</a:t>
            </a:r>
            <a:endParaRPr sz="1400" b="0" i="0" u="none" strike="noStrike" cap="none" dirty="0">
              <a:solidFill>
                <a:srgbClr val="000000"/>
              </a:solidFill>
              <a:latin typeface="Arial"/>
              <a:ea typeface="Arial"/>
              <a:cs typeface="Arial"/>
              <a:sym typeface="Arial"/>
            </a:endParaRPr>
          </a:p>
          <a:p>
            <a:pPr marL="914400" marR="0" lvl="1" indent="-317160" algn="l" rtl="0">
              <a:lnSpc>
                <a:spcPct val="100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If has_new_input(con):</a:t>
            </a:r>
            <a:endParaRPr sz="1400" b="0" i="0" u="none" strike="noStrike" cap="none" dirty="0">
              <a:solidFill>
                <a:srgbClr val="000000"/>
              </a:solidFill>
              <a:latin typeface="Arial"/>
              <a:ea typeface="Arial"/>
              <a:cs typeface="Arial"/>
              <a:sym typeface="Arial"/>
            </a:endParaRPr>
          </a:p>
          <a:p>
            <a:pPr marL="1371600" marR="0" lvl="2" indent="-317160" algn="l" rtl="0">
              <a:lnSpc>
                <a:spcPct val="100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prcoess_input(con)</a:t>
            </a:r>
            <a:endParaRPr sz="1400" b="0" i="0" u="none" strike="noStrike" cap="none" dirty="0">
              <a:solidFill>
                <a:srgbClr val="000000"/>
              </a:solidFill>
              <a:latin typeface="Arial"/>
              <a:ea typeface="Arial"/>
              <a:cs typeface="Arial"/>
              <a:sym typeface="Arial"/>
            </a:endParaRPr>
          </a:p>
          <a:p>
            <a:pPr marL="137160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457200" marR="0" lvl="0" indent="-317160" algn="l" rtl="0">
              <a:lnSpc>
                <a:spcPct val="115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 OS wastes CPU cycles asking the resource every few clock cycles “are you free” . Busy waiting, also known as spinning, or busy looping is a </a:t>
            </a:r>
            <a:r>
              <a:rPr lang="en-US" sz="1400" b="0" i="0" u="sng" strike="noStrike" cap="none" dirty="0">
                <a:solidFill>
                  <a:schemeClr val="hlink"/>
                </a:solidFill>
                <a:latin typeface="Arial"/>
                <a:ea typeface="Arial"/>
                <a:cs typeface="Arial"/>
                <a:sym typeface="Arial"/>
                <a:hlinkClick r:id="rId3"/>
              </a:rPr>
              <a:t>process</a:t>
            </a:r>
            <a:r>
              <a:rPr lang="en-US" sz="1400" b="0" i="0" u="none" strike="noStrike" cap="none" dirty="0">
                <a:solidFill>
                  <a:srgbClr val="000000"/>
                </a:solidFill>
                <a:latin typeface="Arial"/>
                <a:ea typeface="Arial"/>
                <a:cs typeface="Arial"/>
                <a:sym typeface="Arial"/>
              </a:rPr>
              <a:t> </a:t>
            </a:r>
            <a:r>
              <a:rPr lang="en-US" sz="1400" b="0" i="0" u="sng" strike="noStrike" cap="none" dirty="0">
                <a:solidFill>
                  <a:schemeClr val="hlink"/>
                </a:solidFill>
                <a:latin typeface="Arial"/>
                <a:ea typeface="Arial"/>
                <a:cs typeface="Arial"/>
                <a:sym typeface="Arial"/>
                <a:hlinkClick r:id="rId4"/>
              </a:rPr>
              <a:t>synchronization</a:t>
            </a:r>
            <a:r>
              <a:rPr lang="en-US" sz="1400" b="0" i="0" u="none" strike="noStrike" cap="none" dirty="0">
                <a:solidFill>
                  <a:srgbClr val="000000"/>
                </a:solidFill>
                <a:latin typeface="Arial"/>
                <a:ea typeface="Arial"/>
                <a:cs typeface="Arial"/>
                <a:sym typeface="Arial"/>
              </a:rPr>
              <a:t> technique in which a process/task waits and constantly checks for a condition to be satisfied before proceeding with its execution.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89CAF-9FEC-0821-F936-5FB3D7108309}"/>
              </a:ext>
            </a:extLst>
          </p:cNvPr>
          <p:cNvSpPr>
            <a:spLocks noGrp="1"/>
          </p:cNvSpPr>
          <p:nvPr>
            <p:ph type="title"/>
          </p:nvPr>
        </p:nvSpPr>
        <p:spPr/>
        <p:txBody>
          <a:bodyPr/>
          <a:lstStyle/>
          <a:p>
            <a:r>
              <a:rPr lang="en-IN" b="1" dirty="0"/>
              <a:t>				SELECT:</a:t>
            </a:r>
            <a:endParaRPr lang="en-IN" dirty="0"/>
          </a:p>
        </p:txBody>
      </p:sp>
      <p:sp>
        <p:nvSpPr>
          <p:cNvPr id="3" name="Content Placeholder 2">
            <a:extLst>
              <a:ext uri="{FF2B5EF4-FFF2-40B4-BE49-F238E27FC236}">
                <a16:creationId xmlns:a16="http://schemas.microsoft.com/office/drawing/2014/main" id="{4504F9CD-72E7-AA86-C02B-C22DD47DCAAB}"/>
              </a:ext>
            </a:extLst>
          </p:cNvPr>
          <p:cNvSpPr>
            <a:spLocks noGrp="1"/>
          </p:cNvSpPr>
          <p:nvPr>
            <p:ph idx="1"/>
          </p:nvPr>
        </p:nvSpPr>
        <p:spPr>
          <a:xfrm>
            <a:off x="1088685" y="1511798"/>
            <a:ext cx="7202456" cy="3028311"/>
          </a:xfrm>
        </p:spPr>
        <p:txBody>
          <a:bodyPr>
            <a:normAutofit/>
          </a:bodyPr>
          <a:lstStyle/>
          <a:p>
            <a:pPr marL="285750" indent="-285750">
              <a:buFont typeface="Arial" panose="020B0604020202020204" pitchFamily="34" charset="0"/>
              <a:buChar char="•"/>
            </a:pPr>
            <a:r>
              <a:rPr lang="en-IN" dirty="0"/>
              <a:t>select is one of the oldest methods for event-driven programming in Unix-like systems. </a:t>
            </a:r>
          </a:p>
          <a:p>
            <a:pPr marL="285750" indent="-285750">
              <a:buFont typeface="Arial" panose="020B0604020202020204" pitchFamily="34" charset="0"/>
              <a:buChar char="•"/>
            </a:pPr>
            <a:r>
              <a:rPr lang="en-IN" dirty="0"/>
              <a:t>It allows a program to monitor multiple file descriptors (such as sockets or file handles) for readiness to read or write. </a:t>
            </a:r>
          </a:p>
          <a:p>
            <a:pPr marL="285750" indent="-285750">
              <a:buFont typeface="Arial" panose="020B0604020202020204" pitchFamily="34" charset="0"/>
              <a:buChar char="•"/>
            </a:pPr>
            <a:r>
              <a:rPr lang="en-IN" dirty="0"/>
              <a:t>You can use select to wait for events on multiple file descriptors without blocking the entire program. </a:t>
            </a:r>
          </a:p>
          <a:p>
            <a:pPr marL="285750" indent="-285750">
              <a:buFont typeface="Arial" panose="020B0604020202020204" pitchFamily="34" charset="0"/>
              <a:buChar char="•"/>
            </a:pPr>
            <a:r>
              <a:rPr lang="en-IN" dirty="0"/>
              <a:t>It uses a bitmask to represent file descriptors and can handle a limited number of file descriptors (usually 1024 or less). </a:t>
            </a:r>
          </a:p>
          <a:p>
            <a:pPr marL="285750" indent="-285750">
              <a:buFont typeface="Arial" panose="020B0604020202020204" pitchFamily="34" charset="0"/>
              <a:buChar char="•"/>
            </a:pPr>
            <a:r>
              <a:rPr lang="en-IN" dirty="0"/>
              <a:t>While select is portable and widely supported, it can become inefficient when dealing with a large number of file descriptors due to the linear scanning of the descriptor set.</a:t>
            </a:r>
          </a:p>
          <a:p>
            <a:endParaRPr lang="en-IN" dirty="0"/>
          </a:p>
        </p:txBody>
      </p:sp>
    </p:spTree>
    <p:extLst>
      <p:ext uri="{BB962C8B-B14F-4D97-AF65-F5344CB8AC3E}">
        <p14:creationId xmlns:p14="http://schemas.microsoft.com/office/powerpoint/2010/main" val="2232091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573D5-B930-68D7-C02E-C567F9B80855}"/>
              </a:ext>
            </a:extLst>
          </p:cNvPr>
          <p:cNvSpPr>
            <a:spLocks noGrp="1"/>
          </p:cNvSpPr>
          <p:nvPr>
            <p:ph type="title"/>
          </p:nvPr>
        </p:nvSpPr>
        <p:spPr/>
        <p:txBody>
          <a:bodyPr/>
          <a:lstStyle/>
          <a:p>
            <a:r>
              <a:rPr lang="en-IN" b="1" dirty="0"/>
              <a:t>				POLL</a:t>
            </a:r>
            <a:br>
              <a:rPr lang="en-IN" b="1" dirty="0"/>
            </a:br>
            <a:endParaRPr lang="en-IN" dirty="0"/>
          </a:p>
        </p:txBody>
      </p:sp>
      <p:sp>
        <p:nvSpPr>
          <p:cNvPr id="3" name="Content Placeholder 2">
            <a:extLst>
              <a:ext uri="{FF2B5EF4-FFF2-40B4-BE49-F238E27FC236}">
                <a16:creationId xmlns:a16="http://schemas.microsoft.com/office/drawing/2014/main" id="{26D2A804-6416-412A-7E27-B615DA5AF129}"/>
              </a:ext>
            </a:extLst>
          </p:cNvPr>
          <p:cNvSpPr>
            <a:spLocks noGrp="1"/>
          </p:cNvSpPr>
          <p:nvPr>
            <p:ph idx="1"/>
          </p:nvPr>
        </p:nvSpPr>
        <p:spPr/>
        <p:txBody>
          <a:bodyPr/>
          <a:lstStyle/>
          <a:p>
            <a:pPr marL="285750" indent="-285750">
              <a:buFont typeface="Arial" panose="020B0604020202020204" pitchFamily="34" charset="0"/>
              <a:buChar char="•"/>
            </a:pPr>
            <a:r>
              <a:rPr lang="en-IN" dirty="0"/>
              <a:t>poll is a more modern alternative to select and is also used for event-driven programming. </a:t>
            </a:r>
          </a:p>
          <a:p>
            <a:pPr marL="285750" indent="-285750">
              <a:buFont typeface="Arial" panose="020B0604020202020204" pitchFamily="34" charset="0"/>
              <a:buChar char="•"/>
            </a:pPr>
            <a:r>
              <a:rPr lang="en-IN" dirty="0"/>
              <a:t>It allows a program to monitor multiple file descriptors for events similarly to select. poll is more efficient than select when dealing with a large number of file descriptors, as it doesn't use bitmasks. </a:t>
            </a:r>
          </a:p>
          <a:p>
            <a:pPr marL="285750" indent="-285750">
              <a:buFont typeface="Arial" panose="020B0604020202020204" pitchFamily="34" charset="0"/>
              <a:buChar char="•"/>
            </a:pPr>
            <a:r>
              <a:rPr lang="en-IN" dirty="0"/>
              <a:t>However, like select, poll still requires iterating over all monitored descriptors to find events, which can be a performance bottleneck for large numbers of descriptors.</a:t>
            </a:r>
          </a:p>
          <a:p>
            <a:endParaRPr lang="en-IN" dirty="0"/>
          </a:p>
        </p:txBody>
      </p:sp>
    </p:spTree>
    <p:extLst>
      <p:ext uri="{BB962C8B-B14F-4D97-AF65-F5344CB8AC3E}">
        <p14:creationId xmlns:p14="http://schemas.microsoft.com/office/powerpoint/2010/main" val="1230334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3106C-913B-49A8-D1F1-BE4E1D137267}"/>
              </a:ext>
            </a:extLst>
          </p:cNvPr>
          <p:cNvSpPr>
            <a:spLocks noGrp="1"/>
          </p:cNvSpPr>
          <p:nvPr>
            <p:ph type="title"/>
          </p:nvPr>
        </p:nvSpPr>
        <p:spPr/>
        <p:txBody>
          <a:bodyPr/>
          <a:lstStyle/>
          <a:p>
            <a:r>
              <a:rPr lang="en-IN" b="1" dirty="0"/>
              <a:t>		EPOLL(Linux-specific)</a:t>
            </a:r>
            <a:br>
              <a:rPr lang="en-IN" b="1" dirty="0"/>
            </a:br>
            <a:endParaRPr lang="en-IN" dirty="0"/>
          </a:p>
        </p:txBody>
      </p:sp>
      <p:sp>
        <p:nvSpPr>
          <p:cNvPr id="3" name="Content Placeholder 2">
            <a:extLst>
              <a:ext uri="{FF2B5EF4-FFF2-40B4-BE49-F238E27FC236}">
                <a16:creationId xmlns:a16="http://schemas.microsoft.com/office/drawing/2014/main" id="{093AF4B9-337B-DAA4-54B8-A458D172057C}"/>
              </a:ext>
            </a:extLst>
          </p:cNvPr>
          <p:cNvSpPr>
            <a:spLocks noGrp="1"/>
          </p:cNvSpPr>
          <p:nvPr>
            <p:ph idx="1"/>
          </p:nvPr>
        </p:nvSpPr>
        <p:spPr/>
        <p:txBody>
          <a:bodyPr/>
          <a:lstStyle/>
          <a:p>
            <a:pPr marL="285750" indent="-285750">
              <a:buFont typeface="Arial" panose="020B0604020202020204" pitchFamily="34" charset="0"/>
              <a:buChar char="•"/>
            </a:pPr>
            <a:r>
              <a:rPr lang="en-IN" dirty="0"/>
              <a:t>epoll is a highly efficient event-driven mechanism available on Linux systems. </a:t>
            </a:r>
          </a:p>
          <a:p>
            <a:pPr marL="285750" indent="-285750">
              <a:buFont typeface="Arial" panose="020B0604020202020204" pitchFamily="34" charset="0"/>
              <a:buChar char="•"/>
            </a:pPr>
            <a:r>
              <a:rPr lang="en-IN" dirty="0"/>
              <a:t>It is specifically designed to scale well with a large number of file descriptors.</a:t>
            </a:r>
          </a:p>
          <a:p>
            <a:pPr marL="285750" indent="-285750">
              <a:buFont typeface="Arial" panose="020B0604020202020204" pitchFamily="34" charset="0"/>
              <a:buChar char="•"/>
            </a:pPr>
            <a:r>
              <a:rPr lang="en-IN" dirty="0"/>
              <a:t>epoll uses a system call-based approach, which means the kernel notifies the program only when events occur, reducing the need for constant iteration.</a:t>
            </a:r>
          </a:p>
          <a:p>
            <a:pPr marL="285750" indent="-285750">
              <a:buFont typeface="Arial" panose="020B0604020202020204" pitchFamily="34" charset="0"/>
              <a:buChar char="•"/>
            </a:pPr>
            <a:r>
              <a:rPr lang="en-IN" dirty="0"/>
              <a:t>epoll provides better performance and scalability compared to select and poll, especially in high-traffic and high-concurrency scenarios.</a:t>
            </a:r>
          </a:p>
          <a:p>
            <a:pPr marL="285750" indent="-285750">
              <a:buFont typeface="Arial" panose="020B0604020202020204" pitchFamily="34" charset="0"/>
              <a:buChar char="•"/>
            </a:pPr>
            <a:r>
              <a:rPr lang="en-IN" dirty="0"/>
              <a:t>It supports edge-triggered and level-triggered modes for event notification.</a:t>
            </a:r>
          </a:p>
          <a:p>
            <a:endParaRPr lang="en-IN" dirty="0"/>
          </a:p>
        </p:txBody>
      </p:sp>
    </p:spTree>
    <p:extLst>
      <p:ext uri="{BB962C8B-B14F-4D97-AF65-F5344CB8AC3E}">
        <p14:creationId xmlns:p14="http://schemas.microsoft.com/office/powerpoint/2010/main" val="22983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39"/>
          <p:cNvSpPr txBox="1"/>
          <p:nvPr/>
        </p:nvSpPr>
        <p:spPr>
          <a:xfrm>
            <a:off x="299475" y="1353300"/>
            <a:ext cx="8629800" cy="36234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US" dirty="0"/>
              <a:t>Given a list of file descriptors, they tell you which ones have data available to read/write to.</a:t>
            </a:r>
            <a:endParaRPr dirty="0"/>
          </a:p>
          <a:p>
            <a:pPr marL="0" lvl="0" indent="0" algn="l" rtl="0">
              <a:spcBef>
                <a:spcPts val="0"/>
              </a:spcBef>
              <a:spcAft>
                <a:spcPts val="0"/>
              </a:spcAft>
              <a:buNone/>
            </a:pPr>
            <a:endParaRPr dirty="0"/>
          </a:p>
          <a:p>
            <a:pPr marL="457200" lvl="0" indent="-317500" algn="l" rtl="0">
              <a:spcBef>
                <a:spcPts val="0"/>
              </a:spcBef>
              <a:spcAft>
                <a:spcPts val="0"/>
              </a:spcAft>
              <a:buSzPts val="1400"/>
              <a:buChar char="●"/>
            </a:pPr>
            <a:r>
              <a:rPr lang="en-US" dirty="0"/>
              <a:t> select and poll fundamentally use the same code. poll returns a </a:t>
            </a:r>
            <a:r>
              <a:rPr lang="en-US" dirty="0" err="1"/>
              <a:t>larget</a:t>
            </a:r>
            <a:r>
              <a:rPr lang="en-US" dirty="0"/>
              <a:t> set of possible results for file descriptors like POLLRDNORM, POLLRDBAND, POLLIN, POLLHUP, POLLERR, while select just tells you there's input/output/error.  </a:t>
            </a:r>
            <a:endParaRPr dirty="0"/>
          </a:p>
          <a:p>
            <a:pPr marL="457200" lvl="0" indent="0" algn="l" rtl="0">
              <a:spcBef>
                <a:spcPts val="0"/>
              </a:spcBef>
              <a:spcAft>
                <a:spcPts val="0"/>
              </a:spcAft>
              <a:buNone/>
            </a:pPr>
            <a:endParaRPr dirty="0"/>
          </a:p>
          <a:p>
            <a:pPr marL="457200" lvl="0" indent="-317500" algn="l" rtl="0">
              <a:spcBef>
                <a:spcPts val="0"/>
              </a:spcBef>
              <a:spcAft>
                <a:spcPts val="0"/>
              </a:spcAft>
              <a:buSzPts val="1400"/>
              <a:buChar char="●"/>
            </a:pPr>
            <a:r>
              <a:rPr lang="en-US" dirty="0"/>
              <a:t>poll can perform better than select if you have a sparse set of file descriptors. poll takes a </a:t>
            </a:r>
            <a:r>
              <a:rPr lang="en-US" dirty="0" err="1"/>
              <a:t>pollfd</a:t>
            </a:r>
            <a:r>
              <a:rPr lang="en-US" dirty="0"/>
              <a:t> argument to specify which file descriptors to monitor; select takes </a:t>
            </a:r>
            <a:r>
              <a:rPr lang="en-US" dirty="0" err="1"/>
              <a:t>bitsets</a:t>
            </a:r>
            <a:r>
              <a:rPr lang="en-US" dirty="0"/>
              <a:t> and loops the whole range.</a:t>
            </a:r>
            <a:endParaRPr dirty="0"/>
          </a:p>
        </p:txBody>
      </p:sp>
      <p:sp>
        <p:nvSpPr>
          <p:cNvPr id="610" name="Google Shape;610;p39"/>
          <p:cNvSpPr txBox="1"/>
          <p:nvPr/>
        </p:nvSpPr>
        <p:spPr>
          <a:xfrm>
            <a:off x="848100" y="404625"/>
            <a:ext cx="6583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400" b="1">
                <a:solidFill>
                  <a:schemeClr val="dk1"/>
                </a:solidFill>
                <a:latin typeface="Trebuchet MS"/>
                <a:ea typeface="Trebuchet MS"/>
                <a:cs typeface="Trebuchet MS"/>
                <a:sym typeface="Trebuchet MS"/>
              </a:rPr>
              <a:t>Difference between Poll and Select</a:t>
            </a:r>
            <a:endParaRPr sz="2400" b="1">
              <a:solidFill>
                <a:schemeClr val="dk1"/>
              </a:solidFill>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EFDD9-DD9D-C29F-BC2A-60E891B2FCD6}"/>
              </a:ext>
            </a:extLst>
          </p:cNvPr>
          <p:cNvSpPr>
            <a:spLocks noGrp="1"/>
          </p:cNvSpPr>
          <p:nvPr>
            <p:ph type="title"/>
          </p:nvPr>
        </p:nvSpPr>
        <p:spPr/>
        <p:txBody>
          <a:bodyPr/>
          <a:lstStyle/>
          <a:p>
            <a:r>
              <a:rPr lang="en-IN" dirty="0"/>
              <a:t>Implementation</a:t>
            </a:r>
          </a:p>
        </p:txBody>
      </p:sp>
      <p:sp>
        <p:nvSpPr>
          <p:cNvPr id="3" name="Content Placeholder 2">
            <a:extLst>
              <a:ext uri="{FF2B5EF4-FFF2-40B4-BE49-F238E27FC236}">
                <a16:creationId xmlns:a16="http://schemas.microsoft.com/office/drawing/2014/main" id="{0FB4F4C6-3F05-2F72-24D8-C1D5D961D186}"/>
              </a:ext>
            </a:extLst>
          </p:cNvPr>
          <p:cNvSpPr>
            <a:spLocks noGrp="1"/>
          </p:cNvSpPr>
          <p:nvPr>
            <p:ph idx="1"/>
          </p:nvPr>
        </p:nvSpPr>
        <p:spPr/>
        <p:txBody>
          <a:bodyPr>
            <a:normAutofit/>
          </a:bodyPr>
          <a:lstStyle/>
          <a:p>
            <a:pPr marL="0" indent="0">
              <a:buNone/>
            </a:pPr>
            <a:r>
              <a:rPr lang="en-IN" dirty="0"/>
              <a:t>	When implementing event-driven programming using these mechanisms, you 	typically follow these steps:</a:t>
            </a:r>
          </a:p>
          <a:p>
            <a:pPr marL="285750" indent="-285750">
              <a:buFont typeface="Arial" panose="020B0604020202020204" pitchFamily="34" charset="0"/>
              <a:buChar char="•"/>
            </a:pPr>
            <a:r>
              <a:rPr lang="en-IN" dirty="0"/>
              <a:t>Create and initialize the event monitoring mechanism (select, poll, or </a:t>
            </a:r>
            <a:r>
              <a:rPr lang="en-IN" dirty="0" err="1"/>
              <a:t>epoll</a:t>
            </a:r>
            <a:r>
              <a:rPr lang="en-IN" dirty="0"/>
              <a:t>).</a:t>
            </a:r>
          </a:p>
          <a:p>
            <a:pPr marL="285750" indent="-285750">
              <a:buFont typeface="Arial" panose="020B0604020202020204" pitchFamily="34" charset="0"/>
              <a:buChar char="•"/>
            </a:pPr>
            <a:r>
              <a:rPr lang="en-IN" dirty="0"/>
              <a:t>Register file descriptors that you want to monitor for events.</a:t>
            </a:r>
          </a:p>
          <a:p>
            <a:pPr marL="285750" indent="-285750">
              <a:buFont typeface="Arial" panose="020B0604020202020204" pitchFamily="34" charset="0"/>
              <a:buChar char="•"/>
            </a:pPr>
            <a:r>
              <a:rPr lang="en-IN" dirty="0"/>
              <a:t>Wait for events to occur. The mechanism will notify your program when an event occurs on one or more registered file descriptors.</a:t>
            </a:r>
          </a:p>
        </p:txBody>
      </p:sp>
    </p:spTree>
    <p:extLst>
      <p:ext uri="{BB962C8B-B14F-4D97-AF65-F5344CB8AC3E}">
        <p14:creationId xmlns:p14="http://schemas.microsoft.com/office/powerpoint/2010/main" val="61300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A7FA65F-85D5-F6C8-66BD-DB6447DE0DF7}"/>
              </a:ext>
            </a:extLst>
          </p:cNvPr>
          <p:cNvSpPr txBox="1"/>
          <p:nvPr/>
        </p:nvSpPr>
        <p:spPr>
          <a:xfrm>
            <a:off x="526093" y="1277656"/>
            <a:ext cx="7365304" cy="1200329"/>
          </a:xfrm>
          <a:prstGeom prst="rect">
            <a:avLst/>
          </a:prstGeom>
          <a:noFill/>
        </p:spPr>
        <p:txBody>
          <a:bodyPr wrap="square">
            <a:spAutoFit/>
          </a:bodyPr>
          <a:lstStyle/>
          <a:p>
            <a:pPr marL="285750" indent="-285750">
              <a:buFont typeface="Arial" panose="020B0604020202020204" pitchFamily="34" charset="0"/>
              <a:buChar char="•"/>
            </a:pPr>
            <a:r>
              <a:rPr lang="en-IN" dirty="0"/>
              <a:t>Handle the events by invoking the appropriate event handlers or processing the I/O operations associated with the events.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Repeat the process as needed for ongoing event monitoring.</a:t>
            </a:r>
          </a:p>
        </p:txBody>
      </p:sp>
    </p:spTree>
    <p:extLst>
      <p:ext uri="{BB962C8B-B14F-4D97-AF65-F5344CB8AC3E}">
        <p14:creationId xmlns:p14="http://schemas.microsoft.com/office/powerpoint/2010/main" val="2296494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43"/>
          <p:cNvSpPr txBox="1"/>
          <p:nvPr/>
        </p:nvSpPr>
        <p:spPr>
          <a:xfrm>
            <a:off x="423000" y="207360"/>
            <a:ext cx="7688520" cy="8589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2400" b="0" i="0" u="none" strike="noStrike" cap="none" dirty="0">
                <a:solidFill>
                  <a:srgbClr val="000000"/>
                </a:solidFill>
                <a:latin typeface="Arial"/>
                <a:ea typeface="Arial"/>
                <a:cs typeface="Arial"/>
                <a:sym typeface="Arial"/>
              </a:rPr>
              <a:t>Why use epoll?</a:t>
            </a:r>
            <a:endParaRPr sz="2400" b="0" i="0" u="none" strike="noStrike" cap="none" dirty="0">
              <a:solidFill>
                <a:srgbClr val="000000"/>
              </a:solidFill>
              <a:latin typeface="Arial"/>
              <a:ea typeface="Arial"/>
              <a:cs typeface="Arial"/>
              <a:sym typeface="Arial"/>
            </a:endParaRPr>
          </a:p>
        </p:txBody>
      </p:sp>
      <p:sp>
        <p:nvSpPr>
          <p:cNvPr id="640" name="Google Shape;640;p43"/>
          <p:cNvSpPr/>
          <p:nvPr/>
        </p:nvSpPr>
        <p:spPr>
          <a:xfrm>
            <a:off x="304920" y="1066680"/>
            <a:ext cx="7895520" cy="3365640"/>
          </a:xfrm>
          <a:prstGeom prst="rect">
            <a:avLst/>
          </a:prstGeom>
          <a:noFill/>
          <a:ln>
            <a:noFill/>
          </a:ln>
        </p:spPr>
        <p:txBody>
          <a:bodyPr spcFirstLastPara="1" wrap="square" lIns="91425" tIns="91425" rIns="91425" bIns="91425" anchor="t" anchorCtr="0">
            <a:noAutofit/>
          </a:bodyPr>
          <a:lstStyle/>
          <a:p>
            <a:pPr marL="457200" marR="0" lvl="0" indent="-317160" algn="l" rtl="0">
              <a:lnSpc>
                <a:spcPct val="115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The kernel must check all of the specified file descriptors to verify if they are ready on each call to select() or poll(). The time needed for this process substantially outweighs when monitoring a high number of file descriptors </a:t>
            </a:r>
            <a:endParaRPr sz="1400" b="0" i="0" u="none" strike="noStrike" cap="none" dirty="0">
              <a:latin typeface="Arial"/>
              <a:ea typeface="Arial"/>
              <a:cs typeface="Arial"/>
              <a:sym typeface="Arial"/>
            </a:endParaRPr>
          </a:p>
          <a:p>
            <a:pPr marL="457200" marR="0" lvl="0" indent="0" algn="l" rtl="0">
              <a:lnSpc>
                <a:spcPct val="115000"/>
              </a:lnSpc>
              <a:spcBef>
                <a:spcPts val="0"/>
              </a:spcBef>
              <a:spcAft>
                <a:spcPts val="0"/>
              </a:spcAft>
              <a:buNone/>
            </a:pPr>
            <a:endParaRPr sz="1400" b="0" i="0" u="none" strike="noStrike" cap="none" dirty="0">
              <a:latin typeface="Arial"/>
              <a:ea typeface="Arial"/>
              <a:cs typeface="Arial"/>
              <a:sym typeface="Arial"/>
            </a:endParaRPr>
          </a:p>
          <a:p>
            <a:pPr marL="457200" marR="0" lvl="0" indent="-317160" algn="l" rtl="0">
              <a:lnSpc>
                <a:spcPct val="115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The Linux kernel receives a list of file descriptors to track and updates about activity on those file descriptors via the epoll group of system functions (epoll create, epoll </a:t>
            </a:r>
            <a:r>
              <a:rPr lang="en-US" sz="1400" b="0" i="0" u="none" strike="noStrike" cap="none" dirty="0" err="1">
                <a:solidFill>
                  <a:srgbClr val="000000"/>
                </a:solidFill>
                <a:latin typeface="Arial"/>
                <a:ea typeface="Arial"/>
                <a:cs typeface="Arial"/>
                <a:sym typeface="Arial"/>
              </a:rPr>
              <a:t>ctl</a:t>
            </a:r>
            <a:r>
              <a:rPr lang="en-US" sz="1400" b="0" i="0" u="none" strike="noStrike" cap="none" dirty="0">
                <a:solidFill>
                  <a:srgbClr val="000000"/>
                </a:solidFill>
                <a:latin typeface="Arial"/>
                <a:ea typeface="Arial"/>
                <a:cs typeface="Arial"/>
                <a:sym typeface="Arial"/>
              </a:rPr>
              <a:t>, and epoll wait).</a:t>
            </a:r>
            <a:endParaRPr sz="1400" b="0" i="0" u="none" strike="noStrike" cap="none" dirty="0">
              <a:latin typeface="Arial"/>
              <a:ea typeface="Arial"/>
              <a:cs typeface="Arial"/>
              <a:sym typeface="Arial"/>
            </a:endParaRPr>
          </a:p>
          <a:p>
            <a:pPr marL="457200" marR="0" lvl="0" indent="0" algn="l" rtl="0">
              <a:lnSpc>
                <a:spcPct val="115000"/>
              </a:lnSpc>
              <a:spcBef>
                <a:spcPts val="0"/>
              </a:spcBef>
              <a:spcAft>
                <a:spcPts val="0"/>
              </a:spcAft>
              <a:buNone/>
            </a:pPr>
            <a:endParaRPr sz="1400" b="0" i="0" u="none" strike="noStrike" cap="none" dirty="0">
              <a:latin typeface="Arial"/>
              <a:ea typeface="Arial"/>
              <a:cs typeface="Arial"/>
              <a:sym typeface="Arial"/>
            </a:endParaRPr>
          </a:p>
          <a:p>
            <a:pPr marL="457200" marR="0" lvl="0" indent="-317160" algn="l" rtl="0">
              <a:lnSpc>
                <a:spcPct val="115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Steps: </a:t>
            </a:r>
            <a:endParaRPr sz="1400" b="0" i="0" u="none" strike="noStrike" cap="none" dirty="0">
              <a:latin typeface="Arial"/>
              <a:ea typeface="Arial"/>
              <a:cs typeface="Arial"/>
              <a:sym typeface="Arial"/>
            </a:endParaRPr>
          </a:p>
          <a:p>
            <a:pPr marL="914400" marR="0" lvl="1" indent="-317160" algn="l" rtl="0">
              <a:lnSpc>
                <a:spcPct val="115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Tell the kernel you're going to be epolling by calling </a:t>
            </a:r>
            <a:r>
              <a:rPr lang="en-US" sz="1400" b="0" i="0" u="none" strike="noStrike" cap="none" dirty="0">
                <a:solidFill>
                  <a:srgbClr val="000000"/>
                </a:solidFill>
                <a:latin typeface="Courier Prime"/>
                <a:ea typeface="Courier Prime"/>
                <a:cs typeface="Courier Prime"/>
                <a:sym typeface="Courier Prime"/>
              </a:rPr>
              <a:t>epoll_create()</a:t>
            </a:r>
            <a:r>
              <a:rPr lang="en-US" sz="1400" b="0" i="0" u="none" strike="noStrike" cap="none" dirty="0">
                <a:solidFill>
                  <a:srgbClr val="000000"/>
                </a:solidFill>
                <a:latin typeface="Arial"/>
                <a:ea typeface="Arial"/>
                <a:cs typeface="Arial"/>
                <a:sym typeface="Arial"/>
              </a:rPr>
              <a:t>. It returns an ID to you.</a:t>
            </a:r>
            <a:endParaRPr sz="1400" b="0" i="0" u="none" strike="noStrike" cap="none" dirty="0">
              <a:latin typeface="Arial"/>
              <a:ea typeface="Arial"/>
              <a:cs typeface="Arial"/>
              <a:sym typeface="Arial"/>
            </a:endParaRPr>
          </a:p>
          <a:p>
            <a:pPr marL="914400" marR="0" lvl="1" indent="-317160" algn="l" rtl="0">
              <a:lnSpc>
                <a:spcPct val="115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Inform the kernel file descriptors that you want updates on them by calling </a:t>
            </a:r>
            <a:r>
              <a:rPr lang="en-US" sz="1400" b="0" i="0" u="none" strike="noStrike" cap="none" dirty="0" err="1">
                <a:solidFill>
                  <a:srgbClr val="000000"/>
                </a:solidFill>
                <a:latin typeface="Courier Prime"/>
                <a:ea typeface="Courier Prime"/>
                <a:cs typeface="Courier Prime"/>
                <a:sym typeface="Courier Prime"/>
              </a:rPr>
              <a:t>epoll_ctl</a:t>
            </a:r>
            <a:r>
              <a:rPr lang="en-US" sz="1400" b="0" i="0" u="none" strike="noStrike" cap="none" dirty="0">
                <a:solidFill>
                  <a:srgbClr val="000000"/>
                </a:solidFill>
                <a:latin typeface="Courier Prime"/>
                <a:ea typeface="Courier Prime"/>
                <a:cs typeface="Courier Prime"/>
                <a:sym typeface="Courier Prime"/>
              </a:rPr>
              <a:t>()</a:t>
            </a:r>
            <a:r>
              <a:rPr lang="en-US" sz="1400" b="0" i="0" u="none" strike="noStrike" cap="none" dirty="0">
                <a:solidFill>
                  <a:srgbClr val="000000"/>
                </a:solidFill>
                <a:latin typeface="Arial"/>
                <a:ea typeface="Arial"/>
                <a:cs typeface="Arial"/>
                <a:sym typeface="Arial"/>
              </a:rPr>
              <a:t>.</a:t>
            </a:r>
            <a:endParaRPr sz="1400" b="0" i="0" u="none" strike="noStrike" cap="none" dirty="0">
              <a:latin typeface="Arial"/>
              <a:ea typeface="Arial"/>
              <a:cs typeface="Arial"/>
              <a:sym typeface="Arial"/>
            </a:endParaRPr>
          </a:p>
          <a:p>
            <a:pPr marL="914400" marR="0" lvl="1" indent="-317160" algn="l" rtl="0">
              <a:lnSpc>
                <a:spcPct val="115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Georgia"/>
                <a:ea typeface="Georgia"/>
                <a:cs typeface="Georgia"/>
                <a:sym typeface="Georgia"/>
              </a:rPr>
              <a:t>Call </a:t>
            </a:r>
            <a:r>
              <a:rPr lang="en-US" sz="1400" b="0" i="0" u="none" strike="noStrike" cap="none" dirty="0" err="1">
                <a:solidFill>
                  <a:srgbClr val="000000"/>
                </a:solidFill>
                <a:latin typeface="Courier Prime"/>
                <a:ea typeface="Courier Prime"/>
                <a:cs typeface="Courier Prime"/>
                <a:sym typeface="Courier Prime"/>
              </a:rPr>
              <a:t>epoll_wait</a:t>
            </a:r>
            <a:r>
              <a:rPr lang="en-US" sz="1400" b="0" i="0" u="none" strike="noStrike" cap="none" dirty="0">
                <a:solidFill>
                  <a:srgbClr val="000000"/>
                </a:solidFill>
                <a:latin typeface="Courier Prime"/>
                <a:ea typeface="Courier Prime"/>
                <a:cs typeface="Courier Prime"/>
                <a:sym typeface="Courier Prime"/>
              </a:rPr>
              <a:t>() </a:t>
            </a:r>
            <a:r>
              <a:rPr lang="en-US" sz="1400" b="0" i="0" u="none" strike="noStrike" cap="none" dirty="0">
                <a:solidFill>
                  <a:srgbClr val="000000"/>
                </a:solidFill>
                <a:latin typeface="Georgia"/>
                <a:ea typeface="Georgia"/>
                <a:cs typeface="Georgia"/>
                <a:sym typeface="Georgia"/>
              </a:rPr>
              <a:t>to wait for updates about the list of files you’re interested in.</a:t>
            </a:r>
            <a:endParaRPr sz="1400" b="0" i="0" u="none" strike="noStrike" cap="none" dirty="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7F09C-7A55-FFA6-B217-FAFCC2A76740}"/>
              </a:ext>
            </a:extLst>
          </p:cNvPr>
          <p:cNvSpPr>
            <a:spLocks noGrp="1"/>
          </p:cNvSpPr>
          <p:nvPr>
            <p:ph type="title"/>
          </p:nvPr>
        </p:nvSpPr>
        <p:spPr/>
        <p:txBody>
          <a:bodyPr/>
          <a:lstStyle/>
          <a:p>
            <a:r>
              <a:rPr lang="en-US" dirty="0"/>
              <a:t>Epoll API</a:t>
            </a:r>
            <a:endParaRPr lang="en-IN" dirty="0"/>
          </a:p>
        </p:txBody>
      </p:sp>
      <p:sp>
        <p:nvSpPr>
          <p:cNvPr id="3" name="Content Placeholder 2">
            <a:extLst>
              <a:ext uri="{FF2B5EF4-FFF2-40B4-BE49-F238E27FC236}">
                <a16:creationId xmlns:a16="http://schemas.microsoft.com/office/drawing/2014/main" id="{C1D51756-51A6-DE34-D8FC-F770F205CF4D}"/>
              </a:ext>
            </a:extLst>
          </p:cNvPr>
          <p:cNvSpPr>
            <a:spLocks noGrp="1"/>
          </p:cNvSpPr>
          <p:nvPr>
            <p:ph idx="1"/>
          </p:nvPr>
        </p:nvSpPr>
        <p:spPr>
          <a:xfrm>
            <a:off x="1088685" y="1511798"/>
            <a:ext cx="7202456" cy="2953045"/>
          </a:xfrm>
        </p:spPr>
        <p:txBody>
          <a:bodyPr>
            <a:normAutofit fontScale="92500" lnSpcReduction="20000"/>
          </a:bodyPr>
          <a:lstStyle/>
          <a:p>
            <a:r>
              <a:rPr lang="en-IN" b="0" i="0" dirty="0">
                <a:effectLst/>
                <a:latin typeface="Söhne Mono"/>
              </a:rPr>
              <a:t>#include &lt;sys/epoll.h&gt;</a:t>
            </a:r>
          </a:p>
          <a:p>
            <a:r>
              <a:rPr lang="en-US" b="0" i="0" dirty="0">
                <a:effectLst/>
                <a:latin typeface="Söhne Mono"/>
              </a:rPr>
              <a:t>int epoll_create(int size);</a:t>
            </a:r>
          </a:p>
          <a:p>
            <a:r>
              <a:rPr lang="en-US" b="0" i="0" dirty="0">
                <a:effectLst/>
                <a:latin typeface="Söhne Mono"/>
              </a:rPr>
              <a:t> int epoll_create1(int flags);</a:t>
            </a:r>
          </a:p>
          <a:p>
            <a:r>
              <a:rPr lang="en-IN" dirty="0"/>
              <a:t>int epoll_ctl(int epfd, int op, int fd, struct epoll_event *event);</a:t>
            </a:r>
          </a:p>
          <a:p>
            <a:r>
              <a:rPr lang="en-IN" dirty="0"/>
              <a:t>int epoll_wait(int epfd, struct epoll_event *events, int maxevents, int timeout);</a:t>
            </a:r>
          </a:p>
          <a:p>
            <a:r>
              <a:rPr lang="en-US" dirty="0"/>
              <a:t>struct epoll_event {  </a:t>
            </a:r>
          </a:p>
          <a:p>
            <a:pPr marL="0" indent="0">
              <a:buNone/>
            </a:pPr>
            <a:r>
              <a:rPr lang="en-US" dirty="0"/>
              <a:t>    	uint32_t events;  // Bitmask of events to monitor (EPOLLIN, EPOLLOUT, etc.)</a:t>
            </a:r>
          </a:p>
          <a:p>
            <a:pPr marL="0" indent="0">
              <a:buNone/>
            </a:pPr>
            <a:r>
              <a:rPr lang="en-US" dirty="0"/>
              <a:t>	epoll_data_t data;  // User data associated with the file descriptor</a:t>
            </a:r>
          </a:p>
          <a:p>
            <a:pPr marL="0" indent="0">
              <a:buNone/>
            </a:pPr>
            <a:r>
              <a:rPr lang="en-US" dirty="0"/>
              <a:t>   };</a:t>
            </a:r>
            <a:endParaRPr lang="en-IN" dirty="0"/>
          </a:p>
        </p:txBody>
      </p:sp>
    </p:spTree>
    <p:extLst>
      <p:ext uri="{BB962C8B-B14F-4D97-AF65-F5344CB8AC3E}">
        <p14:creationId xmlns:p14="http://schemas.microsoft.com/office/powerpoint/2010/main" val="1797649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0DBC5-BC97-35A9-9F91-5F61CE091AEB}"/>
              </a:ext>
            </a:extLst>
          </p:cNvPr>
          <p:cNvSpPr>
            <a:spLocks noGrp="1"/>
          </p:cNvSpPr>
          <p:nvPr>
            <p:ph type="title"/>
          </p:nvPr>
        </p:nvSpPr>
        <p:spPr/>
        <p:txBody>
          <a:bodyPr/>
          <a:lstStyle/>
          <a:p>
            <a:r>
              <a:rPr lang="en-US" dirty="0"/>
              <a:t>EPOLL EVENTS</a:t>
            </a:r>
            <a:endParaRPr lang="en-IN" dirty="0"/>
          </a:p>
        </p:txBody>
      </p:sp>
      <p:pic>
        <p:nvPicPr>
          <p:cNvPr id="5" name="Content Placeholder 4">
            <a:extLst>
              <a:ext uri="{FF2B5EF4-FFF2-40B4-BE49-F238E27FC236}">
                <a16:creationId xmlns:a16="http://schemas.microsoft.com/office/drawing/2014/main" id="{8E46E333-CAAC-AC49-6969-D674F9BB834E}"/>
              </a:ext>
            </a:extLst>
          </p:cNvPr>
          <p:cNvPicPr>
            <a:picLocks noGrp="1" noChangeAspect="1"/>
          </p:cNvPicPr>
          <p:nvPr>
            <p:ph idx="1"/>
          </p:nvPr>
        </p:nvPicPr>
        <p:blipFill>
          <a:blip r:embed="rId2"/>
          <a:stretch>
            <a:fillRect/>
          </a:stretch>
        </p:blipFill>
        <p:spPr>
          <a:xfrm>
            <a:off x="1666005" y="1511300"/>
            <a:ext cx="6048527" cy="2589213"/>
          </a:xfrm>
        </p:spPr>
      </p:pic>
    </p:spTree>
    <p:extLst>
      <p:ext uri="{BB962C8B-B14F-4D97-AF65-F5344CB8AC3E}">
        <p14:creationId xmlns:p14="http://schemas.microsoft.com/office/powerpoint/2010/main" val="1157241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44"/>
          <p:cNvSpPr txBox="1"/>
          <p:nvPr/>
        </p:nvSpPr>
        <p:spPr>
          <a:xfrm>
            <a:off x="362880" y="228240"/>
            <a:ext cx="2856600" cy="871560"/>
          </a:xfrm>
          <a:prstGeom prst="rect">
            <a:avLst/>
          </a:prstGeom>
          <a:noFill/>
          <a:ln>
            <a:noFill/>
          </a:ln>
        </p:spPr>
        <p:txBody>
          <a:bodyPr spcFirstLastPara="1" wrap="square" lIns="0" tIns="12600" rIns="0" bIns="0" anchor="t" anchorCtr="0">
            <a:noAutofit/>
          </a:bodyPr>
          <a:lstStyle/>
          <a:p>
            <a:pPr marL="12600" marR="0" lvl="0" indent="0" algn="l"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References</a:t>
            </a:r>
            <a:endParaRPr sz="2400" b="0" i="0" u="none" strike="noStrike" cap="none">
              <a:solidFill>
                <a:srgbClr val="000000"/>
              </a:solidFill>
              <a:latin typeface="Arial"/>
              <a:ea typeface="Arial"/>
              <a:cs typeface="Arial"/>
              <a:sym typeface="Arial"/>
            </a:endParaRPr>
          </a:p>
        </p:txBody>
      </p:sp>
      <p:sp>
        <p:nvSpPr>
          <p:cNvPr id="646" name="Google Shape;646;p44"/>
          <p:cNvSpPr/>
          <p:nvPr/>
        </p:nvSpPr>
        <p:spPr>
          <a:xfrm>
            <a:off x="384840" y="990720"/>
            <a:ext cx="7007760" cy="3646080"/>
          </a:xfrm>
          <a:prstGeom prst="rect">
            <a:avLst/>
          </a:prstGeom>
          <a:noFill/>
          <a:ln>
            <a:noFill/>
          </a:ln>
        </p:spPr>
        <p:txBody>
          <a:bodyPr spcFirstLastPara="1" wrap="square" lIns="0" tIns="12600" rIns="0" bIns="0" anchor="t" anchorCtr="0">
            <a:noAutofit/>
          </a:bodyPr>
          <a:lstStyle/>
          <a:p>
            <a:pPr marL="324090" marR="0" lvl="0" indent="-171450" algn="l" rtl="0">
              <a:lnSpc>
                <a:spcPct val="224000"/>
              </a:lnSpc>
              <a:spcBef>
                <a:spcPts val="0"/>
              </a:spcBef>
              <a:spcAft>
                <a:spcPts val="0"/>
              </a:spcAft>
              <a:buClr>
                <a:srgbClr val="000000"/>
              </a:buClr>
              <a:buSzPts val="1200"/>
              <a:buFont typeface="Arial" panose="020B0604020202020204" pitchFamily="34" charset="0"/>
              <a:buChar char="•"/>
            </a:pPr>
            <a:r>
              <a:rPr lang="en-US" sz="1200" b="0" i="0" u="sng" strike="noStrike" cap="none" dirty="0" err="1">
                <a:solidFill>
                  <a:schemeClr val="hlink"/>
                </a:solidFill>
                <a:latin typeface="Roboto"/>
                <a:ea typeface="Roboto"/>
                <a:cs typeface="Roboto"/>
                <a:sym typeface="Roboto"/>
                <a:hlinkClick r:id="rId3"/>
              </a:rPr>
              <a:t>LibC</a:t>
            </a:r>
            <a:r>
              <a:rPr lang="en-US" sz="1200" b="0" i="0" u="sng" strike="noStrike" cap="none" dirty="0">
                <a:solidFill>
                  <a:schemeClr val="hlink"/>
                </a:solidFill>
                <a:latin typeface="Roboto"/>
                <a:ea typeface="Roboto"/>
                <a:cs typeface="Roboto"/>
                <a:sym typeface="Roboto"/>
                <a:hlinkClick r:id="rId3"/>
              </a:rPr>
              <a:t> wrapper on bind system call </a:t>
            </a:r>
            <a:r>
              <a:rPr lang="en-US" sz="1200" b="0" i="0" u="none" strike="noStrike" cap="none" dirty="0">
                <a:solidFill>
                  <a:srgbClr val="0097A7"/>
                </a:solidFill>
                <a:latin typeface="Roboto"/>
                <a:ea typeface="Roboto"/>
                <a:cs typeface="Roboto"/>
                <a:sym typeface="Roboto"/>
              </a:rPr>
              <a:t> </a:t>
            </a:r>
            <a:endParaRPr sz="1200" b="0" i="0" u="none" strike="noStrike" cap="none" dirty="0">
              <a:latin typeface="Arial"/>
              <a:ea typeface="Arial"/>
              <a:cs typeface="Arial"/>
              <a:sym typeface="Arial"/>
            </a:endParaRPr>
          </a:p>
          <a:p>
            <a:pPr marL="324090" marR="0" lvl="0" indent="-171450" algn="l" rtl="0">
              <a:lnSpc>
                <a:spcPct val="224000"/>
              </a:lnSpc>
              <a:spcBef>
                <a:spcPts val="0"/>
              </a:spcBef>
              <a:spcAft>
                <a:spcPts val="0"/>
              </a:spcAft>
              <a:buClr>
                <a:srgbClr val="000000"/>
              </a:buClr>
              <a:buSzPts val="1200"/>
              <a:buFont typeface="Arial" panose="020B0604020202020204" pitchFamily="34" charset="0"/>
              <a:buChar char="•"/>
            </a:pPr>
            <a:r>
              <a:rPr lang="en-US" sz="1200" b="0" i="0" u="sng" strike="noStrike" cap="none" dirty="0" err="1">
                <a:solidFill>
                  <a:schemeClr val="hlink"/>
                </a:solidFill>
                <a:latin typeface="Roboto"/>
                <a:ea typeface="Roboto"/>
                <a:cs typeface="Roboto"/>
                <a:sym typeface="Roboto"/>
                <a:hlinkClick r:id="rId4"/>
              </a:rPr>
              <a:t>LibC</a:t>
            </a:r>
            <a:r>
              <a:rPr lang="en-US" sz="1200" b="0" i="0" u="sng" strike="noStrike" cap="none" dirty="0">
                <a:solidFill>
                  <a:schemeClr val="hlink"/>
                </a:solidFill>
                <a:latin typeface="Roboto"/>
                <a:ea typeface="Roboto"/>
                <a:cs typeface="Roboto"/>
                <a:sym typeface="Roboto"/>
                <a:hlinkClick r:id="rId4"/>
              </a:rPr>
              <a:t> wrapper on listen system call </a:t>
            </a:r>
            <a:r>
              <a:rPr lang="en-US" sz="1200" b="0" i="0" u="none" strike="noStrike" cap="none" dirty="0">
                <a:solidFill>
                  <a:srgbClr val="0097A7"/>
                </a:solidFill>
                <a:latin typeface="Roboto"/>
                <a:ea typeface="Roboto"/>
                <a:cs typeface="Roboto"/>
                <a:sym typeface="Roboto"/>
              </a:rPr>
              <a:t> </a:t>
            </a:r>
            <a:endParaRPr sz="1200" b="0" i="0" u="none" strike="noStrike" cap="none" dirty="0">
              <a:latin typeface="Arial"/>
              <a:ea typeface="Arial"/>
              <a:cs typeface="Arial"/>
              <a:sym typeface="Arial"/>
            </a:endParaRPr>
          </a:p>
          <a:p>
            <a:pPr marL="324090" marR="0" lvl="0" indent="-171450" algn="l" rtl="0">
              <a:lnSpc>
                <a:spcPct val="224000"/>
              </a:lnSpc>
              <a:spcBef>
                <a:spcPts val="0"/>
              </a:spcBef>
              <a:spcAft>
                <a:spcPts val="0"/>
              </a:spcAft>
              <a:buClr>
                <a:srgbClr val="000000"/>
              </a:buClr>
              <a:buSzPts val="1200"/>
              <a:buFont typeface="Arial" panose="020B0604020202020204" pitchFamily="34" charset="0"/>
              <a:buChar char="•"/>
            </a:pPr>
            <a:r>
              <a:rPr lang="en-US" sz="1200" b="0" i="0" u="sng" strike="noStrike" cap="none" dirty="0" err="1">
                <a:solidFill>
                  <a:schemeClr val="hlink"/>
                </a:solidFill>
                <a:latin typeface="Roboto"/>
                <a:ea typeface="Roboto"/>
                <a:cs typeface="Roboto"/>
                <a:sym typeface="Roboto"/>
                <a:hlinkClick r:id="rId5"/>
              </a:rPr>
              <a:t>LibC</a:t>
            </a:r>
            <a:r>
              <a:rPr lang="en-US" sz="1200" b="0" i="0" u="sng" strike="noStrike" cap="none" dirty="0">
                <a:solidFill>
                  <a:schemeClr val="hlink"/>
                </a:solidFill>
                <a:latin typeface="Roboto"/>
                <a:ea typeface="Roboto"/>
                <a:cs typeface="Roboto"/>
                <a:sym typeface="Roboto"/>
                <a:hlinkClick r:id="rId5"/>
              </a:rPr>
              <a:t> wrapper on accept system call </a:t>
            </a:r>
            <a:r>
              <a:rPr lang="en-US" sz="1200" b="0" i="0" u="none" strike="noStrike" cap="none" dirty="0">
                <a:solidFill>
                  <a:srgbClr val="0097A7"/>
                </a:solidFill>
                <a:latin typeface="Roboto"/>
                <a:ea typeface="Roboto"/>
                <a:cs typeface="Roboto"/>
                <a:sym typeface="Roboto"/>
              </a:rPr>
              <a:t> </a:t>
            </a:r>
            <a:endParaRPr sz="1200" b="0" i="0" u="none" strike="noStrike" cap="none" dirty="0">
              <a:latin typeface="Arial"/>
              <a:ea typeface="Arial"/>
              <a:cs typeface="Arial"/>
              <a:sym typeface="Arial"/>
            </a:endParaRPr>
          </a:p>
          <a:p>
            <a:pPr marL="324090" marR="0" lvl="0" indent="-171450" algn="l" rtl="0">
              <a:lnSpc>
                <a:spcPct val="224000"/>
              </a:lnSpc>
              <a:spcBef>
                <a:spcPts val="0"/>
              </a:spcBef>
              <a:spcAft>
                <a:spcPts val="0"/>
              </a:spcAft>
              <a:buClr>
                <a:srgbClr val="000000"/>
              </a:buClr>
              <a:buSzPts val="1200"/>
              <a:buFont typeface="Arial" panose="020B0604020202020204" pitchFamily="34" charset="0"/>
              <a:buChar char="•"/>
            </a:pPr>
            <a:r>
              <a:rPr lang="en-US" sz="1200" b="0" i="0" u="sng" strike="noStrike" cap="none" dirty="0" err="1">
                <a:solidFill>
                  <a:schemeClr val="hlink"/>
                </a:solidFill>
                <a:latin typeface="Roboto"/>
                <a:ea typeface="Roboto"/>
                <a:cs typeface="Roboto"/>
                <a:sym typeface="Roboto"/>
                <a:hlinkClick r:id="rId6"/>
              </a:rPr>
              <a:t>LibC</a:t>
            </a:r>
            <a:r>
              <a:rPr lang="en-US" sz="1200" b="0" i="0" u="sng" strike="noStrike" cap="none" dirty="0">
                <a:solidFill>
                  <a:schemeClr val="hlink"/>
                </a:solidFill>
                <a:latin typeface="Roboto"/>
                <a:ea typeface="Roboto"/>
                <a:cs typeface="Roboto"/>
                <a:sym typeface="Roboto"/>
                <a:hlinkClick r:id="rId6"/>
              </a:rPr>
              <a:t> wrapper on connect system call </a:t>
            </a:r>
            <a:r>
              <a:rPr lang="en-US" sz="1200" b="0" i="0" u="none" strike="noStrike" cap="none" dirty="0">
                <a:solidFill>
                  <a:srgbClr val="0097A7"/>
                </a:solidFill>
                <a:latin typeface="Roboto"/>
                <a:ea typeface="Roboto"/>
                <a:cs typeface="Roboto"/>
                <a:sym typeface="Roboto"/>
              </a:rPr>
              <a:t> </a:t>
            </a:r>
            <a:endParaRPr sz="1200" b="0" i="0" u="none" strike="noStrike" cap="none" dirty="0">
              <a:latin typeface="Arial"/>
              <a:ea typeface="Arial"/>
              <a:cs typeface="Arial"/>
              <a:sym typeface="Arial"/>
            </a:endParaRPr>
          </a:p>
          <a:p>
            <a:pPr marL="324090" marR="0" lvl="0" indent="-171450" algn="l" rtl="0">
              <a:lnSpc>
                <a:spcPct val="224000"/>
              </a:lnSpc>
              <a:spcBef>
                <a:spcPts val="0"/>
              </a:spcBef>
              <a:spcAft>
                <a:spcPts val="0"/>
              </a:spcAft>
              <a:buClr>
                <a:srgbClr val="000000"/>
              </a:buClr>
              <a:buSzPts val="1200"/>
              <a:buFont typeface="Arial" panose="020B0604020202020204" pitchFamily="34" charset="0"/>
              <a:buChar char="•"/>
            </a:pPr>
            <a:r>
              <a:rPr lang="en-US" sz="1200" b="0" i="0" u="sng" strike="noStrike" cap="none" dirty="0">
                <a:solidFill>
                  <a:schemeClr val="hlink"/>
                </a:solidFill>
                <a:latin typeface="Roboto"/>
                <a:ea typeface="Roboto"/>
                <a:cs typeface="Roboto"/>
                <a:sym typeface="Roboto"/>
                <a:hlinkClick r:id="rId7"/>
              </a:rPr>
              <a:t>Concurrent Server</a:t>
            </a:r>
            <a:endParaRPr sz="1200" b="0" i="0" u="none" strike="noStrike" cap="none" dirty="0">
              <a:latin typeface="Arial"/>
              <a:ea typeface="Arial"/>
              <a:cs typeface="Arial"/>
              <a:sym typeface="Arial"/>
            </a:endParaRPr>
          </a:p>
          <a:p>
            <a:pPr marL="324090" marR="0" lvl="0" indent="-171450" algn="l" rtl="0">
              <a:lnSpc>
                <a:spcPct val="224000"/>
              </a:lnSpc>
              <a:spcBef>
                <a:spcPts val="0"/>
              </a:spcBef>
              <a:spcAft>
                <a:spcPts val="0"/>
              </a:spcAft>
              <a:buClr>
                <a:srgbClr val="000000"/>
              </a:buClr>
              <a:buSzPts val="1200"/>
              <a:buFont typeface="Arial" panose="020B0604020202020204" pitchFamily="34" charset="0"/>
              <a:buChar char="•"/>
            </a:pPr>
            <a:r>
              <a:rPr lang="en-US" sz="1200" b="0" i="0" u="sng" strike="noStrike" cap="none" dirty="0" err="1">
                <a:solidFill>
                  <a:schemeClr val="hlink"/>
                </a:solidFill>
                <a:latin typeface="Roboto"/>
                <a:ea typeface="Roboto"/>
                <a:cs typeface="Roboto"/>
                <a:sym typeface="Roboto"/>
                <a:hlinkClick r:id="rId8"/>
              </a:rPr>
              <a:t>LibC</a:t>
            </a:r>
            <a:r>
              <a:rPr lang="en-US" sz="1200" b="0" i="0" u="sng" strike="noStrike" cap="none" dirty="0">
                <a:solidFill>
                  <a:schemeClr val="hlink"/>
                </a:solidFill>
                <a:latin typeface="Roboto"/>
                <a:ea typeface="Roboto"/>
                <a:cs typeface="Roboto"/>
                <a:sym typeface="Roboto"/>
                <a:hlinkClick r:id="rId8"/>
              </a:rPr>
              <a:t> wrapper on clone system call</a:t>
            </a:r>
            <a:endParaRPr sz="1200" b="0" i="0" u="none" strike="noStrike" cap="none" dirty="0">
              <a:latin typeface="Arial"/>
              <a:ea typeface="Arial"/>
              <a:cs typeface="Arial"/>
              <a:sym typeface="Arial"/>
            </a:endParaRPr>
          </a:p>
          <a:p>
            <a:pPr marL="324090" marR="0" lvl="0" indent="-171450" algn="l" rtl="0">
              <a:lnSpc>
                <a:spcPct val="224000"/>
              </a:lnSpc>
              <a:spcBef>
                <a:spcPts val="0"/>
              </a:spcBef>
              <a:spcAft>
                <a:spcPts val="0"/>
              </a:spcAft>
              <a:buClr>
                <a:srgbClr val="000000"/>
              </a:buClr>
              <a:buSzPts val="1200"/>
              <a:buFont typeface="Arial" panose="020B0604020202020204" pitchFamily="34" charset="0"/>
              <a:buChar char="•"/>
            </a:pPr>
            <a:r>
              <a:rPr lang="en-US" sz="1200" b="0" i="0" u="sng" strike="noStrike" cap="none" dirty="0">
                <a:solidFill>
                  <a:schemeClr val="hlink"/>
                </a:solidFill>
                <a:latin typeface="Roboto"/>
                <a:ea typeface="Roboto"/>
                <a:cs typeface="Roboto"/>
                <a:sym typeface="Roboto"/>
                <a:hlinkClick r:id="rId9"/>
              </a:rPr>
              <a:t>Linux Programming Interface</a:t>
            </a:r>
            <a:endParaRPr sz="1200" b="0" i="0" u="none" strike="noStrike" cap="none" dirty="0">
              <a:latin typeface="Arial"/>
              <a:ea typeface="Arial"/>
              <a:cs typeface="Arial"/>
              <a:sym typeface="Arial"/>
            </a:endParaRPr>
          </a:p>
          <a:p>
            <a:pPr marL="324090" marR="0" lvl="0" indent="-171450" algn="l" rtl="0">
              <a:lnSpc>
                <a:spcPct val="224000"/>
              </a:lnSpc>
              <a:spcBef>
                <a:spcPts val="0"/>
              </a:spcBef>
              <a:spcAft>
                <a:spcPts val="0"/>
              </a:spcAft>
              <a:buClr>
                <a:srgbClr val="000000"/>
              </a:buClr>
              <a:buSzPts val="1200"/>
              <a:buFont typeface="Arial" panose="020B0604020202020204" pitchFamily="34" charset="0"/>
              <a:buChar char="•"/>
            </a:pPr>
            <a:r>
              <a:rPr lang="en-US" sz="1200" b="0" i="0" u="sng" strike="noStrike" cap="none" dirty="0">
                <a:solidFill>
                  <a:schemeClr val="hlink"/>
                </a:solidFill>
                <a:latin typeface="Roboto"/>
                <a:ea typeface="Roboto"/>
                <a:cs typeface="Roboto"/>
                <a:sym typeface="Roboto"/>
                <a:hlinkClick r:id="rId10"/>
              </a:rPr>
              <a:t>Select</a:t>
            </a:r>
            <a:r>
              <a:rPr lang="en-US" sz="1200" b="0" i="0" u="none" strike="noStrike" cap="none" dirty="0">
                <a:solidFill>
                  <a:srgbClr val="000000"/>
                </a:solidFill>
                <a:latin typeface="Roboto"/>
                <a:ea typeface="Roboto"/>
                <a:cs typeface="Roboto"/>
                <a:sym typeface="Roboto"/>
              </a:rPr>
              <a:t>, </a:t>
            </a:r>
            <a:r>
              <a:rPr lang="en-US" sz="1200" b="0" i="0" u="sng" strike="noStrike" cap="none" dirty="0">
                <a:solidFill>
                  <a:schemeClr val="hlink"/>
                </a:solidFill>
                <a:latin typeface="Roboto"/>
                <a:ea typeface="Roboto"/>
                <a:cs typeface="Roboto"/>
                <a:sym typeface="Roboto"/>
                <a:hlinkClick r:id="rId11"/>
              </a:rPr>
              <a:t>Poll</a:t>
            </a:r>
            <a:r>
              <a:rPr lang="en-US" sz="1200" b="0" i="0" u="none" strike="noStrike" cap="none" dirty="0">
                <a:solidFill>
                  <a:srgbClr val="000000"/>
                </a:solidFill>
                <a:latin typeface="Roboto"/>
                <a:ea typeface="Roboto"/>
                <a:cs typeface="Roboto"/>
                <a:sym typeface="Roboto"/>
              </a:rPr>
              <a:t>, and </a:t>
            </a:r>
            <a:r>
              <a:rPr lang="en-US" sz="1200" b="0" i="0" u="sng" strike="noStrike" cap="none" dirty="0">
                <a:solidFill>
                  <a:schemeClr val="hlink"/>
                </a:solidFill>
                <a:latin typeface="Roboto"/>
                <a:ea typeface="Roboto"/>
                <a:cs typeface="Roboto"/>
                <a:sym typeface="Roboto"/>
                <a:hlinkClick r:id="rId12"/>
              </a:rPr>
              <a:t>Epoll</a:t>
            </a:r>
            <a:endParaRPr lang="en-US" sz="1200" b="0" i="0" u="sng" strike="noStrike" cap="none" dirty="0">
              <a:solidFill>
                <a:schemeClr val="hlink"/>
              </a:solidFill>
              <a:latin typeface="Roboto"/>
              <a:ea typeface="Roboto"/>
              <a:cs typeface="Roboto"/>
              <a:sym typeface="Roboto"/>
            </a:endParaRPr>
          </a:p>
          <a:p>
            <a:pPr marL="324090" marR="0" lvl="0" indent="-171450" algn="l" rtl="0">
              <a:lnSpc>
                <a:spcPct val="224000"/>
              </a:lnSpc>
              <a:spcBef>
                <a:spcPts val="0"/>
              </a:spcBef>
              <a:spcAft>
                <a:spcPts val="0"/>
              </a:spcAft>
              <a:buClr>
                <a:srgbClr val="000000"/>
              </a:buClr>
              <a:buSzPts val="1200"/>
              <a:buFont typeface="Arial" panose="020B0604020202020204" pitchFamily="34" charset="0"/>
              <a:buChar char="•"/>
            </a:pPr>
            <a:r>
              <a:rPr lang="en-US" sz="1200" u="sng" dirty="0">
                <a:solidFill>
                  <a:schemeClr val="hlink"/>
                </a:solidFill>
                <a:latin typeface="Roboto"/>
                <a:ea typeface="Roboto"/>
                <a:cs typeface="Roboto"/>
                <a:sym typeface="Roboto"/>
                <a:hlinkClick r:id="rId13"/>
              </a:rPr>
              <a:t>For Epoll API</a:t>
            </a:r>
            <a:endParaRPr lang="en-US" sz="1200" b="0" i="0" u="none" strike="noStrike" cap="none" dirty="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178</TotalTime>
  <Words>1150</Words>
  <Application>Microsoft Office PowerPoint</Application>
  <PresentationFormat>On-screen Show (16:9)</PresentationFormat>
  <Paragraphs>135</Paragraphs>
  <Slides>25</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Georgia</vt:lpstr>
      <vt:lpstr>Courier Prime</vt:lpstr>
      <vt:lpstr>Noto Sans Symbols</vt:lpstr>
      <vt:lpstr>Courier New</vt:lpstr>
      <vt:lpstr>Trebuchet MS</vt:lpstr>
      <vt:lpstr>Arial</vt:lpstr>
      <vt:lpstr>Söhne Mono</vt:lpstr>
      <vt:lpstr>Roboto</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SELECT:</vt:lpstr>
      <vt:lpstr>    POLL </vt:lpstr>
      <vt:lpstr>  EPOLL(Linux-specific) </vt:lpstr>
      <vt:lpstr>PowerPoint Presentation</vt:lpstr>
      <vt:lpstr>Implementation</vt:lpstr>
      <vt:lpstr>PowerPoint Presentation</vt:lpstr>
      <vt:lpstr>PowerPoint Presentation</vt:lpstr>
      <vt:lpstr>Epoll API</vt:lpstr>
      <vt:lpstr>EPOLL EVENTS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Harsh Patel</cp:lastModifiedBy>
  <cp:revision>9</cp:revision>
  <dcterms:modified xsi:type="dcterms:W3CDTF">2023-09-13T06:25:55Z</dcterms:modified>
</cp:coreProperties>
</file>