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9144000" cy="5143500"/>
  <p:notesSz cx="9144000" cy="51435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37745" y="470425"/>
            <a:ext cx="3268509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24139" y="489372"/>
            <a:ext cx="1137285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6706" y="1270203"/>
            <a:ext cx="8270586" cy="2320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wireshark.org/download.html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hyperlink" Target="https://wiki.wireshark.org/CaptureFilters" TargetMode="External"/><Relationship Id="rId4" Type="http://schemas.openxmlformats.org/officeDocument/2006/relationships/hyperlink" Target="https://wiki.wireshark.org/DisplayFilters" TargetMode="Externa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n.wikipedia.org/wiki/Wireshark" TargetMode="External"/><Relationship Id="rId3" Type="http://schemas.openxmlformats.org/officeDocument/2006/relationships/hyperlink" Target="https://wiki.wireshark.org/" TargetMode="External"/><Relationship Id="rId4" Type="http://schemas.openxmlformats.org/officeDocument/2006/relationships/hyperlink" Target="https://en.wikipedia.org/wiki/Berkeley_Packet_Filter" TargetMode="External"/><Relationship Id="rId5" Type="http://schemas.openxmlformats.org/officeDocument/2006/relationships/hyperlink" Target="https://sharkfestus.wireshark.org/sharkfest.11/presentations/McCanne-Sharkfest%2711_Keynote_Address.pdf" TargetMode="External"/><Relationship Id="rId6" Type="http://schemas.openxmlformats.org/officeDocument/2006/relationships/hyperlink" Target="https://www.researchgate.net/figure/The-NIC-is-set-to-the-promiscuous-mode_fig1_220905310" TargetMode="External"/><Relationship Id="rId7" Type="http://schemas.openxmlformats.org/officeDocument/2006/relationships/hyperlink" Target="https://en.wikipedia.org/wiki/Promiscuous_mode" TargetMode="External"/><Relationship Id="rId8" Type="http://schemas.openxmlformats.org/officeDocument/2006/relationships/hyperlink" Target="http://www.tcpdump.org/manpages/tcpdump.1.html" TargetMode="External"/><Relationship Id="rId9" Type="http://schemas.openxmlformats.org/officeDocument/2006/relationships/hyperlink" Target="https://www.youtube.com/watch?v=21M1rnbd5xo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2507" y="1850263"/>
            <a:ext cx="4271645" cy="16103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5200" spc="-10"/>
              <a:t>Wireshark</a:t>
            </a:r>
            <a:r>
              <a:rPr dirty="0" sz="5200" spc="-105"/>
              <a:t> </a:t>
            </a:r>
            <a:r>
              <a:rPr dirty="0" sz="5200" spc="-5"/>
              <a:t>and </a:t>
            </a:r>
            <a:r>
              <a:rPr dirty="0" sz="5200" spc="-1430"/>
              <a:t> </a:t>
            </a:r>
            <a:r>
              <a:rPr dirty="0" sz="5200" spc="-100"/>
              <a:t>Tshark</a:t>
            </a:r>
            <a:endParaRPr sz="5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72431" y="489372"/>
            <a:ext cx="2772410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What</a:t>
            </a:r>
            <a:r>
              <a:rPr dirty="0" spc="-55"/>
              <a:t> </a:t>
            </a:r>
            <a:r>
              <a:rPr dirty="0" spc="-5"/>
              <a:t>is</a:t>
            </a:r>
            <a:r>
              <a:rPr dirty="0" spc="-45"/>
              <a:t> </a:t>
            </a:r>
            <a:r>
              <a:rPr dirty="0" spc="-5"/>
              <a:t>Wireshark?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4325" y="1130125"/>
            <a:ext cx="7474584" cy="8934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9890" marR="5080" indent="-377825">
              <a:lnSpc>
                <a:spcPct val="114999"/>
              </a:lnSpc>
              <a:spcBef>
                <a:spcPts val="100"/>
              </a:spcBef>
              <a:buChar char="●"/>
              <a:tabLst>
                <a:tab pos="389890" algn="l"/>
                <a:tab pos="390525" algn="l"/>
              </a:tabLst>
            </a:pPr>
            <a:r>
              <a:rPr dirty="0" sz="1650" spc="-10" b="1">
                <a:solidFill>
                  <a:srgbClr val="202122"/>
                </a:solidFill>
                <a:latin typeface="Arial"/>
                <a:cs typeface="Arial"/>
              </a:rPr>
              <a:t>Wireshark</a:t>
            </a:r>
            <a:r>
              <a:rPr dirty="0" sz="1650" spc="10" b="1">
                <a:solidFill>
                  <a:srgbClr val="202122"/>
                </a:solidFill>
                <a:latin typeface="Arial"/>
                <a:cs typeface="Arial"/>
              </a:rPr>
              <a:t> </a:t>
            </a:r>
            <a:r>
              <a:rPr dirty="0" sz="1650" spc="-5">
                <a:solidFill>
                  <a:srgbClr val="202122"/>
                </a:solidFill>
                <a:latin typeface="Arial MT"/>
                <a:cs typeface="Arial MT"/>
              </a:rPr>
              <a:t>is </a:t>
            </a:r>
            <a:r>
              <a:rPr dirty="0" sz="1650">
                <a:solidFill>
                  <a:srgbClr val="202122"/>
                </a:solidFill>
                <a:latin typeface="Arial MT"/>
                <a:cs typeface="Arial MT"/>
              </a:rPr>
              <a:t>a</a:t>
            </a:r>
            <a:r>
              <a:rPr dirty="0" sz="1650" spc="-5">
                <a:solidFill>
                  <a:srgbClr val="202122"/>
                </a:solidFill>
                <a:latin typeface="Arial MT"/>
                <a:cs typeface="Arial MT"/>
              </a:rPr>
              <a:t> free and open-source packet</a:t>
            </a:r>
            <a:r>
              <a:rPr dirty="0" sz="1650" spc="-1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dirty="0" sz="1650" spc="-15">
                <a:solidFill>
                  <a:srgbClr val="202122"/>
                </a:solidFill>
                <a:latin typeface="Arial MT"/>
                <a:cs typeface="Arial MT"/>
              </a:rPr>
              <a:t>analyzer.</a:t>
            </a:r>
            <a:r>
              <a:rPr dirty="0" sz="1650" spc="-5">
                <a:solidFill>
                  <a:srgbClr val="202122"/>
                </a:solidFill>
                <a:latin typeface="Arial MT"/>
                <a:cs typeface="Arial MT"/>
              </a:rPr>
              <a:t> It is used for network </a:t>
            </a:r>
            <a:r>
              <a:rPr dirty="0" sz="165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dirty="0" sz="1650" spc="-5">
                <a:solidFill>
                  <a:srgbClr val="202122"/>
                </a:solidFill>
                <a:latin typeface="Arial MT"/>
                <a:cs typeface="Arial MT"/>
              </a:rPr>
              <a:t>troubleshooting, analysis, </a:t>
            </a:r>
            <a:r>
              <a:rPr dirty="0" sz="1650">
                <a:solidFill>
                  <a:srgbClr val="202122"/>
                </a:solidFill>
                <a:latin typeface="Arial MT"/>
                <a:cs typeface="Arial MT"/>
              </a:rPr>
              <a:t>software </a:t>
            </a:r>
            <a:r>
              <a:rPr dirty="0" sz="1650" spc="-5">
                <a:solidFill>
                  <a:srgbClr val="202122"/>
                </a:solidFill>
                <a:latin typeface="Arial MT"/>
                <a:cs typeface="Arial MT"/>
              </a:rPr>
              <a:t>and </a:t>
            </a:r>
            <a:r>
              <a:rPr dirty="0" sz="1650">
                <a:solidFill>
                  <a:srgbClr val="202122"/>
                </a:solidFill>
                <a:latin typeface="Arial MT"/>
                <a:cs typeface="Arial MT"/>
              </a:rPr>
              <a:t>communications </a:t>
            </a:r>
            <a:r>
              <a:rPr dirty="0" sz="1650" spc="-5">
                <a:solidFill>
                  <a:srgbClr val="202122"/>
                </a:solidFill>
                <a:latin typeface="Arial MT"/>
                <a:cs typeface="Arial MT"/>
              </a:rPr>
              <a:t>protocol testing and </a:t>
            </a:r>
            <a:r>
              <a:rPr dirty="0" sz="1650" spc="-445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dirty="0" sz="1650" spc="-5">
                <a:solidFill>
                  <a:srgbClr val="202122"/>
                </a:solidFill>
                <a:latin typeface="Arial MT"/>
                <a:cs typeface="Arial MT"/>
              </a:rPr>
              <a:t>debugging,</a:t>
            </a:r>
            <a:r>
              <a:rPr dirty="0" sz="1650" spc="-1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dirty="0" sz="1650" spc="-5">
                <a:solidFill>
                  <a:srgbClr val="202122"/>
                </a:solidFill>
                <a:latin typeface="Arial MT"/>
                <a:cs typeface="Arial MT"/>
              </a:rPr>
              <a:t>and education.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826" y="2620080"/>
            <a:ext cx="8252459" cy="866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5445" marR="5080" indent="-373380">
              <a:lnSpc>
                <a:spcPct val="114999"/>
              </a:lnSpc>
              <a:spcBef>
                <a:spcPts val="100"/>
              </a:spcBef>
              <a:buClr>
                <a:srgbClr val="595959"/>
              </a:buClr>
              <a:buChar char="●"/>
              <a:tabLst>
                <a:tab pos="385445" algn="l"/>
                <a:tab pos="386080" algn="l"/>
              </a:tabLst>
            </a:pPr>
            <a:r>
              <a:rPr dirty="0" sz="1600" spc="-5">
                <a:solidFill>
                  <a:srgbClr val="202122"/>
                </a:solidFill>
                <a:latin typeface="Arial MT"/>
                <a:cs typeface="Arial MT"/>
              </a:rPr>
              <a:t>There is also </a:t>
            </a:r>
            <a:r>
              <a:rPr dirty="0" sz="1600">
                <a:solidFill>
                  <a:srgbClr val="202122"/>
                </a:solidFill>
                <a:latin typeface="Arial MT"/>
                <a:cs typeface="Arial MT"/>
              </a:rPr>
              <a:t>a </a:t>
            </a:r>
            <a:r>
              <a:rPr dirty="0" sz="1600" spc="-5">
                <a:solidFill>
                  <a:srgbClr val="202122"/>
                </a:solidFill>
                <a:latin typeface="Arial MT"/>
                <a:cs typeface="Arial MT"/>
              </a:rPr>
              <a:t>terminal-based </a:t>
            </a:r>
            <a:r>
              <a:rPr dirty="0" sz="1600">
                <a:solidFill>
                  <a:srgbClr val="202122"/>
                </a:solidFill>
                <a:latin typeface="Arial MT"/>
                <a:cs typeface="Arial MT"/>
              </a:rPr>
              <a:t>(non-GUI) version called </a:t>
            </a:r>
            <a:r>
              <a:rPr dirty="0" sz="1600" spc="-5">
                <a:solidFill>
                  <a:srgbClr val="202122"/>
                </a:solidFill>
                <a:latin typeface="Arial MT"/>
                <a:cs typeface="Arial MT"/>
              </a:rPr>
              <a:t>TShark. Wireshark, and the </a:t>
            </a:r>
            <a:r>
              <a:rPr dirty="0" sz="160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dirty="0" sz="1600" spc="-5">
                <a:solidFill>
                  <a:srgbClr val="202122"/>
                </a:solidFill>
                <a:latin typeface="Arial MT"/>
                <a:cs typeface="Arial MT"/>
              </a:rPr>
              <a:t>other programs distributed with it </a:t>
            </a:r>
            <a:r>
              <a:rPr dirty="0" sz="1600">
                <a:solidFill>
                  <a:srgbClr val="202122"/>
                </a:solidFill>
                <a:latin typeface="Arial MT"/>
                <a:cs typeface="Arial MT"/>
              </a:rPr>
              <a:t>such </a:t>
            </a:r>
            <a:r>
              <a:rPr dirty="0" sz="1600" spc="-5">
                <a:solidFill>
                  <a:srgbClr val="202122"/>
                </a:solidFill>
                <a:latin typeface="Arial MT"/>
                <a:cs typeface="Arial MT"/>
              </a:rPr>
              <a:t>as TShark, are free </a:t>
            </a:r>
            <a:r>
              <a:rPr dirty="0" sz="1600" spc="5">
                <a:solidFill>
                  <a:srgbClr val="202122"/>
                </a:solidFill>
                <a:latin typeface="Arial MT"/>
                <a:cs typeface="Arial MT"/>
              </a:rPr>
              <a:t>software</a:t>
            </a:r>
            <a:r>
              <a:rPr dirty="0" sz="1600" spc="5">
                <a:solidFill>
                  <a:srgbClr val="595959"/>
                </a:solidFill>
                <a:latin typeface="Arial MT"/>
                <a:cs typeface="Arial MT"/>
              </a:rPr>
              <a:t>, </a:t>
            </a:r>
            <a:r>
              <a:rPr dirty="0" sz="1600">
                <a:solidFill>
                  <a:srgbClr val="202122"/>
                </a:solidFill>
                <a:latin typeface="Arial MT"/>
                <a:cs typeface="Arial MT"/>
              </a:rPr>
              <a:t>released </a:t>
            </a:r>
            <a:r>
              <a:rPr dirty="0" sz="1600" spc="-5">
                <a:solidFill>
                  <a:srgbClr val="202122"/>
                </a:solidFill>
                <a:latin typeface="Arial MT"/>
                <a:cs typeface="Arial MT"/>
              </a:rPr>
              <a:t>under the </a:t>
            </a:r>
            <a:r>
              <a:rPr dirty="0" sz="1600" spc="-43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dirty="0" sz="1600" spc="-5">
                <a:solidFill>
                  <a:srgbClr val="202122"/>
                </a:solidFill>
                <a:latin typeface="Arial MT"/>
                <a:cs typeface="Arial MT"/>
              </a:rPr>
              <a:t>terms</a:t>
            </a:r>
            <a:r>
              <a:rPr dirty="0" sz="1600" spc="-1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dirty="0" sz="1600" spc="-5">
                <a:solidFill>
                  <a:srgbClr val="202122"/>
                </a:solidFill>
                <a:latin typeface="Arial MT"/>
                <a:cs typeface="Arial MT"/>
              </a:rPr>
              <a:t>of the GNU</a:t>
            </a:r>
            <a:r>
              <a:rPr dirty="0" sz="1600" spc="-1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dirty="0" sz="1600" spc="-5">
                <a:solidFill>
                  <a:srgbClr val="202122"/>
                </a:solidFill>
                <a:latin typeface="Arial MT"/>
                <a:cs typeface="Arial MT"/>
              </a:rPr>
              <a:t>General Public License </a:t>
            </a:r>
            <a:r>
              <a:rPr dirty="0" sz="1600">
                <a:solidFill>
                  <a:srgbClr val="202122"/>
                </a:solidFill>
                <a:latin typeface="Arial MT"/>
                <a:cs typeface="Arial MT"/>
              </a:rPr>
              <a:t>version</a:t>
            </a:r>
            <a:r>
              <a:rPr dirty="0" sz="1600" spc="-1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02122"/>
                </a:solidFill>
                <a:latin typeface="Arial MT"/>
                <a:cs typeface="Arial MT"/>
              </a:rPr>
              <a:t>2</a:t>
            </a:r>
            <a:r>
              <a:rPr dirty="0" sz="1600" spc="-5">
                <a:solidFill>
                  <a:srgbClr val="202122"/>
                </a:solidFill>
                <a:latin typeface="Arial MT"/>
                <a:cs typeface="Arial MT"/>
              </a:rPr>
              <a:t> or any later</a:t>
            </a:r>
            <a:r>
              <a:rPr dirty="0" sz="1600" spc="-10">
                <a:solidFill>
                  <a:srgbClr val="202122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202122"/>
                </a:solidFill>
                <a:latin typeface="Arial MT"/>
                <a:cs typeface="Arial MT"/>
              </a:rPr>
              <a:t>version.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4409" y="489372"/>
            <a:ext cx="3601720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How</a:t>
            </a:r>
            <a:r>
              <a:rPr dirty="0" spc="-35"/>
              <a:t> </a:t>
            </a:r>
            <a:r>
              <a:rPr dirty="0" spc="-5"/>
              <a:t>to</a:t>
            </a:r>
            <a:r>
              <a:rPr dirty="0" spc="-35"/>
              <a:t> </a:t>
            </a:r>
            <a:r>
              <a:rPr dirty="0" spc="-5"/>
              <a:t>install</a:t>
            </a:r>
            <a:r>
              <a:rPr dirty="0" spc="-30"/>
              <a:t> </a:t>
            </a:r>
            <a:r>
              <a:rPr dirty="0" spc="-5"/>
              <a:t>Wireshark?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3800" y="1204036"/>
            <a:ext cx="4046220" cy="155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700" indent="-392430">
              <a:lnSpc>
                <a:spcPct val="100000"/>
              </a:lnSpc>
              <a:spcBef>
                <a:spcPts val="100"/>
              </a:spcBef>
              <a:buChar char="●"/>
              <a:tabLst>
                <a:tab pos="520700" algn="l"/>
                <a:tab pos="521334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Linux-</a:t>
            </a:r>
            <a:endParaRPr sz="1800">
              <a:latin typeface="Arial MT"/>
              <a:cs typeface="Arial MT"/>
            </a:endParaRPr>
          </a:p>
          <a:p>
            <a:pPr marL="520700" indent="-521334">
              <a:lnSpc>
                <a:spcPct val="100000"/>
              </a:lnSpc>
              <a:spcBef>
                <a:spcPts val="105"/>
              </a:spcBef>
              <a:buAutoNum type="arabicParenR"/>
              <a:tabLst>
                <a:tab pos="520700" algn="l"/>
                <a:tab pos="521334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Open</a:t>
            </a:r>
            <a:r>
              <a:rPr dirty="0" sz="1800" spc="-8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Terminal</a:t>
            </a:r>
            <a:endParaRPr sz="1800">
              <a:latin typeface="Arial MT"/>
              <a:cs typeface="Arial MT"/>
            </a:endParaRPr>
          </a:p>
          <a:p>
            <a:pPr marL="520700" indent="-521334">
              <a:lnSpc>
                <a:spcPct val="100000"/>
              </a:lnSpc>
              <a:spcBef>
                <a:spcPts val="110"/>
              </a:spcBef>
              <a:buAutoNum type="arabicParenR"/>
              <a:tabLst>
                <a:tab pos="520700" algn="l"/>
                <a:tab pos="521334" algn="l"/>
              </a:tabLst>
            </a:pP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Write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these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commands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endParaRPr sz="1800">
              <a:latin typeface="Arial MT"/>
              <a:cs typeface="Arial MT"/>
            </a:endParaRPr>
          </a:p>
          <a:p>
            <a:pPr lvl="1" marL="1435100" indent="-457200">
              <a:lnSpc>
                <a:spcPct val="100000"/>
              </a:lnSpc>
              <a:spcBef>
                <a:spcPts val="140"/>
              </a:spcBef>
              <a:buAutoNum type="alphaLcParenR"/>
              <a:tabLst>
                <a:tab pos="1435100" algn="l"/>
                <a:tab pos="143573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sudo</a:t>
            </a:r>
            <a:r>
              <a:rPr dirty="0" sz="14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add-apt-repository</a:t>
            </a:r>
            <a:r>
              <a:rPr dirty="0" sz="14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universe</a:t>
            </a:r>
            <a:endParaRPr sz="1400">
              <a:latin typeface="Arial MT"/>
              <a:cs typeface="Arial MT"/>
            </a:endParaRPr>
          </a:p>
          <a:p>
            <a:pPr lvl="1" marL="1435100" indent="-457200">
              <a:lnSpc>
                <a:spcPct val="100000"/>
              </a:lnSpc>
              <a:spcBef>
                <a:spcPts val="80"/>
              </a:spcBef>
              <a:buAutoNum type="alphaLcParenR"/>
              <a:tabLst>
                <a:tab pos="1435100" algn="l"/>
                <a:tab pos="143573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sudo</a:t>
            </a:r>
            <a:r>
              <a:rPr dirty="0" sz="14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apt-get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install</a:t>
            </a:r>
            <a:r>
              <a:rPr dirty="0" sz="14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wireshark</a:t>
            </a:r>
            <a:endParaRPr sz="1400">
              <a:latin typeface="Arial MT"/>
              <a:cs typeface="Arial MT"/>
            </a:endParaRPr>
          </a:p>
          <a:p>
            <a:pPr lvl="1" marL="1435100" indent="-438150">
              <a:lnSpc>
                <a:spcPct val="100000"/>
              </a:lnSpc>
              <a:spcBef>
                <a:spcPts val="85"/>
              </a:spcBef>
              <a:buAutoNum type="alphaLcParenR"/>
              <a:tabLst>
                <a:tab pos="1435100" algn="l"/>
                <a:tab pos="1435735" algn="l"/>
              </a:tabLst>
            </a:pP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sudo</a:t>
            </a:r>
            <a:r>
              <a:rPr dirty="0" sz="1400" spc="-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wireshark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844" y="3352240"/>
            <a:ext cx="6757670" cy="875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6570" indent="-392430">
              <a:lnSpc>
                <a:spcPct val="100000"/>
              </a:lnSpc>
              <a:spcBef>
                <a:spcPts val="100"/>
              </a:spcBef>
              <a:buChar char="●"/>
              <a:tabLst>
                <a:tab pos="496570" algn="l"/>
                <a:tab pos="497205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Windows-</a:t>
            </a:r>
            <a:endParaRPr sz="1800">
              <a:latin typeface="Arial MT"/>
              <a:cs typeface="Arial MT"/>
            </a:endParaRPr>
          </a:p>
          <a:p>
            <a:pPr marL="496570" indent="-49720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496570" algn="l"/>
                <a:tab pos="497205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Go to</a:t>
            </a:r>
            <a:r>
              <a:rPr dirty="0" sz="1800" spc="1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dirty="0" u="heavy" sz="180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2"/>
              </a:rPr>
              <a:t>https://www.wireshark.org/download.html</a:t>
            </a:r>
            <a:endParaRPr sz="1800">
              <a:latin typeface="Arial MT"/>
              <a:cs typeface="Arial MT"/>
            </a:endParaRPr>
          </a:p>
          <a:p>
            <a:pPr marL="496570" indent="-497205">
              <a:lnSpc>
                <a:spcPct val="100000"/>
              </a:lnSpc>
              <a:spcBef>
                <a:spcPts val="110"/>
              </a:spcBef>
              <a:buAutoNum type="arabicPeriod"/>
              <a:tabLst>
                <a:tab pos="496570" algn="l"/>
                <a:tab pos="497205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Download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according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your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respective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windows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configuration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3963" y="489372"/>
            <a:ext cx="180149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Visualization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121743"/>
            <a:ext cx="8098155" cy="2070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05840">
              <a:lnSpc>
                <a:spcPct val="114999"/>
              </a:lnSpc>
              <a:spcBef>
                <a:spcPts val="100"/>
              </a:spcBef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Setting up Wireshark 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packets for the first time, here are few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common</a:t>
            </a:r>
            <a:r>
              <a:rPr dirty="0" sz="1800" spc="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point that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need to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keep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in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mind-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Arial MT"/>
              <a:cs typeface="Arial MT"/>
            </a:endParaRPr>
          </a:p>
          <a:p>
            <a:pPr marL="469900" indent="-391160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  <a:tab pos="469900" algn="l"/>
              </a:tabLst>
            </a:pPr>
            <a:r>
              <a:rPr dirty="0" sz="1800" spc="-6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have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root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/</a:t>
            </a:r>
            <a:r>
              <a:rPr dirty="0" sz="1800" spc="-1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Administrator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privileges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start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live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capture.</a:t>
            </a:r>
            <a:endParaRPr sz="1800">
              <a:latin typeface="Arial MT"/>
              <a:cs typeface="Arial MT"/>
            </a:endParaRPr>
          </a:p>
          <a:p>
            <a:pPr marL="469900" indent="-391160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  <a:tab pos="469900" algn="l"/>
              </a:tabLst>
            </a:pPr>
            <a:r>
              <a:rPr dirty="0" sz="1800" spc="-6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choose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right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network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interface to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packet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data</a:t>
            </a:r>
            <a:r>
              <a:rPr dirty="0" sz="18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from.</a:t>
            </a:r>
            <a:endParaRPr sz="1800">
              <a:latin typeface="Arial MT"/>
              <a:cs typeface="Arial MT"/>
            </a:endParaRPr>
          </a:p>
          <a:p>
            <a:pPr marL="469900" indent="-391160">
              <a:lnSpc>
                <a:spcPct val="100000"/>
              </a:lnSpc>
              <a:buChar char="●"/>
              <a:tabLst>
                <a:tab pos="469265" algn="l"/>
                <a:tab pos="469900" algn="l"/>
              </a:tabLst>
            </a:pPr>
            <a:r>
              <a:rPr dirty="0" sz="1800" spc="-6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at 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right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place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in 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network to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see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traffic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2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dirty="0" sz="1800" spc="459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want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see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89930" y="489372"/>
            <a:ext cx="273621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Promiscuous</a:t>
            </a:r>
            <a:r>
              <a:rPr dirty="0" spc="-95"/>
              <a:t> </a:t>
            </a:r>
            <a:r>
              <a:rPr dirty="0"/>
              <a:t>Mode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838" y="1121743"/>
            <a:ext cx="8286115" cy="2880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3225" marR="5080" indent="-391160">
              <a:lnSpc>
                <a:spcPct val="114999"/>
              </a:lnSpc>
              <a:spcBef>
                <a:spcPts val="100"/>
              </a:spcBef>
              <a:buChar char="●"/>
              <a:tabLst>
                <a:tab pos="403225" algn="l"/>
                <a:tab pos="40386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Promiscuous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 mode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for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wired network interface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controller (NIC)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or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wireless network interface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controller (WNIC)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that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causes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controller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 pass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all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traffic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it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receives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 the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central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processing unit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(CPU) rather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than passing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only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frames that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controller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specifically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programmed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receive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 MT"/>
              <a:buChar char="●"/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595959"/>
              </a:buClr>
              <a:buFont typeface="Arial MT"/>
              <a:buChar char="●"/>
            </a:pPr>
            <a:endParaRPr sz="2400">
              <a:latin typeface="Arial MT"/>
              <a:cs typeface="Arial MT"/>
            </a:endParaRPr>
          </a:p>
          <a:p>
            <a:pPr marL="403225" marR="419100" indent="-391160">
              <a:lnSpc>
                <a:spcPct val="114999"/>
              </a:lnSpc>
              <a:buChar char="●"/>
              <a:tabLst>
                <a:tab pos="403225" algn="l"/>
                <a:tab pos="40386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This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mode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is normally used for packet 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sniffing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that takes place on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 router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or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 computer connected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wired network or one being part of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dirty="0" sz="1800" spc="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wireless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LAN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1393" y="489372"/>
            <a:ext cx="6998334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How</a:t>
            </a:r>
            <a:r>
              <a:rPr dirty="0" spc="-60"/>
              <a:t> </a:t>
            </a:r>
            <a:r>
              <a:rPr dirty="0" spc="-20"/>
              <a:t>Tshark/Wireshark</a:t>
            </a:r>
            <a:r>
              <a:rPr dirty="0" spc="-10"/>
              <a:t> </a:t>
            </a:r>
            <a:r>
              <a:rPr dirty="0" spc="-5"/>
              <a:t>Capture</a:t>
            </a:r>
            <a:r>
              <a:rPr dirty="0" spc="-15"/>
              <a:t> </a:t>
            </a:r>
            <a:r>
              <a:rPr dirty="0" spc="-5"/>
              <a:t>Packet</a:t>
            </a:r>
            <a:r>
              <a:rPr dirty="0" spc="-20"/>
              <a:t> </a:t>
            </a:r>
            <a:r>
              <a:rPr dirty="0" spc="-5"/>
              <a:t>from</a:t>
            </a:r>
            <a:r>
              <a:rPr dirty="0" spc="-15"/>
              <a:t> </a:t>
            </a:r>
            <a:r>
              <a:rPr dirty="0" spc="-5"/>
              <a:t>NIC?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7800" y="1693093"/>
            <a:ext cx="6674928" cy="27716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30824" y="4653801"/>
            <a:ext cx="45161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 MT"/>
                <a:cs typeface="Arial MT"/>
              </a:rPr>
              <a:t>*Note: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Packets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are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not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blocked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at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system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kernel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level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3271" y="489372"/>
            <a:ext cx="215709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Start</a:t>
            </a:r>
            <a:r>
              <a:rPr dirty="0" spc="-90"/>
              <a:t> </a:t>
            </a:r>
            <a:r>
              <a:rPr dirty="0" spc="-5"/>
              <a:t>Capturing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842" y="1051636"/>
            <a:ext cx="8177530" cy="214122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1300"/>
              </a:spcBef>
            </a:pPr>
            <a:r>
              <a:rPr dirty="0" sz="1800" spc="-10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packets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either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go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to-</a:t>
            </a:r>
            <a:endParaRPr sz="1800">
              <a:latin typeface="Arial MT"/>
              <a:cs typeface="Arial MT"/>
            </a:endParaRPr>
          </a:p>
          <a:p>
            <a:pPr marL="508634" marR="5080" indent="-496570">
              <a:lnSpc>
                <a:spcPct val="114999"/>
              </a:lnSpc>
              <a:spcBef>
                <a:spcPts val="875"/>
              </a:spcBef>
              <a:buAutoNum type="arabicPeriod"/>
              <a:tabLst>
                <a:tab pos="508634" algn="l"/>
                <a:tab pos="50927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Capture interface, Here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 can select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 interface whose packet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want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capture.</a:t>
            </a:r>
            <a:endParaRPr sz="1800">
              <a:latin typeface="Arial MT"/>
              <a:cs typeface="Arial MT"/>
            </a:endParaRPr>
          </a:p>
          <a:p>
            <a:pPr marL="508634" indent="-496570">
              <a:lnSpc>
                <a:spcPct val="100000"/>
              </a:lnSpc>
              <a:spcBef>
                <a:spcPts val="650"/>
              </a:spcBef>
              <a:buAutoNum type="arabicPeriod"/>
              <a:tabLst>
                <a:tab pos="508634" algn="l"/>
                <a:tab pos="50927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Capture</a:t>
            </a:r>
            <a:r>
              <a:rPr dirty="0" sz="1800" spc="-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Options</a:t>
            </a:r>
            <a:endParaRPr sz="1800">
              <a:latin typeface="Arial MT"/>
              <a:cs typeface="Arial MT"/>
            </a:endParaRPr>
          </a:p>
          <a:p>
            <a:pPr marL="508634" indent="-496570">
              <a:lnSpc>
                <a:spcPct val="100000"/>
              </a:lnSpc>
              <a:buAutoNum type="arabicPeriod"/>
              <a:tabLst>
                <a:tab pos="508634" algn="l"/>
                <a:tab pos="50927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command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already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know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interface.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example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this</a:t>
            </a:r>
            <a:endParaRPr sz="1800">
              <a:latin typeface="Arial MT"/>
              <a:cs typeface="Arial MT"/>
            </a:endParaRPr>
          </a:p>
          <a:p>
            <a:pPr marL="508634">
              <a:lnSpc>
                <a:spcPct val="100000"/>
              </a:lnSpc>
              <a:spcBef>
                <a:spcPts val="320"/>
              </a:spcBef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command</a:t>
            </a:r>
            <a:r>
              <a:rPr dirty="0" sz="1800" spc="4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will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ethernet0-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wireshark</a:t>
            </a:r>
            <a:r>
              <a:rPr dirty="0" sz="1800" spc="-1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-i</a:t>
            </a:r>
            <a:r>
              <a:rPr dirty="0" sz="1800" spc="-1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eth0</a:t>
            </a:r>
            <a:r>
              <a:rPr dirty="0" sz="1800" spc="-1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-k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6705" y="489372"/>
            <a:ext cx="205295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Capture</a:t>
            </a:r>
            <a:r>
              <a:rPr dirty="0" spc="-85"/>
              <a:t> </a:t>
            </a:r>
            <a:r>
              <a:rPr dirty="0" spc="-5"/>
              <a:t>frame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121743"/>
            <a:ext cx="8094345" cy="17551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Interface-</a:t>
            </a:r>
            <a:r>
              <a:rPr dirty="0" sz="1800" spc="49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This field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specifies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 interface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want 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on. </a:t>
            </a:r>
            <a:r>
              <a:rPr dirty="0" sz="1800" spc="-6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dirty="0" sz="1800" spc="38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can </a:t>
            </a:r>
            <a:r>
              <a:rPr dirty="0" sz="1800" spc="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only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capture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 one interface, and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 can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only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 interfaces that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Wireshark</a:t>
            </a:r>
            <a:r>
              <a:rPr dirty="0" sz="1800" spc="48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has found on 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system.</a:t>
            </a:r>
            <a:endParaRPr sz="1800">
              <a:latin typeface="Arial MT"/>
              <a:cs typeface="Arial MT"/>
            </a:endParaRPr>
          </a:p>
          <a:p>
            <a:pPr algn="just" marL="12700" marR="137160">
              <a:lnSpc>
                <a:spcPct val="114999"/>
              </a:lnSpc>
              <a:spcBef>
                <a:spcPts val="1200"/>
              </a:spcBef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some systems,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loopback interfaces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cannot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be used for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capturing (loopback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interfaces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are not available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 Windows platforms).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52192" y="489372"/>
            <a:ext cx="261175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Output</a:t>
            </a:r>
            <a:r>
              <a:rPr dirty="0" spc="-55"/>
              <a:t> </a:t>
            </a:r>
            <a:r>
              <a:rPr dirty="0" spc="-5"/>
              <a:t>file</a:t>
            </a:r>
            <a:r>
              <a:rPr dirty="0" spc="-50"/>
              <a:t> </a:t>
            </a:r>
            <a:r>
              <a:rPr dirty="0" spc="-5"/>
              <a:t>formats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693" y="1121743"/>
            <a:ext cx="8177530" cy="160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08634" marR="86360" indent="-496570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50927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pcap</a:t>
            </a:r>
            <a:r>
              <a:rPr dirty="0" sz="1800" spc="28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800" spc="2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2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pcap</a:t>
            </a:r>
            <a:r>
              <a:rPr dirty="0" sz="1800" spc="2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format</a:t>
            </a:r>
            <a:r>
              <a:rPr dirty="0" sz="1800" spc="28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contain</a:t>
            </a:r>
            <a:r>
              <a:rPr dirty="0" sz="1800" spc="2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information</a:t>
            </a:r>
            <a:r>
              <a:rPr dirty="0" sz="1800" spc="2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about</a:t>
            </a:r>
            <a:r>
              <a:rPr dirty="0" sz="1800" spc="2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28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</a:t>
            </a:r>
            <a:r>
              <a:rPr dirty="0" sz="1800" spc="2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interface,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98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interface information is part of the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common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header and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not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stored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a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per</a:t>
            </a:r>
            <a:r>
              <a:rPr dirty="0" sz="1800" spc="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packet basis</a:t>
            </a:r>
            <a:endParaRPr sz="1800">
              <a:latin typeface="Arial MT"/>
              <a:cs typeface="Arial MT"/>
            </a:endParaRPr>
          </a:p>
          <a:p>
            <a:pPr algn="just" marL="508634" marR="5080" indent="-496570">
              <a:lnSpc>
                <a:spcPct val="114999"/>
              </a:lnSpc>
              <a:buAutoNum type="arabicPeriod"/>
              <a:tabLst>
                <a:tab pos="50927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pcapng</a:t>
            </a:r>
            <a:r>
              <a:rPr dirty="0" sz="1800" spc="1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-</a:t>
            </a:r>
            <a:r>
              <a:rPr dirty="0" sz="1800" spc="1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1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above</a:t>
            </a:r>
            <a:r>
              <a:rPr dirty="0" sz="1800" spc="1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issue</a:t>
            </a:r>
            <a:r>
              <a:rPr dirty="0" sz="1800" spc="1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1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solved</a:t>
            </a:r>
            <a:r>
              <a:rPr dirty="0" sz="1800" spc="1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dirty="0" sz="1800" spc="1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pcapng</a:t>
            </a:r>
            <a:r>
              <a:rPr dirty="0" sz="1800" spc="1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which</a:t>
            </a:r>
            <a:r>
              <a:rPr dirty="0" sz="1800" spc="1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allows</a:t>
            </a:r>
            <a:r>
              <a:rPr dirty="0" sz="1800" spc="1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1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</a:t>
            </a:r>
            <a:r>
              <a:rPr dirty="0" sz="1800" spc="1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file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48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define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multiple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interfaces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78621" y="489372"/>
            <a:ext cx="3355340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Filtering</a:t>
            </a:r>
            <a:r>
              <a:rPr dirty="0" spc="-55"/>
              <a:t> </a:t>
            </a:r>
            <a:r>
              <a:rPr dirty="0" spc="-5"/>
              <a:t>while</a:t>
            </a:r>
            <a:r>
              <a:rPr dirty="0" spc="-45"/>
              <a:t> </a:t>
            </a:r>
            <a:r>
              <a:rPr dirty="0"/>
              <a:t>capturing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051636"/>
            <a:ext cx="7404734" cy="233489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Wireshark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uses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libpcap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filter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language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filters.</a:t>
            </a:r>
            <a:endParaRPr sz="1800">
              <a:latin typeface="Arial MT"/>
              <a:cs typeface="Arial MT"/>
            </a:endParaRPr>
          </a:p>
          <a:p>
            <a:pPr marL="469900" marR="104139" indent="-391160">
              <a:lnSpc>
                <a:spcPct val="114999"/>
              </a:lnSpc>
              <a:spcBef>
                <a:spcPts val="875"/>
              </a:spcBef>
              <a:buChar char="●"/>
              <a:tabLst>
                <a:tab pos="469265" algn="l"/>
                <a:tab pos="469900" algn="l"/>
              </a:tabLst>
            </a:pPr>
            <a:r>
              <a:rPr dirty="0" sz="1800" spc="-6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enter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filter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into 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Filter field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 Wireshark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go to </a:t>
            </a:r>
            <a:r>
              <a:rPr dirty="0" sz="1800" spc="-48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Capture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Options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dialog box---&gt;Capture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filters.</a:t>
            </a:r>
            <a:endParaRPr sz="1800">
              <a:latin typeface="Arial MT"/>
              <a:cs typeface="Arial MT"/>
            </a:endParaRPr>
          </a:p>
          <a:p>
            <a:pPr marL="469900" marR="5080" indent="-391160">
              <a:lnSpc>
                <a:spcPct val="114999"/>
              </a:lnSpc>
              <a:buChar char="●"/>
              <a:tabLst>
                <a:tab pos="469265" algn="l"/>
                <a:tab pos="4699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 capture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filter takes the form of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 series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of primitive expressions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connected</a:t>
            </a:r>
            <a:r>
              <a:rPr dirty="0" sz="1800" spc="48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conjunctions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(and/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or)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optionally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preceded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by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not: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[not]</a:t>
            </a:r>
            <a:r>
              <a:rPr dirty="0" sz="1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primitive</a:t>
            </a:r>
            <a:r>
              <a:rPr dirty="0" sz="18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[and|or</a:t>
            </a:r>
            <a:r>
              <a:rPr dirty="0" sz="1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[not]</a:t>
            </a:r>
            <a:r>
              <a:rPr dirty="0" sz="18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primitive</a:t>
            </a:r>
            <a:r>
              <a:rPr dirty="0" sz="1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...]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54752" y="489372"/>
            <a:ext cx="201612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Display</a:t>
            </a:r>
            <a:r>
              <a:rPr dirty="0" spc="-85"/>
              <a:t> </a:t>
            </a:r>
            <a:r>
              <a:rPr dirty="0" spc="-5"/>
              <a:t>Filters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4" y="1121743"/>
            <a:ext cx="7941945" cy="2895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Display filters allow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concentrate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 the packets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are interested in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while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hiding the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currently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uninteresting ones. They allow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select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packets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by: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00">
              <a:latin typeface="Arial MT"/>
              <a:cs typeface="Arial MT"/>
            </a:endParaRPr>
          </a:p>
          <a:p>
            <a:pPr marL="469900" indent="-391160">
              <a:lnSpc>
                <a:spcPct val="100000"/>
              </a:lnSpc>
              <a:spcBef>
                <a:spcPts val="5"/>
              </a:spcBef>
              <a:buChar char="●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Protocol</a:t>
            </a:r>
            <a:endParaRPr sz="1800">
              <a:latin typeface="Arial MT"/>
              <a:cs typeface="Arial MT"/>
            </a:endParaRPr>
          </a:p>
          <a:p>
            <a:pPr marL="469900" indent="-391160">
              <a:lnSpc>
                <a:spcPct val="100000"/>
              </a:lnSpc>
              <a:spcBef>
                <a:spcPts val="320"/>
              </a:spcBef>
              <a:buChar char="●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presence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field</a:t>
            </a:r>
            <a:endParaRPr sz="1800">
              <a:latin typeface="Arial MT"/>
              <a:cs typeface="Arial MT"/>
            </a:endParaRPr>
          </a:p>
          <a:p>
            <a:pPr marL="469900" indent="-391160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  <a:tab pos="46990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values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-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fields</a:t>
            </a:r>
            <a:endParaRPr sz="1800">
              <a:latin typeface="Arial MT"/>
              <a:cs typeface="Arial MT"/>
            </a:endParaRPr>
          </a:p>
          <a:p>
            <a:pPr marL="469900" indent="-391160">
              <a:lnSpc>
                <a:spcPct val="100000"/>
              </a:lnSpc>
              <a:spcBef>
                <a:spcPts val="325"/>
              </a:spcBef>
              <a:buChar char="●"/>
              <a:tabLst>
                <a:tab pos="469265" algn="l"/>
                <a:tab pos="469900" algn="l"/>
              </a:tabLst>
            </a:pP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12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comparison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between</a:t>
            </a:r>
            <a:r>
              <a:rPr dirty="0" sz="1800" spc="-3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fields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e.g.</a:t>
            </a:r>
            <a:r>
              <a:rPr dirty="0" sz="1800" spc="-2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ip.addr==192.168.0.1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2088" y="489372"/>
            <a:ext cx="176339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TCP</a:t>
            </a:r>
            <a:r>
              <a:rPr dirty="0" spc="-130"/>
              <a:t> </a:t>
            </a:r>
            <a:r>
              <a:rPr dirty="0" spc="-5"/>
              <a:t>Stream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0838" y="1121743"/>
            <a:ext cx="7847330" cy="191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3225" marR="132715" indent="-391160">
              <a:lnSpc>
                <a:spcPct val="114999"/>
              </a:lnSpc>
              <a:spcBef>
                <a:spcPts val="100"/>
              </a:spcBef>
              <a:buChar char="●"/>
              <a:tabLst>
                <a:tab pos="403225" algn="l"/>
                <a:tab pos="40386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If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are working with TCP based protocols it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can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be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very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helpful 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see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48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data from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TCP</a:t>
            </a:r>
            <a:r>
              <a:rPr dirty="0" sz="1800" spc="-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stream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in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way that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 application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layer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sees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it.</a:t>
            </a:r>
            <a:endParaRPr sz="1800">
              <a:latin typeface="Arial MT"/>
              <a:cs typeface="Arial MT"/>
            </a:endParaRPr>
          </a:p>
          <a:p>
            <a:pPr marL="403225" marR="5080" indent="-391160">
              <a:lnSpc>
                <a:spcPct val="114999"/>
              </a:lnSpc>
              <a:buChar char="●"/>
              <a:tabLst>
                <a:tab pos="403225" algn="l"/>
                <a:tab pos="403860" algn="l"/>
              </a:tabLst>
            </a:pPr>
            <a:r>
              <a:rPr dirty="0" sz="1800" spc="-6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just need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display filter 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show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only the packets of that TCP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stream.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If</a:t>
            </a:r>
            <a:r>
              <a:rPr dirty="0" sz="1800" spc="48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so,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Wireshark's ability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 follow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3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TCP</a:t>
            </a:r>
            <a:r>
              <a:rPr dirty="0" sz="1800" spc="-4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stream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will be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useful 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endParaRPr sz="1800">
              <a:latin typeface="Arial MT"/>
              <a:cs typeface="Arial MT"/>
            </a:endParaRPr>
          </a:p>
          <a:p>
            <a:pPr marL="403225" marR="311150" indent="-391160">
              <a:lnSpc>
                <a:spcPct val="114999"/>
              </a:lnSpc>
              <a:buChar char="●"/>
              <a:tabLst>
                <a:tab pos="403225" algn="l"/>
                <a:tab pos="40386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How 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view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 tcp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stream: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Select the packet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-&gt;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Go to Follow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-&gt;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Go to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TCP</a:t>
            </a:r>
            <a:r>
              <a:rPr dirty="0" sz="1800" spc="45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stream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46202" y="150223"/>
            <a:ext cx="124142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tcpdump</a:t>
            </a:r>
          </a:p>
        </p:txBody>
      </p:sp>
      <p:sp>
        <p:nvSpPr>
          <p:cNvPr id="3" name="object 3"/>
          <p:cNvSpPr/>
          <p:nvPr/>
        </p:nvSpPr>
        <p:spPr>
          <a:xfrm>
            <a:off x="258600" y="685650"/>
            <a:ext cx="8730615" cy="3772535"/>
          </a:xfrm>
          <a:custGeom>
            <a:avLst/>
            <a:gdLst/>
            <a:ahLst/>
            <a:cxnLst/>
            <a:rect l="l" t="t" r="r" b="b"/>
            <a:pathLst>
              <a:path w="8730615" h="3772535">
                <a:moveTo>
                  <a:pt x="0" y="0"/>
                </a:moveTo>
                <a:lnTo>
                  <a:pt x="8730299" y="0"/>
                </a:lnTo>
                <a:lnTo>
                  <a:pt x="8730299" y="3772199"/>
                </a:lnTo>
                <a:lnTo>
                  <a:pt x="0" y="3772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34189" y="632185"/>
            <a:ext cx="8753475" cy="3789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403225" marR="5080" indent="-391160">
              <a:lnSpc>
                <a:spcPct val="114999"/>
              </a:lnSpc>
              <a:spcBef>
                <a:spcPts val="100"/>
              </a:spcBef>
              <a:buChar char="●"/>
              <a:tabLst>
                <a:tab pos="40386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tcpdump is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data-network packet analyzer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computer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program that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runs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under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a </a:t>
            </a:r>
            <a:r>
              <a:rPr dirty="0" sz="1800" spc="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command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line interface. It allows the user to display TCP/IP and other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packets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being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transmitted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or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received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over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network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which 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computer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is  attached.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har char="●"/>
            </a:pPr>
            <a:endParaRPr sz="1600">
              <a:latin typeface="Arial MT"/>
              <a:cs typeface="Arial MT"/>
            </a:endParaRPr>
          </a:p>
          <a:p>
            <a:pPr algn="ctr" marR="66040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tcpdump</a:t>
            </a:r>
            <a:r>
              <a:rPr dirty="0" sz="1800" spc="-2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-i</a:t>
            </a:r>
            <a:r>
              <a:rPr dirty="0" sz="1800" spc="-1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&lt;interface&gt;</a:t>
            </a:r>
            <a:r>
              <a:rPr dirty="0" sz="1800" spc="-2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-s</a:t>
            </a:r>
            <a:r>
              <a:rPr dirty="0" sz="1800" spc="-1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1500</a:t>
            </a:r>
            <a:r>
              <a:rPr dirty="0" sz="1800" spc="-20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595959"/>
                </a:solidFill>
                <a:latin typeface="Arial"/>
                <a:cs typeface="Arial"/>
              </a:rPr>
              <a:t>-w</a:t>
            </a:r>
            <a:r>
              <a:rPr dirty="0" sz="1800" spc="-15" b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b="1">
                <a:solidFill>
                  <a:srgbClr val="595959"/>
                </a:solidFill>
                <a:latin typeface="Arial"/>
                <a:cs typeface="Arial"/>
              </a:rPr>
              <a:t>&lt;somefile&gt;</a:t>
            </a:r>
            <a:endParaRPr sz="1800">
              <a:latin typeface="Arial"/>
              <a:cs typeface="Arial"/>
            </a:endParaRPr>
          </a:p>
          <a:p>
            <a:pPr marL="481330">
              <a:lnSpc>
                <a:spcPct val="100000"/>
              </a:lnSpc>
              <a:spcBef>
                <a:spcPts val="1520"/>
              </a:spcBef>
            </a:pP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1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595959"/>
                </a:solidFill>
                <a:latin typeface="Arial"/>
                <a:cs typeface="Arial"/>
              </a:rPr>
              <a:t>-i</a:t>
            </a:r>
            <a:r>
              <a:rPr dirty="0" sz="1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flag </a:t>
            </a:r>
            <a:r>
              <a:rPr dirty="0" sz="1800" i="1">
                <a:solidFill>
                  <a:srgbClr val="595959"/>
                </a:solidFill>
                <a:latin typeface="Arial"/>
                <a:cs typeface="Arial"/>
              </a:rPr>
              <a:t>specifies</a:t>
            </a:r>
            <a:r>
              <a:rPr dirty="0" sz="1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the interface,</a:t>
            </a:r>
            <a:r>
              <a:rPr dirty="0" sz="1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i="1">
                <a:solidFill>
                  <a:srgbClr val="595959"/>
                </a:solidFill>
                <a:latin typeface="Arial"/>
                <a:cs typeface="Arial"/>
              </a:rPr>
              <a:t>-s</a:t>
            </a:r>
            <a:r>
              <a:rPr dirty="0" sz="1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the packet</a:t>
            </a:r>
            <a:r>
              <a:rPr dirty="0" sz="1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length,-w the</a:t>
            </a:r>
            <a:r>
              <a:rPr dirty="0" sz="1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file</a:t>
            </a:r>
            <a:r>
              <a:rPr dirty="0" sz="1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to write</a:t>
            </a:r>
            <a:r>
              <a:rPr dirty="0" sz="1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595959"/>
                </a:solidFill>
                <a:latin typeface="Arial"/>
                <a:cs typeface="Arial"/>
              </a:rPr>
              <a:t>to.</a:t>
            </a:r>
            <a:endParaRPr sz="1800">
              <a:latin typeface="Arial"/>
              <a:cs typeface="Arial"/>
            </a:endParaRPr>
          </a:p>
          <a:p>
            <a:pPr marL="403225" marR="850265" indent="-391160">
              <a:lnSpc>
                <a:spcPct val="114999"/>
              </a:lnSpc>
              <a:spcBef>
                <a:spcPts val="875"/>
              </a:spcBef>
              <a:buChar char="●"/>
              <a:tabLst>
                <a:tab pos="403225" algn="l"/>
                <a:tab pos="403860" algn="l"/>
              </a:tabLst>
            </a:pPr>
            <a:r>
              <a:rPr dirty="0" sz="1800" spc="-60">
                <a:solidFill>
                  <a:srgbClr val="595959"/>
                </a:solidFill>
                <a:latin typeface="Arial MT"/>
                <a:cs typeface="Arial MT"/>
              </a:rPr>
              <a:t>You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will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have to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specify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correct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interface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and the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name of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file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to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save </a:t>
            </a:r>
            <a:r>
              <a:rPr dirty="0" sz="1800" spc="-484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into. In addition,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will have to terminate the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with ^C when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dirty="0" sz="1800" spc="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believe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have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captured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enough packets. Alternatively the number of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packets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be fixed using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-c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flag.</a:t>
            </a:r>
            <a:endParaRPr sz="1800">
              <a:latin typeface="Arial MT"/>
              <a:cs typeface="Arial MT"/>
            </a:endParaRPr>
          </a:p>
          <a:p>
            <a:pPr marL="403225" indent="-391160">
              <a:lnSpc>
                <a:spcPct val="100000"/>
              </a:lnSpc>
              <a:spcBef>
                <a:spcPts val="1525"/>
              </a:spcBef>
              <a:buChar char="●"/>
              <a:tabLst>
                <a:tab pos="403225" algn="l"/>
                <a:tab pos="403860" algn="l"/>
              </a:tabLst>
            </a:pPr>
            <a:r>
              <a:rPr dirty="0" sz="1800" spc="-15">
                <a:solidFill>
                  <a:srgbClr val="FF0000"/>
                </a:solidFill>
                <a:latin typeface="Arial MT"/>
                <a:cs typeface="Arial MT"/>
              </a:rPr>
              <a:t>Warning:</a:t>
            </a:r>
            <a:r>
              <a:rPr dirty="0" sz="18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FF0000"/>
                </a:solidFill>
                <a:latin typeface="Arial MT"/>
                <a:cs typeface="Arial MT"/>
              </a:rPr>
              <a:t>This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FF0000"/>
                </a:solidFill>
                <a:latin typeface="Arial MT"/>
                <a:cs typeface="Arial MT"/>
              </a:rPr>
              <a:t>doesn’t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FF0000"/>
                </a:solidFill>
                <a:latin typeface="Arial MT"/>
                <a:cs typeface="Arial MT"/>
              </a:rPr>
              <a:t>work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FF0000"/>
                </a:solidFill>
                <a:latin typeface="Arial MT"/>
                <a:cs typeface="Arial MT"/>
              </a:rPr>
              <a:t>on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FF0000"/>
                </a:solidFill>
                <a:latin typeface="Arial MT"/>
                <a:cs typeface="Arial MT"/>
              </a:rPr>
              <a:t>WSL.</a:t>
            </a:r>
            <a:r>
              <a:rPr dirty="0" sz="1800" spc="-4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 spc="-60">
                <a:solidFill>
                  <a:srgbClr val="FF0000"/>
                </a:solidFill>
                <a:latin typeface="Arial MT"/>
                <a:cs typeface="Arial MT"/>
              </a:rPr>
              <a:t>You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FF0000"/>
                </a:solidFill>
                <a:latin typeface="Arial MT"/>
                <a:cs typeface="Arial MT"/>
              </a:rPr>
              <a:t>need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a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virtual</a:t>
            </a:r>
            <a:r>
              <a:rPr dirty="0" sz="1800" spc="-1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FF0000"/>
                </a:solidFill>
                <a:latin typeface="Arial MT"/>
                <a:cs typeface="Arial MT"/>
              </a:rPr>
              <a:t>machine.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8358" y="479847"/>
            <a:ext cx="134683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>
                <a:solidFill>
                  <a:srgbClr val="595959"/>
                </a:solidFill>
              </a:rPr>
              <a:t>tcp-dump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663" y="1240285"/>
            <a:ext cx="7932420" cy="878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8615" marR="5080" indent="-336550">
              <a:lnSpc>
                <a:spcPct val="100000"/>
              </a:lnSpc>
              <a:spcBef>
                <a:spcPts val="100"/>
              </a:spcBef>
              <a:buChar char="●"/>
              <a:tabLst>
                <a:tab pos="347980" algn="l"/>
                <a:tab pos="349250" algn="l"/>
              </a:tabLst>
            </a:pP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command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in the previous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slide can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be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combined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with filters to get only the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required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packets. </a:t>
            </a:r>
            <a:r>
              <a:rPr dirty="0" sz="1400" spc="-3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5">
                <a:solidFill>
                  <a:srgbClr val="595959"/>
                </a:solidFill>
                <a:latin typeface="Arial MT"/>
                <a:cs typeface="Arial MT"/>
              </a:rPr>
              <a:t>We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can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even use grep to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extract the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required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data.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Clr>
                <a:srgbClr val="595959"/>
              </a:buClr>
              <a:buFont typeface="Arial MT"/>
              <a:buChar char="●"/>
            </a:pPr>
            <a:endParaRPr sz="1450">
              <a:latin typeface="Arial MT"/>
              <a:cs typeface="Arial MT"/>
            </a:endParaRPr>
          </a:p>
          <a:p>
            <a:pPr marL="348615" indent="-336550">
              <a:lnSpc>
                <a:spcPct val="100000"/>
              </a:lnSpc>
              <a:buChar char="●"/>
              <a:tabLst>
                <a:tab pos="347980" algn="l"/>
                <a:tab pos="349250" algn="l"/>
              </a:tabLst>
            </a:pP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example: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Get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all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tcp from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wikipedia.com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upto 10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packets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and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store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in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temp.pcap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1149" y="2226023"/>
            <a:ext cx="6781799" cy="12001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37745" y="470425"/>
            <a:ext cx="216662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">
                <a:solidFill>
                  <a:srgbClr val="595959"/>
                </a:solidFill>
                <a:latin typeface="Arial MT"/>
                <a:cs typeface="Arial MT"/>
              </a:rPr>
              <a:t>tcp-dump+grep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370" y="1221435"/>
            <a:ext cx="787527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 MT"/>
                <a:cs typeface="Arial MT"/>
              </a:rPr>
              <a:t>Example: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as we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can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only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know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that it is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post, get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request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after the packet has been assembled, we </a:t>
            </a:r>
            <a:r>
              <a:rPr dirty="0" sz="1400" spc="-37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need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to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keep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buffer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using the flag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-l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on port 80 which with egrep</a:t>
            </a:r>
            <a:r>
              <a:rPr dirty="0" sz="14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gives us the </a:t>
            </a:r>
            <a:r>
              <a:rPr dirty="0" sz="1400">
                <a:solidFill>
                  <a:srgbClr val="595959"/>
                </a:solidFill>
                <a:latin typeface="Arial MT"/>
                <a:cs typeface="Arial MT"/>
              </a:rPr>
              <a:t>required</a:t>
            </a:r>
            <a:r>
              <a:rPr dirty="0" sz="1400" spc="-5">
                <a:solidFill>
                  <a:srgbClr val="595959"/>
                </a:solidFill>
                <a:latin typeface="Arial MT"/>
                <a:cs typeface="Arial MT"/>
              </a:rPr>
              <a:t> output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375" y="2032873"/>
            <a:ext cx="8839202" cy="8494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What is </a:t>
            </a:r>
            <a:r>
              <a:rPr dirty="0" spc="-680"/>
              <a:t> </a:t>
            </a:r>
            <a:r>
              <a:rPr dirty="0" spc="-280"/>
              <a:t>T</a:t>
            </a:r>
            <a:r>
              <a:rPr dirty="0"/>
              <a:t>shark?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8357" y="1051636"/>
            <a:ext cx="8255000" cy="1825625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18110" indent="-106045">
              <a:lnSpc>
                <a:spcPct val="100000"/>
              </a:lnSpc>
              <a:spcBef>
                <a:spcPts val="1300"/>
              </a:spcBef>
              <a:buChar char="•"/>
              <a:tabLst>
                <a:tab pos="118745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TShark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command-line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based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network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protocol</a:t>
            </a:r>
            <a:r>
              <a:rPr dirty="0" sz="1800" spc="-15">
                <a:solidFill>
                  <a:srgbClr val="595959"/>
                </a:solidFill>
                <a:latin typeface="Arial MT"/>
                <a:cs typeface="Arial MT"/>
              </a:rPr>
              <a:t> analyzer.</a:t>
            </a:r>
            <a:endParaRPr sz="1800">
              <a:latin typeface="Arial MT"/>
              <a:cs typeface="Arial MT"/>
            </a:endParaRPr>
          </a:p>
          <a:p>
            <a:pPr marL="436245" marR="5080" indent="-391160">
              <a:lnSpc>
                <a:spcPct val="114999"/>
              </a:lnSpc>
              <a:spcBef>
                <a:spcPts val="875"/>
              </a:spcBef>
              <a:buChar char="●"/>
              <a:tabLst>
                <a:tab pos="435609" algn="l"/>
                <a:tab pos="436880" algn="l"/>
              </a:tabLst>
            </a:pP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TShark</a:t>
            </a:r>
            <a:r>
              <a:rPr dirty="0" sz="18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r>
              <a:rPr dirty="0" sz="18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dirty="0" sz="18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terminal</a:t>
            </a:r>
            <a:r>
              <a:rPr dirty="0" sz="18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oriented</a:t>
            </a:r>
            <a:r>
              <a:rPr dirty="0" sz="18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version</a:t>
            </a:r>
            <a:r>
              <a:rPr dirty="0" sz="1800" spc="4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of</a:t>
            </a:r>
            <a:r>
              <a:rPr dirty="0" sz="18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Wireshark</a:t>
            </a:r>
            <a:r>
              <a:rPr dirty="0" sz="18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designed</a:t>
            </a:r>
            <a:r>
              <a:rPr dirty="0" sz="18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dirty="0" sz="1800" spc="5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capturing </a:t>
            </a:r>
            <a:r>
              <a:rPr dirty="0" sz="1800" spc="5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displaying packets when an interactive user interface isn't necessary or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available. It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supports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the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same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options as wireshark. For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more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information on </a:t>
            </a:r>
            <a:r>
              <a:rPr dirty="0" sz="1800" spc="-49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tshark,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see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the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manual</a:t>
            </a:r>
            <a:r>
              <a:rPr dirty="0" sz="1800" spc="-1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pages </a:t>
            </a:r>
            <a:r>
              <a:rPr dirty="0" sz="1800">
                <a:solidFill>
                  <a:srgbClr val="595959"/>
                </a:solidFill>
                <a:latin typeface="Arial MT"/>
                <a:cs typeface="Arial MT"/>
              </a:rPr>
              <a:t>(man</a:t>
            </a:r>
            <a:r>
              <a:rPr dirty="0" sz="1800" spc="-5">
                <a:solidFill>
                  <a:srgbClr val="595959"/>
                </a:solidFill>
                <a:latin typeface="Arial MT"/>
                <a:cs typeface="Arial MT"/>
              </a:rPr>
              <a:t> tshark).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1525" y="376199"/>
            <a:ext cx="256349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Tshark</a:t>
            </a:r>
            <a:r>
              <a:rPr dirty="0" spc="-75"/>
              <a:t> </a:t>
            </a:r>
            <a:r>
              <a:rPr dirty="0" spc="-5"/>
              <a:t>Installation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638" y="1221435"/>
            <a:ext cx="7803515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8615" marR="288290" indent="-336550">
              <a:lnSpc>
                <a:spcPct val="100000"/>
              </a:lnSpc>
              <a:spcBef>
                <a:spcPts val="100"/>
              </a:spcBef>
              <a:buChar char="●"/>
              <a:tabLst>
                <a:tab pos="347980" algn="l"/>
                <a:tab pos="349250" algn="l"/>
              </a:tabLst>
            </a:pPr>
            <a:r>
              <a:rPr dirty="0" sz="1400" spc="-5">
                <a:latin typeface="Arial MT"/>
                <a:cs typeface="Arial MT"/>
              </a:rPr>
              <a:t>It generally </a:t>
            </a:r>
            <a:r>
              <a:rPr dirty="0" sz="1400">
                <a:latin typeface="Arial MT"/>
                <a:cs typeface="Arial MT"/>
              </a:rPr>
              <a:t>comes </a:t>
            </a:r>
            <a:r>
              <a:rPr dirty="0" sz="1400" spc="-5">
                <a:latin typeface="Arial MT"/>
                <a:cs typeface="Arial MT"/>
              </a:rPr>
              <a:t>with wireshark installation but </a:t>
            </a:r>
            <a:r>
              <a:rPr dirty="0" sz="1400">
                <a:latin typeface="Arial MT"/>
                <a:cs typeface="Arial MT"/>
              </a:rPr>
              <a:t>can </a:t>
            </a:r>
            <a:r>
              <a:rPr dirty="0" sz="1400" spc="-5">
                <a:latin typeface="Arial MT"/>
                <a:cs typeface="Arial MT"/>
              </a:rPr>
              <a:t>be installed </a:t>
            </a:r>
            <a:r>
              <a:rPr dirty="0" sz="1400">
                <a:latin typeface="Arial MT"/>
                <a:cs typeface="Arial MT"/>
              </a:rPr>
              <a:t>separately </a:t>
            </a:r>
            <a:r>
              <a:rPr dirty="0" sz="1400" spc="-5">
                <a:latin typeface="Arial MT"/>
                <a:cs typeface="Arial MT"/>
              </a:rPr>
              <a:t>for linux based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machines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with package name as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tshark or wireshark-cli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  <a:buFont typeface="Arial MT"/>
              <a:buChar char="●"/>
            </a:pPr>
            <a:endParaRPr sz="1450">
              <a:latin typeface="Arial MT"/>
              <a:cs typeface="Arial MT"/>
            </a:endParaRPr>
          </a:p>
          <a:p>
            <a:pPr marL="348615" marR="5080" indent="-336550">
              <a:lnSpc>
                <a:spcPct val="100000"/>
              </a:lnSpc>
              <a:buChar char="●"/>
              <a:tabLst>
                <a:tab pos="347980" algn="l"/>
                <a:tab pos="349250" algn="l"/>
              </a:tabLst>
            </a:pPr>
            <a:r>
              <a:rPr dirty="0" sz="1400" spc="-5">
                <a:latin typeface="Arial MT"/>
                <a:cs typeface="Arial MT"/>
              </a:rPr>
              <a:t>In windows we need to </a:t>
            </a:r>
            <a:r>
              <a:rPr dirty="0" sz="1400">
                <a:latin typeface="Arial MT"/>
                <a:cs typeface="Arial MT"/>
              </a:rPr>
              <a:t>set </a:t>
            </a:r>
            <a:r>
              <a:rPr dirty="0" sz="1400" spc="-5">
                <a:latin typeface="Arial MT"/>
                <a:cs typeface="Arial MT"/>
              </a:rPr>
              <a:t>the </a:t>
            </a:r>
            <a:r>
              <a:rPr dirty="0" sz="1400">
                <a:latin typeface="Arial MT"/>
                <a:cs typeface="Arial MT"/>
              </a:rPr>
              <a:t>system variable so </a:t>
            </a:r>
            <a:r>
              <a:rPr dirty="0" sz="1400" spc="-5">
                <a:latin typeface="Arial MT"/>
                <a:cs typeface="Arial MT"/>
              </a:rPr>
              <a:t>that it </a:t>
            </a:r>
            <a:r>
              <a:rPr dirty="0" sz="1400">
                <a:latin typeface="Arial MT"/>
                <a:cs typeface="Arial MT"/>
              </a:rPr>
              <a:t>recognized </a:t>
            </a:r>
            <a:r>
              <a:rPr dirty="0" sz="1400" spc="-5">
                <a:latin typeface="Arial MT"/>
                <a:cs typeface="Arial MT"/>
              </a:rPr>
              <a:t>the </a:t>
            </a:r>
            <a:r>
              <a:rPr dirty="0" sz="1400">
                <a:latin typeface="Arial MT"/>
                <a:cs typeface="Arial MT"/>
              </a:rPr>
              <a:t>command </a:t>
            </a:r>
            <a:r>
              <a:rPr dirty="0" sz="1400" spc="-5">
                <a:latin typeface="Arial MT"/>
                <a:cs typeface="Arial MT"/>
              </a:rPr>
              <a:t>tshark as an </a:t>
            </a:r>
            <a:r>
              <a:rPr dirty="0" sz="1400" spc="-375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internal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command.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5633" y="489372"/>
            <a:ext cx="2672080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0"/>
              <a:t>Tshark</a:t>
            </a:r>
            <a:r>
              <a:rPr dirty="0" spc="-75"/>
              <a:t> </a:t>
            </a:r>
            <a:r>
              <a:rPr dirty="0" spc="-5"/>
              <a:t>Commands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720" y="1207846"/>
            <a:ext cx="7935595" cy="751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1760">
              <a:lnSpc>
                <a:spcPct val="100000"/>
              </a:lnSpc>
              <a:spcBef>
                <a:spcPts val="100"/>
              </a:spcBef>
            </a:pPr>
            <a:r>
              <a:rPr dirty="0" sz="1300" spc="-5" b="1">
                <a:latin typeface="Georgia"/>
                <a:cs typeface="Georgia"/>
              </a:rPr>
              <a:t>tshark</a:t>
            </a:r>
            <a:r>
              <a:rPr dirty="0" sz="1300" spc="-25" b="1">
                <a:latin typeface="Georgia"/>
                <a:cs typeface="Georgia"/>
              </a:rPr>
              <a:t> </a:t>
            </a:r>
            <a:r>
              <a:rPr dirty="0" sz="1300">
                <a:latin typeface="Georgia"/>
                <a:cs typeface="Georgia"/>
              </a:rPr>
              <a:t>[</a:t>
            </a:r>
            <a:r>
              <a:rPr dirty="0" sz="1300" spc="-5">
                <a:latin typeface="Georgia"/>
                <a:cs typeface="Georgia"/>
              </a:rPr>
              <a:t> </a:t>
            </a:r>
            <a:r>
              <a:rPr dirty="0" sz="1300" spc="-5" b="1">
                <a:latin typeface="Georgia"/>
                <a:cs typeface="Georgia"/>
              </a:rPr>
              <a:t>-i</a:t>
            </a:r>
            <a:r>
              <a:rPr dirty="0" sz="1300" spc="-20" b="1">
                <a:latin typeface="Georgia"/>
                <a:cs typeface="Georgia"/>
              </a:rPr>
              <a:t> </a:t>
            </a:r>
            <a:r>
              <a:rPr dirty="0" sz="1300" spc="-5">
                <a:latin typeface="Georgia"/>
                <a:cs typeface="Georgia"/>
              </a:rPr>
              <a:t>&lt;capture</a:t>
            </a:r>
            <a:r>
              <a:rPr dirty="0" sz="1300" spc="-10">
                <a:latin typeface="Georgia"/>
                <a:cs typeface="Georgia"/>
              </a:rPr>
              <a:t> </a:t>
            </a:r>
            <a:r>
              <a:rPr dirty="0" sz="1300" spc="-5">
                <a:latin typeface="Georgia"/>
                <a:cs typeface="Georgia"/>
              </a:rPr>
              <a:t>interface&gt; </a:t>
            </a:r>
            <a:r>
              <a:rPr dirty="0" sz="1300">
                <a:latin typeface="Georgia"/>
                <a:cs typeface="Georgia"/>
              </a:rPr>
              <a:t>]</a:t>
            </a:r>
            <a:r>
              <a:rPr dirty="0" sz="1300" spc="-5">
                <a:latin typeface="Georgia"/>
                <a:cs typeface="Georgia"/>
              </a:rPr>
              <a:t> </a:t>
            </a:r>
            <a:r>
              <a:rPr dirty="0" sz="1300">
                <a:latin typeface="Georgia"/>
                <a:cs typeface="Georgia"/>
              </a:rPr>
              <a:t>[</a:t>
            </a:r>
            <a:r>
              <a:rPr dirty="0" sz="1300" spc="15">
                <a:latin typeface="Georgia"/>
                <a:cs typeface="Georgia"/>
              </a:rPr>
              <a:t> </a:t>
            </a:r>
            <a:r>
              <a:rPr dirty="0" sz="1300" spc="-5" b="1">
                <a:latin typeface="Georgia"/>
                <a:cs typeface="Georgia"/>
              </a:rPr>
              <a:t>-f</a:t>
            </a:r>
            <a:r>
              <a:rPr dirty="0" sz="1300" spc="-20" b="1">
                <a:latin typeface="Georgia"/>
                <a:cs typeface="Georgia"/>
              </a:rPr>
              <a:t> </a:t>
            </a:r>
            <a:r>
              <a:rPr dirty="0" sz="1300" spc="-5">
                <a:latin typeface="Georgia"/>
                <a:cs typeface="Georgia"/>
              </a:rPr>
              <a:t>&lt;capture filter&gt;</a:t>
            </a:r>
            <a:r>
              <a:rPr dirty="0" sz="1300" spc="-10">
                <a:latin typeface="Georgia"/>
                <a:cs typeface="Georgia"/>
              </a:rPr>
              <a:t> </a:t>
            </a:r>
            <a:r>
              <a:rPr dirty="0" sz="1300">
                <a:latin typeface="Georgia"/>
                <a:cs typeface="Georgia"/>
              </a:rPr>
              <a:t>]</a:t>
            </a:r>
            <a:r>
              <a:rPr dirty="0" sz="1300" spc="305">
                <a:latin typeface="Georgia"/>
                <a:cs typeface="Georgia"/>
              </a:rPr>
              <a:t> </a:t>
            </a:r>
            <a:r>
              <a:rPr dirty="0" sz="1300">
                <a:latin typeface="Georgia"/>
                <a:cs typeface="Georgia"/>
              </a:rPr>
              <a:t>[ </a:t>
            </a:r>
            <a:r>
              <a:rPr dirty="0" sz="1300" spc="-5" b="1">
                <a:latin typeface="Georgia"/>
                <a:cs typeface="Georgia"/>
              </a:rPr>
              <a:t>-r</a:t>
            </a:r>
            <a:r>
              <a:rPr dirty="0" sz="1300" spc="-20" b="1">
                <a:latin typeface="Georgia"/>
                <a:cs typeface="Georgia"/>
              </a:rPr>
              <a:t> </a:t>
            </a:r>
            <a:r>
              <a:rPr dirty="0" sz="1300" spc="-5">
                <a:latin typeface="Georgia"/>
                <a:cs typeface="Georgia"/>
              </a:rPr>
              <a:t>&lt;infile&gt;</a:t>
            </a:r>
            <a:r>
              <a:rPr dirty="0" sz="1300" spc="-10">
                <a:latin typeface="Georgia"/>
                <a:cs typeface="Georgia"/>
              </a:rPr>
              <a:t> </a:t>
            </a:r>
            <a:r>
              <a:rPr dirty="0" sz="1300">
                <a:latin typeface="Georgia"/>
                <a:cs typeface="Georgia"/>
              </a:rPr>
              <a:t>]</a:t>
            </a:r>
            <a:r>
              <a:rPr dirty="0" sz="1300" spc="-5">
                <a:latin typeface="Georgia"/>
                <a:cs typeface="Georgia"/>
              </a:rPr>
              <a:t> </a:t>
            </a:r>
            <a:r>
              <a:rPr dirty="0" sz="1300">
                <a:latin typeface="Georgia"/>
                <a:cs typeface="Georgia"/>
              </a:rPr>
              <a:t>[ </a:t>
            </a:r>
            <a:r>
              <a:rPr dirty="0" sz="1300" spc="-5" b="1">
                <a:latin typeface="Georgia"/>
                <a:cs typeface="Georgia"/>
              </a:rPr>
              <a:t>-w</a:t>
            </a:r>
            <a:r>
              <a:rPr dirty="0" sz="1300" spc="-25" b="1">
                <a:latin typeface="Georgia"/>
                <a:cs typeface="Georgia"/>
              </a:rPr>
              <a:t> </a:t>
            </a:r>
            <a:r>
              <a:rPr dirty="0" sz="1300" spc="-5">
                <a:latin typeface="Georgia"/>
                <a:cs typeface="Georgia"/>
              </a:rPr>
              <a:t>&lt;outfile&gt;] </a:t>
            </a:r>
            <a:r>
              <a:rPr dirty="0" sz="1300">
                <a:latin typeface="Georgia"/>
                <a:cs typeface="Georgia"/>
              </a:rPr>
              <a:t>[ </a:t>
            </a:r>
            <a:r>
              <a:rPr dirty="0" sz="1300" spc="-5" b="1">
                <a:latin typeface="Georgia"/>
                <a:cs typeface="Georgia"/>
              </a:rPr>
              <a:t>options</a:t>
            </a:r>
            <a:r>
              <a:rPr dirty="0" sz="1300" spc="-20" b="1">
                <a:latin typeface="Georgia"/>
                <a:cs typeface="Georgia"/>
              </a:rPr>
              <a:t> </a:t>
            </a:r>
            <a:r>
              <a:rPr dirty="0" sz="1300">
                <a:latin typeface="Georgia"/>
                <a:cs typeface="Georgia"/>
              </a:rPr>
              <a:t>]</a:t>
            </a:r>
            <a:r>
              <a:rPr dirty="0" sz="1300" spc="-5">
                <a:latin typeface="Georgia"/>
                <a:cs typeface="Georgia"/>
              </a:rPr>
              <a:t> </a:t>
            </a:r>
            <a:r>
              <a:rPr dirty="0" sz="1300">
                <a:latin typeface="Georgia"/>
                <a:cs typeface="Georgia"/>
              </a:rPr>
              <a:t>[</a:t>
            </a:r>
            <a:r>
              <a:rPr dirty="0" sz="1300" spc="-5">
                <a:latin typeface="Georgia"/>
                <a:cs typeface="Georgia"/>
              </a:rPr>
              <a:t> &lt;filter&gt;]</a:t>
            </a:r>
            <a:endParaRPr sz="13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400" spc="-5">
                <a:latin typeface="Arial MT"/>
                <a:cs typeface="Arial MT"/>
              </a:rPr>
              <a:t>here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we have added Capture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Filters where we are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 host and all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the packets are tcp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750" y="2108348"/>
            <a:ext cx="8839200" cy="736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9375" y="3155788"/>
            <a:ext cx="86677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Arial MT"/>
                <a:cs typeface="Arial MT"/>
              </a:rPr>
              <a:t>Filters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can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be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Found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from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 spc="-5">
                <a:latin typeface="Arial MT"/>
                <a:cs typeface="Arial MT"/>
              </a:rPr>
              <a:t>:</a:t>
            </a:r>
            <a:r>
              <a:rPr dirty="0" u="heavy" sz="14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3"/>
              </a:rPr>
              <a:t>https://wiki.wireshark.org/CaptureFilters</a:t>
            </a:r>
            <a:r>
              <a:rPr dirty="0" sz="1400" spc="-15">
                <a:solidFill>
                  <a:srgbClr val="0000FF"/>
                </a:solidFill>
                <a:latin typeface="Arial MT"/>
                <a:cs typeface="Arial MT"/>
                <a:hlinkClick r:id="rId3"/>
              </a:rPr>
              <a:t> </a:t>
            </a:r>
            <a:r>
              <a:rPr dirty="0" sz="1400" spc="-5">
                <a:latin typeface="Arial MT"/>
                <a:cs typeface="Arial MT"/>
              </a:rPr>
              <a:t>and</a:t>
            </a:r>
            <a:r>
              <a:rPr dirty="0" u="heavy" sz="1400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  <a:hlinkClick r:id="rId4"/>
              </a:rPr>
              <a:t>https://wiki.wireshark.org/DisplayFilters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4702" y="479850"/>
            <a:ext cx="350583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Display</a:t>
            </a:r>
            <a:r>
              <a:rPr dirty="0" spc="-35"/>
              <a:t> </a:t>
            </a:r>
            <a:r>
              <a:rPr dirty="0"/>
              <a:t>+</a:t>
            </a:r>
            <a:r>
              <a:rPr dirty="0" spc="-40"/>
              <a:t> </a:t>
            </a:r>
            <a:r>
              <a:rPr dirty="0" spc="-5"/>
              <a:t>Capture</a:t>
            </a:r>
            <a:r>
              <a:rPr dirty="0" spc="-30"/>
              <a:t> </a:t>
            </a:r>
            <a:r>
              <a:rPr dirty="0" spc="-5"/>
              <a:t>Filters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300" y="1447625"/>
            <a:ext cx="8839199" cy="168431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1058" y="489372"/>
            <a:ext cx="1649095" cy="406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References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0800" rIns="0" bIns="0" rtlCol="0" vert="horz">
            <a:spAutoFit/>
          </a:bodyPr>
          <a:lstStyle/>
          <a:p>
            <a:pPr marL="416559" indent="-391160">
              <a:lnSpc>
                <a:spcPct val="100000"/>
              </a:lnSpc>
              <a:spcBef>
                <a:spcPts val="400"/>
              </a:spcBef>
              <a:buClr>
                <a:srgbClr val="595959"/>
              </a:buClr>
              <a:buSzPct val="128571"/>
              <a:buChar char="●"/>
              <a:tabLst>
                <a:tab pos="417195" algn="l"/>
                <a:tab pos="417830" algn="l"/>
              </a:tabLst>
            </a:pPr>
            <a:r>
              <a:rPr dirty="0" spc="-5"/>
              <a:t>https://web.fe.up.pt/~jruela/DOC/Wireshark-user-guide-a4_v1.0.0.pdf</a:t>
            </a:r>
          </a:p>
          <a:p>
            <a:pPr marL="416559" indent="-3556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Char char="●"/>
              <a:tabLst>
                <a:tab pos="417195" algn="l"/>
                <a:tab pos="417830" algn="l"/>
              </a:tabLst>
            </a:pPr>
            <a:r>
              <a:rPr dirty="0" u="heavy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/>
              </a:rPr>
              <a:t>https://en.wikipedia.org/wiki/Wireshark</a:t>
            </a:r>
          </a:p>
          <a:p>
            <a:pPr marL="416559" indent="-355600">
              <a:lnSpc>
                <a:spcPct val="100000"/>
              </a:lnSpc>
              <a:spcBef>
                <a:spcPts val="85"/>
              </a:spcBef>
              <a:buClr>
                <a:srgbClr val="000000"/>
              </a:buClr>
              <a:buChar char="●"/>
              <a:tabLst>
                <a:tab pos="417195" algn="l"/>
                <a:tab pos="417830" algn="l"/>
              </a:tabLst>
            </a:pPr>
            <a:r>
              <a:rPr dirty="0" u="heavy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/>
              </a:rPr>
              <a:t>https://wiki.wireshark.org/</a:t>
            </a:r>
          </a:p>
          <a:p>
            <a:pPr marL="416559" indent="-355600">
              <a:lnSpc>
                <a:spcPct val="100000"/>
              </a:lnSpc>
              <a:spcBef>
                <a:spcPts val="85"/>
              </a:spcBef>
              <a:buClr>
                <a:srgbClr val="000000"/>
              </a:buClr>
              <a:buChar char="●"/>
              <a:tabLst>
                <a:tab pos="417195" algn="l"/>
                <a:tab pos="417830" algn="l"/>
              </a:tabLst>
            </a:pPr>
            <a:r>
              <a:rPr dirty="0" u="heavy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/>
              </a:rPr>
              <a:t>https://en.wikipedia.org/wiki/Berkeley_Packet_Filter</a:t>
            </a:r>
          </a:p>
          <a:p>
            <a:pPr marL="416559" indent="-355600">
              <a:lnSpc>
                <a:spcPct val="100000"/>
              </a:lnSpc>
              <a:buClr>
                <a:srgbClr val="000000"/>
              </a:buClr>
              <a:buChar char="●"/>
              <a:tabLst>
                <a:tab pos="417195" algn="l"/>
                <a:tab pos="417830" algn="l"/>
              </a:tabLst>
            </a:pPr>
            <a:r>
              <a:rPr dirty="0" u="heavy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https://sharkfestus.wireshark.org/sharkfest.11/presentations/McCanne-Sharkfest'11_Keynote_Addre</a:t>
            </a:r>
          </a:p>
          <a:p>
            <a:pPr marL="416559">
              <a:lnSpc>
                <a:spcPct val="100000"/>
              </a:lnSpc>
              <a:spcBef>
                <a:spcPts val="80"/>
              </a:spcBef>
            </a:pPr>
            <a:r>
              <a:rPr dirty="0" u="heavy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/>
              </a:rPr>
              <a:t>ss.pdf</a:t>
            </a:r>
          </a:p>
          <a:p>
            <a:pPr marL="416559" indent="-355600">
              <a:lnSpc>
                <a:spcPct val="100000"/>
              </a:lnSpc>
              <a:spcBef>
                <a:spcPts val="170"/>
              </a:spcBef>
              <a:buClr>
                <a:srgbClr val="000000"/>
              </a:buClr>
              <a:buChar char="●"/>
              <a:tabLst>
                <a:tab pos="417195" algn="l"/>
                <a:tab pos="417830" algn="l"/>
              </a:tabLst>
            </a:pPr>
            <a:r>
              <a:rPr dirty="0" u="heavy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6"/>
              </a:rPr>
              <a:t>https://www.researchgate.net/figure/The-NIC-is-set-to-the-promiscuous-mode_fig1_220905310</a:t>
            </a:r>
          </a:p>
          <a:p>
            <a:pPr marL="416559" indent="-355600">
              <a:lnSpc>
                <a:spcPct val="100000"/>
              </a:lnSpc>
              <a:spcBef>
                <a:spcPts val="80"/>
              </a:spcBef>
              <a:buClr>
                <a:srgbClr val="000000"/>
              </a:buClr>
              <a:buChar char="●"/>
              <a:tabLst>
                <a:tab pos="417195" algn="l"/>
                <a:tab pos="417830" algn="l"/>
              </a:tabLst>
            </a:pPr>
            <a:r>
              <a:rPr dirty="0" u="heavy" spc="-5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7"/>
              </a:rPr>
              <a:t>https://en.wikipedia.org/wiki/Promiscuous_mode</a:t>
            </a:r>
          </a:p>
          <a:p>
            <a:pPr marL="416559" indent="-355600">
              <a:lnSpc>
                <a:spcPct val="100000"/>
              </a:lnSpc>
              <a:spcBef>
                <a:spcPts val="85"/>
              </a:spcBef>
              <a:buClr>
                <a:srgbClr val="000000"/>
              </a:buClr>
              <a:buChar char="●"/>
              <a:tabLst>
                <a:tab pos="417195" algn="l"/>
                <a:tab pos="417830" algn="l"/>
              </a:tabLst>
            </a:pPr>
            <a:r>
              <a:rPr dirty="0" u="heavy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8"/>
              </a:rPr>
              <a:t>https://www.tcpdump.org/manpages/tcpdump.1.html</a:t>
            </a:r>
          </a:p>
          <a:p>
            <a:pPr marL="416559" indent="-355600">
              <a:lnSpc>
                <a:spcPct val="100000"/>
              </a:lnSpc>
              <a:spcBef>
                <a:spcPts val="85"/>
              </a:spcBef>
              <a:buClr>
                <a:srgbClr val="000000"/>
              </a:buClr>
              <a:buChar char="●"/>
              <a:tabLst>
                <a:tab pos="417195" algn="l"/>
                <a:tab pos="417830" algn="l"/>
              </a:tabLst>
            </a:pPr>
            <a:r>
              <a:rPr dirty="0" u="heavy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9"/>
              </a:rPr>
              <a:t>https://www.youtube.com/watch?v=21M1rnbd5xo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tut5-wireshark-tcpdump</dc:title>
  <dcterms:created xsi:type="dcterms:W3CDTF">2023-10-11T09:58:44Z</dcterms:created>
  <dcterms:modified xsi:type="dcterms:W3CDTF">2023-10-11T09:58:44Z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