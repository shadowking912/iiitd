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italic.fntdata"/><Relationship Id="rId23" Type="http://schemas.openxmlformats.org/officeDocument/2006/relationships/slide" Target="slides/slide18.xml"/><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 name="Google Shape;6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6: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7: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6: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7: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2" name="Shape 12"/>
        <p:cNvGrpSpPr/>
        <p:nvPr/>
      </p:nvGrpSpPr>
      <p:grpSpPr>
        <a:xfrm>
          <a:off x="0" y="0"/>
          <a:ext cx="0" cy="0"/>
          <a:chOff x="0" y="0"/>
          <a:chExt cx="0" cy="0"/>
        </a:xfrm>
      </p:grpSpPr>
      <p:sp>
        <p:nvSpPr>
          <p:cNvPr id="13" name="Google Shape;13;p2"/>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3EADA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p2"/>
          <p:cNvSpPr/>
          <p:nvPr/>
        </p:nvSpPr>
        <p:spPr>
          <a:xfrm>
            <a:off x="395024" y="1831850"/>
            <a:ext cx="7345045" cy="0"/>
          </a:xfrm>
          <a:custGeom>
            <a:rect b="b" l="l" r="r" t="t"/>
            <a:pathLst>
              <a:path extrusionOk="0" h="120000" w="7345045">
                <a:moveTo>
                  <a:pt x="0" y="0"/>
                </a:moveTo>
                <a:lnTo>
                  <a:pt x="7344599"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5" name="Google Shape;15;p2"/>
          <p:cNvPicPr preferRelativeResize="0"/>
          <p:nvPr/>
        </p:nvPicPr>
        <p:blipFill rotWithShape="1">
          <a:blip r:embed="rId2">
            <a:alphaModFix/>
          </a:blip>
          <a:srcRect b="0" l="0" r="0" t="0"/>
          <a:stretch/>
        </p:blipFill>
        <p:spPr>
          <a:xfrm>
            <a:off x="395025" y="4094150"/>
            <a:ext cx="4813399" cy="962674"/>
          </a:xfrm>
          <a:prstGeom prst="rect">
            <a:avLst/>
          </a:prstGeom>
          <a:noFill/>
          <a:ln>
            <a:noFill/>
          </a:ln>
        </p:spPr>
      </p:pic>
      <p:pic>
        <p:nvPicPr>
          <p:cNvPr id="16" name="Google Shape;16;p2"/>
          <p:cNvPicPr preferRelativeResize="0"/>
          <p:nvPr/>
        </p:nvPicPr>
        <p:blipFill rotWithShape="1">
          <a:blip r:embed="rId3">
            <a:alphaModFix/>
          </a:blip>
          <a:srcRect b="0" l="0" r="0" t="0"/>
          <a:stretch/>
        </p:blipFill>
        <p:spPr>
          <a:xfrm>
            <a:off x="7038962" y="3524250"/>
            <a:ext cx="2105024" cy="1619249"/>
          </a:xfrm>
          <a:prstGeom prst="rect">
            <a:avLst/>
          </a:prstGeom>
          <a:noFill/>
          <a:ln>
            <a:noFill/>
          </a:ln>
        </p:spPr>
      </p:pic>
      <p:sp>
        <p:nvSpPr>
          <p:cNvPr id="17" name="Google Shape;17;p2"/>
          <p:cNvSpPr txBox="1"/>
          <p:nvPr>
            <p:ph type="ctrTitle"/>
          </p:nvPr>
        </p:nvSpPr>
        <p:spPr>
          <a:xfrm>
            <a:off x="384725" y="1030054"/>
            <a:ext cx="8374549" cy="635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405486" y="1176350"/>
            <a:ext cx="8333026" cy="1282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28" name="Shape 28"/>
        <p:cNvGrpSpPr/>
        <p:nvPr/>
      </p:nvGrpSpPr>
      <p:grpSpPr>
        <a:xfrm>
          <a:off x="0" y="0"/>
          <a:ext cx="0" cy="0"/>
          <a:chOff x="0" y="0"/>
          <a:chExt cx="0" cy="0"/>
        </a:xfrm>
      </p:grpSpPr>
      <p:sp>
        <p:nvSpPr>
          <p:cNvPr id="29" name="Google Shape;29;p4"/>
          <p:cNvSpPr/>
          <p:nvPr/>
        </p:nvSpPr>
        <p:spPr>
          <a:xfrm>
            <a:off x="0" y="3891674"/>
            <a:ext cx="9144000" cy="1252220"/>
          </a:xfrm>
          <a:custGeom>
            <a:rect b="b" l="l" r="r" t="t"/>
            <a:pathLst>
              <a:path extrusionOk="0" h="1252220" w="9144000">
                <a:moveTo>
                  <a:pt x="9143999" y="1251899"/>
                </a:moveTo>
                <a:lnTo>
                  <a:pt x="0" y="1251899"/>
                </a:lnTo>
                <a:lnTo>
                  <a:pt x="0" y="0"/>
                </a:lnTo>
                <a:lnTo>
                  <a:pt x="9143999" y="0"/>
                </a:lnTo>
                <a:lnTo>
                  <a:pt x="9143999" y="1251899"/>
                </a:lnTo>
                <a:close/>
              </a:path>
            </a:pathLst>
          </a:custGeom>
          <a:solidFill>
            <a:srgbClr val="3EADA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 name="Google Shape;30;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33" name="Shape 33"/>
        <p:cNvGrpSpPr/>
        <p:nvPr/>
      </p:nvGrpSpPr>
      <p:grpSpPr>
        <a:xfrm>
          <a:off x="0" y="0"/>
          <a:ext cx="0" cy="0"/>
          <a:chOff x="0" y="0"/>
          <a:chExt cx="0" cy="0"/>
        </a:xfrm>
      </p:grpSpPr>
      <p:sp>
        <p:nvSpPr>
          <p:cNvPr id="34" name="Google Shape;34;p5"/>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8" name="Shape 38"/>
        <p:cNvGrpSpPr/>
        <p:nvPr/>
      </p:nvGrpSpPr>
      <p:grpSpPr>
        <a:xfrm>
          <a:off x="0" y="0"/>
          <a:ext cx="0" cy="0"/>
          <a:chOff x="0" y="0"/>
          <a:chExt cx="0" cy="0"/>
        </a:xfrm>
      </p:grpSpPr>
      <p:sp>
        <p:nvSpPr>
          <p:cNvPr id="39" name="Google Shape;39;p6"/>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6"/>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248725" y="848575"/>
            <a:ext cx="8602980" cy="0"/>
          </a:xfrm>
          <a:custGeom>
            <a:rect b="b" l="l" r="r" t="t"/>
            <a:pathLst>
              <a:path extrusionOk="0" h="120000" w="8602980">
                <a:moveTo>
                  <a:pt x="0" y="0"/>
                </a:moveTo>
                <a:lnTo>
                  <a:pt x="8602799" y="0"/>
                </a:lnTo>
              </a:path>
            </a:pathLst>
          </a:custGeom>
          <a:noFill/>
          <a:ln cap="flat" cmpd="sng" w="9525">
            <a:solidFill>
              <a:srgbClr val="3EADA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1"/>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 type="body"/>
          </p:nvPr>
        </p:nvSpPr>
        <p:spPr>
          <a:xfrm>
            <a:off x="405486" y="1176350"/>
            <a:ext cx="8333026" cy="12827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man7.org/linux/man-pages/man2/socket.2.html" TargetMode="External"/><Relationship Id="rId4" Type="http://schemas.openxmlformats.org/officeDocument/2006/relationships/hyperlink" Target="https://man7.org/linux/man-pages/man2/bind.2.html" TargetMode="External"/><Relationship Id="rId9" Type="http://schemas.openxmlformats.org/officeDocument/2006/relationships/hyperlink" Target="https://man7.org/tlpi/" TargetMode="External"/><Relationship Id="rId5" Type="http://schemas.openxmlformats.org/officeDocument/2006/relationships/hyperlink" Target="https://man7.org/linux/man-pages/man2/listen.2.html" TargetMode="External"/><Relationship Id="rId6" Type="http://schemas.openxmlformats.org/officeDocument/2006/relationships/hyperlink" Target="https://man7.org/linux/man-pages/man2/accept.2.html" TargetMode="External"/><Relationship Id="rId7" Type="http://schemas.openxmlformats.org/officeDocument/2006/relationships/hyperlink" Target="https://man7.org/linux/man-pages/man2/connect.2.html" TargetMode="External"/><Relationship Id="rId8" Type="http://schemas.openxmlformats.org/officeDocument/2006/relationships/hyperlink" Target="http://www.cs.ucr.edu/~makho001/masoud/cs164/fork.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7"/>
          <p:cNvSpPr txBox="1"/>
          <p:nvPr/>
        </p:nvSpPr>
        <p:spPr>
          <a:xfrm>
            <a:off x="384725" y="481414"/>
            <a:ext cx="4859655" cy="635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Trebuchet MS"/>
                <a:ea typeface="Trebuchet MS"/>
                <a:cs typeface="Trebuchet MS"/>
                <a:sym typeface="Trebuchet MS"/>
              </a:rPr>
              <a:t>Socket Programming</a:t>
            </a:r>
            <a:endParaRPr b="0" i="0" sz="4000" u="none" cap="none" strike="noStrike">
              <a:solidFill>
                <a:srgbClr val="000000"/>
              </a:solidFill>
              <a:latin typeface="Trebuchet MS"/>
              <a:ea typeface="Trebuchet MS"/>
              <a:cs typeface="Trebuchet MS"/>
              <a:sym typeface="Trebuchet MS"/>
            </a:endParaRPr>
          </a:p>
        </p:txBody>
      </p:sp>
      <p:sp>
        <p:nvSpPr>
          <p:cNvPr id="50" name="Google Shape;50;p7"/>
          <p:cNvSpPr txBox="1"/>
          <p:nvPr/>
        </p:nvSpPr>
        <p:spPr>
          <a:xfrm>
            <a:off x="384725" y="1991808"/>
            <a:ext cx="5633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800"/>
              <a:buFont typeface="Arial"/>
              <a:buNone/>
            </a:pPr>
            <a:r>
              <a:rPr b="0" i="0" lang="en" sz="2800" u="none" cap="none" strike="noStrike">
                <a:solidFill>
                  <a:srgbClr val="F3F3F3"/>
                </a:solidFill>
                <a:latin typeface="Trebuchet MS"/>
                <a:ea typeface="Trebuchet MS"/>
                <a:cs typeface="Trebuchet MS"/>
                <a:sym typeface="Trebuchet MS"/>
              </a:rPr>
              <a:t>Computer Networks, Monsoon 2023</a:t>
            </a:r>
            <a:endParaRPr b="0" i="0" sz="2800" u="none" cap="none" strike="noStrike">
              <a:solidFill>
                <a:srgbClr val="000000"/>
              </a:solidFill>
              <a:latin typeface="Trebuchet MS"/>
              <a:ea typeface="Trebuchet MS"/>
              <a:cs typeface="Trebuchet MS"/>
              <a:sym typeface="Trebuchet MS"/>
            </a:endParaRPr>
          </a:p>
        </p:txBody>
      </p:sp>
      <p:sp>
        <p:nvSpPr>
          <p:cNvPr id="51" name="Google Shape;51;p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ph type="title"/>
          </p:nvPr>
        </p:nvSpPr>
        <p:spPr>
          <a:xfrm>
            <a:off x="362850" y="228275"/>
            <a:ext cx="68136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What will you learn?</a:t>
            </a:r>
            <a:endParaRPr sz="2800"/>
          </a:p>
        </p:txBody>
      </p:sp>
      <p:sp>
        <p:nvSpPr>
          <p:cNvPr id="57" name="Google Shape;57;p8"/>
          <p:cNvSpPr txBox="1"/>
          <p:nvPr/>
        </p:nvSpPr>
        <p:spPr>
          <a:xfrm>
            <a:off x="413013" y="1154154"/>
            <a:ext cx="7980824" cy="1992207"/>
          </a:xfrm>
          <a:prstGeom prst="rect">
            <a:avLst/>
          </a:prstGeom>
          <a:noFill/>
          <a:ln>
            <a:noFill/>
          </a:ln>
        </p:spPr>
        <p:txBody>
          <a:bodyPr anchorCtr="0" anchor="t" bIns="0" lIns="0" spcFirstLastPara="1" rIns="0" wrap="square" tIns="52700">
            <a:spAutoFit/>
          </a:bodyPr>
          <a:lstStyle/>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Build UDP server &amp; client using Linux socket APIs</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Error-handling &amp; debugging while using Linux socket APIs</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Build single-threaded TCP server &amp; client using Linux socket APIs</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Build multi-threaded TCP server &amp; client using Linux socket APIs</a:t>
            </a:r>
            <a:endParaRPr b="0" i="0" sz="1800" u="none" cap="none" strike="noStrike">
              <a:solidFill>
                <a:schemeClr val="dk1"/>
              </a:solidFill>
              <a:latin typeface="Trebuchet MS"/>
              <a:ea typeface="Trebuchet MS"/>
              <a:cs typeface="Trebuchet MS"/>
              <a:sym typeface="Trebuchet MS"/>
            </a:endParaRPr>
          </a:p>
        </p:txBody>
      </p:sp>
      <p:sp>
        <p:nvSpPr>
          <p:cNvPr id="58" name="Google Shape;58;p8"/>
          <p:cNvSpPr txBox="1"/>
          <p:nvPr>
            <p:ph idx="11" type="ftr"/>
          </p:nvPr>
        </p:nvSpPr>
        <p:spPr>
          <a:xfrm>
            <a:off x="608120" y="4783455"/>
            <a:ext cx="7696940" cy="18466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 sz="1200"/>
              <a:t>These slides are adapted from CN course in 2022 Monsoon semester.</a:t>
            </a:r>
            <a:endParaRPr sz="1200"/>
          </a:p>
        </p:txBody>
      </p:sp>
      <p:sp>
        <p:nvSpPr>
          <p:cNvPr id="59" name="Google Shape;59;p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9"/>
          <p:cNvSpPr txBox="1"/>
          <p:nvPr/>
        </p:nvSpPr>
        <p:spPr>
          <a:xfrm>
            <a:off x="2227649" y="2237250"/>
            <a:ext cx="4688700" cy="669000"/>
          </a:xfrm>
          <a:prstGeom prst="rect">
            <a:avLst/>
          </a:prstGeom>
          <a:noFill/>
          <a:ln>
            <a:noFill/>
          </a:ln>
        </p:spPr>
        <p:txBody>
          <a:bodyPr anchorCtr="0" anchor="t" bIns="0" lIns="0" spcFirstLastPara="1" rIns="0" wrap="square" tIns="52700">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chemeClr val="dk1"/>
                </a:solidFill>
                <a:latin typeface="Trebuchet MS"/>
                <a:ea typeface="Trebuchet MS"/>
                <a:cs typeface="Trebuchet MS"/>
                <a:sym typeface="Trebuchet MS"/>
              </a:rPr>
              <a:t>Socket Programming</a:t>
            </a:r>
            <a:endParaRPr b="0" i="0" sz="4000" u="none" cap="none" strike="noStrike">
              <a:solidFill>
                <a:schemeClr val="dk1"/>
              </a:solidFill>
              <a:latin typeface="Trebuchet MS"/>
              <a:ea typeface="Trebuchet MS"/>
              <a:cs typeface="Trebuchet MS"/>
              <a:sym typeface="Trebuchet MS"/>
            </a:endParaRPr>
          </a:p>
        </p:txBody>
      </p:sp>
      <p:sp>
        <p:nvSpPr>
          <p:cNvPr id="65" name="Google Shape;65;p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0"/>
          <p:cNvSpPr txBox="1"/>
          <p:nvPr>
            <p:ph type="title"/>
          </p:nvPr>
        </p:nvSpPr>
        <p:spPr>
          <a:xfrm>
            <a:off x="362850" y="228275"/>
            <a:ext cx="68136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What is a socket?</a:t>
            </a:r>
            <a:endParaRPr sz="2800"/>
          </a:p>
        </p:txBody>
      </p:sp>
      <p:sp>
        <p:nvSpPr>
          <p:cNvPr id="71" name="Google Shape;71;p10"/>
          <p:cNvSpPr txBox="1"/>
          <p:nvPr/>
        </p:nvSpPr>
        <p:spPr>
          <a:xfrm>
            <a:off x="426326" y="947750"/>
            <a:ext cx="8127900" cy="607500"/>
          </a:xfrm>
          <a:prstGeom prst="rect">
            <a:avLst/>
          </a:prstGeom>
          <a:noFill/>
          <a:ln>
            <a:noFill/>
          </a:ln>
        </p:spPr>
        <p:txBody>
          <a:bodyPr anchorCtr="0" anchor="t" bIns="0" lIns="0" spcFirstLastPara="1" rIns="0" wrap="square" tIns="52700">
            <a:spAutoFit/>
          </a:bodyPr>
          <a:lstStyle/>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For communicating between processes of same machine or different machines</a:t>
            </a:r>
            <a:endParaRPr b="0" i="0" sz="1800" u="none" cap="none" strike="noStrike">
              <a:solidFill>
                <a:schemeClr val="dk1"/>
              </a:solidFill>
              <a:latin typeface="Trebuchet MS"/>
              <a:ea typeface="Trebuchet MS"/>
              <a:cs typeface="Trebuchet MS"/>
              <a:sym typeface="Trebuchet MS"/>
            </a:endParaRPr>
          </a:p>
        </p:txBody>
      </p:sp>
      <p:pic>
        <p:nvPicPr>
          <p:cNvPr id="72" name="Google Shape;72;p10"/>
          <p:cNvPicPr preferRelativeResize="0"/>
          <p:nvPr/>
        </p:nvPicPr>
        <p:blipFill rotWithShape="1">
          <a:blip r:embed="rId3">
            <a:alphaModFix/>
          </a:blip>
          <a:srcRect b="0" l="0" r="0" t="0"/>
          <a:stretch/>
        </p:blipFill>
        <p:spPr>
          <a:xfrm>
            <a:off x="1096350" y="1977460"/>
            <a:ext cx="3153239" cy="2141872"/>
          </a:xfrm>
          <a:prstGeom prst="rect">
            <a:avLst/>
          </a:prstGeom>
          <a:noFill/>
          <a:ln>
            <a:noFill/>
          </a:ln>
        </p:spPr>
      </p:pic>
      <p:pic>
        <p:nvPicPr>
          <p:cNvPr id="73" name="Google Shape;73;p10"/>
          <p:cNvPicPr preferRelativeResize="0"/>
          <p:nvPr/>
        </p:nvPicPr>
        <p:blipFill rotWithShape="1">
          <a:blip r:embed="rId4">
            <a:alphaModFix/>
          </a:blip>
          <a:srcRect b="0" l="0" r="0" t="0"/>
          <a:stretch/>
        </p:blipFill>
        <p:spPr>
          <a:xfrm>
            <a:off x="5316399" y="2012450"/>
            <a:ext cx="2680876" cy="1781325"/>
          </a:xfrm>
          <a:prstGeom prst="rect">
            <a:avLst/>
          </a:prstGeom>
          <a:noFill/>
          <a:ln>
            <a:noFill/>
          </a:ln>
        </p:spPr>
      </p:pic>
      <p:sp>
        <p:nvSpPr>
          <p:cNvPr id="74" name="Google Shape;74;p10"/>
          <p:cNvSpPr txBox="1"/>
          <p:nvPr/>
        </p:nvSpPr>
        <p:spPr>
          <a:xfrm>
            <a:off x="6020725" y="3889925"/>
            <a:ext cx="186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Electric socket</a:t>
            </a:r>
            <a:endParaRPr b="0" i="0" sz="1400" u="none" cap="none" strike="noStrike">
              <a:solidFill>
                <a:schemeClr val="dk1"/>
              </a:solidFill>
              <a:latin typeface="Arial"/>
              <a:ea typeface="Arial"/>
              <a:cs typeface="Arial"/>
              <a:sym typeface="Arial"/>
            </a:endParaRPr>
          </a:p>
        </p:txBody>
      </p:sp>
      <p:cxnSp>
        <p:nvCxnSpPr>
          <p:cNvPr id="75" name="Google Shape;75;p10"/>
          <p:cNvCxnSpPr/>
          <p:nvPr/>
        </p:nvCxnSpPr>
        <p:spPr>
          <a:xfrm flipH="1">
            <a:off x="7145800" y="1881775"/>
            <a:ext cx="144300" cy="765900"/>
          </a:xfrm>
          <a:prstGeom prst="straightConnector1">
            <a:avLst/>
          </a:prstGeom>
          <a:noFill/>
          <a:ln cap="flat" cmpd="sng" w="38100">
            <a:solidFill>
              <a:schemeClr val="dk1"/>
            </a:solidFill>
            <a:prstDash val="solid"/>
            <a:round/>
            <a:headEnd len="sm" w="sm" type="none"/>
            <a:tailEnd len="med" w="med" type="triangle"/>
          </a:ln>
        </p:spPr>
      </p:cxnSp>
      <p:cxnSp>
        <p:nvCxnSpPr>
          <p:cNvPr id="76" name="Google Shape;76;p10"/>
          <p:cNvCxnSpPr/>
          <p:nvPr/>
        </p:nvCxnSpPr>
        <p:spPr>
          <a:xfrm flipH="1">
            <a:off x="6104100" y="1798125"/>
            <a:ext cx="935100" cy="852300"/>
          </a:xfrm>
          <a:prstGeom prst="straightConnector1">
            <a:avLst/>
          </a:prstGeom>
          <a:noFill/>
          <a:ln cap="flat" cmpd="sng" w="38100">
            <a:solidFill>
              <a:schemeClr val="dk1"/>
            </a:solidFill>
            <a:prstDash val="solid"/>
            <a:round/>
            <a:headEnd len="sm" w="sm" type="none"/>
            <a:tailEnd len="med" w="med" type="triangle"/>
          </a:ln>
        </p:spPr>
      </p:cxnSp>
      <p:sp>
        <p:nvSpPr>
          <p:cNvPr id="77" name="Google Shape;77;p10"/>
          <p:cNvSpPr txBox="1"/>
          <p:nvPr/>
        </p:nvSpPr>
        <p:spPr>
          <a:xfrm>
            <a:off x="7087525" y="1451525"/>
            <a:ext cx="1359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Multiple Ports</a:t>
            </a:r>
            <a:endParaRPr b="0" i="0" sz="1400" u="none" cap="none" strike="noStrike">
              <a:solidFill>
                <a:schemeClr val="dk1"/>
              </a:solidFill>
              <a:latin typeface="Arial"/>
              <a:ea typeface="Arial"/>
              <a:cs typeface="Arial"/>
              <a:sym typeface="Arial"/>
            </a:endParaRPr>
          </a:p>
        </p:txBody>
      </p:sp>
      <p:sp>
        <p:nvSpPr>
          <p:cNvPr id="78" name="Google Shape;78;p10"/>
          <p:cNvSpPr txBox="1"/>
          <p:nvPr>
            <p:ph idx="11" type="ftr"/>
          </p:nvPr>
        </p:nvSpPr>
        <p:spPr>
          <a:xfrm>
            <a:off x="1273945" y="4783455"/>
            <a:ext cx="7173179" cy="18466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 sz="1200"/>
              <a:t>These slides are adapted from CN course in 2022 Monsoon semester.</a:t>
            </a:r>
            <a:endParaRPr sz="1200"/>
          </a:p>
        </p:txBody>
      </p:sp>
      <p:sp>
        <p:nvSpPr>
          <p:cNvPr id="79" name="Google Shape;79;p10"/>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1"/>
          <p:cNvSpPr txBox="1"/>
          <p:nvPr>
            <p:ph type="title"/>
          </p:nvPr>
        </p:nvSpPr>
        <p:spPr>
          <a:xfrm>
            <a:off x="362850" y="228275"/>
            <a:ext cx="68136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What is a socket?</a:t>
            </a:r>
            <a:endParaRPr sz="2800"/>
          </a:p>
        </p:txBody>
      </p:sp>
      <p:sp>
        <p:nvSpPr>
          <p:cNvPr id="85" name="Google Shape;85;p11"/>
          <p:cNvSpPr txBox="1"/>
          <p:nvPr/>
        </p:nvSpPr>
        <p:spPr>
          <a:xfrm>
            <a:off x="426326" y="947750"/>
            <a:ext cx="8127900" cy="1992207"/>
          </a:xfrm>
          <a:prstGeom prst="rect">
            <a:avLst/>
          </a:prstGeom>
          <a:noFill/>
          <a:ln>
            <a:noFill/>
          </a:ln>
        </p:spPr>
        <p:txBody>
          <a:bodyPr anchorCtr="0" anchor="t" bIns="0" lIns="0" spcFirstLastPara="1" rIns="0" wrap="square" tIns="52700">
            <a:spAutoFit/>
          </a:bodyPr>
          <a:lstStyle/>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Linux socket API returns a socket file descriptor.</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Trebuchet MS"/>
              <a:ea typeface="Trebuchet MS"/>
              <a:cs typeface="Trebuchet MS"/>
              <a:sym typeface="Trebuchet MS"/>
            </a:endParaRPr>
          </a:p>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You can read &amp; write bytes to socket using the socket file descriptor.</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Trebuchet MS"/>
              <a:ea typeface="Trebuchet MS"/>
              <a:cs typeface="Trebuchet MS"/>
              <a:sym typeface="Trebuchet MS"/>
            </a:endParaRPr>
          </a:p>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It is analogous to reading and writing files on filesystem using file descriptor. But instead of writing those bytes to a file, the operating system send them to another computer across the network.</a:t>
            </a:r>
            <a:endParaRPr b="0" i="0" sz="1800" u="none" cap="none" strike="noStrike">
              <a:solidFill>
                <a:schemeClr val="dk1"/>
              </a:solidFill>
              <a:latin typeface="Trebuchet MS"/>
              <a:ea typeface="Trebuchet MS"/>
              <a:cs typeface="Trebuchet MS"/>
              <a:sym typeface="Trebuchet MS"/>
            </a:endParaRPr>
          </a:p>
        </p:txBody>
      </p:sp>
      <p:sp>
        <p:nvSpPr>
          <p:cNvPr id="86" name="Google Shape;86;p11"/>
          <p:cNvSpPr txBox="1"/>
          <p:nvPr>
            <p:ph idx="11" type="ftr"/>
          </p:nvPr>
        </p:nvSpPr>
        <p:spPr>
          <a:xfrm>
            <a:off x="1273945" y="4783455"/>
            <a:ext cx="7173179" cy="18466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 sz="1200"/>
              <a:t>These slides are adapted from CN course in 2022 Monsoon semester.</a:t>
            </a:r>
            <a:endParaRPr sz="1200"/>
          </a:p>
        </p:txBody>
      </p:sp>
      <p:sp>
        <p:nvSpPr>
          <p:cNvPr id="87" name="Google Shape;87;p1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2"/>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socket</a:t>
            </a:r>
            <a:endParaRPr/>
          </a:p>
        </p:txBody>
      </p:sp>
      <p:pic>
        <p:nvPicPr>
          <p:cNvPr id="93" name="Google Shape;93;p12"/>
          <p:cNvPicPr preferRelativeResize="0"/>
          <p:nvPr/>
        </p:nvPicPr>
        <p:blipFill rotWithShape="1">
          <a:blip r:embed="rId3">
            <a:alphaModFix/>
          </a:blip>
          <a:srcRect b="0" l="0" r="0" t="0"/>
          <a:stretch/>
        </p:blipFill>
        <p:spPr>
          <a:xfrm>
            <a:off x="357825" y="902019"/>
            <a:ext cx="7303604" cy="4102336"/>
          </a:xfrm>
          <a:prstGeom prst="rect">
            <a:avLst/>
          </a:prstGeom>
          <a:noFill/>
          <a:ln>
            <a:noFill/>
          </a:ln>
        </p:spPr>
      </p:pic>
      <p:sp>
        <p:nvSpPr>
          <p:cNvPr id="94" name="Google Shape;94;p12"/>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ph type="title"/>
          </p:nvPr>
        </p:nvSpPr>
        <p:spPr>
          <a:xfrm>
            <a:off x="362850" y="228275"/>
            <a:ext cx="3920626"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Creating UDP Socket</a:t>
            </a:r>
            <a:endParaRPr sz="2800"/>
          </a:p>
        </p:txBody>
      </p:sp>
      <p:sp>
        <p:nvSpPr>
          <p:cNvPr id="100" name="Google Shape;100;p13"/>
          <p:cNvSpPr txBox="1"/>
          <p:nvPr/>
        </p:nvSpPr>
        <p:spPr>
          <a:xfrm>
            <a:off x="384725" y="1216355"/>
            <a:ext cx="8325484" cy="13284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For this, we call the socket function, specifying the type of communication protocol.</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sockfd = socket(domain, type, protocol);</a:t>
            </a:r>
            <a:endParaRPr b="0" i="0" sz="1800" u="none" cap="none" strike="noStrike">
              <a:solidFill>
                <a:srgbClr val="000000"/>
              </a:solidFill>
              <a:latin typeface="Courier New"/>
              <a:ea typeface="Courier New"/>
              <a:cs typeface="Courier New"/>
              <a:sym typeface="Courier New"/>
            </a:endParaRPr>
          </a:p>
        </p:txBody>
      </p:sp>
      <p:sp>
        <p:nvSpPr>
          <p:cNvPr id="101" name="Google Shape;101;p13"/>
          <p:cNvSpPr txBox="1"/>
          <p:nvPr/>
        </p:nvSpPr>
        <p:spPr>
          <a:xfrm>
            <a:off x="384725" y="3273750"/>
            <a:ext cx="7463400" cy="133139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domain: Protocol Family. We will use “AF_INET” for IPv4</a:t>
            </a:r>
            <a:endParaRPr b="0" i="0" sz="1800" u="none" cap="none" strike="noStrike">
              <a:solidFill>
                <a:srgbClr val="595959"/>
              </a:solidFill>
              <a:latin typeface="Trebuchet MS"/>
              <a:ea typeface="Trebuchet MS"/>
              <a:cs typeface="Trebuchet MS"/>
              <a:sym typeface="Trebuchet MS"/>
            </a:endParaRPr>
          </a:p>
          <a:p>
            <a:pPr indent="0" lvl="0" marL="12700" marR="508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type: Type of Socket. We will use “SOCK_DGRAM” for UDP</a:t>
            </a:r>
            <a:endParaRPr b="0" i="0" sz="1400" u="none" cap="none" strike="noStrike">
              <a:solidFill>
                <a:srgbClr val="000000"/>
              </a:solidFill>
              <a:latin typeface="Arial"/>
              <a:ea typeface="Arial"/>
              <a:cs typeface="Arial"/>
              <a:sym typeface="Arial"/>
            </a:endParaRPr>
          </a:p>
          <a:p>
            <a:pPr indent="0" lvl="0" marL="12700" marR="508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protocol: Protocol value for Internet Protocol(IP), which is 0.</a:t>
            </a:r>
            <a:endParaRPr b="0" i="0" sz="1800" u="none" cap="none" strike="noStrike">
              <a:solidFill>
                <a:srgbClr val="000000"/>
              </a:solidFill>
              <a:latin typeface="Trebuchet MS"/>
              <a:ea typeface="Trebuchet MS"/>
              <a:cs typeface="Trebuchet MS"/>
              <a:sym typeface="Trebuchet MS"/>
            </a:endParaRPr>
          </a:p>
        </p:txBody>
      </p:sp>
      <p:sp>
        <p:nvSpPr>
          <p:cNvPr id="102" name="Google Shape;102;p1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bind</a:t>
            </a:r>
            <a:endParaRPr/>
          </a:p>
        </p:txBody>
      </p:sp>
      <p:pic>
        <p:nvPicPr>
          <p:cNvPr id="108" name="Google Shape;108;p14"/>
          <p:cNvPicPr preferRelativeResize="0"/>
          <p:nvPr/>
        </p:nvPicPr>
        <p:blipFill rotWithShape="1">
          <a:blip r:embed="rId3">
            <a:alphaModFix/>
          </a:blip>
          <a:srcRect b="0" l="0" r="0" t="0"/>
          <a:stretch/>
        </p:blipFill>
        <p:spPr>
          <a:xfrm>
            <a:off x="266522" y="949191"/>
            <a:ext cx="7403785" cy="4158607"/>
          </a:xfrm>
          <a:prstGeom prst="rect">
            <a:avLst/>
          </a:prstGeom>
          <a:noFill/>
          <a:ln>
            <a:noFill/>
          </a:ln>
        </p:spPr>
      </p:pic>
      <p:sp>
        <p:nvSpPr>
          <p:cNvPr id="109" name="Google Shape;109;p1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362849" y="228275"/>
            <a:ext cx="6947911"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Binding the socket at server to an address</a:t>
            </a:r>
            <a:endParaRPr sz="2800"/>
          </a:p>
        </p:txBody>
      </p:sp>
      <p:sp>
        <p:nvSpPr>
          <p:cNvPr id="115" name="Google Shape;115;p15"/>
          <p:cNvSpPr txBox="1"/>
          <p:nvPr/>
        </p:nvSpPr>
        <p:spPr>
          <a:xfrm>
            <a:off x="384725" y="1176350"/>
            <a:ext cx="8363100" cy="31179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bind() assigns a local protocol address to a socket. With the Internet protocols,  the address is the combination of an IPv4 or IPv6 address (32-bit or 128-bit) address  along with a 16 bit TCP port number.</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107315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bind(int sockfd, const struct sockaddr *servaddr,  socklen_t addrlen);</a:t>
            </a:r>
            <a:endParaRPr b="0" i="0" sz="1800" u="none" cap="none" strike="noStrike">
              <a:solidFill>
                <a:srgbClr val="000000"/>
              </a:solidFill>
              <a:latin typeface="Courier New"/>
              <a:ea typeface="Courier New"/>
              <a:cs typeface="Courier New"/>
              <a:sym typeface="Courier New"/>
            </a:endParaRPr>
          </a:p>
          <a:p>
            <a:pPr indent="0" lvl="0" marL="12700" marR="434975" rtl="0" algn="l">
              <a:lnSpc>
                <a:spcPct val="114599"/>
              </a:lnSpc>
              <a:spcBef>
                <a:spcPts val="157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sockaddr is a pointer to a protocol-speciﬁc  address and addrlen is the size of the address structure.</a:t>
            </a:r>
            <a:endParaRPr b="0" i="0" sz="1800" u="none" cap="none" strike="noStrike">
              <a:solidFill>
                <a:srgbClr val="000000"/>
              </a:solidFill>
              <a:latin typeface="Trebuchet MS"/>
              <a:ea typeface="Trebuchet MS"/>
              <a:cs typeface="Trebuchet MS"/>
              <a:sym typeface="Trebuchet MS"/>
            </a:endParaRPr>
          </a:p>
        </p:txBody>
      </p:sp>
      <p:sp>
        <p:nvSpPr>
          <p:cNvPr id="116" name="Google Shape;116;p1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sendto</a:t>
            </a:r>
            <a:endParaRPr/>
          </a:p>
        </p:txBody>
      </p:sp>
      <p:pic>
        <p:nvPicPr>
          <p:cNvPr id="122" name="Google Shape;122;p16"/>
          <p:cNvPicPr preferRelativeResize="0"/>
          <p:nvPr/>
        </p:nvPicPr>
        <p:blipFill rotWithShape="1">
          <a:blip r:embed="rId3">
            <a:alphaModFix/>
          </a:blip>
          <a:srcRect b="0" l="0" r="0" t="0"/>
          <a:stretch/>
        </p:blipFill>
        <p:spPr>
          <a:xfrm>
            <a:off x="300183" y="907667"/>
            <a:ext cx="7408906" cy="4161483"/>
          </a:xfrm>
          <a:prstGeom prst="rect">
            <a:avLst/>
          </a:prstGeom>
          <a:noFill/>
          <a:ln>
            <a:noFill/>
          </a:ln>
        </p:spPr>
      </p:pic>
      <p:sp>
        <p:nvSpPr>
          <p:cNvPr id="123" name="Google Shape;123;p16"/>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txBox="1"/>
          <p:nvPr>
            <p:ph type="title"/>
          </p:nvPr>
        </p:nvSpPr>
        <p:spPr>
          <a:xfrm>
            <a:off x="362850" y="228275"/>
            <a:ext cx="165481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Send Data</a:t>
            </a:r>
            <a:endParaRPr sz="2800"/>
          </a:p>
        </p:txBody>
      </p:sp>
      <p:sp>
        <p:nvSpPr>
          <p:cNvPr id="129" name="Google Shape;129;p17"/>
          <p:cNvSpPr txBox="1"/>
          <p:nvPr/>
        </p:nvSpPr>
        <p:spPr>
          <a:xfrm>
            <a:off x="362851" y="922344"/>
            <a:ext cx="8102100" cy="4475100"/>
          </a:xfrm>
          <a:prstGeom prst="rect">
            <a:avLst/>
          </a:prstGeom>
          <a:noFill/>
          <a:ln>
            <a:noFill/>
          </a:ln>
        </p:spPr>
        <p:txBody>
          <a:bodyPr anchorCtr="0" anchor="t" bIns="0" lIns="0" spcFirstLastPara="1" rIns="0" wrap="square" tIns="12700">
            <a:spAutoFit/>
          </a:bodyPr>
          <a:lstStyle/>
          <a:p>
            <a:pPr indent="0" lvl="0" marL="12700" marR="254634"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Since a socket endpoint is represented as a ﬁle descriptor, we can use read and  write to communicate with a socket.</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send(int sockfd, const void *buf, size_t nbytes, int  flags, const struct sockaddr *dest_addr, socklen_t addrlen);</a:t>
            </a:r>
            <a:endParaRPr b="0" i="0" sz="1400" u="none" cap="none" strike="noStrike">
              <a:solidFill>
                <a:srgbClr val="000000"/>
              </a:solidFill>
              <a:latin typeface="Arial"/>
              <a:ea typeface="Arial"/>
              <a:cs typeface="Arial"/>
              <a:sym typeface="Arial"/>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It is mandatory to send destination address with each message in UDP. That’s not the case in TCP.</a:t>
            </a:r>
            <a:endParaRPr b="0" i="0" sz="1400" u="none" cap="none" strike="noStrike">
              <a:solidFill>
                <a:srgbClr val="000000"/>
              </a:solidFill>
              <a:latin typeface="Arial"/>
              <a:ea typeface="Arial"/>
              <a:cs typeface="Arial"/>
              <a:sym typeface="Arial"/>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Flags modify behavior of send operation such as blocking vs non-blocking I/O etc. We will use “MSG_CONFIRM” in our demo.</a:t>
            </a:r>
            <a:endParaRPr b="0" i="0" sz="1400" u="none" cap="none" strike="noStrike">
              <a:solidFill>
                <a:srgbClr val="000000"/>
              </a:solidFill>
              <a:latin typeface="Arial"/>
              <a:ea typeface="Arial"/>
              <a:cs typeface="Arial"/>
              <a:sym typeface="Arial"/>
            </a:endParaRPr>
          </a:p>
          <a:p>
            <a:pPr indent="0" lvl="0" marL="12700" marR="5080" rtl="0" algn="l">
              <a:lnSpc>
                <a:spcPct val="114599"/>
              </a:lnSpc>
              <a:spcBef>
                <a:spcPts val="1575"/>
              </a:spcBef>
              <a:spcAft>
                <a:spcPts val="0"/>
              </a:spcAft>
              <a:buClr>
                <a:srgbClr val="000000"/>
              </a:buClr>
              <a:buSzPts val="1800"/>
              <a:buFont typeface="Arial"/>
              <a:buNone/>
            </a:pPr>
            <a:r>
              <a:t/>
            </a:r>
            <a:endParaRPr b="0" i="0" sz="1800" u="none" cap="none" strike="noStrike">
              <a:solidFill>
                <a:srgbClr val="000000"/>
              </a:solidFill>
              <a:latin typeface="Courier New"/>
              <a:ea typeface="Courier New"/>
              <a:cs typeface="Courier New"/>
              <a:sym typeface="Courier New"/>
            </a:endParaRPr>
          </a:p>
        </p:txBody>
      </p:sp>
      <p:sp>
        <p:nvSpPr>
          <p:cNvPr id="130" name="Google Shape;130;p1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recvfrom</a:t>
            </a:r>
            <a:endParaRPr/>
          </a:p>
        </p:txBody>
      </p:sp>
      <p:pic>
        <p:nvPicPr>
          <p:cNvPr id="136" name="Google Shape;136;p18"/>
          <p:cNvPicPr preferRelativeResize="0"/>
          <p:nvPr/>
        </p:nvPicPr>
        <p:blipFill rotWithShape="1">
          <a:blip r:embed="rId3">
            <a:alphaModFix/>
          </a:blip>
          <a:srcRect b="0" l="0" r="0" t="0"/>
          <a:stretch/>
        </p:blipFill>
        <p:spPr>
          <a:xfrm>
            <a:off x="332912" y="917581"/>
            <a:ext cx="7461682" cy="4191127"/>
          </a:xfrm>
          <a:prstGeom prst="rect">
            <a:avLst/>
          </a:prstGeom>
          <a:noFill/>
          <a:ln>
            <a:noFill/>
          </a:ln>
        </p:spPr>
      </p:pic>
      <p:sp>
        <p:nvSpPr>
          <p:cNvPr id="137" name="Google Shape;137;p1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Receive Data</a:t>
            </a:r>
            <a:endParaRPr sz="2800"/>
          </a:p>
        </p:txBody>
      </p:sp>
      <p:sp>
        <p:nvSpPr>
          <p:cNvPr id="143" name="Google Shape;143;p19"/>
          <p:cNvSpPr txBox="1"/>
          <p:nvPr/>
        </p:nvSpPr>
        <p:spPr>
          <a:xfrm>
            <a:off x="384725" y="1176350"/>
            <a:ext cx="8337586" cy="3173689"/>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recv() function is similar to read(), but allows to specify some options to control  how the data are received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recvfrom(int sockfd, void *buf, size_t nbytes, int  flags, struct sockaddr *src_addr, socklen_t *addrlen);</a:t>
            </a:r>
            <a:endParaRPr b="0" i="0" sz="1400" u="none" cap="none" strike="noStrike">
              <a:solidFill>
                <a:srgbClr val="000000"/>
              </a:solidFill>
              <a:latin typeface="Arial"/>
              <a:ea typeface="Arial"/>
              <a:cs typeface="Arial"/>
              <a:sym typeface="Arial"/>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recvfrom operation saves source address in “src_addr”. It is required to send response to the client later on.</a:t>
            </a:r>
            <a:endParaRPr b="0" i="0" sz="1400" u="none" cap="none" strike="noStrike">
              <a:solidFill>
                <a:srgbClr val="000000"/>
              </a:solidFill>
              <a:latin typeface="Arial"/>
              <a:ea typeface="Arial"/>
              <a:cs typeface="Arial"/>
              <a:sym typeface="Arial"/>
            </a:endParaRPr>
          </a:p>
        </p:txBody>
      </p:sp>
      <p:sp>
        <p:nvSpPr>
          <p:cNvPr id="144" name="Google Shape;144;p1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Receive Data</a:t>
            </a:r>
            <a:endParaRPr sz="2800"/>
          </a:p>
        </p:txBody>
      </p:sp>
      <p:sp>
        <p:nvSpPr>
          <p:cNvPr id="150" name="Google Shape;150;p20"/>
          <p:cNvSpPr txBox="1"/>
          <p:nvPr/>
        </p:nvSpPr>
        <p:spPr>
          <a:xfrm>
            <a:off x="384725" y="1176350"/>
            <a:ext cx="8337586" cy="3492238"/>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recv() function is similar to read(), but allows to specify some options to control  how the data are received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recvfrom(int sockfd, void *buf, size_t nbytes, int  flags, struct sockaddr *src_addr, socklen_t *addrlen);</a:t>
            </a:r>
            <a:endParaRPr b="0" i="0" sz="1400" u="none" cap="none" strike="noStrike">
              <a:solidFill>
                <a:srgbClr val="000000"/>
              </a:solidFill>
              <a:latin typeface="Arial"/>
              <a:ea typeface="Arial"/>
              <a:cs typeface="Arial"/>
              <a:sym typeface="Arial"/>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Flags modify behavior of receive operation. We will use “MSG_WAITALL” in our demo.</a:t>
            </a:r>
            <a:br>
              <a:rPr b="0" i="0" lang="en" sz="1800" u="none" cap="none" strike="noStrike">
                <a:solidFill>
                  <a:srgbClr val="595959"/>
                </a:solidFill>
                <a:latin typeface="Courier New"/>
                <a:ea typeface="Courier New"/>
                <a:cs typeface="Courier New"/>
                <a:sym typeface="Courier New"/>
              </a:rPr>
            </a:br>
            <a:endParaRPr b="0" i="0" sz="1800" u="none" cap="none" strike="noStrike">
              <a:solidFill>
                <a:srgbClr val="000000"/>
              </a:solidFill>
              <a:latin typeface="Courier New"/>
              <a:ea typeface="Courier New"/>
              <a:cs typeface="Courier New"/>
              <a:sym typeface="Courier New"/>
            </a:endParaRPr>
          </a:p>
        </p:txBody>
      </p:sp>
      <p:sp>
        <p:nvSpPr>
          <p:cNvPr id="151" name="Google Shape;151;p20"/>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Error Handling</a:t>
            </a:r>
            <a:endParaRPr sz="2800"/>
          </a:p>
        </p:txBody>
      </p:sp>
      <p:sp>
        <p:nvSpPr>
          <p:cNvPr id="157" name="Google Shape;157;p21"/>
          <p:cNvSpPr txBox="1"/>
          <p:nvPr/>
        </p:nvSpPr>
        <p:spPr>
          <a:xfrm>
            <a:off x="362850" y="1154155"/>
            <a:ext cx="8337586" cy="1287019"/>
          </a:xfrm>
          <a:prstGeom prst="rect">
            <a:avLst/>
          </a:prstGeom>
          <a:noFill/>
          <a:ln>
            <a:noFill/>
          </a:ln>
        </p:spPr>
        <p:txBody>
          <a:bodyPr anchorCtr="0" anchor="t" bIns="0" lIns="0" spcFirstLastPara="1" rIns="0" wrap="square" tIns="12700">
            <a:spAutoFit/>
          </a:bodyPr>
          <a:lstStyle/>
          <a:p>
            <a:pPr indent="-285750" lvl="0" marL="298450" marR="5080" rtl="0" algn="l">
              <a:lnSpc>
                <a:spcPct val="114599"/>
              </a:lnSpc>
              <a:spcBef>
                <a:spcPts val="0"/>
              </a:spcBef>
              <a:spcAft>
                <a:spcPts val="0"/>
              </a:spcAft>
              <a:buClr>
                <a:srgbClr val="000000"/>
              </a:buClr>
              <a:buSzPts val="1800"/>
              <a:buFont typeface="Arial"/>
              <a:buChar char="•"/>
            </a:pPr>
            <a:r>
              <a:rPr b="0" i="0" lang="en" sz="1800" u="none" cap="none" strike="noStrike">
                <a:solidFill>
                  <a:srgbClr val="595959"/>
                </a:solidFill>
                <a:latin typeface="Trebuchet MS"/>
                <a:ea typeface="Trebuchet MS"/>
                <a:cs typeface="Trebuchet MS"/>
                <a:sym typeface="Trebuchet MS"/>
              </a:rPr>
              <a:t>APIs such as socket,bind, sendto, recvfrom return “-1” if they fail.</a:t>
            </a:r>
            <a:endParaRPr b="0" i="0" sz="1400" u="none" cap="none" strike="noStrike">
              <a:solidFill>
                <a:srgbClr val="000000"/>
              </a:solidFill>
              <a:latin typeface="Arial"/>
              <a:ea typeface="Arial"/>
              <a:cs typeface="Arial"/>
              <a:sym typeface="Arial"/>
            </a:endParaRPr>
          </a:p>
          <a:p>
            <a:pPr indent="-285750" lvl="0" marL="298450" marR="5080" rtl="0" algn="l">
              <a:lnSpc>
                <a:spcPct val="114599"/>
              </a:lnSpc>
              <a:spcBef>
                <a:spcPts val="0"/>
              </a:spcBef>
              <a:spcAft>
                <a:spcPts val="0"/>
              </a:spcAft>
              <a:buClr>
                <a:srgbClr val="000000"/>
              </a:buClr>
              <a:buSzPts val="1800"/>
              <a:buFont typeface="Arial"/>
              <a:buChar char="•"/>
            </a:pPr>
            <a:r>
              <a:rPr b="0" i="0" lang="en" sz="1800" u="none" cap="none" strike="noStrike">
                <a:solidFill>
                  <a:srgbClr val="595959"/>
                </a:solidFill>
                <a:latin typeface="Trebuchet MS"/>
                <a:ea typeface="Trebuchet MS"/>
                <a:cs typeface="Trebuchet MS"/>
                <a:sym typeface="Trebuchet MS"/>
              </a:rPr>
              <a:t>Error code is set in a global variable called “errno”.</a:t>
            </a:r>
            <a:endParaRPr b="0" i="0" sz="1400" u="none" cap="none" strike="noStrike">
              <a:solidFill>
                <a:srgbClr val="000000"/>
              </a:solidFill>
              <a:latin typeface="Arial"/>
              <a:ea typeface="Arial"/>
              <a:cs typeface="Arial"/>
              <a:sym typeface="Arial"/>
            </a:endParaRPr>
          </a:p>
          <a:p>
            <a:pPr indent="-285750" lvl="0" marL="298450" marR="5080" rtl="0" algn="l">
              <a:lnSpc>
                <a:spcPct val="114599"/>
              </a:lnSpc>
              <a:spcBef>
                <a:spcPts val="0"/>
              </a:spcBef>
              <a:spcAft>
                <a:spcPts val="0"/>
              </a:spcAft>
              <a:buClr>
                <a:srgbClr val="000000"/>
              </a:buClr>
              <a:buSzPts val="1800"/>
              <a:buFont typeface="Arial"/>
              <a:buChar char="•"/>
            </a:pPr>
            <a:r>
              <a:rPr b="0" i="0" lang="en" sz="1800" u="none" cap="none" strike="noStrike">
                <a:solidFill>
                  <a:srgbClr val="595959"/>
                </a:solidFill>
                <a:latin typeface="Trebuchet MS"/>
                <a:ea typeface="Trebuchet MS"/>
                <a:cs typeface="Trebuchet MS"/>
                <a:sym typeface="Trebuchet MS"/>
              </a:rPr>
              <a:t>You can print a descriptive error using “strerror(errno)</a:t>
            </a:r>
            <a:r>
              <a:rPr b="0" i="0" lang="en" sz="1800" u="none" cap="none" strike="noStrike">
                <a:solidFill>
                  <a:srgbClr val="595959"/>
                </a:solidFill>
                <a:latin typeface="Courier New"/>
                <a:ea typeface="Courier New"/>
                <a:cs typeface="Courier New"/>
                <a:sym typeface="Courier New"/>
              </a:rPr>
              <a:t>”.</a:t>
            </a:r>
            <a:br>
              <a:rPr b="0" i="0" lang="en" sz="1800" u="none" cap="none" strike="noStrike">
                <a:solidFill>
                  <a:srgbClr val="595959"/>
                </a:solidFill>
                <a:latin typeface="Courier New"/>
                <a:ea typeface="Courier New"/>
                <a:cs typeface="Courier New"/>
                <a:sym typeface="Courier New"/>
              </a:rPr>
            </a:br>
            <a:endParaRPr b="0" i="0" sz="1800" u="none" cap="none" strike="noStrike">
              <a:solidFill>
                <a:srgbClr val="000000"/>
              </a:solidFill>
              <a:latin typeface="Courier New"/>
              <a:ea typeface="Courier New"/>
              <a:cs typeface="Courier New"/>
              <a:sym typeface="Courier New"/>
            </a:endParaRPr>
          </a:p>
        </p:txBody>
      </p:sp>
      <p:sp>
        <p:nvSpPr>
          <p:cNvPr id="158" name="Google Shape;158;p2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pic>
        <p:nvPicPr>
          <p:cNvPr id="164" name="Google Shape;164;p22"/>
          <p:cNvPicPr preferRelativeResize="0"/>
          <p:nvPr/>
        </p:nvPicPr>
        <p:blipFill rotWithShape="1">
          <a:blip r:embed="rId3">
            <a:alphaModFix/>
          </a:blip>
          <a:srcRect b="0" l="0" r="0" t="0"/>
          <a:stretch/>
        </p:blipFill>
        <p:spPr>
          <a:xfrm>
            <a:off x="2662800" y="0"/>
            <a:ext cx="369462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Demo</a:t>
            </a:r>
            <a:endParaRPr/>
          </a:p>
        </p:txBody>
      </p:sp>
      <p:sp>
        <p:nvSpPr>
          <p:cNvPr id="170" name="Google Shape;170;p23"/>
          <p:cNvSpPr txBox="1"/>
          <p:nvPr>
            <p:ph idx="1" type="body"/>
          </p:nvPr>
        </p:nvSpPr>
        <p:spPr>
          <a:xfrm>
            <a:off x="405486" y="1176350"/>
            <a:ext cx="8333026" cy="553998"/>
          </a:xfrm>
          <a:prstGeom prst="rect">
            <a:avLst/>
          </a:prstGeom>
          <a:noFill/>
          <a:ln>
            <a:noFill/>
          </a:ln>
        </p:spPr>
        <p:txBody>
          <a:bodyPr anchorCtr="0" anchor="t" bIns="0" lIns="0" spcFirstLastPara="1" rIns="0" wrap="square" tIns="0">
            <a:spAutoFit/>
          </a:bodyPr>
          <a:lstStyle/>
          <a:p>
            <a:pPr indent="-285750" lvl="0" marL="514350" rtl="0" algn="l">
              <a:lnSpc>
                <a:spcPct val="100000"/>
              </a:lnSpc>
              <a:spcBef>
                <a:spcPts val="0"/>
              </a:spcBef>
              <a:spcAft>
                <a:spcPts val="0"/>
              </a:spcAft>
              <a:buSzPts val="1400"/>
              <a:buFont typeface="Arial"/>
              <a:buChar char="•"/>
            </a:pPr>
            <a:r>
              <a:rPr lang="en"/>
              <a:t>Demo UDP Server &amp; Client</a:t>
            </a:r>
            <a:endParaRPr/>
          </a:p>
          <a:p>
            <a:pPr indent="-285750" lvl="0" marL="514350" rtl="0" algn="l">
              <a:lnSpc>
                <a:spcPct val="100000"/>
              </a:lnSpc>
              <a:spcBef>
                <a:spcPts val="0"/>
              </a:spcBef>
              <a:spcAft>
                <a:spcPts val="0"/>
              </a:spcAft>
              <a:buSzPts val="1400"/>
              <a:buFont typeface="Arial"/>
              <a:buChar char="•"/>
            </a:pPr>
            <a:r>
              <a:rPr lang="en"/>
              <a:t>Use errno &amp; debugger to troubleshoot a bug</a:t>
            </a:r>
            <a:endParaRPr/>
          </a:p>
        </p:txBody>
      </p:sp>
      <p:sp>
        <p:nvSpPr>
          <p:cNvPr id="171" name="Google Shape;171;p2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405486" y="156900"/>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Why is UDP challenging to use?</a:t>
            </a:r>
            <a:endParaRPr/>
          </a:p>
        </p:txBody>
      </p:sp>
      <p:sp>
        <p:nvSpPr>
          <p:cNvPr id="177" name="Google Shape;177;p2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405486" y="156900"/>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Why is UDP challenging to use?</a:t>
            </a:r>
            <a:endParaRPr/>
          </a:p>
        </p:txBody>
      </p:sp>
      <p:sp>
        <p:nvSpPr>
          <p:cNvPr id="183" name="Google Shape;183;p25"/>
          <p:cNvSpPr txBox="1"/>
          <p:nvPr>
            <p:ph idx="1" type="body"/>
          </p:nvPr>
        </p:nvSpPr>
        <p:spPr>
          <a:xfrm>
            <a:off x="405486" y="1176350"/>
            <a:ext cx="8333026" cy="830997"/>
          </a:xfrm>
          <a:prstGeom prst="rect">
            <a:avLst/>
          </a:prstGeom>
          <a:noFill/>
          <a:ln>
            <a:noFill/>
          </a:ln>
        </p:spPr>
        <p:txBody>
          <a:bodyPr anchorCtr="0" anchor="t" bIns="0" lIns="0" spcFirstLastPara="1" rIns="0" wrap="square" tIns="0">
            <a:spAutoFit/>
          </a:bodyPr>
          <a:lstStyle/>
          <a:p>
            <a:pPr indent="-285750" lvl="0" marL="514350" rtl="0" algn="l">
              <a:lnSpc>
                <a:spcPct val="100000"/>
              </a:lnSpc>
              <a:spcBef>
                <a:spcPts val="0"/>
              </a:spcBef>
              <a:spcAft>
                <a:spcPts val="0"/>
              </a:spcAft>
              <a:buSzPts val="1400"/>
              <a:buFont typeface="Arial"/>
              <a:buChar char="•"/>
            </a:pPr>
            <a:r>
              <a:rPr lang="en"/>
              <a:t>Unreliable because some bytes may be lost during transmission</a:t>
            </a:r>
            <a:endParaRPr/>
          </a:p>
          <a:p>
            <a:pPr indent="-196850" lvl="0" marL="514350" rtl="0" algn="l">
              <a:lnSpc>
                <a:spcPct val="100000"/>
              </a:lnSpc>
              <a:spcBef>
                <a:spcPts val="0"/>
              </a:spcBef>
              <a:spcAft>
                <a:spcPts val="0"/>
              </a:spcAft>
              <a:buSzPts val="1400"/>
              <a:buFont typeface="Arial"/>
              <a:buNone/>
            </a:pPr>
            <a:r>
              <a:t/>
            </a:r>
            <a:endParaRPr/>
          </a:p>
          <a:p>
            <a:pPr indent="-285750" lvl="0" marL="514350" rtl="0" algn="l">
              <a:lnSpc>
                <a:spcPct val="100000"/>
              </a:lnSpc>
              <a:spcBef>
                <a:spcPts val="0"/>
              </a:spcBef>
              <a:spcAft>
                <a:spcPts val="0"/>
              </a:spcAft>
              <a:buSzPts val="1400"/>
              <a:buFont typeface="Arial"/>
              <a:buChar char="•"/>
            </a:pPr>
            <a:r>
              <a:rPr lang="en"/>
              <a:t>Some bytes may be delivered out-of-order</a:t>
            </a:r>
            <a:endParaRPr/>
          </a:p>
        </p:txBody>
      </p:sp>
      <p:sp>
        <p:nvSpPr>
          <p:cNvPr id="184" name="Google Shape;184;p2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362850" y="228275"/>
            <a:ext cx="302577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TCP Stream Socket</a:t>
            </a:r>
            <a:endParaRPr sz="2800"/>
          </a:p>
        </p:txBody>
      </p:sp>
      <p:sp>
        <p:nvSpPr>
          <p:cNvPr id="190" name="Google Shape;190;p26"/>
          <p:cNvSpPr txBox="1"/>
          <p:nvPr/>
        </p:nvSpPr>
        <p:spPr>
          <a:xfrm>
            <a:off x="388501" y="1005625"/>
            <a:ext cx="8067000" cy="1917600"/>
          </a:xfrm>
          <a:prstGeom prst="rect">
            <a:avLst/>
          </a:prstGeom>
          <a:noFill/>
          <a:ln>
            <a:noFill/>
          </a:ln>
        </p:spPr>
        <p:txBody>
          <a:bodyPr anchorCtr="0" anchor="t" bIns="0" lIns="0" spcFirstLastPara="1" rIns="0" wrap="square" tIns="12700">
            <a:spAutoFit/>
          </a:bodyPr>
          <a:lstStyle/>
          <a:p>
            <a:pPr indent="-367030" lvl="0" marL="379095" marR="5080" rtl="0" algn="just">
              <a:lnSpc>
                <a:spcPct val="114599"/>
              </a:lnSpc>
              <a:spcBef>
                <a:spcPts val="0"/>
              </a:spcBef>
              <a:spcAft>
                <a:spcPts val="0"/>
              </a:spcAft>
              <a:buClr>
                <a:srgbClr val="595959"/>
              </a:buClr>
              <a:buSzPts val="1800"/>
              <a:buFont typeface="Arial"/>
              <a:buChar char="●"/>
            </a:pPr>
            <a:r>
              <a:rPr b="0" i="0" lang="en" sz="1800" u="none" cap="none" strike="noStrike">
                <a:solidFill>
                  <a:srgbClr val="595959"/>
                </a:solidFill>
                <a:latin typeface="Trebuchet MS"/>
                <a:ea typeface="Trebuchet MS"/>
                <a:cs typeface="Trebuchet MS"/>
                <a:sym typeface="Trebuchet MS"/>
              </a:rPr>
              <a:t>Reliable</a:t>
            </a:r>
            <a:endParaRPr b="0" i="0" sz="1800" u="none" cap="none" strike="noStrike">
              <a:solidFill>
                <a:srgbClr val="000000"/>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Arial"/>
              <a:buChar char="●"/>
            </a:pPr>
            <a:r>
              <a:rPr b="0" i="0" lang="en" sz="1800" u="none" cap="none" strike="noStrike">
                <a:solidFill>
                  <a:srgbClr val="595959"/>
                </a:solidFill>
                <a:latin typeface="Trebuchet MS"/>
                <a:ea typeface="Trebuchet MS"/>
                <a:cs typeface="Trebuchet MS"/>
                <a:sym typeface="Trebuchet MS"/>
              </a:rPr>
              <a:t>Handles packet loss.</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Trebuchet MS"/>
              <a:buChar char="●"/>
            </a:pPr>
            <a:r>
              <a:rPr b="0" i="0" lang="en" sz="1800" u="none" cap="none" strike="noStrike">
                <a:solidFill>
                  <a:srgbClr val="595959"/>
                </a:solidFill>
                <a:latin typeface="Trebuchet MS"/>
                <a:ea typeface="Trebuchet MS"/>
                <a:cs typeface="Trebuchet MS"/>
                <a:sym typeface="Trebuchet MS"/>
              </a:rPr>
              <a:t>In-order delivery.</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Arial"/>
              <a:buChar char="●"/>
            </a:pPr>
            <a:r>
              <a:rPr b="0" i="0" lang="en" sz="1800" u="none" cap="none" strike="noStrike">
                <a:solidFill>
                  <a:srgbClr val="595959"/>
                </a:solidFill>
                <a:latin typeface="Trebuchet MS"/>
                <a:ea typeface="Trebuchet MS"/>
                <a:cs typeface="Trebuchet MS"/>
                <a:sym typeface="Trebuchet MS"/>
              </a:rPr>
              <a:t>Requires acknowledgement.</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Trebuchet MS"/>
              <a:buChar char="●"/>
            </a:pPr>
            <a:r>
              <a:rPr b="0" i="0" lang="en" sz="1800" u="none" cap="none" strike="noStrike">
                <a:solidFill>
                  <a:srgbClr val="595959"/>
                </a:solidFill>
                <a:latin typeface="Trebuchet MS"/>
                <a:ea typeface="Trebuchet MS"/>
                <a:cs typeface="Trebuchet MS"/>
                <a:sym typeface="Trebuchet MS"/>
              </a:rPr>
              <a:t>Has Congestion control.</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Trebuchet MS"/>
              <a:buChar char="●"/>
            </a:pPr>
            <a:r>
              <a:rPr b="0" i="0" lang="en" sz="1800" u="none" cap="none" strike="noStrike">
                <a:solidFill>
                  <a:srgbClr val="595959"/>
                </a:solidFill>
                <a:latin typeface="Trebuchet MS"/>
                <a:ea typeface="Trebuchet MS"/>
                <a:cs typeface="Trebuchet MS"/>
                <a:sym typeface="Trebuchet MS"/>
              </a:rPr>
              <a:t>Similar to telephone connection.</a:t>
            </a:r>
            <a:endParaRPr b="0" i="0" sz="1800" u="none" cap="none" strike="noStrike">
              <a:solidFill>
                <a:srgbClr val="595959"/>
              </a:solidFill>
              <a:latin typeface="Trebuchet MS"/>
              <a:ea typeface="Trebuchet MS"/>
              <a:cs typeface="Trebuchet MS"/>
              <a:sym typeface="Trebuchet MS"/>
            </a:endParaRPr>
          </a:p>
        </p:txBody>
      </p:sp>
      <p:sp>
        <p:nvSpPr>
          <p:cNvPr id="191" name="Google Shape;191;p26"/>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278373" y="170962"/>
            <a:ext cx="73035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TCP Client-Server Model</a:t>
            </a:r>
            <a:endParaRPr sz="2800"/>
          </a:p>
        </p:txBody>
      </p:sp>
      <p:pic>
        <p:nvPicPr>
          <p:cNvPr id="197" name="Google Shape;197;p27"/>
          <p:cNvPicPr preferRelativeResize="0"/>
          <p:nvPr/>
        </p:nvPicPr>
        <p:blipFill rotWithShape="1">
          <a:blip r:embed="rId3">
            <a:alphaModFix/>
          </a:blip>
          <a:srcRect b="0" l="0" r="0" t="0"/>
          <a:stretch/>
        </p:blipFill>
        <p:spPr>
          <a:xfrm>
            <a:off x="2140925" y="614650"/>
            <a:ext cx="4552900" cy="4528849"/>
          </a:xfrm>
          <a:prstGeom prst="rect">
            <a:avLst/>
          </a:prstGeom>
          <a:noFill/>
          <a:ln>
            <a:noFill/>
          </a:ln>
        </p:spPr>
      </p:pic>
      <p:sp>
        <p:nvSpPr>
          <p:cNvPr id="198" name="Google Shape;198;p2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362850" y="228275"/>
            <a:ext cx="3256279"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Creating TCP Socket</a:t>
            </a:r>
            <a:endParaRPr sz="2800"/>
          </a:p>
        </p:txBody>
      </p:sp>
      <p:sp>
        <p:nvSpPr>
          <p:cNvPr id="204" name="Google Shape;204;p28"/>
          <p:cNvSpPr txBox="1"/>
          <p:nvPr/>
        </p:nvSpPr>
        <p:spPr>
          <a:xfrm>
            <a:off x="384725" y="1216355"/>
            <a:ext cx="8325484" cy="13284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For this, we call the socket function, specifying the type of communication protocol.</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sockfd = socket(domain, type, protocol);</a:t>
            </a:r>
            <a:endParaRPr b="0" i="0" sz="1800" u="none" cap="none" strike="noStrike">
              <a:solidFill>
                <a:srgbClr val="000000"/>
              </a:solidFill>
              <a:latin typeface="Courier New"/>
              <a:ea typeface="Courier New"/>
              <a:cs typeface="Courier New"/>
              <a:sym typeface="Courier New"/>
            </a:endParaRPr>
          </a:p>
        </p:txBody>
      </p:sp>
      <p:sp>
        <p:nvSpPr>
          <p:cNvPr id="205" name="Google Shape;205;p28"/>
          <p:cNvSpPr txBox="1"/>
          <p:nvPr/>
        </p:nvSpPr>
        <p:spPr>
          <a:xfrm>
            <a:off x="384725" y="3273750"/>
            <a:ext cx="7463400" cy="1363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domain: Protocol Family</a:t>
            </a:r>
            <a:endParaRPr b="0" i="0" sz="1800" u="none" cap="none" strike="noStrike">
              <a:solidFill>
                <a:srgbClr val="595959"/>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Trebuchet MS"/>
              <a:ea typeface="Trebuchet MS"/>
              <a:cs typeface="Trebuchet MS"/>
              <a:sym typeface="Trebuchet MS"/>
            </a:endParaRPr>
          </a:p>
          <a:p>
            <a:pPr indent="0" lvl="0" marL="12700" marR="508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type: Type of Socket (SOCK_STREAM or SOCK_DGRAM or SOCK_RAW)  protocol: Protocol value for Internet Protocol(IP), which is 0.</a:t>
            </a:r>
            <a:endParaRPr b="0" i="0" sz="1800" u="none" cap="none" strike="noStrike">
              <a:solidFill>
                <a:srgbClr val="000000"/>
              </a:solidFill>
              <a:latin typeface="Trebuchet MS"/>
              <a:ea typeface="Trebuchet MS"/>
              <a:cs typeface="Trebuchet MS"/>
              <a:sym typeface="Trebuchet MS"/>
            </a:endParaRPr>
          </a:p>
        </p:txBody>
      </p:sp>
      <p:sp>
        <p:nvSpPr>
          <p:cNvPr id="206" name="Google Shape;206;p2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type="title"/>
          </p:nvPr>
        </p:nvSpPr>
        <p:spPr>
          <a:xfrm>
            <a:off x="362850" y="228275"/>
            <a:ext cx="62988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Binding the socket to an address</a:t>
            </a:r>
            <a:endParaRPr sz="2800"/>
          </a:p>
        </p:txBody>
      </p:sp>
      <p:sp>
        <p:nvSpPr>
          <p:cNvPr id="212" name="Google Shape;212;p29"/>
          <p:cNvSpPr txBox="1"/>
          <p:nvPr/>
        </p:nvSpPr>
        <p:spPr>
          <a:xfrm>
            <a:off x="384725" y="1176350"/>
            <a:ext cx="8363100" cy="31179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bind() assigns a local protocol address to a socket. With the Internet protocols,  the address is the combination of an IPv4 or IPv6 address (32-bit or 128-bit) address  along with a 16 bit TCP port number.</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107315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bind(int sockfd, const struct sockaddr *servaddr,  socklen_t addrlen);</a:t>
            </a:r>
            <a:endParaRPr b="0" i="0" sz="1800" u="none" cap="none" strike="noStrike">
              <a:solidFill>
                <a:srgbClr val="000000"/>
              </a:solidFill>
              <a:latin typeface="Courier New"/>
              <a:ea typeface="Courier New"/>
              <a:cs typeface="Courier New"/>
              <a:sym typeface="Courier New"/>
            </a:endParaRPr>
          </a:p>
          <a:p>
            <a:pPr indent="0" lvl="0" marL="12700" marR="434975" rtl="0" algn="l">
              <a:lnSpc>
                <a:spcPct val="114599"/>
              </a:lnSpc>
              <a:spcBef>
                <a:spcPts val="157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sockaddr is a pointer to a protocol-speciﬁc  address and addrlen is the size of the address structure.</a:t>
            </a:r>
            <a:endParaRPr b="0" i="0" sz="1800" u="none" cap="none" strike="noStrike">
              <a:solidFill>
                <a:srgbClr val="000000"/>
              </a:solidFill>
              <a:latin typeface="Trebuchet MS"/>
              <a:ea typeface="Trebuchet MS"/>
              <a:cs typeface="Trebuchet MS"/>
              <a:sym typeface="Trebuchet MS"/>
            </a:endParaRPr>
          </a:p>
        </p:txBody>
      </p:sp>
      <p:sp>
        <p:nvSpPr>
          <p:cNvPr id="213" name="Google Shape;213;p2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362850" y="228275"/>
            <a:ext cx="60087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Listen for connections</a:t>
            </a:r>
            <a:endParaRPr sz="2800"/>
          </a:p>
        </p:txBody>
      </p:sp>
      <p:sp>
        <p:nvSpPr>
          <p:cNvPr id="219" name="Google Shape;219;p30"/>
          <p:cNvSpPr txBox="1"/>
          <p:nvPr/>
        </p:nvSpPr>
        <p:spPr>
          <a:xfrm>
            <a:off x="384725" y="1176350"/>
            <a:ext cx="8183245" cy="282575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listen() function converts an unconnected socket into a passive socket,  indicating that the kernel should accept incoming connection requests directed to  this socket.</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listen(int sockfd, int backlog);</a:t>
            </a:r>
            <a:endParaRPr b="0" i="0" sz="1800" u="none" cap="none" strike="noStrike">
              <a:solidFill>
                <a:srgbClr val="000000"/>
              </a:solidFill>
              <a:latin typeface="Courier New"/>
              <a:ea typeface="Courier New"/>
              <a:cs typeface="Courier New"/>
              <a:sym typeface="Courier New"/>
            </a:endParaRPr>
          </a:p>
          <a:p>
            <a:pPr indent="0" lvl="0" marL="12700" marR="426084"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and backlog is the maximum number of  connections the kernel should queue for this socket.</a:t>
            </a:r>
            <a:endParaRPr b="0" i="0" sz="1800" u="none" cap="none" strike="noStrike">
              <a:solidFill>
                <a:srgbClr val="000000"/>
              </a:solidFill>
              <a:latin typeface="Trebuchet MS"/>
              <a:ea typeface="Trebuchet MS"/>
              <a:cs typeface="Trebuchet MS"/>
              <a:sym typeface="Trebuchet MS"/>
            </a:endParaRPr>
          </a:p>
        </p:txBody>
      </p:sp>
      <p:sp>
        <p:nvSpPr>
          <p:cNvPr id="220" name="Google Shape;220;p30"/>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362850" y="228275"/>
            <a:ext cx="64341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Accept a connection</a:t>
            </a:r>
            <a:endParaRPr sz="2800"/>
          </a:p>
        </p:txBody>
      </p:sp>
      <p:sp>
        <p:nvSpPr>
          <p:cNvPr id="226" name="Google Shape;226;p31"/>
          <p:cNvSpPr txBox="1"/>
          <p:nvPr/>
        </p:nvSpPr>
        <p:spPr>
          <a:xfrm>
            <a:off x="384725" y="1216355"/>
            <a:ext cx="8151495" cy="278574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accept() is used to retrieve a connect request and convert that into a request.</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accept(int sockfd, struct sockaddr *cliaddr, socklen_t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31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*addrlen);</a:t>
            </a:r>
            <a:endParaRPr b="0" i="0" sz="1800" u="none" cap="none" strike="noStrike">
              <a:solidFill>
                <a:srgbClr val="000000"/>
              </a:solidFill>
              <a:latin typeface="Courier New"/>
              <a:ea typeface="Courier New"/>
              <a:cs typeface="Courier New"/>
              <a:sym typeface="Courier New"/>
            </a:endParaRPr>
          </a:p>
          <a:p>
            <a:pPr indent="0" lvl="0" marL="12700" marR="26543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ﬁle descriptor that is connected to the client that called the  connect(). The cliaddr and addrlen arguments are used to return the protocol  address of the client.</a:t>
            </a:r>
            <a:endParaRPr b="0" i="0" sz="1800" u="none" cap="none" strike="noStrike">
              <a:solidFill>
                <a:srgbClr val="000000"/>
              </a:solidFill>
              <a:latin typeface="Trebuchet MS"/>
              <a:ea typeface="Trebuchet MS"/>
              <a:cs typeface="Trebuchet MS"/>
              <a:sym typeface="Trebuchet MS"/>
            </a:endParaRPr>
          </a:p>
        </p:txBody>
      </p:sp>
      <p:sp>
        <p:nvSpPr>
          <p:cNvPr id="227" name="Google Shape;227;p3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ph type="title"/>
          </p:nvPr>
        </p:nvSpPr>
        <p:spPr>
          <a:xfrm>
            <a:off x="362850" y="228275"/>
            <a:ext cx="54771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Create Connection</a:t>
            </a:r>
            <a:endParaRPr sz="2800"/>
          </a:p>
        </p:txBody>
      </p:sp>
      <p:sp>
        <p:nvSpPr>
          <p:cNvPr id="233" name="Google Shape;233;p32"/>
          <p:cNvSpPr txBox="1"/>
          <p:nvPr/>
        </p:nvSpPr>
        <p:spPr>
          <a:xfrm>
            <a:off x="384725" y="1176350"/>
            <a:ext cx="8251190" cy="2511425"/>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connect() function is used by a TCP client to establish a connection with a TCP  server.</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41275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connect (int sockfd, const struct sockaddr *servaddr,  socklen_t addrlen);</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returned by the socket function.</a:t>
            </a:r>
            <a:endParaRPr b="0" i="0" sz="1800" u="none" cap="none" strike="noStrike">
              <a:solidFill>
                <a:srgbClr val="000000"/>
              </a:solidFill>
              <a:latin typeface="Trebuchet MS"/>
              <a:ea typeface="Trebuchet MS"/>
              <a:cs typeface="Trebuchet MS"/>
              <a:sym typeface="Trebuchet MS"/>
            </a:endParaRPr>
          </a:p>
        </p:txBody>
      </p:sp>
      <p:sp>
        <p:nvSpPr>
          <p:cNvPr id="234" name="Google Shape;234;p32"/>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362850" y="228275"/>
            <a:ext cx="165481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Send Data</a:t>
            </a:r>
            <a:endParaRPr sz="2800"/>
          </a:p>
        </p:txBody>
      </p:sp>
      <p:sp>
        <p:nvSpPr>
          <p:cNvPr id="240" name="Google Shape;240;p33"/>
          <p:cNvSpPr txBox="1"/>
          <p:nvPr/>
        </p:nvSpPr>
        <p:spPr>
          <a:xfrm>
            <a:off x="384725" y="1176350"/>
            <a:ext cx="8254365" cy="1997075"/>
          </a:xfrm>
          <a:prstGeom prst="rect">
            <a:avLst/>
          </a:prstGeom>
          <a:noFill/>
          <a:ln>
            <a:noFill/>
          </a:ln>
        </p:spPr>
        <p:txBody>
          <a:bodyPr anchorCtr="0" anchor="t" bIns="0" lIns="0" spcFirstLastPara="1" rIns="0" wrap="square" tIns="12700">
            <a:spAutoFit/>
          </a:bodyPr>
          <a:lstStyle/>
          <a:p>
            <a:pPr indent="0" lvl="0" marL="12700" marR="254634"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Since a socket endpoint is represented as a ﬁle descriptor, we can use read and  write to communicate with a socket as long as it is connected.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send(int sockfd, const void *buf, size_t nbytes, int  flags);</a:t>
            </a:r>
            <a:endParaRPr b="0" i="0" sz="1800" u="none" cap="none" strike="noStrike">
              <a:solidFill>
                <a:srgbClr val="000000"/>
              </a:solidFill>
              <a:latin typeface="Courier New"/>
              <a:ea typeface="Courier New"/>
              <a:cs typeface="Courier New"/>
              <a:sym typeface="Courier New"/>
            </a:endParaRPr>
          </a:p>
        </p:txBody>
      </p:sp>
      <p:sp>
        <p:nvSpPr>
          <p:cNvPr id="241" name="Google Shape;241;p3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Receive Data</a:t>
            </a:r>
            <a:endParaRPr sz="2800"/>
          </a:p>
        </p:txBody>
      </p:sp>
      <p:sp>
        <p:nvSpPr>
          <p:cNvPr id="247" name="Google Shape;247;p34"/>
          <p:cNvSpPr txBox="1"/>
          <p:nvPr/>
        </p:nvSpPr>
        <p:spPr>
          <a:xfrm>
            <a:off x="384725" y="1176350"/>
            <a:ext cx="8247380" cy="1997075"/>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recv() function is similar to read(), but allows to specify some options to control  how the data are received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recv(int sockfd, void *buf, size_t nbytes, int  flags);</a:t>
            </a:r>
            <a:endParaRPr b="0" i="0" sz="1800" u="none" cap="none" strike="noStrike">
              <a:solidFill>
                <a:srgbClr val="000000"/>
              </a:solidFill>
              <a:latin typeface="Courier New"/>
              <a:ea typeface="Courier New"/>
              <a:cs typeface="Courier New"/>
              <a:sym typeface="Courier New"/>
            </a:endParaRPr>
          </a:p>
        </p:txBody>
      </p:sp>
      <p:sp>
        <p:nvSpPr>
          <p:cNvPr id="248" name="Google Shape;248;p3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362850" y="228275"/>
            <a:ext cx="208153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Close Socket</a:t>
            </a:r>
            <a:endParaRPr sz="2800"/>
          </a:p>
        </p:txBody>
      </p:sp>
      <p:sp>
        <p:nvSpPr>
          <p:cNvPr id="254" name="Google Shape;254;p35"/>
          <p:cNvSpPr txBox="1"/>
          <p:nvPr/>
        </p:nvSpPr>
        <p:spPr>
          <a:xfrm>
            <a:off x="384725" y="1216355"/>
            <a:ext cx="8112900" cy="3199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normal close() function is used to close a socket and terminate a TCP socket.</a:t>
            </a:r>
            <a:endParaRPr b="0" i="0" sz="1800" u="none" cap="none" strike="noStrike">
              <a:solidFill>
                <a:srgbClr val="595959"/>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Trebuchet MS"/>
              <a:ea typeface="Trebuchet MS"/>
              <a:cs typeface="Trebuchet MS"/>
              <a:sym typeface="Trebuchet MS"/>
            </a:endParaRPr>
          </a:p>
          <a:p>
            <a:pPr indent="0" lvl="0" marL="12700" marR="507492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&lt;unistd.h&gt;  int close(int sockfd);</a:t>
            </a:r>
            <a:endParaRPr b="0" i="0" sz="1800" u="none" cap="none" strike="noStrike">
              <a:solidFill>
                <a:srgbClr val="595959"/>
              </a:solidFill>
              <a:latin typeface="Courier New"/>
              <a:ea typeface="Courier New"/>
              <a:cs typeface="Courier New"/>
              <a:sym typeface="Courier New"/>
            </a:endParaRPr>
          </a:p>
          <a:p>
            <a:pPr indent="0" lvl="0" marL="12700" marR="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TIME_WAIT: A time period that ensures that any delayed or out-of-order packets related to the closed connection are correctly handled before the socket is fully released and made available for reuse</a:t>
            </a:r>
            <a:endParaRPr b="0" i="0" sz="1800" u="none" cap="none" strike="noStrike">
              <a:solidFill>
                <a:srgbClr val="595959"/>
              </a:solidFill>
              <a:latin typeface="Courier New"/>
              <a:ea typeface="Courier New"/>
              <a:cs typeface="Courier New"/>
              <a:sym typeface="Courier New"/>
            </a:endParaRPr>
          </a:p>
        </p:txBody>
      </p:sp>
      <p:sp>
        <p:nvSpPr>
          <p:cNvPr id="255" name="Google Shape;255;p3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9" name="Shape 259"/>
        <p:cNvGrpSpPr/>
        <p:nvPr/>
      </p:nvGrpSpPr>
      <p:grpSpPr>
        <a:xfrm>
          <a:off x="0" y="0"/>
          <a:ext cx="0" cy="0"/>
          <a:chOff x="0" y="0"/>
          <a:chExt cx="0" cy="0"/>
        </a:xfrm>
      </p:grpSpPr>
      <p:sp>
        <p:nvSpPr>
          <p:cNvPr id="260" name="Google Shape;260;p36"/>
          <p:cNvSpPr txBox="1"/>
          <p:nvPr>
            <p:ph type="title"/>
          </p:nvPr>
        </p:nvSpPr>
        <p:spPr>
          <a:xfrm>
            <a:off x="920200" y="2149925"/>
            <a:ext cx="7752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a:t>How would you implement a server?</a:t>
            </a:r>
            <a:endParaRPr/>
          </a:p>
        </p:txBody>
      </p:sp>
      <p:sp>
        <p:nvSpPr>
          <p:cNvPr id="261" name="Google Shape;261;p36"/>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Single threaded TCP server</a:t>
            </a:r>
            <a:endParaRPr sz="2800"/>
          </a:p>
        </p:txBody>
      </p:sp>
      <p:grpSp>
        <p:nvGrpSpPr>
          <p:cNvPr id="267" name="Google Shape;267;p37"/>
          <p:cNvGrpSpPr/>
          <p:nvPr/>
        </p:nvGrpSpPr>
        <p:grpSpPr>
          <a:xfrm>
            <a:off x="5200550" y="2478024"/>
            <a:ext cx="3007995" cy="758190"/>
            <a:chOff x="5200550" y="2478024"/>
            <a:chExt cx="3007995" cy="758190"/>
          </a:xfrm>
        </p:grpSpPr>
        <p:sp>
          <p:nvSpPr>
            <p:cNvPr id="268" name="Google Shape;268;p37"/>
            <p:cNvSpPr/>
            <p:nvPr/>
          </p:nvSpPr>
          <p:spPr>
            <a:xfrm>
              <a:off x="5200550" y="2478024"/>
              <a:ext cx="3007995" cy="758190"/>
            </a:xfrm>
            <a:custGeom>
              <a:rect b="b" l="l" r="r" t="t"/>
              <a:pathLst>
                <a:path extrusionOk="0" h="758189" w="3007995">
                  <a:moveTo>
                    <a:pt x="2881447" y="758099"/>
                  </a:moveTo>
                  <a:lnTo>
                    <a:pt x="126352" y="758099"/>
                  </a:lnTo>
                  <a:lnTo>
                    <a:pt x="77170" y="748170"/>
                  </a:lnTo>
                  <a:lnTo>
                    <a:pt x="37007" y="721092"/>
                  </a:lnTo>
                  <a:lnTo>
                    <a:pt x="9929" y="680929"/>
                  </a:lnTo>
                  <a:lnTo>
                    <a:pt x="0" y="631747"/>
                  </a:lnTo>
                  <a:lnTo>
                    <a:pt x="0" y="126352"/>
                  </a:ln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37"/>
            <p:cNvSpPr/>
            <p:nvPr/>
          </p:nvSpPr>
          <p:spPr>
            <a:xfrm>
              <a:off x="5200550" y="2478024"/>
              <a:ext cx="3007995" cy="758190"/>
            </a:xfrm>
            <a:custGeom>
              <a:rect b="b" l="l" r="r" t="t"/>
              <a:pathLst>
                <a:path extrusionOk="0" h="758189" w="3007995">
                  <a:moveTo>
                    <a:pt x="0" y="126352"/>
                  </a:move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lnTo>
                    <a:pt x="126352" y="758099"/>
                  </a:lnTo>
                  <a:lnTo>
                    <a:pt x="77170" y="748170"/>
                  </a:lnTo>
                  <a:lnTo>
                    <a:pt x="37007" y="721092"/>
                  </a:lnTo>
                  <a:lnTo>
                    <a:pt x="9929" y="680929"/>
                  </a:lnTo>
                  <a:lnTo>
                    <a:pt x="0" y="631747"/>
                  </a:lnTo>
                  <a:lnTo>
                    <a:pt x="0" y="126352"/>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37"/>
            <p:cNvSpPr/>
            <p:nvPr/>
          </p:nvSpPr>
          <p:spPr>
            <a:xfrm>
              <a:off x="6591799" y="2622024"/>
              <a:ext cx="1233805" cy="470534"/>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1" name="Google Shape;271;p37"/>
          <p:cNvSpPr txBox="1"/>
          <p:nvPr/>
        </p:nvSpPr>
        <p:spPr>
          <a:xfrm>
            <a:off x="6591799" y="2622025"/>
            <a:ext cx="1233900" cy="4704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272" name="Google Shape;272;p37"/>
          <p:cNvGrpSpPr/>
          <p:nvPr/>
        </p:nvGrpSpPr>
        <p:grpSpPr>
          <a:xfrm>
            <a:off x="1160649" y="2585949"/>
            <a:ext cx="1386205" cy="572770"/>
            <a:chOff x="1160649" y="2585949"/>
            <a:chExt cx="1386205" cy="572770"/>
          </a:xfrm>
        </p:grpSpPr>
        <p:sp>
          <p:nvSpPr>
            <p:cNvPr id="273" name="Google Shape;273;p37"/>
            <p:cNvSpPr/>
            <p:nvPr/>
          </p:nvSpPr>
          <p:spPr>
            <a:xfrm>
              <a:off x="1160649" y="2585949"/>
              <a:ext cx="1386205" cy="572770"/>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 name="Google Shape;274;p37"/>
            <p:cNvSpPr/>
            <p:nvPr/>
          </p:nvSpPr>
          <p:spPr>
            <a:xfrm>
              <a:off x="1160649" y="2585949"/>
              <a:ext cx="1386205" cy="572770"/>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5" name="Google Shape;275;p37"/>
          <p:cNvSpPr txBox="1"/>
          <p:nvPr/>
        </p:nvSpPr>
        <p:spPr>
          <a:xfrm>
            <a:off x="1539541" y="2747712"/>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276" name="Google Shape;276;p37"/>
          <p:cNvSpPr txBox="1"/>
          <p:nvPr/>
        </p:nvSpPr>
        <p:spPr>
          <a:xfrm>
            <a:off x="3089000" y="2639695"/>
            <a:ext cx="1155065"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 Request</a:t>
            </a:r>
            <a:endParaRPr b="0" i="0" sz="1000" u="none" cap="none" strike="noStrike">
              <a:solidFill>
                <a:srgbClr val="000000"/>
              </a:solidFill>
              <a:latin typeface="Trebuchet MS"/>
              <a:ea typeface="Trebuchet MS"/>
              <a:cs typeface="Trebuchet MS"/>
              <a:sym typeface="Trebuchet MS"/>
            </a:endParaRPr>
          </a:p>
        </p:txBody>
      </p:sp>
      <p:sp>
        <p:nvSpPr>
          <p:cNvPr id="277" name="Google Shape;277;p37"/>
          <p:cNvSpPr txBox="1"/>
          <p:nvPr/>
        </p:nvSpPr>
        <p:spPr>
          <a:xfrm>
            <a:off x="3089000" y="2944500"/>
            <a:ext cx="7494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IP:Port</a:t>
            </a:r>
            <a:endParaRPr b="0" i="0" sz="1000" u="none" cap="none" strike="noStrike">
              <a:solidFill>
                <a:srgbClr val="000000"/>
              </a:solidFill>
              <a:latin typeface="Trebuchet MS"/>
              <a:ea typeface="Trebuchet MS"/>
              <a:cs typeface="Trebuchet MS"/>
              <a:sym typeface="Trebuchet MS"/>
            </a:endParaRPr>
          </a:p>
        </p:txBody>
      </p:sp>
      <p:grpSp>
        <p:nvGrpSpPr>
          <p:cNvPr id="278" name="Google Shape;278;p37"/>
          <p:cNvGrpSpPr/>
          <p:nvPr/>
        </p:nvGrpSpPr>
        <p:grpSpPr>
          <a:xfrm>
            <a:off x="5420650" y="2687724"/>
            <a:ext cx="921385" cy="339090"/>
            <a:chOff x="5420650" y="2687724"/>
            <a:chExt cx="921385" cy="339090"/>
          </a:xfrm>
        </p:grpSpPr>
        <p:sp>
          <p:nvSpPr>
            <p:cNvPr id="279" name="Google Shape;279;p37"/>
            <p:cNvSpPr/>
            <p:nvPr/>
          </p:nvSpPr>
          <p:spPr>
            <a:xfrm>
              <a:off x="5420650" y="2687724"/>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p37"/>
            <p:cNvSpPr/>
            <p:nvPr/>
          </p:nvSpPr>
          <p:spPr>
            <a:xfrm>
              <a:off x="5420650" y="2687724"/>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1" name="Google Shape;281;p37"/>
          <p:cNvSpPr txBox="1"/>
          <p:nvPr/>
        </p:nvSpPr>
        <p:spPr>
          <a:xfrm>
            <a:off x="5605706" y="2686895"/>
            <a:ext cx="534035" cy="330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282" name="Google Shape;282;p37"/>
          <p:cNvGrpSpPr/>
          <p:nvPr/>
        </p:nvGrpSpPr>
        <p:grpSpPr>
          <a:xfrm>
            <a:off x="2546350" y="2841342"/>
            <a:ext cx="4045684" cy="31975"/>
            <a:chOff x="2546350" y="2841342"/>
            <a:chExt cx="4045684" cy="31975"/>
          </a:xfrm>
        </p:grpSpPr>
        <p:sp>
          <p:nvSpPr>
            <p:cNvPr id="283" name="Google Shape;283;p37"/>
            <p:cNvSpPr/>
            <p:nvPr/>
          </p:nvSpPr>
          <p:spPr>
            <a:xfrm>
              <a:off x="2546350" y="2857299"/>
              <a:ext cx="2860040" cy="15240"/>
            </a:xfrm>
            <a:custGeom>
              <a:rect b="b" l="l" r="r" t="t"/>
              <a:pathLst>
                <a:path extrusionOk="0" h="15239" w="2860040">
                  <a:moveTo>
                    <a:pt x="0" y="15000"/>
                  </a:moveTo>
                  <a:lnTo>
                    <a:pt x="285945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4" name="Google Shape;284;p37"/>
            <p:cNvSpPr/>
            <p:nvPr/>
          </p:nvSpPr>
          <p:spPr>
            <a:xfrm>
              <a:off x="5405718" y="2841567"/>
              <a:ext cx="43815" cy="31750"/>
            </a:xfrm>
            <a:custGeom>
              <a:rect b="b" l="l" r="r" t="t"/>
              <a:pathLst>
                <a:path extrusionOk="0" h="31750" w="43814">
                  <a:moveTo>
                    <a:pt x="164" y="31465"/>
                  </a:moveTo>
                  <a:lnTo>
                    <a:pt x="0" y="0"/>
                  </a:lnTo>
                  <a:lnTo>
                    <a:pt x="43307" y="15505"/>
                  </a:lnTo>
                  <a:lnTo>
                    <a:pt x="164"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5" name="Google Shape;285;p37"/>
            <p:cNvSpPr/>
            <p:nvPr/>
          </p:nvSpPr>
          <p:spPr>
            <a:xfrm>
              <a:off x="5405718" y="2841567"/>
              <a:ext cx="43815" cy="31750"/>
            </a:xfrm>
            <a:custGeom>
              <a:rect b="b" l="l" r="r" t="t"/>
              <a:pathLst>
                <a:path extrusionOk="0" h="31750" w="43814">
                  <a:moveTo>
                    <a:pt x="164" y="31465"/>
                  </a:moveTo>
                  <a:lnTo>
                    <a:pt x="43307" y="15505"/>
                  </a:lnTo>
                  <a:lnTo>
                    <a:pt x="0" y="0"/>
                  </a:lnTo>
                  <a:lnTo>
                    <a:pt x="164" y="3146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6" name="Google Shape;286;p37"/>
            <p:cNvSpPr/>
            <p:nvPr/>
          </p:nvSpPr>
          <p:spPr>
            <a:xfrm>
              <a:off x="6356449" y="2857075"/>
              <a:ext cx="235585"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7" name="Google Shape;287;p37"/>
            <p:cNvSpPr/>
            <p:nvPr/>
          </p:nvSpPr>
          <p:spPr>
            <a:xfrm>
              <a:off x="6313224" y="2841342"/>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8" name="Google Shape;288;p37"/>
            <p:cNvSpPr/>
            <p:nvPr/>
          </p:nvSpPr>
          <p:spPr>
            <a:xfrm>
              <a:off x="6313224" y="2841342"/>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9" name="Google Shape;289;p3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grpSp>
        <p:nvGrpSpPr>
          <p:cNvPr id="294" name="Google Shape;294;p38"/>
          <p:cNvGrpSpPr/>
          <p:nvPr/>
        </p:nvGrpSpPr>
        <p:grpSpPr>
          <a:xfrm>
            <a:off x="1160649" y="2585949"/>
            <a:ext cx="1386205" cy="572769"/>
            <a:chOff x="1160649" y="2585949"/>
            <a:chExt cx="1386205" cy="572769"/>
          </a:xfrm>
        </p:grpSpPr>
        <p:sp>
          <p:nvSpPr>
            <p:cNvPr id="295" name="Google Shape;295;p38"/>
            <p:cNvSpPr/>
            <p:nvPr/>
          </p:nvSpPr>
          <p:spPr>
            <a:xfrm>
              <a:off x="1160649" y="2585949"/>
              <a:ext cx="1386205" cy="572769"/>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38"/>
            <p:cNvSpPr/>
            <p:nvPr/>
          </p:nvSpPr>
          <p:spPr>
            <a:xfrm>
              <a:off x="1160649" y="2585949"/>
              <a:ext cx="1386205" cy="572769"/>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97" name="Google Shape;297;p38"/>
          <p:cNvSpPr txBox="1"/>
          <p:nvPr/>
        </p:nvSpPr>
        <p:spPr>
          <a:xfrm>
            <a:off x="1539541" y="2747712"/>
            <a:ext cx="6279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298" name="Google Shape;298;p38"/>
          <p:cNvSpPr txBox="1"/>
          <p:nvPr/>
        </p:nvSpPr>
        <p:spPr>
          <a:xfrm>
            <a:off x="3463950" y="3039120"/>
            <a:ext cx="6669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299" name="Google Shape;299;p38"/>
          <p:cNvGrpSpPr/>
          <p:nvPr/>
        </p:nvGrpSpPr>
        <p:grpSpPr>
          <a:xfrm>
            <a:off x="5241335" y="2457893"/>
            <a:ext cx="3007995" cy="814086"/>
            <a:chOff x="5241299" y="2175099"/>
            <a:chExt cx="3007995" cy="1394460"/>
          </a:xfrm>
        </p:grpSpPr>
        <p:sp>
          <p:nvSpPr>
            <p:cNvPr id="300" name="Google Shape;300;p38"/>
            <p:cNvSpPr/>
            <p:nvPr/>
          </p:nvSpPr>
          <p:spPr>
            <a:xfrm>
              <a:off x="5241299" y="2175099"/>
              <a:ext cx="3007995" cy="1394460"/>
            </a:xfrm>
            <a:custGeom>
              <a:rect b="b" l="l" r="r" t="t"/>
              <a:pathLst>
                <a:path extrusionOk="0" h="1394460" w="3007995">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 name="Google Shape;301;p38"/>
            <p:cNvSpPr/>
            <p:nvPr/>
          </p:nvSpPr>
          <p:spPr>
            <a:xfrm>
              <a:off x="5241299" y="2175099"/>
              <a:ext cx="3007995" cy="1394460"/>
            </a:xfrm>
            <a:custGeom>
              <a:rect b="b" l="l" r="r" t="t"/>
              <a:pathLst>
                <a:path extrusionOk="0" h="1394460" w="3007995">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2" name="Google Shape;302;p38"/>
            <p:cNvSpPr/>
            <p:nvPr/>
          </p:nvSpPr>
          <p:spPr>
            <a:xfrm>
              <a:off x="6632549" y="2319099"/>
              <a:ext cx="1233804" cy="470535"/>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3" name="Google Shape;303;p38"/>
          <p:cNvSpPr txBox="1"/>
          <p:nvPr/>
        </p:nvSpPr>
        <p:spPr>
          <a:xfrm>
            <a:off x="6632550" y="2623899"/>
            <a:ext cx="1233900" cy="4983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sp>
        <p:nvSpPr>
          <p:cNvPr id="304" name="Google Shape;304;p38"/>
          <p:cNvSpPr/>
          <p:nvPr/>
        </p:nvSpPr>
        <p:spPr>
          <a:xfrm>
            <a:off x="5461399" y="2780499"/>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5" name="Google Shape;305;p38"/>
          <p:cNvSpPr txBox="1"/>
          <p:nvPr/>
        </p:nvSpPr>
        <p:spPr>
          <a:xfrm>
            <a:off x="5663724" y="2809261"/>
            <a:ext cx="516900" cy="259200"/>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306" name="Google Shape;306;p38"/>
          <p:cNvSpPr/>
          <p:nvPr/>
        </p:nvSpPr>
        <p:spPr>
          <a:xfrm>
            <a:off x="2603325" y="2876575"/>
            <a:ext cx="2907931" cy="31648"/>
          </a:xfrm>
          <a:custGeom>
            <a:rect b="b" l="l" r="r" t="t"/>
            <a:pathLst>
              <a:path extrusionOk="0" h="226060" w="2900679">
                <a:moveTo>
                  <a:pt x="2900422" y="225666"/>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38"/>
          <p:cNvSpPr/>
          <p:nvPr/>
        </p:nvSpPr>
        <p:spPr>
          <a:xfrm>
            <a:off x="2560220" y="2860897"/>
            <a:ext cx="44450" cy="31750"/>
          </a:xfrm>
          <a:custGeom>
            <a:rect b="b" l="l" r="r" t="t"/>
            <a:pathLst>
              <a:path extrusionOk="0" h="31750" w="44450">
                <a:moveTo>
                  <a:pt x="41874" y="31370"/>
                </a:moveTo>
                <a:lnTo>
                  <a:pt x="0" y="12332"/>
                </a:lnTo>
                <a:lnTo>
                  <a:pt x="44315" y="0"/>
                </a:lnTo>
                <a:lnTo>
                  <a:pt x="41874" y="31370"/>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38"/>
          <p:cNvSpPr/>
          <p:nvPr/>
        </p:nvSpPr>
        <p:spPr>
          <a:xfrm>
            <a:off x="2560220" y="2860897"/>
            <a:ext cx="44450" cy="31750"/>
          </a:xfrm>
          <a:custGeom>
            <a:rect b="b" l="l" r="r" t="t"/>
            <a:pathLst>
              <a:path extrusionOk="0" h="31750" w="44450">
                <a:moveTo>
                  <a:pt x="44315" y="0"/>
                </a:moveTo>
                <a:lnTo>
                  <a:pt x="0" y="12332"/>
                </a:lnTo>
                <a:lnTo>
                  <a:pt x="41874" y="31370"/>
                </a:lnTo>
                <a:lnTo>
                  <a:pt x="4431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38"/>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Single threaded TCP server</a:t>
            </a:r>
            <a:endParaRPr sz="2800"/>
          </a:p>
        </p:txBody>
      </p:sp>
      <p:sp>
        <p:nvSpPr>
          <p:cNvPr id="310" name="Google Shape;310;p3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9"/>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grpSp>
        <p:nvGrpSpPr>
          <p:cNvPr id="316" name="Google Shape;316;p39"/>
          <p:cNvGrpSpPr/>
          <p:nvPr/>
        </p:nvGrpSpPr>
        <p:grpSpPr>
          <a:xfrm>
            <a:off x="5200550" y="2478024"/>
            <a:ext cx="3007995" cy="758189"/>
            <a:chOff x="5200550" y="2478024"/>
            <a:chExt cx="3007995" cy="758189"/>
          </a:xfrm>
        </p:grpSpPr>
        <p:sp>
          <p:nvSpPr>
            <p:cNvPr id="317" name="Google Shape;317;p39"/>
            <p:cNvSpPr/>
            <p:nvPr/>
          </p:nvSpPr>
          <p:spPr>
            <a:xfrm>
              <a:off x="5200550" y="2478024"/>
              <a:ext cx="3007995" cy="758189"/>
            </a:xfrm>
            <a:custGeom>
              <a:rect b="b" l="l" r="r" t="t"/>
              <a:pathLst>
                <a:path extrusionOk="0" h="758189" w="3007995">
                  <a:moveTo>
                    <a:pt x="2881447" y="758099"/>
                  </a:moveTo>
                  <a:lnTo>
                    <a:pt x="126352" y="758099"/>
                  </a:lnTo>
                  <a:lnTo>
                    <a:pt x="77170" y="748170"/>
                  </a:lnTo>
                  <a:lnTo>
                    <a:pt x="37007" y="721092"/>
                  </a:lnTo>
                  <a:lnTo>
                    <a:pt x="9929" y="680929"/>
                  </a:lnTo>
                  <a:lnTo>
                    <a:pt x="0" y="631747"/>
                  </a:lnTo>
                  <a:lnTo>
                    <a:pt x="0" y="126352"/>
                  </a:ln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39"/>
            <p:cNvSpPr/>
            <p:nvPr/>
          </p:nvSpPr>
          <p:spPr>
            <a:xfrm>
              <a:off x="5200550" y="2478024"/>
              <a:ext cx="3007995" cy="758189"/>
            </a:xfrm>
            <a:custGeom>
              <a:rect b="b" l="l" r="r" t="t"/>
              <a:pathLst>
                <a:path extrusionOk="0" h="758189" w="3007995">
                  <a:moveTo>
                    <a:pt x="0" y="126352"/>
                  </a:move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lnTo>
                    <a:pt x="126352" y="758099"/>
                  </a:lnTo>
                  <a:lnTo>
                    <a:pt x="77170" y="748170"/>
                  </a:lnTo>
                  <a:lnTo>
                    <a:pt x="37007" y="721092"/>
                  </a:lnTo>
                  <a:lnTo>
                    <a:pt x="9929" y="680929"/>
                  </a:lnTo>
                  <a:lnTo>
                    <a:pt x="0" y="631747"/>
                  </a:lnTo>
                  <a:lnTo>
                    <a:pt x="0" y="126352"/>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39"/>
            <p:cNvSpPr/>
            <p:nvPr/>
          </p:nvSpPr>
          <p:spPr>
            <a:xfrm>
              <a:off x="6591799" y="2622024"/>
              <a:ext cx="1233804" cy="470535"/>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0" name="Google Shape;320;p39"/>
          <p:cNvSpPr txBox="1"/>
          <p:nvPr/>
        </p:nvSpPr>
        <p:spPr>
          <a:xfrm>
            <a:off x="6591799" y="2622025"/>
            <a:ext cx="1233900" cy="4983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321" name="Google Shape;321;p39"/>
          <p:cNvGrpSpPr/>
          <p:nvPr/>
        </p:nvGrpSpPr>
        <p:grpSpPr>
          <a:xfrm>
            <a:off x="1160649" y="2585949"/>
            <a:ext cx="1386205" cy="572769"/>
            <a:chOff x="1160649" y="2585949"/>
            <a:chExt cx="1386205" cy="572769"/>
          </a:xfrm>
        </p:grpSpPr>
        <p:sp>
          <p:nvSpPr>
            <p:cNvPr id="322" name="Google Shape;322;p39"/>
            <p:cNvSpPr/>
            <p:nvPr/>
          </p:nvSpPr>
          <p:spPr>
            <a:xfrm>
              <a:off x="1160649" y="2585949"/>
              <a:ext cx="1386205" cy="572769"/>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39"/>
            <p:cNvSpPr/>
            <p:nvPr/>
          </p:nvSpPr>
          <p:spPr>
            <a:xfrm>
              <a:off x="1160649" y="2585949"/>
              <a:ext cx="1386205" cy="572769"/>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4" name="Google Shape;324;p39"/>
          <p:cNvSpPr txBox="1"/>
          <p:nvPr/>
        </p:nvSpPr>
        <p:spPr>
          <a:xfrm>
            <a:off x="1539541" y="2747712"/>
            <a:ext cx="6279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325" name="Google Shape;325;p39"/>
          <p:cNvSpPr txBox="1"/>
          <p:nvPr/>
        </p:nvSpPr>
        <p:spPr>
          <a:xfrm>
            <a:off x="3089000" y="2639695"/>
            <a:ext cx="11550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 Request</a:t>
            </a:r>
            <a:endParaRPr b="0" i="0" sz="1000" u="none" cap="none" strike="noStrike">
              <a:solidFill>
                <a:srgbClr val="000000"/>
              </a:solidFill>
              <a:latin typeface="Trebuchet MS"/>
              <a:ea typeface="Trebuchet MS"/>
              <a:cs typeface="Trebuchet MS"/>
              <a:sym typeface="Trebuchet MS"/>
            </a:endParaRPr>
          </a:p>
        </p:txBody>
      </p:sp>
      <p:sp>
        <p:nvSpPr>
          <p:cNvPr id="326" name="Google Shape;326;p39"/>
          <p:cNvSpPr txBox="1"/>
          <p:nvPr/>
        </p:nvSpPr>
        <p:spPr>
          <a:xfrm>
            <a:off x="3089000" y="2944500"/>
            <a:ext cx="6279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IP:Port</a:t>
            </a:r>
            <a:endParaRPr b="0" i="0" sz="1000" u="none" cap="none" strike="noStrike">
              <a:solidFill>
                <a:srgbClr val="000000"/>
              </a:solidFill>
              <a:latin typeface="Trebuchet MS"/>
              <a:ea typeface="Trebuchet MS"/>
              <a:cs typeface="Trebuchet MS"/>
              <a:sym typeface="Trebuchet MS"/>
            </a:endParaRPr>
          </a:p>
        </p:txBody>
      </p:sp>
      <p:grpSp>
        <p:nvGrpSpPr>
          <p:cNvPr id="327" name="Google Shape;327;p39"/>
          <p:cNvGrpSpPr/>
          <p:nvPr/>
        </p:nvGrpSpPr>
        <p:grpSpPr>
          <a:xfrm>
            <a:off x="5420650" y="2687724"/>
            <a:ext cx="921385" cy="339089"/>
            <a:chOff x="5420650" y="2687724"/>
            <a:chExt cx="921385" cy="339089"/>
          </a:xfrm>
        </p:grpSpPr>
        <p:sp>
          <p:nvSpPr>
            <p:cNvPr id="328" name="Google Shape;328;p39"/>
            <p:cNvSpPr/>
            <p:nvPr/>
          </p:nvSpPr>
          <p:spPr>
            <a:xfrm>
              <a:off x="5420650" y="2687724"/>
              <a:ext cx="921385" cy="339089"/>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39"/>
            <p:cNvSpPr/>
            <p:nvPr/>
          </p:nvSpPr>
          <p:spPr>
            <a:xfrm>
              <a:off x="5420650" y="2687724"/>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0" name="Google Shape;330;p39"/>
          <p:cNvSpPr txBox="1"/>
          <p:nvPr/>
        </p:nvSpPr>
        <p:spPr>
          <a:xfrm>
            <a:off x="5605706" y="2686895"/>
            <a:ext cx="534000" cy="3207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331" name="Google Shape;331;p39"/>
          <p:cNvGrpSpPr/>
          <p:nvPr/>
        </p:nvGrpSpPr>
        <p:grpSpPr>
          <a:xfrm>
            <a:off x="2546350" y="2841342"/>
            <a:ext cx="4045683" cy="31975"/>
            <a:chOff x="2546350" y="2841342"/>
            <a:chExt cx="4045683" cy="31975"/>
          </a:xfrm>
        </p:grpSpPr>
        <p:sp>
          <p:nvSpPr>
            <p:cNvPr id="332" name="Google Shape;332;p39"/>
            <p:cNvSpPr/>
            <p:nvPr/>
          </p:nvSpPr>
          <p:spPr>
            <a:xfrm>
              <a:off x="2546350" y="2857299"/>
              <a:ext cx="2860040" cy="15239"/>
            </a:xfrm>
            <a:custGeom>
              <a:rect b="b" l="l" r="r" t="t"/>
              <a:pathLst>
                <a:path extrusionOk="0" h="15239" w="2860040">
                  <a:moveTo>
                    <a:pt x="0" y="15000"/>
                  </a:moveTo>
                  <a:lnTo>
                    <a:pt x="285945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39"/>
            <p:cNvSpPr/>
            <p:nvPr/>
          </p:nvSpPr>
          <p:spPr>
            <a:xfrm>
              <a:off x="5405718" y="2841567"/>
              <a:ext cx="43814" cy="31750"/>
            </a:xfrm>
            <a:custGeom>
              <a:rect b="b" l="l" r="r" t="t"/>
              <a:pathLst>
                <a:path extrusionOk="0" h="31750" w="43814">
                  <a:moveTo>
                    <a:pt x="164" y="31465"/>
                  </a:moveTo>
                  <a:lnTo>
                    <a:pt x="0" y="0"/>
                  </a:lnTo>
                  <a:lnTo>
                    <a:pt x="43307" y="15505"/>
                  </a:lnTo>
                  <a:lnTo>
                    <a:pt x="164"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39"/>
            <p:cNvSpPr/>
            <p:nvPr/>
          </p:nvSpPr>
          <p:spPr>
            <a:xfrm>
              <a:off x="5405718" y="2841567"/>
              <a:ext cx="43814" cy="31750"/>
            </a:xfrm>
            <a:custGeom>
              <a:rect b="b" l="l" r="r" t="t"/>
              <a:pathLst>
                <a:path extrusionOk="0" h="31750" w="43814">
                  <a:moveTo>
                    <a:pt x="164" y="31465"/>
                  </a:moveTo>
                  <a:lnTo>
                    <a:pt x="43307" y="15505"/>
                  </a:lnTo>
                  <a:lnTo>
                    <a:pt x="0" y="0"/>
                  </a:lnTo>
                  <a:lnTo>
                    <a:pt x="164" y="3146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39"/>
            <p:cNvSpPr/>
            <p:nvPr/>
          </p:nvSpPr>
          <p:spPr>
            <a:xfrm>
              <a:off x="6356449" y="2857075"/>
              <a:ext cx="235584"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39"/>
            <p:cNvSpPr/>
            <p:nvPr/>
          </p:nvSpPr>
          <p:spPr>
            <a:xfrm>
              <a:off x="6313224" y="2841342"/>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39"/>
            <p:cNvSpPr/>
            <p:nvPr/>
          </p:nvSpPr>
          <p:spPr>
            <a:xfrm>
              <a:off x="6313224" y="2841342"/>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8" name="Google Shape;338;p3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grpSp>
        <p:nvGrpSpPr>
          <p:cNvPr id="343" name="Google Shape;343;p40"/>
          <p:cNvGrpSpPr/>
          <p:nvPr/>
        </p:nvGrpSpPr>
        <p:grpSpPr>
          <a:xfrm>
            <a:off x="1160649" y="2585949"/>
            <a:ext cx="1386205" cy="572769"/>
            <a:chOff x="1160649" y="2585949"/>
            <a:chExt cx="1386205" cy="572769"/>
          </a:xfrm>
        </p:grpSpPr>
        <p:sp>
          <p:nvSpPr>
            <p:cNvPr id="344" name="Google Shape;344;p40"/>
            <p:cNvSpPr/>
            <p:nvPr/>
          </p:nvSpPr>
          <p:spPr>
            <a:xfrm>
              <a:off x="1160649" y="2585949"/>
              <a:ext cx="1386205" cy="572769"/>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p40"/>
            <p:cNvSpPr/>
            <p:nvPr/>
          </p:nvSpPr>
          <p:spPr>
            <a:xfrm>
              <a:off x="1160649" y="2585949"/>
              <a:ext cx="1386205" cy="572769"/>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46" name="Google Shape;346;p40"/>
          <p:cNvSpPr txBox="1"/>
          <p:nvPr/>
        </p:nvSpPr>
        <p:spPr>
          <a:xfrm>
            <a:off x="1539541" y="2747712"/>
            <a:ext cx="6279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347" name="Google Shape;347;p40"/>
          <p:cNvSpPr txBox="1"/>
          <p:nvPr/>
        </p:nvSpPr>
        <p:spPr>
          <a:xfrm>
            <a:off x="3463950" y="3039120"/>
            <a:ext cx="6669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348" name="Google Shape;348;p40"/>
          <p:cNvGrpSpPr/>
          <p:nvPr/>
        </p:nvGrpSpPr>
        <p:grpSpPr>
          <a:xfrm>
            <a:off x="5241299" y="2175099"/>
            <a:ext cx="3007995" cy="1394460"/>
            <a:chOff x="5241299" y="2175099"/>
            <a:chExt cx="3007995" cy="1394460"/>
          </a:xfrm>
        </p:grpSpPr>
        <p:sp>
          <p:nvSpPr>
            <p:cNvPr id="349" name="Google Shape;349;p40"/>
            <p:cNvSpPr/>
            <p:nvPr/>
          </p:nvSpPr>
          <p:spPr>
            <a:xfrm>
              <a:off x="5241299" y="2175099"/>
              <a:ext cx="3007995" cy="1394460"/>
            </a:xfrm>
            <a:custGeom>
              <a:rect b="b" l="l" r="r" t="t"/>
              <a:pathLst>
                <a:path extrusionOk="0" h="1394460" w="3007995">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0" name="Google Shape;350;p40"/>
            <p:cNvSpPr/>
            <p:nvPr/>
          </p:nvSpPr>
          <p:spPr>
            <a:xfrm>
              <a:off x="5241299" y="2175099"/>
              <a:ext cx="3007995" cy="1394460"/>
            </a:xfrm>
            <a:custGeom>
              <a:rect b="b" l="l" r="r" t="t"/>
              <a:pathLst>
                <a:path extrusionOk="0" h="1394460" w="3007995">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40"/>
            <p:cNvSpPr/>
            <p:nvPr/>
          </p:nvSpPr>
          <p:spPr>
            <a:xfrm>
              <a:off x="6632549" y="2319099"/>
              <a:ext cx="1233804" cy="470535"/>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2" name="Google Shape;352;p40"/>
          <p:cNvSpPr txBox="1"/>
          <p:nvPr/>
        </p:nvSpPr>
        <p:spPr>
          <a:xfrm>
            <a:off x="6632550" y="2319099"/>
            <a:ext cx="1233900" cy="4983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353" name="Google Shape;353;p40"/>
          <p:cNvGrpSpPr/>
          <p:nvPr/>
        </p:nvGrpSpPr>
        <p:grpSpPr>
          <a:xfrm>
            <a:off x="5461399" y="2384799"/>
            <a:ext cx="921385" cy="339089"/>
            <a:chOff x="5461399" y="2384799"/>
            <a:chExt cx="921385" cy="339089"/>
          </a:xfrm>
        </p:grpSpPr>
        <p:sp>
          <p:nvSpPr>
            <p:cNvPr id="354" name="Google Shape;354;p40"/>
            <p:cNvSpPr/>
            <p:nvPr/>
          </p:nvSpPr>
          <p:spPr>
            <a:xfrm>
              <a:off x="5461399" y="2384799"/>
              <a:ext cx="921385" cy="339089"/>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5" name="Google Shape;355;p40"/>
            <p:cNvSpPr/>
            <p:nvPr/>
          </p:nvSpPr>
          <p:spPr>
            <a:xfrm>
              <a:off x="5461399" y="2384799"/>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6" name="Google Shape;356;p40"/>
          <p:cNvSpPr txBox="1"/>
          <p:nvPr/>
        </p:nvSpPr>
        <p:spPr>
          <a:xfrm>
            <a:off x="5655113" y="2383970"/>
            <a:ext cx="534000" cy="320700"/>
          </a:xfrm>
          <a:prstGeom prst="rect">
            <a:avLst/>
          </a:prstGeom>
          <a:noFill/>
          <a:ln>
            <a:noFill/>
          </a:ln>
        </p:spPr>
        <p:txBody>
          <a:bodyPr anchorCtr="0" anchor="t" bIns="0" lIns="0" spcFirstLastPara="1" rIns="0" wrap="square" tIns="12700">
            <a:spAutoFit/>
          </a:bodyPr>
          <a:lstStyle/>
          <a:p>
            <a:pPr indent="-60325" lvl="0" marL="7239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357" name="Google Shape;357;p40"/>
          <p:cNvGrpSpPr/>
          <p:nvPr/>
        </p:nvGrpSpPr>
        <p:grpSpPr>
          <a:xfrm>
            <a:off x="5461399" y="2538417"/>
            <a:ext cx="2204150" cy="733571"/>
            <a:chOff x="5461399" y="2538417"/>
            <a:chExt cx="2204150" cy="733571"/>
          </a:xfrm>
        </p:grpSpPr>
        <p:sp>
          <p:nvSpPr>
            <p:cNvPr id="358" name="Google Shape;358;p40"/>
            <p:cNvSpPr/>
            <p:nvPr/>
          </p:nvSpPr>
          <p:spPr>
            <a:xfrm>
              <a:off x="6397199" y="2554149"/>
              <a:ext cx="235584"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40"/>
            <p:cNvSpPr/>
            <p:nvPr/>
          </p:nvSpPr>
          <p:spPr>
            <a:xfrm>
              <a:off x="6353974" y="253841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40"/>
            <p:cNvSpPr/>
            <p:nvPr/>
          </p:nvSpPr>
          <p:spPr>
            <a:xfrm>
              <a:off x="6353974" y="253841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p40"/>
            <p:cNvSpPr/>
            <p:nvPr/>
          </p:nvSpPr>
          <p:spPr>
            <a:xfrm>
              <a:off x="6833699" y="2935149"/>
              <a:ext cx="831850" cy="334645"/>
            </a:xfrm>
            <a:custGeom>
              <a:rect b="b" l="l" r="r" t="t"/>
              <a:pathLst>
                <a:path extrusionOk="0" h="334645"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40"/>
            <p:cNvSpPr/>
            <p:nvPr/>
          </p:nvSpPr>
          <p:spPr>
            <a:xfrm>
              <a:off x="6833699" y="2935149"/>
              <a:ext cx="831850" cy="334645"/>
            </a:xfrm>
            <a:custGeom>
              <a:rect b="b" l="l" r="r" t="t"/>
              <a:pathLst>
                <a:path extrusionOk="0" h="334645"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40"/>
            <p:cNvSpPr/>
            <p:nvPr/>
          </p:nvSpPr>
          <p:spPr>
            <a:xfrm>
              <a:off x="5461399" y="2932899"/>
              <a:ext cx="921385" cy="339089"/>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40"/>
            <p:cNvSpPr/>
            <p:nvPr/>
          </p:nvSpPr>
          <p:spPr>
            <a:xfrm>
              <a:off x="5461399" y="2932899"/>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65" name="Google Shape;365;p40"/>
          <p:cNvSpPr txBox="1"/>
          <p:nvPr/>
        </p:nvSpPr>
        <p:spPr>
          <a:xfrm>
            <a:off x="5663724" y="2961661"/>
            <a:ext cx="516900" cy="259200"/>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366" name="Google Shape;366;p40"/>
          <p:cNvSpPr/>
          <p:nvPr/>
        </p:nvSpPr>
        <p:spPr>
          <a:xfrm>
            <a:off x="2603315" y="2876583"/>
            <a:ext cx="2900679" cy="226060"/>
          </a:xfrm>
          <a:custGeom>
            <a:rect b="b" l="l" r="r" t="t"/>
            <a:pathLst>
              <a:path extrusionOk="0" h="226060" w="2900679">
                <a:moveTo>
                  <a:pt x="2900422" y="225666"/>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40"/>
          <p:cNvSpPr/>
          <p:nvPr/>
        </p:nvSpPr>
        <p:spPr>
          <a:xfrm>
            <a:off x="2560220" y="2860897"/>
            <a:ext cx="44450" cy="31750"/>
          </a:xfrm>
          <a:custGeom>
            <a:rect b="b" l="l" r="r" t="t"/>
            <a:pathLst>
              <a:path extrusionOk="0" h="31750" w="44450">
                <a:moveTo>
                  <a:pt x="41874" y="31370"/>
                </a:moveTo>
                <a:lnTo>
                  <a:pt x="0" y="12332"/>
                </a:lnTo>
                <a:lnTo>
                  <a:pt x="44315" y="0"/>
                </a:lnTo>
                <a:lnTo>
                  <a:pt x="41874" y="31370"/>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40"/>
          <p:cNvSpPr/>
          <p:nvPr/>
        </p:nvSpPr>
        <p:spPr>
          <a:xfrm>
            <a:off x="2560220" y="2860897"/>
            <a:ext cx="44450" cy="31750"/>
          </a:xfrm>
          <a:custGeom>
            <a:rect b="b" l="l" r="r" t="t"/>
            <a:pathLst>
              <a:path extrusionOk="0" h="31750" w="44450">
                <a:moveTo>
                  <a:pt x="44315" y="0"/>
                </a:moveTo>
                <a:lnTo>
                  <a:pt x="0" y="12332"/>
                </a:lnTo>
                <a:lnTo>
                  <a:pt x="41874" y="31370"/>
                </a:lnTo>
                <a:lnTo>
                  <a:pt x="4431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40"/>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sp>
        <p:nvSpPr>
          <p:cNvPr id="370" name="Google Shape;370;p40"/>
          <p:cNvSpPr txBox="1"/>
          <p:nvPr/>
        </p:nvSpPr>
        <p:spPr>
          <a:xfrm>
            <a:off x="6968849" y="30163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sp>
        <p:nvSpPr>
          <p:cNvPr id="371" name="Google Shape;371;p40"/>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cxnSp>
        <p:nvCxnSpPr>
          <p:cNvPr id="372" name="Google Shape;372;p40"/>
          <p:cNvCxnSpPr/>
          <p:nvPr/>
        </p:nvCxnSpPr>
        <p:spPr>
          <a:xfrm rot="10800000">
            <a:off x="6339400" y="3123100"/>
            <a:ext cx="4815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41"/>
          <p:cNvGrpSpPr/>
          <p:nvPr/>
        </p:nvGrpSpPr>
        <p:grpSpPr>
          <a:xfrm>
            <a:off x="5241299" y="2175099"/>
            <a:ext cx="3007995" cy="1394460"/>
            <a:chOff x="5241299" y="2175099"/>
            <a:chExt cx="3007995" cy="1394460"/>
          </a:xfrm>
        </p:grpSpPr>
        <p:sp>
          <p:nvSpPr>
            <p:cNvPr id="378" name="Google Shape;378;p41"/>
            <p:cNvSpPr/>
            <p:nvPr/>
          </p:nvSpPr>
          <p:spPr>
            <a:xfrm>
              <a:off x="5241299" y="2175099"/>
              <a:ext cx="3007995" cy="1394460"/>
            </a:xfrm>
            <a:custGeom>
              <a:rect b="b" l="l" r="r" t="t"/>
              <a:pathLst>
                <a:path extrusionOk="0" h="1394460" w="3007995">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41"/>
            <p:cNvSpPr/>
            <p:nvPr/>
          </p:nvSpPr>
          <p:spPr>
            <a:xfrm>
              <a:off x="5241299" y="2175099"/>
              <a:ext cx="3007995" cy="1394460"/>
            </a:xfrm>
            <a:custGeom>
              <a:rect b="b" l="l" r="r" t="t"/>
              <a:pathLst>
                <a:path extrusionOk="0" h="1394460" w="3007995">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41"/>
            <p:cNvSpPr/>
            <p:nvPr/>
          </p:nvSpPr>
          <p:spPr>
            <a:xfrm>
              <a:off x="6632549" y="2319099"/>
              <a:ext cx="1233805" cy="470534"/>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1" name="Google Shape;381;p41"/>
          <p:cNvSpPr txBox="1"/>
          <p:nvPr/>
        </p:nvSpPr>
        <p:spPr>
          <a:xfrm>
            <a:off x="6632550" y="2319099"/>
            <a:ext cx="1233805" cy="470534"/>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382" name="Google Shape;382;p41"/>
          <p:cNvGrpSpPr/>
          <p:nvPr/>
        </p:nvGrpSpPr>
        <p:grpSpPr>
          <a:xfrm>
            <a:off x="1103599" y="2932900"/>
            <a:ext cx="1386205" cy="572770"/>
            <a:chOff x="1103599" y="2932900"/>
            <a:chExt cx="1386205" cy="572770"/>
          </a:xfrm>
        </p:grpSpPr>
        <p:sp>
          <p:nvSpPr>
            <p:cNvPr id="383" name="Google Shape;383;p41"/>
            <p:cNvSpPr/>
            <p:nvPr/>
          </p:nvSpPr>
          <p:spPr>
            <a:xfrm>
              <a:off x="1103599" y="2932900"/>
              <a:ext cx="1386205" cy="572770"/>
            </a:xfrm>
            <a:custGeom>
              <a:rect b="b" l="l" r="r" t="t"/>
              <a:pathLst>
                <a:path extrusionOk="0" h="572770"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41"/>
            <p:cNvSpPr/>
            <p:nvPr/>
          </p:nvSpPr>
          <p:spPr>
            <a:xfrm>
              <a:off x="1103599" y="2932900"/>
              <a:ext cx="1386205" cy="572770"/>
            </a:xfrm>
            <a:custGeom>
              <a:rect b="b" l="l" r="r" t="t"/>
              <a:pathLst>
                <a:path extrusionOk="0" h="572770"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 name="Google Shape;385;p41"/>
          <p:cNvSpPr txBox="1"/>
          <p:nvPr/>
        </p:nvSpPr>
        <p:spPr>
          <a:xfrm>
            <a:off x="1482491" y="309466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386" name="Google Shape;386;p41"/>
          <p:cNvSpPr txBox="1"/>
          <p:nvPr/>
        </p:nvSpPr>
        <p:spPr>
          <a:xfrm>
            <a:off x="3522674" y="3234845"/>
            <a:ext cx="66675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387" name="Google Shape;387;p41"/>
          <p:cNvGrpSpPr/>
          <p:nvPr/>
        </p:nvGrpSpPr>
        <p:grpSpPr>
          <a:xfrm>
            <a:off x="5461399" y="2384799"/>
            <a:ext cx="921385" cy="339090"/>
            <a:chOff x="5461399" y="2384799"/>
            <a:chExt cx="921385" cy="339090"/>
          </a:xfrm>
        </p:grpSpPr>
        <p:sp>
          <p:nvSpPr>
            <p:cNvPr id="388" name="Google Shape;388;p41"/>
            <p:cNvSpPr/>
            <p:nvPr/>
          </p:nvSpPr>
          <p:spPr>
            <a:xfrm>
              <a:off x="5461399" y="238479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9" name="Google Shape;389;p41"/>
            <p:cNvSpPr/>
            <p:nvPr/>
          </p:nvSpPr>
          <p:spPr>
            <a:xfrm>
              <a:off x="5461399" y="238479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0" name="Google Shape;390;p41"/>
          <p:cNvSpPr txBox="1"/>
          <p:nvPr/>
        </p:nvSpPr>
        <p:spPr>
          <a:xfrm>
            <a:off x="5655113" y="2383970"/>
            <a:ext cx="534035" cy="330200"/>
          </a:xfrm>
          <a:prstGeom prst="rect">
            <a:avLst/>
          </a:prstGeom>
          <a:noFill/>
          <a:ln>
            <a:noFill/>
          </a:ln>
        </p:spPr>
        <p:txBody>
          <a:bodyPr anchorCtr="0" anchor="t" bIns="0" lIns="0" spcFirstLastPara="1" rIns="0" wrap="square" tIns="12700">
            <a:spAutoFit/>
          </a:bodyPr>
          <a:lstStyle/>
          <a:p>
            <a:pPr indent="-60325" lvl="0" marL="7239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391" name="Google Shape;391;p41"/>
          <p:cNvGrpSpPr/>
          <p:nvPr/>
        </p:nvGrpSpPr>
        <p:grpSpPr>
          <a:xfrm>
            <a:off x="5461399" y="2538417"/>
            <a:ext cx="2204150" cy="733572"/>
            <a:chOff x="5461399" y="2538417"/>
            <a:chExt cx="2204150" cy="733572"/>
          </a:xfrm>
        </p:grpSpPr>
        <p:sp>
          <p:nvSpPr>
            <p:cNvPr id="392" name="Google Shape;392;p41"/>
            <p:cNvSpPr/>
            <p:nvPr/>
          </p:nvSpPr>
          <p:spPr>
            <a:xfrm>
              <a:off x="6397199" y="2554149"/>
              <a:ext cx="235585"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 name="Google Shape;393;p41"/>
            <p:cNvSpPr/>
            <p:nvPr/>
          </p:nvSpPr>
          <p:spPr>
            <a:xfrm>
              <a:off x="6353974" y="2538417"/>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41"/>
            <p:cNvSpPr/>
            <p:nvPr/>
          </p:nvSpPr>
          <p:spPr>
            <a:xfrm>
              <a:off x="6353974" y="2538417"/>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41"/>
            <p:cNvSpPr/>
            <p:nvPr/>
          </p:nvSpPr>
          <p:spPr>
            <a:xfrm>
              <a:off x="6833699" y="2935149"/>
              <a:ext cx="831850" cy="334645"/>
            </a:xfrm>
            <a:custGeom>
              <a:rect b="b" l="l" r="r" t="t"/>
              <a:pathLst>
                <a:path extrusionOk="0" h="334645"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 name="Google Shape;396;p41"/>
            <p:cNvSpPr/>
            <p:nvPr/>
          </p:nvSpPr>
          <p:spPr>
            <a:xfrm>
              <a:off x="6833699" y="2935149"/>
              <a:ext cx="831850" cy="334645"/>
            </a:xfrm>
            <a:custGeom>
              <a:rect b="b" l="l" r="r" t="t"/>
              <a:pathLst>
                <a:path extrusionOk="0" h="334645"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41"/>
            <p:cNvSpPr/>
            <p:nvPr/>
          </p:nvSpPr>
          <p:spPr>
            <a:xfrm>
              <a:off x="5461399" y="293289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41"/>
            <p:cNvSpPr/>
            <p:nvPr/>
          </p:nvSpPr>
          <p:spPr>
            <a:xfrm>
              <a:off x="5461399" y="293289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9" name="Google Shape;399;p41"/>
          <p:cNvSpPr txBox="1"/>
          <p:nvPr/>
        </p:nvSpPr>
        <p:spPr>
          <a:xfrm>
            <a:off x="5663724" y="2961661"/>
            <a:ext cx="516890" cy="271145"/>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grpSp>
        <p:nvGrpSpPr>
          <p:cNvPr id="400" name="Google Shape;400;p41"/>
          <p:cNvGrpSpPr/>
          <p:nvPr/>
        </p:nvGrpSpPr>
        <p:grpSpPr>
          <a:xfrm>
            <a:off x="1103599" y="2267799"/>
            <a:ext cx="4400675" cy="965263"/>
            <a:chOff x="1103599" y="2267799"/>
            <a:chExt cx="4400675" cy="965263"/>
          </a:xfrm>
        </p:grpSpPr>
        <p:sp>
          <p:nvSpPr>
            <p:cNvPr id="401" name="Google Shape;401;p41"/>
            <p:cNvSpPr/>
            <p:nvPr/>
          </p:nvSpPr>
          <p:spPr>
            <a:xfrm>
              <a:off x="2546444" y="3102249"/>
              <a:ext cx="2957830" cy="114935"/>
            </a:xfrm>
            <a:custGeom>
              <a:rect b="b" l="l" r="r" t="t"/>
              <a:pathLst>
                <a:path extrusionOk="0" h="114935" w="2957829">
                  <a:moveTo>
                    <a:pt x="2957292" y="0"/>
                  </a:moveTo>
                  <a:lnTo>
                    <a:pt x="0" y="114783"/>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 name="Google Shape;402;p41"/>
            <p:cNvSpPr/>
            <p:nvPr/>
          </p:nvSpPr>
          <p:spPr>
            <a:xfrm>
              <a:off x="2503251" y="3201312"/>
              <a:ext cx="43815" cy="31750"/>
            </a:xfrm>
            <a:custGeom>
              <a:rect b="b" l="l" r="r" t="t"/>
              <a:pathLst>
                <a:path extrusionOk="0" h="31750" w="43814">
                  <a:moveTo>
                    <a:pt x="43803" y="31441"/>
                  </a:moveTo>
                  <a:lnTo>
                    <a:pt x="0" y="17397"/>
                  </a:lnTo>
                  <a:lnTo>
                    <a:pt x="42582" y="0"/>
                  </a:lnTo>
                  <a:lnTo>
                    <a:pt x="43803" y="31441"/>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41"/>
            <p:cNvSpPr/>
            <p:nvPr/>
          </p:nvSpPr>
          <p:spPr>
            <a:xfrm>
              <a:off x="2503251" y="3201312"/>
              <a:ext cx="43815" cy="31750"/>
            </a:xfrm>
            <a:custGeom>
              <a:rect b="b" l="l" r="r" t="t"/>
              <a:pathLst>
                <a:path extrusionOk="0" h="31750" w="43814">
                  <a:moveTo>
                    <a:pt x="42582" y="0"/>
                  </a:moveTo>
                  <a:lnTo>
                    <a:pt x="0" y="17397"/>
                  </a:lnTo>
                  <a:lnTo>
                    <a:pt x="43803" y="31441"/>
                  </a:lnTo>
                  <a:lnTo>
                    <a:pt x="42582"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41"/>
            <p:cNvSpPr/>
            <p:nvPr/>
          </p:nvSpPr>
          <p:spPr>
            <a:xfrm>
              <a:off x="1103599" y="2267799"/>
              <a:ext cx="1386205" cy="572770"/>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41"/>
            <p:cNvSpPr/>
            <p:nvPr/>
          </p:nvSpPr>
          <p:spPr>
            <a:xfrm>
              <a:off x="1103599" y="2267799"/>
              <a:ext cx="1386205" cy="572770"/>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6" name="Google Shape;406;p41"/>
          <p:cNvSpPr txBox="1"/>
          <p:nvPr/>
        </p:nvSpPr>
        <p:spPr>
          <a:xfrm>
            <a:off x="1482491" y="242956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2</a:t>
            </a:r>
            <a:endParaRPr b="0" i="0" sz="1400" u="none" cap="none" strike="noStrike">
              <a:solidFill>
                <a:srgbClr val="000000"/>
              </a:solidFill>
              <a:latin typeface="Arial"/>
              <a:ea typeface="Arial"/>
              <a:cs typeface="Arial"/>
              <a:sym typeface="Arial"/>
            </a:endParaRPr>
          </a:p>
        </p:txBody>
      </p:sp>
      <p:grpSp>
        <p:nvGrpSpPr>
          <p:cNvPr id="407" name="Google Shape;407;p41"/>
          <p:cNvGrpSpPr/>
          <p:nvPr/>
        </p:nvGrpSpPr>
        <p:grpSpPr>
          <a:xfrm>
            <a:off x="2489299" y="2538417"/>
            <a:ext cx="3001065" cy="31750"/>
            <a:chOff x="2489299" y="2538417"/>
            <a:chExt cx="3001065" cy="31750"/>
          </a:xfrm>
        </p:grpSpPr>
        <p:sp>
          <p:nvSpPr>
            <p:cNvPr id="408" name="Google Shape;408;p41"/>
            <p:cNvSpPr/>
            <p:nvPr/>
          </p:nvSpPr>
          <p:spPr>
            <a:xfrm>
              <a:off x="2489299" y="2554149"/>
              <a:ext cx="2957830" cy="0"/>
            </a:xfrm>
            <a:custGeom>
              <a:rect b="b" l="l" r="r" t="t"/>
              <a:pathLst>
                <a:path extrusionOk="0" h="120000" w="2957829">
                  <a:moveTo>
                    <a:pt x="0" y="0"/>
                  </a:moveTo>
                  <a:lnTo>
                    <a:pt x="2957249"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41"/>
            <p:cNvSpPr/>
            <p:nvPr/>
          </p:nvSpPr>
          <p:spPr>
            <a:xfrm>
              <a:off x="5446549" y="2538417"/>
              <a:ext cx="43815" cy="31750"/>
            </a:xfrm>
            <a:custGeom>
              <a:rect b="b" l="l" r="r" t="t"/>
              <a:pathLst>
                <a:path extrusionOk="0" h="31750" w="43814">
                  <a:moveTo>
                    <a:pt x="0" y="31465"/>
                  </a:moveTo>
                  <a:lnTo>
                    <a:pt x="0" y="0"/>
                  </a:lnTo>
                  <a:lnTo>
                    <a:pt x="43225" y="15732"/>
                  </a:lnTo>
                  <a:lnTo>
                    <a:pt x="0"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41"/>
            <p:cNvSpPr/>
            <p:nvPr/>
          </p:nvSpPr>
          <p:spPr>
            <a:xfrm>
              <a:off x="5446549" y="2538417"/>
              <a:ext cx="43815" cy="31750"/>
            </a:xfrm>
            <a:custGeom>
              <a:rect b="b" l="l" r="r" t="t"/>
              <a:pathLst>
                <a:path extrusionOk="0" h="31750" w="43814">
                  <a:moveTo>
                    <a:pt x="0" y="31465"/>
                  </a:moveTo>
                  <a:lnTo>
                    <a:pt x="43225" y="15732"/>
                  </a:lnTo>
                  <a:lnTo>
                    <a:pt x="0" y="0"/>
                  </a:lnTo>
                  <a:lnTo>
                    <a:pt x="0" y="3146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1" name="Google Shape;411;p41"/>
          <p:cNvSpPr txBox="1"/>
          <p:nvPr/>
        </p:nvSpPr>
        <p:spPr>
          <a:xfrm>
            <a:off x="3113449" y="2335745"/>
            <a:ext cx="1155065"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 Request</a:t>
            </a:r>
            <a:endParaRPr b="0" i="0" sz="1000" u="none" cap="none" strike="noStrike">
              <a:solidFill>
                <a:srgbClr val="000000"/>
              </a:solidFill>
              <a:latin typeface="Trebuchet MS"/>
              <a:ea typeface="Trebuchet MS"/>
              <a:cs typeface="Trebuchet MS"/>
              <a:sym typeface="Trebuchet MS"/>
            </a:endParaRPr>
          </a:p>
        </p:txBody>
      </p:sp>
      <p:sp>
        <p:nvSpPr>
          <p:cNvPr id="412" name="Google Shape;412;p41"/>
          <p:cNvSpPr txBox="1"/>
          <p:nvPr/>
        </p:nvSpPr>
        <p:spPr>
          <a:xfrm>
            <a:off x="3113450" y="2640550"/>
            <a:ext cx="5340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IP:Port</a:t>
            </a:r>
            <a:endParaRPr b="0" i="0" sz="1000" u="none" cap="none" strike="noStrike">
              <a:solidFill>
                <a:srgbClr val="000000"/>
              </a:solidFill>
              <a:latin typeface="Trebuchet MS"/>
              <a:ea typeface="Trebuchet MS"/>
              <a:cs typeface="Trebuchet MS"/>
              <a:sym typeface="Trebuchet MS"/>
            </a:endParaRPr>
          </a:p>
        </p:txBody>
      </p:sp>
      <p:sp>
        <p:nvSpPr>
          <p:cNvPr id="413" name="Google Shape;413;p41"/>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sp>
        <p:nvSpPr>
          <p:cNvPr id="414" name="Google Shape;414;p41"/>
          <p:cNvSpPr txBox="1"/>
          <p:nvPr/>
        </p:nvSpPr>
        <p:spPr>
          <a:xfrm>
            <a:off x="6968849" y="30163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sp>
        <p:nvSpPr>
          <p:cNvPr id="415" name="Google Shape;415;p4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cxnSp>
        <p:nvCxnSpPr>
          <p:cNvPr id="416" name="Google Shape;416;p41"/>
          <p:cNvCxnSpPr/>
          <p:nvPr/>
        </p:nvCxnSpPr>
        <p:spPr>
          <a:xfrm rot="10800000">
            <a:off x="6348300" y="3105275"/>
            <a:ext cx="4815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grpSp>
        <p:nvGrpSpPr>
          <p:cNvPr id="421" name="Google Shape;421;p42"/>
          <p:cNvGrpSpPr/>
          <p:nvPr/>
        </p:nvGrpSpPr>
        <p:grpSpPr>
          <a:xfrm>
            <a:off x="5241299" y="2078600"/>
            <a:ext cx="3007995" cy="2017395"/>
            <a:chOff x="5241299" y="2078600"/>
            <a:chExt cx="3007995" cy="2017395"/>
          </a:xfrm>
        </p:grpSpPr>
        <p:sp>
          <p:nvSpPr>
            <p:cNvPr id="422" name="Google Shape;422;p42"/>
            <p:cNvSpPr/>
            <p:nvPr/>
          </p:nvSpPr>
          <p:spPr>
            <a:xfrm>
              <a:off x="5241299" y="2078600"/>
              <a:ext cx="3007995" cy="2017395"/>
            </a:xfrm>
            <a:custGeom>
              <a:rect b="b" l="l" r="r" t="t"/>
              <a:pathLst>
                <a:path extrusionOk="0" h="2017395" w="3007995">
                  <a:moveTo>
                    <a:pt x="2671592" y="2017199"/>
                  </a:moveTo>
                  <a:lnTo>
                    <a:pt x="336206" y="2017199"/>
                  </a:lnTo>
                  <a:lnTo>
                    <a:pt x="290585" y="2014130"/>
                  </a:lnTo>
                  <a:lnTo>
                    <a:pt x="246829" y="2005190"/>
                  </a:lnTo>
                  <a:lnTo>
                    <a:pt x="205339" y="1990779"/>
                  </a:lnTo>
                  <a:lnTo>
                    <a:pt x="166516" y="1971297"/>
                  </a:lnTo>
                  <a:lnTo>
                    <a:pt x="130760" y="1947147"/>
                  </a:lnTo>
                  <a:lnTo>
                    <a:pt x="98472" y="1918727"/>
                  </a:lnTo>
                  <a:lnTo>
                    <a:pt x="70052" y="1886439"/>
                  </a:lnTo>
                  <a:lnTo>
                    <a:pt x="45902" y="1850683"/>
                  </a:lnTo>
                  <a:lnTo>
                    <a:pt x="26420" y="1811860"/>
                  </a:lnTo>
                  <a:lnTo>
                    <a:pt x="12009" y="1770370"/>
                  </a:lnTo>
                  <a:lnTo>
                    <a:pt x="3069" y="1726614"/>
                  </a:lnTo>
                  <a:lnTo>
                    <a:pt x="0" y="1680993"/>
                  </a:lnTo>
                  <a:lnTo>
                    <a:pt x="0" y="336206"/>
                  </a:lnTo>
                  <a:lnTo>
                    <a:pt x="3069" y="290585"/>
                  </a:lnTo>
                  <a:lnTo>
                    <a:pt x="12009" y="246829"/>
                  </a:lnTo>
                  <a:lnTo>
                    <a:pt x="26420" y="205339"/>
                  </a:lnTo>
                  <a:lnTo>
                    <a:pt x="45902" y="166516"/>
                  </a:lnTo>
                  <a:lnTo>
                    <a:pt x="70052" y="130760"/>
                  </a:lnTo>
                  <a:lnTo>
                    <a:pt x="98472" y="98472"/>
                  </a:lnTo>
                  <a:lnTo>
                    <a:pt x="130760" y="70052"/>
                  </a:lnTo>
                  <a:lnTo>
                    <a:pt x="166516" y="45902"/>
                  </a:lnTo>
                  <a:lnTo>
                    <a:pt x="205339" y="26420"/>
                  </a:lnTo>
                  <a:lnTo>
                    <a:pt x="246829" y="12009"/>
                  </a:lnTo>
                  <a:lnTo>
                    <a:pt x="290585" y="3069"/>
                  </a:lnTo>
                  <a:lnTo>
                    <a:pt x="336206" y="0"/>
                  </a:lnTo>
                  <a:lnTo>
                    <a:pt x="2671592" y="0"/>
                  </a:lnTo>
                  <a:lnTo>
                    <a:pt x="2724504" y="4188"/>
                  </a:lnTo>
                  <a:lnTo>
                    <a:pt x="2775637" y="16503"/>
                  </a:lnTo>
                  <a:lnTo>
                    <a:pt x="2824087" y="36572"/>
                  </a:lnTo>
                  <a:lnTo>
                    <a:pt x="2868951" y="64019"/>
                  </a:lnTo>
                  <a:lnTo>
                    <a:pt x="2909327" y="98472"/>
                  </a:lnTo>
                  <a:lnTo>
                    <a:pt x="2943780" y="138848"/>
                  </a:lnTo>
                  <a:lnTo>
                    <a:pt x="2971227" y="183712"/>
                  </a:lnTo>
                  <a:lnTo>
                    <a:pt x="2991296" y="232162"/>
                  </a:lnTo>
                  <a:lnTo>
                    <a:pt x="3003611" y="283294"/>
                  </a:lnTo>
                  <a:lnTo>
                    <a:pt x="3007799" y="336206"/>
                  </a:lnTo>
                  <a:lnTo>
                    <a:pt x="3007799" y="1680993"/>
                  </a:lnTo>
                  <a:lnTo>
                    <a:pt x="3004730" y="1726614"/>
                  </a:lnTo>
                  <a:lnTo>
                    <a:pt x="2995790" y="1770370"/>
                  </a:lnTo>
                  <a:lnTo>
                    <a:pt x="2981379" y="1811860"/>
                  </a:lnTo>
                  <a:lnTo>
                    <a:pt x="2961897" y="1850683"/>
                  </a:lnTo>
                  <a:lnTo>
                    <a:pt x="2937747" y="1886439"/>
                  </a:lnTo>
                  <a:lnTo>
                    <a:pt x="2909327" y="1918727"/>
                  </a:lnTo>
                  <a:lnTo>
                    <a:pt x="2877039" y="1947147"/>
                  </a:lnTo>
                  <a:lnTo>
                    <a:pt x="2841283" y="1971297"/>
                  </a:lnTo>
                  <a:lnTo>
                    <a:pt x="2802459" y="1990779"/>
                  </a:lnTo>
                  <a:lnTo>
                    <a:pt x="2760970" y="2005190"/>
                  </a:lnTo>
                  <a:lnTo>
                    <a:pt x="2717214" y="2014130"/>
                  </a:lnTo>
                  <a:lnTo>
                    <a:pt x="2671592" y="2017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3" name="Google Shape;423;p42"/>
            <p:cNvSpPr/>
            <p:nvPr/>
          </p:nvSpPr>
          <p:spPr>
            <a:xfrm>
              <a:off x="5241299" y="2078600"/>
              <a:ext cx="3007995" cy="2017395"/>
            </a:xfrm>
            <a:custGeom>
              <a:rect b="b" l="l" r="r" t="t"/>
              <a:pathLst>
                <a:path extrusionOk="0" h="2017395" w="3007995">
                  <a:moveTo>
                    <a:pt x="0" y="336206"/>
                  </a:moveTo>
                  <a:lnTo>
                    <a:pt x="3069" y="290585"/>
                  </a:lnTo>
                  <a:lnTo>
                    <a:pt x="12009" y="246829"/>
                  </a:lnTo>
                  <a:lnTo>
                    <a:pt x="26420" y="205339"/>
                  </a:lnTo>
                  <a:lnTo>
                    <a:pt x="45902" y="166516"/>
                  </a:lnTo>
                  <a:lnTo>
                    <a:pt x="70052" y="130760"/>
                  </a:lnTo>
                  <a:lnTo>
                    <a:pt x="98472" y="98472"/>
                  </a:lnTo>
                  <a:lnTo>
                    <a:pt x="130760" y="70052"/>
                  </a:lnTo>
                  <a:lnTo>
                    <a:pt x="166516" y="45902"/>
                  </a:lnTo>
                  <a:lnTo>
                    <a:pt x="205339" y="26420"/>
                  </a:lnTo>
                  <a:lnTo>
                    <a:pt x="246829" y="12009"/>
                  </a:lnTo>
                  <a:lnTo>
                    <a:pt x="290585" y="3069"/>
                  </a:lnTo>
                  <a:lnTo>
                    <a:pt x="336206" y="0"/>
                  </a:lnTo>
                  <a:lnTo>
                    <a:pt x="2671592" y="0"/>
                  </a:lnTo>
                  <a:lnTo>
                    <a:pt x="2724504" y="4188"/>
                  </a:lnTo>
                  <a:lnTo>
                    <a:pt x="2775637" y="16503"/>
                  </a:lnTo>
                  <a:lnTo>
                    <a:pt x="2824087" y="36572"/>
                  </a:lnTo>
                  <a:lnTo>
                    <a:pt x="2868951" y="64019"/>
                  </a:lnTo>
                  <a:lnTo>
                    <a:pt x="2909327" y="98472"/>
                  </a:lnTo>
                  <a:lnTo>
                    <a:pt x="2943780" y="138848"/>
                  </a:lnTo>
                  <a:lnTo>
                    <a:pt x="2971227" y="183712"/>
                  </a:lnTo>
                  <a:lnTo>
                    <a:pt x="2991296" y="232162"/>
                  </a:lnTo>
                  <a:lnTo>
                    <a:pt x="3003611" y="283294"/>
                  </a:lnTo>
                  <a:lnTo>
                    <a:pt x="3007799" y="336206"/>
                  </a:lnTo>
                  <a:lnTo>
                    <a:pt x="3007799" y="1680993"/>
                  </a:lnTo>
                  <a:lnTo>
                    <a:pt x="3004730" y="1726614"/>
                  </a:lnTo>
                  <a:lnTo>
                    <a:pt x="2995790" y="1770370"/>
                  </a:lnTo>
                  <a:lnTo>
                    <a:pt x="2981379" y="1811860"/>
                  </a:lnTo>
                  <a:lnTo>
                    <a:pt x="2961897" y="1850683"/>
                  </a:lnTo>
                  <a:lnTo>
                    <a:pt x="2937747" y="1886439"/>
                  </a:lnTo>
                  <a:lnTo>
                    <a:pt x="2909327" y="1918727"/>
                  </a:lnTo>
                  <a:lnTo>
                    <a:pt x="2877039" y="1947147"/>
                  </a:lnTo>
                  <a:lnTo>
                    <a:pt x="2841283" y="1971297"/>
                  </a:lnTo>
                  <a:lnTo>
                    <a:pt x="2802459" y="1990779"/>
                  </a:lnTo>
                  <a:lnTo>
                    <a:pt x="2760970" y="2005190"/>
                  </a:lnTo>
                  <a:lnTo>
                    <a:pt x="2717214" y="2014130"/>
                  </a:lnTo>
                  <a:lnTo>
                    <a:pt x="2671592" y="2017199"/>
                  </a:lnTo>
                  <a:lnTo>
                    <a:pt x="336206" y="2017199"/>
                  </a:lnTo>
                  <a:lnTo>
                    <a:pt x="290585" y="2014130"/>
                  </a:lnTo>
                  <a:lnTo>
                    <a:pt x="246829" y="2005190"/>
                  </a:lnTo>
                  <a:lnTo>
                    <a:pt x="205339" y="1990779"/>
                  </a:lnTo>
                  <a:lnTo>
                    <a:pt x="166516" y="1971297"/>
                  </a:lnTo>
                  <a:lnTo>
                    <a:pt x="130760" y="1947147"/>
                  </a:lnTo>
                  <a:lnTo>
                    <a:pt x="98472" y="1918727"/>
                  </a:lnTo>
                  <a:lnTo>
                    <a:pt x="70052" y="1886439"/>
                  </a:lnTo>
                  <a:lnTo>
                    <a:pt x="45902" y="1850683"/>
                  </a:lnTo>
                  <a:lnTo>
                    <a:pt x="26420" y="1811860"/>
                  </a:lnTo>
                  <a:lnTo>
                    <a:pt x="12009" y="1770370"/>
                  </a:lnTo>
                  <a:lnTo>
                    <a:pt x="3069" y="1726614"/>
                  </a:lnTo>
                  <a:lnTo>
                    <a:pt x="0" y="1680993"/>
                  </a:lnTo>
                  <a:lnTo>
                    <a:pt x="0" y="336206"/>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4" name="Google Shape;424;p42"/>
            <p:cNvSpPr/>
            <p:nvPr/>
          </p:nvSpPr>
          <p:spPr>
            <a:xfrm>
              <a:off x="6632549" y="2845300"/>
              <a:ext cx="1233805" cy="470534"/>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25" name="Google Shape;425;p42"/>
          <p:cNvSpPr txBox="1"/>
          <p:nvPr/>
        </p:nvSpPr>
        <p:spPr>
          <a:xfrm>
            <a:off x="6632550" y="2845299"/>
            <a:ext cx="1233805" cy="470534"/>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426" name="Google Shape;426;p42"/>
          <p:cNvGrpSpPr/>
          <p:nvPr/>
        </p:nvGrpSpPr>
        <p:grpSpPr>
          <a:xfrm>
            <a:off x="1103649" y="3342099"/>
            <a:ext cx="1386205" cy="572770"/>
            <a:chOff x="1103649" y="3342099"/>
            <a:chExt cx="1386205" cy="572770"/>
          </a:xfrm>
        </p:grpSpPr>
        <p:sp>
          <p:nvSpPr>
            <p:cNvPr id="427" name="Google Shape;427;p42"/>
            <p:cNvSpPr/>
            <p:nvPr/>
          </p:nvSpPr>
          <p:spPr>
            <a:xfrm>
              <a:off x="1103649" y="3342099"/>
              <a:ext cx="1386205" cy="572770"/>
            </a:xfrm>
            <a:custGeom>
              <a:rect b="b" l="l" r="r" t="t"/>
              <a:pathLst>
                <a:path extrusionOk="0" h="572770"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2"/>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2"/>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42"/>
            <p:cNvSpPr/>
            <p:nvPr/>
          </p:nvSpPr>
          <p:spPr>
            <a:xfrm>
              <a:off x="1103649" y="3342099"/>
              <a:ext cx="1386205" cy="572770"/>
            </a:xfrm>
            <a:custGeom>
              <a:rect b="b" l="l" r="r" t="t"/>
              <a:pathLst>
                <a:path extrusionOk="0" h="572770" w="1386205">
                  <a:moveTo>
                    <a:pt x="0" y="286349"/>
                  </a:moveTo>
                  <a:lnTo>
                    <a:pt x="3171" y="258772"/>
                  </a:lnTo>
                  <a:lnTo>
                    <a:pt x="12493" y="231936"/>
                  </a:lnTo>
                  <a:lnTo>
                    <a:pt x="48423" y="180970"/>
                  </a:lnTo>
                  <a:lnTo>
                    <a:pt x="105469" y="134410"/>
                  </a:lnTo>
                  <a:lnTo>
                    <a:pt x="141184" y="113082"/>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2"/>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29" name="Google Shape;429;p42"/>
          <p:cNvSpPr txBox="1"/>
          <p:nvPr/>
        </p:nvSpPr>
        <p:spPr>
          <a:xfrm>
            <a:off x="1482541" y="350386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430" name="Google Shape;430;p42"/>
          <p:cNvSpPr txBox="1"/>
          <p:nvPr/>
        </p:nvSpPr>
        <p:spPr>
          <a:xfrm>
            <a:off x="3561775" y="3696395"/>
            <a:ext cx="66675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431" name="Google Shape;431;p42"/>
          <p:cNvGrpSpPr/>
          <p:nvPr/>
        </p:nvGrpSpPr>
        <p:grpSpPr>
          <a:xfrm>
            <a:off x="5461399" y="2911000"/>
            <a:ext cx="921385" cy="339090"/>
            <a:chOff x="5461399" y="2911000"/>
            <a:chExt cx="921385" cy="339090"/>
          </a:xfrm>
        </p:grpSpPr>
        <p:sp>
          <p:nvSpPr>
            <p:cNvPr id="432" name="Google Shape;432;p42"/>
            <p:cNvSpPr/>
            <p:nvPr/>
          </p:nvSpPr>
          <p:spPr>
            <a:xfrm>
              <a:off x="5461399" y="2911000"/>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3" name="Google Shape;433;p42"/>
            <p:cNvSpPr/>
            <p:nvPr/>
          </p:nvSpPr>
          <p:spPr>
            <a:xfrm>
              <a:off x="5461399" y="2911000"/>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34" name="Google Shape;434;p42"/>
          <p:cNvSpPr txBox="1"/>
          <p:nvPr/>
        </p:nvSpPr>
        <p:spPr>
          <a:xfrm>
            <a:off x="5655113" y="2910170"/>
            <a:ext cx="534035" cy="330200"/>
          </a:xfrm>
          <a:prstGeom prst="rect">
            <a:avLst/>
          </a:prstGeom>
          <a:noFill/>
          <a:ln>
            <a:noFill/>
          </a:ln>
        </p:spPr>
        <p:txBody>
          <a:bodyPr anchorCtr="0" anchor="t" bIns="0" lIns="0" spcFirstLastPara="1" rIns="0" wrap="square" tIns="12700">
            <a:spAutoFit/>
          </a:bodyPr>
          <a:lstStyle/>
          <a:p>
            <a:pPr indent="-60325" lvl="0" marL="7239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435" name="Google Shape;435;p42"/>
          <p:cNvGrpSpPr/>
          <p:nvPr/>
        </p:nvGrpSpPr>
        <p:grpSpPr>
          <a:xfrm>
            <a:off x="5461399" y="3064617"/>
            <a:ext cx="2204150" cy="733572"/>
            <a:chOff x="5461399" y="3064617"/>
            <a:chExt cx="2204150" cy="733572"/>
          </a:xfrm>
        </p:grpSpPr>
        <p:sp>
          <p:nvSpPr>
            <p:cNvPr id="436" name="Google Shape;436;p42"/>
            <p:cNvSpPr/>
            <p:nvPr/>
          </p:nvSpPr>
          <p:spPr>
            <a:xfrm>
              <a:off x="6397199" y="3080349"/>
              <a:ext cx="235585"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42"/>
            <p:cNvSpPr/>
            <p:nvPr/>
          </p:nvSpPr>
          <p:spPr>
            <a:xfrm>
              <a:off x="6353974" y="3064617"/>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8" name="Google Shape;438;p42"/>
            <p:cNvSpPr/>
            <p:nvPr/>
          </p:nvSpPr>
          <p:spPr>
            <a:xfrm>
              <a:off x="6353974" y="3064617"/>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42"/>
            <p:cNvSpPr/>
            <p:nvPr/>
          </p:nvSpPr>
          <p:spPr>
            <a:xfrm>
              <a:off x="6833699" y="3461349"/>
              <a:ext cx="831850" cy="334645"/>
            </a:xfrm>
            <a:custGeom>
              <a:rect b="b" l="l" r="r" t="t"/>
              <a:pathLst>
                <a:path extrusionOk="0" h="334645"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42"/>
            <p:cNvSpPr/>
            <p:nvPr/>
          </p:nvSpPr>
          <p:spPr>
            <a:xfrm>
              <a:off x="6833699" y="3461349"/>
              <a:ext cx="831850" cy="334645"/>
            </a:xfrm>
            <a:custGeom>
              <a:rect b="b" l="l" r="r" t="t"/>
              <a:pathLst>
                <a:path extrusionOk="0" h="334645"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1" name="Google Shape;441;p42"/>
            <p:cNvSpPr/>
            <p:nvPr/>
          </p:nvSpPr>
          <p:spPr>
            <a:xfrm>
              <a:off x="5461399" y="345909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42"/>
            <p:cNvSpPr/>
            <p:nvPr/>
          </p:nvSpPr>
          <p:spPr>
            <a:xfrm>
              <a:off x="5461399" y="345909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43" name="Google Shape;443;p42"/>
          <p:cNvSpPr txBox="1"/>
          <p:nvPr/>
        </p:nvSpPr>
        <p:spPr>
          <a:xfrm>
            <a:off x="5663724" y="3487861"/>
            <a:ext cx="516890" cy="271145"/>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444" name="Google Shape;444;p42"/>
          <p:cNvSpPr txBox="1"/>
          <p:nvPr/>
        </p:nvSpPr>
        <p:spPr>
          <a:xfrm>
            <a:off x="6968849" y="35497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grpSp>
        <p:nvGrpSpPr>
          <p:cNvPr id="445" name="Google Shape;445;p42"/>
          <p:cNvGrpSpPr/>
          <p:nvPr/>
        </p:nvGrpSpPr>
        <p:grpSpPr>
          <a:xfrm>
            <a:off x="1144350" y="2243650"/>
            <a:ext cx="4359967" cy="1400817"/>
            <a:chOff x="1144350" y="2243650"/>
            <a:chExt cx="4359967" cy="1400817"/>
          </a:xfrm>
        </p:grpSpPr>
        <p:sp>
          <p:nvSpPr>
            <p:cNvPr id="446" name="Google Shape;446;p42"/>
            <p:cNvSpPr/>
            <p:nvPr/>
          </p:nvSpPr>
          <p:spPr>
            <a:xfrm>
              <a:off x="2546487" y="3628450"/>
              <a:ext cx="2957830" cy="0"/>
            </a:xfrm>
            <a:custGeom>
              <a:rect b="b" l="l" r="r" t="t"/>
              <a:pathLst>
                <a:path extrusionOk="0" h="120000" w="2957829">
                  <a:moveTo>
                    <a:pt x="29572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7" name="Google Shape;447;p42"/>
            <p:cNvSpPr/>
            <p:nvPr/>
          </p:nvSpPr>
          <p:spPr>
            <a:xfrm>
              <a:off x="2503262" y="3612717"/>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8" name="Google Shape;448;p42"/>
            <p:cNvSpPr/>
            <p:nvPr/>
          </p:nvSpPr>
          <p:spPr>
            <a:xfrm>
              <a:off x="2503262" y="3612717"/>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9" name="Google Shape;449;p42"/>
            <p:cNvSpPr/>
            <p:nvPr/>
          </p:nvSpPr>
          <p:spPr>
            <a:xfrm>
              <a:off x="1144350" y="2243650"/>
              <a:ext cx="1386205" cy="572770"/>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42"/>
            <p:cNvSpPr/>
            <p:nvPr/>
          </p:nvSpPr>
          <p:spPr>
            <a:xfrm>
              <a:off x="1144350" y="2243650"/>
              <a:ext cx="1386205" cy="572770"/>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51" name="Google Shape;451;p42"/>
          <p:cNvSpPr txBox="1"/>
          <p:nvPr/>
        </p:nvSpPr>
        <p:spPr>
          <a:xfrm>
            <a:off x="1523241" y="240541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2</a:t>
            </a:r>
            <a:endParaRPr b="0" i="0" sz="1400" u="none" cap="none" strike="noStrike">
              <a:solidFill>
                <a:srgbClr val="000000"/>
              </a:solidFill>
              <a:latin typeface="Arial"/>
              <a:ea typeface="Arial"/>
              <a:cs typeface="Arial"/>
              <a:sym typeface="Arial"/>
            </a:endParaRPr>
          </a:p>
        </p:txBody>
      </p:sp>
      <p:sp>
        <p:nvSpPr>
          <p:cNvPr id="452" name="Google Shape;452;p42"/>
          <p:cNvSpPr txBox="1"/>
          <p:nvPr/>
        </p:nvSpPr>
        <p:spPr>
          <a:xfrm>
            <a:off x="3455799" y="2259245"/>
            <a:ext cx="66675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453" name="Google Shape;453;p42"/>
          <p:cNvGrpSpPr/>
          <p:nvPr/>
        </p:nvGrpSpPr>
        <p:grpSpPr>
          <a:xfrm>
            <a:off x="5461399" y="2360649"/>
            <a:ext cx="2204150" cy="339090"/>
            <a:chOff x="5461399" y="2360649"/>
            <a:chExt cx="2204150" cy="339090"/>
          </a:xfrm>
        </p:grpSpPr>
        <p:sp>
          <p:nvSpPr>
            <p:cNvPr id="454" name="Google Shape;454;p42"/>
            <p:cNvSpPr/>
            <p:nvPr/>
          </p:nvSpPr>
          <p:spPr>
            <a:xfrm>
              <a:off x="6833699" y="2362899"/>
              <a:ext cx="831850" cy="334645"/>
            </a:xfrm>
            <a:custGeom>
              <a:rect b="b" l="l" r="r" t="t"/>
              <a:pathLst>
                <a:path extrusionOk="0" h="334644"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42"/>
            <p:cNvSpPr/>
            <p:nvPr/>
          </p:nvSpPr>
          <p:spPr>
            <a:xfrm>
              <a:off x="6833699" y="2362899"/>
              <a:ext cx="831850" cy="334645"/>
            </a:xfrm>
            <a:custGeom>
              <a:rect b="b" l="l" r="r" t="t"/>
              <a:pathLst>
                <a:path extrusionOk="0" h="334644"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6" name="Google Shape;456;p42"/>
            <p:cNvSpPr/>
            <p:nvPr/>
          </p:nvSpPr>
          <p:spPr>
            <a:xfrm>
              <a:off x="5461399" y="236064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7" name="Google Shape;457;p42"/>
            <p:cNvSpPr/>
            <p:nvPr/>
          </p:nvSpPr>
          <p:spPr>
            <a:xfrm>
              <a:off x="5461399" y="236064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58" name="Google Shape;458;p42"/>
          <p:cNvSpPr txBox="1"/>
          <p:nvPr/>
        </p:nvSpPr>
        <p:spPr>
          <a:xfrm>
            <a:off x="5663724" y="2389411"/>
            <a:ext cx="516890" cy="271145"/>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459" name="Google Shape;459;p42"/>
          <p:cNvSpPr txBox="1"/>
          <p:nvPr/>
        </p:nvSpPr>
        <p:spPr>
          <a:xfrm>
            <a:off x="1566450" y="4572725"/>
            <a:ext cx="60990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Trebuchet MS"/>
                <a:ea typeface="Trebuchet MS"/>
                <a:cs typeface="Trebuchet MS"/>
                <a:sym typeface="Trebuchet MS"/>
              </a:rPr>
              <a:t>All the sockets are associated with a single port in the server process.</a:t>
            </a:r>
            <a:endParaRPr b="0" i="0" sz="1400" u="none" cap="none" strike="noStrike">
              <a:solidFill>
                <a:srgbClr val="000000"/>
              </a:solidFill>
              <a:latin typeface="Trebuchet MS"/>
              <a:ea typeface="Trebuchet MS"/>
              <a:cs typeface="Trebuchet MS"/>
              <a:sym typeface="Trebuchet MS"/>
            </a:endParaRPr>
          </a:p>
        </p:txBody>
      </p:sp>
      <p:sp>
        <p:nvSpPr>
          <p:cNvPr id="460" name="Google Shape;460;p42"/>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sp>
        <p:nvSpPr>
          <p:cNvPr id="461" name="Google Shape;461;p42"/>
          <p:cNvSpPr txBox="1"/>
          <p:nvPr/>
        </p:nvSpPr>
        <p:spPr>
          <a:xfrm>
            <a:off x="6968849" y="24067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sp>
        <p:nvSpPr>
          <p:cNvPr id="462" name="Google Shape;462;p42"/>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grpSp>
        <p:nvGrpSpPr>
          <p:cNvPr id="463" name="Google Shape;463;p42"/>
          <p:cNvGrpSpPr/>
          <p:nvPr/>
        </p:nvGrpSpPr>
        <p:grpSpPr>
          <a:xfrm>
            <a:off x="2544062" y="2514267"/>
            <a:ext cx="3853876" cy="1130200"/>
            <a:chOff x="2544062" y="2514267"/>
            <a:chExt cx="3853876" cy="1130200"/>
          </a:xfrm>
        </p:grpSpPr>
        <p:sp>
          <p:nvSpPr>
            <p:cNvPr id="464" name="Google Shape;464;p42"/>
            <p:cNvSpPr/>
            <p:nvPr/>
          </p:nvSpPr>
          <p:spPr>
            <a:xfrm>
              <a:off x="6354124" y="361271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5" name="Google Shape;465;p42"/>
            <p:cNvSpPr/>
            <p:nvPr/>
          </p:nvSpPr>
          <p:spPr>
            <a:xfrm>
              <a:off x="6354124" y="361271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6" name="Google Shape;466;p42"/>
            <p:cNvSpPr/>
            <p:nvPr/>
          </p:nvSpPr>
          <p:spPr>
            <a:xfrm>
              <a:off x="6354124" y="251426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42"/>
            <p:cNvSpPr/>
            <p:nvPr/>
          </p:nvSpPr>
          <p:spPr>
            <a:xfrm>
              <a:off x="2587287" y="2530000"/>
              <a:ext cx="2916554" cy="0"/>
            </a:xfrm>
            <a:custGeom>
              <a:rect b="b" l="l" r="r" t="t"/>
              <a:pathLst>
                <a:path extrusionOk="0" h="120000" w="2916554">
                  <a:moveTo>
                    <a:pt x="29164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p42"/>
            <p:cNvSpPr/>
            <p:nvPr/>
          </p:nvSpPr>
          <p:spPr>
            <a:xfrm>
              <a:off x="2544062" y="251426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42"/>
            <p:cNvSpPr/>
            <p:nvPr/>
          </p:nvSpPr>
          <p:spPr>
            <a:xfrm>
              <a:off x="2544062" y="251426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0" name="Google Shape;470;p42"/>
            <p:cNvSpPr/>
            <p:nvPr/>
          </p:nvSpPr>
          <p:spPr>
            <a:xfrm>
              <a:off x="6354124" y="251426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471" name="Google Shape;471;p42"/>
          <p:cNvCxnSpPr/>
          <p:nvPr/>
        </p:nvCxnSpPr>
        <p:spPr>
          <a:xfrm rot="10800000">
            <a:off x="6348500" y="2525775"/>
            <a:ext cx="490200" cy="9000"/>
          </a:xfrm>
          <a:prstGeom prst="straightConnector1">
            <a:avLst/>
          </a:prstGeom>
          <a:noFill/>
          <a:ln cap="flat" cmpd="sng" w="9525">
            <a:solidFill>
              <a:schemeClr val="dk2"/>
            </a:solidFill>
            <a:prstDash val="solid"/>
            <a:round/>
            <a:headEnd len="sm" w="sm" type="none"/>
            <a:tailEnd len="med" w="med" type="triangle"/>
          </a:ln>
        </p:spPr>
      </p:cxnSp>
      <p:cxnSp>
        <p:nvCxnSpPr>
          <p:cNvPr id="472" name="Google Shape;472;p42"/>
          <p:cNvCxnSpPr/>
          <p:nvPr/>
        </p:nvCxnSpPr>
        <p:spPr>
          <a:xfrm flipH="1">
            <a:off x="6339600" y="3613400"/>
            <a:ext cx="490200" cy="9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3"/>
          <p:cNvSpPr txBox="1"/>
          <p:nvPr>
            <p:ph type="title"/>
          </p:nvPr>
        </p:nvSpPr>
        <p:spPr>
          <a:xfrm>
            <a:off x="362850" y="228275"/>
            <a:ext cx="79425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Problems in the current multi threaded server</a:t>
            </a:r>
            <a:endParaRPr sz="2800"/>
          </a:p>
        </p:txBody>
      </p:sp>
      <p:sp>
        <p:nvSpPr>
          <p:cNvPr id="478" name="Google Shape;478;p43"/>
          <p:cNvSpPr txBox="1"/>
          <p:nvPr/>
        </p:nvSpPr>
        <p:spPr>
          <a:xfrm>
            <a:off x="3969450" y="1324950"/>
            <a:ext cx="12051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0"/>
              <a:buFont typeface="Arial"/>
              <a:buNone/>
            </a:pPr>
            <a:r>
              <a:rPr b="1" i="0" lang="en" sz="15000" u="none" cap="none" strike="noStrike">
                <a:solidFill>
                  <a:srgbClr val="000000"/>
                </a:solidFill>
                <a:latin typeface="Calibri"/>
                <a:ea typeface="Calibri"/>
                <a:cs typeface="Calibri"/>
                <a:sym typeface="Calibri"/>
              </a:rPr>
              <a:t>?</a:t>
            </a:r>
            <a:endParaRPr b="1" i="0" sz="15000" u="none" cap="none" strike="noStrike">
              <a:solidFill>
                <a:srgbClr val="000000"/>
              </a:solidFill>
              <a:latin typeface="Calibri"/>
              <a:ea typeface="Calibri"/>
              <a:cs typeface="Calibri"/>
              <a:sym typeface="Calibri"/>
            </a:endParaRPr>
          </a:p>
        </p:txBody>
      </p:sp>
      <p:sp>
        <p:nvSpPr>
          <p:cNvPr id="479" name="Google Shape;479;p4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4"/>
          <p:cNvSpPr txBox="1"/>
          <p:nvPr>
            <p:ph type="title"/>
          </p:nvPr>
        </p:nvSpPr>
        <p:spPr>
          <a:xfrm>
            <a:off x="362850" y="228275"/>
            <a:ext cx="28569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400">
                <a:latin typeface="Arial"/>
                <a:ea typeface="Arial"/>
                <a:cs typeface="Arial"/>
                <a:sym typeface="Arial"/>
              </a:rPr>
              <a:t>References</a:t>
            </a:r>
            <a:endParaRPr sz="2400">
              <a:latin typeface="Arial"/>
              <a:ea typeface="Arial"/>
              <a:cs typeface="Arial"/>
              <a:sym typeface="Arial"/>
            </a:endParaRPr>
          </a:p>
        </p:txBody>
      </p:sp>
      <p:sp>
        <p:nvSpPr>
          <p:cNvPr id="485" name="Google Shape;485;p44"/>
          <p:cNvSpPr txBox="1"/>
          <p:nvPr/>
        </p:nvSpPr>
        <p:spPr>
          <a:xfrm>
            <a:off x="384725" y="990800"/>
            <a:ext cx="7008000" cy="2679323"/>
          </a:xfrm>
          <a:prstGeom prst="rect">
            <a:avLst/>
          </a:prstGeom>
          <a:noFill/>
          <a:ln>
            <a:noFill/>
          </a:ln>
        </p:spPr>
        <p:txBody>
          <a:bodyPr anchorCtr="0" anchor="t" bIns="0" lIns="0" spcFirstLastPara="1" rIns="0" wrap="square" tIns="12700">
            <a:spAutoFit/>
          </a:bodyPr>
          <a:lstStyle/>
          <a:p>
            <a:pPr indent="-304800" lvl="0" marL="457200" marR="0" rtl="0" algn="l">
              <a:lnSpc>
                <a:spcPct val="100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3"/>
              </a:rPr>
              <a:t>LibC wrapper on socket system call</a:t>
            </a:r>
            <a:endParaRPr b="0" i="0" sz="1200" u="none" cap="none" strike="noStrike">
              <a:solidFill>
                <a:srgbClr val="000000"/>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4"/>
              </a:rPr>
              <a:t>LibC wrapper on bind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5"/>
              </a:rPr>
              <a:t>LibC wrapper on listen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6"/>
              </a:rPr>
              <a:t>LibC wrapper on accept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7"/>
              </a:rPr>
              <a:t>LibC wrapper on connect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8"/>
              </a:rPr>
              <a:t>Concurrent Server</a:t>
            </a:r>
            <a:endParaRPr b="0" i="0" sz="1200" u="none" cap="none" strike="noStrike">
              <a:solidFill>
                <a:srgbClr val="0097A7"/>
              </a:solidFill>
              <a:latin typeface="Roboto"/>
              <a:ea typeface="Roboto"/>
              <a:cs typeface="Roboto"/>
              <a:sym typeface="Roboto"/>
            </a:endParaRPr>
          </a:p>
          <a:p>
            <a:pPr indent="-304800" lvl="0" marL="457200" marR="180975"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9"/>
              </a:rPr>
              <a:t>Linux Programming Interface</a:t>
            </a:r>
            <a:endParaRPr b="0" i="0" sz="1200" u="none" cap="none" strike="noStrike">
              <a:solidFill>
                <a:srgbClr val="000000"/>
              </a:solidFill>
              <a:latin typeface="Roboto"/>
              <a:ea typeface="Roboto"/>
              <a:cs typeface="Roboto"/>
              <a:sym typeface="Roboto"/>
            </a:endParaRPr>
          </a:p>
        </p:txBody>
      </p:sp>
      <p:sp>
        <p:nvSpPr>
          <p:cNvPr id="486" name="Google Shape;486;p4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