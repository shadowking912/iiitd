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1" r:id="rId1"/>
    <p:sldMasterId id="2147483735" r:id="rId2"/>
    <p:sldMasterId id="2147483747" r:id="rId3"/>
  </p:sldMasterIdLst>
  <p:notesMasterIdLst>
    <p:notesMasterId r:id="rId43"/>
  </p:notesMasterIdLst>
  <p:handoutMasterIdLst>
    <p:handoutMasterId r:id="rId44"/>
  </p:handoutMasterIdLst>
  <p:sldIdLst>
    <p:sldId id="346" r:id="rId4"/>
    <p:sldId id="256" r:id="rId5"/>
    <p:sldId id="257" r:id="rId6"/>
    <p:sldId id="259" r:id="rId7"/>
    <p:sldId id="354" r:id="rId8"/>
    <p:sldId id="348" r:id="rId9"/>
    <p:sldId id="275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84" r:id="rId20"/>
    <p:sldId id="378" r:id="rId21"/>
    <p:sldId id="379" r:id="rId22"/>
    <p:sldId id="380" r:id="rId23"/>
    <p:sldId id="381" r:id="rId24"/>
    <p:sldId id="382" r:id="rId25"/>
    <p:sldId id="383" r:id="rId26"/>
    <p:sldId id="279" r:id="rId27"/>
    <p:sldId id="284" r:id="rId28"/>
    <p:sldId id="286" r:id="rId29"/>
    <p:sldId id="287" r:id="rId30"/>
    <p:sldId id="365" r:id="rId31"/>
    <p:sldId id="385" r:id="rId32"/>
    <p:sldId id="386" r:id="rId33"/>
    <p:sldId id="387" r:id="rId34"/>
    <p:sldId id="299" r:id="rId35"/>
    <p:sldId id="301" r:id="rId36"/>
    <p:sldId id="302" r:id="rId37"/>
    <p:sldId id="366" r:id="rId38"/>
    <p:sldId id="367" r:id="rId39"/>
    <p:sldId id="356" r:id="rId40"/>
    <p:sldId id="337" r:id="rId41"/>
    <p:sldId id="306" r:id="rId42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>
          <p15:clr>
            <a:srgbClr val="A4A3A4"/>
          </p15:clr>
        </p15:guide>
        <p15:guide id="2" pos="5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715" y="10"/>
      </p:cViewPr>
      <p:guideLst>
        <p:guide orient="horz" pos="734"/>
        <p:guide pos="5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0FBDC9D0-A016-41F3-B44A-F8BD82360C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90805737-772D-46C8-8FC5-72B9150410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0" name="Rectangle 4">
            <a:extLst>
              <a:ext uri="{FF2B5EF4-FFF2-40B4-BE49-F238E27FC236}">
                <a16:creationId xmlns:a16="http://schemas.microsoft.com/office/drawing/2014/main" id="{2B4D82F3-758C-404E-BA35-55A8245BE5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1" name="Rectangle 5">
            <a:extLst>
              <a:ext uri="{FF2B5EF4-FFF2-40B4-BE49-F238E27FC236}">
                <a16:creationId xmlns:a16="http://schemas.microsoft.com/office/drawing/2014/main" id="{CEA8EB95-7681-446E-87F9-995081C1C77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/>
            </a:lvl1pPr>
          </a:lstStyle>
          <a:p>
            <a:pPr>
              <a:defRPr/>
            </a:pPr>
            <a:fld id="{119CE09D-DE5D-44E4-9C09-1DDE59E231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98E0D3-1A41-4691-A625-AF7F351F1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B08679-B338-489C-813C-600C2DE9FD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1642E38-6AA8-4B51-B9D4-9F607959681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8C496AA-20BD-4C43-8228-817031E6EB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9F9A61A-F657-4467-A0C2-3815362698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09E66B4-D60F-4547-A5B6-DE99FA98F9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34170D-4C15-4DC8-9E93-2CEDAB1F13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D2B6151-4749-434D-A485-87732FD42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3D47C1-E4FD-456D-8E85-26A0FB5C6A9E}" type="slidenum">
              <a:rPr lang="en-US" altLang="en-US" sz="130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C1FFEAB-6ADA-430E-AAC3-C7AAF1F36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1686CFA-0F99-4BB6-8074-F9A2F917C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FDF6E270-062A-4B6B-9E73-A7EE028C7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8BB0E7-2398-4769-8733-666D1E41A670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9F3026B-AB87-4F2D-894D-708EB8DEFE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84C1A4-2D0A-4235-82CF-89A1FC1FB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6A61727-5893-4388-9008-C2143E22B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81E613-5591-4D23-A0A6-D6157730738E}" type="slidenum">
              <a:rPr lang="en-US" altLang="en-US" sz="130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8BFB265-E11E-47B2-BE6B-C8A9F6A3E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62FBC9D-FE5C-4325-9C3D-F324D70AD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DE17B393-09EE-42C6-A794-9E1A41A497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0C90ED3-6162-407E-8955-73C5104A025A}" type="slidenum">
              <a:rPr lang="en-US" altLang="en-US" sz="130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5DAEE99-CE43-408C-877F-41745DB239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D60ADDD-A532-4486-9CBB-71BEDF5B0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5192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431BE85-134C-45C2-841D-83F2DF7DEBE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7169180C-7763-4278-9D11-7BC6EC1EC517}" type="slidenum">
              <a:rPr lang="en-US" altLang="en-US" sz="1300"/>
              <a:pPr algn="r"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BA0B7EA-541F-493F-AD5E-6A7E36288B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0C7B06E-F917-45BD-A079-6C73087A5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4C0E946-5AD3-45F8-ACED-33EBCE4BF1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AC1C478-0C20-4F9F-8BF1-079F4453B4F1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D3F2765-981A-499E-95AC-CF3808A73C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41FBC5B-83A2-4A9A-A1B0-28128EFEA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run into an</a:t>
            </a:r>
            <a:r>
              <a:rPr lang="en-US" baseline="0" dirty="0"/>
              <a:t> input buffer, ONE page at a time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742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88F6301-714C-4FE8-91A7-DFAF60BA9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F1E2AE-1C39-46EC-B503-AA16A34FF476}" type="slidenum">
              <a:rPr lang="en-US" altLang="en-US" sz="130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8E4A80F-EA86-483A-9CCF-9DEFC2C5B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486AFF1-D1FF-48A8-93A6-6BA573FA0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4241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19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1321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1475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6767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22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82776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23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7223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F14EB24E-1992-449A-AD28-FF477E1F2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E36D8E-1942-4B6F-B492-DC8CBE44093B}" type="slidenum">
              <a:rPr lang="en-US" altLang="en-US" sz="1300"/>
              <a:pPr>
                <a:spcBef>
                  <a:spcPct val="0"/>
                </a:spcBef>
              </a:pPr>
              <a:t>24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FD7109D-2297-4F46-9A8F-16F23C6FA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D63074D6-C005-48DF-B89D-3BD9BDA79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25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26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73E5832-2ABE-4BFE-BB50-28F915EA88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CB8EA5F-502C-43A9-830F-42CE989F4625}" type="slidenum">
              <a:rPr lang="en-US" altLang="en-US" sz="1300"/>
              <a:pPr>
                <a:spcBef>
                  <a:spcPct val="0"/>
                </a:spcBef>
              </a:pPr>
              <a:t>27</a:t>
            </a:fld>
            <a:endParaRPr lang="en-US" altLang="en-US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9902172E-A11B-4483-A0E5-C19110049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D621418C-DB3C-4B2B-8C64-6143806C6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556A1349-140A-4CD0-8290-0C85EC64B2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428B150-66F0-48B2-8723-F0B4B4E21AD8}" type="slidenum">
              <a:rPr lang="en-US" altLang="en-US" sz="1300"/>
              <a:pPr>
                <a:spcBef>
                  <a:spcPct val="0"/>
                </a:spcBef>
              </a:pPr>
              <a:t>28</a:t>
            </a:fld>
            <a:endParaRPr lang="en-US" altLang="en-US" sz="13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C72631A-11CF-4A9F-9276-90C504DE0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41B2CCA-6AB4-45BC-A730-EE771BA6C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1308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step</a:t>
            </a:r>
            <a:r>
              <a:rPr lang="en-US" baseline="0" dirty="0"/>
              <a:t> 2, the combination of all attributes 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4415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step</a:t>
            </a:r>
            <a:r>
              <a:rPr lang="en-US" baseline="0" dirty="0"/>
              <a:t> 2, the combination of all attributes 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9415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step</a:t>
            </a:r>
            <a:r>
              <a:rPr lang="en-US" baseline="0" dirty="0"/>
              <a:t> 2, the combination of all attributes is used as a key for sorting.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4ED4D-EFD9-46AD-897E-D5BE4B53CB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2652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D06FC9D1-2B29-4318-9DE5-2580D98ECC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06D649-6B81-4475-8D4D-CAACF74D4643}" type="slidenum">
              <a:rPr lang="en-US" altLang="en-US" sz="1300"/>
              <a:pPr>
                <a:spcBef>
                  <a:spcPct val="0"/>
                </a:spcBef>
              </a:pPr>
              <a:t>32</a:t>
            </a:fld>
            <a:endParaRPr lang="en-US" altLang="en-US" sz="13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650A1E83-E92B-4677-B68A-745A6E514F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23188A57-90AF-4DB9-B105-B826374ADB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C0FE7339-DC65-49D2-A655-B3EDFE070B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77F1E5-9A6B-46E3-9126-D4752AF9E700}" type="slidenum">
              <a:rPr lang="en-US" altLang="en-US" sz="1300"/>
              <a:pPr>
                <a:spcBef>
                  <a:spcPct val="0"/>
                </a:spcBef>
              </a:pPr>
              <a:t>33</a:t>
            </a:fld>
            <a:endParaRPr lang="en-US" altLang="en-US" sz="13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F888EA74-F32C-4E49-A95D-3091B20866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AD886AE4-BDE3-40CF-A981-1D1FE4BAA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86EA7C32-3CD6-4A7B-8313-39AF8B8470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17758C1-1925-4887-847D-E1170C9BEA4A}" type="slidenum">
              <a:rPr lang="en-US" altLang="en-US" sz="1300"/>
              <a:pPr>
                <a:spcBef>
                  <a:spcPct val="0"/>
                </a:spcBef>
              </a:pPr>
              <a:t>34</a:t>
            </a:fld>
            <a:endParaRPr lang="en-US" altLang="en-US" sz="130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3526EB3-5356-43D9-9E8E-C62C6257E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71B7110A-8059-4AF8-9431-3AF6F8F336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BBD4E9BF-7BF8-481C-AC1B-ED96DA5F2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117447-F4AE-4284-AB6D-224478129415}" type="slidenum">
              <a:rPr lang="en-US" altLang="en-US" sz="1300"/>
              <a:pPr>
                <a:spcBef>
                  <a:spcPct val="0"/>
                </a:spcBef>
              </a:pPr>
              <a:t>35</a:t>
            </a:fld>
            <a:endParaRPr lang="en-US" altLang="en-US" sz="13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43E7147C-D594-433C-A5E1-A0B3D7B64A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60835B37-D988-43B6-8D91-28C307462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06818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A14D627B-8583-4FCC-8823-103F47D7D0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A3E663E3-952B-4846-8441-493A61D6A660}" type="slidenum">
              <a:rPr lang="en-US" altLang="en-US" sz="1300"/>
              <a:pPr algn="r">
                <a:spcBef>
                  <a:spcPct val="0"/>
                </a:spcBef>
              </a:pPr>
              <a:t>36</a:t>
            </a:fld>
            <a:endParaRPr lang="en-US" altLang="en-US" sz="13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E6B91A8E-8D5B-4723-943B-0641B2205B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6D29102D-C5AC-4F22-9F01-526D62221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05067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F794B59E-23F9-4AF1-87EC-4AAEF380C6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BD636F-715A-4B25-A681-97DEEED8DD2F}" type="slidenum">
              <a:rPr lang="en-US" altLang="en-US" sz="1300"/>
              <a:pPr>
                <a:spcBef>
                  <a:spcPct val="0"/>
                </a:spcBef>
              </a:pPr>
              <a:t>38</a:t>
            </a:fld>
            <a:endParaRPr lang="en-US" altLang="en-US" sz="1300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1F8D85A2-D5DE-4B5C-842A-4ED3B9385D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ADE88C13-5FDC-4080-B024-79E0712BC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EB4A74A6-6BAE-48D5-887A-08ECE2B9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2CF5737-26BD-43D3-AD5F-CA57BF00685E}" type="slidenum">
              <a:rPr lang="en-US" altLang="en-US" sz="1300"/>
              <a:pPr>
                <a:spcBef>
                  <a:spcPct val="0"/>
                </a:spcBef>
              </a:pPr>
              <a:t>39</a:t>
            </a:fld>
            <a:endParaRPr lang="en-US" altLang="en-US" sz="13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1A2D4F9E-523D-4D83-9CCA-0A0A3EDC3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4C17232C-71C3-4C8F-94CC-B46F85BCC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5B23C462-273B-47CE-B464-FA0DEA18F6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041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2" y="1102497"/>
            <a:ext cx="8014277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1BFAE-C44B-49AE-8C45-A7AABAAB5FE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26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BE0E1-96FA-42C8-A339-7F81B98D396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80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2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23997-F532-4D5B-B2F3-9E05A41D49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48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49892-EB20-4383-9D6A-6D1ED2147F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2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71689-3C51-413B-9388-DDBA7E74E1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73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D7985-991B-46C7-A32A-6942E2DB118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8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9FD90-85FD-43B3-9F6B-6E3DF5251A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6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78238-A850-4F7F-9FB2-C7F3ED5115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90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75237-B0F8-4D27-B8AA-EA0E8F7832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95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221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434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BECEEC-3BC9-4D4E-99DA-2E5AA45784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714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B007E-8C7F-4E2E-BC7B-2A3A1679722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4879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9CFE0C-32D0-48F6-B754-86DDD932679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496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5F951-6F0A-4BC8-8E78-042EB20EDAB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08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6627F7-2F2A-48BC-9DFD-9A2600CFA5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81086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2BFDD5-512B-4522-BA85-F72134273AE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5573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058DFD-FDB4-43ED-A73B-376F2F66B10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2417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6AB476-D146-4EA7-B6A7-C7ED67CB09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4132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A0457E-5E49-4C84-A5ED-8D6AE6DEE1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8480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E47378-4043-40E8-88FD-3B9FC25ACA7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16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185160-A181-4E5D-A8B9-6CC6B5BAC31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200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71D89C-2CB1-4680-B533-FD01CA337ED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8254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B007E-8C7F-4E2E-BC7B-2A3A1679722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7903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9CFE0C-32D0-48F6-B754-86DDD932679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3831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5F951-6F0A-4BC8-8E78-042EB20EDAB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63453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6627F7-2F2A-48BC-9DFD-9A2600CFA5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87711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2BFDD5-512B-4522-BA85-F72134273AE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88225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058DFD-FDB4-43ED-A73B-376F2F66B10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418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6AB476-D146-4EA7-B6A7-C7ED67CB09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9856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A0457E-5E49-4C84-A5ED-8D6AE6DEE1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0357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E47378-4043-40E8-88FD-3B9FC25ACA7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7976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185160-A181-4E5D-A8B9-6CC6B5BAC31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642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71D89C-2CB1-4680-B533-FD01CA337ED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7151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15.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C51EB6E8-DB40-47B3-A1ED-7368CB8F40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/>
          <a:stretch>
            <a:fillRect/>
          </a:stretch>
        </p:blipFill>
        <p:spPr bwMode="auto">
          <a:xfrm>
            <a:off x="2304" y="0"/>
            <a:ext cx="812084" cy="103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004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20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FE058-E24E-44D4-8AE6-4ED6084A3F1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3/27/2023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96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FE058-E24E-44D4-8AE6-4ED6084A3F1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CA4BC5-AE2A-401E-9EDD-DF8812A14A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74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7CAECB4A-B3AE-47EA-8608-B6EE8F6B22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Chapter 15: Query 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83E7B48-50DD-40B1-82EB-DB0F7EE99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Chapter 15:  Query Processing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04C8AB1-093B-4BD3-B57D-1117443AEF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74689"/>
            <a:ext cx="7509376" cy="3096524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Overview 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Measures of Query </a:t>
            </a:r>
            <a:r>
              <a:rPr lang="en-US" altLang="en-US" dirty="0" smtClean="0">
                <a:ea typeface="MS PGothic" panose="020B0600070205080204" pitchFamily="34" charset="-128"/>
              </a:rPr>
              <a:t>Cost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Sorting 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Selection Operation  </a:t>
            </a:r>
          </a:p>
          <a:p>
            <a:r>
              <a:rPr lang="en-US" altLang="en-US" dirty="0" smtClean="0">
                <a:ea typeface="MS PGothic" panose="020B0600070205080204" pitchFamily="34" charset="-128"/>
              </a:rPr>
              <a:t>Join </a:t>
            </a:r>
            <a:r>
              <a:rPr lang="en-US" altLang="en-US" dirty="0">
                <a:ea typeface="MS PGothic" panose="020B0600070205080204" pitchFamily="34" charset="-128"/>
              </a:rPr>
              <a:t>Operation 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Other Operations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Evaluation of Expressions</a:t>
            </a:r>
          </a:p>
        </p:txBody>
      </p:sp>
    </p:spTree>
  </p:cSld>
  <p:clrMapOvr>
    <a:masterClrMapping/>
  </p:clrMapOvr>
  <p:transition advTm="5014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C4F7EECF-E672-4EC7-A229-C16B8BBFB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D2522C3-D90D-4FC0-8084-00D008867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93788"/>
            <a:ext cx="6925870" cy="1228307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	Parsing and translation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2.	Optimization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3.	Evaluation</a:t>
            </a:r>
          </a:p>
        </p:txBody>
      </p:sp>
      <p:pic>
        <p:nvPicPr>
          <p:cNvPr id="9220" name="Picture 11">
            <a:extLst>
              <a:ext uri="{FF2B5EF4-FFF2-40B4-BE49-F238E27FC236}">
                <a16:creationId xmlns:a16="http://schemas.microsoft.com/office/drawing/2014/main" id="{CDACD50C-619F-4E1E-97A1-AEC99C2D4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0" y="2299271"/>
            <a:ext cx="5855786" cy="3516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701EDBC9-0803-4051-8741-608A2893C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3875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Processing: Optimization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555D7EF-9E4A-4BE9-B712-A77059F3A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0946" y="1180730"/>
            <a:ext cx="8759536" cy="4137228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A relational algebra expression may have many equivalent expressions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E.g., </a:t>
            </a:r>
            <a:r>
              <a:rPr lang="en-US" altLang="en-US" sz="19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9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19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75000</a:t>
            </a:r>
            <a:r>
              <a:rPr lang="en-US" altLang="en-US" sz="1900" dirty="0">
                <a:ea typeface="MS PGothic" panose="020B0600070205080204" pitchFamily="34" charset="-128"/>
                <a:sym typeface="Symbol" panose="05050102010706020507" pitchFamily="18" charset="2"/>
              </a:rPr>
              <a:t>(</a:t>
            </a:r>
            <a:r>
              <a:rPr lang="en-US" altLang="en-US" sz="19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instructor)) </a:t>
            </a:r>
            <a:endParaRPr lang="en-US" altLang="en-US" i="1" dirty="0" smtClean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857250" lvl="2" indent="0">
              <a:buNone/>
            </a:pP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 smtClean="0">
                <a:ea typeface="MS PGothic" panose="020B0600070205080204" pitchFamily="34" charset="-128"/>
                <a:sym typeface="Symbol" panose="05050102010706020507" pitchFamily="18" charset="2"/>
              </a:rPr>
              <a:t>              </a:t>
            </a:r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is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equivalent to 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   </a:t>
            </a:r>
            <a:r>
              <a:rPr lang="en-US" altLang="en-US" sz="1900" dirty="0">
                <a:ea typeface="MS PGothic" panose="020B0600070205080204" pitchFamily="34" charset="-128"/>
                <a:sym typeface="Symbol" panose="05050102010706020507" pitchFamily="18" charset="2"/>
              </a:rPr>
              <a:t></a:t>
            </a:r>
            <a:r>
              <a:rPr lang="en-US" altLang="en-US" sz="19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1900" dirty="0">
                <a:ea typeface="MS PGothic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en-US" sz="19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19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75000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</a:t>
            </a:r>
            <a:r>
              <a:rPr lang="en-US" altLang="en-US" i="1" dirty="0" smtClean="0">
                <a:ea typeface="MS PGothic" panose="020B0600070205080204" pitchFamily="34" charset="-128"/>
                <a:sym typeface="Symbol" panose="05050102010706020507" pitchFamily="18" charset="2"/>
              </a:rPr>
              <a:t>))</a:t>
            </a:r>
            <a:endParaRPr lang="en-US" altLang="en-US" dirty="0" smtClean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Annotated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expression specifying detailed evaluation strategy is called an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evaluation-plan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.  E.g.,: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Use an index on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to find instructors with salary &lt; 75000,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Or perform complete relation scan and discard instructors with salary  </a:t>
            </a:r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75000</a:t>
            </a:r>
          </a:p>
          <a:p>
            <a:endParaRPr lang="en-US" altLang="en-US" dirty="0" smtClean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Each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relational algebra operation can be evaluated using one of several different algorithms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Correspondingly, a relational-algebra expression can be evaluated in many ways</a:t>
            </a:r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.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Query Optimization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: Amongst all equivalent evaluation plans choose the one with lowest cost.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Cost is estimated using statistical information from the database catalog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e.g.. number of tuples in each relation, size of tuples, etc.</a:t>
            </a:r>
          </a:p>
          <a:p>
            <a:pPr lvl="1"/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02497"/>
            <a:ext cx="8510155" cy="5202050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Many factors contribute to time cost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disk access, CPU</a:t>
            </a:r>
            <a:r>
              <a:rPr lang="en-US" altLang="en-US" dirty="0">
                <a:ea typeface="MS PGothic" panose="020B0600070205080204" pitchFamily="34" charset="-128"/>
              </a:rPr>
              <a:t>, and network </a:t>
            </a:r>
            <a:r>
              <a:rPr lang="en-US" altLang="en-US" i="1" dirty="0" smtClean="0">
                <a:ea typeface="MS PGothic" panose="020B0600070205080204" pitchFamily="34" charset="-128"/>
              </a:rPr>
              <a:t>communication</a:t>
            </a:r>
            <a:endParaRPr lang="en-US" altLang="en-US" dirty="0" smtClean="0">
              <a:ea typeface="MS PGothic" panose="020B0600070205080204" pitchFamily="34" charset="-128"/>
            </a:endParaRPr>
          </a:p>
          <a:p>
            <a:r>
              <a:rPr lang="en-US" altLang="en-US" dirty="0" smtClean="0">
                <a:ea typeface="MS PGothic" panose="020B0600070205080204" pitchFamily="34" charset="-128"/>
              </a:rPr>
              <a:t>Disk </a:t>
            </a:r>
            <a:r>
              <a:rPr lang="en-US" altLang="en-US" dirty="0">
                <a:ea typeface="MS PGothic" panose="020B0600070205080204" pitchFamily="34" charset="-128"/>
              </a:rPr>
              <a:t>cost can be estimated as: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seeks             * average-seek-cost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blocks read     * average-block-read-cost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blocks written * average-block-write-cost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For simplicity we just use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block transfers</a:t>
            </a:r>
            <a:r>
              <a:rPr lang="en-US" altLang="en-US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from disk and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seeks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as the cost measures</a:t>
            </a:r>
          </a:p>
          <a:p>
            <a:pPr lvl="1"/>
            <a:r>
              <a:rPr lang="en-US" altLang="en-US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– time to transfer one block</a:t>
            </a:r>
          </a:p>
          <a:p>
            <a:pPr lvl="1"/>
            <a:r>
              <a:rPr lang="en-US" altLang="en-US" i="1" dirty="0" err="1" smtClean="0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 smtClean="0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– time for one seek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Cost for b block transfers plus S seeks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 </a:t>
            </a:r>
            <a:r>
              <a:rPr lang="en-US" altLang="en-US" i="1" dirty="0">
                <a:ea typeface="MS PGothic" panose="020B0600070205080204" pitchFamily="34" charset="-128"/>
              </a:rPr>
              <a:t>b *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i="1" dirty="0">
                <a:ea typeface="MS PGothic" panose="020B0600070205080204" pitchFamily="34" charset="-128"/>
              </a:rPr>
              <a:t> + S *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  <a:p>
            <a:r>
              <a:rPr lang="en-US" altLang="en-US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accent4"/>
                </a:solidFill>
                <a:ea typeface="MS PGothic" panose="020B0600070205080204" pitchFamily="34" charset="-128"/>
              </a:rPr>
              <a:t>and</a:t>
            </a:r>
            <a:r>
              <a:rPr lang="en-US" altLang="en-US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depend on where data is stored; with 4 KB blocks: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High end magnetic disk: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= 4 </a:t>
            </a:r>
            <a:r>
              <a:rPr lang="en-US" altLang="en-US" dirty="0" err="1">
                <a:ea typeface="MS PGothic" panose="020B0600070205080204" pitchFamily="34" charset="-128"/>
              </a:rPr>
              <a:t>msec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=0.1 </a:t>
            </a:r>
            <a:r>
              <a:rPr lang="en-US" altLang="en-US" dirty="0" err="1">
                <a:ea typeface="MS PGothic" panose="020B0600070205080204" pitchFamily="34" charset="-128"/>
              </a:rPr>
              <a:t>msec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SSD: 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= 20-90 microsec and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= 2-10 microsec for 4KB 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0827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1026">
            <a:extLst>
              <a:ext uri="{FF2B5EF4-FFF2-40B4-BE49-F238E27FC236}">
                <a16:creationId xmlns:a16="http://schemas.microsoft.com/office/drawing/2014/main" id="{A3E1E502-3E9D-494A-A6D9-C6467FFE5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 (Cont.)</a:t>
            </a:r>
          </a:p>
        </p:txBody>
      </p:sp>
      <p:sp>
        <p:nvSpPr>
          <p:cNvPr id="21507" name="Rectangle 1027">
            <a:extLst>
              <a:ext uri="{FF2B5EF4-FFF2-40B4-BE49-F238E27FC236}">
                <a16:creationId xmlns:a16="http://schemas.microsoft.com/office/drawing/2014/main" id="{B3CCAC2C-F516-42ED-A047-876AE173F0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0366" y="1396181"/>
            <a:ext cx="8707379" cy="3726537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Required data may be buffer resident already, avoiding disk I/O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But hard to take into account for cost </a:t>
            </a:r>
            <a:r>
              <a:rPr lang="en-US" altLang="en-US" dirty="0" smtClean="0">
                <a:ea typeface="MS PGothic" panose="020B0600070205080204" pitchFamily="34" charset="-128"/>
              </a:rPr>
              <a:t>estimation</a:t>
            </a: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Several algorithms can reduce disk </a:t>
            </a:r>
            <a:r>
              <a:rPr lang="en-US" altLang="en-US" dirty="0" smtClean="0">
                <a:ea typeface="MS PGothic" panose="020B0600070205080204" pitchFamily="34" charset="-128"/>
              </a:rPr>
              <a:t>I/O </a:t>
            </a:r>
            <a:r>
              <a:rPr lang="en-US" altLang="en-US" dirty="0">
                <a:ea typeface="MS PGothic" panose="020B0600070205080204" pitchFamily="34" charset="-128"/>
              </a:rPr>
              <a:t>by using extra buffer space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Amount of real memory available to buffer depends on other concurrent queries and OS processes, known only during </a:t>
            </a:r>
            <a:r>
              <a:rPr lang="en-US" altLang="en-US" dirty="0" smtClean="0">
                <a:ea typeface="MS PGothic" panose="020B0600070205080204" pitchFamily="34" charset="-128"/>
              </a:rPr>
              <a:t>execution</a:t>
            </a: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dirty="0">
                <a:ea typeface="MS PGothic" panose="020B0600070205080204" pitchFamily="34" charset="-128"/>
              </a:rPr>
              <a:t>Worst case estimates assume that no data is initially in buffer  and only the minimum amount of memory needed for the operation is available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But more optimistic estimates are used in practice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7472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>
            <a:extLst>
              <a:ext uri="{FF2B5EF4-FFF2-40B4-BE49-F238E27FC236}">
                <a16:creationId xmlns:a16="http://schemas.microsoft.com/office/drawing/2014/main" id="{30ADAA97-BAE6-4F68-846B-69138BFF1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714" y="2756766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In-Memory vs. External Sorting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Assume we want to sort 60GB of data on a machine with only 8GB of RAM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In-Memory Sort (e.g., Quicksort) ?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Yes, but data do not fit in memory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What about relying on virtual memory</a:t>
            </a:r>
            <a:r>
              <a:rPr lang="en-US" sz="3200" dirty="0"/>
              <a:t>?</a:t>
            </a:r>
          </a:p>
          <a:p>
            <a:pPr lvl="1">
              <a:buFont typeface="Wingdings" pitchFamily="2" charset="2"/>
              <a:buChar char="§"/>
            </a:pPr>
            <a:endParaRPr lang="en-US" sz="3200" dirty="0"/>
          </a:p>
          <a:p>
            <a:pPr lvl="1">
              <a:buFont typeface="Wingdings" pitchFamily="2" charset="2"/>
              <a:buChar char="§"/>
            </a:pPr>
            <a:r>
              <a:rPr lang="en-US" sz="3200" dirty="0"/>
              <a:t>In this case, </a:t>
            </a:r>
            <a:r>
              <a:rPr lang="en-US" sz="3200" dirty="0">
                <a:solidFill>
                  <a:srgbClr val="0070C0"/>
                </a:solidFill>
              </a:rPr>
              <a:t>external sorting </a:t>
            </a:r>
            <a:r>
              <a:rPr lang="en-US" sz="3200" dirty="0"/>
              <a:t>is needed</a:t>
            </a:r>
          </a:p>
          <a:p>
            <a:pPr lvl="2">
              <a:buFont typeface="Wingdings" pitchFamily="2" charset="2"/>
              <a:buChar char="§"/>
            </a:pPr>
            <a:r>
              <a:rPr lang="en-US" sz="2600" dirty="0"/>
              <a:t>In-memory sorting is </a:t>
            </a:r>
            <a:r>
              <a:rPr lang="en-US" sz="2600" i="1" dirty="0"/>
              <a:t>orthogonal</a:t>
            </a:r>
            <a:r>
              <a:rPr lang="en-US" sz="2600" dirty="0"/>
              <a:t> to external sorting!</a:t>
            </a:r>
          </a:p>
          <a:p>
            <a:pPr>
              <a:buFont typeface="Wingdings" pitchFamily="2" charset="2"/>
              <a:buChar char="§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0128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 Simple Two-Way Merge Sort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>
                <a:solidFill>
                  <a:srgbClr val="0070C0"/>
                </a:solidFill>
              </a:rPr>
              <a:t>IDEA</a:t>
            </a:r>
            <a:r>
              <a:rPr lang="en-US" sz="2800" dirty="0"/>
              <a:t>: Sort sub-files that can fit in memory and merge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Let us refer to each sorted sub-file as a</a:t>
            </a:r>
            <a:r>
              <a:rPr lang="en-US" sz="2800" b="1" i="1" dirty="0"/>
              <a:t> </a:t>
            </a:r>
            <a:r>
              <a:rPr lang="en-US" sz="2800" i="1" u="sng" dirty="0">
                <a:solidFill>
                  <a:srgbClr val="0070C0"/>
                </a:solidFill>
              </a:rPr>
              <a:t>run</a:t>
            </a:r>
          </a:p>
          <a:p>
            <a:pPr>
              <a:buFont typeface="Wingdings" pitchFamily="2" charset="2"/>
              <a:buChar char="§"/>
            </a:pPr>
            <a:endParaRPr lang="en-US" sz="2600" b="1" i="1" dirty="0"/>
          </a:p>
          <a:p>
            <a:pPr>
              <a:buFont typeface="Wingdings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Algorithm: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Pass 0:</a:t>
            </a:r>
            <a:r>
              <a:rPr lang="en-US" dirty="0"/>
              <a:t> Read a page into memory, sort it, write it</a:t>
            </a:r>
          </a:p>
          <a:p>
            <a:pPr lvl="2">
              <a:buSzPct val="75000"/>
              <a:buFont typeface="Wingdings" pitchFamily="2" charset="2"/>
              <a:buChar char="§"/>
            </a:pPr>
            <a:r>
              <a:rPr lang="en-US" dirty="0"/>
              <a:t>1-page runs</a:t>
            </a:r>
            <a:r>
              <a:rPr lang="en-US" i="1" dirty="0"/>
              <a:t> </a:t>
            </a:r>
            <a:r>
              <a:rPr lang="en-US" dirty="0"/>
              <a:t>are produced</a:t>
            </a:r>
          </a:p>
          <a:p>
            <a:pPr lvl="1">
              <a:buSzPct val="75000"/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Passes 1, 2, …: </a:t>
            </a:r>
            <a:r>
              <a:rPr lang="en-US" dirty="0"/>
              <a:t>Merge </a:t>
            </a:r>
            <a:r>
              <a:rPr lang="en-US" i="1" dirty="0"/>
              <a:t>pairs</a:t>
            </a:r>
            <a:r>
              <a:rPr lang="en-US" dirty="0"/>
              <a:t> (hence, 2-way) of runs to produce longer runs until only one run is left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3330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 Simple Two-Way Merge Sort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rgbClr val="C00000"/>
                </a:solidFill>
              </a:rPr>
              <a:t>Algorithm: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Pass 0</a:t>
            </a:r>
            <a:r>
              <a:rPr lang="en-US" sz="2600" dirty="0"/>
              <a:t>: Read a page into memory, sort it, write it</a:t>
            </a:r>
          </a:p>
          <a:p>
            <a:pPr lvl="2">
              <a:buSzPct val="75000"/>
              <a:buFont typeface="Wingdings" pitchFamily="2" charset="2"/>
              <a:buChar char="§"/>
            </a:pPr>
            <a:r>
              <a:rPr lang="en-US" dirty="0"/>
              <a:t>How many buffer pages are needed? </a:t>
            </a:r>
          </a:p>
          <a:p>
            <a:pPr lvl="1">
              <a:buSzPct val="75000"/>
              <a:buFont typeface="Wingdings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Passes 1, 2, …</a:t>
            </a:r>
            <a:r>
              <a:rPr lang="en-US" sz="2600" dirty="0"/>
              <a:t>: Merge </a:t>
            </a:r>
            <a:r>
              <a:rPr lang="en-US" sz="2600" i="1" dirty="0"/>
              <a:t>pairs</a:t>
            </a:r>
            <a:r>
              <a:rPr lang="en-US" sz="2600" dirty="0"/>
              <a:t> (hence, 2-way) of runs to produce longer runs until only one run is left</a:t>
            </a:r>
          </a:p>
          <a:p>
            <a:pPr lvl="2">
              <a:buSzPct val="75000"/>
              <a:buFont typeface="Wingdings" pitchFamily="2" charset="2"/>
              <a:buChar char="§"/>
            </a:pPr>
            <a:r>
              <a:rPr lang="en-US" dirty="0"/>
              <a:t>How many buffer pages are needed? 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6854825" y="4735513"/>
            <a:ext cx="1316037" cy="220662"/>
          </a:xfrm>
          <a:custGeom>
            <a:avLst/>
            <a:gdLst>
              <a:gd name="T0" fmla="*/ 828 w 829"/>
              <a:gd name="T1" fmla="*/ 70 h 139"/>
              <a:gd name="T2" fmla="*/ 796 w 829"/>
              <a:gd name="T3" fmla="*/ 42 h 139"/>
              <a:gd name="T4" fmla="*/ 707 w 829"/>
              <a:gd name="T5" fmla="*/ 21 h 139"/>
              <a:gd name="T6" fmla="*/ 414 w 829"/>
              <a:gd name="T7" fmla="*/ 0 h 139"/>
              <a:gd name="T8" fmla="*/ 122 w 829"/>
              <a:gd name="T9" fmla="*/ 21 h 139"/>
              <a:gd name="T10" fmla="*/ 33 w 829"/>
              <a:gd name="T11" fmla="*/ 42 h 139"/>
              <a:gd name="T12" fmla="*/ 0 w 829"/>
              <a:gd name="T13" fmla="*/ 70 h 139"/>
              <a:gd name="T14" fmla="*/ 33 w 829"/>
              <a:gd name="T15" fmla="*/ 97 h 139"/>
              <a:gd name="T16" fmla="*/ 122 w 829"/>
              <a:gd name="T17" fmla="*/ 118 h 139"/>
              <a:gd name="T18" fmla="*/ 414 w 829"/>
              <a:gd name="T19" fmla="*/ 138 h 139"/>
              <a:gd name="T20" fmla="*/ 707 w 829"/>
              <a:gd name="T21" fmla="*/ 118 h 139"/>
              <a:gd name="T22" fmla="*/ 796 w 829"/>
              <a:gd name="T23" fmla="*/ 97 h 139"/>
              <a:gd name="T24" fmla="*/ 828 w 829"/>
              <a:gd name="T25" fmla="*/ 7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29" h="139">
                <a:moveTo>
                  <a:pt x="828" y="70"/>
                </a:moveTo>
                <a:lnTo>
                  <a:pt x="796" y="42"/>
                </a:lnTo>
                <a:lnTo>
                  <a:pt x="707" y="21"/>
                </a:lnTo>
                <a:lnTo>
                  <a:pt x="414" y="0"/>
                </a:lnTo>
                <a:lnTo>
                  <a:pt x="122" y="21"/>
                </a:lnTo>
                <a:lnTo>
                  <a:pt x="33" y="42"/>
                </a:lnTo>
                <a:lnTo>
                  <a:pt x="0" y="70"/>
                </a:lnTo>
                <a:lnTo>
                  <a:pt x="33" y="97"/>
                </a:lnTo>
                <a:lnTo>
                  <a:pt x="122" y="118"/>
                </a:lnTo>
                <a:lnTo>
                  <a:pt x="414" y="138"/>
                </a:lnTo>
                <a:lnTo>
                  <a:pt x="707" y="118"/>
                </a:lnTo>
                <a:lnTo>
                  <a:pt x="796" y="97"/>
                </a:lnTo>
                <a:lnTo>
                  <a:pt x="828" y="70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509712" y="5132388"/>
            <a:ext cx="1039813" cy="150812"/>
          </a:xfrm>
          <a:custGeom>
            <a:avLst/>
            <a:gdLst>
              <a:gd name="T0" fmla="*/ 0 w 655"/>
              <a:gd name="T1" fmla="*/ 94 h 95"/>
              <a:gd name="T2" fmla="*/ 0 w 655"/>
              <a:gd name="T3" fmla="*/ 0 h 95"/>
              <a:gd name="T4" fmla="*/ 654 w 655"/>
              <a:gd name="T5" fmla="*/ 0 h 95"/>
              <a:gd name="T6" fmla="*/ 654 w 655"/>
              <a:gd name="T7" fmla="*/ 94 h 95"/>
              <a:gd name="T8" fmla="*/ 0 w 655"/>
              <a:gd name="T9" fmla="*/ 94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5" h="95">
                <a:moveTo>
                  <a:pt x="0" y="94"/>
                </a:moveTo>
                <a:lnTo>
                  <a:pt x="0" y="0"/>
                </a:lnTo>
                <a:lnTo>
                  <a:pt x="654" y="0"/>
                </a:lnTo>
                <a:lnTo>
                  <a:pt x="654" y="94"/>
                </a:lnTo>
                <a:lnTo>
                  <a:pt x="0" y="9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1509712" y="5880100"/>
            <a:ext cx="1068388" cy="138113"/>
          </a:xfrm>
          <a:custGeom>
            <a:avLst/>
            <a:gdLst>
              <a:gd name="T0" fmla="*/ 0 w 673"/>
              <a:gd name="T1" fmla="*/ 86 h 87"/>
              <a:gd name="T2" fmla="*/ 0 w 673"/>
              <a:gd name="T3" fmla="*/ 0 h 87"/>
              <a:gd name="T4" fmla="*/ 672 w 673"/>
              <a:gd name="T5" fmla="*/ 0 h 87"/>
              <a:gd name="T6" fmla="*/ 672 w 673"/>
              <a:gd name="T7" fmla="*/ 86 h 87"/>
              <a:gd name="T8" fmla="*/ 0 w 673"/>
              <a:gd name="T9" fmla="*/ 86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3" h="87">
                <a:moveTo>
                  <a:pt x="0" y="86"/>
                </a:moveTo>
                <a:lnTo>
                  <a:pt x="0" y="0"/>
                </a:lnTo>
                <a:lnTo>
                  <a:pt x="672" y="0"/>
                </a:lnTo>
                <a:lnTo>
                  <a:pt x="672" y="86"/>
                </a:lnTo>
                <a:lnTo>
                  <a:pt x="0" y="86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1371600" y="4764088"/>
            <a:ext cx="1314450" cy="219075"/>
          </a:xfrm>
          <a:custGeom>
            <a:avLst/>
            <a:gdLst>
              <a:gd name="T0" fmla="*/ 827 w 828"/>
              <a:gd name="T1" fmla="*/ 69 h 138"/>
              <a:gd name="T2" fmla="*/ 795 w 828"/>
              <a:gd name="T3" fmla="*/ 42 h 138"/>
              <a:gd name="T4" fmla="*/ 706 w 828"/>
              <a:gd name="T5" fmla="*/ 20 h 138"/>
              <a:gd name="T6" fmla="*/ 414 w 828"/>
              <a:gd name="T7" fmla="*/ 0 h 138"/>
              <a:gd name="T8" fmla="*/ 121 w 828"/>
              <a:gd name="T9" fmla="*/ 20 h 138"/>
              <a:gd name="T10" fmla="*/ 32 w 828"/>
              <a:gd name="T11" fmla="*/ 42 h 138"/>
              <a:gd name="T12" fmla="*/ 0 w 828"/>
              <a:gd name="T13" fmla="*/ 69 h 138"/>
              <a:gd name="T14" fmla="*/ 32 w 828"/>
              <a:gd name="T15" fmla="*/ 95 h 138"/>
              <a:gd name="T16" fmla="*/ 121 w 828"/>
              <a:gd name="T17" fmla="*/ 117 h 138"/>
              <a:gd name="T18" fmla="*/ 414 w 828"/>
              <a:gd name="T19" fmla="*/ 137 h 138"/>
              <a:gd name="T20" fmla="*/ 706 w 828"/>
              <a:gd name="T21" fmla="*/ 117 h 138"/>
              <a:gd name="T22" fmla="*/ 795 w 828"/>
              <a:gd name="T23" fmla="*/ 95 h 138"/>
              <a:gd name="T24" fmla="*/ 827 w 828"/>
              <a:gd name="T25" fmla="*/ 69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28" h="138">
                <a:moveTo>
                  <a:pt x="827" y="69"/>
                </a:moveTo>
                <a:lnTo>
                  <a:pt x="795" y="42"/>
                </a:lnTo>
                <a:lnTo>
                  <a:pt x="706" y="20"/>
                </a:lnTo>
                <a:lnTo>
                  <a:pt x="414" y="0"/>
                </a:lnTo>
                <a:lnTo>
                  <a:pt x="121" y="20"/>
                </a:lnTo>
                <a:lnTo>
                  <a:pt x="32" y="42"/>
                </a:lnTo>
                <a:lnTo>
                  <a:pt x="0" y="69"/>
                </a:lnTo>
                <a:lnTo>
                  <a:pt x="32" y="95"/>
                </a:lnTo>
                <a:lnTo>
                  <a:pt x="121" y="117"/>
                </a:lnTo>
                <a:lnTo>
                  <a:pt x="414" y="137"/>
                </a:lnTo>
                <a:lnTo>
                  <a:pt x="706" y="117"/>
                </a:lnTo>
                <a:lnTo>
                  <a:pt x="795" y="95"/>
                </a:lnTo>
                <a:lnTo>
                  <a:pt x="827" y="69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398837" y="6202363"/>
            <a:ext cx="27305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Main memory buffers</a:t>
            </a:r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6964362" y="5430838"/>
            <a:ext cx="1055688" cy="138112"/>
          </a:xfrm>
          <a:custGeom>
            <a:avLst/>
            <a:gdLst>
              <a:gd name="T0" fmla="*/ 0 w 665"/>
              <a:gd name="T1" fmla="*/ 86 h 87"/>
              <a:gd name="T2" fmla="*/ 0 w 665"/>
              <a:gd name="T3" fmla="*/ 0 h 87"/>
              <a:gd name="T4" fmla="*/ 664 w 665"/>
              <a:gd name="T5" fmla="*/ 0 h 87"/>
              <a:gd name="T6" fmla="*/ 664 w 665"/>
              <a:gd name="T7" fmla="*/ 86 h 87"/>
              <a:gd name="T8" fmla="*/ 0 w 665"/>
              <a:gd name="T9" fmla="*/ 86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5" h="87">
                <a:moveTo>
                  <a:pt x="0" y="86"/>
                </a:moveTo>
                <a:lnTo>
                  <a:pt x="0" y="0"/>
                </a:lnTo>
                <a:lnTo>
                  <a:pt x="664" y="0"/>
                </a:lnTo>
                <a:lnTo>
                  <a:pt x="664" y="86"/>
                </a:lnTo>
                <a:lnTo>
                  <a:pt x="0" y="86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6978650" y="5662613"/>
            <a:ext cx="1055687" cy="125412"/>
          </a:xfrm>
          <a:custGeom>
            <a:avLst/>
            <a:gdLst>
              <a:gd name="T0" fmla="*/ 0 w 665"/>
              <a:gd name="T1" fmla="*/ 78 h 79"/>
              <a:gd name="T2" fmla="*/ 0 w 665"/>
              <a:gd name="T3" fmla="*/ 0 h 79"/>
              <a:gd name="T4" fmla="*/ 664 w 665"/>
              <a:gd name="T5" fmla="*/ 0 h 79"/>
              <a:gd name="T6" fmla="*/ 664 w 665"/>
              <a:gd name="T7" fmla="*/ 78 h 79"/>
              <a:gd name="T8" fmla="*/ 0 w 665"/>
              <a:gd name="T9" fmla="*/ 78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5" h="79">
                <a:moveTo>
                  <a:pt x="0" y="78"/>
                </a:moveTo>
                <a:lnTo>
                  <a:pt x="0" y="0"/>
                </a:lnTo>
                <a:lnTo>
                  <a:pt x="664" y="0"/>
                </a:lnTo>
                <a:lnTo>
                  <a:pt x="664" y="78"/>
                </a:lnTo>
                <a:lnTo>
                  <a:pt x="0" y="78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3519487" y="4878388"/>
            <a:ext cx="1127125" cy="444500"/>
          </a:xfrm>
          <a:custGeom>
            <a:avLst/>
            <a:gdLst>
              <a:gd name="T0" fmla="*/ 0 w 710"/>
              <a:gd name="T1" fmla="*/ 279 h 280"/>
              <a:gd name="T2" fmla="*/ 0 w 710"/>
              <a:gd name="T3" fmla="*/ 0 h 280"/>
              <a:gd name="T4" fmla="*/ 709 w 710"/>
              <a:gd name="T5" fmla="*/ 0 h 280"/>
              <a:gd name="T6" fmla="*/ 709 w 710"/>
              <a:gd name="T7" fmla="*/ 279 h 280"/>
              <a:gd name="T8" fmla="*/ 0 w 710"/>
              <a:gd name="T9" fmla="*/ 279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0" h="280">
                <a:moveTo>
                  <a:pt x="0" y="279"/>
                </a:moveTo>
                <a:lnTo>
                  <a:pt x="0" y="0"/>
                </a:lnTo>
                <a:lnTo>
                  <a:pt x="709" y="0"/>
                </a:lnTo>
                <a:lnTo>
                  <a:pt x="709" y="279"/>
                </a:lnTo>
                <a:lnTo>
                  <a:pt x="0" y="279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5272087" y="5354638"/>
            <a:ext cx="1001713" cy="360362"/>
          </a:xfrm>
          <a:custGeom>
            <a:avLst/>
            <a:gdLst>
              <a:gd name="T0" fmla="*/ 0 w 631"/>
              <a:gd name="T1" fmla="*/ 226 h 227"/>
              <a:gd name="T2" fmla="*/ 0 w 631"/>
              <a:gd name="T3" fmla="*/ 0 h 227"/>
              <a:gd name="T4" fmla="*/ 630 w 631"/>
              <a:gd name="T5" fmla="*/ 0 h 227"/>
              <a:gd name="T6" fmla="*/ 630 w 631"/>
              <a:gd name="T7" fmla="*/ 226 h 227"/>
              <a:gd name="T8" fmla="*/ 0 w 631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1" h="227">
                <a:moveTo>
                  <a:pt x="0" y="226"/>
                </a:moveTo>
                <a:lnTo>
                  <a:pt x="0" y="0"/>
                </a:lnTo>
                <a:lnTo>
                  <a:pt x="630" y="0"/>
                </a:lnTo>
                <a:lnTo>
                  <a:pt x="630" y="226"/>
                </a:lnTo>
                <a:lnTo>
                  <a:pt x="0" y="226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3492500" y="5721350"/>
            <a:ext cx="1127125" cy="446088"/>
          </a:xfrm>
          <a:custGeom>
            <a:avLst/>
            <a:gdLst>
              <a:gd name="T0" fmla="*/ 0 w 710"/>
              <a:gd name="T1" fmla="*/ 280 h 281"/>
              <a:gd name="T2" fmla="*/ 0 w 710"/>
              <a:gd name="T3" fmla="*/ 0 h 281"/>
              <a:gd name="T4" fmla="*/ 709 w 710"/>
              <a:gd name="T5" fmla="*/ 0 h 281"/>
              <a:gd name="T6" fmla="*/ 709 w 710"/>
              <a:gd name="T7" fmla="*/ 280 h 281"/>
              <a:gd name="T8" fmla="*/ 0 w 710"/>
              <a:gd name="T9" fmla="*/ 280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0" h="281">
                <a:moveTo>
                  <a:pt x="0" y="280"/>
                </a:moveTo>
                <a:lnTo>
                  <a:pt x="0" y="0"/>
                </a:lnTo>
                <a:lnTo>
                  <a:pt x="709" y="0"/>
                </a:lnTo>
                <a:lnTo>
                  <a:pt x="709" y="280"/>
                </a:lnTo>
                <a:lnTo>
                  <a:pt x="0" y="280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3014662" y="4560888"/>
            <a:ext cx="3433763" cy="2055812"/>
          </a:xfrm>
          <a:custGeom>
            <a:avLst/>
            <a:gdLst>
              <a:gd name="T0" fmla="*/ 0 w 2163"/>
              <a:gd name="T1" fmla="*/ 1294 h 1295"/>
              <a:gd name="T2" fmla="*/ 0 w 2163"/>
              <a:gd name="T3" fmla="*/ 0 h 1295"/>
              <a:gd name="T4" fmla="*/ 2162 w 2163"/>
              <a:gd name="T5" fmla="*/ 0 h 1295"/>
              <a:gd name="T6" fmla="*/ 2162 w 2163"/>
              <a:gd name="T7" fmla="*/ 1294 h 1295"/>
              <a:gd name="T8" fmla="*/ 0 w 2163"/>
              <a:gd name="T9" fmla="*/ 1294 h 1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3" h="1295">
                <a:moveTo>
                  <a:pt x="0" y="1294"/>
                </a:moveTo>
                <a:lnTo>
                  <a:pt x="0" y="0"/>
                </a:lnTo>
                <a:lnTo>
                  <a:pt x="2162" y="0"/>
                </a:lnTo>
                <a:lnTo>
                  <a:pt x="2162" y="1294"/>
                </a:lnTo>
                <a:lnTo>
                  <a:pt x="0" y="129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3498850" y="4916488"/>
            <a:ext cx="1042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INPUT 1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3498850" y="5761038"/>
            <a:ext cx="1042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INPUT 2</a:t>
            </a: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5221287" y="5365750"/>
            <a:ext cx="10636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7231062" y="6315075"/>
            <a:ext cx="7112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Disk</a:t>
            </a:r>
          </a:p>
        </p:txBody>
      </p:sp>
      <p:sp>
        <p:nvSpPr>
          <p:cNvPr id="19" name="Rectangle 21"/>
          <p:cNvSpPr>
            <a:spLocks noChangeArrowheads="1"/>
          </p:cNvSpPr>
          <p:nvPr/>
        </p:nvSpPr>
        <p:spPr bwMode="auto">
          <a:xfrm>
            <a:off x="1679575" y="6342063"/>
            <a:ext cx="7112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Disk</a:t>
            </a: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1385887" y="4864100"/>
            <a:ext cx="0" cy="1219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>
            <a:off x="2681287" y="4864100"/>
            <a:ext cx="0" cy="1219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 26"/>
          <p:cNvGrpSpPr>
            <a:grpSpLocks/>
          </p:cNvGrpSpPr>
          <p:nvPr/>
        </p:nvGrpSpPr>
        <p:grpSpPr bwMode="auto">
          <a:xfrm>
            <a:off x="1389062" y="6083300"/>
            <a:ext cx="1292225" cy="152400"/>
            <a:chOff x="962" y="3456"/>
            <a:chExt cx="814" cy="96"/>
          </a:xfrm>
        </p:grpSpPr>
        <p:sp>
          <p:nvSpPr>
            <p:cNvPr id="23" name="Arc 24"/>
            <p:cNvSpPr>
              <a:spLocks/>
            </p:cNvSpPr>
            <p:nvPr/>
          </p:nvSpPr>
          <p:spPr bwMode="auto">
            <a:xfrm>
              <a:off x="962" y="3456"/>
              <a:ext cx="432" cy="96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Arc 25"/>
            <p:cNvSpPr>
              <a:spLocks/>
            </p:cNvSpPr>
            <p:nvPr/>
          </p:nvSpPr>
          <p:spPr bwMode="auto">
            <a:xfrm>
              <a:off x="1344" y="3456"/>
              <a:ext cx="432" cy="9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" name="Group 29"/>
          <p:cNvGrpSpPr>
            <a:grpSpLocks/>
          </p:cNvGrpSpPr>
          <p:nvPr/>
        </p:nvGrpSpPr>
        <p:grpSpPr bwMode="auto">
          <a:xfrm>
            <a:off x="6875462" y="6083300"/>
            <a:ext cx="1292225" cy="152400"/>
            <a:chOff x="4418" y="3456"/>
            <a:chExt cx="814" cy="96"/>
          </a:xfrm>
        </p:grpSpPr>
        <p:sp>
          <p:nvSpPr>
            <p:cNvPr id="26" name="Arc 27"/>
            <p:cNvSpPr>
              <a:spLocks/>
            </p:cNvSpPr>
            <p:nvPr/>
          </p:nvSpPr>
          <p:spPr bwMode="auto">
            <a:xfrm>
              <a:off x="4418" y="3456"/>
              <a:ext cx="432" cy="96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Arc 28"/>
            <p:cNvSpPr>
              <a:spLocks/>
            </p:cNvSpPr>
            <p:nvPr/>
          </p:nvSpPr>
          <p:spPr bwMode="auto">
            <a:xfrm>
              <a:off x="4800" y="3456"/>
              <a:ext cx="432" cy="9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" name="Line 30"/>
          <p:cNvSpPr>
            <a:spLocks noChangeShapeType="1"/>
          </p:cNvSpPr>
          <p:nvPr/>
        </p:nvSpPr>
        <p:spPr bwMode="auto">
          <a:xfrm>
            <a:off x="6872287" y="4864100"/>
            <a:ext cx="0" cy="1219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8167687" y="4864100"/>
            <a:ext cx="0" cy="1219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2528887" y="5168900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2528887" y="5930900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4662487" y="5092700"/>
            <a:ext cx="609600" cy="381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 flipV="1">
            <a:off x="4662487" y="5626100"/>
            <a:ext cx="60960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6262687" y="5549900"/>
            <a:ext cx="609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78502" y="2573708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400" y="3881735"/>
            <a:ext cx="99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THREE</a:t>
            </a:r>
          </a:p>
        </p:txBody>
      </p:sp>
    </p:spTree>
    <p:extLst>
      <p:ext uri="{BB962C8B-B14F-4D97-AF65-F5344CB8AC3E}">
        <p14:creationId xmlns:p14="http://schemas.microsoft.com/office/powerpoint/2010/main" val="32863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2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2-Way Merge Sort: An Example</a:t>
            </a:r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6269037" y="1603375"/>
            <a:ext cx="9762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906FA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Input File</a:t>
            </a:r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6256337" y="2108200"/>
            <a:ext cx="12663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1-Page Runs</a:t>
            </a:r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6269037" y="2714625"/>
            <a:ext cx="12663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2-Page Runs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6269037" y="3741738"/>
            <a:ext cx="12663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4-Page Runs</a:t>
            </a:r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6354762" y="5538788"/>
            <a:ext cx="12663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8-Page Runs</a:t>
            </a:r>
          </a:p>
        </p:txBody>
      </p:sp>
      <p:sp>
        <p:nvSpPr>
          <p:cNvPr id="41" name="Rectangle 13"/>
          <p:cNvSpPr>
            <a:spLocks noChangeArrowheads="1"/>
          </p:cNvSpPr>
          <p:nvPr/>
        </p:nvSpPr>
        <p:spPr bwMode="auto">
          <a:xfrm>
            <a:off x="1336807" y="1862138"/>
            <a:ext cx="67710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0</a:t>
            </a: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344931" y="2317750"/>
            <a:ext cx="67710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1</a:t>
            </a:r>
          </a:p>
        </p:txBody>
      </p:sp>
      <p:sp>
        <p:nvSpPr>
          <p:cNvPr id="43" name="Rectangle 15"/>
          <p:cNvSpPr>
            <a:spLocks noChangeArrowheads="1"/>
          </p:cNvSpPr>
          <p:nvPr/>
        </p:nvSpPr>
        <p:spPr bwMode="auto">
          <a:xfrm>
            <a:off x="1346607" y="3068312"/>
            <a:ext cx="67710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2</a:t>
            </a:r>
          </a:p>
        </p:txBody>
      </p:sp>
      <p:sp>
        <p:nvSpPr>
          <p:cNvPr id="44" name="Rectangle 16"/>
          <p:cNvSpPr>
            <a:spLocks noChangeArrowheads="1"/>
          </p:cNvSpPr>
          <p:nvPr/>
        </p:nvSpPr>
        <p:spPr bwMode="auto">
          <a:xfrm>
            <a:off x="1391012" y="4355996"/>
            <a:ext cx="67710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3</a:t>
            </a:r>
          </a:p>
        </p:txBody>
      </p:sp>
      <p:sp>
        <p:nvSpPr>
          <p:cNvPr id="45" name="Freeform 17"/>
          <p:cNvSpPr>
            <a:spLocks/>
          </p:cNvSpPr>
          <p:nvPr/>
        </p:nvSpPr>
        <p:spPr bwMode="auto">
          <a:xfrm>
            <a:off x="2478087" y="2119313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reeform 18"/>
          <p:cNvSpPr>
            <a:spLocks/>
          </p:cNvSpPr>
          <p:nvPr/>
        </p:nvSpPr>
        <p:spPr bwMode="auto">
          <a:xfrm>
            <a:off x="2952750" y="211931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reeform 19"/>
          <p:cNvSpPr>
            <a:spLocks/>
          </p:cNvSpPr>
          <p:nvPr/>
        </p:nvSpPr>
        <p:spPr bwMode="auto">
          <a:xfrm>
            <a:off x="3429000" y="211931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Freeform 20"/>
          <p:cNvSpPr>
            <a:spLocks/>
          </p:cNvSpPr>
          <p:nvPr/>
        </p:nvSpPr>
        <p:spPr bwMode="auto">
          <a:xfrm>
            <a:off x="3905250" y="211931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reeform 21"/>
          <p:cNvSpPr>
            <a:spLocks/>
          </p:cNvSpPr>
          <p:nvPr/>
        </p:nvSpPr>
        <p:spPr bwMode="auto">
          <a:xfrm>
            <a:off x="4381500" y="211931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Freeform 22"/>
          <p:cNvSpPr>
            <a:spLocks/>
          </p:cNvSpPr>
          <p:nvPr/>
        </p:nvSpPr>
        <p:spPr bwMode="auto">
          <a:xfrm>
            <a:off x="4857750" y="2119313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reeform 23"/>
          <p:cNvSpPr>
            <a:spLocks/>
          </p:cNvSpPr>
          <p:nvPr/>
        </p:nvSpPr>
        <p:spPr bwMode="auto">
          <a:xfrm>
            <a:off x="5334000" y="2119313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Freeform 24"/>
          <p:cNvSpPr>
            <a:spLocks/>
          </p:cNvSpPr>
          <p:nvPr/>
        </p:nvSpPr>
        <p:spPr bwMode="auto">
          <a:xfrm>
            <a:off x="5808662" y="2119313"/>
            <a:ext cx="319088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Freeform 25"/>
          <p:cNvSpPr>
            <a:spLocks/>
          </p:cNvSpPr>
          <p:nvPr/>
        </p:nvSpPr>
        <p:spPr bwMode="auto">
          <a:xfrm>
            <a:off x="2714625" y="263366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Freeform 26"/>
          <p:cNvSpPr>
            <a:spLocks/>
          </p:cNvSpPr>
          <p:nvPr/>
        </p:nvSpPr>
        <p:spPr bwMode="auto">
          <a:xfrm>
            <a:off x="2714625" y="2889250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Freeform 27"/>
          <p:cNvSpPr>
            <a:spLocks/>
          </p:cNvSpPr>
          <p:nvPr/>
        </p:nvSpPr>
        <p:spPr bwMode="auto">
          <a:xfrm>
            <a:off x="3667125" y="263366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Freeform 28"/>
          <p:cNvSpPr>
            <a:spLocks/>
          </p:cNvSpPr>
          <p:nvPr/>
        </p:nvSpPr>
        <p:spPr bwMode="auto">
          <a:xfrm>
            <a:off x="3667125" y="2889250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Freeform 29"/>
          <p:cNvSpPr>
            <a:spLocks/>
          </p:cNvSpPr>
          <p:nvPr/>
        </p:nvSpPr>
        <p:spPr bwMode="auto">
          <a:xfrm>
            <a:off x="4619625" y="263366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Freeform 30"/>
          <p:cNvSpPr>
            <a:spLocks/>
          </p:cNvSpPr>
          <p:nvPr/>
        </p:nvSpPr>
        <p:spPr bwMode="auto">
          <a:xfrm>
            <a:off x="4619625" y="2889250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Freeform 31"/>
          <p:cNvSpPr>
            <a:spLocks/>
          </p:cNvSpPr>
          <p:nvPr/>
        </p:nvSpPr>
        <p:spPr bwMode="auto">
          <a:xfrm>
            <a:off x="5572125" y="2633663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32"/>
          <p:cNvSpPr>
            <a:spLocks/>
          </p:cNvSpPr>
          <p:nvPr/>
        </p:nvSpPr>
        <p:spPr bwMode="auto">
          <a:xfrm>
            <a:off x="5572125" y="2889250"/>
            <a:ext cx="317500" cy="258763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Freeform 33"/>
          <p:cNvSpPr>
            <a:spLocks/>
          </p:cNvSpPr>
          <p:nvPr/>
        </p:nvSpPr>
        <p:spPr bwMode="auto">
          <a:xfrm>
            <a:off x="3190875" y="3659188"/>
            <a:ext cx="320675" cy="258762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Freeform 34"/>
          <p:cNvSpPr>
            <a:spLocks/>
          </p:cNvSpPr>
          <p:nvPr/>
        </p:nvSpPr>
        <p:spPr bwMode="auto">
          <a:xfrm>
            <a:off x="3190875" y="3916363"/>
            <a:ext cx="320675" cy="257175"/>
          </a:xfrm>
          <a:custGeom>
            <a:avLst/>
            <a:gdLst>
              <a:gd name="T0" fmla="*/ 0 w 202"/>
              <a:gd name="T1" fmla="*/ 161 h 162"/>
              <a:gd name="T2" fmla="*/ 0 w 202"/>
              <a:gd name="T3" fmla="*/ 0 h 162"/>
              <a:gd name="T4" fmla="*/ 201 w 202"/>
              <a:gd name="T5" fmla="*/ 0 h 162"/>
              <a:gd name="T6" fmla="*/ 201 w 202"/>
              <a:gd name="T7" fmla="*/ 161 h 162"/>
              <a:gd name="T8" fmla="*/ 0 w 202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2">
                <a:moveTo>
                  <a:pt x="0" y="161"/>
                </a:moveTo>
                <a:lnTo>
                  <a:pt x="0" y="0"/>
                </a:lnTo>
                <a:lnTo>
                  <a:pt x="201" y="0"/>
                </a:lnTo>
                <a:lnTo>
                  <a:pt x="201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Freeform 35"/>
          <p:cNvSpPr>
            <a:spLocks/>
          </p:cNvSpPr>
          <p:nvPr/>
        </p:nvSpPr>
        <p:spPr bwMode="auto">
          <a:xfrm>
            <a:off x="3190875" y="4171950"/>
            <a:ext cx="320675" cy="258763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Freeform 36"/>
          <p:cNvSpPr>
            <a:spLocks/>
          </p:cNvSpPr>
          <p:nvPr/>
        </p:nvSpPr>
        <p:spPr bwMode="auto">
          <a:xfrm>
            <a:off x="5094287" y="3402013"/>
            <a:ext cx="320675" cy="258762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Freeform 37"/>
          <p:cNvSpPr>
            <a:spLocks/>
          </p:cNvSpPr>
          <p:nvPr/>
        </p:nvSpPr>
        <p:spPr bwMode="auto">
          <a:xfrm>
            <a:off x="5094287" y="3659188"/>
            <a:ext cx="320675" cy="258762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Freeform 38"/>
          <p:cNvSpPr>
            <a:spLocks/>
          </p:cNvSpPr>
          <p:nvPr/>
        </p:nvSpPr>
        <p:spPr bwMode="auto">
          <a:xfrm>
            <a:off x="5094287" y="3916363"/>
            <a:ext cx="320675" cy="257175"/>
          </a:xfrm>
          <a:custGeom>
            <a:avLst/>
            <a:gdLst>
              <a:gd name="T0" fmla="*/ 0 w 202"/>
              <a:gd name="T1" fmla="*/ 161 h 162"/>
              <a:gd name="T2" fmla="*/ 0 w 202"/>
              <a:gd name="T3" fmla="*/ 0 h 162"/>
              <a:gd name="T4" fmla="*/ 201 w 202"/>
              <a:gd name="T5" fmla="*/ 0 h 162"/>
              <a:gd name="T6" fmla="*/ 201 w 202"/>
              <a:gd name="T7" fmla="*/ 161 h 162"/>
              <a:gd name="T8" fmla="*/ 0 w 202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2">
                <a:moveTo>
                  <a:pt x="0" y="161"/>
                </a:moveTo>
                <a:lnTo>
                  <a:pt x="0" y="0"/>
                </a:lnTo>
                <a:lnTo>
                  <a:pt x="201" y="0"/>
                </a:lnTo>
                <a:lnTo>
                  <a:pt x="201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Freeform 39"/>
          <p:cNvSpPr>
            <a:spLocks/>
          </p:cNvSpPr>
          <p:nvPr/>
        </p:nvSpPr>
        <p:spPr bwMode="auto">
          <a:xfrm>
            <a:off x="5094287" y="4171950"/>
            <a:ext cx="320675" cy="258763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Freeform 40"/>
          <p:cNvSpPr>
            <a:spLocks/>
          </p:cNvSpPr>
          <p:nvPr/>
        </p:nvSpPr>
        <p:spPr bwMode="auto">
          <a:xfrm>
            <a:off x="4143375" y="4686300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Freeform 41"/>
          <p:cNvSpPr>
            <a:spLocks/>
          </p:cNvSpPr>
          <p:nvPr/>
        </p:nvSpPr>
        <p:spPr bwMode="auto">
          <a:xfrm>
            <a:off x="4143375" y="4941888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Freeform 42"/>
          <p:cNvSpPr>
            <a:spLocks/>
          </p:cNvSpPr>
          <p:nvPr/>
        </p:nvSpPr>
        <p:spPr bwMode="auto">
          <a:xfrm>
            <a:off x="4143375" y="51990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Freeform 43"/>
          <p:cNvSpPr>
            <a:spLocks/>
          </p:cNvSpPr>
          <p:nvPr/>
        </p:nvSpPr>
        <p:spPr bwMode="auto">
          <a:xfrm>
            <a:off x="4143375" y="5456238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Freeform 44"/>
          <p:cNvSpPr>
            <a:spLocks/>
          </p:cNvSpPr>
          <p:nvPr/>
        </p:nvSpPr>
        <p:spPr bwMode="auto">
          <a:xfrm>
            <a:off x="4143375" y="5711825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Freeform 45"/>
          <p:cNvSpPr>
            <a:spLocks/>
          </p:cNvSpPr>
          <p:nvPr/>
        </p:nvSpPr>
        <p:spPr bwMode="auto">
          <a:xfrm>
            <a:off x="4143375" y="5969000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Freeform 46"/>
          <p:cNvSpPr>
            <a:spLocks/>
          </p:cNvSpPr>
          <p:nvPr/>
        </p:nvSpPr>
        <p:spPr bwMode="auto">
          <a:xfrm>
            <a:off x="4143375" y="6226175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Freeform 47"/>
          <p:cNvSpPr>
            <a:spLocks/>
          </p:cNvSpPr>
          <p:nvPr/>
        </p:nvSpPr>
        <p:spPr bwMode="auto">
          <a:xfrm>
            <a:off x="4143375" y="64817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ectangle 48"/>
          <p:cNvSpPr>
            <a:spLocks noChangeArrowheads="1"/>
          </p:cNvSpPr>
          <p:nvPr/>
        </p:nvSpPr>
        <p:spPr bwMode="auto">
          <a:xfrm>
            <a:off x="4157662" y="64801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9</a:t>
            </a:r>
          </a:p>
        </p:txBody>
      </p:sp>
      <p:sp>
        <p:nvSpPr>
          <p:cNvPr id="77" name="Freeform 49"/>
          <p:cNvSpPr>
            <a:spLocks/>
          </p:cNvSpPr>
          <p:nvPr/>
        </p:nvSpPr>
        <p:spPr bwMode="auto">
          <a:xfrm>
            <a:off x="2952750" y="16049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Freeform 50"/>
          <p:cNvSpPr>
            <a:spLocks/>
          </p:cNvSpPr>
          <p:nvPr/>
        </p:nvSpPr>
        <p:spPr bwMode="auto">
          <a:xfrm>
            <a:off x="3429000" y="16049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Freeform 51"/>
          <p:cNvSpPr>
            <a:spLocks/>
          </p:cNvSpPr>
          <p:nvPr/>
        </p:nvSpPr>
        <p:spPr bwMode="auto">
          <a:xfrm>
            <a:off x="3905250" y="16049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Freeform 52"/>
          <p:cNvSpPr>
            <a:spLocks/>
          </p:cNvSpPr>
          <p:nvPr/>
        </p:nvSpPr>
        <p:spPr bwMode="auto">
          <a:xfrm>
            <a:off x="4381500" y="16049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Freeform 53"/>
          <p:cNvSpPr>
            <a:spLocks/>
          </p:cNvSpPr>
          <p:nvPr/>
        </p:nvSpPr>
        <p:spPr bwMode="auto">
          <a:xfrm>
            <a:off x="4857750" y="1604963"/>
            <a:ext cx="317500" cy="258762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Freeform 54"/>
          <p:cNvSpPr>
            <a:spLocks/>
          </p:cNvSpPr>
          <p:nvPr/>
        </p:nvSpPr>
        <p:spPr bwMode="auto">
          <a:xfrm>
            <a:off x="5334000" y="1604963"/>
            <a:ext cx="317500" cy="258762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Freeform 55"/>
          <p:cNvSpPr>
            <a:spLocks/>
          </p:cNvSpPr>
          <p:nvPr/>
        </p:nvSpPr>
        <p:spPr bwMode="auto">
          <a:xfrm>
            <a:off x="5808662" y="1604963"/>
            <a:ext cx="319088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Freeform 56"/>
          <p:cNvSpPr>
            <a:spLocks/>
          </p:cNvSpPr>
          <p:nvPr/>
        </p:nvSpPr>
        <p:spPr bwMode="auto">
          <a:xfrm>
            <a:off x="2478087" y="1604963"/>
            <a:ext cx="317500" cy="258762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Rectangle 57"/>
          <p:cNvSpPr>
            <a:spLocks noChangeArrowheads="1"/>
          </p:cNvSpPr>
          <p:nvPr/>
        </p:nvSpPr>
        <p:spPr bwMode="auto">
          <a:xfrm>
            <a:off x="2439987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3,4</a:t>
            </a:r>
          </a:p>
        </p:txBody>
      </p:sp>
      <p:sp>
        <p:nvSpPr>
          <p:cNvPr id="86" name="Rectangle 58"/>
          <p:cNvSpPr>
            <a:spLocks noChangeArrowheads="1"/>
          </p:cNvSpPr>
          <p:nvPr/>
        </p:nvSpPr>
        <p:spPr bwMode="auto">
          <a:xfrm>
            <a:off x="2906712" y="160337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6,2</a:t>
            </a:r>
          </a:p>
        </p:txBody>
      </p:sp>
      <p:sp>
        <p:nvSpPr>
          <p:cNvPr id="87" name="Rectangle 59"/>
          <p:cNvSpPr>
            <a:spLocks noChangeArrowheads="1"/>
          </p:cNvSpPr>
          <p:nvPr/>
        </p:nvSpPr>
        <p:spPr bwMode="auto">
          <a:xfrm>
            <a:off x="3382962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9,4</a:t>
            </a:r>
          </a:p>
        </p:txBody>
      </p:sp>
      <p:sp>
        <p:nvSpPr>
          <p:cNvPr id="88" name="Rectangle 60"/>
          <p:cNvSpPr>
            <a:spLocks noChangeArrowheads="1"/>
          </p:cNvSpPr>
          <p:nvPr/>
        </p:nvSpPr>
        <p:spPr bwMode="auto">
          <a:xfrm>
            <a:off x="3859212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8,7</a:t>
            </a:r>
          </a:p>
        </p:txBody>
      </p:sp>
      <p:sp>
        <p:nvSpPr>
          <p:cNvPr id="89" name="Rectangle 61"/>
          <p:cNvSpPr>
            <a:spLocks noChangeArrowheads="1"/>
          </p:cNvSpPr>
          <p:nvPr/>
        </p:nvSpPr>
        <p:spPr bwMode="auto">
          <a:xfrm>
            <a:off x="4335462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5,6</a:t>
            </a:r>
          </a:p>
        </p:txBody>
      </p:sp>
      <p:sp>
        <p:nvSpPr>
          <p:cNvPr id="90" name="Rectangle 62"/>
          <p:cNvSpPr>
            <a:spLocks noChangeArrowheads="1"/>
          </p:cNvSpPr>
          <p:nvPr/>
        </p:nvSpPr>
        <p:spPr bwMode="auto">
          <a:xfrm>
            <a:off x="4811712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3,1</a:t>
            </a:r>
          </a:p>
        </p:txBody>
      </p:sp>
      <p:sp>
        <p:nvSpPr>
          <p:cNvPr id="91" name="Rectangle 63"/>
          <p:cNvSpPr>
            <a:spLocks noChangeArrowheads="1"/>
          </p:cNvSpPr>
          <p:nvPr/>
        </p:nvSpPr>
        <p:spPr bwMode="auto">
          <a:xfrm>
            <a:off x="5357812" y="16033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92" name="Rectangle 64"/>
          <p:cNvSpPr>
            <a:spLocks noChangeArrowheads="1"/>
          </p:cNvSpPr>
          <p:nvPr/>
        </p:nvSpPr>
        <p:spPr bwMode="auto">
          <a:xfrm>
            <a:off x="2430462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3,4</a:t>
            </a:r>
          </a:p>
        </p:txBody>
      </p:sp>
      <p:sp>
        <p:nvSpPr>
          <p:cNvPr id="93" name="Rectangle 65"/>
          <p:cNvSpPr>
            <a:spLocks noChangeArrowheads="1"/>
          </p:cNvSpPr>
          <p:nvPr/>
        </p:nvSpPr>
        <p:spPr bwMode="auto">
          <a:xfrm>
            <a:off x="4335462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5,6</a:t>
            </a:r>
          </a:p>
        </p:txBody>
      </p:sp>
      <p:sp>
        <p:nvSpPr>
          <p:cNvPr id="94" name="Rectangle 66"/>
          <p:cNvSpPr>
            <a:spLocks noChangeArrowheads="1"/>
          </p:cNvSpPr>
          <p:nvPr/>
        </p:nvSpPr>
        <p:spPr bwMode="auto">
          <a:xfrm>
            <a:off x="2906712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2,6</a:t>
            </a:r>
          </a:p>
        </p:txBody>
      </p:sp>
      <p:sp>
        <p:nvSpPr>
          <p:cNvPr id="95" name="Rectangle 67"/>
          <p:cNvSpPr>
            <a:spLocks noChangeArrowheads="1"/>
          </p:cNvSpPr>
          <p:nvPr/>
        </p:nvSpPr>
        <p:spPr bwMode="auto">
          <a:xfrm>
            <a:off x="3382962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4,9</a:t>
            </a:r>
          </a:p>
        </p:txBody>
      </p:sp>
      <p:sp>
        <p:nvSpPr>
          <p:cNvPr id="96" name="Rectangle 68"/>
          <p:cNvSpPr>
            <a:spLocks noChangeArrowheads="1"/>
          </p:cNvSpPr>
          <p:nvPr/>
        </p:nvSpPr>
        <p:spPr bwMode="auto">
          <a:xfrm>
            <a:off x="3868737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7,8</a:t>
            </a:r>
          </a:p>
        </p:txBody>
      </p:sp>
      <p:sp>
        <p:nvSpPr>
          <p:cNvPr id="97" name="Rectangle 69"/>
          <p:cNvSpPr>
            <a:spLocks noChangeArrowheads="1"/>
          </p:cNvSpPr>
          <p:nvPr/>
        </p:nvSpPr>
        <p:spPr bwMode="auto">
          <a:xfrm>
            <a:off x="4802187" y="21161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1,3</a:t>
            </a:r>
          </a:p>
        </p:txBody>
      </p:sp>
      <p:sp>
        <p:nvSpPr>
          <p:cNvPr id="98" name="Rectangle 70"/>
          <p:cNvSpPr>
            <a:spLocks noChangeArrowheads="1"/>
          </p:cNvSpPr>
          <p:nvPr/>
        </p:nvSpPr>
        <p:spPr bwMode="auto">
          <a:xfrm>
            <a:off x="5346700" y="2116138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99" name="Rectangle 71"/>
          <p:cNvSpPr>
            <a:spLocks noChangeArrowheads="1"/>
          </p:cNvSpPr>
          <p:nvPr/>
        </p:nvSpPr>
        <p:spPr bwMode="auto">
          <a:xfrm>
            <a:off x="2659062" y="265112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2,3</a:t>
            </a:r>
          </a:p>
        </p:txBody>
      </p:sp>
      <p:sp>
        <p:nvSpPr>
          <p:cNvPr id="100" name="Rectangle 72"/>
          <p:cNvSpPr>
            <a:spLocks noChangeArrowheads="1"/>
          </p:cNvSpPr>
          <p:nvPr/>
        </p:nvSpPr>
        <p:spPr bwMode="auto">
          <a:xfrm>
            <a:off x="2668587" y="28971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4,6</a:t>
            </a:r>
          </a:p>
        </p:txBody>
      </p:sp>
      <p:sp>
        <p:nvSpPr>
          <p:cNvPr id="101" name="Rectangle 73"/>
          <p:cNvSpPr>
            <a:spLocks noChangeArrowheads="1"/>
          </p:cNvSpPr>
          <p:nvPr/>
        </p:nvSpPr>
        <p:spPr bwMode="auto">
          <a:xfrm>
            <a:off x="3621087" y="25987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4,7</a:t>
            </a:r>
          </a:p>
        </p:txBody>
      </p:sp>
      <p:sp>
        <p:nvSpPr>
          <p:cNvPr id="102" name="Rectangle 74"/>
          <p:cNvSpPr>
            <a:spLocks noChangeArrowheads="1"/>
          </p:cNvSpPr>
          <p:nvPr/>
        </p:nvSpPr>
        <p:spPr bwMode="auto">
          <a:xfrm>
            <a:off x="3611562" y="28654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8,9</a:t>
            </a:r>
          </a:p>
        </p:txBody>
      </p:sp>
      <p:sp>
        <p:nvSpPr>
          <p:cNvPr id="103" name="Rectangle 75"/>
          <p:cNvSpPr>
            <a:spLocks noChangeArrowheads="1"/>
          </p:cNvSpPr>
          <p:nvPr/>
        </p:nvSpPr>
        <p:spPr bwMode="auto">
          <a:xfrm>
            <a:off x="4594225" y="261937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1,3</a:t>
            </a:r>
          </a:p>
        </p:txBody>
      </p:sp>
      <p:sp>
        <p:nvSpPr>
          <p:cNvPr id="104" name="Rectangle 76"/>
          <p:cNvSpPr>
            <a:spLocks noChangeArrowheads="1"/>
          </p:cNvSpPr>
          <p:nvPr/>
        </p:nvSpPr>
        <p:spPr bwMode="auto">
          <a:xfrm>
            <a:off x="4583112" y="28654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5,6</a:t>
            </a:r>
          </a:p>
        </p:txBody>
      </p:sp>
      <p:sp>
        <p:nvSpPr>
          <p:cNvPr id="105" name="Rectangle 77"/>
          <p:cNvSpPr>
            <a:spLocks noChangeArrowheads="1"/>
          </p:cNvSpPr>
          <p:nvPr/>
        </p:nvSpPr>
        <p:spPr bwMode="auto">
          <a:xfrm>
            <a:off x="5584825" y="2865438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06" name="Rectangle 78"/>
          <p:cNvSpPr>
            <a:spLocks noChangeArrowheads="1"/>
          </p:cNvSpPr>
          <p:nvPr/>
        </p:nvSpPr>
        <p:spPr bwMode="auto">
          <a:xfrm>
            <a:off x="3144837" y="340995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2,3</a:t>
            </a:r>
          </a:p>
        </p:txBody>
      </p:sp>
      <p:sp>
        <p:nvSpPr>
          <p:cNvPr id="107" name="Rectangle 79"/>
          <p:cNvSpPr>
            <a:spLocks noChangeArrowheads="1"/>
          </p:cNvSpPr>
          <p:nvPr/>
        </p:nvSpPr>
        <p:spPr bwMode="auto">
          <a:xfrm>
            <a:off x="3144837" y="36782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4,4</a:t>
            </a:r>
          </a:p>
        </p:txBody>
      </p:sp>
      <p:sp>
        <p:nvSpPr>
          <p:cNvPr id="108" name="Rectangle 80"/>
          <p:cNvSpPr>
            <a:spLocks noChangeArrowheads="1"/>
          </p:cNvSpPr>
          <p:nvPr/>
        </p:nvSpPr>
        <p:spPr bwMode="auto">
          <a:xfrm>
            <a:off x="3154362" y="392430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6,7</a:t>
            </a:r>
          </a:p>
        </p:txBody>
      </p:sp>
      <p:sp>
        <p:nvSpPr>
          <p:cNvPr id="109" name="Rectangle 81"/>
          <p:cNvSpPr>
            <a:spLocks noChangeArrowheads="1"/>
          </p:cNvSpPr>
          <p:nvPr/>
        </p:nvSpPr>
        <p:spPr bwMode="auto">
          <a:xfrm>
            <a:off x="3144837" y="419100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8,9</a:t>
            </a:r>
          </a:p>
        </p:txBody>
      </p:sp>
      <p:sp>
        <p:nvSpPr>
          <p:cNvPr id="110" name="Rectangle 82"/>
          <p:cNvSpPr>
            <a:spLocks noChangeArrowheads="1"/>
          </p:cNvSpPr>
          <p:nvPr/>
        </p:nvSpPr>
        <p:spPr bwMode="auto">
          <a:xfrm>
            <a:off x="5051425" y="36782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1,2</a:t>
            </a:r>
          </a:p>
        </p:txBody>
      </p:sp>
      <p:sp>
        <p:nvSpPr>
          <p:cNvPr id="111" name="Rectangle 83"/>
          <p:cNvSpPr>
            <a:spLocks noChangeArrowheads="1"/>
          </p:cNvSpPr>
          <p:nvPr/>
        </p:nvSpPr>
        <p:spPr bwMode="auto">
          <a:xfrm>
            <a:off x="5051425" y="392430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3,5</a:t>
            </a:r>
          </a:p>
        </p:txBody>
      </p:sp>
      <p:sp>
        <p:nvSpPr>
          <p:cNvPr id="112" name="Rectangle 84"/>
          <p:cNvSpPr>
            <a:spLocks noChangeArrowheads="1"/>
          </p:cNvSpPr>
          <p:nvPr/>
        </p:nvSpPr>
        <p:spPr bwMode="auto">
          <a:xfrm>
            <a:off x="5130800" y="4159250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113" name="Rectangle 85"/>
          <p:cNvSpPr>
            <a:spLocks noChangeArrowheads="1"/>
          </p:cNvSpPr>
          <p:nvPr/>
        </p:nvSpPr>
        <p:spPr bwMode="auto">
          <a:xfrm>
            <a:off x="4097337" y="494982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1,2</a:t>
            </a:r>
          </a:p>
        </p:txBody>
      </p:sp>
      <p:sp>
        <p:nvSpPr>
          <p:cNvPr id="114" name="Rectangle 86"/>
          <p:cNvSpPr>
            <a:spLocks noChangeArrowheads="1"/>
          </p:cNvSpPr>
          <p:nvPr/>
        </p:nvSpPr>
        <p:spPr bwMode="auto">
          <a:xfrm>
            <a:off x="4097337" y="519747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2,3</a:t>
            </a:r>
          </a:p>
        </p:txBody>
      </p:sp>
      <p:sp>
        <p:nvSpPr>
          <p:cNvPr id="115" name="Rectangle 87"/>
          <p:cNvSpPr>
            <a:spLocks noChangeArrowheads="1"/>
          </p:cNvSpPr>
          <p:nvPr/>
        </p:nvSpPr>
        <p:spPr bwMode="auto">
          <a:xfrm>
            <a:off x="4097337" y="5453063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3,4</a:t>
            </a:r>
          </a:p>
        </p:txBody>
      </p:sp>
      <p:sp>
        <p:nvSpPr>
          <p:cNvPr id="116" name="Rectangle 88"/>
          <p:cNvSpPr>
            <a:spLocks noChangeArrowheads="1"/>
          </p:cNvSpPr>
          <p:nvPr/>
        </p:nvSpPr>
        <p:spPr bwMode="auto">
          <a:xfrm>
            <a:off x="4097337" y="572135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4,5</a:t>
            </a:r>
          </a:p>
        </p:txBody>
      </p:sp>
      <p:sp>
        <p:nvSpPr>
          <p:cNvPr id="117" name="Rectangle 89"/>
          <p:cNvSpPr>
            <a:spLocks noChangeArrowheads="1"/>
          </p:cNvSpPr>
          <p:nvPr/>
        </p:nvSpPr>
        <p:spPr bwMode="auto">
          <a:xfrm>
            <a:off x="4097337" y="5967413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6,6</a:t>
            </a:r>
          </a:p>
        </p:txBody>
      </p:sp>
      <p:sp>
        <p:nvSpPr>
          <p:cNvPr id="118" name="Rectangle 90"/>
          <p:cNvSpPr>
            <a:spLocks noChangeArrowheads="1"/>
          </p:cNvSpPr>
          <p:nvPr/>
        </p:nvSpPr>
        <p:spPr bwMode="auto">
          <a:xfrm>
            <a:off x="4097337" y="622300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7,8</a:t>
            </a:r>
          </a:p>
        </p:txBody>
      </p:sp>
      <p:sp>
        <p:nvSpPr>
          <p:cNvPr id="119" name="Freeform 91"/>
          <p:cNvSpPr>
            <a:spLocks/>
          </p:cNvSpPr>
          <p:nvPr/>
        </p:nvSpPr>
        <p:spPr bwMode="auto">
          <a:xfrm>
            <a:off x="3190875" y="3409950"/>
            <a:ext cx="320675" cy="258763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Line 92"/>
          <p:cNvSpPr>
            <a:spLocks noChangeShapeType="1"/>
          </p:cNvSpPr>
          <p:nvPr/>
        </p:nvSpPr>
        <p:spPr bwMode="auto">
          <a:xfrm>
            <a:off x="2370137" y="2028825"/>
            <a:ext cx="381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Line 93"/>
          <p:cNvSpPr>
            <a:spLocks noChangeShapeType="1"/>
          </p:cNvSpPr>
          <p:nvPr/>
        </p:nvSpPr>
        <p:spPr bwMode="auto">
          <a:xfrm>
            <a:off x="2370137" y="2486025"/>
            <a:ext cx="381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Line 94"/>
          <p:cNvSpPr>
            <a:spLocks noChangeShapeType="1"/>
          </p:cNvSpPr>
          <p:nvPr/>
        </p:nvSpPr>
        <p:spPr bwMode="auto">
          <a:xfrm>
            <a:off x="2441575" y="3248025"/>
            <a:ext cx="381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Line 95"/>
          <p:cNvSpPr>
            <a:spLocks noChangeShapeType="1"/>
          </p:cNvSpPr>
          <p:nvPr/>
        </p:nvSpPr>
        <p:spPr bwMode="auto">
          <a:xfrm>
            <a:off x="2441575" y="4543425"/>
            <a:ext cx="381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Line 96"/>
          <p:cNvSpPr>
            <a:spLocks noChangeShapeType="1"/>
          </p:cNvSpPr>
          <p:nvPr/>
        </p:nvSpPr>
        <p:spPr bwMode="auto">
          <a:xfrm>
            <a:off x="2652712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Line 97"/>
          <p:cNvSpPr>
            <a:spLocks noChangeShapeType="1"/>
          </p:cNvSpPr>
          <p:nvPr/>
        </p:nvSpPr>
        <p:spPr bwMode="auto">
          <a:xfrm>
            <a:off x="3076575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Line 98"/>
          <p:cNvSpPr>
            <a:spLocks noChangeShapeType="1"/>
          </p:cNvSpPr>
          <p:nvPr/>
        </p:nvSpPr>
        <p:spPr bwMode="auto">
          <a:xfrm>
            <a:off x="3571875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Line 99"/>
          <p:cNvSpPr>
            <a:spLocks noChangeShapeType="1"/>
          </p:cNvSpPr>
          <p:nvPr/>
        </p:nvSpPr>
        <p:spPr bwMode="auto">
          <a:xfrm>
            <a:off x="4065587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Line 100"/>
          <p:cNvSpPr>
            <a:spLocks noChangeShapeType="1"/>
          </p:cNvSpPr>
          <p:nvPr/>
        </p:nvSpPr>
        <p:spPr bwMode="auto">
          <a:xfrm>
            <a:off x="4560887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Line 101"/>
          <p:cNvSpPr>
            <a:spLocks noChangeShapeType="1"/>
          </p:cNvSpPr>
          <p:nvPr/>
        </p:nvSpPr>
        <p:spPr bwMode="auto">
          <a:xfrm>
            <a:off x="4984750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Line 102"/>
          <p:cNvSpPr>
            <a:spLocks noChangeShapeType="1"/>
          </p:cNvSpPr>
          <p:nvPr/>
        </p:nvSpPr>
        <p:spPr bwMode="auto">
          <a:xfrm>
            <a:off x="5478462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Line 103"/>
          <p:cNvSpPr>
            <a:spLocks noChangeShapeType="1"/>
          </p:cNvSpPr>
          <p:nvPr/>
        </p:nvSpPr>
        <p:spPr bwMode="auto">
          <a:xfrm>
            <a:off x="5973762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Line 104"/>
          <p:cNvSpPr>
            <a:spLocks noChangeShapeType="1"/>
          </p:cNvSpPr>
          <p:nvPr/>
        </p:nvSpPr>
        <p:spPr bwMode="auto">
          <a:xfrm>
            <a:off x="2582862" y="2409825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Line 105"/>
          <p:cNvSpPr>
            <a:spLocks noChangeShapeType="1"/>
          </p:cNvSpPr>
          <p:nvPr/>
        </p:nvSpPr>
        <p:spPr bwMode="auto">
          <a:xfrm flipH="1">
            <a:off x="2865437" y="2409825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Line 106"/>
          <p:cNvSpPr>
            <a:spLocks noChangeShapeType="1"/>
          </p:cNvSpPr>
          <p:nvPr/>
        </p:nvSpPr>
        <p:spPr bwMode="auto">
          <a:xfrm>
            <a:off x="3571875" y="2409825"/>
            <a:ext cx="211137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Line 107"/>
          <p:cNvSpPr>
            <a:spLocks noChangeShapeType="1"/>
          </p:cNvSpPr>
          <p:nvPr/>
        </p:nvSpPr>
        <p:spPr bwMode="auto">
          <a:xfrm flipH="1">
            <a:off x="3854450" y="2409825"/>
            <a:ext cx="211137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Line 108"/>
          <p:cNvSpPr>
            <a:spLocks noChangeShapeType="1"/>
          </p:cNvSpPr>
          <p:nvPr/>
        </p:nvSpPr>
        <p:spPr bwMode="auto">
          <a:xfrm>
            <a:off x="4560887" y="2409825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Line 109"/>
          <p:cNvSpPr>
            <a:spLocks noChangeShapeType="1"/>
          </p:cNvSpPr>
          <p:nvPr/>
        </p:nvSpPr>
        <p:spPr bwMode="auto">
          <a:xfrm flipH="1">
            <a:off x="4843462" y="2409825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Line 110"/>
          <p:cNvSpPr>
            <a:spLocks noChangeShapeType="1"/>
          </p:cNvSpPr>
          <p:nvPr/>
        </p:nvSpPr>
        <p:spPr bwMode="auto">
          <a:xfrm>
            <a:off x="5478462" y="2409825"/>
            <a:ext cx="2127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Line 111"/>
          <p:cNvSpPr>
            <a:spLocks noChangeShapeType="1"/>
          </p:cNvSpPr>
          <p:nvPr/>
        </p:nvSpPr>
        <p:spPr bwMode="auto">
          <a:xfrm flipH="1">
            <a:off x="5761037" y="2409825"/>
            <a:ext cx="2127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Line 112"/>
          <p:cNvSpPr>
            <a:spLocks noChangeShapeType="1"/>
          </p:cNvSpPr>
          <p:nvPr/>
        </p:nvSpPr>
        <p:spPr bwMode="auto">
          <a:xfrm>
            <a:off x="2865437" y="3171825"/>
            <a:ext cx="423863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Line 113"/>
          <p:cNvSpPr>
            <a:spLocks noChangeShapeType="1"/>
          </p:cNvSpPr>
          <p:nvPr/>
        </p:nvSpPr>
        <p:spPr bwMode="auto">
          <a:xfrm flipH="1">
            <a:off x="3430587" y="3171825"/>
            <a:ext cx="3524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Line 114"/>
          <p:cNvSpPr>
            <a:spLocks noChangeShapeType="1"/>
          </p:cNvSpPr>
          <p:nvPr/>
        </p:nvSpPr>
        <p:spPr bwMode="auto">
          <a:xfrm>
            <a:off x="4772025" y="3171825"/>
            <a:ext cx="423862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Line 115"/>
          <p:cNvSpPr>
            <a:spLocks noChangeShapeType="1"/>
          </p:cNvSpPr>
          <p:nvPr/>
        </p:nvSpPr>
        <p:spPr bwMode="auto">
          <a:xfrm flipH="1">
            <a:off x="5337175" y="3171825"/>
            <a:ext cx="354012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" name="Line 116"/>
          <p:cNvSpPr>
            <a:spLocks noChangeShapeType="1"/>
          </p:cNvSpPr>
          <p:nvPr/>
        </p:nvSpPr>
        <p:spPr bwMode="auto">
          <a:xfrm>
            <a:off x="3359150" y="4467225"/>
            <a:ext cx="8477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Line 117"/>
          <p:cNvSpPr>
            <a:spLocks noChangeShapeType="1"/>
          </p:cNvSpPr>
          <p:nvPr/>
        </p:nvSpPr>
        <p:spPr bwMode="auto">
          <a:xfrm flipH="1">
            <a:off x="4348162" y="4467225"/>
            <a:ext cx="919163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713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991600" cy="11430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2-Way Merge Sort: I/O Cost Analysis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534400" cy="54864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If the number of pages in the input file is 2</a:t>
            </a:r>
            <a:r>
              <a:rPr lang="en-US" sz="2800" baseline="30000" dirty="0"/>
              <a:t>k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How many runs are produced in pass 0 and of what size?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2</a:t>
            </a:r>
            <a:r>
              <a:rPr lang="en-US" baseline="30000" dirty="0">
                <a:solidFill>
                  <a:srgbClr val="0070C0"/>
                </a:solidFill>
              </a:rPr>
              <a:t>k  </a:t>
            </a:r>
            <a:r>
              <a:rPr lang="en-US" dirty="0">
                <a:solidFill>
                  <a:srgbClr val="0070C0"/>
                </a:solidFill>
              </a:rPr>
              <a:t>1-page runs</a:t>
            </a:r>
            <a:endParaRPr lang="en-US" baseline="30000" dirty="0">
              <a:solidFill>
                <a:srgbClr val="0070C0"/>
              </a:solidFill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How many runs are produced in pass 1 and of what size?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2</a:t>
            </a:r>
            <a:r>
              <a:rPr lang="en-US" baseline="30000" dirty="0">
                <a:solidFill>
                  <a:srgbClr val="0070C0"/>
                </a:solidFill>
              </a:rPr>
              <a:t>k-1  </a:t>
            </a:r>
            <a:r>
              <a:rPr lang="en-US" dirty="0">
                <a:solidFill>
                  <a:srgbClr val="0070C0"/>
                </a:solidFill>
              </a:rPr>
              <a:t>2-page runs</a:t>
            </a:r>
            <a:endParaRPr lang="en-US" sz="2400" dirty="0">
              <a:solidFill>
                <a:srgbClr val="0070C0"/>
              </a:solidFill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How many runs are produced in pass 2 and of what size?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2</a:t>
            </a:r>
            <a:r>
              <a:rPr lang="en-US" baseline="30000" dirty="0">
                <a:solidFill>
                  <a:srgbClr val="0070C0"/>
                </a:solidFill>
              </a:rPr>
              <a:t>k-2 </a:t>
            </a:r>
            <a:r>
              <a:rPr lang="en-US" dirty="0">
                <a:solidFill>
                  <a:srgbClr val="0070C0"/>
                </a:solidFill>
              </a:rPr>
              <a:t>4-page runs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How many runs are produced in pass k and of what size?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2</a:t>
            </a:r>
            <a:r>
              <a:rPr lang="en-US" baseline="30000" dirty="0">
                <a:solidFill>
                  <a:srgbClr val="0070C0"/>
                </a:solidFill>
              </a:rPr>
              <a:t>k-k </a:t>
            </a:r>
            <a:r>
              <a:rPr lang="en-US" dirty="0">
                <a:solidFill>
                  <a:srgbClr val="0070C0"/>
                </a:solidFill>
              </a:rPr>
              <a:t>2</a:t>
            </a:r>
            <a:r>
              <a:rPr lang="en-US" baseline="30000" dirty="0">
                <a:solidFill>
                  <a:srgbClr val="0070C0"/>
                </a:solidFill>
              </a:rPr>
              <a:t>k</a:t>
            </a:r>
            <a:r>
              <a:rPr lang="en-US" dirty="0">
                <a:solidFill>
                  <a:srgbClr val="0070C0"/>
                </a:solidFill>
              </a:rPr>
              <a:t>-page runs (or 1 run of size 2</a:t>
            </a:r>
            <a:r>
              <a:rPr lang="en-US" baseline="30000" dirty="0">
                <a:solidFill>
                  <a:srgbClr val="0070C0"/>
                </a:solidFill>
              </a:rPr>
              <a:t>k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For </a:t>
            </a:r>
            <a:r>
              <a:rPr lang="en-US" sz="2400" i="1" dirty="0"/>
              <a:t>N</a:t>
            </a:r>
            <a:r>
              <a:rPr lang="en-US" sz="2400" dirty="0"/>
              <a:t> number of pages, how many passes are incurred?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/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How many pages do we read and write in each pass?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2</a:t>
            </a:r>
            <a:r>
              <a:rPr lang="en-US" i="1" dirty="0"/>
              <a:t>N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i="1" dirty="0"/>
              <a:t>What is the overall cost?</a:t>
            </a:r>
          </a:p>
          <a:p>
            <a:pPr lvl="2">
              <a:buFont typeface="Wingdings" pitchFamily="2" charset="2"/>
              <a:buChar char="§"/>
            </a:pPr>
            <a:endParaRPr lang="en-US" sz="2200" dirty="0"/>
          </a:p>
          <a:p>
            <a:pPr lvl="2">
              <a:buFont typeface="Wingdings" pitchFamily="2" charset="2"/>
              <a:buChar char="§"/>
            </a:pPr>
            <a:r>
              <a:rPr lang="en-US" sz="2200" dirty="0"/>
              <a:t>  </a:t>
            </a:r>
          </a:p>
          <a:p>
            <a:pPr lvl="2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</p:txBody>
      </p:sp>
      <p:graphicFrame>
        <p:nvGraphicFramePr>
          <p:cNvPr id="2" name="Object 1">
            <a:hlinkClick r:id="" action="ppaction://ole?verb=0"/>
          </p:cNvPr>
          <p:cNvGraphicFramePr>
            <a:graphicFrameLocks/>
          </p:cNvGraphicFramePr>
          <p:nvPr>
            <p:extLst/>
          </p:nvPr>
        </p:nvGraphicFramePr>
        <p:xfrm>
          <a:off x="1676400" y="4741492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3" imgW="749160" imgH="228600" progId="Equation.3">
                  <p:embed/>
                </p:oleObj>
              </mc:Choice>
              <mc:Fallback>
                <p:oleObj name="Equation" r:id="rId3" imgW="749160" imgH="228600" progId="Equation.3">
                  <p:embed/>
                  <p:pic>
                    <p:nvPicPr>
                      <p:cNvPr id="2" name="Object 1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741492"/>
                        <a:ext cx="1219200" cy="381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70C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hlinkClick r:id="" action="ppaction://ole?verb=0"/>
          </p:cNvPr>
          <p:cNvGraphicFramePr>
            <a:graphicFrameLocks/>
          </p:cNvGraphicFramePr>
          <p:nvPr>
            <p:extLst/>
          </p:nvPr>
        </p:nvGraphicFramePr>
        <p:xfrm>
          <a:off x="1609725" y="6061075"/>
          <a:ext cx="24288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5" imgW="1218960" imgH="355320" progId="Equation.3">
                  <p:embed/>
                </p:oleObj>
              </mc:Choice>
              <mc:Fallback>
                <p:oleObj name="Equation" r:id="rId5" imgW="1218960" imgH="355320" progId="Equation.3">
                  <p:embed/>
                  <p:pic>
                    <p:nvPicPr>
                      <p:cNvPr id="3" name="Object 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6061075"/>
                        <a:ext cx="2428875" cy="6699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70C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652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2-Way Merge Sort: An Example</a:t>
            </a:r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6953702" y="1603375"/>
            <a:ext cx="9762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906FA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Input File</a:t>
            </a:r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6941002" y="2108200"/>
            <a:ext cx="12663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1-Page Runs</a:t>
            </a:r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6953702" y="2714625"/>
            <a:ext cx="12663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2-Page Runs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6953702" y="3741738"/>
            <a:ext cx="12663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4-Page Runs</a:t>
            </a:r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7039427" y="5538788"/>
            <a:ext cx="126637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8-Page Runs</a:t>
            </a:r>
          </a:p>
        </p:txBody>
      </p:sp>
      <p:sp>
        <p:nvSpPr>
          <p:cNvPr id="41" name="Rectangle 13"/>
          <p:cNvSpPr>
            <a:spLocks noChangeArrowheads="1"/>
          </p:cNvSpPr>
          <p:nvPr/>
        </p:nvSpPr>
        <p:spPr bwMode="auto">
          <a:xfrm>
            <a:off x="2021472" y="1862138"/>
            <a:ext cx="67710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0</a:t>
            </a: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2029596" y="2317750"/>
            <a:ext cx="67710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1</a:t>
            </a:r>
          </a:p>
        </p:txBody>
      </p:sp>
      <p:sp>
        <p:nvSpPr>
          <p:cNvPr id="43" name="Rectangle 15"/>
          <p:cNvSpPr>
            <a:spLocks noChangeArrowheads="1"/>
          </p:cNvSpPr>
          <p:nvPr/>
        </p:nvSpPr>
        <p:spPr bwMode="auto">
          <a:xfrm>
            <a:off x="2031272" y="3068312"/>
            <a:ext cx="67710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2</a:t>
            </a:r>
          </a:p>
        </p:txBody>
      </p:sp>
      <p:sp>
        <p:nvSpPr>
          <p:cNvPr id="44" name="Rectangle 16"/>
          <p:cNvSpPr>
            <a:spLocks noChangeArrowheads="1"/>
          </p:cNvSpPr>
          <p:nvPr/>
        </p:nvSpPr>
        <p:spPr bwMode="auto">
          <a:xfrm>
            <a:off x="2075677" y="4355996"/>
            <a:ext cx="67710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 3</a:t>
            </a:r>
          </a:p>
        </p:txBody>
      </p:sp>
      <p:sp>
        <p:nvSpPr>
          <p:cNvPr id="45" name="Freeform 17"/>
          <p:cNvSpPr>
            <a:spLocks/>
          </p:cNvSpPr>
          <p:nvPr/>
        </p:nvSpPr>
        <p:spPr bwMode="auto">
          <a:xfrm>
            <a:off x="3162752" y="2119313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reeform 18"/>
          <p:cNvSpPr>
            <a:spLocks/>
          </p:cNvSpPr>
          <p:nvPr/>
        </p:nvSpPr>
        <p:spPr bwMode="auto">
          <a:xfrm>
            <a:off x="3637415" y="211931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reeform 19"/>
          <p:cNvSpPr>
            <a:spLocks/>
          </p:cNvSpPr>
          <p:nvPr/>
        </p:nvSpPr>
        <p:spPr bwMode="auto">
          <a:xfrm>
            <a:off x="4113665" y="211931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Freeform 20"/>
          <p:cNvSpPr>
            <a:spLocks/>
          </p:cNvSpPr>
          <p:nvPr/>
        </p:nvSpPr>
        <p:spPr bwMode="auto">
          <a:xfrm>
            <a:off x="4589915" y="211931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reeform 21"/>
          <p:cNvSpPr>
            <a:spLocks/>
          </p:cNvSpPr>
          <p:nvPr/>
        </p:nvSpPr>
        <p:spPr bwMode="auto">
          <a:xfrm>
            <a:off x="5066165" y="211931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Freeform 22"/>
          <p:cNvSpPr>
            <a:spLocks/>
          </p:cNvSpPr>
          <p:nvPr/>
        </p:nvSpPr>
        <p:spPr bwMode="auto">
          <a:xfrm>
            <a:off x="5542415" y="2119313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reeform 23"/>
          <p:cNvSpPr>
            <a:spLocks/>
          </p:cNvSpPr>
          <p:nvPr/>
        </p:nvSpPr>
        <p:spPr bwMode="auto">
          <a:xfrm>
            <a:off x="6018665" y="2119313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Freeform 24"/>
          <p:cNvSpPr>
            <a:spLocks/>
          </p:cNvSpPr>
          <p:nvPr/>
        </p:nvSpPr>
        <p:spPr bwMode="auto">
          <a:xfrm>
            <a:off x="6493327" y="2119313"/>
            <a:ext cx="319088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Freeform 25"/>
          <p:cNvSpPr>
            <a:spLocks/>
          </p:cNvSpPr>
          <p:nvPr/>
        </p:nvSpPr>
        <p:spPr bwMode="auto">
          <a:xfrm>
            <a:off x="3399290" y="263366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Freeform 26"/>
          <p:cNvSpPr>
            <a:spLocks/>
          </p:cNvSpPr>
          <p:nvPr/>
        </p:nvSpPr>
        <p:spPr bwMode="auto">
          <a:xfrm>
            <a:off x="3399290" y="2889250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Freeform 27"/>
          <p:cNvSpPr>
            <a:spLocks/>
          </p:cNvSpPr>
          <p:nvPr/>
        </p:nvSpPr>
        <p:spPr bwMode="auto">
          <a:xfrm>
            <a:off x="4351790" y="263366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Freeform 28"/>
          <p:cNvSpPr>
            <a:spLocks/>
          </p:cNvSpPr>
          <p:nvPr/>
        </p:nvSpPr>
        <p:spPr bwMode="auto">
          <a:xfrm>
            <a:off x="4351790" y="2889250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Freeform 29"/>
          <p:cNvSpPr>
            <a:spLocks/>
          </p:cNvSpPr>
          <p:nvPr/>
        </p:nvSpPr>
        <p:spPr bwMode="auto">
          <a:xfrm>
            <a:off x="5304290" y="2633663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Freeform 30"/>
          <p:cNvSpPr>
            <a:spLocks/>
          </p:cNvSpPr>
          <p:nvPr/>
        </p:nvSpPr>
        <p:spPr bwMode="auto">
          <a:xfrm>
            <a:off x="5304290" y="2889250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Freeform 31"/>
          <p:cNvSpPr>
            <a:spLocks/>
          </p:cNvSpPr>
          <p:nvPr/>
        </p:nvSpPr>
        <p:spPr bwMode="auto">
          <a:xfrm>
            <a:off x="6256790" y="2633663"/>
            <a:ext cx="317500" cy="257175"/>
          </a:xfrm>
          <a:custGeom>
            <a:avLst/>
            <a:gdLst>
              <a:gd name="T0" fmla="*/ 0 w 200"/>
              <a:gd name="T1" fmla="*/ 161 h 162"/>
              <a:gd name="T2" fmla="*/ 0 w 200"/>
              <a:gd name="T3" fmla="*/ 0 h 162"/>
              <a:gd name="T4" fmla="*/ 199 w 200"/>
              <a:gd name="T5" fmla="*/ 0 h 162"/>
              <a:gd name="T6" fmla="*/ 199 w 200"/>
              <a:gd name="T7" fmla="*/ 161 h 162"/>
              <a:gd name="T8" fmla="*/ 0 w 200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2">
                <a:moveTo>
                  <a:pt x="0" y="161"/>
                </a:moveTo>
                <a:lnTo>
                  <a:pt x="0" y="0"/>
                </a:lnTo>
                <a:lnTo>
                  <a:pt x="199" y="0"/>
                </a:lnTo>
                <a:lnTo>
                  <a:pt x="199" y="161"/>
                </a:lnTo>
                <a:lnTo>
                  <a:pt x="0" y="161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32"/>
          <p:cNvSpPr>
            <a:spLocks/>
          </p:cNvSpPr>
          <p:nvPr/>
        </p:nvSpPr>
        <p:spPr bwMode="auto">
          <a:xfrm>
            <a:off x="6256790" y="2889250"/>
            <a:ext cx="317500" cy="258763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Freeform 33"/>
          <p:cNvSpPr>
            <a:spLocks/>
          </p:cNvSpPr>
          <p:nvPr/>
        </p:nvSpPr>
        <p:spPr bwMode="auto">
          <a:xfrm>
            <a:off x="3875540" y="3659188"/>
            <a:ext cx="320675" cy="258762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Freeform 34"/>
          <p:cNvSpPr>
            <a:spLocks/>
          </p:cNvSpPr>
          <p:nvPr/>
        </p:nvSpPr>
        <p:spPr bwMode="auto">
          <a:xfrm>
            <a:off x="3875540" y="3916363"/>
            <a:ext cx="320675" cy="257175"/>
          </a:xfrm>
          <a:custGeom>
            <a:avLst/>
            <a:gdLst>
              <a:gd name="T0" fmla="*/ 0 w 202"/>
              <a:gd name="T1" fmla="*/ 161 h 162"/>
              <a:gd name="T2" fmla="*/ 0 w 202"/>
              <a:gd name="T3" fmla="*/ 0 h 162"/>
              <a:gd name="T4" fmla="*/ 201 w 202"/>
              <a:gd name="T5" fmla="*/ 0 h 162"/>
              <a:gd name="T6" fmla="*/ 201 w 202"/>
              <a:gd name="T7" fmla="*/ 161 h 162"/>
              <a:gd name="T8" fmla="*/ 0 w 202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2">
                <a:moveTo>
                  <a:pt x="0" y="161"/>
                </a:moveTo>
                <a:lnTo>
                  <a:pt x="0" y="0"/>
                </a:lnTo>
                <a:lnTo>
                  <a:pt x="201" y="0"/>
                </a:lnTo>
                <a:lnTo>
                  <a:pt x="201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Freeform 35"/>
          <p:cNvSpPr>
            <a:spLocks/>
          </p:cNvSpPr>
          <p:nvPr/>
        </p:nvSpPr>
        <p:spPr bwMode="auto">
          <a:xfrm>
            <a:off x="3875540" y="4171950"/>
            <a:ext cx="320675" cy="258763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Freeform 36"/>
          <p:cNvSpPr>
            <a:spLocks/>
          </p:cNvSpPr>
          <p:nvPr/>
        </p:nvSpPr>
        <p:spPr bwMode="auto">
          <a:xfrm>
            <a:off x="5778952" y="3402013"/>
            <a:ext cx="320675" cy="258762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Freeform 37"/>
          <p:cNvSpPr>
            <a:spLocks/>
          </p:cNvSpPr>
          <p:nvPr/>
        </p:nvSpPr>
        <p:spPr bwMode="auto">
          <a:xfrm>
            <a:off x="5778952" y="3659188"/>
            <a:ext cx="320675" cy="258762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Freeform 38"/>
          <p:cNvSpPr>
            <a:spLocks/>
          </p:cNvSpPr>
          <p:nvPr/>
        </p:nvSpPr>
        <p:spPr bwMode="auto">
          <a:xfrm>
            <a:off x="5778952" y="3916363"/>
            <a:ext cx="320675" cy="257175"/>
          </a:xfrm>
          <a:custGeom>
            <a:avLst/>
            <a:gdLst>
              <a:gd name="T0" fmla="*/ 0 w 202"/>
              <a:gd name="T1" fmla="*/ 161 h 162"/>
              <a:gd name="T2" fmla="*/ 0 w 202"/>
              <a:gd name="T3" fmla="*/ 0 h 162"/>
              <a:gd name="T4" fmla="*/ 201 w 202"/>
              <a:gd name="T5" fmla="*/ 0 h 162"/>
              <a:gd name="T6" fmla="*/ 201 w 202"/>
              <a:gd name="T7" fmla="*/ 161 h 162"/>
              <a:gd name="T8" fmla="*/ 0 w 202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2">
                <a:moveTo>
                  <a:pt x="0" y="161"/>
                </a:moveTo>
                <a:lnTo>
                  <a:pt x="0" y="0"/>
                </a:lnTo>
                <a:lnTo>
                  <a:pt x="201" y="0"/>
                </a:lnTo>
                <a:lnTo>
                  <a:pt x="201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Freeform 39"/>
          <p:cNvSpPr>
            <a:spLocks/>
          </p:cNvSpPr>
          <p:nvPr/>
        </p:nvSpPr>
        <p:spPr bwMode="auto">
          <a:xfrm>
            <a:off x="5778952" y="4171950"/>
            <a:ext cx="320675" cy="258763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Freeform 40"/>
          <p:cNvSpPr>
            <a:spLocks/>
          </p:cNvSpPr>
          <p:nvPr/>
        </p:nvSpPr>
        <p:spPr bwMode="auto">
          <a:xfrm>
            <a:off x="4828040" y="4686300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Freeform 41"/>
          <p:cNvSpPr>
            <a:spLocks/>
          </p:cNvSpPr>
          <p:nvPr/>
        </p:nvSpPr>
        <p:spPr bwMode="auto">
          <a:xfrm>
            <a:off x="4828040" y="4941888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Freeform 42"/>
          <p:cNvSpPr>
            <a:spLocks/>
          </p:cNvSpPr>
          <p:nvPr/>
        </p:nvSpPr>
        <p:spPr bwMode="auto">
          <a:xfrm>
            <a:off x="4828040" y="51990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Freeform 43"/>
          <p:cNvSpPr>
            <a:spLocks/>
          </p:cNvSpPr>
          <p:nvPr/>
        </p:nvSpPr>
        <p:spPr bwMode="auto">
          <a:xfrm>
            <a:off x="4828040" y="5456238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Freeform 44"/>
          <p:cNvSpPr>
            <a:spLocks/>
          </p:cNvSpPr>
          <p:nvPr/>
        </p:nvSpPr>
        <p:spPr bwMode="auto">
          <a:xfrm>
            <a:off x="4828040" y="5711825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Freeform 45"/>
          <p:cNvSpPr>
            <a:spLocks/>
          </p:cNvSpPr>
          <p:nvPr/>
        </p:nvSpPr>
        <p:spPr bwMode="auto">
          <a:xfrm>
            <a:off x="4828040" y="5969000"/>
            <a:ext cx="319087" cy="258763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Freeform 46"/>
          <p:cNvSpPr>
            <a:spLocks/>
          </p:cNvSpPr>
          <p:nvPr/>
        </p:nvSpPr>
        <p:spPr bwMode="auto">
          <a:xfrm>
            <a:off x="4828040" y="6226175"/>
            <a:ext cx="319087" cy="257175"/>
          </a:xfrm>
          <a:custGeom>
            <a:avLst/>
            <a:gdLst>
              <a:gd name="T0" fmla="*/ 0 w 201"/>
              <a:gd name="T1" fmla="*/ 161 h 162"/>
              <a:gd name="T2" fmla="*/ 0 w 201"/>
              <a:gd name="T3" fmla="*/ 0 h 162"/>
              <a:gd name="T4" fmla="*/ 200 w 201"/>
              <a:gd name="T5" fmla="*/ 0 h 162"/>
              <a:gd name="T6" fmla="*/ 200 w 201"/>
              <a:gd name="T7" fmla="*/ 161 h 162"/>
              <a:gd name="T8" fmla="*/ 0 w 20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2">
                <a:moveTo>
                  <a:pt x="0" y="161"/>
                </a:moveTo>
                <a:lnTo>
                  <a:pt x="0" y="0"/>
                </a:lnTo>
                <a:lnTo>
                  <a:pt x="200" y="0"/>
                </a:lnTo>
                <a:lnTo>
                  <a:pt x="20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Freeform 47"/>
          <p:cNvSpPr>
            <a:spLocks/>
          </p:cNvSpPr>
          <p:nvPr/>
        </p:nvSpPr>
        <p:spPr bwMode="auto">
          <a:xfrm>
            <a:off x="4828040" y="64817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ectangle 48"/>
          <p:cNvSpPr>
            <a:spLocks noChangeArrowheads="1"/>
          </p:cNvSpPr>
          <p:nvPr/>
        </p:nvSpPr>
        <p:spPr bwMode="auto">
          <a:xfrm>
            <a:off x="4842327" y="64801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9</a:t>
            </a:r>
          </a:p>
        </p:txBody>
      </p:sp>
      <p:sp>
        <p:nvSpPr>
          <p:cNvPr id="77" name="Freeform 49"/>
          <p:cNvSpPr>
            <a:spLocks/>
          </p:cNvSpPr>
          <p:nvPr/>
        </p:nvSpPr>
        <p:spPr bwMode="auto">
          <a:xfrm>
            <a:off x="3637415" y="16049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Freeform 50"/>
          <p:cNvSpPr>
            <a:spLocks/>
          </p:cNvSpPr>
          <p:nvPr/>
        </p:nvSpPr>
        <p:spPr bwMode="auto">
          <a:xfrm>
            <a:off x="4113665" y="16049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Freeform 51"/>
          <p:cNvSpPr>
            <a:spLocks/>
          </p:cNvSpPr>
          <p:nvPr/>
        </p:nvSpPr>
        <p:spPr bwMode="auto">
          <a:xfrm>
            <a:off x="4589915" y="16049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Freeform 52"/>
          <p:cNvSpPr>
            <a:spLocks/>
          </p:cNvSpPr>
          <p:nvPr/>
        </p:nvSpPr>
        <p:spPr bwMode="auto">
          <a:xfrm>
            <a:off x="5066165" y="1604963"/>
            <a:ext cx="319087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Freeform 53"/>
          <p:cNvSpPr>
            <a:spLocks/>
          </p:cNvSpPr>
          <p:nvPr/>
        </p:nvSpPr>
        <p:spPr bwMode="auto">
          <a:xfrm>
            <a:off x="5542415" y="1604963"/>
            <a:ext cx="317500" cy="258762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Freeform 54"/>
          <p:cNvSpPr>
            <a:spLocks/>
          </p:cNvSpPr>
          <p:nvPr/>
        </p:nvSpPr>
        <p:spPr bwMode="auto">
          <a:xfrm>
            <a:off x="6018665" y="1604963"/>
            <a:ext cx="317500" cy="258762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Freeform 55"/>
          <p:cNvSpPr>
            <a:spLocks/>
          </p:cNvSpPr>
          <p:nvPr/>
        </p:nvSpPr>
        <p:spPr bwMode="auto">
          <a:xfrm>
            <a:off x="6493327" y="1604963"/>
            <a:ext cx="319088" cy="258762"/>
          </a:xfrm>
          <a:custGeom>
            <a:avLst/>
            <a:gdLst>
              <a:gd name="T0" fmla="*/ 0 w 201"/>
              <a:gd name="T1" fmla="*/ 162 h 163"/>
              <a:gd name="T2" fmla="*/ 0 w 201"/>
              <a:gd name="T3" fmla="*/ 0 h 163"/>
              <a:gd name="T4" fmla="*/ 200 w 201"/>
              <a:gd name="T5" fmla="*/ 0 h 163"/>
              <a:gd name="T6" fmla="*/ 200 w 201"/>
              <a:gd name="T7" fmla="*/ 162 h 163"/>
              <a:gd name="T8" fmla="*/ 0 w 201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163">
                <a:moveTo>
                  <a:pt x="0" y="162"/>
                </a:moveTo>
                <a:lnTo>
                  <a:pt x="0" y="0"/>
                </a:lnTo>
                <a:lnTo>
                  <a:pt x="200" y="0"/>
                </a:lnTo>
                <a:lnTo>
                  <a:pt x="200" y="162"/>
                </a:lnTo>
                <a:lnTo>
                  <a:pt x="0" y="162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Freeform 56"/>
          <p:cNvSpPr>
            <a:spLocks/>
          </p:cNvSpPr>
          <p:nvPr/>
        </p:nvSpPr>
        <p:spPr bwMode="auto">
          <a:xfrm>
            <a:off x="3162752" y="1604963"/>
            <a:ext cx="317500" cy="258762"/>
          </a:xfrm>
          <a:custGeom>
            <a:avLst/>
            <a:gdLst>
              <a:gd name="T0" fmla="*/ 0 w 200"/>
              <a:gd name="T1" fmla="*/ 162 h 163"/>
              <a:gd name="T2" fmla="*/ 0 w 200"/>
              <a:gd name="T3" fmla="*/ 0 h 163"/>
              <a:gd name="T4" fmla="*/ 199 w 200"/>
              <a:gd name="T5" fmla="*/ 0 h 163"/>
              <a:gd name="T6" fmla="*/ 199 w 200"/>
              <a:gd name="T7" fmla="*/ 162 h 163"/>
              <a:gd name="T8" fmla="*/ 0 w 200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63">
                <a:moveTo>
                  <a:pt x="0" y="162"/>
                </a:moveTo>
                <a:lnTo>
                  <a:pt x="0" y="0"/>
                </a:lnTo>
                <a:lnTo>
                  <a:pt x="199" y="0"/>
                </a:lnTo>
                <a:lnTo>
                  <a:pt x="199" y="162"/>
                </a:lnTo>
                <a:lnTo>
                  <a:pt x="0" y="162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Rectangle 57"/>
          <p:cNvSpPr>
            <a:spLocks noChangeArrowheads="1"/>
          </p:cNvSpPr>
          <p:nvPr/>
        </p:nvSpPr>
        <p:spPr bwMode="auto">
          <a:xfrm>
            <a:off x="3124652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3,4</a:t>
            </a:r>
          </a:p>
        </p:txBody>
      </p:sp>
      <p:sp>
        <p:nvSpPr>
          <p:cNvPr id="86" name="Rectangle 58"/>
          <p:cNvSpPr>
            <a:spLocks noChangeArrowheads="1"/>
          </p:cNvSpPr>
          <p:nvPr/>
        </p:nvSpPr>
        <p:spPr bwMode="auto">
          <a:xfrm>
            <a:off x="3591377" y="160337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6,2</a:t>
            </a:r>
          </a:p>
        </p:txBody>
      </p:sp>
      <p:sp>
        <p:nvSpPr>
          <p:cNvPr id="87" name="Rectangle 59"/>
          <p:cNvSpPr>
            <a:spLocks noChangeArrowheads="1"/>
          </p:cNvSpPr>
          <p:nvPr/>
        </p:nvSpPr>
        <p:spPr bwMode="auto">
          <a:xfrm>
            <a:off x="4067627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9,4</a:t>
            </a:r>
          </a:p>
        </p:txBody>
      </p:sp>
      <p:sp>
        <p:nvSpPr>
          <p:cNvPr id="88" name="Rectangle 60"/>
          <p:cNvSpPr>
            <a:spLocks noChangeArrowheads="1"/>
          </p:cNvSpPr>
          <p:nvPr/>
        </p:nvSpPr>
        <p:spPr bwMode="auto">
          <a:xfrm>
            <a:off x="4543877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8,7</a:t>
            </a:r>
          </a:p>
        </p:txBody>
      </p:sp>
      <p:sp>
        <p:nvSpPr>
          <p:cNvPr id="89" name="Rectangle 61"/>
          <p:cNvSpPr>
            <a:spLocks noChangeArrowheads="1"/>
          </p:cNvSpPr>
          <p:nvPr/>
        </p:nvSpPr>
        <p:spPr bwMode="auto">
          <a:xfrm>
            <a:off x="5020127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5,6</a:t>
            </a:r>
          </a:p>
        </p:txBody>
      </p:sp>
      <p:sp>
        <p:nvSpPr>
          <p:cNvPr id="90" name="Rectangle 62"/>
          <p:cNvSpPr>
            <a:spLocks noChangeArrowheads="1"/>
          </p:cNvSpPr>
          <p:nvPr/>
        </p:nvSpPr>
        <p:spPr bwMode="auto">
          <a:xfrm>
            <a:off x="5496377" y="16144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3,1</a:t>
            </a:r>
          </a:p>
        </p:txBody>
      </p:sp>
      <p:sp>
        <p:nvSpPr>
          <p:cNvPr id="91" name="Rectangle 63"/>
          <p:cNvSpPr>
            <a:spLocks noChangeArrowheads="1"/>
          </p:cNvSpPr>
          <p:nvPr/>
        </p:nvSpPr>
        <p:spPr bwMode="auto">
          <a:xfrm>
            <a:off x="6042477" y="16033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92" name="Rectangle 64"/>
          <p:cNvSpPr>
            <a:spLocks noChangeArrowheads="1"/>
          </p:cNvSpPr>
          <p:nvPr/>
        </p:nvSpPr>
        <p:spPr bwMode="auto">
          <a:xfrm>
            <a:off x="3115127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3,4</a:t>
            </a:r>
          </a:p>
        </p:txBody>
      </p:sp>
      <p:sp>
        <p:nvSpPr>
          <p:cNvPr id="93" name="Rectangle 65"/>
          <p:cNvSpPr>
            <a:spLocks noChangeArrowheads="1"/>
          </p:cNvSpPr>
          <p:nvPr/>
        </p:nvSpPr>
        <p:spPr bwMode="auto">
          <a:xfrm>
            <a:off x="5020127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5,6</a:t>
            </a:r>
          </a:p>
        </p:txBody>
      </p:sp>
      <p:sp>
        <p:nvSpPr>
          <p:cNvPr id="94" name="Rectangle 66"/>
          <p:cNvSpPr>
            <a:spLocks noChangeArrowheads="1"/>
          </p:cNvSpPr>
          <p:nvPr/>
        </p:nvSpPr>
        <p:spPr bwMode="auto">
          <a:xfrm>
            <a:off x="3591377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2,6</a:t>
            </a:r>
          </a:p>
        </p:txBody>
      </p:sp>
      <p:sp>
        <p:nvSpPr>
          <p:cNvPr id="95" name="Rectangle 67"/>
          <p:cNvSpPr>
            <a:spLocks noChangeArrowheads="1"/>
          </p:cNvSpPr>
          <p:nvPr/>
        </p:nvSpPr>
        <p:spPr bwMode="auto">
          <a:xfrm>
            <a:off x="4067627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4,9</a:t>
            </a:r>
          </a:p>
        </p:txBody>
      </p:sp>
      <p:sp>
        <p:nvSpPr>
          <p:cNvPr id="96" name="Rectangle 68"/>
          <p:cNvSpPr>
            <a:spLocks noChangeArrowheads="1"/>
          </p:cNvSpPr>
          <p:nvPr/>
        </p:nvSpPr>
        <p:spPr bwMode="auto">
          <a:xfrm>
            <a:off x="4553402" y="21288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7,8</a:t>
            </a:r>
          </a:p>
        </p:txBody>
      </p:sp>
      <p:sp>
        <p:nvSpPr>
          <p:cNvPr id="97" name="Rectangle 69"/>
          <p:cNvSpPr>
            <a:spLocks noChangeArrowheads="1"/>
          </p:cNvSpPr>
          <p:nvPr/>
        </p:nvSpPr>
        <p:spPr bwMode="auto">
          <a:xfrm>
            <a:off x="5486852" y="21161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1,3</a:t>
            </a:r>
          </a:p>
        </p:txBody>
      </p:sp>
      <p:sp>
        <p:nvSpPr>
          <p:cNvPr id="98" name="Rectangle 70"/>
          <p:cNvSpPr>
            <a:spLocks noChangeArrowheads="1"/>
          </p:cNvSpPr>
          <p:nvPr/>
        </p:nvSpPr>
        <p:spPr bwMode="auto">
          <a:xfrm>
            <a:off x="6031365" y="2116138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99" name="Rectangle 71"/>
          <p:cNvSpPr>
            <a:spLocks noChangeArrowheads="1"/>
          </p:cNvSpPr>
          <p:nvPr/>
        </p:nvSpPr>
        <p:spPr bwMode="auto">
          <a:xfrm>
            <a:off x="3343727" y="265112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2,3</a:t>
            </a:r>
          </a:p>
        </p:txBody>
      </p:sp>
      <p:sp>
        <p:nvSpPr>
          <p:cNvPr id="100" name="Rectangle 72"/>
          <p:cNvSpPr>
            <a:spLocks noChangeArrowheads="1"/>
          </p:cNvSpPr>
          <p:nvPr/>
        </p:nvSpPr>
        <p:spPr bwMode="auto">
          <a:xfrm>
            <a:off x="3353252" y="289718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4,6</a:t>
            </a:r>
          </a:p>
        </p:txBody>
      </p:sp>
      <p:sp>
        <p:nvSpPr>
          <p:cNvPr id="101" name="Rectangle 73"/>
          <p:cNvSpPr>
            <a:spLocks noChangeArrowheads="1"/>
          </p:cNvSpPr>
          <p:nvPr/>
        </p:nvSpPr>
        <p:spPr bwMode="auto">
          <a:xfrm>
            <a:off x="4305752" y="25987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4,7</a:t>
            </a:r>
          </a:p>
        </p:txBody>
      </p:sp>
      <p:sp>
        <p:nvSpPr>
          <p:cNvPr id="102" name="Rectangle 74"/>
          <p:cNvSpPr>
            <a:spLocks noChangeArrowheads="1"/>
          </p:cNvSpPr>
          <p:nvPr/>
        </p:nvSpPr>
        <p:spPr bwMode="auto">
          <a:xfrm>
            <a:off x="4296227" y="28654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8,9</a:t>
            </a:r>
          </a:p>
        </p:txBody>
      </p:sp>
      <p:sp>
        <p:nvSpPr>
          <p:cNvPr id="103" name="Rectangle 75"/>
          <p:cNvSpPr>
            <a:spLocks noChangeArrowheads="1"/>
          </p:cNvSpPr>
          <p:nvPr/>
        </p:nvSpPr>
        <p:spPr bwMode="auto">
          <a:xfrm>
            <a:off x="5278890" y="261937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1,3</a:t>
            </a:r>
          </a:p>
        </p:txBody>
      </p:sp>
      <p:sp>
        <p:nvSpPr>
          <p:cNvPr id="104" name="Rectangle 76"/>
          <p:cNvSpPr>
            <a:spLocks noChangeArrowheads="1"/>
          </p:cNvSpPr>
          <p:nvPr/>
        </p:nvSpPr>
        <p:spPr bwMode="auto">
          <a:xfrm>
            <a:off x="5267777" y="28654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5,6</a:t>
            </a:r>
          </a:p>
        </p:txBody>
      </p:sp>
      <p:sp>
        <p:nvSpPr>
          <p:cNvPr id="105" name="Rectangle 77"/>
          <p:cNvSpPr>
            <a:spLocks noChangeArrowheads="1"/>
          </p:cNvSpPr>
          <p:nvPr/>
        </p:nvSpPr>
        <p:spPr bwMode="auto">
          <a:xfrm>
            <a:off x="6269490" y="2865438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06" name="Rectangle 78"/>
          <p:cNvSpPr>
            <a:spLocks noChangeArrowheads="1"/>
          </p:cNvSpPr>
          <p:nvPr/>
        </p:nvSpPr>
        <p:spPr bwMode="auto">
          <a:xfrm>
            <a:off x="3829502" y="340995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2,3</a:t>
            </a:r>
          </a:p>
        </p:txBody>
      </p:sp>
      <p:sp>
        <p:nvSpPr>
          <p:cNvPr id="107" name="Rectangle 79"/>
          <p:cNvSpPr>
            <a:spLocks noChangeArrowheads="1"/>
          </p:cNvSpPr>
          <p:nvPr/>
        </p:nvSpPr>
        <p:spPr bwMode="auto">
          <a:xfrm>
            <a:off x="3829502" y="36782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4,4</a:t>
            </a:r>
          </a:p>
        </p:txBody>
      </p:sp>
      <p:sp>
        <p:nvSpPr>
          <p:cNvPr id="108" name="Rectangle 80"/>
          <p:cNvSpPr>
            <a:spLocks noChangeArrowheads="1"/>
          </p:cNvSpPr>
          <p:nvPr/>
        </p:nvSpPr>
        <p:spPr bwMode="auto">
          <a:xfrm>
            <a:off x="3839027" y="392430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6,7</a:t>
            </a:r>
          </a:p>
        </p:txBody>
      </p:sp>
      <p:sp>
        <p:nvSpPr>
          <p:cNvPr id="109" name="Rectangle 81"/>
          <p:cNvSpPr>
            <a:spLocks noChangeArrowheads="1"/>
          </p:cNvSpPr>
          <p:nvPr/>
        </p:nvSpPr>
        <p:spPr bwMode="auto">
          <a:xfrm>
            <a:off x="3829502" y="419100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8,9</a:t>
            </a:r>
          </a:p>
        </p:txBody>
      </p:sp>
      <p:sp>
        <p:nvSpPr>
          <p:cNvPr id="110" name="Rectangle 82"/>
          <p:cNvSpPr>
            <a:spLocks noChangeArrowheads="1"/>
          </p:cNvSpPr>
          <p:nvPr/>
        </p:nvSpPr>
        <p:spPr bwMode="auto">
          <a:xfrm>
            <a:off x="5736090" y="3678238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1,2</a:t>
            </a:r>
          </a:p>
        </p:txBody>
      </p:sp>
      <p:sp>
        <p:nvSpPr>
          <p:cNvPr id="111" name="Rectangle 83"/>
          <p:cNvSpPr>
            <a:spLocks noChangeArrowheads="1"/>
          </p:cNvSpPr>
          <p:nvPr/>
        </p:nvSpPr>
        <p:spPr bwMode="auto">
          <a:xfrm>
            <a:off x="5736090" y="392430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3,5</a:t>
            </a:r>
          </a:p>
        </p:txBody>
      </p:sp>
      <p:sp>
        <p:nvSpPr>
          <p:cNvPr id="112" name="Rectangle 84"/>
          <p:cNvSpPr>
            <a:spLocks noChangeArrowheads="1"/>
          </p:cNvSpPr>
          <p:nvPr/>
        </p:nvSpPr>
        <p:spPr bwMode="auto">
          <a:xfrm>
            <a:off x="5815465" y="4159250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113" name="Rectangle 85"/>
          <p:cNvSpPr>
            <a:spLocks noChangeArrowheads="1"/>
          </p:cNvSpPr>
          <p:nvPr/>
        </p:nvSpPr>
        <p:spPr bwMode="auto">
          <a:xfrm>
            <a:off x="4782002" y="494982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1,2</a:t>
            </a:r>
          </a:p>
        </p:txBody>
      </p:sp>
      <p:sp>
        <p:nvSpPr>
          <p:cNvPr id="114" name="Rectangle 86"/>
          <p:cNvSpPr>
            <a:spLocks noChangeArrowheads="1"/>
          </p:cNvSpPr>
          <p:nvPr/>
        </p:nvSpPr>
        <p:spPr bwMode="auto">
          <a:xfrm>
            <a:off x="4782002" y="5197475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2,3</a:t>
            </a:r>
          </a:p>
        </p:txBody>
      </p:sp>
      <p:sp>
        <p:nvSpPr>
          <p:cNvPr id="115" name="Rectangle 87"/>
          <p:cNvSpPr>
            <a:spLocks noChangeArrowheads="1"/>
          </p:cNvSpPr>
          <p:nvPr/>
        </p:nvSpPr>
        <p:spPr bwMode="auto">
          <a:xfrm>
            <a:off x="4782002" y="5453063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3,4</a:t>
            </a:r>
          </a:p>
        </p:txBody>
      </p:sp>
      <p:sp>
        <p:nvSpPr>
          <p:cNvPr id="116" name="Rectangle 88"/>
          <p:cNvSpPr>
            <a:spLocks noChangeArrowheads="1"/>
          </p:cNvSpPr>
          <p:nvPr/>
        </p:nvSpPr>
        <p:spPr bwMode="auto">
          <a:xfrm>
            <a:off x="4782002" y="572135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4,5</a:t>
            </a:r>
          </a:p>
        </p:txBody>
      </p:sp>
      <p:sp>
        <p:nvSpPr>
          <p:cNvPr id="117" name="Rectangle 89"/>
          <p:cNvSpPr>
            <a:spLocks noChangeArrowheads="1"/>
          </p:cNvSpPr>
          <p:nvPr/>
        </p:nvSpPr>
        <p:spPr bwMode="auto">
          <a:xfrm>
            <a:off x="4782002" y="5967413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6,6</a:t>
            </a:r>
          </a:p>
        </p:txBody>
      </p:sp>
      <p:sp>
        <p:nvSpPr>
          <p:cNvPr id="118" name="Rectangle 90"/>
          <p:cNvSpPr>
            <a:spLocks noChangeArrowheads="1"/>
          </p:cNvSpPr>
          <p:nvPr/>
        </p:nvSpPr>
        <p:spPr bwMode="auto">
          <a:xfrm>
            <a:off x="4782002" y="6223000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7,8</a:t>
            </a:r>
          </a:p>
        </p:txBody>
      </p:sp>
      <p:sp>
        <p:nvSpPr>
          <p:cNvPr id="119" name="Freeform 91"/>
          <p:cNvSpPr>
            <a:spLocks/>
          </p:cNvSpPr>
          <p:nvPr/>
        </p:nvSpPr>
        <p:spPr bwMode="auto">
          <a:xfrm>
            <a:off x="3875540" y="3409950"/>
            <a:ext cx="320675" cy="258763"/>
          </a:xfrm>
          <a:custGeom>
            <a:avLst/>
            <a:gdLst>
              <a:gd name="T0" fmla="*/ 0 w 202"/>
              <a:gd name="T1" fmla="*/ 162 h 163"/>
              <a:gd name="T2" fmla="*/ 0 w 202"/>
              <a:gd name="T3" fmla="*/ 0 h 163"/>
              <a:gd name="T4" fmla="*/ 201 w 202"/>
              <a:gd name="T5" fmla="*/ 0 h 163"/>
              <a:gd name="T6" fmla="*/ 201 w 202"/>
              <a:gd name="T7" fmla="*/ 162 h 163"/>
              <a:gd name="T8" fmla="*/ 0 w 202"/>
              <a:gd name="T9" fmla="*/ 162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163">
                <a:moveTo>
                  <a:pt x="0" y="162"/>
                </a:moveTo>
                <a:lnTo>
                  <a:pt x="0" y="0"/>
                </a:lnTo>
                <a:lnTo>
                  <a:pt x="201" y="0"/>
                </a:lnTo>
                <a:lnTo>
                  <a:pt x="201" y="162"/>
                </a:lnTo>
                <a:lnTo>
                  <a:pt x="0" y="1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Line 92"/>
          <p:cNvSpPr>
            <a:spLocks noChangeShapeType="1"/>
          </p:cNvSpPr>
          <p:nvPr/>
        </p:nvSpPr>
        <p:spPr bwMode="auto">
          <a:xfrm>
            <a:off x="3054802" y="2028825"/>
            <a:ext cx="381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Line 93"/>
          <p:cNvSpPr>
            <a:spLocks noChangeShapeType="1"/>
          </p:cNvSpPr>
          <p:nvPr/>
        </p:nvSpPr>
        <p:spPr bwMode="auto">
          <a:xfrm>
            <a:off x="3054802" y="2486025"/>
            <a:ext cx="3814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Line 94"/>
          <p:cNvSpPr>
            <a:spLocks noChangeShapeType="1"/>
          </p:cNvSpPr>
          <p:nvPr/>
        </p:nvSpPr>
        <p:spPr bwMode="auto">
          <a:xfrm>
            <a:off x="3126240" y="3248025"/>
            <a:ext cx="381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Line 95"/>
          <p:cNvSpPr>
            <a:spLocks noChangeShapeType="1"/>
          </p:cNvSpPr>
          <p:nvPr/>
        </p:nvSpPr>
        <p:spPr bwMode="auto">
          <a:xfrm>
            <a:off x="3126240" y="4543425"/>
            <a:ext cx="381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Line 96"/>
          <p:cNvSpPr>
            <a:spLocks noChangeShapeType="1"/>
          </p:cNvSpPr>
          <p:nvPr/>
        </p:nvSpPr>
        <p:spPr bwMode="auto">
          <a:xfrm>
            <a:off x="3337377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Line 97"/>
          <p:cNvSpPr>
            <a:spLocks noChangeShapeType="1"/>
          </p:cNvSpPr>
          <p:nvPr/>
        </p:nvSpPr>
        <p:spPr bwMode="auto">
          <a:xfrm>
            <a:off x="3761240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Line 98"/>
          <p:cNvSpPr>
            <a:spLocks noChangeShapeType="1"/>
          </p:cNvSpPr>
          <p:nvPr/>
        </p:nvSpPr>
        <p:spPr bwMode="auto">
          <a:xfrm>
            <a:off x="4256540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Line 99"/>
          <p:cNvSpPr>
            <a:spLocks noChangeShapeType="1"/>
          </p:cNvSpPr>
          <p:nvPr/>
        </p:nvSpPr>
        <p:spPr bwMode="auto">
          <a:xfrm>
            <a:off x="4750252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Line 100"/>
          <p:cNvSpPr>
            <a:spLocks noChangeShapeType="1"/>
          </p:cNvSpPr>
          <p:nvPr/>
        </p:nvSpPr>
        <p:spPr bwMode="auto">
          <a:xfrm>
            <a:off x="5245552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Line 101"/>
          <p:cNvSpPr>
            <a:spLocks noChangeShapeType="1"/>
          </p:cNvSpPr>
          <p:nvPr/>
        </p:nvSpPr>
        <p:spPr bwMode="auto">
          <a:xfrm>
            <a:off x="5669415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Line 102"/>
          <p:cNvSpPr>
            <a:spLocks noChangeShapeType="1"/>
          </p:cNvSpPr>
          <p:nvPr/>
        </p:nvSpPr>
        <p:spPr bwMode="auto">
          <a:xfrm>
            <a:off x="6163127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Line 103"/>
          <p:cNvSpPr>
            <a:spLocks noChangeShapeType="1"/>
          </p:cNvSpPr>
          <p:nvPr/>
        </p:nvSpPr>
        <p:spPr bwMode="auto">
          <a:xfrm>
            <a:off x="6658427" y="1876425"/>
            <a:ext cx="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Line 104"/>
          <p:cNvSpPr>
            <a:spLocks noChangeShapeType="1"/>
          </p:cNvSpPr>
          <p:nvPr/>
        </p:nvSpPr>
        <p:spPr bwMode="auto">
          <a:xfrm>
            <a:off x="3267527" y="2409825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Line 105"/>
          <p:cNvSpPr>
            <a:spLocks noChangeShapeType="1"/>
          </p:cNvSpPr>
          <p:nvPr/>
        </p:nvSpPr>
        <p:spPr bwMode="auto">
          <a:xfrm flipH="1">
            <a:off x="3550102" y="2409825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Line 106"/>
          <p:cNvSpPr>
            <a:spLocks noChangeShapeType="1"/>
          </p:cNvSpPr>
          <p:nvPr/>
        </p:nvSpPr>
        <p:spPr bwMode="auto">
          <a:xfrm>
            <a:off x="4256540" y="2409825"/>
            <a:ext cx="211137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Line 107"/>
          <p:cNvSpPr>
            <a:spLocks noChangeShapeType="1"/>
          </p:cNvSpPr>
          <p:nvPr/>
        </p:nvSpPr>
        <p:spPr bwMode="auto">
          <a:xfrm flipH="1">
            <a:off x="4539115" y="2409825"/>
            <a:ext cx="211137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Line 108"/>
          <p:cNvSpPr>
            <a:spLocks noChangeShapeType="1"/>
          </p:cNvSpPr>
          <p:nvPr/>
        </p:nvSpPr>
        <p:spPr bwMode="auto">
          <a:xfrm>
            <a:off x="5245552" y="2409825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Line 109"/>
          <p:cNvSpPr>
            <a:spLocks noChangeShapeType="1"/>
          </p:cNvSpPr>
          <p:nvPr/>
        </p:nvSpPr>
        <p:spPr bwMode="auto">
          <a:xfrm flipH="1">
            <a:off x="5528127" y="2409825"/>
            <a:ext cx="211138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Line 110"/>
          <p:cNvSpPr>
            <a:spLocks noChangeShapeType="1"/>
          </p:cNvSpPr>
          <p:nvPr/>
        </p:nvSpPr>
        <p:spPr bwMode="auto">
          <a:xfrm>
            <a:off x="6163127" y="2409825"/>
            <a:ext cx="2127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Line 111"/>
          <p:cNvSpPr>
            <a:spLocks noChangeShapeType="1"/>
          </p:cNvSpPr>
          <p:nvPr/>
        </p:nvSpPr>
        <p:spPr bwMode="auto">
          <a:xfrm flipH="1">
            <a:off x="6445702" y="2409825"/>
            <a:ext cx="2127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Line 112"/>
          <p:cNvSpPr>
            <a:spLocks noChangeShapeType="1"/>
          </p:cNvSpPr>
          <p:nvPr/>
        </p:nvSpPr>
        <p:spPr bwMode="auto">
          <a:xfrm>
            <a:off x="3550102" y="3171825"/>
            <a:ext cx="423863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Line 113"/>
          <p:cNvSpPr>
            <a:spLocks noChangeShapeType="1"/>
          </p:cNvSpPr>
          <p:nvPr/>
        </p:nvSpPr>
        <p:spPr bwMode="auto">
          <a:xfrm flipH="1">
            <a:off x="4115252" y="3171825"/>
            <a:ext cx="3524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Line 114"/>
          <p:cNvSpPr>
            <a:spLocks noChangeShapeType="1"/>
          </p:cNvSpPr>
          <p:nvPr/>
        </p:nvSpPr>
        <p:spPr bwMode="auto">
          <a:xfrm>
            <a:off x="5456690" y="3171825"/>
            <a:ext cx="423862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Line 115"/>
          <p:cNvSpPr>
            <a:spLocks noChangeShapeType="1"/>
          </p:cNvSpPr>
          <p:nvPr/>
        </p:nvSpPr>
        <p:spPr bwMode="auto">
          <a:xfrm flipH="1">
            <a:off x="6021840" y="3171825"/>
            <a:ext cx="354012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" name="Line 116"/>
          <p:cNvSpPr>
            <a:spLocks noChangeShapeType="1"/>
          </p:cNvSpPr>
          <p:nvPr/>
        </p:nvSpPr>
        <p:spPr bwMode="auto">
          <a:xfrm>
            <a:off x="4043815" y="4467225"/>
            <a:ext cx="847725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Line 117"/>
          <p:cNvSpPr>
            <a:spLocks noChangeShapeType="1"/>
          </p:cNvSpPr>
          <p:nvPr/>
        </p:nvSpPr>
        <p:spPr bwMode="auto">
          <a:xfrm flipH="1">
            <a:off x="5032827" y="4467225"/>
            <a:ext cx="919163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989465" y="4949825"/>
            <a:ext cx="3306762" cy="166131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Formula Check: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(2 × 8) × (3 + 1) = 64 I/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Correct!</a:t>
            </a:r>
          </a:p>
        </p:txBody>
      </p:sp>
      <p:graphicFrame>
        <p:nvGraphicFramePr>
          <p:cNvPr id="3" name="Object 2">
            <a:hlinkClick r:id="" action="ppaction://ole?verb=0"/>
          </p:cNvPr>
          <p:cNvGraphicFramePr>
            <a:graphicFrameLocks/>
          </p:cNvGraphicFramePr>
          <p:nvPr>
            <p:extLst/>
          </p:nvPr>
        </p:nvGraphicFramePr>
        <p:xfrm>
          <a:off x="1627188" y="5308600"/>
          <a:ext cx="19843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3" imgW="1218960" imgH="342720" progId="Equation.3">
                  <p:embed/>
                </p:oleObj>
              </mc:Choice>
              <mc:Fallback>
                <p:oleObj name="Equation" r:id="rId3" imgW="1218960" imgH="342720" progId="Equation.3">
                  <p:embed/>
                  <p:pic>
                    <p:nvPicPr>
                      <p:cNvPr id="3" name="Object 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5308600"/>
                        <a:ext cx="19843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eft Brace 3"/>
          <p:cNvSpPr/>
          <p:nvPr/>
        </p:nvSpPr>
        <p:spPr>
          <a:xfrm>
            <a:off x="1675265" y="1765300"/>
            <a:ext cx="346207" cy="2930525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Object 4">
            <a:hlinkClick r:id="" action="ppaction://ole?verb=0"/>
          </p:cNvPr>
          <p:cNvGraphicFramePr>
            <a:graphicFrameLocks/>
          </p:cNvGraphicFramePr>
          <p:nvPr>
            <p:extLst/>
          </p:nvPr>
        </p:nvGraphicFramePr>
        <p:xfrm>
          <a:off x="431458" y="2952750"/>
          <a:ext cx="1116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5" imgW="685800" imgH="228600" progId="Equation.3">
                  <p:embed/>
                </p:oleObj>
              </mc:Choice>
              <mc:Fallback>
                <p:oleObj name="Equation" r:id="rId5" imgW="685800" imgH="228600" progId="Equation.3">
                  <p:embed/>
                  <p:pic>
                    <p:nvPicPr>
                      <p:cNvPr id="5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58" y="2952750"/>
                        <a:ext cx="11160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9437" y="3346728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 passes</a:t>
            </a:r>
          </a:p>
        </p:txBody>
      </p:sp>
    </p:spTree>
    <p:extLst>
      <p:ext uri="{BB962C8B-B14F-4D97-AF65-F5344CB8AC3E}">
        <p14:creationId xmlns:p14="http://schemas.microsoft.com/office/powerpoint/2010/main" val="266858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ea typeface="ＭＳ Ｐゴシック" pitchFamily="34" charset="-128"/>
              </a:rPr>
              <a:t>M</a:t>
            </a:r>
            <a:r>
              <a:rPr lang="en-US" dirty="0" smtClean="0">
                <a:ea typeface="ＭＳ Ｐゴシック" pitchFamily="34" charset="-128"/>
              </a:rPr>
              <a:t>-Way </a:t>
            </a:r>
            <a:r>
              <a:rPr lang="en-US" dirty="0">
                <a:ea typeface="ＭＳ Ｐゴシック" pitchFamily="34" charset="-128"/>
              </a:rPr>
              <a:t>Merge Sort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492" y="1600200"/>
            <a:ext cx="8974508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How can we sort a file with </a:t>
            </a:r>
            <a:r>
              <a:rPr lang="en-US" sz="2800" i="1" dirty="0"/>
              <a:t>N</a:t>
            </a:r>
            <a:r>
              <a:rPr lang="en-US" sz="2800" dirty="0"/>
              <a:t> pages using </a:t>
            </a:r>
            <a:r>
              <a:rPr lang="en-US" sz="2800" b="1" i="1" u="sng" dirty="0"/>
              <a:t>M</a:t>
            </a:r>
            <a:r>
              <a:rPr lang="en-US" sz="2800" dirty="0" smtClean="0"/>
              <a:t> </a:t>
            </a:r>
            <a:r>
              <a:rPr lang="en-US" sz="2800" dirty="0"/>
              <a:t>buffer pages?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Pass 0: </a:t>
            </a:r>
            <a:r>
              <a:rPr lang="en-US" sz="2600" dirty="0"/>
              <a:t>use </a:t>
            </a:r>
            <a:r>
              <a:rPr lang="en-US" sz="2600" i="1" dirty="0"/>
              <a:t>M</a:t>
            </a:r>
            <a:r>
              <a:rPr lang="en-US" sz="2600" i="1" dirty="0" smtClean="0"/>
              <a:t> </a:t>
            </a:r>
            <a:r>
              <a:rPr lang="en-US" sz="2600" dirty="0"/>
              <a:t>buffer pages and sort internally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This will produce                 sorted </a:t>
            </a:r>
            <a:r>
              <a:rPr lang="en-US" dirty="0" smtClean="0"/>
              <a:t>M-page </a:t>
            </a:r>
            <a:r>
              <a:rPr lang="en-US" dirty="0"/>
              <a:t>runs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Passes 1, 2, …: </a:t>
            </a:r>
            <a:r>
              <a:rPr lang="en-US" sz="2600" dirty="0"/>
              <a:t>use </a:t>
            </a:r>
            <a:r>
              <a:rPr lang="en-US" sz="2600" dirty="0" smtClean="0"/>
              <a:t>M </a:t>
            </a:r>
            <a:r>
              <a:rPr lang="en-US" sz="2600" dirty="0"/>
              <a:t>– 1 buffer pages for input and the remaining page for output; do </a:t>
            </a:r>
            <a:r>
              <a:rPr lang="en-US" sz="2600" dirty="0" smtClean="0"/>
              <a:t>(M-1</a:t>
            </a:r>
            <a:r>
              <a:rPr lang="en-US" sz="2600" dirty="0"/>
              <a:t>)-way merge in each run</a:t>
            </a:r>
          </a:p>
          <a:p>
            <a:pPr lvl="2">
              <a:buFont typeface="Wingdings" pitchFamily="2" charset="2"/>
              <a:buChar char="§"/>
            </a:pPr>
            <a:endParaRPr lang="en-US" sz="2000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</p:txBody>
      </p:sp>
      <p:graphicFrame>
        <p:nvGraphicFramePr>
          <p:cNvPr id="2" name="Object 1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437226"/>
              </p:ext>
            </p:extLst>
          </p:nvPr>
        </p:nvGraphicFramePr>
        <p:xfrm>
          <a:off x="3678237" y="2590799"/>
          <a:ext cx="66833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3" imgW="533160" imgH="228600" progId="Equation.3">
                  <p:embed/>
                </p:oleObj>
              </mc:Choice>
              <mc:Fallback>
                <p:oleObj name="Equation" r:id="rId3" imgW="533160" imgH="228600" progId="Equation.3">
                  <p:embed/>
                  <p:pic>
                    <p:nvPicPr>
                      <p:cNvPr id="2" name="Object 1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7" y="2590799"/>
                        <a:ext cx="66833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Freeform 7"/>
          <p:cNvSpPr>
            <a:spLocks/>
          </p:cNvSpPr>
          <p:nvPr/>
        </p:nvSpPr>
        <p:spPr bwMode="auto">
          <a:xfrm>
            <a:off x="6837363" y="4249738"/>
            <a:ext cx="1393825" cy="254000"/>
          </a:xfrm>
          <a:custGeom>
            <a:avLst/>
            <a:gdLst>
              <a:gd name="T0" fmla="*/ 877 w 878"/>
              <a:gd name="T1" fmla="*/ 81 h 160"/>
              <a:gd name="T2" fmla="*/ 843 w 878"/>
              <a:gd name="T3" fmla="*/ 48 h 160"/>
              <a:gd name="T4" fmla="*/ 749 w 878"/>
              <a:gd name="T5" fmla="*/ 24 h 160"/>
              <a:gd name="T6" fmla="*/ 439 w 878"/>
              <a:gd name="T7" fmla="*/ 0 h 160"/>
              <a:gd name="T8" fmla="*/ 129 w 878"/>
              <a:gd name="T9" fmla="*/ 24 h 160"/>
              <a:gd name="T10" fmla="*/ 35 w 878"/>
              <a:gd name="T11" fmla="*/ 48 h 160"/>
              <a:gd name="T12" fmla="*/ 0 w 878"/>
              <a:gd name="T13" fmla="*/ 81 h 160"/>
              <a:gd name="T14" fmla="*/ 35 w 878"/>
              <a:gd name="T15" fmla="*/ 112 h 160"/>
              <a:gd name="T16" fmla="*/ 129 w 878"/>
              <a:gd name="T17" fmla="*/ 136 h 160"/>
              <a:gd name="T18" fmla="*/ 439 w 878"/>
              <a:gd name="T19" fmla="*/ 159 h 160"/>
              <a:gd name="T20" fmla="*/ 749 w 878"/>
              <a:gd name="T21" fmla="*/ 136 h 160"/>
              <a:gd name="T22" fmla="*/ 843 w 878"/>
              <a:gd name="T23" fmla="*/ 112 h 160"/>
              <a:gd name="T24" fmla="*/ 877 w 878"/>
              <a:gd name="T25" fmla="*/ 8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78" h="160">
                <a:moveTo>
                  <a:pt x="877" y="81"/>
                </a:moveTo>
                <a:lnTo>
                  <a:pt x="843" y="48"/>
                </a:lnTo>
                <a:lnTo>
                  <a:pt x="749" y="24"/>
                </a:lnTo>
                <a:lnTo>
                  <a:pt x="439" y="0"/>
                </a:lnTo>
                <a:lnTo>
                  <a:pt x="129" y="24"/>
                </a:lnTo>
                <a:lnTo>
                  <a:pt x="35" y="48"/>
                </a:lnTo>
                <a:lnTo>
                  <a:pt x="0" y="81"/>
                </a:lnTo>
                <a:lnTo>
                  <a:pt x="35" y="112"/>
                </a:lnTo>
                <a:lnTo>
                  <a:pt x="129" y="136"/>
                </a:lnTo>
                <a:lnTo>
                  <a:pt x="439" y="159"/>
                </a:lnTo>
                <a:lnTo>
                  <a:pt x="749" y="136"/>
                </a:lnTo>
                <a:lnTo>
                  <a:pt x="843" y="112"/>
                </a:lnTo>
                <a:lnTo>
                  <a:pt x="877" y="81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8"/>
          <p:cNvSpPr>
            <a:spLocks/>
          </p:cNvSpPr>
          <p:nvPr/>
        </p:nvSpPr>
        <p:spPr bwMode="auto">
          <a:xfrm>
            <a:off x="1198563" y="4638675"/>
            <a:ext cx="1098550" cy="182563"/>
          </a:xfrm>
          <a:custGeom>
            <a:avLst/>
            <a:gdLst>
              <a:gd name="T0" fmla="*/ 0 w 692"/>
              <a:gd name="T1" fmla="*/ 114 h 115"/>
              <a:gd name="T2" fmla="*/ 0 w 692"/>
              <a:gd name="T3" fmla="*/ 0 h 115"/>
              <a:gd name="T4" fmla="*/ 691 w 692"/>
              <a:gd name="T5" fmla="*/ 0 h 115"/>
              <a:gd name="T6" fmla="*/ 691 w 692"/>
              <a:gd name="T7" fmla="*/ 114 h 115"/>
              <a:gd name="T8" fmla="*/ 0 w 692"/>
              <a:gd name="T9" fmla="*/ 114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2" h="115">
                <a:moveTo>
                  <a:pt x="0" y="114"/>
                </a:moveTo>
                <a:lnTo>
                  <a:pt x="0" y="0"/>
                </a:lnTo>
                <a:lnTo>
                  <a:pt x="691" y="0"/>
                </a:lnTo>
                <a:lnTo>
                  <a:pt x="691" y="114"/>
                </a:lnTo>
                <a:lnTo>
                  <a:pt x="0" y="11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Freeform 9"/>
          <p:cNvSpPr>
            <a:spLocks/>
          </p:cNvSpPr>
          <p:nvPr/>
        </p:nvSpPr>
        <p:spPr bwMode="auto">
          <a:xfrm>
            <a:off x="1198563" y="5638800"/>
            <a:ext cx="1128712" cy="166688"/>
          </a:xfrm>
          <a:custGeom>
            <a:avLst/>
            <a:gdLst>
              <a:gd name="T0" fmla="*/ 0 w 711"/>
              <a:gd name="T1" fmla="*/ 104 h 105"/>
              <a:gd name="T2" fmla="*/ 0 w 711"/>
              <a:gd name="T3" fmla="*/ 0 h 105"/>
              <a:gd name="T4" fmla="*/ 710 w 711"/>
              <a:gd name="T5" fmla="*/ 0 h 105"/>
              <a:gd name="T6" fmla="*/ 710 w 711"/>
              <a:gd name="T7" fmla="*/ 104 h 105"/>
              <a:gd name="T8" fmla="*/ 0 w 711"/>
              <a:gd name="T9" fmla="*/ 104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1" h="105">
                <a:moveTo>
                  <a:pt x="0" y="104"/>
                </a:moveTo>
                <a:lnTo>
                  <a:pt x="0" y="0"/>
                </a:lnTo>
                <a:lnTo>
                  <a:pt x="710" y="0"/>
                </a:lnTo>
                <a:lnTo>
                  <a:pt x="710" y="104"/>
                </a:lnTo>
                <a:lnTo>
                  <a:pt x="0" y="10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Freeform 10"/>
          <p:cNvSpPr>
            <a:spLocks/>
          </p:cNvSpPr>
          <p:nvPr/>
        </p:nvSpPr>
        <p:spPr bwMode="auto">
          <a:xfrm>
            <a:off x="1052513" y="4284663"/>
            <a:ext cx="1387475" cy="265112"/>
          </a:xfrm>
          <a:custGeom>
            <a:avLst/>
            <a:gdLst>
              <a:gd name="T0" fmla="*/ 873 w 874"/>
              <a:gd name="T1" fmla="*/ 84 h 167"/>
              <a:gd name="T2" fmla="*/ 839 w 874"/>
              <a:gd name="T3" fmla="*/ 51 h 167"/>
              <a:gd name="T4" fmla="*/ 745 w 874"/>
              <a:gd name="T5" fmla="*/ 24 h 167"/>
              <a:gd name="T6" fmla="*/ 437 w 874"/>
              <a:gd name="T7" fmla="*/ 0 h 167"/>
              <a:gd name="T8" fmla="*/ 128 w 874"/>
              <a:gd name="T9" fmla="*/ 24 h 167"/>
              <a:gd name="T10" fmla="*/ 34 w 874"/>
              <a:gd name="T11" fmla="*/ 51 h 167"/>
              <a:gd name="T12" fmla="*/ 0 w 874"/>
              <a:gd name="T13" fmla="*/ 84 h 167"/>
              <a:gd name="T14" fmla="*/ 34 w 874"/>
              <a:gd name="T15" fmla="*/ 115 h 167"/>
              <a:gd name="T16" fmla="*/ 128 w 874"/>
              <a:gd name="T17" fmla="*/ 142 h 167"/>
              <a:gd name="T18" fmla="*/ 437 w 874"/>
              <a:gd name="T19" fmla="*/ 166 h 167"/>
              <a:gd name="T20" fmla="*/ 745 w 874"/>
              <a:gd name="T21" fmla="*/ 142 h 167"/>
              <a:gd name="T22" fmla="*/ 839 w 874"/>
              <a:gd name="T23" fmla="*/ 115 h 167"/>
              <a:gd name="T24" fmla="*/ 873 w 874"/>
              <a:gd name="T25" fmla="*/ 84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74" h="167">
                <a:moveTo>
                  <a:pt x="873" y="84"/>
                </a:moveTo>
                <a:lnTo>
                  <a:pt x="839" y="51"/>
                </a:lnTo>
                <a:lnTo>
                  <a:pt x="745" y="24"/>
                </a:lnTo>
                <a:lnTo>
                  <a:pt x="437" y="0"/>
                </a:lnTo>
                <a:lnTo>
                  <a:pt x="128" y="24"/>
                </a:lnTo>
                <a:lnTo>
                  <a:pt x="34" y="51"/>
                </a:lnTo>
                <a:lnTo>
                  <a:pt x="0" y="84"/>
                </a:lnTo>
                <a:lnTo>
                  <a:pt x="34" y="115"/>
                </a:lnTo>
                <a:lnTo>
                  <a:pt x="128" y="142"/>
                </a:lnTo>
                <a:lnTo>
                  <a:pt x="437" y="166"/>
                </a:lnTo>
                <a:lnTo>
                  <a:pt x="745" y="142"/>
                </a:lnTo>
                <a:lnTo>
                  <a:pt x="839" y="115"/>
                </a:lnTo>
                <a:lnTo>
                  <a:pt x="873" y="8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11"/>
          <p:cNvSpPr>
            <a:spLocks noChangeArrowheads="1"/>
          </p:cNvSpPr>
          <p:nvPr/>
        </p:nvSpPr>
        <p:spPr bwMode="auto">
          <a:xfrm>
            <a:off x="3327400" y="6223000"/>
            <a:ext cx="30654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B Main memory buffers</a:t>
            </a:r>
          </a:p>
        </p:txBody>
      </p:sp>
      <p:sp>
        <p:nvSpPr>
          <p:cNvPr id="41" name="Freeform 12"/>
          <p:cNvSpPr>
            <a:spLocks/>
          </p:cNvSpPr>
          <p:nvPr/>
        </p:nvSpPr>
        <p:spPr bwMode="auto">
          <a:xfrm>
            <a:off x="6953250" y="4724400"/>
            <a:ext cx="1119188" cy="157163"/>
          </a:xfrm>
          <a:custGeom>
            <a:avLst/>
            <a:gdLst>
              <a:gd name="T0" fmla="*/ 0 w 705"/>
              <a:gd name="T1" fmla="*/ 98 h 99"/>
              <a:gd name="T2" fmla="*/ 0 w 705"/>
              <a:gd name="T3" fmla="*/ 0 h 99"/>
              <a:gd name="T4" fmla="*/ 704 w 705"/>
              <a:gd name="T5" fmla="*/ 0 h 99"/>
              <a:gd name="T6" fmla="*/ 704 w 705"/>
              <a:gd name="T7" fmla="*/ 98 h 99"/>
              <a:gd name="T8" fmla="*/ 0 w 705"/>
              <a:gd name="T9" fmla="*/ 98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5" h="99">
                <a:moveTo>
                  <a:pt x="0" y="98"/>
                </a:moveTo>
                <a:lnTo>
                  <a:pt x="0" y="0"/>
                </a:lnTo>
                <a:lnTo>
                  <a:pt x="704" y="0"/>
                </a:lnTo>
                <a:lnTo>
                  <a:pt x="704" y="98"/>
                </a:lnTo>
                <a:lnTo>
                  <a:pt x="0" y="98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reeform 13"/>
          <p:cNvSpPr>
            <a:spLocks/>
          </p:cNvSpPr>
          <p:nvPr/>
        </p:nvSpPr>
        <p:spPr bwMode="auto">
          <a:xfrm>
            <a:off x="6967538" y="5005388"/>
            <a:ext cx="1120775" cy="142875"/>
          </a:xfrm>
          <a:custGeom>
            <a:avLst/>
            <a:gdLst>
              <a:gd name="T0" fmla="*/ 0 w 706"/>
              <a:gd name="T1" fmla="*/ 89 h 90"/>
              <a:gd name="T2" fmla="*/ 0 w 706"/>
              <a:gd name="T3" fmla="*/ 0 h 90"/>
              <a:gd name="T4" fmla="*/ 705 w 706"/>
              <a:gd name="T5" fmla="*/ 0 h 90"/>
              <a:gd name="T6" fmla="*/ 705 w 706"/>
              <a:gd name="T7" fmla="*/ 89 h 90"/>
              <a:gd name="T8" fmla="*/ 0 w 706"/>
              <a:gd name="T9" fmla="*/ 89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6" h="90">
                <a:moveTo>
                  <a:pt x="0" y="89"/>
                </a:moveTo>
                <a:lnTo>
                  <a:pt x="0" y="0"/>
                </a:lnTo>
                <a:lnTo>
                  <a:pt x="705" y="0"/>
                </a:lnTo>
                <a:lnTo>
                  <a:pt x="705" y="89"/>
                </a:lnTo>
                <a:lnTo>
                  <a:pt x="0" y="89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Freeform 14"/>
          <p:cNvSpPr>
            <a:spLocks/>
          </p:cNvSpPr>
          <p:nvPr/>
        </p:nvSpPr>
        <p:spPr bwMode="auto">
          <a:xfrm>
            <a:off x="3321050" y="4146550"/>
            <a:ext cx="1189038" cy="538163"/>
          </a:xfrm>
          <a:custGeom>
            <a:avLst/>
            <a:gdLst>
              <a:gd name="T0" fmla="*/ 0 w 749"/>
              <a:gd name="T1" fmla="*/ 338 h 339"/>
              <a:gd name="T2" fmla="*/ 0 w 749"/>
              <a:gd name="T3" fmla="*/ 0 h 339"/>
              <a:gd name="T4" fmla="*/ 748 w 749"/>
              <a:gd name="T5" fmla="*/ 0 h 339"/>
              <a:gd name="T6" fmla="*/ 748 w 749"/>
              <a:gd name="T7" fmla="*/ 338 h 339"/>
              <a:gd name="T8" fmla="*/ 0 w 749"/>
              <a:gd name="T9" fmla="*/ 338 h 3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339">
                <a:moveTo>
                  <a:pt x="0" y="338"/>
                </a:moveTo>
                <a:lnTo>
                  <a:pt x="0" y="0"/>
                </a:lnTo>
                <a:lnTo>
                  <a:pt x="748" y="0"/>
                </a:lnTo>
                <a:lnTo>
                  <a:pt x="748" y="338"/>
                </a:lnTo>
                <a:lnTo>
                  <a:pt x="0" y="338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Freeform 15"/>
          <p:cNvSpPr>
            <a:spLocks/>
          </p:cNvSpPr>
          <p:nvPr/>
        </p:nvSpPr>
        <p:spPr bwMode="auto">
          <a:xfrm>
            <a:off x="5170488" y="5000625"/>
            <a:ext cx="1058862" cy="436563"/>
          </a:xfrm>
          <a:custGeom>
            <a:avLst/>
            <a:gdLst>
              <a:gd name="T0" fmla="*/ 0 w 667"/>
              <a:gd name="T1" fmla="*/ 274 h 275"/>
              <a:gd name="T2" fmla="*/ 0 w 667"/>
              <a:gd name="T3" fmla="*/ 0 h 275"/>
              <a:gd name="T4" fmla="*/ 666 w 667"/>
              <a:gd name="T5" fmla="*/ 0 h 275"/>
              <a:gd name="T6" fmla="*/ 666 w 667"/>
              <a:gd name="T7" fmla="*/ 274 h 275"/>
              <a:gd name="T8" fmla="*/ 0 w 667"/>
              <a:gd name="T9" fmla="*/ 274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7" h="275">
                <a:moveTo>
                  <a:pt x="0" y="274"/>
                </a:moveTo>
                <a:lnTo>
                  <a:pt x="0" y="0"/>
                </a:lnTo>
                <a:lnTo>
                  <a:pt x="666" y="0"/>
                </a:lnTo>
                <a:lnTo>
                  <a:pt x="666" y="274"/>
                </a:lnTo>
                <a:lnTo>
                  <a:pt x="0" y="274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reeform 16"/>
          <p:cNvSpPr>
            <a:spLocks/>
          </p:cNvSpPr>
          <p:nvPr/>
        </p:nvSpPr>
        <p:spPr bwMode="auto">
          <a:xfrm>
            <a:off x="3292475" y="5722938"/>
            <a:ext cx="1189038" cy="539750"/>
          </a:xfrm>
          <a:custGeom>
            <a:avLst/>
            <a:gdLst>
              <a:gd name="T0" fmla="*/ 0 w 749"/>
              <a:gd name="T1" fmla="*/ 339 h 340"/>
              <a:gd name="T2" fmla="*/ 0 w 749"/>
              <a:gd name="T3" fmla="*/ 0 h 340"/>
              <a:gd name="T4" fmla="*/ 748 w 749"/>
              <a:gd name="T5" fmla="*/ 0 h 340"/>
              <a:gd name="T6" fmla="*/ 748 w 749"/>
              <a:gd name="T7" fmla="*/ 339 h 340"/>
              <a:gd name="T8" fmla="*/ 0 w 749"/>
              <a:gd name="T9" fmla="*/ 339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340">
                <a:moveTo>
                  <a:pt x="0" y="339"/>
                </a:moveTo>
                <a:lnTo>
                  <a:pt x="0" y="0"/>
                </a:lnTo>
                <a:lnTo>
                  <a:pt x="748" y="0"/>
                </a:lnTo>
                <a:lnTo>
                  <a:pt x="748" y="339"/>
                </a:lnTo>
                <a:lnTo>
                  <a:pt x="0" y="339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reeform 17"/>
          <p:cNvSpPr>
            <a:spLocks/>
          </p:cNvSpPr>
          <p:nvPr/>
        </p:nvSpPr>
        <p:spPr bwMode="auto">
          <a:xfrm>
            <a:off x="2787650" y="4038600"/>
            <a:ext cx="3625850" cy="2492375"/>
          </a:xfrm>
          <a:custGeom>
            <a:avLst/>
            <a:gdLst>
              <a:gd name="T0" fmla="*/ 0 w 2284"/>
              <a:gd name="T1" fmla="*/ 1569 h 1570"/>
              <a:gd name="T2" fmla="*/ 0 w 2284"/>
              <a:gd name="T3" fmla="*/ 0 h 1570"/>
              <a:gd name="T4" fmla="*/ 2283 w 2284"/>
              <a:gd name="T5" fmla="*/ 0 h 1570"/>
              <a:gd name="T6" fmla="*/ 2283 w 2284"/>
              <a:gd name="T7" fmla="*/ 1569 h 1570"/>
              <a:gd name="T8" fmla="*/ 0 w 2284"/>
              <a:gd name="T9" fmla="*/ 1569 h 1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4" h="1570">
                <a:moveTo>
                  <a:pt x="0" y="1569"/>
                </a:moveTo>
                <a:lnTo>
                  <a:pt x="0" y="0"/>
                </a:lnTo>
                <a:lnTo>
                  <a:pt x="2283" y="0"/>
                </a:lnTo>
                <a:lnTo>
                  <a:pt x="2283" y="1569"/>
                </a:lnTo>
                <a:lnTo>
                  <a:pt x="0" y="156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18"/>
          <p:cNvSpPr>
            <a:spLocks noChangeArrowheads="1"/>
          </p:cNvSpPr>
          <p:nvPr/>
        </p:nvSpPr>
        <p:spPr bwMode="auto">
          <a:xfrm>
            <a:off x="3303588" y="4202113"/>
            <a:ext cx="1042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INPUT 1</a:t>
            </a:r>
          </a:p>
        </p:txBody>
      </p:sp>
      <p:sp>
        <p:nvSpPr>
          <p:cNvPr id="48" name="Rectangle 19"/>
          <p:cNvSpPr>
            <a:spLocks noChangeArrowheads="1"/>
          </p:cNvSpPr>
          <p:nvPr/>
        </p:nvSpPr>
        <p:spPr bwMode="auto">
          <a:xfrm>
            <a:off x="3224213" y="5780088"/>
            <a:ext cx="132247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INPUT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M-1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Bookman Old Style" pitchFamily="18" charset="0"/>
              <a:ea typeface="+mn-ea"/>
              <a:cs typeface="+mn-cs"/>
            </a:endParaRPr>
          </a:p>
        </p:txBody>
      </p:sp>
      <p:sp>
        <p:nvSpPr>
          <p:cNvPr id="49" name="Rectangle 20"/>
          <p:cNvSpPr>
            <a:spLocks noChangeArrowheads="1"/>
          </p:cNvSpPr>
          <p:nvPr/>
        </p:nvSpPr>
        <p:spPr bwMode="auto">
          <a:xfrm>
            <a:off x="5122863" y="5024438"/>
            <a:ext cx="10636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50" name="Rectangle 21"/>
          <p:cNvSpPr>
            <a:spLocks noChangeArrowheads="1"/>
          </p:cNvSpPr>
          <p:nvPr/>
        </p:nvSpPr>
        <p:spPr bwMode="auto">
          <a:xfrm>
            <a:off x="7245350" y="6083300"/>
            <a:ext cx="7112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Disk</a:t>
            </a:r>
          </a:p>
        </p:txBody>
      </p:sp>
      <p:sp>
        <p:nvSpPr>
          <p:cNvPr id="51" name="Rectangle 22"/>
          <p:cNvSpPr>
            <a:spLocks noChangeArrowheads="1"/>
          </p:cNvSpPr>
          <p:nvPr/>
        </p:nvSpPr>
        <p:spPr bwMode="auto">
          <a:xfrm>
            <a:off x="1382713" y="6115050"/>
            <a:ext cx="7112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Disk</a:t>
            </a:r>
          </a:p>
        </p:txBody>
      </p:sp>
      <p:sp>
        <p:nvSpPr>
          <p:cNvPr id="52" name="Line 23"/>
          <p:cNvSpPr>
            <a:spLocks noChangeShapeType="1"/>
          </p:cNvSpPr>
          <p:nvPr/>
        </p:nvSpPr>
        <p:spPr bwMode="auto">
          <a:xfrm>
            <a:off x="1068388" y="4406900"/>
            <a:ext cx="0" cy="14779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Line 24"/>
          <p:cNvSpPr>
            <a:spLocks noChangeShapeType="1"/>
          </p:cNvSpPr>
          <p:nvPr/>
        </p:nvSpPr>
        <p:spPr bwMode="auto">
          <a:xfrm>
            <a:off x="2435225" y="4406900"/>
            <a:ext cx="0" cy="14779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4" name="Group 27"/>
          <p:cNvGrpSpPr>
            <a:grpSpLocks/>
          </p:cNvGrpSpPr>
          <p:nvPr/>
        </p:nvGrpSpPr>
        <p:grpSpPr bwMode="auto">
          <a:xfrm>
            <a:off x="1071563" y="5884863"/>
            <a:ext cx="1363662" cy="190500"/>
            <a:chOff x="675" y="3611"/>
            <a:chExt cx="859" cy="120"/>
          </a:xfrm>
        </p:grpSpPr>
        <p:sp>
          <p:nvSpPr>
            <p:cNvPr id="55" name="Arc 25"/>
            <p:cNvSpPr>
              <a:spLocks/>
            </p:cNvSpPr>
            <p:nvPr/>
          </p:nvSpPr>
          <p:spPr bwMode="auto">
            <a:xfrm>
              <a:off x="675" y="3611"/>
              <a:ext cx="456" cy="120"/>
            </a:xfrm>
            <a:custGeom>
              <a:avLst/>
              <a:gdLst>
                <a:gd name="G0" fmla="+- 21600 0 0"/>
                <a:gd name="G1" fmla="+- 744 0 0"/>
                <a:gd name="G2" fmla="+- 21600 0 0"/>
                <a:gd name="T0" fmla="*/ 21457 w 21600"/>
                <a:gd name="T1" fmla="*/ 22344 h 22344"/>
                <a:gd name="T2" fmla="*/ 13 w 21600"/>
                <a:gd name="T3" fmla="*/ 0 h 22344"/>
                <a:gd name="T4" fmla="*/ 21600 w 21600"/>
                <a:gd name="T5" fmla="*/ 744 h 22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344" fill="none" extrusionOk="0">
                  <a:moveTo>
                    <a:pt x="21457" y="22343"/>
                  </a:moveTo>
                  <a:cubicBezTo>
                    <a:pt x="9583" y="22264"/>
                    <a:pt x="0" y="12617"/>
                    <a:pt x="0" y="744"/>
                  </a:cubicBezTo>
                  <a:cubicBezTo>
                    <a:pt x="-1" y="495"/>
                    <a:pt x="4" y="247"/>
                    <a:pt x="12" y="-1"/>
                  </a:cubicBezTo>
                </a:path>
                <a:path w="21600" h="22344" stroke="0" extrusionOk="0">
                  <a:moveTo>
                    <a:pt x="21457" y="22343"/>
                  </a:moveTo>
                  <a:cubicBezTo>
                    <a:pt x="9583" y="22264"/>
                    <a:pt x="0" y="12617"/>
                    <a:pt x="0" y="744"/>
                  </a:cubicBezTo>
                  <a:cubicBezTo>
                    <a:pt x="-1" y="495"/>
                    <a:pt x="4" y="247"/>
                    <a:pt x="12" y="-1"/>
                  </a:cubicBezTo>
                  <a:lnTo>
                    <a:pt x="21600" y="744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Arc 26"/>
            <p:cNvSpPr>
              <a:spLocks/>
            </p:cNvSpPr>
            <p:nvPr/>
          </p:nvSpPr>
          <p:spPr bwMode="auto">
            <a:xfrm>
              <a:off x="1078" y="3611"/>
              <a:ext cx="456" cy="117"/>
            </a:xfrm>
            <a:custGeom>
              <a:avLst/>
              <a:gdLst>
                <a:gd name="G0" fmla="+- 0 0 0"/>
                <a:gd name="G1" fmla="+- 187 0 0"/>
                <a:gd name="G2" fmla="+- 21600 0 0"/>
                <a:gd name="T0" fmla="*/ 21599 w 21600"/>
                <a:gd name="T1" fmla="*/ 0 h 21787"/>
                <a:gd name="T2" fmla="*/ 0 w 21600"/>
                <a:gd name="T3" fmla="*/ 21787 h 21787"/>
                <a:gd name="T4" fmla="*/ 0 w 21600"/>
                <a:gd name="T5" fmla="*/ 187 h 21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787" fill="none" extrusionOk="0">
                  <a:moveTo>
                    <a:pt x="21599" y="-1"/>
                  </a:moveTo>
                  <a:cubicBezTo>
                    <a:pt x="21599" y="62"/>
                    <a:pt x="21600" y="124"/>
                    <a:pt x="21600" y="187"/>
                  </a:cubicBezTo>
                  <a:cubicBezTo>
                    <a:pt x="21600" y="12116"/>
                    <a:pt x="11929" y="21786"/>
                    <a:pt x="0" y="21787"/>
                  </a:cubicBezTo>
                </a:path>
                <a:path w="21600" h="21787" stroke="0" extrusionOk="0">
                  <a:moveTo>
                    <a:pt x="21599" y="-1"/>
                  </a:moveTo>
                  <a:cubicBezTo>
                    <a:pt x="21599" y="62"/>
                    <a:pt x="21600" y="124"/>
                    <a:pt x="21600" y="187"/>
                  </a:cubicBezTo>
                  <a:cubicBezTo>
                    <a:pt x="21600" y="12116"/>
                    <a:pt x="11929" y="21786"/>
                    <a:pt x="0" y="21787"/>
                  </a:cubicBezTo>
                  <a:lnTo>
                    <a:pt x="0" y="187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7" name="Group 30"/>
          <p:cNvGrpSpPr>
            <a:grpSpLocks/>
          </p:cNvGrpSpPr>
          <p:nvPr/>
        </p:nvGrpSpPr>
        <p:grpSpPr bwMode="auto">
          <a:xfrm>
            <a:off x="6858000" y="5808663"/>
            <a:ext cx="1370013" cy="179387"/>
            <a:chOff x="4320" y="3563"/>
            <a:chExt cx="863" cy="113"/>
          </a:xfrm>
        </p:grpSpPr>
        <p:sp>
          <p:nvSpPr>
            <p:cNvPr id="58" name="Arc 28"/>
            <p:cNvSpPr>
              <a:spLocks/>
            </p:cNvSpPr>
            <p:nvPr/>
          </p:nvSpPr>
          <p:spPr bwMode="auto">
            <a:xfrm>
              <a:off x="4320" y="3563"/>
              <a:ext cx="458" cy="113"/>
            </a:xfrm>
            <a:custGeom>
              <a:avLst/>
              <a:gdLst>
                <a:gd name="G0" fmla="+- 21600 0 0"/>
                <a:gd name="G1" fmla="+- 589 0 0"/>
                <a:gd name="G2" fmla="+- 21600 0 0"/>
                <a:gd name="T0" fmla="*/ 21457 w 21600"/>
                <a:gd name="T1" fmla="*/ 22189 h 22189"/>
                <a:gd name="T2" fmla="*/ 8 w 21600"/>
                <a:gd name="T3" fmla="*/ 0 h 22189"/>
                <a:gd name="T4" fmla="*/ 21600 w 21600"/>
                <a:gd name="T5" fmla="*/ 589 h 22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189" fill="none" extrusionOk="0">
                  <a:moveTo>
                    <a:pt x="21457" y="22188"/>
                  </a:moveTo>
                  <a:cubicBezTo>
                    <a:pt x="9583" y="22109"/>
                    <a:pt x="0" y="12462"/>
                    <a:pt x="0" y="589"/>
                  </a:cubicBezTo>
                  <a:cubicBezTo>
                    <a:pt x="-1" y="392"/>
                    <a:pt x="2" y="196"/>
                    <a:pt x="8" y="0"/>
                  </a:cubicBezTo>
                </a:path>
                <a:path w="21600" h="22189" stroke="0" extrusionOk="0">
                  <a:moveTo>
                    <a:pt x="21457" y="22188"/>
                  </a:moveTo>
                  <a:cubicBezTo>
                    <a:pt x="9583" y="22109"/>
                    <a:pt x="0" y="12462"/>
                    <a:pt x="0" y="589"/>
                  </a:cubicBezTo>
                  <a:cubicBezTo>
                    <a:pt x="-1" y="392"/>
                    <a:pt x="2" y="196"/>
                    <a:pt x="8" y="0"/>
                  </a:cubicBezTo>
                  <a:lnTo>
                    <a:pt x="21600" y="589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Arc 29"/>
            <p:cNvSpPr>
              <a:spLocks/>
            </p:cNvSpPr>
            <p:nvPr/>
          </p:nvSpPr>
          <p:spPr bwMode="auto">
            <a:xfrm>
              <a:off x="4725" y="3563"/>
              <a:ext cx="458" cy="111"/>
            </a:xfrm>
            <a:custGeom>
              <a:avLst/>
              <a:gdLst>
                <a:gd name="G0" fmla="+- 0 0 0"/>
                <a:gd name="G1" fmla="+- 197 0 0"/>
                <a:gd name="G2" fmla="+- 21600 0 0"/>
                <a:gd name="T0" fmla="*/ 21599 w 21600"/>
                <a:gd name="T1" fmla="*/ 0 h 21797"/>
                <a:gd name="T2" fmla="*/ 0 w 21600"/>
                <a:gd name="T3" fmla="*/ 21797 h 21797"/>
                <a:gd name="T4" fmla="*/ 0 w 21600"/>
                <a:gd name="T5" fmla="*/ 197 h 21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797" fill="none" extrusionOk="0">
                  <a:moveTo>
                    <a:pt x="21599" y="-1"/>
                  </a:moveTo>
                  <a:cubicBezTo>
                    <a:pt x="21599" y="65"/>
                    <a:pt x="21600" y="131"/>
                    <a:pt x="21600" y="197"/>
                  </a:cubicBezTo>
                  <a:cubicBezTo>
                    <a:pt x="21600" y="12126"/>
                    <a:pt x="11929" y="21796"/>
                    <a:pt x="0" y="21797"/>
                  </a:cubicBezTo>
                </a:path>
                <a:path w="21600" h="21797" stroke="0" extrusionOk="0">
                  <a:moveTo>
                    <a:pt x="21599" y="-1"/>
                  </a:moveTo>
                  <a:cubicBezTo>
                    <a:pt x="21599" y="65"/>
                    <a:pt x="21600" y="131"/>
                    <a:pt x="21600" y="197"/>
                  </a:cubicBezTo>
                  <a:cubicBezTo>
                    <a:pt x="21600" y="12126"/>
                    <a:pt x="11929" y="21796"/>
                    <a:pt x="0" y="21797"/>
                  </a:cubicBezTo>
                  <a:lnTo>
                    <a:pt x="0" y="197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0" name="Line 31"/>
          <p:cNvSpPr>
            <a:spLocks noChangeShapeType="1"/>
          </p:cNvSpPr>
          <p:nvPr/>
        </p:nvSpPr>
        <p:spPr bwMode="auto">
          <a:xfrm>
            <a:off x="6861175" y="4406900"/>
            <a:ext cx="0" cy="1397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Line 32"/>
          <p:cNvSpPr>
            <a:spLocks noChangeShapeType="1"/>
          </p:cNvSpPr>
          <p:nvPr/>
        </p:nvSpPr>
        <p:spPr bwMode="auto">
          <a:xfrm>
            <a:off x="8228013" y="4406900"/>
            <a:ext cx="0" cy="1397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Line 33"/>
          <p:cNvSpPr>
            <a:spLocks noChangeShapeType="1"/>
          </p:cNvSpPr>
          <p:nvPr/>
        </p:nvSpPr>
        <p:spPr bwMode="auto">
          <a:xfrm flipV="1">
            <a:off x="2270125" y="4498975"/>
            <a:ext cx="1046163" cy="1841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Line 34"/>
          <p:cNvSpPr>
            <a:spLocks noChangeShapeType="1"/>
          </p:cNvSpPr>
          <p:nvPr/>
        </p:nvSpPr>
        <p:spPr bwMode="auto">
          <a:xfrm>
            <a:off x="2274888" y="5053013"/>
            <a:ext cx="104616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Line 35"/>
          <p:cNvSpPr>
            <a:spLocks noChangeShapeType="1"/>
          </p:cNvSpPr>
          <p:nvPr/>
        </p:nvSpPr>
        <p:spPr bwMode="auto">
          <a:xfrm>
            <a:off x="4527550" y="4683125"/>
            <a:ext cx="642938" cy="4619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Line 36"/>
          <p:cNvSpPr>
            <a:spLocks noChangeShapeType="1"/>
          </p:cNvSpPr>
          <p:nvPr/>
        </p:nvSpPr>
        <p:spPr bwMode="auto">
          <a:xfrm flipV="1">
            <a:off x="4522788" y="5330825"/>
            <a:ext cx="642937" cy="3683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Line 37"/>
          <p:cNvSpPr>
            <a:spLocks noChangeShapeType="1"/>
          </p:cNvSpPr>
          <p:nvPr/>
        </p:nvSpPr>
        <p:spPr bwMode="auto">
          <a:xfrm>
            <a:off x="6216650" y="5237163"/>
            <a:ext cx="644525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Freeform 38"/>
          <p:cNvSpPr>
            <a:spLocks/>
          </p:cNvSpPr>
          <p:nvPr/>
        </p:nvSpPr>
        <p:spPr bwMode="auto">
          <a:xfrm>
            <a:off x="3321050" y="4792663"/>
            <a:ext cx="1189038" cy="539750"/>
          </a:xfrm>
          <a:custGeom>
            <a:avLst/>
            <a:gdLst>
              <a:gd name="T0" fmla="*/ 0 w 749"/>
              <a:gd name="T1" fmla="*/ 339 h 340"/>
              <a:gd name="T2" fmla="*/ 0 w 749"/>
              <a:gd name="T3" fmla="*/ 0 h 340"/>
              <a:gd name="T4" fmla="*/ 748 w 749"/>
              <a:gd name="T5" fmla="*/ 0 h 340"/>
              <a:gd name="T6" fmla="*/ 748 w 749"/>
              <a:gd name="T7" fmla="*/ 339 h 340"/>
              <a:gd name="T8" fmla="*/ 0 w 749"/>
              <a:gd name="T9" fmla="*/ 339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340">
                <a:moveTo>
                  <a:pt x="0" y="339"/>
                </a:moveTo>
                <a:lnTo>
                  <a:pt x="0" y="0"/>
                </a:lnTo>
                <a:lnTo>
                  <a:pt x="748" y="0"/>
                </a:lnTo>
                <a:lnTo>
                  <a:pt x="748" y="339"/>
                </a:lnTo>
                <a:lnTo>
                  <a:pt x="0" y="339"/>
                </a:lnTo>
              </a:path>
            </a:pathLst>
          </a:custGeom>
          <a:solidFill>
            <a:srgbClr val="F6BF69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ectangle 39"/>
          <p:cNvSpPr>
            <a:spLocks noChangeArrowheads="1"/>
          </p:cNvSpPr>
          <p:nvPr/>
        </p:nvSpPr>
        <p:spPr bwMode="auto">
          <a:xfrm>
            <a:off x="3303588" y="4848225"/>
            <a:ext cx="1042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INPUT 2</a:t>
            </a:r>
          </a:p>
        </p:txBody>
      </p:sp>
      <p:sp>
        <p:nvSpPr>
          <p:cNvPr id="69" name="Rectangle 40"/>
          <p:cNvSpPr>
            <a:spLocks noChangeArrowheads="1"/>
          </p:cNvSpPr>
          <p:nvPr/>
        </p:nvSpPr>
        <p:spPr bwMode="auto">
          <a:xfrm>
            <a:off x="3471863" y="4916488"/>
            <a:ext cx="815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. . .</a:t>
            </a:r>
          </a:p>
        </p:txBody>
      </p:sp>
      <p:sp>
        <p:nvSpPr>
          <p:cNvPr id="70" name="Freeform 41"/>
          <p:cNvSpPr>
            <a:spLocks/>
          </p:cNvSpPr>
          <p:nvPr/>
        </p:nvSpPr>
        <p:spPr bwMode="auto">
          <a:xfrm>
            <a:off x="1198563" y="4916488"/>
            <a:ext cx="1098550" cy="182562"/>
          </a:xfrm>
          <a:custGeom>
            <a:avLst/>
            <a:gdLst>
              <a:gd name="T0" fmla="*/ 0 w 692"/>
              <a:gd name="T1" fmla="*/ 114 h 115"/>
              <a:gd name="T2" fmla="*/ 0 w 692"/>
              <a:gd name="T3" fmla="*/ 0 h 115"/>
              <a:gd name="T4" fmla="*/ 691 w 692"/>
              <a:gd name="T5" fmla="*/ 0 h 115"/>
              <a:gd name="T6" fmla="*/ 691 w 692"/>
              <a:gd name="T7" fmla="*/ 114 h 115"/>
              <a:gd name="T8" fmla="*/ 0 w 692"/>
              <a:gd name="T9" fmla="*/ 114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2" h="115">
                <a:moveTo>
                  <a:pt x="0" y="114"/>
                </a:moveTo>
                <a:lnTo>
                  <a:pt x="0" y="0"/>
                </a:lnTo>
                <a:lnTo>
                  <a:pt x="691" y="0"/>
                </a:lnTo>
                <a:lnTo>
                  <a:pt x="691" y="114"/>
                </a:lnTo>
                <a:lnTo>
                  <a:pt x="0" y="114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Line 42"/>
          <p:cNvSpPr>
            <a:spLocks noChangeShapeType="1"/>
          </p:cNvSpPr>
          <p:nvPr/>
        </p:nvSpPr>
        <p:spPr bwMode="auto">
          <a:xfrm>
            <a:off x="2355850" y="5699125"/>
            <a:ext cx="965200" cy="2778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Line 43"/>
          <p:cNvSpPr>
            <a:spLocks noChangeShapeType="1"/>
          </p:cNvSpPr>
          <p:nvPr/>
        </p:nvSpPr>
        <p:spPr bwMode="auto">
          <a:xfrm>
            <a:off x="4527550" y="5053013"/>
            <a:ext cx="642938" cy="1841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44"/>
          <p:cNvSpPr>
            <a:spLocks noChangeArrowheads="1"/>
          </p:cNvSpPr>
          <p:nvPr/>
        </p:nvSpPr>
        <p:spPr bwMode="auto">
          <a:xfrm>
            <a:off x="7088188" y="4824413"/>
            <a:ext cx="83185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. . .</a:t>
            </a:r>
          </a:p>
        </p:txBody>
      </p:sp>
      <p:sp>
        <p:nvSpPr>
          <p:cNvPr id="74" name="Freeform 45"/>
          <p:cNvSpPr>
            <a:spLocks/>
          </p:cNvSpPr>
          <p:nvPr/>
        </p:nvSpPr>
        <p:spPr bwMode="auto">
          <a:xfrm>
            <a:off x="6967538" y="5559425"/>
            <a:ext cx="1120775" cy="142875"/>
          </a:xfrm>
          <a:custGeom>
            <a:avLst/>
            <a:gdLst>
              <a:gd name="T0" fmla="*/ 0 w 706"/>
              <a:gd name="T1" fmla="*/ 89 h 90"/>
              <a:gd name="T2" fmla="*/ 0 w 706"/>
              <a:gd name="T3" fmla="*/ 0 h 90"/>
              <a:gd name="T4" fmla="*/ 705 w 706"/>
              <a:gd name="T5" fmla="*/ 0 h 90"/>
              <a:gd name="T6" fmla="*/ 705 w 706"/>
              <a:gd name="T7" fmla="*/ 89 h 90"/>
              <a:gd name="T8" fmla="*/ 0 w 706"/>
              <a:gd name="T9" fmla="*/ 89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6" h="90">
                <a:moveTo>
                  <a:pt x="0" y="89"/>
                </a:moveTo>
                <a:lnTo>
                  <a:pt x="0" y="0"/>
                </a:lnTo>
                <a:lnTo>
                  <a:pt x="705" y="0"/>
                </a:lnTo>
                <a:lnTo>
                  <a:pt x="705" y="89"/>
                </a:lnTo>
                <a:lnTo>
                  <a:pt x="0" y="89"/>
                </a:lnTo>
              </a:path>
            </a:pathLst>
          </a:custGeom>
          <a:solidFill>
            <a:srgbClr val="99CCFF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46"/>
          <p:cNvSpPr>
            <a:spLocks noChangeArrowheads="1"/>
          </p:cNvSpPr>
          <p:nvPr/>
        </p:nvSpPr>
        <p:spPr bwMode="auto">
          <a:xfrm>
            <a:off x="1298575" y="4824413"/>
            <a:ext cx="815975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Book Antiqua" pitchFamily="18" charset="0"/>
                <a:ea typeface="+mn-ea"/>
                <a:cs typeface="+mn-cs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286953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991600" cy="11430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B-Way Merge Sort: I/O Cost Analysis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534400" cy="51816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I/O cost = 2N × Number of passes 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Number of passes = 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Assume the previous example (i.e., 8 pages), </a:t>
            </a:r>
            <a:r>
              <a:rPr lang="en-US" sz="2800" i="1" dirty="0"/>
              <a:t>but</a:t>
            </a:r>
            <a:r>
              <a:rPr lang="en-US" sz="2800" dirty="0"/>
              <a:t> using 5 buffer pages (instead of 3)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/>
              <a:t>I/O cost =  32 (</a:t>
            </a:r>
            <a:r>
              <a:rPr lang="en-US" sz="2600" i="1" dirty="0"/>
              <a:t>as opposed to 64</a:t>
            </a:r>
            <a:r>
              <a:rPr lang="en-US" sz="2600" dirty="0"/>
              <a:t>)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Therefore, increasing the number of buffer pages minimizes the number of passes and accordingly the I/O cost!</a:t>
            </a:r>
          </a:p>
          <a:p>
            <a:endParaRPr lang="en-US" sz="2800" dirty="0"/>
          </a:p>
          <a:p>
            <a:pPr lvl="2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</p:txBody>
      </p:sp>
      <p:graphicFrame>
        <p:nvGraphicFramePr>
          <p:cNvPr id="4" name="Object 3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6566172"/>
              </p:ext>
            </p:extLst>
          </p:nvPr>
        </p:nvGraphicFramePr>
        <p:xfrm>
          <a:off x="4488873" y="2275609"/>
          <a:ext cx="2815936" cy="546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3" imgW="1218960" imgH="228600" progId="Equation.3">
                  <p:embed/>
                </p:oleObj>
              </mc:Choice>
              <mc:Fallback>
                <p:oleObj name="Equation" r:id="rId3" imgW="1218960" imgH="228600" progId="Equation.3">
                  <p:embed/>
                  <p:pic>
                    <p:nvPicPr>
                      <p:cNvPr id="4" name="Object 3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8873" y="2275609"/>
                        <a:ext cx="2815936" cy="546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37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991600" cy="1143000"/>
          </a:xfrm>
        </p:spPr>
        <p:txBody>
          <a:bodyPr>
            <a:normAutofit/>
          </a:bodyPr>
          <a:lstStyle/>
          <a:p>
            <a:r>
              <a:rPr lang="en-US" dirty="0"/>
              <a:t>Number of Passes of </a:t>
            </a:r>
            <a:r>
              <a:rPr lang="en-US" dirty="0" smtClean="0"/>
              <a:t>M-Way </a:t>
            </a:r>
            <a:r>
              <a:rPr lang="en-US" dirty="0"/>
              <a:t>Sort</a:t>
            </a:r>
            <a:endParaRPr lang="en-US" dirty="0">
              <a:ea typeface="ＭＳ Ｐゴシック" pitchFamily="34" charset="-128"/>
            </a:endParaRPr>
          </a:p>
        </p:txBody>
      </p:sp>
      <p:graphicFrame>
        <p:nvGraphicFramePr>
          <p:cNvPr id="5" name="Object 4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018248"/>
              </p:ext>
            </p:extLst>
          </p:nvPr>
        </p:nvGraphicFramePr>
        <p:xfrm>
          <a:off x="231775" y="1446213"/>
          <a:ext cx="8529638" cy="443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Document" r:id="rId3" imgW="8652101" imgH="4490326" progId="Word.Document.8">
                  <p:embed/>
                </p:oleObj>
              </mc:Choice>
              <mc:Fallback>
                <p:oleObj name="Document" r:id="rId3" imgW="8652101" imgH="4490326" progId="Word.Document.8">
                  <p:embed/>
                  <p:pic>
                    <p:nvPicPr>
                      <p:cNvPr id="5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1446213"/>
                        <a:ext cx="8529638" cy="443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143000" y="5815057"/>
            <a:ext cx="6629400" cy="433344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 Fan-in during merging is crucial!</a:t>
            </a:r>
          </a:p>
        </p:txBody>
      </p:sp>
    </p:spTree>
    <p:extLst>
      <p:ext uri="{BB962C8B-B14F-4D97-AF65-F5344CB8AC3E}">
        <p14:creationId xmlns:p14="http://schemas.microsoft.com/office/powerpoint/2010/main" val="414310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809" y="21865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Relational Operators – Implementation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52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A8B6523-A6A8-4254-B0A9-DD3FF39C8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 Operation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0F4E0A7-8F2E-443D-9EC7-D2F1BB3BAF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8252" y="1198753"/>
            <a:ext cx="7523391" cy="49373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File scan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Algorithm </a:t>
            </a:r>
            <a:r>
              <a:rPr lang="en-US" altLang="en-US" b="1" dirty="0">
                <a:ea typeface="MS PGothic" panose="020B0600070205080204" pitchFamily="34" charset="-128"/>
              </a:rPr>
              <a:t>A1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linear search</a:t>
            </a:r>
            <a:r>
              <a:rPr lang="en-US" altLang="en-US" dirty="0">
                <a:ea typeface="MS PGothic" panose="020B0600070205080204" pitchFamily="34" charset="-128"/>
              </a:rPr>
              <a:t>).  Scan each file block and test all records to see whether they satisfy the selection condition.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Cost estimate =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block transfers + 1 seek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denotes number of blocks containing records from relation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If selection is on a key attribute, can stop on finding record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cost = (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/2) block transfers + 1 seek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Linear search can be applied regardless of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selection condition or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ordering of records in the file, or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availability of indices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Note: binary search generally does not make sense since data is not stored consecutively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except when there is an index available,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and binary search requires more seeks than index search</a:t>
            </a:r>
          </a:p>
        </p:txBody>
      </p:sp>
    </p:spTree>
    <p:extLst>
      <p:ext uri="{BB962C8B-B14F-4D97-AF65-F5344CB8AC3E}">
        <p14:creationId xmlns:p14="http://schemas.microsoft.com/office/powerpoint/2010/main" val="2219223207"/>
      </p:ext>
    </p:extLst>
  </p:cSld>
  <p:clrMapOvr>
    <a:masterClrMapping/>
  </p:clrMapOvr>
  <p:transition advTm="38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162657"/>
            <a:ext cx="7617041" cy="3565756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Index scan </a:t>
            </a:r>
            <a:r>
              <a:rPr lang="en-US" altLang="en-US" dirty="0">
                <a:ea typeface="MS PGothic" panose="020B0600070205080204" pitchFamily="34" charset="-128"/>
              </a:rPr>
              <a:t>– search algorithms that use an index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selection condition must be on search-key of index.</a:t>
            </a:r>
          </a:p>
          <a:p>
            <a:r>
              <a:rPr lang="en-US" altLang="en-US" b="1" dirty="0">
                <a:ea typeface="MS PGothic" panose="020B0600070205080204" pitchFamily="34" charset="-128"/>
              </a:rPr>
              <a:t>A2 </a:t>
            </a:r>
            <a:r>
              <a:rPr lang="en-US" altLang="en-US" dirty="0">
                <a:ea typeface="MS PGothic" panose="020B0600070205080204" pitchFamily="34" charset="-128"/>
              </a:rPr>
              <a:t>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key</a:t>
            </a:r>
            <a:r>
              <a:rPr lang="en-US" altLang="en-US" dirty="0">
                <a:ea typeface="MS PGothic" panose="020B0600070205080204" pitchFamily="34" charset="-128"/>
              </a:rPr>
              <a:t>).  Retrieve a single record that satisfies the corresponding equality condition  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Cost</a:t>
            </a:r>
            <a:r>
              <a:rPr lang="en-US" altLang="en-US" dirty="0">
                <a:ea typeface="MS PGothic" panose="020B0600070205080204" pitchFamily="34" charset="-128"/>
              </a:rPr>
              <a:t> = </a:t>
            </a:r>
            <a:r>
              <a:rPr lang="en-US" altLang="en-US" i="1" dirty="0">
                <a:ea typeface="MS PGothic" panose="020B0600070205080204" pitchFamily="34" charset="-128"/>
              </a:rPr>
              <a:t>h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*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+ </a:t>
            </a:r>
            <a:r>
              <a:rPr lang="en-US" altLang="en-US" i="1" dirty="0" err="1" smtClean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 smtClean="0">
                <a:ea typeface="MS PGothic" panose="020B0600070205080204" pitchFamily="34" charset="-128"/>
              </a:rPr>
              <a:t>T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r>
              <a:rPr lang="en-US" altLang="en-US" b="1" dirty="0" smtClean="0">
                <a:ea typeface="MS PGothic" panose="020B0600070205080204" pitchFamily="34" charset="-128"/>
              </a:rPr>
              <a:t>A3 </a:t>
            </a:r>
            <a:r>
              <a:rPr lang="en-US" altLang="en-US" dirty="0">
                <a:ea typeface="MS PGothic" panose="020B0600070205080204" pitchFamily="34" charset="-128"/>
              </a:rPr>
              <a:t>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</a:t>
            </a:r>
            <a:r>
              <a:rPr lang="en-US" altLang="en-US" b="1" dirty="0" err="1">
                <a:solidFill>
                  <a:srgbClr val="002060"/>
                </a:solidFill>
                <a:ea typeface="MS PGothic" panose="020B0600070205080204" pitchFamily="34" charset="-128"/>
              </a:rPr>
              <a:t>nonkey</a:t>
            </a:r>
            <a:r>
              <a:rPr lang="en-US" altLang="en-US" dirty="0">
                <a:ea typeface="MS PGothic" panose="020B0600070205080204" pitchFamily="34" charset="-128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Retrieve multiple records.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Records will be on consecutive blocks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Let b = number of blocks containing matching records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Cost</a:t>
            </a:r>
            <a:r>
              <a:rPr lang="en-US" altLang="en-US" dirty="0">
                <a:ea typeface="MS PGothic" panose="020B0600070205080204" pitchFamily="34" charset="-128"/>
              </a:rPr>
              <a:t> = </a:t>
            </a:r>
            <a:r>
              <a:rPr lang="en-US" altLang="en-US" i="1" dirty="0">
                <a:ea typeface="MS PGothic" panose="020B0600070205080204" pitchFamily="34" charset="-128"/>
              </a:rPr>
              <a:t>h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*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* b</a:t>
            </a:r>
            <a:endParaRPr lang="en-US" altLang="en-US" i="1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793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7DB53E9F-8A74-4C7D-8CBA-255265F636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80" y="1162657"/>
            <a:ext cx="7747168" cy="3192775"/>
          </a:xfrm>
        </p:spPr>
        <p:txBody>
          <a:bodyPr/>
          <a:lstStyle/>
          <a:p>
            <a:r>
              <a:rPr lang="en-US" altLang="en-US" b="1" dirty="0">
                <a:ea typeface="MS PGothic" panose="020B0600070205080204" pitchFamily="34" charset="-128"/>
              </a:rPr>
              <a:t>A4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equality on key/non-key</a:t>
            </a:r>
            <a:r>
              <a:rPr lang="en-US" altLang="en-US" dirty="0">
                <a:ea typeface="MS PGothic" panose="020B0600070205080204" pitchFamily="34" charset="-128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.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Retrieve a single record if the search-key is a candidate key</a:t>
            </a:r>
          </a:p>
          <a:p>
            <a:pPr lvl="2"/>
            <a:r>
              <a:rPr lang="en-US" altLang="en-US" i="1" dirty="0">
                <a:ea typeface="MS PGothic" panose="020B0600070205080204" pitchFamily="34" charset="-128"/>
              </a:rPr>
              <a:t>Cost = (h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+ 1) *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Retrieve multiple records if search-key is not a candidate key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each of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matching records may be on a different block  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Cost =  (</a:t>
            </a:r>
            <a:r>
              <a:rPr lang="en-US" altLang="en-US" i="1" dirty="0">
                <a:ea typeface="MS PGothic" panose="020B0600070205080204" pitchFamily="34" charset="-128"/>
              </a:rPr>
              <a:t>h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 </a:t>
            </a:r>
            <a:r>
              <a:rPr lang="en-US" altLang="en-US" i="1" dirty="0">
                <a:ea typeface="MS PGothic" panose="020B0600070205080204" pitchFamily="34" charset="-128"/>
              </a:rPr>
              <a:t>n) *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</a:p>
          <a:p>
            <a:pPr lvl="3"/>
            <a:r>
              <a:rPr lang="en-US" altLang="en-US" dirty="0">
                <a:ea typeface="MS PGothic" panose="020B0600070205080204" pitchFamily="34" charset="-128"/>
              </a:rPr>
              <a:t>Can be very expensive!</a:t>
            </a:r>
          </a:p>
        </p:txBody>
      </p:sp>
    </p:spTree>
    <p:extLst>
      <p:ext uri="{BB962C8B-B14F-4D97-AF65-F5344CB8AC3E}">
        <p14:creationId xmlns:p14="http://schemas.microsoft.com/office/powerpoint/2010/main" val="288932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74689"/>
            <a:ext cx="7638801" cy="4720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</a:rPr>
              <a:t>Can implement selections of the form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by using</a:t>
            </a:r>
          </a:p>
          <a:p>
            <a:pPr lvl="1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 linear file scan,</a:t>
            </a:r>
          </a:p>
          <a:p>
            <a:pPr lvl="1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or by using indices in the following ways: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A5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comparison</a:t>
            </a:r>
            <a:r>
              <a:rPr lang="en-US" altLang="en-US" dirty="0">
                <a:ea typeface="MS PGothic" panose="020B0600070205080204" pitchFamily="34" charset="-128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.</a:t>
            </a:r>
            <a:r>
              <a:rPr lang="en-US" altLang="en-US" dirty="0">
                <a:ea typeface="MS PGothic" panose="020B0600070205080204" pitchFamily="34" charset="-128"/>
              </a:rPr>
              <a:t> (Relation is sorted on A)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tuple 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and scan relation sequentially  from there</a:t>
            </a:r>
          </a:p>
          <a:p>
            <a:pPr lvl="2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just scan relation sequentially till first tuple &gt;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v;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do not use index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A6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comparison</a:t>
            </a:r>
            <a:r>
              <a:rPr lang="en-US" altLang="en-US" dirty="0">
                <a:ea typeface="MS PGothic" panose="020B0600070205080204" pitchFamily="34" charset="-128"/>
              </a:rPr>
              <a:t>).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index entry 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and scan index sequentially  from there, to find pointers to records.</a:t>
            </a:r>
          </a:p>
          <a:p>
            <a:pPr lvl="2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just scan leaf pages of index finding pointers to records, till first entry &gt;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v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 either case, retrieve records that are pointed to</a:t>
            </a:r>
          </a:p>
          <a:p>
            <a:pPr lvl="2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requires an I/O per record;</a:t>
            </a:r>
            <a:r>
              <a:rPr lang="en-US" altLang="en-US" dirty="0">
                <a:ea typeface="MS PGothic" panose="020B0600070205080204" pitchFamily="34" charset="-128"/>
              </a:rPr>
              <a:t> Linear file scan may be cheaper!</a:t>
            </a:r>
          </a:p>
        </p:txBody>
      </p:sp>
    </p:spTree>
    <p:extLst>
      <p:ext uri="{BB962C8B-B14F-4D97-AF65-F5344CB8AC3E}">
        <p14:creationId xmlns:p14="http://schemas.microsoft.com/office/powerpoint/2010/main" val="200034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BB2B64C1-1D3F-4E22-A3D1-7315FFB662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8249" y="1186721"/>
            <a:ext cx="7505638" cy="4841103"/>
          </a:xfrm>
        </p:spPr>
        <p:txBody>
          <a:bodyPr/>
          <a:lstStyle/>
          <a:p>
            <a:pPr>
              <a:tabLst>
                <a:tab pos="2338388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Conjunction: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. . .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r)  </a:t>
            </a:r>
          </a:p>
          <a:p>
            <a:pPr>
              <a:tabLst>
                <a:tab pos="2338388" algn="l"/>
              </a:tabLst>
            </a:pPr>
            <a:r>
              <a:rPr lang="en-US" altLang="en-US" b="1" dirty="0">
                <a:ea typeface="MS PGothic" panose="020B0600070205080204" pitchFamily="34" charset="-128"/>
              </a:rPr>
              <a:t>A7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conjunctive selection using one index</a:t>
            </a:r>
            <a:r>
              <a:rPr lang="en-US" altLang="en-US" dirty="0">
                <a:ea typeface="MS PGothic" panose="020B0600070205080204" pitchFamily="34" charset="-128"/>
              </a:rPr>
              <a:t>).</a:t>
            </a:r>
            <a:r>
              <a:rPr lang="en-US" altLang="en-US" i="1" dirty="0">
                <a:ea typeface="MS PGothic" panose="020B0600070205080204" pitchFamily="34" charset="-128"/>
              </a:rPr>
              <a:t> 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Select a combination of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and algorithms A1 through A7 that results in the least cost for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r).</a:t>
            </a:r>
          </a:p>
          <a:p>
            <a:pPr lvl="1">
              <a:tabLst>
                <a:tab pos="2338388" algn="l"/>
              </a:tabLst>
            </a:pP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Test other conditions on tuple after fetching it into memory buffer.</a:t>
            </a:r>
          </a:p>
          <a:p>
            <a:pPr>
              <a:tabLst>
                <a:tab pos="2338388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A8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using composite index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). 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Use appropriate composite (multiple-key) index if available.</a:t>
            </a:r>
          </a:p>
          <a:p>
            <a:pPr>
              <a:tabLst>
                <a:tab pos="2338388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A9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by intersection of identifiers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).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Requires indices with record pointers.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intersection of all the obtained sets of record pointers.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If some conditions do not have appropriate indices, apply test in memory.</a:t>
            </a:r>
          </a:p>
        </p:txBody>
      </p:sp>
    </p:spTree>
    <p:extLst>
      <p:ext uri="{BB962C8B-B14F-4D97-AF65-F5344CB8AC3E}">
        <p14:creationId xmlns:p14="http://schemas.microsoft.com/office/powerpoint/2010/main" val="84921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>
            <a:extLst>
              <a:ext uri="{FF2B5EF4-FFF2-40B4-BE49-F238E27FC236}">
                <a16:creationId xmlns:a16="http://schemas.microsoft.com/office/drawing/2014/main" id="{7CA54525-062A-441C-8B55-B1782A39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Algorithms for Complex Selections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55EF866-759B-4729-84CD-6D98CCFE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91276"/>
            <a:ext cx="7594412" cy="3902640"/>
          </a:xfrm>
        </p:spPr>
        <p:txBody>
          <a:bodyPr/>
          <a:lstStyle/>
          <a:p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Disjunction: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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. . .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n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r). 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A10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disjunctive selection by union of identifiers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).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Applicable if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all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conditions have available indices.  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Otherwise use linear scan.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union of all the obtained sets of record pointers.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  <a:p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Negation: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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Use linear scan on file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very few records satisfy , and an index is applicable to 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Find satisfying records using index and fetch from file</a:t>
            </a:r>
          </a:p>
        </p:txBody>
      </p:sp>
    </p:spTree>
    <p:extLst>
      <p:ext uri="{BB962C8B-B14F-4D97-AF65-F5344CB8AC3E}">
        <p14:creationId xmlns:p14="http://schemas.microsoft.com/office/powerpoint/2010/main" val="146690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879B8AA5-A0A8-4838-ADA1-686E9F72F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Join Operation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29C29A8-5587-4BF6-ABF6-F0C97C489F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153195"/>
            <a:ext cx="7542632" cy="3770292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Several different algorithms to implement joins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Nested-loop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Block nested-loop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Indexed nested-loop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Merge-join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Hash-join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Choice based on cost </a:t>
            </a:r>
            <a:r>
              <a:rPr lang="en-US" altLang="en-US" dirty="0" smtClean="0">
                <a:ea typeface="MS PGothic" panose="020B0600070205080204" pitchFamily="34" charset="-128"/>
              </a:rPr>
              <a:t>estimate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sp>
        <p:nvSpPr>
          <p:cNvPr id="52227" name="Rectangle 1027">
            <a:extLst>
              <a:ext uri="{FF2B5EF4-FFF2-40B4-BE49-F238E27FC236}">
                <a16:creationId xmlns:a16="http://schemas.microsoft.com/office/drawing/2014/main" id="{D21FCF93-DB51-4923-B080-101A70BED1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54944"/>
            <a:ext cx="7729413" cy="3216838"/>
          </a:xfrm>
        </p:spPr>
        <p:txBody>
          <a:bodyPr/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To compute the theta join       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/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 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  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/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	     if they do, add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      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 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 is called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outer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and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inner 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of the join.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Requires no indices and can be used with any kind of join condition.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Expensive since it examines every pair of tuples in the two relations.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271E85F-D50F-4FAC-81D5-291C4D3EA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65811"/>
            <a:ext cx="6794104" cy="3192774"/>
          </a:xfrm>
        </p:spPr>
        <p:txBody>
          <a:bodyPr/>
          <a:lstStyle/>
          <a:p>
            <a:pPr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Variant of nested-loop join in which every block of inner relation is paired with every block of outer relation.</a:t>
            </a:r>
          </a:p>
          <a:p>
            <a:pPr>
              <a:buFont typeface="Monotype Sorts" pitchFamily="-65" charset="2"/>
              <a:buNone/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b="1" dirty="0">
                <a:ea typeface="MS PGothic" panose="020B0600070205080204" pitchFamily="34" charset="-128"/>
              </a:rPr>
              <a:t>for each </a:t>
            </a:r>
            <a:r>
              <a:rPr lang="en-US" altLang="en-US" dirty="0">
                <a:ea typeface="MS PGothic" panose="020B0600070205080204" pitchFamily="34" charset="-128"/>
              </a:rPr>
              <a:t>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of</a:t>
            </a:r>
            <a:r>
              <a:rPr lang="en-US" altLang="en-US" b="1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for each</a:t>
            </a:r>
            <a:r>
              <a:rPr lang="en-US" altLang="en-US" dirty="0">
                <a:ea typeface="MS PGothic" panose="020B0600070205080204" pitchFamily="34" charset="-128"/>
              </a:rPr>
              <a:t> block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</a:rPr>
              <a:t> of </a:t>
            </a:r>
            <a:r>
              <a:rPr lang="en-US" altLang="en-US" b="1" i="1" dirty="0">
                <a:ea typeface="MS PGothic" panose="020B0600070205080204" pitchFamily="34" charset="-128"/>
              </a:rPr>
              <a:t>s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for each</a:t>
            </a:r>
            <a:r>
              <a:rPr lang="en-US" altLang="en-US" dirty="0">
                <a:ea typeface="MS PGothic" panose="020B0600070205080204" pitchFamily="34" charset="-128"/>
              </a:rPr>
              <a:t> 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 </a:t>
            </a:r>
            <a:r>
              <a:rPr lang="en-US" altLang="en-US" b="1" baseline="-25000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for each </a:t>
            </a:r>
            <a:r>
              <a:rPr lang="en-US" altLang="en-US" dirty="0">
                <a:ea typeface="MS PGothic" panose="020B0600070205080204" pitchFamily="34" charset="-128"/>
              </a:rPr>
              <a:t>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	</a:t>
            </a:r>
            <a:r>
              <a:rPr lang="en-US" altLang="en-US" dirty="0">
                <a:ea typeface="MS PGothic" panose="020B0600070205080204" pitchFamily="34" charset="-128"/>
              </a:rPr>
              <a:t>Check if (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) </a:t>
            </a:r>
            <a:r>
              <a:rPr lang="en-US" altLang="en-US" dirty="0">
                <a:ea typeface="MS PGothic" panose="020B0600070205080204" pitchFamily="34" charset="-128"/>
              </a:rPr>
              <a:t>satisfy the join condition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					if they do, add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30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•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the result.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				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>
            <a:extLst>
              <a:ext uri="{FF2B5EF4-FFF2-40B4-BE49-F238E27FC236}">
                <a16:creationId xmlns:a16="http://schemas.microsoft.com/office/drawing/2014/main" id="{AC6F6974-A8C7-4393-82EB-2846C81D0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Indexed Nested-Loop Join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D40F014-D3E9-4914-80EE-CCDD23D00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2118" y="1146887"/>
            <a:ext cx="8523431" cy="450421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Index lookups can replace file scans if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join is an </a:t>
            </a:r>
            <a:r>
              <a:rPr lang="en-US" altLang="en-US" dirty="0" err="1">
                <a:ea typeface="MS PGothic" panose="020B0600070205080204" pitchFamily="34" charset="-128"/>
              </a:rPr>
              <a:t>equi</a:t>
            </a:r>
            <a:r>
              <a:rPr lang="en-US" altLang="en-US" dirty="0">
                <a:ea typeface="MS PGothic" panose="020B0600070205080204" pitchFamily="34" charset="-128"/>
              </a:rPr>
              <a:t>-join or natural join and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an index is available on the inner relation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join attribute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Can construct an index just to compute a join</a:t>
            </a:r>
            <a:r>
              <a:rPr lang="en-US" altLang="en-US" dirty="0" smtClean="0">
                <a:ea typeface="MS PGothic" panose="020B0600070205080204" pitchFamily="34" charset="-128"/>
              </a:rPr>
              <a:t>.</a:t>
            </a:r>
          </a:p>
          <a:p>
            <a:pPr lvl="2"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each 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in the outer relation </a:t>
            </a:r>
            <a:r>
              <a:rPr lang="en-US" altLang="en-US" i="1" dirty="0">
                <a:ea typeface="MS PGothic" panose="020B0600070205080204" pitchFamily="34" charset="-128"/>
              </a:rPr>
              <a:t>r,</a:t>
            </a:r>
            <a:r>
              <a:rPr lang="en-US" altLang="en-US" dirty="0">
                <a:ea typeface="MS PGothic" panose="020B0600070205080204" pitchFamily="34" charset="-128"/>
              </a:rPr>
              <a:t> use the index to look up tuples in </a:t>
            </a:r>
            <a:r>
              <a:rPr lang="en-US" altLang="en-US" i="1" dirty="0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that satisfy the join condition with tuple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dirty="0" smtClean="0">
                <a:ea typeface="MS PGothic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en-US" i="1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Worst case:  buffer has space for only one page of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, and, for each tuple in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, we perform an index lookup on </a:t>
            </a:r>
            <a:r>
              <a:rPr lang="en-US" altLang="en-US" i="1" dirty="0">
                <a:ea typeface="MS PGothic" panose="020B0600070205080204" pitchFamily="34" charset="-128"/>
              </a:rPr>
              <a:t>s</a:t>
            </a:r>
            <a:r>
              <a:rPr lang="en-US" altLang="en-US" i="1" dirty="0" smtClean="0">
                <a:ea typeface="MS PGothic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indices are available on join attributes of both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and </a:t>
            </a:r>
            <a:r>
              <a:rPr lang="en-US" altLang="en-US" i="1" dirty="0" smtClean="0">
                <a:ea typeface="MS PGothic" panose="020B0600070205080204" pitchFamily="34" charset="-128"/>
                <a:sym typeface="Symbol" panose="05050102010706020507" pitchFamily="18" charset="2"/>
              </a:rPr>
              <a:t>s, </a:t>
            </a:r>
            <a:r>
              <a:rPr lang="en-US" altLang="en-US" dirty="0" smtClean="0">
                <a:ea typeface="MS PGothic" panose="020B0600070205080204" pitchFamily="34" charset="-128"/>
                <a:sym typeface="Symbol" panose="05050102010706020507" pitchFamily="18" charset="2"/>
              </a:rPr>
              <a:t>use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the relation with fewer tuples as the outer relation.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0543EE86-49A1-4B2E-A768-5258983E9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Merge-Join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A970AC8B-5F83-483D-AF83-922F8CEC98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2036" y="1073728"/>
            <a:ext cx="8969828" cy="2950599"/>
          </a:xfrm>
        </p:spPr>
        <p:txBody>
          <a:bodyPr/>
          <a:lstStyle/>
          <a:p>
            <a:pPr>
              <a:lnSpc>
                <a:spcPct val="60000"/>
              </a:lnSpc>
              <a:buAutoNum type="arabicPeriod"/>
            </a:pPr>
            <a:r>
              <a:rPr lang="en-US" altLang="en-US" dirty="0" smtClean="0">
                <a:ea typeface="MS PGothic" panose="020B0600070205080204" pitchFamily="34" charset="-128"/>
              </a:rPr>
              <a:t>Can </a:t>
            </a:r>
            <a:r>
              <a:rPr lang="en-US" altLang="en-US" dirty="0">
                <a:ea typeface="MS PGothic" panose="020B0600070205080204" pitchFamily="34" charset="-128"/>
              </a:rPr>
              <a:t>be used only for </a:t>
            </a:r>
            <a:r>
              <a:rPr lang="en-US" altLang="en-US" dirty="0" err="1">
                <a:ea typeface="MS PGothic" panose="020B0600070205080204" pitchFamily="34" charset="-128"/>
              </a:rPr>
              <a:t>equi</a:t>
            </a:r>
            <a:r>
              <a:rPr lang="en-US" altLang="en-US" dirty="0">
                <a:ea typeface="MS PGothic" panose="020B0600070205080204" pitchFamily="34" charset="-128"/>
              </a:rPr>
              <a:t>-joins and natural </a:t>
            </a:r>
            <a:r>
              <a:rPr lang="en-US" altLang="en-US" dirty="0" smtClean="0">
                <a:ea typeface="MS PGothic" panose="020B0600070205080204" pitchFamily="34" charset="-128"/>
              </a:rPr>
              <a:t>joins</a:t>
            </a:r>
          </a:p>
          <a:p>
            <a:pPr>
              <a:lnSpc>
                <a:spcPct val="60000"/>
              </a:lnSpc>
              <a:buAutoNum type="arabicPeriod"/>
            </a:pPr>
            <a:endParaRPr lang="en-US" altLang="en-US" dirty="0" smtClean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pPr>
              <a:lnSpc>
                <a:spcPct val="60000"/>
              </a:lnSpc>
              <a:buAutoNum type="arabicPeriod" startAt="2"/>
            </a:pPr>
            <a:r>
              <a:rPr lang="en-US" altLang="en-US" dirty="0" smtClean="0">
                <a:ea typeface="MS PGothic" panose="020B0600070205080204" pitchFamily="34" charset="-128"/>
              </a:rPr>
              <a:t>Used when </a:t>
            </a:r>
            <a:r>
              <a:rPr lang="en-US" altLang="en-US" dirty="0">
                <a:ea typeface="MS PGothic" panose="020B0600070205080204" pitchFamily="34" charset="-128"/>
              </a:rPr>
              <a:t>relations are sorted on </a:t>
            </a:r>
            <a:r>
              <a:rPr lang="en-US" altLang="en-US" dirty="0" smtClean="0">
                <a:ea typeface="MS PGothic" panose="020B0600070205080204" pitchFamily="34" charset="-128"/>
              </a:rPr>
              <a:t>the join attributes. If not sorted, first sort </a:t>
            </a:r>
            <a:r>
              <a:rPr lang="en-US" altLang="en-US" dirty="0">
                <a:ea typeface="MS PGothic" panose="020B0600070205080204" pitchFamily="34" charset="-128"/>
              </a:rPr>
              <a:t>both </a:t>
            </a:r>
            <a:endParaRPr lang="en-US" altLang="en-US" dirty="0" smtClean="0"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en-US" dirty="0" smtClean="0">
                <a:ea typeface="MS PGothic" panose="020B0600070205080204" pitchFamily="34" charset="-128"/>
              </a:rPr>
              <a:t>	relations </a:t>
            </a:r>
            <a:r>
              <a:rPr lang="en-US" altLang="en-US" dirty="0">
                <a:ea typeface="MS PGothic" panose="020B0600070205080204" pitchFamily="34" charset="-128"/>
              </a:rPr>
              <a:t>on their join </a:t>
            </a:r>
            <a:r>
              <a:rPr lang="en-US" altLang="en-US" dirty="0" smtClean="0">
                <a:ea typeface="MS PGothic" panose="020B0600070205080204" pitchFamily="34" charset="-128"/>
              </a:rPr>
              <a:t>attribute.</a:t>
            </a:r>
          </a:p>
          <a:p>
            <a:pPr marL="0" indent="0">
              <a:lnSpc>
                <a:spcPct val="60000"/>
              </a:lnSpc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en-US" dirty="0" smtClean="0">
                <a:ea typeface="MS PGothic" panose="020B0600070205080204" pitchFamily="34" charset="-128"/>
              </a:rPr>
              <a:t>3. </a:t>
            </a:r>
            <a:r>
              <a:rPr lang="en-US" dirty="0"/>
              <a:t>Merge joins are faster and uses less memory than hash joins.</a:t>
            </a:r>
            <a:endParaRPr lang="en-US" altLang="en-US" dirty="0" smtClean="0">
              <a:ea typeface="MS PGothic" panose="020B0600070205080204" pitchFamily="34" charset="-128"/>
            </a:endParaRPr>
          </a:p>
          <a:p>
            <a:pPr>
              <a:lnSpc>
                <a:spcPct val="60000"/>
              </a:lnSpc>
              <a:buAutoNum type="arabicPeriod" startAt="2"/>
            </a:pPr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3</a:t>
            </a:r>
            <a:r>
              <a:rPr lang="en-US" altLang="en-US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.   </a:t>
            </a:r>
            <a:r>
              <a:rPr lang="en-US" altLang="en-US" dirty="0">
                <a:ea typeface="MS PGothic" panose="020B0600070205080204" pitchFamily="34" charset="-128"/>
              </a:rPr>
              <a:t>Merge the sorted relations to join them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dirty="0">
                <a:ea typeface="MS PGothic" panose="020B0600070205080204" pitchFamily="34" charset="-128"/>
              </a:rPr>
              <a:t>Join step is similar to the merge stage of the sort-merge algorithm.  </a:t>
            </a:r>
          </a:p>
          <a:p>
            <a:pPr marL="457200" lvl="1" indent="0">
              <a:lnSpc>
                <a:spcPct val="60000"/>
              </a:lnSpc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2.   </a:t>
            </a:r>
            <a:r>
              <a:rPr lang="en-US" altLang="en-US" dirty="0">
                <a:ea typeface="MS PGothic" panose="020B0600070205080204" pitchFamily="34" charset="-128"/>
              </a:rPr>
              <a:t>Main difference is handling of duplicate values in join attribute — </a:t>
            </a:r>
          </a:p>
          <a:p>
            <a:pPr marL="457200" lvl="1" indent="0">
              <a:lnSpc>
                <a:spcPct val="60000"/>
              </a:lnSpc>
              <a:buNone/>
            </a:pPr>
            <a:r>
              <a:rPr lang="en-US" altLang="en-US" dirty="0">
                <a:ea typeface="MS PGothic" panose="020B0600070205080204" pitchFamily="34" charset="-128"/>
              </a:rPr>
              <a:t>      every pair with same value on join attribute must be </a:t>
            </a:r>
            <a:r>
              <a:rPr lang="en-US" altLang="en-US" dirty="0" smtClean="0">
                <a:ea typeface="MS PGothic" panose="020B0600070205080204" pitchFamily="34" charset="-128"/>
              </a:rPr>
              <a:t>matched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pic>
        <p:nvPicPr>
          <p:cNvPr id="64516" name="Picture 10">
            <a:extLst>
              <a:ext uri="{FF2B5EF4-FFF2-40B4-BE49-F238E27FC236}">
                <a16:creationId xmlns:a16="http://schemas.microsoft.com/office/drawing/2014/main" id="{EB9A4822-0DB7-4C8A-88DB-460E67E7B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220" y="4024327"/>
            <a:ext cx="2814246" cy="2833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95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Hash Join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The join algorithm based on hashing has two phases: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Partitioning (also called </a:t>
            </a:r>
            <a:r>
              <a:rPr lang="en-US" sz="2600" i="1" dirty="0">
                <a:solidFill>
                  <a:srgbClr val="0070C0"/>
                </a:solidFill>
              </a:rPr>
              <a:t>Building</a:t>
            </a:r>
            <a:r>
              <a:rPr lang="en-US" sz="2600" dirty="0">
                <a:solidFill>
                  <a:srgbClr val="0070C0"/>
                </a:solidFill>
              </a:rPr>
              <a:t>) Phase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rgbClr val="0070C0"/>
                </a:solidFill>
              </a:rPr>
              <a:t>Probing (also called </a:t>
            </a:r>
            <a:r>
              <a:rPr lang="en-US" sz="2600" i="1" dirty="0">
                <a:solidFill>
                  <a:srgbClr val="0070C0"/>
                </a:solidFill>
              </a:rPr>
              <a:t>Matching</a:t>
            </a:r>
            <a:r>
              <a:rPr lang="en-US" sz="2600" dirty="0">
                <a:solidFill>
                  <a:srgbClr val="0070C0"/>
                </a:solidFill>
              </a:rPr>
              <a:t>) Phase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>
              <a:buFont typeface="Wingdings" pitchFamily="2" charset="2"/>
              <a:buChar char="§"/>
            </a:pPr>
            <a:r>
              <a:rPr lang="en-US" sz="2800" dirty="0">
                <a:solidFill>
                  <a:srgbClr val="00B050"/>
                </a:solidFill>
              </a:rPr>
              <a:t>Idea</a:t>
            </a:r>
            <a:r>
              <a:rPr lang="en-US" sz="2800" dirty="0"/>
              <a:t>: Hash both relations </a:t>
            </a:r>
            <a:r>
              <a:rPr lang="en-US" sz="2800" i="1" dirty="0"/>
              <a:t>on the join attribute </a:t>
            </a:r>
            <a:r>
              <a:rPr lang="en-US" sz="2800" dirty="0"/>
              <a:t>into </a:t>
            </a:r>
            <a:r>
              <a:rPr lang="en-US" sz="2800" b="1" i="1" dirty="0"/>
              <a:t>k</a:t>
            </a:r>
            <a:r>
              <a:rPr lang="en-US" sz="2800" dirty="0"/>
              <a:t> partitions, using the </a:t>
            </a:r>
            <a:r>
              <a:rPr lang="en-US" sz="2800" b="1" i="1" dirty="0"/>
              <a:t>same</a:t>
            </a:r>
            <a:r>
              <a:rPr lang="en-US" sz="2800" dirty="0"/>
              <a:t> hash function </a:t>
            </a:r>
            <a:r>
              <a:rPr lang="en-US" sz="2800" b="1" i="1" dirty="0"/>
              <a:t>h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>
                <a:solidFill>
                  <a:srgbClr val="00B050"/>
                </a:solidFill>
              </a:rPr>
              <a:t>Premise</a:t>
            </a:r>
            <a:r>
              <a:rPr lang="en-US" sz="2800" dirty="0"/>
              <a:t>: R tuples in partition </a:t>
            </a:r>
            <a:r>
              <a:rPr lang="en-US" sz="2800" b="1" i="1" dirty="0" err="1"/>
              <a:t>i</a:t>
            </a:r>
            <a:r>
              <a:rPr lang="en-US" sz="2800" dirty="0"/>
              <a:t> can join only with S tuples in the same partition </a:t>
            </a:r>
            <a:r>
              <a:rPr lang="en-US" sz="2800" b="1" i="1" dirty="0" err="1"/>
              <a:t>i</a:t>
            </a:r>
            <a:endParaRPr lang="en-US" sz="2800" b="1" i="1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888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Hash Join: Partitioning Phase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3876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Partition both relations using hash function </a:t>
            </a:r>
            <a:r>
              <a:rPr lang="en-US" sz="2800" b="1" i="1" dirty="0"/>
              <a:t>h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grpSp>
        <p:nvGrpSpPr>
          <p:cNvPr id="6" name="Group 114"/>
          <p:cNvGrpSpPr>
            <a:grpSpLocks/>
          </p:cNvGrpSpPr>
          <p:nvPr/>
        </p:nvGrpSpPr>
        <p:grpSpPr bwMode="auto">
          <a:xfrm>
            <a:off x="1600200" y="2974975"/>
            <a:ext cx="5657850" cy="2968625"/>
            <a:chOff x="2162" y="203"/>
            <a:chExt cx="3564" cy="1870"/>
          </a:xfrm>
        </p:grpSpPr>
        <p:sp>
          <p:nvSpPr>
            <p:cNvPr id="7" name="Rectangle 61"/>
            <p:cNvSpPr>
              <a:spLocks noChangeArrowheads="1"/>
            </p:cNvSpPr>
            <p:nvPr/>
          </p:nvSpPr>
          <p:spPr bwMode="auto">
            <a:xfrm>
              <a:off x="2934" y="1830"/>
              <a:ext cx="158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 main memory buffers</a:t>
              </a:r>
            </a:p>
          </p:txBody>
        </p:sp>
        <p:sp>
          <p:nvSpPr>
            <p:cNvPr id="8" name="Rectangle 62"/>
            <p:cNvSpPr>
              <a:spLocks noChangeArrowheads="1"/>
            </p:cNvSpPr>
            <p:nvPr/>
          </p:nvSpPr>
          <p:spPr bwMode="auto">
            <a:xfrm>
              <a:off x="4908" y="1844"/>
              <a:ext cx="3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Disk</a:t>
              </a: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2315" y="1844"/>
              <a:ext cx="3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Disk</a:t>
              </a:r>
            </a:p>
          </p:txBody>
        </p:sp>
        <p:sp>
          <p:nvSpPr>
            <p:cNvPr id="10" name="Rectangle 64"/>
            <p:cNvSpPr>
              <a:spLocks noChangeArrowheads="1"/>
            </p:cNvSpPr>
            <p:nvPr/>
          </p:nvSpPr>
          <p:spPr bwMode="auto">
            <a:xfrm>
              <a:off x="2162" y="203"/>
              <a:ext cx="670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Original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Relation</a:t>
              </a:r>
            </a:p>
          </p:txBody>
        </p:sp>
        <p:sp>
          <p:nvSpPr>
            <p:cNvPr id="11" name="Rectangle 65"/>
            <p:cNvSpPr>
              <a:spLocks noChangeArrowheads="1"/>
            </p:cNvSpPr>
            <p:nvPr/>
          </p:nvSpPr>
          <p:spPr bwMode="auto">
            <a:xfrm>
              <a:off x="3914" y="395"/>
              <a:ext cx="581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OUTPUT</a:t>
              </a:r>
            </a:p>
          </p:txBody>
        </p:sp>
        <p:sp>
          <p:nvSpPr>
            <p:cNvPr id="12" name="Freeform 66"/>
            <p:cNvSpPr>
              <a:spLocks/>
            </p:cNvSpPr>
            <p:nvPr/>
          </p:nvSpPr>
          <p:spPr bwMode="auto">
            <a:xfrm>
              <a:off x="5040" y="1390"/>
              <a:ext cx="27" cy="40"/>
            </a:xfrm>
            <a:custGeom>
              <a:avLst/>
              <a:gdLst>
                <a:gd name="T0" fmla="*/ 26 w 27"/>
                <a:gd name="T1" fmla="*/ 20 h 40"/>
                <a:gd name="T2" fmla="*/ 14 w 27"/>
                <a:gd name="T3" fmla="*/ 0 h 40"/>
                <a:gd name="T4" fmla="*/ 0 w 27"/>
                <a:gd name="T5" fmla="*/ 20 h 40"/>
                <a:gd name="T6" fmla="*/ 14 w 27"/>
                <a:gd name="T7" fmla="*/ 39 h 40"/>
                <a:gd name="T8" fmla="*/ 26 w 27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26" y="20"/>
                  </a:moveTo>
                  <a:lnTo>
                    <a:pt x="14" y="0"/>
                  </a:lnTo>
                  <a:lnTo>
                    <a:pt x="0" y="20"/>
                  </a:lnTo>
                  <a:lnTo>
                    <a:pt x="14" y="39"/>
                  </a:lnTo>
                  <a:lnTo>
                    <a:pt x="26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reeform 67"/>
            <p:cNvSpPr>
              <a:spLocks/>
            </p:cNvSpPr>
            <p:nvPr/>
          </p:nvSpPr>
          <p:spPr bwMode="auto">
            <a:xfrm>
              <a:off x="5138" y="1390"/>
              <a:ext cx="27" cy="40"/>
            </a:xfrm>
            <a:custGeom>
              <a:avLst/>
              <a:gdLst>
                <a:gd name="T0" fmla="*/ 26 w 27"/>
                <a:gd name="T1" fmla="*/ 20 h 40"/>
                <a:gd name="T2" fmla="*/ 14 w 27"/>
                <a:gd name="T3" fmla="*/ 0 h 40"/>
                <a:gd name="T4" fmla="*/ 0 w 27"/>
                <a:gd name="T5" fmla="*/ 20 h 40"/>
                <a:gd name="T6" fmla="*/ 14 w 27"/>
                <a:gd name="T7" fmla="*/ 39 h 40"/>
                <a:gd name="T8" fmla="*/ 26 w 27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26" y="20"/>
                  </a:moveTo>
                  <a:lnTo>
                    <a:pt x="14" y="0"/>
                  </a:lnTo>
                  <a:lnTo>
                    <a:pt x="0" y="20"/>
                  </a:lnTo>
                  <a:lnTo>
                    <a:pt x="14" y="39"/>
                  </a:lnTo>
                  <a:lnTo>
                    <a:pt x="26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reeform 68"/>
            <p:cNvSpPr>
              <a:spLocks/>
            </p:cNvSpPr>
            <p:nvPr/>
          </p:nvSpPr>
          <p:spPr bwMode="auto">
            <a:xfrm>
              <a:off x="2832" y="384"/>
              <a:ext cx="1683" cy="1442"/>
            </a:xfrm>
            <a:custGeom>
              <a:avLst/>
              <a:gdLst>
                <a:gd name="T0" fmla="*/ 0 w 1683"/>
                <a:gd name="T1" fmla="*/ 1441 h 1442"/>
                <a:gd name="T2" fmla="*/ 0 w 1683"/>
                <a:gd name="T3" fmla="*/ 0 h 1442"/>
                <a:gd name="T4" fmla="*/ 1682 w 1683"/>
                <a:gd name="T5" fmla="*/ 0 h 1442"/>
                <a:gd name="T6" fmla="*/ 1682 w 1683"/>
                <a:gd name="T7" fmla="*/ 1441 h 1442"/>
                <a:gd name="T8" fmla="*/ 0 w 1683"/>
                <a:gd name="T9" fmla="*/ 1441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3" h="1442">
                  <a:moveTo>
                    <a:pt x="0" y="1441"/>
                  </a:moveTo>
                  <a:lnTo>
                    <a:pt x="0" y="0"/>
                  </a:lnTo>
                  <a:lnTo>
                    <a:pt x="1682" y="0"/>
                  </a:lnTo>
                  <a:lnTo>
                    <a:pt x="1682" y="1441"/>
                  </a:lnTo>
                  <a:lnTo>
                    <a:pt x="0" y="144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reeform 69"/>
            <p:cNvSpPr>
              <a:spLocks/>
            </p:cNvSpPr>
            <p:nvPr/>
          </p:nvSpPr>
          <p:spPr bwMode="auto">
            <a:xfrm>
              <a:off x="3054" y="1215"/>
              <a:ext cx="211" cy="170"/>
            </a:xfrm>
            <a:custGeom>
              <a:avLst/>
              <a:gdLst>
                <a:gd name="T0" fmla="*/ 0 w 211"/>
                <a:gd name="T1" fmla="*/ 169 h 170"/>
                <a:gd name="T2" fmla="*/ 0 w 211"/>
                <a:gd name="T3" fmla="*/ 0 h 170"/>
                <a:gd name="T4" fmla="*/ 210 w 211"/>
                <a:gd name="T5" fmla="*/ 0 h 170"/>
                <a:gd name="T6" fmla="*/ 210 w 211"/>
                <a:gd name="T7" fmla="*/ 169 h 170"/>
                <a:gd name="T8" fmla="*/ 0 w 211"/>
                <a:gd name="T9" fmla="*/ 16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170">
                  <a:moveTo>
                    <a:pt x="0" y="169"/>
                  </a:moveTo>
                  <a:lnTo>
                    <a:pt x="0" y="0"/>
                  </a:lnTo>
                  <a:lnTo>
                    <a:pt x="210" y="0"/>
                  </a:lnTo>
                  <a:lnTo>
                    <a:pt x="210" y="169"/>
                  </a:lnTo>
                  <a:lnTo>
                    <a:pt x="0" y="169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6" name="Group 73"/>
            <p:cNvGrpSpPr>
              <a:grpSpLocks/>
            </p:cNvGrpSpPr>
            <p:nvPr/>
          </p:nvGrpSpPr>
          <p:grpSpPr bwMode="auto">
            <a:xfrm>
              <a:off x="4158" y="1336"/>
              <a:ext cx="211" cy="57"/>
              <a:chOff x="4158" y="1336"/>
              <a:chExt cx="211" cy="57"/>
            </a:xfrm>
          </p:grpSpPr>
          <p:sp>
            <p:nvSpPr>
              <p:cNvPr id="57" name="Freeform 70"/>
              <p:cNvSpPr>
                <a:spLocks/>
              </p:cNvSpPr>
              <p:nvPr/>
            </p:nvSpPr>
            <p:spPr bwMode="auto">
              <a:xfrm>
                <a:off x="4158" y="1336"/>
                <a:ext cx="27" cy="40"/>
              </a:xfrm>
              <a:custGeom>
                <a:avLst/>
                <a:gdLst>
                  <a:gd name="T0" fmla="*/ 26 w 27"/>
                  <a:gd name="T1" fmla="*/ 19 h 40"/>
                  <a:gd name="T2" fmla="*/ 13 w 27"/>
                  <a:gd name="T3" fmla="*/ 0 h 40"/>
                  <a:gd name="T4" fmla="*/ 0 w 27"/>
                  <a:gd name="T5" fmla="*/ 19 h 40"/>
                  <a:gd name="T6" fmla="*/ 13 w 27"/>
                  <a:gd name="T7" fmla="*/ 39 h 40"/>
                  <a:gd name="T8" fmla="*/ 26 w 27"/>
                  <a:gd name="T9" fmla="*/ 19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40">
                    <a:moveTo>
                      <a:pt x="26" y="19"/>
                    </a:moveTo>
                    <a:lnTo>
                      <a:pt x="13" y="0"/>
                    </a:lnTo>
                    <a:lnTo>
                      <a:pt x="0" y="19"/>
                    </a:lnTo>
                    <a:lnTo>
                      <a:pt x="13" y="39"/>
                    </a:lnTo>
                    <a:lnTo>
                      <a:pt x="26" y="19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" name="Freeform 71"/>
              <p:cNvSpPr>
                <a:spLocks/>
              </p:cNvSpPr>
              <p:nvPr/>
            </p:nvSpPr>
            <p:spPr bwMode="auto">
              <a:xfrm>
                <a:off x="4249" y="1336"/>
                <a:ext cx="27" cy="40"/>
              </a:xfrm>
              <a:custGeom>
                <a:avLst/>
                <a:gdLst>
                  <a:gd name="T0" fmla="*/ 26 w 27"/>
                  <a:gd name="T1" fmla="*/ 19 h 40"/>
                  <a:gd name="T2" fmla="*/ 13 w 27"/>
                  <a:gd name="T3" fmla="*/ 0 h 40"/>
                  <a:gd name="T4" fmla="*/ 0 w 27"/>
                  <a:gd name="T5" fmla="*/ 19 h 40"/>
                  <a:gd name="T6" fmla="*/ 13 w 27"/>
                  <a:gd name="T7" fmla="*/ 39 h 40"/>
                  <a:gd name="T8" fmla="*/ 26 w 27"/>
                  <a:gd name="T9" fmla="*/ 19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40">
                    <a:moveTo>
                      <a:pt x="26" y="19"/>
                    </a:moveTo>
                    <a:lnTo>
                      <a:pt x="13" y="0"/>
                    </a:lnTo>
                    <a:lnTo>
                      <a:pt x="0" y="19"/>
                    </a:lnTo>
                    <a:lnTo>
                      <a:pt x="13" y="39"/>
                    </a:lnTo>
                    <a:lnTo>
                      <a:pt x="26" y="19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Freeform 72"/>
              <p:cNvSpPr>
                <a:spLocks/>
              </p:cNvSpPr>
              <p:nvPr/>
            </p:nvSpPr>
            <p:spPr bwMode="auto">
              <a:xfrm>
                <a:off x="4347" y="1336"/>
                <a:ext cx="22" cy="57"/>
              </a:xfrm>
              <a:custGeom>
                <a:avLst/>
                <a:gdLst>
                  <a:gd name="T0" fmla="*/ 21 w 22"/>
                  <a:gd name="T1" fmla="*/ 27 h 57"/>
                  <a:gd name="T2" fmla="*/ 11 w 22"/>
                  <a:gd name="T3" fmla="*/ 0 h 57"/>
                  <a:gd name="T4" fmla="*/ 0 w 22"/>
                  <a:gd name="T5" fmla="*/ 27 h 57"/>
                  <a:gd name="T6" fmla="*/ 11 w 22"/>
                  <a:gd name="T7" fmla="*/ 56 h 57"/>
                  <a:gd name="T8" fmla="*/ 21 w 22"/>
                  <a:gd name="T9" fmla="*/ 2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57">
                    <a:moveTo>
                      <a:pt x="21" y="27"/>
                    </a:moveTo>
                    <a:lnTo>
                      <a:pt x="11" y="0"/>
                    </a:lnTo>
                    <a:lnTo>
                      <a:pt x="0" y="27"/>
                    </a:lnTo>
                    <a:lnTo>
                      <a:pt x="11" y="56"/>
                    </a:lnTo>
                    <a:lnTo>
                      <a:pt x="21" y="27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7" name="Freeform 74"/>
            <p:cNvSpPr>
              <a:spLocks/>
            </p:cNvSpPr>
            <p:nvPr/>
          </p:nvSpPr>
          <p:spPr bwMode="auto">
            <a:xfrm>
              <a:off x="4793" y="791"/>
              <a:ext cx="158" cy="170"/>
            </a:xfrm>
            <a:custGeom>
              <a:avLst/>
              <a:gdLst>
                <a:gd name="T0" fmla="*/ 0 w 158"/>
                <a:gd name="T1" fmla="*/ 169 h 170"/>
                <a:gd name="T2" fmla="*/ 0 w 158"/>
                <a:gd name="T3" fmla="*/ 0 h 170"/>
                <a:gd name="T4" fmla="*/ 157 w 158"/>
                <a:gd name="T5" fmla="*/ 0 h 170"/>
                <a:gd name="T6" fmla="*/ 157 w 158"/>
                <a:gd name="T7" fmla="*/ 169 h 170"/>
                <a:gd name="T8" fmla="*/ 0 w 158"/>
                <a:gd name="T9" fmla="*/ 16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70">
                  <a:moveTo>
                    <a:pt x="0" y="169"/>
                  </a:moveTo>
                  <a:lnTo>
                    <a:pt x="0" y="0"/>
                  </a:lnTo>
                  <a:lnTo>
                    <a:pt x="157" y="0"/>
                  </a:lnTo>
                  <a:lnTo>
                    <a:pt x="157" y="169"/>
                  </a:lnTo>
                  <a:lnTo>
                    <a:pt x="0" y="169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reeform 75"/>
            <p:cNvSpPr>
              <a:spLocks/>
            </p:cNvSpPr>
            <p:nvPr/>
          </p:nvSpPr>
          <p:spPr bwMode="auto">
            <a:xfrm>
              <a:off x="4976" y="791"/>
              <a:ext cx="157" cy="170"/>
            </a:xfrm>
            <a:custGeom>
              <a:avLst/>
              <a:gdLst>
                <a:gd name="T0" fmla="*/ 0 w 157"/>
                <a:gd name="T1" fmla="*/ 169 h 170"/>
                <a:gd name="T2" fmla="*/ 0 w 157"/>
                <a:gd name="T3" fmla="*/ 0 h 170"/>
                <a:gd name="T4" fmla="*/ 156 w 157"/>
                <a:gd name="T5" fmla="*/ 0 h 170"/>
                <a:gd name="T6" fmla="*/ 156 w 157"/>
                <a:gd name="T7" fmla="*/ 169 h 170"/>
                <a:gd name="T8" fmla="*/ 0 w 157"/>
                <a:gd name="T9" fmla="*/ 16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70">
                  <a:moveTo>
                    <a:pt x="0" y="169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69"/>
                  </a:lnTo>
                  <a:lnTo>
                    <a:pt x="0" y="169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reeform 76"/>
            <p:cNvSpPr>
              <a:spLocks/>
            </p:cNvSpPr>
            <p:nvPr/>
          </p:nvSpPr>
          <p:spPr bwMode="auto">
            <a:xfrm>
              <a:off x="4793" y="1085"/>
              <a:ext cx="158" cy="170"/>
            </a:xfrm>
            <a:custGeom>
              <a:avLst/>
              <a:gdLst>
                <a:gd name="T0" fmla="*/ 0 w 158"/>
                <a:gd name="T1" fmla="*/ 169 h 170"/>
                <a:gd name="T2" fmla="*/ 0 w 158"/>
                <a:gd name="T3" fmla="*/ 0 h 170"/>
                <a:gd name="T4" fmla="*/ 157 w 158"/>
                <a:gd name="T5" fmla="*/ 0 h 170"/>
                <a:gd name="T6" fmla="*/ 157 w 158"/>
                <a:gd name="T7" fmla="*/ 169 h 170"/>
                <a:gd name="T8" fmla="*/ 0 w 158"/>
                <a:gd name="T9" fmla="*/ 16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70">
                  <a:moveTo>
                    <a:pt x="0" y="169"/>
                  </a:moveTo>
                  <a:lnTo>
                    <a:pt x="0" y="0"/>
                  </a:lnTo>
                  <a:lnTo>
                    <a:pt x="157" y="0"/>
                  </a:lnTo>
                  <a:lnTo>
                    <a:pt x="157" y="169"/>
                  </a:lnTo>
                  <a:lnTo>
                    <a:pt x="0" y="169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 77"/>
            <p:cNvSpPr>
              <a:spLocks/>
            </p:cNvSpPr>
            <p:nvPr/>
          </p:nvSpPr>
          <p:spPr bwMode="auto">
            <a:xfrm>
              <a:off x="4982" y="1085"/>
              <a:ext cx="157" cy="170"/>
            </a:xfrm>
            <a:custGeom>
              <a:avLst/>
              <a:gdLst>
                <a:gd name="T0" fmla="*/ 0 w 157"/>
                <a:gd name="T1" fmla="*/ 169 h 170"/>
                <a:gd name="T2" fmla="*/ 0 w 157"/>
                <a:gd name="T3" fmla="*/ 0 h 170"/>
                <a:gd name="T4" fmla="*/ 156 w 157"/>
                <a:gd name="T5" fmla="*/ 0 h 170"/>
                <a:gd name="T6" fmla="*/ 156 w 157"/>
                <a:gd name="T7" fmla="*/ 169 h 170"/>
                <a:gd name="T8" fmla="*/ 0 w 157"/>
                <a:gd name="T9" fmla="*/ 16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70">
                  <a:moveTo>
                    <a:pt x="0" y="169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69"/>
                  </a:lnTo>
                  <a:lnTo>
                    <a:pt x="0" y="169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 78"/>
            <p:cNvSpPr>
              <a:spLocks/>
            </p:cNvSpPr>
            <p:nvPr/>
          </p:nvSpPr>
          <p:spPr bwMode="auto">
            <a:xfrm>
              <a:off x="4950" y="1390"/>
              <a:ext cx="27" cy="40"/>
            </a:xfrm>
            <a:custGeom>
              <a:avLst/>
              <a:gdLst>
                <a:gd name="T0" fmla="*/ 26 w 27"/>
                <a:gd name="T1" fmla="*/ 20 h 40"/>
                <a:gd name="T2" fmla="*/ 13 w 27"/>
                <a:gd name="T3" fmla="*/ 0 h 40"/>
                <a:gd name="T4" fmla="*/ 0 w 27"/>
                <a:gd name="T5" fmla="*/ 20 h 40"/>
                <a:gd name="T6" fmla="*/ 13 w 27"/>
                <a:gd name="T7" fmla="*/ 39 h 40"/>
                <a:gd name="T8" fmla="*/ 26 w 27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26" y="20"/>
                  </a:moveTo>
                  <a:lnTo>
                    <a:pt x="13" y="0"/>
                  </a:lnTo>
                  <a:lnTo>
                    <a:pt x="0" y="20"/>
                  </a:lnTo>
                  <a:lnTo>
                    <a:pt x="13" y="39"/>
                  </a:lnTo>
                  <a:lnTo>
                    <a:pt x="26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Freeform 79"/>
            <p:cNvSpPr>
              <a:spLocks/>
            </p:cNvSpPr>
            <p:nvPr/>
          </p:nvSpPr>
          <p:spPr bwMode="auto">
            <a:xfrm>
              <a:off x="5171" y="1085"/>
              <a:ext cx="157" cy="170"/>
            </a:xfrm>
            <a:custGeom>
              <a:avLst/>
              <a:gdLst>
                <a:gd name="T0" fmla="*/ 0 w 157"/>
                <a:gd name="T1" fmla="*/ 169 h 170"/>
                <a:gd name="T2" fmla="*/ 0 w 157"/>
                <a:gd name="T3" fmla="*/ 0 h 170"/>
                <a:gd name="T4" fmla="*/ 156 w 157"/>
                <a:gd name="T5" fmla="*/ 0 h 170"/>
                <a:gd name="T6" fmla="*/ 156 w 157"/>
                <a:gd name="T7" fmla="*/ 169 h 170"/>
                <a:gd name="T8" fmla="*/ 0 w 157"/>
                <a:gd name="T9" fmla="*/ 16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70">
                  <a:moveTo>
                    <a:pt x="0" y="169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69"/>
                  </a:lnTo>
                  <a:lnTo>
                    <a:pt x="0" y="169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ectangle 80"/>
            <p:cNvSpPr>
              <a:spLocks noChangeArrowheads="1"/>
            </p:cNvSpPr>
            <p:nvPr/>
          </p:nvSpPr>
          <p:spPr bwMode="auto">
            <a:xfrm>
              <a:off x="4148" y="907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Freeform 81"/>
            <p:cNvSpPr>
              <a:spLocks/>
            </p:cNvSpPr>
            <p:nvPr/>
          </p:nvSpPr>
          <p:spPr bwMode="auto">
            <a:xfrm>
              <a:off x="4793" y="1611"/>
              <a:ext cx="158" cy="170"/>
            </a:xfrm>
            <a:custGeom>
              <a:avLst/>
              <a:gdLst>
                <a:gd name="T0" fmla="*/ 0 w 158"/>
                <a:gd name="T1" fmla="*/ 169 h 170"/>
                <a:gd name="T2" fmla="*/ 0 w 158"/>
                <a:gd name="T3" fmla="*/ 0 h 170"/>
                <a:gd name="T4" fmla="*/ 157 w 158"/>
                <a:gd name="T5" fmla="*/ 0 h 170"/>
                <a:gd name="T6" fmla="*/ 157 w 158"/>
                <a:gd name="T7" fmla="*/ 169 h 170"/>
                <a:gd name="T8" fmla="*/ 0 w 158"/>
                <a:gd name="T9" fmla="*/ 16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170">
                  <a:moveTo>
                    <a:pt x="0" y="169"/>
                  </a:moveTo>
                  <a:lnTo>
                    <a:pt x="0" y="0"/>
                  </a:lnTo>
                  <a:lnTo>
                    <a:pt x="157" y="0"/>
                  </a:lnTo>
                  <a:lnTo>
                    <a:pt x="157" y="169"/>
                  </a:lnTo>
                  <a:lnTo>
                    <a:pt x="0" y="169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Freeform 82"/>
            <p:cNvSpPr>
              <a:spLocks/>
            </p:cNvSpPr>
            <p:nvPr/>
          </p:nvSpPr>
          <p:spPr bwMode="auto">
            <a:xfrm>
              <a:off x="4128" y="1584"/>
              <a:ext cx="266" cy="181"/>
            </a:xfrm>
            <a:custGeom>
              <a:avLst/>
              <a:gdLst>
                <a:gd name="T0" fmla="*/ 0 w 266"/>
                <a:gd name="T1" fmla="*/ 180 h 181"/>
                <a:gd name="T2" fmla="*/ 0 w 266"/>
                <a:gd name="T3" fmla="*/ 0 h 181"/>
                <a:gd name="T4" fmla="*/ 265 w 266"/>
                <a:gd name="T5" fmla="*/ 0 h 181"/>
                <a:gd name="T6" fmla="*/ 265 w 266"/>
                <a:gd name="T7" fmla="*/ 180 h 181"/>
                <a:gd name="T8" fmla="*/ 0 w 266"/>
                <a:gd name="T9" fmla="*/ 18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181">
                  <a:moveTo>
                    <a:pt x="0" y="180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180"/>
                  </a:lnTo>
                  <a:lnTo>
                    <a:pt x="0" y="180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83"/>
            <p:cNvSpPr>
              <a:spLocks noChangeArrowheads="1"/>
            </p:cNvSpPr>
            <p:nvPr/>
          </p:nvSpPr>
          <p:spPr bwMode="auto">
            <a:xfrm>
              <a:off x="2905" y="951"/>
              <a:ext cx="46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INPUT</a:t>
              </a:r>
            </a:p>
          </p:txBody>
        </p:sp>
        <p:sp useBgFill="1">
          <p:nvSpPr>
            <p:cNvPr id="27" name="Rectangle 84"/>
            <p:cNvSpPr>
              <a:spLocks noChangeArrowheads="1"/>
            </p:cNvSpPr>
            <p:nvPr/>
          </p:nvSpPr>
          <p:spPr bwMode="auto">
            <a:xfrm>
              <a:off x="4148" y="562"/>
              <a:ext cx="170" cy="190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85"/>
            <p:cNvSpPr>
              <a:spLocks noChangeArrowheads="1"/>
            </p:cNvSpPr>
            <p:nvPr/>
          </p:nvSpPr>
          <p:spPr bwMode="auto">
            <a:xfrm>
              <a:off x="3272" y="1106"/>
              <a:ext cx="512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hash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function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0504D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9" name="Rectangle 86"/>
            <p:cNvSpPr>
              <a:spLocks noChangeArrowheads="1"/>
            </p:cNvSpPr>
            <p:nvPr/>
          </p:nvSpPr>
          <p:spPr bwMode="auto">
            <a:xfrm>
              <a:off x="4088" y="1402"/>
              <a:ext cx="28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B-1</a:t>
              </a:r>
            </a:p>
          </p:txBody>
        </p:sp>
        <p:sp>
          <p:nvSpPr>
            <p:cNvPr id="30" name="Rectangle 87"/>
            <p:cNvSpPr>
              <a:spLocks noChangeArrowheads="1"/>
            </p:cNvSpPr>
            <p:nvPr/>
          </p:nvSpPr>
          <p:spPr bwMode="auto">
            <a:xfrm>
              <a:off x="4695" y="388"/>
              <a:ext cx="72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Partitions</a:t>
              </a:r>
            </a:p>
          </p:txBody>
        </p:sp>
        <p:sp>
          <p:nvSpPr>
            <p:cNvPr id="31" name="Rectangle 88"/>
            <p:cNvSpPr>
              <a:spLocks noChangeArrowheads="1"/>
            </p:cNvSpPr>
            <p:nvPr/>
          </p:nvSpPr>
          <p:spPr bwMode="auto">
            <a:xfrm>
              <a:off x="5422" y="773"/>
              <a:ext cx="18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89"/>
            <p:cNvSpPr>
              <a:spLocks noChangeArrowheads="1"/>
            </p:cNvSpPr>
            <p:nvPr/>
          </p:nvSpPr>
          <p:spPr bwMode="auto">
            <a:xfrm>
              <a:off x="5416" y="1040"/>
              <a:ext cx="18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Rectangle 90"/>
            <p:cNvSpPr>
              <a:spLocks noChangeArrowheads="1"/>
            </p:cNvSpPr>
            <p:nvPr/>
          </p:nvSpPr>
          <p:spPr bwMode="auto">
            <a:xfrm>
              <a:off x="5396" y="1539"/>
              <a:ext cx="3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B-1</a:t>
              </a:r>
            </a:p>
          </p:txBody>
        </p:sp>
        <p:grpSp>
          <p:nvGrpSpPr>
            <p:cNvPr id="34" name="Group 95"/>
            <p:cNvGrpSpPr>
              <a:grpSpLocks/>
            </p:cNvGrpSpPr>
            <p:nvPr/>
          </p:nvGrpSpPr>
          <p:grpSpPr bwMode="auto">
            <a:xfrm>
              <a:off x="2209" y="628"/>
              <a:ext cx="575" cy="1228"/>
              <a:chOff x="2209" y="628"/>
              <a:chExt cx="575" cy="1228"/>
            </a:xfrm>
          </p:grpSpPr>
          <p:sp>
            <p:nvSpPr>
              <p:cNvPr id="53" name="Oval 91"/>
              <p:cNvSpPr>
                <a:spLocks noChangeArrowheads="1"/>
              </p:cNvSpPr>
              <p:nvPr/>
            </p:nvSpPr>
            <p:spPr bwMode="auto">
              <a:xfrm>
                <a:off x="2213" y="628"/>
                <a:ext cx="567" cy="85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" name="Line 92"/>
              <p:cNvSpPr>
                <a:spLocks noChangeShapeType="1"/>
              </p:cNvSpPr>
              <p:nvPr/>
            </p:nvSpPr>
            <p:spPr bwMode="auto">
              <a:xfrm>
                <a:off x="2209" y="674"/>
                <a:ext cx="0" cy="110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Line 93"/>
              <p:cNvSpPr>
                <a:spLocks noChangeShapeType="1"/>
              </p:cNvSpPr>
              <p:nvPr/>
            </p:nvSpPr>
            <p:spPr bwMode="auto">
              <a:xfrm>
                <a:off x="2784" y="674"/>
                <a:ext cx="0" cy="110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Arc 94"/>
              <p:cNvSpPr>
                <a:spLocks/>
              </p:cNvSpPr>
              <p:nvPr/>
            </p:nvSpPr>
            <p:spPr bwMode="auto">
              <a:xfrm>
                <a:off x="2212" y="1781"/>
                <a:ext cx="567" cy="75"/>
              </a:xfrm>
              <a:custGeom>
                <a:avLst/>
                <a:gdLst>
                  <a:gd name="G0" fmla="+- 21600 0 0"/>
                  <a:gd name="G1" fmla="+- 1536 0 0"/>
                  <a:gd name="G2" fmla="+- 21600 0 0"/>
                  <a:gd name="T0" fmla="*/ 43180 w 43200"/>
                  <a:gd name="T1" fmla="*/ 606 h 23136"/>
                  <a:gd name="T2" fmla="*/ 55 w 43200"/>
                  <a:gd name="T3" fmla="*/ 0 h 23136"/>
                  <a:gd name="T4" fmla="*/ 21600 w 43200"/>
                  <a:gd name="T5" fmla="*/ 1536 h 23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136" fill="none" extrusionOk="0">
                    <a:moveTo>
                      <a:pt x="43179" y="606"/>
                    </a:moveTo>
                    <a:cubicBezTo>
                      <a:pt x="43193" y="915"/>
                      <a:pt x="43200" y="1225"/>
                      <a:pt x="43200" y="1536"/>
                    </a:cubicBezTo>
                    <a:cubicBezTo>
                      <a:pt x="43200" y="13465"/>
                      <a:pt x="33529" y="23136"/>
                      <a:pt x="21600" y="23136"/>
                    </a:cubicBezTo>
                    <a:cubicBezTo>
                      <a:pt x="9670" y="23136"/>
                      <a:pt x="0" y="13465"/>
                      <a:pt x="0" y="1536"/>
                    </a:cubicBezTo>
                    <a:cubicBezTo>
                      <a:pt x="-1" y="1023"/>
                      <a:pt x="18" y="511"/>
                      <a:pt x="54" y="-1"/>
                    </a:cubicBezTo>
                  </a:path>
                  <a:path w="43200" h="23136" stroke="0" extrusionOk="0">
                    <a:moveTo>
                      <a:pt x="43179" y="606"/>
                    </a:moveTo>
                    <a:cubicBezTo>
                      <a:pt x="43193" y="915"/>
                      <a:pt x="43200" y="1225"/>
                      <a:pt x="43200" y="1536"/>
                    </a:cubicBezTo>
                    <a:cubicBezTo>
                      <a:pt x="43200" y="13465"/>
                      <a:pt x="33529" y="23136"/>
                      <a:pt x="21600" y="23136"/>
                    </a:cubicBezTo>
                    <a:cubicBezTo>
                      <a:pt x="9670" y="23136"/>
                      <a:pt x="0" y="13465"/>
                      <a:pt x="0" y="1536"/>
                    </a:cubicBezTo>
                    <a:cubicBezTo>
                      <a:pt x="-1" y="1023"/>
                      <a:pt x="18" y="511"/>
                      <a:pt x="54" y="-1"/>
                    </a:cubicBezTo>
                    <a:lnTo>
                      <a:pt x="21600" y="1536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5" name="Rectangle 96"/>
            <p:cNvSpPr>
              <a:spLocks noChangeArrowheads="1"/>
            </p:cNvSpPr>
            <p:nvPr/>
          </p:nvSpPr>
          <p:spPr bwMode="auto">
            <a:xfrm>
              <a:off x="2404" y="772"/>
              <a:ext cx="184" cy="184"/>
            </a:xfrm>
            <a:prstGeom prst="rect">
              <a:avLst/>
            </a:prstGeom>
            <a:solidFill>
              <a:srgbClr val="F6BF69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97"/>
            <p:cNvSpPr>
              <a:spLocks noChangeArrowheads="1"/>
            </p:cNvSpPr>
            <p:nvPr/>
          </p:nvSpPr>
          <p:spPr bwMode="auto">
            <a:xfrm>
              <a:off x="2404" y="1060"/>
              <a:ext cx="184" cy="184"/>
            </a:xfrm>
            <a:prstGeom prst="rect">
              <a:avLst/>
            </a:prstGeom>
            <a:solidFill>
              <a:srgbClr val="F6BF69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ectangle 98"/>
            <p:cNvSpPr>
              <a:spLocks noChangeArrowheads="1"/>
            </p:cNvSpPr>
            <p:nvPr/>
          </p:nvSpPr>
          <p:spPr bwMode="auto">
            <a:xfrm>
              <a:off x="2404" y="1540"/>
              <a:ext cx="184" cy="184"/>
            </a:xfrm>
            <a:prstGeom prst="rect">
              <a:avLst/>
            </a:prstGeom>
            <a:solidFill>
              <a:srgbClr val="F6BF69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99"/>
            <p:cNvSpPr>
              <a:spLocks noChangeArrowheads="1"/>
            </p:cNvSpPr>
            <p:nvPr/>
          </p:nvSpPr>
          <p:spPr bwMode="auto">
            <a:xfrm>
              <a:off x="2290" y="1178"/>
              <a:ext cx="434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Book Antiqua" pitchFamily="18" charset="0"/>
                  <a:ea typeface="+mn-ea"/>
                  <a:cs typeface="+mn-cs"/>
                </a:rPr>
                <a:t>. . .</a:t>
              </a:r>
            </a:p>
          </p:txBody>
        </p:sp>
        <p:grpSp>
          <p:nvGrpSpPr>
            <p:cNvPr id="39" name="Group 104"/>
            <p:cNvGrpSpPr>
              <a:grpSpLocks/>
            </p:cNvGrpSpPr>
            <p:nvPr/>
          </p:nvGrpSpPr>
          <p:grpSpPr bwMode="auto">
            <a:xfrm>
              <a:off x="4753" y="628"/>
              <a:ext cx="671" cy="1240"/>
              <a:chOff x="4753" y="628"/>
              <a:chExt cx="671" cy="1240"/>
            </a:xfrm>
          </p:grpSpPr>
          <p:sp>
            <p:nvSpPr>
              <p:cNvPr id="49" name="Oval 100"/>
              <p:cNvSpPr>
                <a:spLocks noChangeArrowheads="1"/>
              </p:cNvSpPr>
              <p:nvPr/>
            </p:nvSpPr>
            <p:spPr bwMode="auto">
              <a:xfrm>
                <a:off x="4757" y="628"/>
                <a:ext cx="663" cy="86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" name="Line 101"/>
              <p:cNvSpPr>
                <a:spLocks noChangeShapeType="1"/>
              </p:cNvSpPr>
              <p:nvPr/>
            </p:nvSpPr>
            <p:spPr bwMode="auto">
              <a:xfrm>
                <a:off x="4753" y="675"/>
                <a:ext cx="0" cy="111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" name="Line 102"/>
              <p:cNvSpPr>
                <a:spLocks noChangeShapeType="1"/>
              </p:cNvSpPr>
              <p:nvPr/>
            </p:nvSpPr>
            <p:spPr bwMode="auto">
              <a:xfrm>
                <a:off x="5424" y="675"/>
                <a:ext cx="0" cy="111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Arc 103"/>
              <p:cNvSpPr>
                <a:spLocks/>
              </p:cNvSpPr>
              <p:nvPr/>
            </p:nvSpPr>
            <p:spPr bwMode="auto">
              <a:xfrm>
                <a:off x="4756" y="1796"/>
                <a:ext cx="663" cy="72"/>
              </a:xfrm>
              <a:custGeom>
                <a:avLst/>
                <a:gdLst>
                  <a:gd name="G0" fmla="+- 21600 0 0"/>
                  <a:gd name="G1" fmla="+- 620 0 0"/>
                  <a:gd name="G2" fmla="+- 21600 0 0"/>
                  <a:gd name="T0" fmla="*/ 43191 w 43200"/>
                  <a:gd name="T1" fmla="*/ 0 h 22220"/>
                  <a:gd name="T2" fmla="*/ 0 w 43200"/>
                  <a:gd name="T3" fmla="*/ 620 h 22220"/>
                  <a:gd name="T4" fmla="*/ 21600 w 43200"/>
                  <a:gd name="T5" fmla="*/ 620 h 22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220" fill="none" extrusionOk="0">
                    <a:moveTo>
                      <a:pt x="43191" y="-1"/>
                    </a:moveTo>
                    <a:cubicBezTo>
                      <a:pt x="43197" y="206"/>
                      <a:pt x="43200" y="413"/>
                      <a:pt x="43200" y="620"/>
                    </a:cubicBezTo>
                    <a:cubicBezTo>
                      <a:pt x="43200" y="12549"/>
                      <a:pt x="33529" y="22220"/>
                      <a:pt x="21600" y="22220"/>
                    </a:cubicBezTo>
                    <a:cubicBezTo>
                      <a:pt x="9670" y="22220"/>
                      <a:pt x="0" y="12549"/>
                      <a:pt x="0" y="620"/>
                    </a:cubicBezTo>
                  </a:path>
                  <a:path w="43200" h="22220" stroke="0" extrusionOk="0">
                    <a:moveTo>
                      <a:pt x="43191" y="-1"/>
                    </a:moveTo>
                    <a:cubicBezTo>
                      <a:pt x="43197" y="206"/>
                      <a:pt x="43200" y="413"/>
                      <a:pt x="43200" y="620"/>
                    </a:cubicBezTo>
                    <a:cubicBezTo>
                      <a:pt x="43200" y="12549"/>
                      <a:pt x="33529" y="22220"/>
                      <a:pt x="21600" y="22220"/>
                    </a:cubicBezTo>
                    <a:cubicBezTo>
                      <a:pt x="9670" y="22220"/>
                      <a:pt x="0" y="12549"/>
                      <a:pt x="0" y="620"/>
                    </a:cubicBezTo>
                    <a:lnTo>
                      <a:pt x="21600" y="62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0" name="Line 105"/>
            <p:cNvSpPr>
              <a:spLocks noChangeShapeType="1"/>
            </p:cNvSpPr>
            <p:nvPr/>
          </p:nvSpPr>
          <p:spPr bwMode="auto">
            <a:xfrm>
              <a:off x="2788" y="1296"/>
              <a:ext cx="2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Line 106"/>
            <p:cNvSpPr>
              <a:spLocks noChangeShapeType="1"/>
            </p:cNvSpPr>
            <p:nvPr/>
          </p:nvSpPr>
          <p:spPr bwMode="auto">
            <a:xfrm flipV="1">
              <a:off x="3796" y="908"/>
              <a:ext cx="328" cy="392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Line 107"/>
            <p:cNvSpPr>
              <a:spLocks noChangeShapeType="1"/>
            </p:cNvSpPr>
            <p:nvPr/>
          </p:nvSpPr>
          <p:spPr bwMode="auto">
            <a:xfrm flipV="1">
              <a:off x="3796" y="1196"/>
              <a:ext cx="328" cy="10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Line 108"/>
            <p:cNvSpPr>
              <a:spLocks noChangeShapeType="1"/>
            </p:cNvSpPr>
            <p:nvPr/>
          </p:nvSpPr>
          <p:spPr bwMode="auto">
            <a:xfrm>
              <a:off x="3796" y="1300"/>
              <a:ext cx="328" cy="37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Line 109"/>
            <p:cNvSpPr>
              <a:spLocks noChangeShapeType="1"/>
            </p:cNvSpPr>
            <p:nvPr/>
          </p:nvSpPr>
          <p:spPr bwMode="auto">
            <a:xfrm>
              <a:off x="4420" y="864"/>
              <a:ext cx="37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Line 110"/>
            <p:cNvSpPr>
              <a:spLocks noChangeShapeType="1"/>
            </p:cNvSpPr>
            <p:nvPr/>
          </p:nvSpPr>
          <p:spPr bwMode="auto">
            <a:xfrm>
              <a:off x="4420" y="1152"/>
              <a:ext cx="37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Line 111"/>
            <p:cNvSpPr>
              <a:spLocks noChangeShapeType="1"/>
            </p:cNvSpPr>
            <p:nvPr/>
          </p:nvSpPr>
          <p:spPr bwMode="auto">
            <a:xfrm>
              <a:off x="4420" y="1680"/>
              <a:ext cx="37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Freeform 112"/>
            <p:cNvSpPr>
              <a:spLocks/>
            </p:cNvSpPr>
            <p:nvPr/>
          </p:nvSpPr>
          <p:spPr bwMode="auto">
            <a:xfrm>
              <a:off x="4128" y="1056"/>
              <a:ext cx="266" cy="181"/>
            </a:xfrm>
            <a:custGeom>
              <a:avLst/>
              <a:gdLst>
                <a:gd name="T0" fmla="*/ 0 w 266"/>
                <a:gd name="T1" fmla="*/ 180 h 181"/>
                <a:gd name="T2" fmla="*/ 0 w 266"/>
                <a:gd name="T3" fmla="*/ 0 h 181"/>
                <a:gd name="T4" fmla="*/ 265 w 266"/>
                <a:gd name="T5" fmla="*/ 0 h 181"/>
                <a:gd name="T6" fmla="*/ 265 w 266"/>
                <a:gd name="T7" fmla="*/ 180 h 181"/>
                <a:gd name="T8" fmla="*/ 0 w 266"/>
                <a:gd name="T9" fmla="*/ 18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181">
                  <a:moveTo>
                    <a:pt x="0" y="180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180"/>
                  </a:lnTo>
                  <a:lnTo>
                    <a:pt x="0" y="180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Freeform 113"/>
            <p:cNvSpPr>
              <a:spLocks/>
            </p:cNvSpPr>
            <p:nvPr/>
          </p:nvSpPr>
          <p:spPr bwMode="auto">
            <a:xfrm>
              <a:off x="4128" y="720"/>
              <a:ext cx="266" cy="181"/>
            </a:xfrm>
            <a:custGeom>
              <a:avLst/>
              <a:gdLst>
                <a:gd name="T0" fmla="*/ 0 w 266"/>
                <a:gd name="T1" fmla="*/ 180 h 181"/>
                <a:gd name="T2" fmla="*/ 0 w 266"/>
                <a:gd name="T3" fmla="*/ 0 h 181"/>
                <a:gd name="T4" fmla="*/ 265 w 266"/>
                <a:gd name="T5" fmla="*/ 0 h 181"/>
                <a:gd name="T6" fmla="*/ 265 w 266"/>
                <a:gd name="T7" fmla="*/ 180 h 181"/>
                <a:gd name="T8" fmla="*/ 0 w 266"/>
                <a:gd name="T9" fmla="*/ 18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181">
                  <a:moveTo>
                    <a:pt x="0" y="180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180"/>
                  </a:lnTo>
                  <a:lnTo>
                    <a:pt x="0" y="180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3784422" y="2354243"/>
            <a:ext cx="4818691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tuples that belong to different partitions are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guaranteed not to match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 flipH="1">
            <a:off x="7095947" y="3000574"/>
            <a:ext cx="615950" cy="10674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7019747" y="3000574"/>
            <a:ext cx="692150" cy="15286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39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Hash Join: Probing Phase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75000"/>
              <a:buFont typeface="Wingdings" pitchFamily="2" charset="2"/>
              <a:buChar char="§"/>
            </a:pPr>
            <a:r>
              <a:rPr lang="en-US" sz="2800" dirty="0"/>
              <a:t>Read in a partition of R, hash it using </a:t>
            </a:r>
            <a:r>
              <a:rPr lang="en-US" sz="2800" b="1" i="1" dirty="0"/>
              <a:t>h2</a:t>
            </a:r>
            <a:r>
              <a:rPr lang="en-US" sz="2800" b="1" dirty="0"/>
              <a:t> (!= </a:t>
            </a:r>
            <a:r>
              <a:rPr lang="en-US" sz="2800" b="1" i="1" dirty="0"/>
              <a:t>h</a:t>
            </a:r>
            <a:r>
              <a:rPr lang="en-US" sz="2800" b="1" dirty="0"/>
              <a:t>)</a:t>
            </a:r>
          </a:p>
          <a:p>
            <a:pPr marL="0" indent="0">
              <a:buClr>
                <a:schemeClr val="tx1"/>
              </a:buClr>
              <a:buSzPct val="75000"/>
              <a:buNone/>
            </a:pPr>
            <a:r>
              <a:rPr lang="en-US" sz="2800" dirty="0"/>
              <a:t> </a:t>
            </a:r>
          </a:p>
          <a:p>
            <a:pPr>
              <a:buClr>
                <a:schemeClr val="tx1"/>
              </a:buClr>
              <a:buSzPct val="75000"/>
              <a:buFont typeface="Wingdings" pitchFamily="2" charset="2"/>
              <a:buChar char="§"/>
            </a:pPr>
            <a:r>
              <a:rPr lang="en-US" sz="2800" dirty="0"/>
              <a:t>Scan the corresponding partition of S and search </a:t>
            </a:r>
            <a:br>
              <a:rPr lang="en-US" sz="2800" dirty="0"/>
            </a:br>
            <a:r>
              <a:rPr lang="en-US" sz="2800" dirty="0"/>
              <a:t>for matches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grpSp>
        <p:nvGrpSpPr>
          <p:cNvPr id="63" name="Group 60"/>
          <p:cNvGrpSpPr>
            <a:grpSpLocks/>
          </p:cNvGrpSpPr>
          <p:nvPr/>
        </p:nvGrpSpPr>
        <p:grpSpPr bwMode="auto">
          <a:xfrm>
            <a:off x="1760538" y="3525838"/>
            <a:ext cx="5478462" cy="3027362"/>
            <a:chOff x="2161" y="2239"/>
            <a:chExt cx="3451" cy="1907"/>
          </a:xfrm>
        </p:grpSpPr>
        <p:sp>
          <p:nvSpPr>
            <p:cNvPr id="64" name="Rectangle 8"/>
            <p:cNvSpPr>
              <a:spLocks noChangeArrowheads="1"/>
            </p:cNvSpPr>
            <p:nvPr/>
          </p:nvSpPr>
          <p:spPr bwMode="auto">
            <a:xfrm>
              <a:off x="2169" y="2239"/>
              <a:ext cx="722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 R &amp; S</a:t>
              </a:r>
            </a:p>
          </p:txBody>
        </p:sp>
        <p:sp>
          <p:nvSpPr>
            <p:cNvPr id="65" name="Rectangle 9"/>
            <p:cNvSpPr>
              <a:spLocks noChangeArrowheads="1"/>
            </p:cNvSpPr>
            <p:nvPr/>
          </p:nvSpPr>
          <p:spPr bwMode="auto">
            <a:xfrm>
              <a:off x="3254" y="3604"/>
              <a:ext cx="70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Input buffer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 Si</a:t>
              </a:r>
            </a:p>
          </p:txBody>
        </p:sp>
        <p:sp>
          <p:nvSpPr>
            <p:cNvPr id="66" name="Rectangle 10"/>
            <p:cNvSpPr>
              <a:spLocks noChangeArrowheads="1"/>
            </p:cNvSpPr>
            <p:nvPr/>
          </p:nvSpPr>
          <p:spPr bwMode="auto">
            <a:xfrm>
              <a:off x="3288" y="2522"/>
              <a:ext cx="1412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Hash table for partition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Ri (k &lt; B-1 pages)</a:t>
              </a:r>
            </a:p>
          </p:txBody>
        </p:sp>
        <p:sp>
          <p:nvSpPr>
            <p:cNvPr id="67" name="Freeform 11"/>
            <p:cNvSpPr>
              <a:spLocks/>
            </p:cNvSpPr>
            <p:nvPr/>
          </p:nvSpPr>
          <p:spPr bwMode="auto">
            <a:xfrm>
              <a:off x="3513" y="3414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Freeform 12"/>
            <p:cNvSpPr>
              <a:spLocks/>
            </p:cNvSpPr>
            <p:nvPr/>
          </p:nvSpPr>
          <p:spPr bwMode="auto">
            <a:xfrm>
              <a:off x="2362" y="346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2 w 25"/>
                <a:gd name="T3" fmla="*/ 0 h 36"/>
                <a:gd name="T4" fmla="*/ 0 w 25"/>
                <a:gd name="T5" fmla="*/ 18 h 36"/>
                <a:gd name="T6" fmla="*/ 12 w 25"/>
                <a:gd name="T7" fmla="*/ 35 h 36"/>
                <a:gd name="T8" fmla="*/ 24 w 25"/>
                <a:gd name="T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6">
                  <a:moveTo>
                    <a:pt x="24" y="18"/>
                  </a:moveTo>
                  <a:lnTo>
                    <a:pt x="12" y="0"/>
                  </a:lnTo>
                  <a:lnTo>
                    <a:pt x="0" y="18"/>
                  </a:lnTo>
                  <a:lnTo>
                    <a:pt x="12" y="35"/>
                  </a:lnTo>
                  <a:lnTo>
                    <a:pt x="24" y="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Freeform 13"/>
            <p:cNvSpPr>
              <a:spLocks/>
            </p:cNvSpPr>
            <p:nvPr/>
          </p:nvSpPr>
          <p:spPr bwMode="auto">
            <a:xfrm>
              <a:off x="2445" y="346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2 w 25"/>
                <a:gd name="T3" fmla="*/ 0 h 36"/>
                <a:gd name="T4" fmla="*/ 0 w 25"/>
                <a:gd name="T5" fmla="*/ 18 h 36"/>
                <a:gd name="T6" fmla="*/ 12 w 25"/>
                <a:gd name="T7" fmla="*/ 35 h 36"/>
                <a:gd name="T8" fmla="*/ 24 w 25"/>
                <a:gd name="T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6">
                  <a:moveTo>
                    <a:pt x="24" y="18"/>
                  </a:moveTo>
                  <a:lnTo>
                    <a:pt x="12" y="0"/>
                  </a:lnTo>
                  <a:lnTo>
                    <a:pt x="0" y="18"/>
                  </a:lnTo>
                  <a:lnTo>
                    <a:pt x="12" y="35"/>
                  </a:lnTo>
                  <a:lnTo>
                    <a:pt x="24" y="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Freeform 14"/>
            <p:cNvSpPr>
              <a:spLocks/>
            </p:cNvSpPr>
            <p:nvPr/>
          </p:nvSpPr>
          <p:spPr bwMode="auto">
            <a:xfrm>
              <a:off x="2535" y="346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2 w 25"/>
                <a:gd name="T3" fmla="*/ 0 h 36"/>
                <a:gd name="T4" fmla="*/ 0 w 25"/>
                <a:gd name="T5" fmla="*/ 18 h 36"/>
                <a:gd name="T6" fmla="*/ 12 w 25"/>
                <a:gd name="T7" fmla="*/ 35 h 36"/>
                <a:gd name="T8" fmla="*/ 24 w 25"/>
                <a:gd name="T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6">
                  <a:moveTo>
                    <a:pt x="24" y="18"/>
                  </a:moveTo>
                  <a:lnTo>
                    <a:pt x="12" y="0"/>
                  </a:lnTo>
                  <a:lnTo>
                    <a:pt x="0" y="18"/>
                  </a:lnTo>
                  <a:lnTo>
                    <a:pt x="12" y="35"/>
                  </a:lnTo>
                  <a:lnTo>
                    <a:pt x="24" y="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Freeform 15"/>
            <p:cNvSpPr>
              <a:spLocks/>
            </p:cNvSpPr>
            <p:nvPr/>
          </p:nvSpPr>
          <p:spPr bwMode="auto">
            <a:xfrm>
              <a:off x="2218" y="2962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Freeform 16"/>
            <p:cNvSpPr>
              <a:spLocks/>
            </p:cNvSpPr>
            <p:nvPr/>
          </p:nvSpPr>
          <p:spPr bwMode="auto">
            <a:xfrm>
              <a:off x="2386" y="2962"/>
              <a:ext cx="144" cy="156"/>
            </a:xfrm>
            <a:custGeom>
              <a:avLst/>
              <a:gdLst>
                <a:gd name="T0" fmla="*/ 0 w 144"/>
                <a:gd name="T1" fmla="*/ 155 h 156"/>
                <a:gd name="T2" fmla="*/ 0 w 144"/>
                <a:gd name="T3" fmla="*/ 0 h 156"/>
                <a:gd name="T4" fmla="*/ 143 w 144"/>
                <a:gd name="T5" fmla="*/ 0 h 156"/>
                <a:gd name="T6" fmla="*/ 143 w 144"/>
                <a:gd name="T7" fmla="*/ 155 h 156"/>
                <a:gd name="T8" fmla="*/ 0 w 144"/>
                <a:gd name="T9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56">
                  <a:moveTo>
                    <a:pt x="0" y="155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5"/>
                  </a:lnTo>
                  <a:lnTo>
                    <a:pt x="0" y="155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Freeform 17"/>
            <p:cNvSpPr>
              <a:spLocks/>
            </p:cNvSpPr>
            <p:nvPr/>
          </p:nvSpPr>
          <p:spPr bwMode="auto">
            <a:xfrm>
              <a:off x="2218" y="3189"/>
              <a:ext cx="145" cy="155"/>
            </a:xfrm>
            <a:custGeom>
              <a:avLst/>
              <a:gdLst>
                <a:gd name="T0" fmla="*/ 0 w 145"/>
                <a:gd name="T1" fmla="*/ 154 h 155"/>
                <a:gd name="T2" fmla="*/ 0 w 145"/>
                <a:gd name="T3" fmla="*/ 0 h 155"/>
                <a:gd name="T4" fmla="*/ 144 w 145"/>
                <a:gd name="T5" fmla="*/ 0 h 155"/>
                <a:gd name="T6" fmla="*/ 144 w 145"/>
                <a:gd name="T7" fmla="*/ 154 h 155"/>
                <a:gd name="T8" fmla="*/ 0 w 145"/>
                <a:gd name="T9" fmla="*/ 154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55">
                  <a:moveTo>
                    <a:pt x="0" y="154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4"/>
                  </a:lnTo>
                  <a:lnTo>
                    <a:pt x="0" y="154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Freeform 18"/>
            <p:cNvSpPr>
              <a:spLocks/>
            </p:cNvSpPr>
            <p:nvPr/>
          </p:nvSpPr>
          <p:spPr bwMode="auto">
            <a:xfrm>
              <a:off x="2392" y="3189"/>
              <a:ext cx="144" cy="155"/>
            </a:xfrm>
            <a:custGeom>
              <a:avLst/>
              <a:gdLst>
                <a:gd name="T0" fmla="*/ 0 w 144"/>
                <a:gd name="T1" fmla="*/ 154 h 155"/>
                <a:gd name="T2" fmla="*/ 0 w 144"/>
                <a:gd name="T3" fmla="*/ 0 h 155"/>
                <a:gd name="T4" fmla="*/ 143 w 144"/>
                <a:gd name="T5" fmla="*/ 0 h 155"/>
                <a:gd name="T6" fmla="*/ 143 w 144"/>
                <a:gd name="T7" fmla="*/ 154 h 155"/>
                <a:gd name="T8" fmla="*/ 0 w 144"/>
                <a:gd name="T9" fmla="*/ 154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55">
                  <a:moveTo>
                    <a:pt x="0" y="154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4"/>
                  </a:lnTo>
                  <a:lnTo>
                    <a:pt x="0" y="154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Freeform 19"/>
            <p:cNvSpPr>
              <a:spLocks/>
            </p:cNvSpPr>
            <p:nvPr/>
          </p:nvSpPr>
          <p:spPr bwMode="auto">
            <a:xfrm>
              <a:off x="2421" y="3669"/>
              <a:ext cx="144" cy="155"/>
            </a:xfrm>
            <a:custGeom>
              <a:avLst/>
              <a:gdLst>
                <a:gd name="T0" fmla="*/ 0 w 144"/>
                <a:gd name="T1" fmla="*/ 154 h 155"/>
                <a:gd name="T2" fmla="*/ 0 w 144"/>
                <a:gd name="T3" fmla="*/ 0 h 155"/>
                <a:gd name="T4" fmla="*/ 143 w 144"/>
                <a:gd name="T5" fmla="*/ 0 h 155"/>
                <a:gd name="T6" fmla="*/ 143 w 144"/>
                <a:gd name="T7" fmla="*/ 154 h 155"/>
                <a:gd name="T8" fmla="*/ 0 w 144"/>
                <a:gd name="T9" fmla="*/ 154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55">
                  <a:moveTo>
                    <a:pt x="0" y="154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4"/>
                  </a:lnTo>
                  <a:lnTo>
                    <a:pt x="0" y="154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" name="Freeform 20"/>
            <p:cNvSpPr>
              <a:spLocks/>
            </p:cNvSpPr>
            <p:nvPr/>
          </p:nvSpPr>
          <p:spPr bwMode="auto">
            <a:xfrm>
              <a:off x="2218" y="3670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7" name="Freeform 21"/>
            <p:cNvSpPr>
              <a:spLocks/>
            </p:cNvSpPr>
            <p:nvPr/>
          </p:nvSpPr>
          <p:spPr bwMode="auto">
            <a:xfrm>
              <a:off x="3442" y="2956"/>
              <a:ext cx="144" cy="156"/>
            </a:xfrm>
            <a:custGeom>
              <a:avLst/>
              <a:gdLst>
                <a:gd name="T0" fmla="*/ 0 w 144"/>
                <a:gd name="T1" fmla="*/ 155 h 156"/>
                <a:gd name="T2" fmla="*/ 0 w 144"/>
                <a:gd name="T3" fmla="*/ 0 h 156"/>
                <a:gd name="T4" fmla="*/ 143 w 144"/>
                <a:gd name="T5" fmla="*/ 0 h 156"/>
                <a:gd name="T6" fmla="*/ 143 w 144"/>
                <a:gd name="T7" fmla="*/ 155 h 156"/>
                <a:gd name="T8" fmla="*/ 0 w 144"/>
                <a:gd name="T9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56">
                  <a:moveTo>
                    <a:pt x="0" y="155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5"/>
                  </a:lnTo>
                  <a:lnTo>
                    <a:pt x="0" y="155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Freeform 22"/>
            <p:cNvSpPr>
              <a:spLocks/>
            </p:cNvSpPr>
            <p:nvPr/>
          </p:nvSpPr>
          <p:spPr bwMode="auto">
            <a:xfrm>
              <a:off x="3644" y="2962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Freeform 23"/>
            <p:cNvSpPr>
              <a:spLocks/>
            </p:cNvSpPr>
            <p:nvPr/>
          </p:nvSpPr>
          <p:spPr bwMode="auto">
            <a:xfrm>
              <a:off x="4307" y="2962"/>
              <a:ext cx="144" cy="156"/>
            </a:xfrm>
            <a:custGeom>
              <a:avLst/>
              <a:gdLst>
                <a:gd name="T0" fmla="*/ 0 w 144"/>
                <a:gd name="T1" fmla="*/ 155 h 156"/>
                <a:gd name="T2" fmla="*/ 0 w 144"/>
                <a:gd name="T3" fmla="*/ 0 h 156"/>
                <a:gd name="T4" fmla="*/ 143 w 144"/>
                <a:gd name="T5" fmla="*/ 0 h 156"/>
                <a:gd name="T6" fmla="*/ 143 w 144"/>
                <a:gd name="T7" fmla="*/ 155 h 156"/>
                <a:gd name="T8" fmla="*/ 0 w 144"/>
                <a:gd name="T9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56">
                  <a:moveTo>
                    <a:pt x="0" y="155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5"/>
                  </a:lnTo>
                  <a:lnTo>
                    <a:pt x="0" y="155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0" name="Freeform 24"/>
            <p:cNvSpPr>
              <a:spLocks/>
            </p:cNvSpPr>
            <p:nvPr/>
          </p:nvSpPr>
          <p:spPr bwMode="auto">
            <a:xfrm>
              <a:off x="3961" y="302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1 w 25"/>
                <a:gd name="T3" fmla="*/ 0 h 36"/>
                <a:gd name="T4" fmla="*/ 0 w 25"/>
                <a:gd name="T5" fmla="*/ 18 h 36"/>
                <a:gd name="T6" fmla="*/ 11 w 25"/>
                <a:gd name="T7" fmla="*/ 35 h 36"/>
                <a:gd name="T8" fmla="*/ 24 w 25"/>
                <a:gd name="T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6">
                  <a:moveTo>
                    <a:pt x="24" y="18"/>
                  </a:moveTo>
                  <a:lnTo>
                    <a:pt x="11" y="0"/>
                  </a:lnTo>
                  <a:lnTo>
                    <a:pt x="0" y="18"/>
                  </a:lnTo>
                  <a:lnTo>
                    <a:pt x="11" y="35"/>
                  </a:lnTo>
                  <a:lnTo>
                    <a:pt x="24" y="18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Freeform 25"/>
            <p:cNvSpPr>
              <a:spLocks/>
            </p:cNvSpPr>
            <p:nvPr/>
          </p:nvSpPr>
          <p:spPr bwMode="auto">
            <a:xfrm>
              <a:off x="4045" y="3028"/>
              <a:ext cx="24" cy="36"/>
            </a:xfrm>
            <a:custGeom>
              <a:avLst/>
              <a:gdLst>
                <a:gd name="T0" fmla="*/ 23 w 24"/>
                <a:gd name="T1" fmla="*/ 18 h 36"/>
                <a:gd name="T2" fmla="*/ 11 w 24"/>
                <a:gd name="T3" fmla="*/ 0 h 36"/>
                <a:gd name="T4" fmla="*/ 0 w 24"/>
                <a:gd name="T5" fmla="*/ 18 h 36"/>
                <a:gd name="T6" fmla="*/ 11 w 24"/>
                <a:gd name="T7" fmla="*/ 35 h 36"/>
                <a:gd name="T8" fmla="*/ 23 w 24"/>
                <a:gd name="T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6">
                  <a:moveTo>
                    <a:pt x="23" y="18"/>
                  </a:moveTo>
                  <a:lnTo>
                    <a:pt x="11" y="0"/>
                  </a:lnTo>
                  <a:lnTo>
                    <a:pt x="0" y="18"/>
                  </a:lnTo>
                  <a:lnTo>
                    <a:pt x="11" y="35"/>
                  </a:lnTo>
                  <a:lnTo>
                    <a:pt x="23" y="18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Freeform 26"/>
            <p:cNvSpPr>
              <a:spLocks/>
            </p:cNvSpPr>
            <p:nvPr/>
          </p:nvSpPr>
          <p:spPr bwMode="auto">
            <a:xfrm>
              <a:off x="4134" y="302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1 w 25"/>
                <a:gd name="T3" fmla="*/ 0 h 36"/>
                <a:gd name="T4" fmla="*/ 0 w 25"/>
                <a:gd name="T5" fmla="*/ 18 h 36"/>
                <a:gd name="T6" fmla="*/ 11 w 25"/>
                <a:gd name="T7" fmla="*/ 35 h 36"/>
                <a:gd name="T8" fmla="*/ 24 w 25"/>
                <a:gd name="T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6">
                  <a:moveTo>
                    <a:pt x="24" y="18"/>
                  </a:moveTo>
                  <a:lnTo>
                    <a:pt x="11" y="0"/>
                  </a:lnTo>
                  <a:lnTo>
                    <a:pt x="0" y="18"/>
                  </a:lnTo>
                  <a:lnTo>
                    <a:pt x="11" y="35"/>
                  </a:lnTo>
                  <a:lnTo>
                    <a:pt x="24" y="18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Freeform 27"/>
            <p:cNvSpPr>
              <a:spLocks/>
            </p:cNvSpPr>
            <p:nvPr/>
          </p:nvSpPr>
          <p:spPr bwMode="auto">
            <a:xfrm>
              <a:off x="3408" y="2928"/>
              <a:ext cx="1102" cy="231"/>
            </a:xfrm>
            <a:custGeom>
              <a:avLst/>
              <a:gdLst>
                <a:gd name="T0" fmla="*/ 0 w 1102"/>
                <a:gd name="T1" fmla="*/ 230 h 231"/>
                <a:gd name="T2" fmla="*/ 0 w 1102"/>
                <a:gd name="T3" fmla="*/ 0 h 231"/>
                <a:gd name="T4" fmla="*/ 1101 w 1102"/>
                <a:gd name="T5" fmla="*/ 0 h 231"/>
                <a:gd name="T6" fmla="*/ 1101 w 1102"/>
                <a:gd name="T7" fmla="*/ 230 h 231"/>
                <a:gd name="T8" fmla="*/ 0 w 1102"/>
                <a:gd name="T9" fmla="*/ 23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231">
                  <a:moveTo>
                    <a:pt x="0" y="230"/>
                  </a:moveTo>
                  <a:lnTo>
                    <a:pt x="0" y="0"/>
                  </a:lnTo>
                  <a:lnTo>
                    <a:pt x="1101" y="0"/>
                  </a:lnTo>
                  <a:lnTo>
                    <a:pt x="1101" y="230"/>
                  </a:lnTo>
                  <a:lnTo>
                    <a:pt x="0" y="2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Freeform 28"/>
            <p:cNvSpPr>
              <a:spLocks/>
            </p:cNvSpPr>
            <p:nvPr/>
          </p:nvSpPr>
          <p:spPr bwMode="auto">
            <a:xfrm>
              <a:off x="4265" y="3414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chemeClr val="accent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5" name="Freeform 29"/>
            <p:cNvSpPr>
              <a:spLocks/>
            </p:cNvSpPr>
            <p:nvPr/>
          </p:nvSpPr>
          <p:spPr bwMode="auto">
            <a:xfrm>
              <a:off x="3227" y="2496"/>
              <a:ext cx="1526" cy="1393"/>
            </a:xfrm>
            <a:custGeom>
              <a:avLst/>
              <a:gdLst>
                <a:gd name="T0" fmla="*/ 0 w 1526"/>
                <a:gd name="T1" fmla="*/ 1392 h 1393"/>
                <a:gd name="T2" fmla="*/ 0 w 1526"/>
                <a:gd name="T3" fmla="*/ 0 h 1393"/>
                <a:gd name="T4" fmla="*/ 1525 w 1526"/>
                <a:gd name="T5" fmla="*/ 0 h 1393"/>
                <a:gd name="T6" fmla="*/ 1525 w 1526"/>
                <a:gd name="T7" fmla="*/ 1392 h 1393"/>
                <a:gd name="T8" fmla="*/ 0 w 1526"/>
                <a:gd name="T9" fmla="*/ 1392 h 1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6" h="1393">
                  <a:moveTo>
                    <a:pt x="0" y="1392"/>
                  </a:moveTo>
                  <a:lnTo>
                    <a:pt x="0" y="0"/>
                  </a:lnTo>
                  <a:lnTo>
                    <a:pt x="1525" y="0"/>
                  </a:lnTo>
                  <a:lnTo>
                    <a:pt x="1525" y="1392"/>
                  </a:lnTo>
                  <a:lnTo>
                    <a:pt x="0" y="139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86" name="Group 36"/>
            <p:cNvGrpSpPr>
              <a:grpSpLocks/>
            </p:cNvGrpSpPr>
            <p:nvPr/>
          </p:nvGrpSpPr>
          <p:grpSpPr bwMode="auto">
            <a:xfrm>
              <a:off x="5095" y="2868"/>
              <a:ext cx="197" cy="862"/>
              <a:chOff x="5095" y="2868"/>
              <a:chExt cx="197" cy="862"/>
            </a:xfrm>
          </p:grpSpPr>
          <p:sp>
            <p:nvSpPr>
              <p:cNvPr id="110" name="Freeform 30"/>
              <p:cNvSpPr>
                <a:spLocks/>
              </p:cNvSpPr>
              <p:nvPr/>
            </p:nvSpPr>
            <p:spPr bwMode="auto">
              <a:xfrm>
                <a:off x="5095" y="3396"/>
                <a:ext cx="25" cy="37"/>
              </a:xfrm>
              <a:custGeom>
                <a:avLst/>
                <a:gdLst>
                  <a:gd name="T0" fmla="*/ 24 w 25"/>
                  <a:gd name="T1" fmla="*/ 18 h 37"/>
                  <a:gd name="T2" fmla="*/ 12 w 25"/>
                  <a:gd name="T3" fmla="*/ 0 h 37"/>
                  <a:gd name="T4" fmla="*/ 0 w 25"/>
                  <a:gd name="T5" fmla="*/ 18 h 37"/>
                  <a:gd name="T6" fmla="*/ 12 w 25"/>
                  <a:gd name="T7" fmla="*/ 36 h 37"/>
                  <a:gd name="T8" fmla="*/ 24 w 25"/>
                  <a:gd name="T9" fmla="*/ 1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7">
                    <a:moveTo>
                      <a:pt x="24" y="18"/>
                    </a:moveTo>
                    <a:lnTo>
                      <a:pt x="12" y="0"/>
                    </a:lnTo>
                    <a:lnTo>
                      <a:pt x="0" y="18"/>
                    </a:lnTo>
                    <a:lnTo>
                      <a:pt x="12" y="36"/>
                    </a:lnTo>
                    <a:lnTo>
                      <a:pt x="24" y="18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31"/>
              <p:cNvSpPr>
                <a:spLocks/>
              </p:cNvSpPr>
              <p:nvPr/>
            </p:nvSpPr>
            <p:spPr bwMode="auto">
              <a:xfrm>
                <a:off x="5178" y="3396"/>
                <a:ext cx="25" cy="37"/>
              </a:xfrm>
              <a:custGeom>
                <a:avLst/>
                <a:gdLst>
                  <a:gd name="T0" fmla="*/ 24 w 25"/>
                  <a:gd name="T1" fmla="*/ 18 h 37"/>
                  <a:gd name="T2" fmla="*/ 12 w 25"/>
                  <a:gd name="T3" fmla="*/ 0 h 37"/>
                  <a:gd name="T4" fmla="*/ 0 w 25"/>
                  <a:gd name="T5" fmla="*/ 18 h 37"/>
                  <a:gd name="T6" fmla="*/ 12 w 25"/>
                  <a:gd name="T7" fmla="*/ 36 h 37"/>
                  <a:gd name="T8" fmla="*/ 24 w 25"/>
                  <a:gd name="T9" fmla="*/ 1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7">
                    <a:moveTo>
                      <a:pt x="24" y="18"/>
                    </a:moveTo>
                    <a:lnTo>
                      <a:pt x="12" y="0"/>
                    </a:lnTo>
                    <a:lnTo>
                      <a:pt x="0" y="18"/>
                    </a:lnTo>
                    <a:lnTo>
                      <a:pt x="12" y="36"/>
                    </a:lnTo>
                    <a:lnTo>
                      <a:pt x="24" y="18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32"/>
              <p:cNvSpPr>
                <a:spLocks/>
              </p:cNvSpPr>
              <p:nvPr/>
            </p:nvSpPr>
            <p:spPr bwMode="auto">
              <a:xfrm>
                <a:off x="5268" y="3396"/>
                <a:ext cx="24" cy="37"/>
              </a:xfrm>
              <a:custGeom>
                <a:avLst/>
                <a:gdLst>
                  <a:gd name="T0" fmla="*/ 23 w 24"/>
                  <a:gd name="T1" fmla="*/ 18 h 37"/>
                  <a:gd name="T2" fmla="*/ 12 w 24"/>
                  <a:gd name="T3" fmla="*/ 0 h 37"/>
                  <a:gd name="T4" fmla="*/ 0 w 24"/>
                  <a:gd name="T5" fmla="*/ 18 h 37"/>
                  <a:gd name="T6" fmla="*/ 12 w 24"/>
                  <a:gd name="T7" fmla="*/ 36 h 37"/>
                  <a:gd name="T8" fmla="*/ 23 w 24"/>
                  <a:gd name="T9" fmla="*/ 1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7">
                    <a:moveTo>
                      <a:pt x="23" y="18"/>
                    </a:moveTo>
                    <a:lnTo>
                      <a:pt x="12" y="0"/>
                    </a:lnTo>
                    <a:lnTo>
                      <a:pt x="0" y="18"/>
                    </a:lnTo>
                    <a:lnTo>
                      <a:pt x="12" y="36"/>
                    </a:lnTo>
                    <a:lnTo>
                      <a:pt x="23" y="18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33"/>
              <p:cNvSpPr>
                <a:spLocks/>
              </p:cNvSpPr>
              <p:nvPr/>
            </p:nvSpPr>
            <p:spPr bwMode="auto">
              <a:xfrm>
                <a:off x="5131" y="2868"/>
                <a:ext cx="144" cy="155"/>
              </a:xfrm>
              <a:custGeom>
                <a:avLst/>
                <a:gdLst>
                  <a:gd name="T0" fmla="*/ 0 w 144"/>
                  <a:gd name="T1" fmla="*/ 154 h 155"/>
                  <a:gd name="T2" fmla="*/ 0 w 144"/>
                  <a:gd name="T3" fmla="*/ 0 h 155"/>
                  <a:gd name="T4" fmla="*/ 143 w 144"/>
                  <a:gd name="T5" fmla="*/ 0 h 155"/>
                  <a:gd name="T6" fmla="*/ 143 w 144"/>
                  <a:gd name="T7" fmla="*/ 154 h 155"/>
                  <a:gd name="T8" fmla="*/ 0 w 144"/>
                  <a:gd name="T9" fmla="*/ 15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155">
                    <a:moveTo>
                      <a:pt x="0" y="154"/>
                    </a:moveTo>
                    <a:lnTo>
                      <a:pt x="0" y="0"/>
                    </a:lnTo>
                    <a:lnTo>
                      <a:pt x="143" y="0"/>
                    </a:lnTo>
                    <a:lnTo>
                      <a:pt x="143" y="154"/>
                    </a:lnTo>
                    <a:lnTo>
                      <a:pt x="0" y="154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4" name="Freeform 34"/>
              <p:cNvSpPr>
                <a:spLocks/>
              </p:cNvSpPr>
              <p:nvPr/>
            </p:nvSpPr>
            <p:spPr bwMode="auto">
              <a:xfrm>
                <a:off x="5131" y="3093"/>
                <a:ext cx="144" cy="156"/>
              </a:xfrm>
              <a:custGeom>
                <a:avLst/>
                <a:gdLst>
                  <a:gd name="T0" fmla="*/ 0 w 144"/>
                  <a:gd name="T1" fmla="*/ 155 h 156"/>
                  <a:gd name="T2" fmla="*/ 0 w 144"/>
                  <a:gd name="T3" fmla="*/ 0 h 156"/>
                  <a:gd name="T4" fmla="*/ 143 w 144"/>
                  <a:gd name="T5" fmla="*/ 0 h 156"/>
                  <a:gd name="T6" fmla="*/ 143 w 144"/>
                  <a:gd name="T7" fmla="*/ 155 h 156"/>
                  <a:gd name="T8" fmla="*/ 0 w 144"/>
                  <a:gd name="T9" fmla="*/ 155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156">
                    <a:moveTo>
                      <a:pt x="0" y="155"/>
                    </a:moveTo>
                    <a:lnTo>
                      <a:pt x="0" y="0"/>
                    </a:lnTo>
                    <a:lnTo>
                      <a:pt x="143" y="0"/>
                    </a:lnTo>
                    <a:lnTo>
                      <a:pt x="143" y="155"/>
                    </a:lnTo>
                    <a:lnTo>
                      <a:pt x="0" y="155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5" name="Freeform 35"/>
              <p:cNvSpPr>
                <a:spLocks/>
              </p:cNvSpPr>
              <p:nvPr/>
            </p:nvSpPr>
            <p:spPr bwMode="auto">
              <a:xfrm>
                <a:off x="5131" y="3575"/>
                <a:ext cx="144" cy="155"/>
              </a:xfrm>
              <a:custGeom>
                <a:avLst/>
                <a:gdLst>
                  <a:gd name="T0" fmla="*/ 0 w 144"/>
                  <a:gd name="T1" fmla="*/ 154 h 155"/>
                  <a:gd name="T2" fmla="*/ 0 w 144"/>
                  <a:gd name="T3" fmla="*/ 0 h 155"/>
                  <a:gd name="T4" fmla="*/ 143 w 144"/>
                  <a:gd name="T5" fmla="*/ 0 h 155"/>
                  <a:gd name="T6" fmla="*/ 143 w 144"/>
                  <a:gd name="T7" fmla="*/ 154 h 155"/>
                  <a:gd name="T8" fmla="*/ 0 w 144"/>
                  <a:gd name="T9" fmla="*/ 15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155">
                    <a:moveTo>
                      <a:pt x="0" y="154"/>
                    </a:moveTo>
                    <a:lnTo>
                      <a:pt x="0" y="0"/>
                    </a:lnTo>
                    <a:lnTo>
                      <a:pt x="143" y="0"/>
                    </a:lnTo>
                    <a:lnTo>
                      <a:pt x="143" y="154"/>
                    </a:lnTo>
                    <a:lnTo>
                      <a:pt x="0" y="154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7" name="Rectangle 37"/>
            <p:cNvSpPr>
              <a:spLocks noChangeArrowheads="1"/>
            </p:cNvSpPr>
            <p:nvPr/>
          </p:nvSpPr>
          <p:spPr bwMode="auto">
            <a:xfrm>
              <a:off x="3195" y="3882"/>
              <a:ext cx="158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 main memory buffers</a:t>
              </a:r>
            </a:p>
          </p:txBody>
        </p:sp>
        <p:sp>
          <p:nvSpPr>
            <p:cNvPr id="88" name="Rectangle 38"/>
            <p:cNvSpPr>
              <a:spLocks noChangeArrowheads="1"/>
            </p:cNvSpPr>
            <p:nvPr/>
          </p:nvSpPr>
          <p:spPr bwMode="auto">
            <a:xfrm>
              <a:off x="2319" y="3917"/>
              <a:ext cx="3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Disk</a:t>
              </a:r>
            </a:p>
          </p:txBody>
        </p:sp>
        <p:sp>
          <p:nvSpPr>
            <p:cNvPr id="89" name="Rectangle 39"/>
            <p:cNvSpPr>
              <a:spLocks noChangeArrowheads="1"/>
            </p:cNvSpPr>
            <p:nvPr/>
          </p:nvSpPr>
          <p:spPr bwMode="auto">
            <a:xfrm>
              <a:off x="4127" y="3546"/>
              <a:ext cx="491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Output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buffer</a:t>
              </a:r>
            </a:p>
          </p:txBody>
        </p:sp>
        <p:sp>
          <p:nvSpPr>
            <p:cNvPr id="90" name="Rectangle 40"/>
            <p:cNvSpPr>
              <a:spLocks noChangeArrowheads="1"/>
            </p:cNvSpPr>
            <p:nvPr/>
          </p:nvSpPr>
          <p:spPr bwMode="auto">
            <a:xfrm>
              <a:off x="4998" y="3882"/>
              <a:ext cx="3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Disk</a:t>
              </a:r>
            </a:p>
          </p:txBody>
        </p:sp>
        <p:sp>
          <p:nvSpPr>
            <p:cNvPr id="91" name="Rectangle 41"/>
            <p:cNvSpPr>
              <a:spLocks noChangeArrowheads="1"/>
            </p:cNvSpPr>
            <p:nvPr/>
          </p:nvSpPr>
          <p:spPr bwMode="auto">
            <a:xfrm>
              <a:off x="4806" y="2352"/>
              <a:ext cx="80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Join Result</a:t>
              </a:r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2833" y="270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93" name="Rectangle 43"/>
            <p:cNvSpPr>
              <a:spLocks noChangeArrowheads="1"/>
            </p:cNvSpPr>
            <p:nvPr/>
          </p:nvSpPr>
          <p:spPr bwMode="auto">
            <a:xfrm>
              <a:off x="2862" y="2838"/>
              <a:ext cx="22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fn</a:t>
              </a:r>
            </a:p>
          </p:txBody>
        </p:sp>
        <p:sp>
          <p:nvSpPr>
            <p:cNvPr id="94" name="Rectangle 44"/>
            <p:cNvSpPr>
              <a:spLocks noChangeArrowheads="1"/>
            </p:cNvSpPr>
            <p:nvPr/>
          </p:nvSpPr>
          <p:spPr bwMode="auto">
            <a:xfrm>
              <a:off x="2867" y="2968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3365FB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h2</a:t>
              </a:r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3747" y="3264"/>
              <a:ext cx="24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3365FB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h2</a:t>
              </a:r>
            </a:p>
          </p:txBody>
        </p:sp>
        <p:grpSp>
          <p:nvGrpSpPr>
            <p:cNvPr id="96" name="Group 50"/>
            <p:cNvGrpSpPr>
              <a:grpSpLocks/>
            </p:cNvGrpSpPr>
            <p:nvPr/>
          </p:nvGrpSpPr>
          <p:grpSpPr bwMode="auto">
            <a:xfrm>
              <a:off x="2161" y="2644"/>
              <a:ext cx="671" cy="1273"/>
              <a:chOff x="2161" y="2644"/>
              <a:chExt cx="671" cy="1273"/>
            </a:xfrm>
          </p:grpSpPr>
          <p:sp>
            <p:nvSpPr>
              <p:cNvPr id="106" name="Oval 46"/>
              <p:cNvSpPr>
                <a:spLocks noChangeArrowheads="1"/>
              </p:cNvSpPr>
              <p:nvPr/>
            </p:nvSpPr>
            <p:spPr bwMode="auto">
              <a:xfrm>
                <a:off x="2165" y="2644"/>
                <a:ext cx="663" cy="88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7" name="Line 47"/>
              <p:cNvSpPr>
                <a:spLocks noChangeShapeType="1"/>
              </p:cNvSpPr>
              <p:nvPr/>
            </p:nvSpPr>
            <p:spPr bwMode="auto">
              <a:xfrm>
                <a:off x="2161" y="2692"/>
                <a:ext cx="0" cy="114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8" name="Line 48"/>
              <p:cNvSpPr>
                <a:spLocks noChangeShapeType="1"/>
              </p:cNvSpPr>
              <p:nvPr/>
            </p:nvSpPr>
            <p:spPr bwMode="auto">
              <a:xfrm>
                <a:off x="2832" y="2692"/>
                <a:ext cx="0" cy="114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9" name="Arc 49"/>
              <p:cNvSpPr>
                <a:spLocks/>
              </p:cNvSpPr>
              <p:nvPr/>
            </p:nvSpPr>
            <p:spPr bwMode="auto">
              <a:xfrm>
                <a:off x="2163" y="3843"/>
                <a:ext cx="663" cy="74"/>
              </a:xfrm>
              <a:custGeom>
                <a:avLst/>
                <a:gdLst>
                  <a:gd name="G0" fmla="+- 21600 0 0"/>
                  <a:gd name="G1" fmla="+- 602 0 0"/>
                  <a:gd name="G2" fmla="+- 21600 0 0"/>
                  <a:gd name="T0" fmla="*/ 43192 w 43200"/>
                  <a:gd name="T1" fmla="*/ 0 h 22202"/>
                  <a:gd name="T2" fmla="*/ 0 w 43200"/>
                  <a:gd name="T3" fmla="*/ 602 h 22202"/>
                  <a:gd name="T4" fmla="*/ 21600 w 43200"/>
                  <a:gd name="T5" fmla="*/ 602 h 22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202" fill="none" extrusionOk="0">
                    <a:moveTo>
                      <a:pt x="43191" y="0"/>
                    </a:moveTo>
                    <a:cubicBezTo>
                      <a:pt x="43197" y="200"/>
                      <a:pt x="43200" y="401"/>
                      <a:pt x="43200" y="602"/>
                    </a:cubicBezTo>
                    <a:cubicBezTo>
                      <a:pt x="43200" y="12531"/>
                      <a:pt x="33529" y="22202"/>
                      <a:pt x="21600" y="22202"/>
                    </a:cubicBezTo>
                    <a:cubicBezTo>
                      <a:pt x="9670" y="22202"/>
                      <a:pt x="0" y="12531"/>
                      <a:pt x="0" y="602"/>
                    </a:cubicBezTo>
                  </a:path>
                  <a:path w="43200" h="22202" stroke="0" extrusionOk="0">
                    <a:moveTo>
                      <a:pt x="43191" y="0"/>
                    </a:moveTo>
                    <a:cubicBezTo>
                      <a:pt x="43197" y="200"/>
                      <a:pt x="43200" y="401"/>
                      <a:pt x="43200" y="602"/>
                    </a:cubicBezTo>
                    <a:cubicBezTo>
                      <a:pt x="43200" y="12531"/>
                      <a:pt x="33529" y="22202"/>
                      <a:pt x="21600" y="22202"/>
                    </a:cubicBezTo>
                    <a:cubicBezTo>
                      <a:pt x="9670" y="22202"/>
                      <a:pt x="0" y="12531"/>
                      <a:pt x="0" y="602"/>
                    </a:cubicBezTo>
                    <a:lnTo>
                      <a:pt x="21600" y="602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7" name="Group 55"/>
            <p:cNvGrpSpPr>
              <a:grpSpLocks/>
            </p:cNvGrpSpPr>
            <p:nvPr/>
          </p:nvGrpSpPr>
          <p:grpSpPr bwMode="auto">
            <a:xfrm>
              <a:off x="4944" y="2692"/>
              <a:ext cx="528" cy="1180"/>
              <a:chOff x="4944" y="2692"/>
              <a:chExt cx="528" cy="1180"/>
            </a:xfrm>
          </p:grpSpPr>
          <p:sp>
            <p:nvSpPr>
              <p:cNvPr id="102" name="Oval 51"/>
              <p:cNvSpPr>
                <a:spLocks noChangeArrowheads="1"/>
              </p:cNvSpPr>
              <p:nvPr/>
            </p:nvSpPr>
            <p:spPr bwMode="auto">
              <a:xfrm>
                <a:off x="4948" y="2692"/>
                <a:ext cx="520" cy="81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3" name="Line 52"/>
              <p:cNvSpPr>
                <a:spLocks noChangeShapeType="1"/>
              </p:cNvSpPr>
              <p:nvPr/>
            </p:nvSpPr>
            <p:spPr bwMode="auto">
              <a:xfrm>
                <a:off x="4944" y="2736"/>
                <a:ext cx="0" cy="1058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4" name="Line 53"/>
              <p:cNvSpPr>
                <a:spLocks noChangeShapeType="1"/>
              </p:cNvSpPr>
              <p:nvPr/>
            </p:nvSpPr>
            <p:spPr bwMode="auto">
              <a:xfrm>
                <a:off x="5472" y="2736"/>
                <a:ext cx="0" cy="1058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Arc 54"/>
              <p:cNvSpPr>
                <a:spLocks/>
              </p:cNvSpPr>
              <p:nvPr/>
            </p:nvSpPr>
            <p:spPr bwMode="auto">
              <a:xfrm>
                <a:off x="4946" y="3800"/>
                <a:ext cx="520" cy="72"/>
              </a:xfrm>
              <a:custGeom>
                <a:avLst/>
                <a:gdLst>
                  <a:gd name="G0" fmla="+- 21600 0 0"/>
                  <a:gd name="G1" fmla="+- 1607 0 0"/>
                  <a:gd name="G2" fmla="+- 21600 0 0"/>
                  <a:gd name="T0" fmla="*/ 43178 w 43200"/>
                  <a:gd name="T1" fmla="*/ 637 h 23207"/>
                  <a:gd name="T2" fmla="*/ 60 w 43200"/>
                  <a:gd name="T3" fmla="*/ 0 h 23207"/>
                  <a:gd name="T4" fmla="*/ 21600 w 43200"/>
                  <a:gd name="T5" fmla="*/ 1607 h 23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207" fill="none" extrusionOk="0">
                    <a:moveTo>
                      <a:pt x="43178" y="636"/>
                    </a:moveTo>
                    <a:cubicBezTo>
                      <a:pt x="43192" y="960"/>
                      <a:pt x="43200" y="1283"/>
                      <a:pt x="43200" y="1607"/>
                    </a:cubicBezTo>
                    <a:cubicBezTo>
                      <a:pt x="43200" y="13536"/>
                      <a:pt x="33529" y="23207"/>
                      <a:pt x="21600" y="23207"/>
                    </a:cubicBezTo>
                    <a:cubicBezTo>
                      <a:pt x="9670" y="23207"/>
                      <a:pt x="0" y="13536"/>
                      <a:pt x="0" y="1607"/>
                    </a:cubicBezTo>
                    <a:cubicBezTo>
                      <a:pt x="-1" y="1070"/>
                      <a:pt x="19" y="534"/>
                      <a:pt x="59" y="-1"/>
                    </a:cubicBezTo>
                  </a:path>
                  <a:path w="43200" h="23207" stroke="0" extrusionOk="0">
                    <a:moveTo>
                      <a:pt x="43178" y="636"/>
                    </a:moveTo>
                    <a:cubicBezTo>
                      <a:pt x="43192" y="960"/>
                      <a:pt x="43200" y="1283"/>
                      <a:pt x="43200" y="1607"/>
                    </a:cubicBezTo>
                    <a:cubicBezTo>
                      <a:pt x="43200" y="13536"/>
                      <a:pt x="33529" y="23207"/>
                      <a:pt x="21600" y="23207"/>
                    </a:cubicBezTo>
                    <a:cubicBezTo>
                      <a:pt x="9670" y="23207"/>
                      <a:pt x="0" y="13536"/>
                      <a:pt x="0" y="1607"/>
                    </a:cubicBezTo>
                    <a:cubicBezTo>
                      <a:pt x="-1" y="1070"/>
                      <a:pt x="19" y="534"/>
                      <a:pt x="59" y="-1"/>
                    </a:cubicBezTo>
                    <a:lnTo>
                      <a:pt x="21600" y="1607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8" name="Line 56"/>
            <p:cNvSpPr>
              <a:spLocks noChangeShapeType="1"/>
            </p:cNvSpPr>
            <p:nvPr/>
          </p:nvSpPr>
          <p:spPr bwMode="auto">
            <a:xfrm>
              <a:off x="2836" y="3168"/>
              <a:ext cx="56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9" name="Line 57"/>
            <p:cNvSpPr>
              <a:spLocks noChangeShapeType="1"/>
            </p:cNvSpPr>
            <p:nvPr/>
          </p:nvSpPr>
          <p:spPr bwMode="auto">
            <a:xfrm>
              <a:off x="2836" y="3504"/>
              <a:ext cx="66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0" name="Freeform 58"/>
            <p:cNvSpPr>
              <a:spLocks/>
            </p:cNvSpPr>
            <p:nvPr/>
          </p:nvSpPr>
          <p:spPr bwMode="auto">
            <a:xfrm>
              <a:off x="3600" y="3168"/>
              <a:ext cx="193" cy="289"/>
            </a:xfrm>
            <a:custGeom>
              <a:avLst/>
              <a:gdLst>
                <a:gd name="T0" fmla="*/ 0 w 193"/>
                <a:gd name="T1" fmla="*/ 288 h 289"/>
                <a:gd name="T2" fmla="*/ 192 w 193"/>
                <a:gd name="T3" fmla="*/ 173 h 289"/>
                <a:gd name="T4" fmla="*/ 188 w 193"/>
                <a:gd name="T5" fmla="*/ 145 h 289"/>
                <a:gd name="T6" fmla="*/ 0 w 193"/>
                <a:gd name="T7" fmla="*/ 115 h 289"/>
                <a:gd name="T8" fmla="*/ 192 w 193"/>
                <a:gd name="T9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289">
                  <a:moveTo>
                    <a:pt x="0" y="288"/>
                  </a:moveTo>
                  <a:lnTo>
                    <a:pt x="192" y="173"/>
                  </a:lnTo>
                  <a:lnTo>
                    <a:pt x="188" y="145"/>
                  </a:lnTo>
                  <a:lnTo>
                    <a:pt x="0" y="115"/>
                  </a:lnTo>
                  <a:lnTo>
                    <a:pt x="192" y="0"/>
                  </a:lnTo>
                </a:path>
              </a:pathLst>
            </a:custGeom>
            <a:noFill/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1" name="Line 59"/>
            <p:cNvSpPr>
              <a:spLocks noChangeShapeType="1"/>
            </p:cNvSpPr>
            <p:nvPr/>
          </p:nvSpPr>
          <p:spPr bwMode="auto">
            <a:xfrm>
              <a:off x="4420" y="3504"/>
              <a:ext cx="52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316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>
            <a:extLst>
              <a:ext uri="{FF2B5EF4-FFF2-40B4-BE49-F238E27FC236}">
                <a16:creationId xmlns:a16="http://schemas.microsoft.com/office/drawing/2014/main" id="{4A8C7246-B5CA-4016-A4F1-92AB9F443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Complex Joins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157C20A5-724E-4FAD-A218-59AA7A2019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8" y="1189875"/>
            <a:ext cx="7636318" cy="4335777"/>
          </a:xfrm>
        </p:spPr>
        <p:txBody>
          <a:bodyPr/>
          <a:lstStyle/>
          <a:p>
            <a:pPr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Join with a conjunctive condition:</a:t>
            </a:r>
          </a:p>
          <a:p>
            <a:pPr>
              <a:buFont typeface="Monotype Sorts" pitchFamily="-65" charset="2"/>
              <a:buNone/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 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2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...  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s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Either use nested loops/block nested loops, or</a:t>
            </a:r>
          </a:p>
          <a:p>
            <a:pPr lvl="1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Compute the result of one of the simpler joins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s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2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final result comprises those tuples in the intermediate result that satisfy the remaining conditions</a:t>
            </a:r>
          </a:p>
          <a:p>
            <a:pPr lvl="1">
              <a:buFont typeface="Monotype Sorts" pitchFamily="-65" charset="2"/>
              <a:buNone/>
              <a:tabLst>
                <a:tab pos="3030538" algn="ctr"/>
              </a:tabLst>
            </a:pP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		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 . . .  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–1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 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+1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 . . .  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Join with a disjunctive condition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</a:p>
          <a:p>
            <a:pPr lvl="1">
              <a:buFont typeface="Monotype Sorts" pitchFamily="-65" charset="2"/>
              <a:buNone/>
              <a:tabLst>
                <a:tab pos="3030538" algn="ctr"/>
              </a:tabLst>
            </a:pP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		 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 </a:t>
            </a:r>
            <a:r>
              <a:rPr lang="en-US" altLang="en-US" baseline="-46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...  </a:t>
            </a:r>
            <a:r>
              <a:rPr lang="en-US" altLang="en-US" i="1" baseline="-46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 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Either use nested loops/block nested loops, or</a:t>
            </a:r>
          </a:p>
          <a:p>
            <a:pPr lvl="1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Compute as the union of the records in individual joins 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46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s:</a:t>
            </a:r>
          </a:p>
          <a:p>
            <a:pPr lvl="1">
              <a:buFont typeface="Monotype Sorts" pitchFamily="-65" charset="2"/>
              <a:buNone/>
              <a:tabLst>
                <a:tab pos="3030538" algn="ctr"/>
              </a:tabLst>
            </a:pP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		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)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 (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s)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 . . .  (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46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s) 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buFont typeface="Monotype Sorts" pitchFamily="-65" charset="2"/>
              <a:buNone/>
              <a:tabLst>
                <a:tab pos="3030538" algn="ctr"/>
              </a:tabLst>
            </a:pPr>
            <a:endParaRPr lang="en-US" altLang="en-US" i="1" baseline="-25000" dirty="0">
              <a:ea typeface="MS PGothic" panose="020B0600070205080204" pitchFamily="34" charset="-128"/>
              <a:sym typeface="Greek Symbols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>
            <a:extLst>
              <a:ext uri="{FF2B5EF4-FFF2-40B4-BE49-F238E27FC236}">
                <a16:creationId xmlns:a16="http://schemas.microsoft.com/office/drawing/2014/main" id="{F9DEBEE7-80B5-46A7-AA65-8A28BCE01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2B0884B-0A2B-4136-9A5F-5EA2E3782C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6" y="1162656"/>
            <a:ext cx="7269060" cy="3180743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Duplicate elimination </a:t>
            </a:r>
            <a:r>
              <a:rPr lang="en-US" altLang="en-US" dirty="0">
                <a:ea typeface="MS PGothic" panose="020B0600070205080204" pitchFamily="34" charset="-128"/>
              </a:rPr>
              <a:t>can be implemented via hashing or sorting.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On sorting duplicates will come adjacent to each other, and all but one set of duplicates can be deleted.  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Optimization: </a:t>
            </a:r>
            <a:r>
              <a:rPr lang="en-US" altLang="en-US" dirty="0">
                <a:ea typeface="MS PGothic" panose="020B0600070205080204" pitchFamily="34" charset="-128"/>
              </a:rPr>
              <a:t>duplicates can be deleted during run generation as well as at intermediate merge steps in external sort-merge.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Hashing is similar – duplicates will come into the same bucket.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Projection</a:t>
            </a:r>
            <a:r>
              <a:rPr lang="en-US" altLang="en-US" dirty="0">
                <a:ea typeface="MS PGothic" panose="020B0600070205080204" pitchFamily="34" charset="-128"/>
              </a:rPr>
              <a:t>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perform projection on each tuple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followed by duplicate elimination. </a:t>
            </a:r>
            <a:endParaRPr lang="en-US" altLang="en-US" b="1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2B4C0383-7AD0-4209-99D3-21904BE02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Aggregation</a:t>
            </a:r>
          </a:p>
        </p:txBody>
      </p:sp>
      <p:sp>
        <p:nvSpPr>
          <p:cNvPr id="351235" name="Rectangle 3">
            <a:extLst>
              <a:ext uri="{FF2B5EF4-FFF2-40B4-BE49-F238E27FC236}">
                <a16:creationId xmlns:a16="http://schemas.microsoft.com/office/drawing/2014/main" id="{3F09A406-91F2-42A0-9BDA-1A19D3843C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0012" y="1234849"/>
            <a:ext cx="7254458" cy="440796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Aggregation</a:t>
            </a:r>
            <a:r>
              <a:rPr lang="en-US" altLang="en-US" dirty="0">
                <a:ea typeface="MS PGothic" panose="020B0600070205080204" pitchFamily="34" charset="-128"/>
              </a:rPr>
              <a:t> can be implemented in a manner similar to duplicate elimination.</a:t>
            </a:r>
          </a:p>
          <a:p>
            <a:pPr lvl="1"/>
            <a:r>
              <a:rPr lang="en-US" altLang="en-US" b="1" dirty="0">
                <a:ea typeface="MS PGothic" panose="020B0600070205080204" pitchFamily="34" charset="-128"/>
              </a:rPr>
              <a:t>Sorting</a:t>
            </a:r>
            <a:r>
              <a:rPr lang="en-US" altLang="en-US" dirty="0">
                <a:ea typeface="MS PGothic" panose="020B0600070205080204" pitchFamily="34" charset="-128"/>
              </a:rPr>
              <a:t> or </a:t>
            </a:r>
            <a:r>
              <a:rPr lang="en-US" altLang="en-US" b="1" dirty="0">
                <a:ea typeface="MS PGothic" panose="020B0600070205080204" pitchFamily="34" charset="-128"/>
              </a:rPr>
              <a:t>hashing</a:t>
            </a:r>
            <a:r>
              <a:rPr lang="en-US" altLang="en-US" dirty="0">
                <a:ea typeface="MS PGothic" panose="020B0600070205080204" pitchFamily="34" charset="-128"/>
              </a:rPr>
              <a:t> can be used to bring tuples in the same group together, and then the aggregate functions can be applied on each group.</a:t>
            </a:r>
            <a:r>
              <a:rPr lang="en-US" altLang="en-US" b="1" dirty="0">
                <a:ea typeface="MS PGothic" panose="020B0600070205080204" pitchFamily="34" charset="-128"/>
              </a:rPr>
              <a:t>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Optimization</a:t>
            </a:r>
            <a:r>
              <a:rPr lang="en-US" altLang="en-US" i="1" dirty="0">
                <a:ea typeface="MS PGothic" panose="020B0600070205080204" pitchFamily="34" charset="-128"/>
              </a:rPr>
              <a:t>: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partial aggregation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combine tuples in the same group during run generation and intermediate merges, by computing partial aggregate values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For count, min, max, sum: keep aggregate values on tuples found so far in the group.  </a:t>
            </a:r>
          </a:p>
          <a:p>
            <a:pPr lvl="3"/>
            <a:r>
              <a:rPr lang="en-US" altLang="en-US" dirty="0">
                <a:ea typeface="MS PGothic" panose="020B0600070205080204" pitchFamily="34" charset="-128"/>
              </a:rPr>
              <a:t>When combining partial aggregate for count, add up the partial aggregates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lang="en-US" altLang="en-US" dirty="0" err="1">
                <a:ea typeface="MS PGothic" panose="020B0600070205080204" pitchFamily="34" charset="-128"/>
              </a:rPr>
              <a:t>avg</a:t>
            </a:r>
            <a:r>
              <a:rPr lang="en-US" altLang="en-US" dirty="0">
                <a:ea typeface="MS PGothic" panose="020B0600070205080204" pitchFamily="34" charset="-128"/>
              </a:rPr>
              <a:t>, keep sum and count, and divide sum by count at the 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AB807669-EBD0-4AC5-BCFA-DBF3B62A4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Set Operations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E40900F-A6E6-4645-B453-267190B4D6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282973"/>
            <a:ext cx="7483875" cy="3758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Set operations </a:t>
            </a:r>
            <a:r>
              <a:rPr lang="en-US" altLang="en-US" dirty="0">
                <a:ea typeface="MS PGothic" panose="020B0600070205080204" pitchFamily="34" charset="-128"/>
              </a:rPr>
              <a:t>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,  and ):  can either use variant of merge-join after sorting, or variant of hash-join.</a:t>
            </a:r>
            <a:endParaRPr lang="en-US" altLang="en-US" b="1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E.g., Set operations using hashing: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dirty="0">
                <a:ea typeface="MS PGothic" panose="020B0600070205080204" pitchFamily="34" charset="-128"/>
              </a:rPr>
              <a:t>Partition both relations using the same hash function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2.   </a:t>
            </a:r>
            <a:r>
              <a:rPr lang="en-US" altLang="en-US" dirty="0">
                <a:ea typeface="MS PGothic" panose="020B0600070205080204" pitchFamily="34" charset="-128"/>
              </a:rPr>
              <a:t>Process each partition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as follows.  </a:t>
            </a:r>
          </a:p>
          <a:p>
            <a:pPr marL="1200150" lvl="2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Using a different hashing function, build an in-memory hash index on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.</a:t>
            </a:r>
          </a:p>
          <a:p>
            <a:pPr marL="1200150" lvl="2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Process </a:t>
            </a:r>
            <a:r>
              <a:rPr lang="en-US" altLang="en-US" dirty="0" err="1">
                <a:ea typeface="MS PGothic" panose="020B0600070205080204" pitchFamily="34" charset="-128"/>
              </a:rPr>
              <a:t>s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as follows</a:t>
            </a:r>
          </a:p>
          <a:p>
            <a:pPr lvl="3">
              <a:lnSpc>
                <a:spcPct val="90000"/>
              </a:lnSpc>
            </a:pP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:  </a:t>
            </a:r>
          </a:p>
          <a:p>
            <a:pPr marL="1885950" lvl="4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Add tuples in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to the hash index if they are not already in it.  </a:t>
            </a:r>
          </a:p>
          <a:p>
            <a:pPr marL="1885950" lvl="4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At end of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add the tuples in the hash index to the result.</a:t>
            </a:r>
          </a:p>
        </p:txBody>
      </p:sp>
    </p:spTree>
    <p:extLst>
      <p:ext uri="{BB962C8B-B14F-4D97-AF65-F5344CB8AC3E}">
        <p14:creationId xmlns:p14="http://schemas.microsoft.com/office/powerpoint/2010/main" val="22405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96624044-35CC-40EB-823F-BAC444890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Set Operations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A6EF4BE5-C57A-4CB8-A83E-7C7C1A09D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7" y="1207363"/>
            <a:ext cx="7518568" cy="4204861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E.g., Set operations using hashing: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dirty="0">
                <a:ea typeface="MS PGothic" panose="020B0600070205080204" pitchFamily="34" charset="-128"/>
              </a:rPr>
              <a:t>as before partition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i="1" dirty="0">
                <a:ea typeface="MS PGothic" panose="020B0600070205080204" pitchFamily="34" charset="-128"/>
              </a:rPr>
              <a:t>s, 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2.</a:t>
            </a:r>
            <a:r>
              <a:rPr lang="en-US" altLang="en-US" dirty="0">
                <a:ea typeface="MS PGothic" panose="020B0600070205080204" pitchFamily="34" charset="-128"/>
              </a:rPr>
              <a:t>   as before, process each partition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as follows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build a hash index on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Process </a:t>
            </a:r>
            <a:r>
              <a:rPr lang="en-US" altLang="en-US" dirty="0" err="1">
                <a:ea typeface="MS PGothic" panose="020B0600070205080204" pitchFamily="34" charset="-128"/>
              </a:rPr>
              <a:t>s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as follows</a:t>
            </a:r>
          </a:p>
          <a:p>
            <a:pPr lvl="3"/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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: </a:t>
            </a:r>
          </a:p>
          <a:p>
            <a:pPr marL="1885950" lvl="4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output tuples in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the result if they are already there in the hash index</a:t>
            </a:r>
          </a:p>
          <a:p>
            <a:pPr lvl="3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–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s: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</a:p>
          <a:p>
            <a:pPr marL="1885950" lvl="4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each tuple in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,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it is there in the hash index, delete it from the index. </a:t>
            </a:r>
          </a:p>
          <a:p>
            <a:pPr marL="1885950" lvl="4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At end of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add remaining tuples in the hash index to the result. </a:t>
            </a:r>
          </a:p>
        </p:txBody>
      </p:sp>
    </p:spTree>
    <p:extLst>
      <p:ext uri="{BB962C8B-B14F-4D97-AF65-F5344CB8AC3E}">
        <p14:creationId xmlns:p14="http://schemas.microsoft.com/office/powerpoint/2010/main" val="139502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710A1-4CA4-4055-838A-69DE09ED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Answering Keyword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7DBF9-4BCB-465F-8DFB-F4E603AAF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9" y="1171852"/>
            <a:ext cx="7359588" cy="4013760"/>
          </a:xfrm>
        </p:spPr>
        <p:txBody>
          <a:bodyPr/>
          <a:lstStyle/>
          <a:p>
            <a:r>
              <a:rPr lang="en-IN" dirty="0"/>
              <a:t>Indices mapping keywords to documents</a:t>
            </a:r>
          </a:p>
          <a:p>
            <a:pPr lvl="1"/>
            <a:r>
              <a:rPr lang="en-IN" dirty="0"/>
              <a:t>For each keyword, store sorted list of document IDs that contain the keyword</a:t>
            </a:r>
          </a:p>
          <a:p>
            <a:pPr lvl="2"/>
            <a:r>
              <a:rPr lang="en-IN" dirty="0"/>
              <a:t>Commonly referred to as a </a:t>
            </a:r>
            <a:r>
              <a:rPr lang="en-IN" b="1" dirty="0">
                <a:solidFill>
                  <a:srgbClr val="002060"/>
                </a:solidFill>
              </a:rPr>
              <a:t>inverted index</a:t>
            </a:r>
          </a:p>
          <a:p>
            <a:pPr lvl="2"/>
            <a:r>
              <a:rPr lang="en-IN" dirty="0"/>
              <a:t>E.g.,: database:  d1, d4, d11, d45, d77, d123</a:t>
            </a:r>
            <a:br>
              <a:rPr lang="en-IN" dirty="0"/>
            </a:br>
            <a:r>
              <a:rPr lang="en-IN" dirty="0"/>
              <a:t>         distributed:  d4, d8, d11, d56, d77, d121, d333</a:t>
            </a:r>
          </a:p>
          <a:p>
            <a:pPr lvl="1"/>
            <a:r>
              <a:rPr lang="en-IN" dirty="0"/>
              <a:t>To answer a query with several keywords, compute intersection of lists corresponding to those keywords</a:t>
            </a:r>
          </a:p>
          <a:p>
            <a:r>
              <a:rPr lang="en-IN" dirty="0"/>
              <a:t>To support ranking, inverted lists store extra information</a:t>
            </a:r>
          </a:p>
          <a:p>
            <a:pPr lvl="1"/>
            <a:r>
              <a:rPr lang="en-IN" dirty="0"/>
              <a:t>“</a:t>
            </a:r>
            <a:r>
              <a:rPr lang="en-IN" b="1" dirty="0">
                <a:solidFill>
                  <a:srgbClr val="002060"/>
                </a:solidFill>
              </a:rPr>
              <a:t>Term frequency</a:t>
            </a:r>
            <a:r>
              <a:rPr lang="en-IN" dirty="0"/>
              <a:t>” of the keyword in the document</a:t>
            </a:r>
          </a:p>
          <a:p>
            <a:pPr lvl="1"/>
            <a:r>
              <a:rPr lang="en-IN" dirty="0"/>
              <a:t>“</a:t>
            </a:r>
            <a:r>
              <a:rPr lang="en-IN" b="1" dirty="0">
                <a:solidFill>
                  <a:srgbClr val="002060"/>
                </a:solidFill>
              </a:rPr>
              <a:t>Inverse document frequency</a:t>
            </a:r>
            <a:r>
              <a:rPr lang="en-IN" dirty="0"/>
              <a:t>” of the keyword</a:t>
            </a:r>
          </a:p>
          <a:p>
            <a:pPr lvl="1"/>
            <a:r>
              <a:rPr lang="en-IN" b="1" dirty="0">
                <a:solidFill>
                  <a:srgbClr val="002060"/>
                </a:solidFill>
              </a:rPr>
              <a:t>Page rank </a:t>
            </a:r>
            <a:r>
              <a:rPr lang="en-IN" dirty="0"/>
              <a:t>of the document/web page</a:t>
            </a:r>
          </a:p>
        </p:txBody>
      </p:sp>
    </p:spTree>
    <p:extLst>
      <p:ext uri="{BB962C8B-B14F-4D97-AF65-F5344CB8AC3E}">
        <p14:creationId xmlns:p14="http://schemas.microsoft.com/office/powerpoint/2010/main" val="351043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>
            <a:extLst>
              <a:ext uri="{FF2B5EF4-FFF2-40B4-BE49-F238E27FC236}">
                <a16:creationId xmlns:a16="http://schemas.microsoft.com/office/drawing/2014/main" id="{DAD3CFC1-2C2A-42D2-A575-828A9E8A7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Evaluation of Expressions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A77B05E4-D4F7-4717-B352-991F9A2BAF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8" y="1170717"/>
            <a:ext cx="7272213" cy="2627286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So far: we have seen algorithms for individual operations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Alternatives for evaluating an entire expression tree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Materialization</a:t>
            </a:r>
            <a:r>
              <a:rPr lang="en-US" altLang="en-US" dirty="0">
                <a:ea typeface="MS PGothic" panose="020B0600070205080204" pitchFamily="34" charset="-128"/>
              </a:rPr>
              <a:t>:  generate results of an expression whose inputs are relations or are already computed,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materialize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(store) it on disk.  Repeat.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Pipelining</a:t>
            </a:r>
            <a:r>
              <a:rPr lang="en-US" altLang="en-US" dirty="0">
                <a:ea typeface="MS PGothic" panose="020B0600070205080204" pitchFamily="34" charset="-128"/>
              </a:rPr>
              <a:t>:  pass on tuples to parent operations even as an operation is being </a:t>
            </a:r>
            <a:r>
              <a:rPr lang="en-US" altLang="en-US" dirty="0" smtClean="0">
                <a:ea typeface="MS PGothic" panose="020B0600070205080204" pitchFamily="34" charset="-128"/>
              </a:rPr>
              <a:t>executed.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050">
            <a:extLst>
              <a:ext uri="{FF2B5EF4-FFF2-40B4-BE49-F238E27FC236}">
                <a16:creationId xmlns:a16="http://schemas.microsoft.com/office/drawing/2014/main" id="{08BE99F7-675F-4CF6-B440-2AF8B1C37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</a:t>
            </a:r>
          </a:p>
        </p:txBody>
      </p:sp>
      <p:sp>
        <p:nvSpPr>
          <p:cNvPr id="106499" name="Rectangle 2051">
            <a:extLst>
              <a:ext uri="{FF2B5EF4-FFF2-40B4-BE49-F238E27FC236}">
                <a16:creationId xmlns:a16="http://schemas.microsoft.com/office/drawing/2014/main" id="{96D60249-A125-4E6A-AC6B-5F3808DCA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1336" y="1185553"/>
            <a:ext cx="8151141" cy="40109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Pipelined evaluation</a:t>
            </a:r>
            <a:r>
              <a:rPr lang="en-US" altLang="en-US" dirty="0">
                <a:ea typeface="MS PGothic" panose="020B0600070205080204" pitchFamily="34" charset="-128"/>
              </a:rPr>
              <a:t>:  evaluate several operations simultaneously, passing the results of one operation on to the next</a:t>
            </a:r>
            <a:r>
              <a:rPr lang="en-US" altLang="en-US" dirty="0" smtClean="0">
                <a:ea typeface="MS PGothic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 smtClean="0">
                <a:ea typeface="MS PGothic" panose="020B0600070205080204" pitchFamily="34" charset="-128"/>
              </a:rPr>
              <a:t>Much </a:t>
            </a:r>
            <a:r>
              <a:rPr lang="en-US" altLang="en-US" dirty="0">
                <a:ea typeface="MS PGothic" panose="020B0600070205080204" pitchFamily="34" charset="-128"/>
              </a:rPr>
              <a:t>cheaper than materialization: no need to store a temporary relation to disk</a:t>
            </a:r>
            <a:r>
              <a:rPr lang="en-US" altLang="en-US" dirty="0" smtClean="0">
                <a:ea typeface="MS PGothic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Pipelining may not always be possible – e.g., sort, hash-join. </a:t>
            </a:r>
            <a:endParaRPr lang="en-US" altLang="en-US" dirty="0" smtClean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Pipelines can be executed in two ways:  </a:t>
            </a:r>
            <a:endParaRPr lang="en-US" altLang="en-US" dirty="0" smtClean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b="1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demand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driven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(lazy evaluation or pull model) </a:t>
            </a:r>
            <a:endParaRPr lang="en-US" altLang="en-US" dirty="0" smtClean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b="1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producer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driven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(eager evaluation or push model).</a:t>
            </a:r>
            <a:endParaRPr lang="en-US" altLang="en-US" dirty="0">
              <a:solidFill>
                <a:srgbClr val="002060"/>
              </a:solidFill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88623</TotalTime>
  <Words>2641</Words>
  <Application>Microsoft Office PowerPoint</Application>
  <PresentationFormat>On-screen Show (4:3)</PresentationFormat>
  <Paragraphs>528</Paragraphs>
  <Slides>39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8" baseType="lpstr">
      <vt:lpstr>MS PGothic</vt:lpstr>
      <vt:lpstr>MS PGothic</vt:lpstr>
      <vt:lpstr>Arial</vt:lpstr>
      <vt:lpstr>Book Antiqua</vt:lpstr>
      <vt:lpstr>Bookman Old Style</vt:lpstr>
      <vt:lpstr>Calibri</vt:lpstr>
      <vt:lpstr>Greek Symbols</vt:lpstr>
      <vt:lpstr>Helvetica</vt:lpstr>
      <vt:lpstr>Monotype Sorts</vt:lpstr>
      <vt:lpstr>Symbol</vt:lpstr>
      <vt:lpstr>Times New Roman</vt:lpstr>
      <vt:lpstr>Webdings</vt:lpstr>
      <vt:lpstr>Wingdings</vt:lpstr>
      <vt:lpstr>db</vt:lpstr>
      <vt:lpstr>Office Theme</vt:lpstr>
      <vt:lpstr>1_Office Theme</vt:lpstr>
      <vt:lpstr>Equation</vt:lpstr>
      <vt:lpstr>Microsoft Equation 3.0</vt:lpstr>
      <vt:lpstr>Microsoft Word 97 - 2003 Document</vt:lpstr>
      <vt:lpstr>Chapter 15: Query Processing</vt:lpstr>
      <vt:lpstr>Chapter 15:  Query Processing</vt:lpstr>
      <vt:lpstr>Basic Steps in Query Processing</vt:lpstr>
      <vt:lpstr>Basic Steps in Query Processing: Optimization</vt:lpstr>
      <vt:lpstr>Measures of Query Cost</vt:lpstr>
      <vt:lpstr>Measures of Query Cost (Cont.)</vt:lpstr>
      <vt:lpstr>Sorting</vt:lpstr>
      <vt:lpstr>In-Memory vs. External Sorting</vt:lpstr>
      <vt:lpstr>A Simple Two-Way Merge Sort</vt:lpstr>
      <vt:lpstr>A Simple Two-Way Merge Sort</vt:lpstr>
      <vt:lpstr>2-Way Merge Sort: An Example</vt:lpstr>
      <vt:lpstr>2-Way Merge Sort: I/O Cost Analysis</vt:lpstr>
      <vt:lpstr>2-Way Merge Sort: An Example</vt:lpstr>
      <vt:lpstr>M-Way Merge Sort</vt:lpstr>
      <vt:lpstr>B-Way Merge Sort: I/O Cost Analysis</vt:lpstr>
      <vt:lpstr>Number of Passes of M-Way Sort</vt:lpstr>
      <vt:lpstr>Relational Operators – Implementation Algorithms</vt:lpstr>
      <vt:lpstr>Selection Operation</vt:lpstr>
      <vt:lpstr>Selections Using Indices</vt:lpstr>
      <vt:lpstr>Selections Using Indices</vt:lpstr>
      <vt:lpstr>Selections Involving Comparisons</vt:lpstr>
      <vt:lpstr>Implementation of Complex Selections</vt:lpstr>
      <vt:lpstr>Algorithms for Complex Selections</vt:lpstr>
      <vt:lpstr>Join Operation</vt:lpstr>
      <vt:lpstr>Nested-Loop Join</vt:lpstr>
      <vt:lpstr>Block Nested-Loop Join</vt:lpstr>
      <vt:lpstr>Indexed Nested-Loop Join</vt:lpstr>
      <vt:lpstr>Merge-Join</vt:lpstr>
      <vt:lpstr>Hash Join</vt:lpstr>
      <vt:lpstr>Hash Join: Partitioning Phase</vt:lpstr>
      <vt:lpstr>Hash Join: Probing Phase</vt:lpstr>
      <vt:lpstr>Complex Joins</vt:lpstr>
      <vt:lpstr>Other Operations</vt:lpstr>
      <vt:lpstr>Other Operations : Aggregation</vt:lpstr>
      <vt:lpstr>Other Operations : Set Operations</vt:lpstr>
      <vt:lpstr>Other Operations : Set Operations</vt:lpstr>
      <vt:lpstr>Answering Keyword Queries</vt:lpstr>
      <vt:lpstr>Evaluation of Expressions</vt:lpstr>
      <vt:lpstr>Pipelining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Mukesh Mohania</cp:lastModifiedBy>
  <cp:revision>631</cp:revision>
  <cp:lastPrinted>1999-06-28T19:27:31Z</cp:lastPrinted>
  <dcterms:created xsi:type="dcterms:W3CDTF">2000-02-23T18:58:38Z</dcterms:created>
  <dcterms:modified xsi:type="dcterms:W3CDTF">2023-03-29T11:57:20Z</dcterms:modified>
</cp:coreProperties>
</file>