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2" r:id="rId2"/>
    <p:sldMasterId id="2147483676" r:id="rId3"/>
    <p:sldMasterId id="2147483690" r:id="rId4"/>
  </p:sldMasterIdLst>
  <p:notesMasterIdLst>
    <p:notesMasterId r:id="rId115"/>
  </p:notesMasterIdLst>
  <p:handoutMasterIdLst>
    <p:handoutMasterId r:id="rId116"/>
  </p:handoutMasterIdLst>
  <p:sldIdLst>
    <p:sldId id="1050" r:id="rId5"/>
    <p:sldId id="1051" r:id="rId6"/>
    <p:sldId id="1052" r:id="rId7"/>
    <p:sldId id="1053" r:id="rId8"/>
    <p:sldId id="1054" r:id="rId9"/>
    <p:sldId id="1055" r:id="rId10"/>
    <p:sldId id="1056" r:id="rId11"/>
    <p:sldId id="1057" r:id="rId12"/>
    <p:sldId id="1058" r:id="rId13"/>
    <p:sldId id="1059" r:id="rId14"/>
    <p:sldId id="1060" r:id="rId15"/>
    <p:sldId id="1061" r:id="rId16"/>
    <p:sldId id="1062" r:id="rId17"/>
    <p:sldId id="1063" r:id="rId18"/>
    <p:sldId id="1064" r:id="rId19"/>
    <p:sldId id="1009" r:id="rId20"/>
    <p:sldId id="1010" r:id="rId21"/>
    <p:sldId id="968" r:id="rId22"/>
    <p:sldId id="970" r:id="rId23"/>
    <p:sldId id="971" r:id="rId24"/>
    <p:sldId id="972" r:id="rId25"/>
    <p:sldId id="973" r:id="rId26"/>
    <p:sldId id="974" r:id="rId27"/>
    <p:sldId id="975" r:id="rId28"/>
    <p:sldId id="976" r:id="rId29"/>
    <p:sldId id="977" r:id="rId30"/>
    <p:sldId id="978" r:id="rId31"/>
    <p:sldId id="979" r:id="rId32"/>
    <p:sldId id="980" r:id="rId33"/>
    <p:sldId id="908" r:id="rId34"/>
    <p:sldId id="910" r:id="rId35"/>
    <p:sldId id="1065" r:id="rId36"/>
    <p:sldId id="854" r:id="rId37"/>
    <p:sldId id="855" r:id="rId38"/>
    <p:sldId id="856" r:id="rId39"/>
    <p:sldId id="857" r:id="rId40"/>
    <p:sldId id="858" r:id="rId41"/>
    <p:sldId id="859" r:id="rId42"/>
    <p:sldId id="860" r:id="rId43"/>
    <p:sldId id="861" r:id="rId44"/>
    <p:sldId id="862" r:id="rId45"/>
    <p:sldId id="863" r:id="rId46"/>
    <p:sldId id="864" r:id="rId47"/>
    <p:sldId id="865" r:id="rId48"/>
    <p:sldId id="782" r:id="rId49"/>
    <p:sldId id="866" r:id="rId50"/>
    <p:sldId id="867" r:id="rId51"/>
    <p:sldId id="868" r:id="rId52"/>
    <p:sldId id="869" r:id="rId53"/>
    <p:sldId id="870" r:id="rId54"/>
    <p:sldId id="871" r:id="rId55"/>
    <p:sldId id="872" r:id="rId56"/>
    <p:sldId id="873" r:id="rId57"/>
    <p:sldId id="986" r:id="rId58"/>
    <p:sldId id="874" r:id="rId59"/>
    <p:sldId id="875" r:id="rId60"/>
    <p:sldId id="878" r:id="rId61"/>
    <p:sldId id="879" r:id="rId62"/>
    <p:sldId id="880" r:id="rId63"/>
    <p:sldId id="881" r:id="rId64"/>
    <p:sldId id="883" r:id="rId65"/>
    <p:sldId id="884" r:id="rId66"/>
    <p:sldId id="885" r:id="rId67"/>
    <p:sldId id="1011" r:id="rId68"/>
    <p:sldId id="1012" r:id="rId69"/>
    <p:sldId id="1013" r:id="rId70"/>
    <p:sldId id="1072" r:id="rId71"/>
    <p:sldId id="1073" r:id="rId72"/>
    <p:sldId id="1074" r:id="rId73"/>
    <p:sldId id="1075" r:id="rId74"/>
    <p:sldId id="1076" r:id="rId75"/>
    <p:sldId id="1077" r:id="rId76"/>
    <p:sldId id="1078" r:id="rId77"/>
    <p:sldId id="1049" r:id="rId78"/>
    <p:sldId id="1022" r:id="rId79"/>
    <p:sldId id="1024" r:id="rId80"/>
    <p:sldId id="1071" r:id="rId81"/>
    <p:sldId id="1029" r:id="rId82"/>
    <p:sldId id="1030" r:id="rId83"/>
    <p:sldId id="1031" r:id="rId84"/>
    <p:sldId id="1032" r:id="rId85"/>
    <p:sldId id="1033" r:id="rId86"/>
    <p:sldId id="1034" r:id="rId87"/>
    <p:sldId id="1035" r:id="rId88"/>
    <p:sldId id="1036" r:id="rId89"/>
    <p:sldId id="1037" r:id="rId90"/>
    <p:sldId id="1038" r:id="rId91"/>
    <p:sldId id="1039" r:id="rId92"/>
    <p:sldId id="1040" r:id="rId93"/>
    <p:sldId id="1041" r:id="rId94"/>
    <p:sldId id="1042" r:id="rId95"/>
    <p:sldId id="1043" r:id="rId96"/>
    <p:sldId id="1044" r:id="rId97"/>
    <p:sldId id="1045" r:id="rId98"/>
    <p:sldId id="1046" r:id="rId99"/>
    <p:sldId id="1047" r:id="rId100"/>
    <p:sldId id="1091" r:id="rId101"/>
    <p:sldId id="1092" r:id="rId102"/>
    <p:sldId id="1093" r:id="rId103"/>
    <p:sldId id="1096" r:id="rId104"/>
    <p:sldId id="1097" r:id="rId105"/>
    <p:sldId id="1098" r:id="rId106"/>
    <p:sldId id="1099" r:id="rId107"/>
    <p:sldId id="1100" r:id="rId108"/>
    <p:sldId id="1101" r:id="rId109"/>
    <p:sldId id="1102" r:id="rId110"/>
    <p:sldId id="1103" r:id="rId111"/>
    <p:sldId id="1104" r:id="rId112"/>
    <p:sldId id="1105" r:id="rId113"/>
    <p:sldId id="1106" r:id="rId1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0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80" autoAdjust="0"/>
    <p:restoredTop sz="94660"/>
  </p:normalViewPr>
  <p:slideViewPr>
    <p:cSldViewPr>
      <p:cViewPr varScale="1">
        <p:scale>
          <a:sx n="70" d="100"/>
          <a:sy n="70" d="100"/>
        </p:scale>
        <p:origin x="538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presProps" Target="presProps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viewProps" Target="viewProps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notesMaster" Target="notesMasters/notesMaster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B6CA34-8411-407E-893D-8E71990DC10C}" type="datetimeFigureOut">
              <a:rPr lang="en-US" smtClean="0"/>
              <a:t>3/20/2023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777B9-B548-4935-8E6D-F45127D46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272576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7C770-57F1-4183-B1B5-424B207D1741}" type="datetimeFigureOut">
              <a:rPr lang="en-US" smtClean="0"/>
              <a:t>3/20/2023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A4ED4D-EFD9-46AD-897E-D5BE4B53C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2388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C710CEB-22F3-41CD-90AC-F7BAF3542A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C3F42A7-D8EF-4891-925D-7E3DD5A5A6E0}" type="slidenum">
              <a:rPr lang="en-US" altLang="en-US" sz="1200"/>
              <a:pPr/>
              <a:t>1</a:t>
            </a:fld>
            <a:endParaRPr lang="en-US" altLang="en-US" sz="12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17A8628-2E10-4B87-827A-4034D181A7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9B71CC91-60F8-414F-AF44-F9B23756A5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154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A97A0F60-CAAE-44B0-BFC7-D2B5A2AD8A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887AF91-D497-4A2A-9CF7-83341342ED42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D5DFFDEC-6CD5-4870-B34B-50D2844EE4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9FD080F3-D25F-4C23-81CF-DA77256DD1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595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F5A7988B-18A6-4E89-B7A3-02CD5A8BA5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CD13F24-5BFF-454F-A8F8-2726B16156DD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93A39C31-73EB-4715-B4B8-68D4B837F1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385F3768-7479-497E-B124-A7E2676488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72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9CFB7107-1C42-472A-9833-6940DF3869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A762164-D93F-4E35-B0AE-B1934AD126B6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11D1397A-8E5F-4649-BED7-5E5A8D0FC2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7F5DD1DF-B9FD-494B-A0D4-6579635A74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487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77682520-0B29-4E2C-B8EF-EF500DD163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D4282C8-423F-4181-AE0E-76D77C441D47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B3871E10-70A6-45E0-910F-2523537873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A5941599-5110-4A37-8FEC-F97D85E093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051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6879A709-AA35-4A6D-9BE7-88A1C74F4B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D36EA57-3AEE-45DA-8B41-1ABDFD322964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BA83F35-444C-4933-A1C1-4CC1BA8825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3691D86C-4522-4521-AEF2-79F8224DB4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968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CC37B962-6721-4CB2-BF2F-A4994C84C2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4B49C02-3301-417A-946C-48DBBC639D36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58B57A18-7C07-4567-AFE0-C16DB8E58A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A712ECB-F40C-4324-82FD-AB0F331C22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955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D3682090-4C7F-4BBF-B210-69B6532E81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6B3E72A-CBD0-4A8B-906B-5F408CB939CB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CC675BEA-E819-45DB-9D5B-FCC7D29962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E6245AE6-F975-4CB6-A6FD-9F8E48BBA4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8641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D4F33C3-D51C-4A25-94D8-45D0611EA585}" type="slidenum">
              <a:rPr lang="en-US" altLang="en-US" sz="1200" smtClean="0"/>
              <a:pPr/>
              <a:t>9</a:t>
            </a:fld>
            <a:endParaRPr lang="en-US" altLang="en-US" sz="1200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530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849C3F0A-D3BE-431D-8731-738A67BF79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2EC7B4E-2CDE-43FC-862B-874E947E3B53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BCF0DBB6-F167-40B1-BD30-66A89FB253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D5648EE5-B87E-4EDB-BA16-A97C715730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8321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005414BF-A812-43BB-9D8F-B7D74E967B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E3E7743-31B1-4691-9E91-5BA74FD0DB51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1CA2EACE-7817-405D-8E26-786659F87C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E5A893CB-7BEF-4C84-ABB4-CD6B7DADDA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9467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69145523-6817-433F-88BD-678AA35B32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1B770F2-308C-4A9B-A23B-435D5915A235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D06FA43-FDA7-4E8F-B43E-9AF6CC94E4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70DDF17D-ADEA-4E9A-8EF4-876D073C23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5806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87638FD7-C90F-4071-A7EF-2DB2E11D1A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F089E59-5288-4760-A9A0-62E5B0DA78E8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4B5762A4-1CBF-4ACA-894E-C405911D45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7930EC58-BDEE-4554-BC64-E193B9C513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3040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26E82F3B-31B3-4FE7-B569-08C987FD01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205355E-C95C-4955-9542-AA99986381A6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85800415-5BE2-4338-B010-B68BD2AAC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200A8043-F678-4A90-AA22-1BB70F9D0F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6929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8326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384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742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6503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5511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8749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0969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7455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7119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A4ED4D-EFD9-46AD-897E-D5BE4B53CB4B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272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7FEDDF69-B610-4B11-8A0E-54A5217207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3929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330FA4C-C655-450B-AD05-7D37AAEEDCC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3929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7505CEAF-F107-421E-A856-D52EE66E07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A1FEEEF4-2A52-4BEE-BE00-E58412128B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2763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>
            <a:extLst>
              <a:ext uri="{FF2B5EF4-FFF2-40B4-BE49-F238E27FC236}">
                <a16:creationId xmlns:a16="http://schemas.microsoft.com/office/drawing/2014/main" id="{3AFFCCFA-DDE9-4F4E-A788-CA5BCE2E2E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3929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DC4CD3-6DE8-4686-AD16-4E26FCFC4333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3929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6675" name="Rectangle 2">
            <a:extLst>
              <a:ext uri="{FF2B5EF4-FFF2-40B4-BE49-F238E27FC236}">
                <a16:creationId xmlns:a16="http://schemas.microsoft.com/office/drawing/2014/main" id="{9699B6E0-A445-4B45-9278-2545447B8E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>
            <a:extLst>
              <a:ext uri="{FF2B5EF4-FFF2-40B4-BE49-F238E27FC236}">
                <a16:creationId xmlns:a16="http://schemas.microsoft.com/office/drawing/2014/main" id="{F353D383-67CA-44CB-B1B7-43F631DE3D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6372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>
            <a:extLst>
              <a:ext uri="{FF2B5EF4-FFF2-40B4-BE49-F238E27FC236}">
                <a16:creationId xmlns:a16="http://schemas.microsoft.com/office/drawing/2014/main" id="{6E715F6D-EDE3-4CBA-A4E7-6FBBB9A188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3929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D86FF0-EA45-431A-B4ED-5B4906D8D56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3929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8723" name="Rectangle 2">
            <a:extLst>
              <a:ext uri="{FF2B5EF4-FFF2-40B4-BE49-F238E27FC236}">
                <a16:creationId xmlns:a16="http://schemas.microsoft.com/office/drawing/2014/main" id="{329117D3-AEFF-426A-A086-DBE96BDB3C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>
            <a:extLst>
              <a:ext uri="{FF2B5EF4-FFF2-40B4-BE49-F238E27FC236}">
                <a16:creationId xmlns:a16="http://schemas.microsoft.com/office/drawing/2014/main" id="{3D49DC2F-BB2D-4854-A063-94EA7F0A55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8818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>
            <a:extLst>
              <a:ext uri="{FF2B5EF4-FFF2-40B4-BE49-F238E27FC236}">
                <a16:creationId xmlns:a16="http://schemas.microsoft.com/office/drawing/2014/main" id="{65F8ED12-1F10-41AA-9992-D756E40532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3929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4B4505-3416-491B-B96C-EE3A6F45452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3929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60771" name="Rectangle 2">
            <a:extLst>
              <a:ext uri="{FF2B5EF4-FFF2-40B4-BE49-F238E27FC236}">
                <a16:creationId xmlns:a16="http://schemas.microsoft.com/office/drawing/2014/main" id="{8352646E-5466-425B-ADF2-1387E11093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>
            <a:extLst>
              <a:ext uri="{FF2B5EF4-FFF2-40B4-BE49-F238E27FC236}">
                <a16:creationId xmlns:a16="http://schemas.microsoft.com/office/drawing/2014/main" id="{8848AD29-D92D-4A2C-8EFF-5BA409BED4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36607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A98457CC-CD21-4950-ADC1-9F07C34C78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3929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A775874-C364-4819-ABC7-B26CA5CB0BCC}" type="slidenum"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3929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101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5EC7651E-37C6-475C-80C2-FB2E30F4B6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B4EA38A9-42B8-42A9-80B4-57A2842D11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8802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>
            <a:extLst>
              <a:ext uri="{FF2B5EF4-FFF2-40B4-BE49-F238E27FC236}">
                <a16:creationId xmlns:a16="http://schemas.microsoft.com/office/drawing/2014/main" id="{3E9F8E0A-31AF-4550-99AF-F6ACD37848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3929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1F3DC61-72D0-447C-9604-DA005C9FAB6C}" type="slidenum"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3929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102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23" name="Rectangle 2">
            <a:extLst>
              <a:ext uri="{FF2B5EF4-FFF2-40B4-BE49-F238E27FC236}">
                <a16:creationId xmlns:a16="http://schemas.microsoft.com/office/drawing/2014/main" id="{01FA67DC-E54E-43FA-A446-E365A193EA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>
            <a:extLst>
              <a:ext uri="{FF2B5EF4-FFF2-40B4-BE49-F238E27FC236}">
                <a16:creationId xmlns:a16="http://schemas.microsoft.com/office/drawing/2014/main" id="{ECAAD1DB-84C8-4E92-9664-3152ED2DBA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3982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>
            <a:extLst>
              <a:ext uri="{FF2B5EF4-FFF2-40B4-BE49-F238E27FC236}">
                <a16:creationId xmlns:a16="http://schemas.microsoft.com/office/drawing/2014/main" id="{14250C76-5A41-41A6-9F64-BD035624FD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3929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40F000-C73D-4ACD-B54C-DF85DB6667BA}" type="slidenum"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3929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103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7219" name="Rectangle 2">
            <a:extLst>
              <a:ext uri="{FF2B5EF4-FFF2-40B4-BE49-F238E27FC236}">
                <a16:creationId xmlns:a16="http://schemas.microsoft.com/office/drawing/2014/main" id="{81839CBE-B6C9-4C85-A4ED-F661436351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>
            <a:extLst>
              <a:ext uri="{FF2B5EF4-FFF2-40B4-BE49-F238E27FC236}">
                <a16:creationId xmlns:a16="http://schemas.microsoft.com/office/drawing/2014/main" id="{9D949175-6A3E-49A2-B576-618366C00F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5555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>
            <a:extLst>
              <a:ext uri="{FF2B5EF4-FFF2-40B4-BE49-F238E27FC236}">
                <a16:creationId xmlns:a16="http://schemas.microsoft.com/office/drawing/2014/main" id="{639B1855-FA9B-49AA-B1B9-AAD396462A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3929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E630686-68A7-4E46-A2CB-F48F10E2B824}" type="slidenum"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3929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104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1315" name="Rectangle 2">
            <a:extLst>
              <a:ext uri="{FF2B5EF4-FFF2-40B4-BE49-F238E27FC236}">
                <a16:creationId xmlns:a16="http://schemas.microsoft.com/office/drawing/2014/main" id="{CE40751C-716B-471D-BC42-5B3CB5FE71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>
            <a:extLst>
              <a:ext uri="{FF2B5EF4-FFF2-40B4-BE49-F238E27FC236}">
                <a16:creationId xmlns:a16="http://schemas.microsoft.com/office/drawing/2014/main" id="{D5099556-5B6D-4807-B527-282E418329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6561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>
            <a:extLst>
              <a:ext uri="{FF2B5EF4-FFF2-40B4-BE49-F238E27FC236}">
                <a16:creationId xmlns:a16="http://schemas.microsoft.com/office/drawing/2014/main" id="{D812FE43-B2B0-4A6C-BEE4-BAB61D0656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3929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F53242-7D52-4A78-BA66-65D5331FC077}" type="slidenum"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3929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105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5411" name="Rectangle 2">
            <a:extLst>
              <a:ext uri="{FF2B5EF4-FFF2-40B4-BE49-F238E27FC236}">
                <a16:creationId xmlns:a16="http://schemas.microsoft.com/office/drawing/2014/main" id="{ABBDBB3B-87B5-4D98-AE8E-A0F7A424FE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>
            <a:extLst>
              <a:ext uri="{FF2B5EF4-FFF2-40B4-BE49-F238E27FC236}">
                <a16:creationId xmlns:a16="http://schemas.microsoft.com/office/drawing/2014/main" id="{206E7764-3C7E-4C19-A685-94877BD876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0091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>
            <a:extLst>
              <a:ext uri="{FF2B5EF4-FFF2-40B4-BE49-F238E27FC236}">
                <a16:creationId xmlns:a16="http://schemas.microsoft.com/office/drawing/2014/main" id="{2622EC24-2FAA-4CEF-B782-D1C717254B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3929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2E8E52-B663-4617-8E1A-0A8BC4524EB5}" type="slidenum"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3929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106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7459" name="Rectangle 2">
            <a:extLst>
              <a:ext uri="{FF2B5EF4-FFF2-40B4-BE49-F238E27FC236}">
                <a16:creationId xmlns:a16="http://schemas.microsoft.com/office/drawing/2014/main" id="{05D854B5-142B-4A0D-AE21-9851969074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>
            <a:extLst>
              <a:ext uri="{FF2B5EF4-FFF2-40B4-BE49-F238E27FC236}">
                <a16:creationId xmlns:a16="http://schemas.microsoft.com/office/drawing/2014/main" id="{B2606FDE-9E19-4C98-8330-1147A2D750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0499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8200633D-942A-4DAD-83C0-D0A57E4C30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3929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7B966A-98C4-4CCD-970D-44B6EE2ED87B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3929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9638186D-A6AC-42DF-A5AC-320EBC02DD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2A5EEBE9-5B83-4229-A8C4-2C5DAA8898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505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B007E-8C7F-4E2E-BC7B-2A3A1679722A}" type="datetime1">
              <a:rPr lang="en-US" smtClean="0"/>
              <a:t>3/20/2023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9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CFE0C-32D0-48F6-B754-86DDD932679A}" type="datetime1">
              <a:rPr lang="en-US" smtClean="0"/>
              <a:t>3/20/2023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38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5F951-6F0A-4BC8-8E78-042EB20EDAB0}" type="datetime1">
              <a:rPr lang="en-US" smtClean="0"/>
              <a:t>3/20/2023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39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627F7-2F2A-48BC-9DFD-9A2600CFA556}" type="datetime1">
              <a:rPr lang="en-US" smtClean="0"/>
              <a:t>3/20/2023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76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BFDD5-512B-4522-BA85-F72134273AE1}" type="datetime1">
              <a:rPr lang="en-US" smtClean="0"/>
              <a:t>3/20/2023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320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58DFD-FDB4-43ED-A73B-376F2F66B10F}" type="datetime1">
              <a:rPr lang="en-US" smtClean="0"/>
              <a:t>3/20/2023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751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B476-D146-4EA7-B6A7-C7ED67CB0904}" type="datetime1">
              <a:rPr lang="en-US" smtClean="0"/>
              <a:t>3/20/2023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859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0457E-5E49-4C84-A5ED-8D6AE6DEE17A}" type="datetime1">
              <a:rPr lang="en-US" smtClean="0"/>
              <a:t>3/20/2023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52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47378-4043-40E8-88FD-3B9FC25ACA76}" type="datetime1">
              <a:rPr lang="en-US" smtClean="0"/>
              <a:t>3/20/2023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370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85160-A181-4E5D-A8B9-6CC6B5BAC31C}" type="datetime1">
              <a:rPr lang="en-US" smtClean="0"/>
              <a:t>3/20/2023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814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1D89C-2CB1-4680-B533-FD01CA337ED3}" type="datetime1">
              <a:rPr lang="en-US" smtClean="0"/>
              <a:t>3/20/2023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BC5-AE2A-401E-9EDD-DF8812A14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556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89A5D0ED-8039-462C-9918-44EC24382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1544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6632BBE-1115-4220-824C-3B5594CF6AC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C8A780A1-76A4-49C6-9392-A7424AEF5A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8313" y="1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68490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7661275" cy="2374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388" y="3621088"/>
            <a:ext cx="7661275" cy="2376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4D526BE-0226-4133-88E4-C4A29BE0FD4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154210-18DD-438C-A438-474022748B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986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89A5D0ED-8039-462C-9918-44EC24382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Database System Concepts, 7</a:t>
            </a:r>
            <a:r>
              <a:rPr kumimoji="0" lang="en-US" altLang="en-US" sz="1600" b="1" i="0" u="none" strike="noStrike" kern="120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th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 Ed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©Silberschatz, Korth and Sudarshan</a:t>
            </a:r>
            <a:b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</a:b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See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  <a:hlinkClick r:id="rId2"/>
              </a:rPr>
              <a:t>www.db-book.com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 for conditions on re-use </a:t>
            </a:r>
          </a:p>
        </p:txBody>
      </p:sp>
      <p:sp>
        <p:nvSpPr>
          <p:cNvPr id="1544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6632BBE-1115-4220-824C-3B5594CF6AC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8A780A1-76A4-49C6-9392-A7424AEF5A9C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78963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578963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8313" y="1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4281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262" y="1067662"/>
            <a:ext cx="7885475" cy="5263469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/>
            </a:lvl3pPr>
            <a:lvl4pPr marL="1428750" indent="-228600">
              <a:buFont typeface="Arial" panose="020B0604020202020204" pitchFamily="34" charset="0"/>
              <a:buChar char="•"/>
              <a:defRPr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46D9D1-3A0B-4830-9771-FFCB254C68F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6D0A47-6CB3-4B55-A2F3-FFAD4B8D19F9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3045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740F89-6A40-434A-B633-C16AB606E22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696338-A5C8-4BE9-90AA-26742F29AB62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9270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C5EB6FE-917B-4F3A-9B86-96E6B879D16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7132A46-16AA-4A4D-B778-6DEAB1732FD9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7911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8214F52-F5E6-44C7-822C-993C316B653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2CB1451-3DBA-4F47-AF18-2B3B790297BA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28104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9296ADE-28BF-4F61-80BD-82007B19032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C74CC4-4EC6-4A9E-8278-BF4C2829BC46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6720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FA04AE8-455A-4676-B112-CF373CC2B8D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688B30-A0A7-464E-87E9-AC20B5CBEB10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29774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DB9B5C1-D15B-4CB1-B2CD-9214149684C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0A1685C-BC0B-4770-911B-2B32F0172F5F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24857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D6D2DB4-B98B-4F92-B13C-EE5489A63B4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6F05C00-BA5B-4ACD-A27C-AD7DDA5DAA16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10026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D4DA61-87AB-460D-AEB0-FE8D3EDB7D3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306AAA1-2333-44AA-91AA-24B6645ECE2A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4448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89C673-AB40-4D1B-8EBB-D31889AC11C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4E0AFAD-5202-4DC8-910E-5324B558AB5B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50040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7661275" cy="2374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388" y="3621088"/>
            <a:ext cx="7661275" cy="2376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4D526BE-0226-4133-88E4-C4A29BE0FD4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7154210-18DD-438C-A438-474022748B37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12397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0D9E99-A0D8-4F2F-B04A-331DF655FEAB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35563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89A5D0ED-8039-462C-9918-44EC24382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Database System Concepts, 7</a:t>
            </a:r>
            <a:r>
              <a:rPr kumimoji="0" lang="en-US" altLang="en-US" sz="1600" b="1" i="0" u="none" strike="noStrike" kern="120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th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 Ed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©Silberschatz, Korth and Sudarshan</a:t>
            </a:r>
            <a:b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</a:b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See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  <a:hlinkClick r:id="rId2"/>
              </a:rPr>
              <a:t>www.db-book.com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 for conditions on re-use </a:t>
            </a:r>
          </a:p>
        </p:txBody>
      </p:sp>
      <p:sp>
        <p:nvSpPr>
          <p:cNvPr id="1544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6632BBE-1115-4220-824C-3B5594CF6AC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8A780A1-76A4-49C6-9392-A7424AEF5A9C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78963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578963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8313" y="1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91265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262" y="1067662"/>
            <a:ext cx="7885475" cy="5263469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/>
            </a:lvl3pPr>
            <a:lvl4pPr marL="1428750" indent="-228600">
              <a:buFont typeface="Arial" panose="020B0604020202020204" pitchFamily="34" charset="0"/>
              <a:buChar char="•"/>
              <a:defRPr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46D9D1-3A0B-4830-9771-FFCB254C68F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6D0A47-6CB3-4B55-A2F3-FFAD4B8D19F9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88325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740F89-6A40-434A-B633-C16AB606E22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696338-A5C8-4BE9-90AA-26742F29AB62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28289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C5EB6FE-917B-4F3A-9B86-96E6B879D16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7132A46-16AA-4A4D-B778-6DEAB1732FD9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47724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8214F52-F5E6-44C7-822C-993C316B653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2CB1451-3DBA-4F47-AF18-2B3B790297BA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88220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9296ADE-28BF-4F61-80BD-82007B19032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C74CC4-4EC6-4A9E-8278-BF4C2829BC46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46878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FA04AE8-455A-4676-B112-CF373CC2B8D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688B30-A0A7-464E-87E9-AC20B5CBEB10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88415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DB9B5C1-D15B-4CB1-B2CD-9214149684C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0A1685C-BC0B-4770-911B-2B32F0172F5F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5082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D6D2DB4-B98B-4F92-B13C-EE5489A63B4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6F05C00-BA5B-4ACD-A27C-AD7DDA5DAA16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25716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D4DA61-87AB-460D-AEB0-FE8D3EDB7D3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306AAA1-2333-44AA-91AA-24B6645ECE2A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565963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89C673-AB40-4D1B-8EBB-D31889AC11C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4E0AFAD-5202-4DC8-910E-5324B558AB5B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833883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7661275" cy="2374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388" y="3621088"/>
            <a:ext cx="7661275" cy="2376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4D526BE-0226-4133-88E4-C4A29BE0FD4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7154210-18DD-438C-A438-474022748B37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903706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0D9E99-A0D8-4F2F-B04A-331DF655FEAB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51850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89A5D0ED-8039-462C-9918-44EC24382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Database System Concepts, 7</a:t>
            </a:r>
            <a:r>
              <a:rPr kumimoji="0" lang="en-US" altLang="en-US" sz="1600" b="1" i="0" u="none" strike="noStrike" kern="120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th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 Ed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©Silberschatz, Korth and Sudarshan</a:t>
            </a:r>
            <a:b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</a:b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See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  <a:hlinkClick r:id="rId2"/>
              </a:rPr>
              <a:t>www.db-book.com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 for conditions on re-use </a:t>
            </a:r>
          </a:p>
        </p:txBody>
      </p:sp>
      <p:sp>
        <p:nvSpPr>
          <p:cNvPr id="1544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6632BBE-1115-4220-824C-3B5594CF6AC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8A780A1-76A4-49C6-9392-A7424AEF5A9C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78963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578963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8313" y="1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3647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262" y="1067662"/>
            <a:ext cx="7885475" cy="5263469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/>
            </a:lvl3pPr>
            <a:lvl4pPr marL="1428750" indent="-228600">
              <a:buFont typeface="Arial" panose="020B0604020202020204" pitchFamily="34" charset="0"/>
              <a:buChar char="•"/>
              <a:defRPr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46D9D1-3A0B-4830-9771-FFCB254C68F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6D0A47-6CB3-4B55-A2F3-FFAD4B8D19F9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01577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740F89-6A40-434A-B633-C16AB606E22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696338-A5C8-4BE9-90AA-26742F29AB62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201679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C5EB6FE-917B-4F3A-9B86-96E6B879D16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7132A46-16AA-4A4D-B778-6DEAB1732FD9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775747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8214F52-F5E6-44C7-822C-993C316B653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2CB1451-3DBA-4F47-AF18-2B3B790297BA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311417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9296ADE-28BF-4F61-80BD-82007B19032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C74CC4-4EC6-4A9E-8278-BF4C2829BC46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15984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FA04AE8-455A-4676-B112-CF373CC2B8D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688B30-A0A7-464E-87E9-AC20B5CBEB10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80712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DB9B5C1-D15B-4CB1-B2CD-9214149684C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0A1685C-BC0B-4770-911B-2B32F0172F5F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991894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D6D2DB4-B98B-4F92-B13C-EE5489A63B4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6F05C00-BA5B-4ACD-A27C-AD7DDA5DAA16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17930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D4DA61-87AB-460D-AEB0-FE8D3EDB7D3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306AAA1-2333-44AA-91AA-24B6645ECE2A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927324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89C673-AB40-4D1B-8EBB-D31889AC11C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4E0AFAD-5202-4DC8-910E-5324B558AB5B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956013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7661275" cy="2374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388" y="3621088"/>
            <a:ext cx="7661275" cy="2376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4D526BE-0226-4133-88E4-C4A29BE0FD4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7154210-18DD-438C-A438-474022748B37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50740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0D9E99-A0D8-4F2F-B04A-331DF655FEAB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5794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FE058-E24E-44D4-8AE6-4ED6084A3F18}" type="datetime1">
              <a:rPr lang="en-US" smtClean="0"/>
              <a:t>3/20/2023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A4BC5-AE2A-401E-9EDD-DF8812A14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5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A046C81-2276-441D-9E49-14A55272AD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543171" name="Rectangle 3">
            <a:extLst>
              <a:ext uri="{FF2B5EF4-FFF2-40B4-BE49-F238E27FC236}">
                <a16:creationId xmlns:a16="http://schemas.microsoft.com/office/drawing/2014/main" id="{94FDBCE7-B8B5-4475-A996-42A0E008C53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223EF9-3EAE-426A-A27B-0C1FBF69E26E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55E79249-6ECF-4C34-A00A-9EE8FF0E2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©Silberschatz, Korth and Sudarshan</a:t>
            </a:r>
          </a:p>
        </p:txBody>
      </p:sp>
      <p:sp>
        <p:nvSpPr>
          <p:cNvPr id="1543173" name="Text Box 5">
            <a:extLst>
              <a:ext uri="{FF2B5EF4-FFF2-40B4-BE49-F238E27FC236}">
                <a16:creationId xmlns:a16="http://schemas.microsoft.com/office/drawing/2014/main" id="{B3070CAB-1519-4AFA-BA1A-20FF2EC75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4717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14.</a:t>
            </a:r>
            <a:fld id="{55FD8A8D-17A3-4AAC-BE47-EA12BE456641}" type="slidenum"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43174" name="Rectangle 6">
            <a:extLst>
              <a:ext uri="{FF2B5EF4-FFF2-40B4-BE49-F238E27FC236}">
                <a16:creationId xmlns:a16="http://schemas.microsoft.com/office/drawing/2014/main" id="{BA8FD198-5285-49F7-96E8-ED3486954D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28050157-A7F4-4D2D-8803-07D0D26FB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ＭＳ Ｐゴシック" charset="0"/>
              </a:rPr>
              <a:t>Database System Concepts - 7</a:t>
            </a:r>
            <a:r>
              <a:rPr kumimoji="0" lang="en-US" sz="1000" b="1" i="0" u="none" strike="noStrike" kern="120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ＭＳ Ｐゴシック" charset="0"/>
              </a:rPr>
              <a:t>th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ＭＳ Ｐゴシック" charset="0"/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B28619C-B39E-43A8-A32E-F263649EC642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1010703623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951510025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951510025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1010703623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0" name="Picture 9" descr="Cover-6Ed"/>
          <p:cNvPicPr>
            <a:picLocks noChangeAspect="1" noChangeArrowheads="1"/>
          </p:cNvPicPr>
          <p:nvPr userDrawn="1"/>
        </p:nvPicPr>
        <p:blipFill>
          <a:blip r:embed="rId15"/>
          <a:stretch>
            <a:fillRect/>
          </a:stretch>
        </p:blipFill>
        <p:spPr bwMode="auto">
          <a:xfrm>
            <a:off x="0" y="0"/>
            <a:ext cx="812345" cy="1037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8913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0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A046C81-2276-441D-9E49-14A55272AD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543171" name="Rectangle 3">
            <a:extLst>
              <a:ext uri="{FF2B5EF4-FFF2-40B4-BE49-F238E27FC236}">
                <a16:creationId xmlns:a16="http://schemas.microsoft.com/office/drawing/2014/main" id="{94FDBCE7-B8B5-4475-A996-42A0E008C53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223EF9-3EAE-426A-A27B-0C1FBF69E26E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55E79249-6ECF-4C34-A00A-9EE8FF0E2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©Silberschatz, Korth and Sudarshan</a:t>
            </a:r>
          </a:p>
        </p:txBody>
      </p:sp>
      <p:sp>
        <p:nvSpPr>
          <p:cNvPr id="1543173" name="Text Box 5">
            <a:extLst>
              <a:ext uri="{FF2B5EF4-FFF2-40B4-BE49-F238E27FC236}">
                <a16:creationId xmlns:a16="http://schemas.microsoft.com/office/drawing/2014/main" id="{B3070CAB-1519-4AFA-BA1A-20FF2EC75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4717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14.</a:t>
            </a:r>
            <a:fld id="{55FD8A8D-17A3-4AAC-BE47-EA12BE456641}" type="slidenum"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43174" name="Rectangle 6">
            <a:extLst>
              <a:ext uri="{FF2B5EF4-FFF2-40B4-BE49-F238E27FC236}">
                <a16:creationId xmlns:a16="http://schemas.microsoft.com/office/drawing/2014/main" id="{BA8FD198-5285-49F7-96E8-ED3486954D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28050157-A7F4-4D2D-8803-07D0D26FB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ＭＳ Ｐゴシック" charset="0"/>
              </a:rPr>
              <a:t>Database System Concepts - 7</a:t>
            </a:r>
            <a:r>
              <a:rPr kumimoji="0" lang="en-US" sz="1000" b="1" i="0" u="none" strike="noStrike" kern="120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ＭＳ Ｐゴシック" charset="0"/>
              </a:rPr>
              <a:t>th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ＭＳ Ｐゴシック" charset="0"/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B28619C-B39E-43A8-A32E-F263649EC642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1010703623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951510025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951510025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1010703623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0" name="Picture 9" descr="Cover-6Ed"/>
          <p:cNvPicPr>
            <a:picLocks noChangeAspect="1" noChangeArrowheads="1"/>
          </p:cNvPicPr>
          <p:nvPr userDrawn="1"/>
        </p:nvPicPr>
        <p:blipFill>
          <a:blip r:embed="rId15"/>
          <a:stretch>
            <a:fillRect/>
          </a:stretch>
        </p:blipFill>
        <p:spPr bwMode="auto">
          <a:xfrm>
            <a:off x="0" y="0"/>
            <a:ext cx="812345" cy="1037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5697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0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A046C81-2276-441D-9E49-14A55272AD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543171" name="Rectangle 3">
            <a:extLst>
              <a:ext uri="{FF2B5EF4-FFF2-40B4-BE49-F238E27FC236}">
                <a16:creationId xmlns:a16="http://schemas.microsoft.com/office/drawing/2014/main" id="{94FDBCE7-B8B5-4475-A996-42A0E008C53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223EF9-3EAE-426A-A27B-0C1FBF69E26E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55E79249-6ECF-4C34-A00A-9EE8FF0E2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©Silberschatz, Korth and Sudarshan</a:t>
            </a:r>
          </a:p>
        </p:txBody>
      </p:sp>
      <p:sp>
        <p:nvSpPr>
          <p:cNvPr id="1543173" name="Text Box 5">
            <a:extLst>
              <a:ext uri="{FF2B5EF4-FFF2-40B4-BE49-F238E27FC236}">
                <a16:creationId xmlns:a16="http://schemas.microsoft.com/office/drawing/2014/main" id="{B3070CAB-1519-4AFA-BA1A-20FF2EC75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4717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14.</a:t>
            </a:r>
            <a:fld id="{55FD8A8D-17A3-4AAC-BE47-EA12BE456641}" type="slidenum"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elvetica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43174" name="Rectangle 6">
            <a:extLst>
              <a:ext uri="{FF2B5EF4-FFF2-40B4-BE49-F238E27FC236}">
                <a16:creationId xmlns:a16="http://schemas.microsoft.com/office/drawing/2014/main" id="{BA8FD198-5285-49F7-96E8-ED3486954D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28050157-A7F4-4D2D-8803-07D0D26FB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ＭＳ Ｐゴシック" charset="0"/>
              </a:rPr>
              <a:t>Database System Concepts - 7</a:t>
            </a:r>
            <a:r>
              <a:rPr kumimoji="0" lang="en-US" sz="1000" b="1" i="0" u="none" strike="noStrike" kern="120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ＭＳ Ｐゴシック" charset="0"/>
              </a:rPr>
              <a:t>th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 charset="0"/>
                <a:ea typeface="ＭＳ Ｐゴシック" charset="0"/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B28619C-B39E-43A8-A32E-F263649EC642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1010703623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951510025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951510025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1010703623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0" name="Picture 9" descr="Cover-6Ed"/>
          <p:cNvPicPr>
            <a:picLocks noChangeAspect="1" noChangeArrowheads="1"/>
          </p:cNvPicPr>
          <p:nvPr userDrawn="1"/>
        </p:nvPicPr>
        <p:blipFill>
          <a:blip r:embed="rId15"/>
          <a:stretch>
            <a:fillRect/>
          </a:stretch>
        </p:blipFill>
        <p:spPr bwMode="auto">
          <a:xfrm>
            <a:off x="0" y="0"/>
            <a:ext cx="812345" cy="1037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3782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0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8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1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1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1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82" name="Rectangle 2">
            <a:extLst>
              <a:ext uri="{FF2B5EF4-FFF2-40B4-BE49-F238E27FC236}">
                <a16:creationId xmlns:a16="http://schemas.microsoft.com/office/drawing/2014/main" id="{202BE090-6788-417E-BB14-AB226465082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14: Indexing</a:t>
            </a:r>
          </a:p>
        </p:txBody>
      </p:sp>
    </p:spTree>
    <p:extLst>
      <p:ext uri="{BB962C8B-B14F-4D97-AF65-F5344CB8AC3E}">
        <p14:creationId xmlns:p14="http://schemas.microsoft.com/office/powerpoint/2010/main" val="3539756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730" name="Rectangle 2">
            <a:extLst>
              <a:ext uri="{FF2B5EF4-FFF2-40B4-BE49-F238E27FC236}">
                <a16:creationId xmlns:a16="http://schemas.microsoft.com/office/drawing/2014/main" id="{0CF0364C-58B4-4A6A-9B92-073801C0C1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9F57DD97-E2B1-42A4-90D4-BD88E0EEBB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3379" y="1224828"/>
            <a:ext cx="7814845" cy="3861525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Basic Concepts</a:t>
            </a:r>
          </a:p>
          <a:p>
            <a:r>
              <a:rPr lang="en-US" altLang="en-US" dirty="0"/>
              <a:t>Ordered Indices </a:t>
            </a:r>
          </a:p>
          <a:p>
            <a:r>
              <a:rPr lang="en-US" altLang="en-US" dirty="0"/>
              <a:t>B</a:t>
            </a:r>
            <a:r>
              <a:rPr lang="en-US" altLang="en-US" baseline="30000" dirty="0"/>
              <a:t>+</a:t>
            </a:r>
            <a:r>
              <a:rPr lang="en-US" altLang="en-US" dirty="0"/>
              <a:t>-Tree Index Files</a:t>
            </a:r>
          </a:p>
          <a:p>
            <a:r>
              <a:rPr lang="en-US" altLang="en-US" dirty="0"/>
              <a:t>B-Tree Index Files</a:t>
            </a:r>
          </a:p>
          <a:p>
            <a:r>
              <a:rPr lang="en-US" altLang="en-US" dirty="0"/>
              <a:t>Hashing</a:t>
            </a:r>
          </a:p>
          <a:p>
            <a:r>
              <a:rPr lang="en-US" altLang="en-US" dirty="0"/>
              <a:t>Write-optimized indices </a:t>
            </a:r>
          </a:p>
          <a:p>
            <a:r>
              <a:rPr lang="en-US" altLang="en-US" dirty="0" err="1"/>
              <a:t>Spatio</a:t>
            </a:r>
            <a:r>
              <a:rPr lang="en-US" altLang="en-US" dirty="0"/>
              <a:t>-Temporal Indexing</a:t>
            </a:r>
          </a:p>
        </p:txBody>
      </p:sp>
    </p:spTree>
    <p:extLst>
      <p:ext uri="{BB962C8B-B14F-4D97-AF65-F5344CB8AC3E}">
        <p14:creationId xmlns:p14="http://schemas.microsoft.com/office/powerpoint/2010/main" val="674216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778" name="Rectangle 2">
            <a:extLst>
              <a:ext uri="{FF2B5EF4-FFF2-40B4-BE49-F238E27FC236}">
                <a16:creationId xmlns:a16="http://schemas.microsoft.com/office/drawing/2014/main" id="{F3BCB465-833C-46CA-9A94-74540559D1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Basic Concepts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21872072-543E-4407-92E7-BD753A24D6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9381" y="839500"/>
            <a:ext cx="8672946" cy="5441227"/>
          </a:xfrm>
        </p:spPr>
        <p:txBody>
          <a:bodyPr>
            <a:normAutofit fontScale="70000" lnSpcReduction="20000"/>
          </a:bodyPr>
          <a:lstStyle/>
          <a:p>
            <a:endParaRPr lang="en-US" altLang="en-US" dirty="0" smtClean="0"/>
          </a:p>
          <a:p>
            <a:r>
              <a:rPr lang="en-US" altLang="en-US" dirty="0" smtClean="0"/>
              <a:t>Indexing </a:t>
            </a:r>
            <a:r>
              <a:rPr lang="en-US" altLang="en-US" dirty="0"/>
              <a:t>mechanisms used to speed up access to desired data.</a:t>
            </a:r>
          </a:p>
          <a:p>
            <a:pPr lvl="1"/>
            <a:r>
              <a:rPr lang="en-US" altLang="en-US" sz="1600" dirty="0"/>
              <a:t>E.g., author catalog in </a:t>
            </a:r>
            <a:r>
              <a:rPr lang="en-US" altLang="en-US" sz="1600" dirty="0" smtClean="0"/>
              <a:t>library</a:t>
            </a:r>
            <a:endParaRPr lang="en-US" altLang="en-US" dirty="0" smtClean="0"/>
          </a:p>
          <a:p>
            <a:endParaRPr lang="en-US" altLang="en-US" dirty="0"/>
          </a:p>
          <a:p>
            <a:r>
              <a:rPr lang="en-US" altLang="en-US" dirty="0" smtClean="0"/>
              <a:t>An </a:t>
            </a:r>
            <a:r>
              <a:rPr lang="en-US" altLang="en-US" b="1" dirty="0">
                <a:solidFill>
                  <a:srgbClr val="002060"/>
                </a:solidFill>
              </a:rPr>
              <a:t>index file </a:t>
            </a:r>
            <a:r>
              <a:rPr lang="en-US" altLang="en-US" dirty="0"/>
              <a:t>consists of records (called </a:t>
            </a:r>
            <a:r>
              <a:rPr lang="en-US" altLang="en-US" b="1" dirty="0">
                <a:solidFill>
                  <a:srgbClr val="002060"/>
                </a:solidFill>
              </a:rPr>
              <a:t>index entries</a:t>
            </a:r>
            <a:r>
              <a:rPr lang="en-US" altLang="en-US" dirty="0"/>
              <a:t>) of the form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 smtClean="0"/>
          </a:p>
          <a:p>
            <a:pPr lvl="1"/>
            <a:endParaRPr lang="en-US" altLang="en-US" b="1" dirty="0" smtClean="0">
              <a:solidFill>
                <a:srgbClr val="002060"/>
              </a:solidFill>
            </a:endParaRPr>
          </a:p>
          <a:p>
            <a:pPr lvl="1"/>
            <a:r>
              <a:rPr lang="en-US" altLang="en-US" b="1" dirty="0" smtClean="0">
                <a:solidFill>
                  <a:srgbClr val="002060"/>
                </a:solidFill>
              </a:rPr>
              <a:t>Search </a:t>
            </a:r>
            <a:r>
              <a:rPr lang="en-US" altLang="en-US" b="1" dirty="0">
                <a:solidFill>
                  <a:srgbClr val="002060"/>
                </a:solidFill>
              </a:rPr>
              <a:t>Key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- attribute to set of attributes used to look up records in a file.</a:t>
            </a:r>
          </a:p>
          <a:p>
            <a:endParaRPr lang="en-US" altLang="en-US" dirty="0"/>
          </a:p>
          <a:p>
            <a:r>
              <a:rPr lang="en-US" altLang="en-US" dirty="0"/>
              <a:t>Index files are typically much smaller than the original </a:t>
            </a:r>
            <a:r>
              <a:rPr lang="en-US" altLang="en-US" dirty="0" smtClean="0"/>
              <a:t>file </a:t>
            </a:r>
          </a:p>
          <a:p>
            <a:endParaRPr lang="en-US" altLang="en-US" dirty="0"/>
          </a:p>
          <a:p>
            <a:r>
              <a:rPr lang="en-US" altLang="en-US" dirty="0"/>
              <a:t>Two basic kinds of indices:</a:t>
            </a:r>
          </a:p>
          <a:p>
            <a:pPr lvl="1"/>
            <a:r>
              <a:rPr lang="en-US" altLang="en-US" b="1" dirty="0"/>
              <a:t>Ordered indices:  </a:t>
            </a:r>
            <a:r>
              <a:rPr lang="en-US" altLang="en-US" dirty="0"/>
              <a:t>search keys are stored in sorted order</a:t>
            </a:r>
          </a:p>
          <a:p>
            <a:pPr lvl="1"/>
            <a:r>
              <a:rPr lang="en-US" altLang="en-US" b="1" dirty="0"/>
              <a:t>Hash indices:</a:t>
            </a:r>
            <a:r>
              <a:rPr lang="en-US" altLang="en-US" dirty="0"/>
              <a:t>  search keys are distributed uniformly across </a:t>
            </a:r>
            <a:r>
              <a:rPr lang="ja-JP" altLang="en-US" dirty="0"/>
              <a:t>“</a:t>
            </a:r>
            <a:r>
              <a:rPr lang="en-US" altLang="ja-JP" dirty="0"/>
              <a:t>buckets</a:t>
            </a:r>
            <a:r>
              <a:rPr lang="ja-JP" altLang="en-US" dirty="0"/>
              <a:t>”</a:t>
            </a:r>
            <a:r>
              <a:rPr lang="en-US" altLang="ja-JP" dirty="0"/>
              <a:t> using a </a:t>
            </a:r>
            <a:r>
              <a:rPr lang="ja-JP" altLang="en-US" dirty="0"/>
              <a:t>“</a:t>
            </a:r>
            <a:r>
              <a:rPr lang="en-US" altLang="ja-JP" dirty="0"/>
              <a:t>hash function</a:t>
            </a:r>
            <a:r>
              <a:rPr lang="ja-JP" altLang="en-US" dirty="0"/>
              <a:t>”</a:t>
            </a:r>
            <a:r>
              <a:rPr lang="en-US" altLang="ja-JP" dirty="0"/>
              <a:t>. </a:t>
            </a:r>
            <a:endParaRPr lang="en-US" altLang="en-US" dirty="0"/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16F06304-6B39-487A-8AC9-A9EBD9D3B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5633" y="2848225"/>
            <a:ext cx="1506538" cy="3841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/>
              <a:t>search-key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680F23AC-7EEA-420A-A744-115488080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0421" y="2846638"/>
            <a:ext cx="1184275" cy="3841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/>
              <a:t>pointer</a:t>
            </a:r>
          </a:p>
        </p:txBody>
      </p:sp>
    </p:spTree>
    <p:extLst>
      <p:ext uri="{BB962C8B-B14F-4D97-AF65-F5344CB8AC3E}">
        <p14:creationId xmlns:p14="http://schemas.microsoft.com/office/powerpoint/2010/main" val="950293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826" name="Rectangle 2">
            <a:extLst>
              <a:ext uri="{FF2B5EF4-FFF2-40B4-BE49-F238E27FC236}">
                <a16:creationId xmlns:a16="http://schemas.microsoft.com/office/drawing/2014/main" id="{E63D3C7E-96EA-4A31-B122-60E5F49F34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Index Evaluation Metrics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7764C8B-2890-4967-BE1D-831825A2EA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4501" y="1239116"/>
            <a:ext cx="7680236" cy="4561613"/>
          </a:xfrm>
        </p:spPr>
        <p:txBody>
          <a:bodyPr/>
          <a:lstStyle/>
          <a:p>
            <a:r>
              <a:rPr lang="en-US" altLang="en-US" dirty="0"/>
              <a:t>Access types supported efficiently.  E.g., </a:t>
            </a:r>
          </a:p>
          <a:p>
            <a:pPr lvl="1"/>
            <a:r>
              <a:rPr lang="en-US" altLang="en-US" dirty="0"/>
              <a:t>R</a:t>
            </a:r>
            <a:r>
              <a:rPr lang="en-US" altLang="en-US" dirty="0" smtClean="0"/>
              <a:t>ecords </a:t>
            </a:r>
            <a:r>
              <a:rPr lang="en-US" altLang="en-US" dirty="0"/>
              <a:t>with a specified value in the attribute</a:t>
            </a:r>
          </a:p>
          <a:p>
            <a:pPr lvl="1"/>
            <a:r>
              <a:rPr lang="en-US" altLang="en-US" dirty="0"/>
              <a:t>R</a:t>
            </a:r>
            <a:r>
              <a:rPr lang="en-US" altLang="en-US" dirty="0" smtClean="0"/>
              <a:t>ecords </a:t>
            </a:r>
            <a:r>
              <a:rPr lang="en-US" altLang="en-US" dirty="0"/>
              <a:t>with an attribute value falling in a specified range of values.</a:t>
            </a:r>
          </a:p>
          <a:p>
            <a:r>
              <a:rPr lang="en-US" altLang="en-US" dirty="0"/>
              <a:t>Access time</a:t>
            </a:r>
          </a:p>
          <a:p>
            <a:r>
              <a:rPr lang="en-US" altLang="en-US" dirty="0"/>
              <a:t>Insertion time</a:t>
            </a:r>
          </a:p>
          <a:p>
            <a:r>
              <a:rPr lang="en-US" altLang="en-US" dirty="0"/>
              <a:t>Deletion time</a:t>
            </a:r>
          </a:p>
          <a:p>
            <a:r>
              <a:rPr lang="en-US" altLang="en-US" dirty="0"/>
              <a:t>Space overhead</a:t>
            </a:r>
          </a:p>
        </p:txBody>
      </p:sp>
    </p:spTree>
    <p:extLst>
      <p:ext uri="{BB962C8B-B14F-4D97-AF65-F5344CB8AC3E}">
        <p14:creationId xmlns:p14="http://schemas.microsoft.com/office/powerpoint/2010/main" val="162847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>
            <a:extLst>
              <a:ext uri="{FF2B5EF4-FFF2-40B4-BE49-F238E27FC236}">
                <a16:creationId xmlns:a16="http://schemas.microsoft.com/office/drawing/2014/main" id="{A471252C-098C-486A-8E72-7C38AC42B3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Ordered Indices</a:t>
            </a:r>
          </a:p>
        </p:txBody>
      </p:sp>
      <p:sp>
        <p:nvSpPr>
          <p:cNvPr id="1103875" name="Rectangle 3">
            <a:extLst>
              <a:ext uri="{FF2B5EF4-FFF2-40B4-BE49-F238E27FC236}">
                <a16:creationId xmlns:a16="http://schemas.microsoft.com/office/drawing/2014/main" id="{9A931772-41AD-40F7-93E4-14F5D20683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1" y="1169478"/>
            <a:ext cx="8763000" cy="5612321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dirty="0"/>
              <a:t>In an </a:t>
            </a:r>
            <a:r>
              <a:rPr lang="en-US" altLang="en-US" b="1" dirty="0">
                <a:solidFill>
                  <a:srgbClr val="002060"/>
                </a:solidFill>
              </a:rPr>
              <a:t>ordered index</a:t>
            </a:r>
            <a:r>
              <a:rPr lang="en-US" altLang="en-US" b="1" dirty="0"/>
              <a:t>, </a:t>
            </a:r>
            <a:r>
              <a:rPr lang="en-US" altLang="en-US" dirty="0"/>
              <a:t>index entries are stored sorted on the search key value</a:t>
            </a:r>
            <a:r>
              <a:rPr lang="en-US" altLang="en-US" dirty="0" smtClean="0"/>
              <a:t>.</a:t>
            </a:r>
          </a:p>
          <a:p>
            <a:pPr marL="0" indent="0"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rgbClr val="002060"/>
                </a:solidFill>
              </a:rPr>
              <a:t>Clustering index</a:t>
            </a:r>
            <a:r>
              <a:rPr lang="en-US" altLang="en-US" b="1" dirty="0"/>
              <a:t>: </a:t>
            </a:r>
            <a:r>
              <a:rPr lang="en-US" altLang="en-US" dirty="0"/>
              <a:t>in a sequentially ordered file, the index whose search key specifies the sequential order of the file.</a:t>
            </a:r>
          </a:p>
          <a:p>
            <a:pPr lvl="1"/>
            <a:r>
              <a:rPr lang="en-US" altLang="en-US" sz="2600" dirty="0"/>
              <a:t>Also called </a:t>
            </a:r>
            <a:r>
              <a:rPr lang="en-US" altLang="en-US" sz="2600" b="1" dirty="0">
                <a:solidFill>
                  <a:srgbClr val="002060"/>
                </a:solidFill>
              </a:rPr>
              <a:t>primary index</a:t>
            </a:r>
            <a:endParaRPr lang="en-US" altLang="en-US" sz="2600" dirty="0">
              <a:solidFill>
                <a:srgbClr val="002060"/>
              </a:solidFill>
            </a:endParaRPr>
          </a:p>
          <a:p>
            <a:pPr lvl="1"/>
            <a:r>
              <a:rPr lang="en-US" altLang="en-US" sz="2600" dirty="0"/>
              <a:t>The search key of a primary index is usually but not necessarily the primary key</a:t>
            </a:r>
            <a:r>
              <a:rPr lang="en-US" altLang="en-US" sz="2600" dirty="0" smtClean="0"/>
              <a:t>.</a:t>
            </a:r>
          </a:p>
          <a:p>
            <a:pPr lvl="1"/>
            <a:endParaRPr lang="en-US" altLang="en-US" dirty="0"/>
          </a:p>
          <a:p>
            <a:r>
              <a:rPr lang="en-US" altLang="en-US" b="1" dirty="0">
                <a:solidFill>
                  <a:srgbClr val="002060"/>
                </a:solidFill>
              </a:rPr>
              <a:t>Secondary index</a:t>
            </a:r>
            <a:r>
              <a:rPr lang="en-US" altLang="en-US" dirty="0"/>
              <a:t>:</a:t>
            </a:r>
            <a:r>
              <a:rPr lang="en-US" altLang="en-US" b="1" dirty="0"/>
              <a:t> </a:t>
            </a:r>
            <a:r>
              <a:rPr lang="en-US" altLang="en-US" dirty="0"/>
              <a:t>an index whose search key specifies an order different from the sequential order of the file.  Also called </a:t>
            </a:r>
            <a:r>
              <a:rPr lang="en-US" altLang="en-US" b="1" dirty="0" smtClean="0">
                <a:solidFill>
                  <a:srgbClr val="002060"/>
                </a:solidFill>
              </a:rPr>
              <a:t>non-clustering </a:t>
            </a:r>
            <a:r>
              <a:rPr lang="en-US" altLang="en-US" b="1" dirty="0">
                <a:solidFill>
                  <a:srgbClr val="002060"/>
                </a:solidFill>
              </a:rPr>
              <a:t>index</a:t>
            </a:r>
            <a:r>
              <a:rPr lang="en-US" altLang="en-US" b="1" dirty="0" smtClean="0"/>
              <a:t>.</a:t>
            </a:r>
          </a:p>
          <a:p>
            <a:endParaRPr lang="en-US" altLang="en-US" dirty="0"/>
          </a:p>
          <a:p>
            <a:r>
              <a:rPr lang="en-US" altLang="en-US" b="1" dirty="0">
                <a:solidFill>
                  <a:srgbClr val="002060"/>
                </a:solidFill>
              </a:rPr>
              <a:t>Index-sequential </a:t>
            </a:r>
            <a:r>
              <a:rPr lang="en-US" altLang="en-US" b="1" dirty="0" smtClean="0">
                <a:solidFill>
                  <a:srgbClr val="002060"/>
                </a:solidFill>
              </a:rPr>
              <a:t>access file (ISAM)</a:t>
            </a:r>
            <a:r>
              <a:rPr lang="en-US" altLang="en-US" b="1" dirty="0" smtClean="0"/>
              <a:t>:</a:t>
            </a:r>
            <a:r>
              <a:rPr lang="en-US" altLang="en-US" dirty="0" smtClean="0"/>
              <a:t> </a:t>
            </a:r>
            <a:r>
              <a:rPr lang="en-US" altLang="en-US" dirty="0"/>
              <a:t>sequential file ordered on a search key, with a clustering index on the search key</a:t>
            </a:r>
            <a:r>
              <a:rPr lang="en-US" altLang="en-US" dirty="0" smtClean="0"/>
              <a:t>.</a:t>
            </a:r>
          </a:p>
          <a:p>
            <a:pPr lvl="1"/>
            <a:r>
              <a:rPr lang="en-US" altLang="en-US" sz="2600" dirty="0" smtClean="0"/>
              <a:t>Designed for applications that require both sequential and random access to individual/set of records.</a:t>
            </a:r>
            <a:endParaRPr lang="en-US" altLang="en-US" sz="2600" dirty="0"/>
          </a:p>
        </p:txBody>
      </p:sp>
    </p:spTree>
    <p:extLst>
      <p:ext uri="{BB962C8B-B14F-4D97-AF65-F5344CB8AC3E}">
        <p14:creationId xmlns:p14="http://schemas.microsoft.com/office/powerpoint/2010/main" val="222011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22" name="Rectangle 2">
            <a:extLst>
              <a:ext uri="{FF2B5EF4-FFF2-40B4-BE49-F238E27FC236}">
                <a16:creationId xmlns:a16="http://schemas.microsoft.com/office/drawing/2014/main" id="{69C9745A-37B7-4F0E-A3B3-2DAF58FB2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5094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Types </a:t>
            </a:r>
            <a: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of Ordered Indices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AF8129C-3EED-4426-9DD8-3F433D6DF7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030128"/>
            <a:ext cx="8133918" cy="1165225"/>
          </a:xfrm>
        </p:spPr>
        <p:txBody>
          <a:bodyPr>
            <a:normAutofit fontScale="62500" lnSpcReduction="20000"/>
          </a:bodyPr>
          <a:lstStyle/>
          <a:p>
            <a:pPr>
              <a:buFont typeface="+mj-lt"/>
              <a:buAutoNum type="arabicPeriod"/>
            </a:pPr>
            <a:r>
              <a:rPr lang="en-US" altLang="en-US" sz="3800" b="1" dirty="0" smtClean="0">
                <a:solidFill>
                  <a:srgbClr val="002060"/>
                </a:solidFill>
              </a:rPr>
              <a:t> Dense Index Files</a:t>
            </a:r>
          </a:p>
          <a:p>
            <a:pPr marL="0" indent="0">
              <a:buNone/>
            </a:pPr>
            <a:r>
              <a:rPr lang="en-US" altLang="en-US" b="1" dirty="0" smtClean="0">
                <a:solidFill>
                  <a:srgbClr val="002060"/>
                </a:solidFill>
              </a:rPr>
              <a:t>Dense </a:t>
            </a:r>
            <a:r>
              <a:rPr lang="en-US" altLang="en-US" b="1" dirty="0">
                <a:solidFill>
                  <a:srgbClr val="002060"/>
                </a:solidFill>
              </a:rPr>
              <a:t>index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— Index record appears for every search-key value in the file. </a:t>
            </a:r>
          </a:p>
          <a:p>
            <a:pPr lvl="1"/>
            <a:r>
              <a:rPr lang="en-US" altLang="en-US" dirty="0"/>
              <a:t>E.g. index on </a:t>
            </a:r>
            <a:r>
              <a:rPr lang="en-US" altLang="en-US" i="1" dirty="0"/>
              <a:t>ID</a:t>
            </a:r>
            <a:r>
              <a:rPr lang="en-US" altLang="en-US" dirty="0"/>
              <a:t> attribute of </a:t>
            </a:r>
            <a:r>
              <a:rPr lang="en-US" altLang="en-US" i="1" dirty="0"/>
              <a:t>instructor</a:t>
            </a:r>
            <a:r>
              <a:rPr lang="en-US" altLang="en-US" dirty="0"/>
              <a:t> relation </a:t>
            </a:r>
          </a:p>
        </p:txBody>
      </p:sp>
      <p:pic>
        <p:nvPicPr>
          <p:cNvPr id="15364" name="Picture 8">
            <a:extLst>
              <a:ext uri="{FF2B5EF4-FFF2-40B4-BE49-F238E27FC236}">
                <a16:creationId xmlns:a16="http://schemas.microsoft.com/office/drawing/2014/main" id="{710620EF-3A3A-4679-B2D8-8E62EC03A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70" y="2290436"/>
            <a:ext cx="6700837" cy="3254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407229" y="5823857"/>
            <a:ext cx="54067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Identifier of a disk bock and an offset within the disk block</a:t>
            </a:r>
            <a:endParaRPr lang="en-IN" dirty="0"/>
          </a:p>
        </p:txBody>
      </p:sp>
      <p:cxnSp>
        <p:nvCxnSpPr>
          <p:cNvPr id="4" name="Elbow Connector 3"/>
          <p:cNvCxnSpPr>
            <a:endCxn id="2" idx="1"/>
          </p:cNvCxnSpPr>
          <p:nvPr/>
        </p:nvCxnSpPr>
        <p:spPr bwMode="auto">
          <a:xfrm rot="16200000" flipH="1">
            <a:off x="2919819" y="5505723"/>
            <a:ext cx="691791" cy="283029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939294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394" name="Rectangle 2">
            <a:extLst>
              <a:ext uri="{FF2B5EF4-FFF2-40B4-BE49-F238E27FC236}">
                <a16:creationId xmlns:a16="http://schemas.microsoft.com/office/drawing/2014/main" id="{A0AC463D-5BF0-4013-9522-A5AD19E7A6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Dense Index Files (Cont.)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972A41FD-6D01-4D50-86B9-6E628B8C77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767353"/>
            <a:ext cx="7661275" cy="966787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Dense index on </a:t>
            </a:r>
            <a:r>
              <a:rPr lang="en-US" altLang="en-US" i="1" dirty="0"/>
              <a:t>dept_name</a:t>
            </a:r>
            <a:r>
              <a:rPr lang="en-US" altLang="en-US" dirty="0"/>
              <a:t>, with </a:t>
            </a:r>
            <a:r>
              <a:rPr lang="en-US" altLang="en-US" i="1" dirty="0"/>
              <a:t>instructor </a:t>
            </a:r>
            <a:r>
              <a:rPr lang="en-US" altLang="en-US" dirty="0"/>
              <a:t>file sorted on </a:t>
            </a:r>
            <a:r>
              <a:rPr lang="en-US" altLang="en-US" i="1" dirty="0"/>
              <a:t>dept_name</a:t>
            </a:r>
            <a:endParaRPr lang="en-US" altLang="en-US" dirty="0"/>
          </a:p>
        </p:txBody>
      </p:sp>
      <p:pic>
        <p:nvPicPr>
          <p:cNvPr id="17412" name="Picture 7">
            <a:extLst>
              <a:ext uri="{FF2B5EF4-FFF2-40B4-BE49-F238E27FC236}">
                <a16:creationId xmlns:a16="http://schemas.microsoft.com/office/drawing/2014/main" id="{6206C307-EB8B-44EE-BC03-F42F67E29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67" y="1672167"/>
            <a:ext cx="7081838" cy="2944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13657" y="5148943"/>
            <a:ext cx="85670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 a dense secondary (non-clustering) index, the index must store a list of pointers to all records with the same search-key value.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9934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>
            <a:extLst>
              <a:ext uri="{FF2B5EF4-FFF2-40B4-BE49-F238E27FC236}">
                <a16:creationId xmlns:a16="http://schemas.microsoft.com/office/drawing/2014/main" id="{AEC30A03-5B48-4877-BFDE-46B4DC9354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7901" y="231773"/>
            <a:ext cx="8411440" cy="2495550"/>
          </a:xfrm>
        </p:spPr>
        <p:txBody>
          <a:bodyPr>
            <a:normAutofit fontScale="92500" lnSpcReduction="20000"/>
          </a:bodyPr>
          <a:lstStyle/>
          <a:p>
            <a:pPr>
              <a:buFont typeface="+mj-lt"/>
              <a:buAutoNum type="arabicPeriod" startAt="2"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Sparse Index Files</a:t>
            </a:r>
            <a:endParaRPr lang="en-US" altLang="en-US" sz="2400" b="1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altLang="en-US" b="1" dirty="0" smtClean="0">
                <a:solidFill>
                  <a:srgbClr val="002060"/>
                </a:solidFill>
              </a:rPr>
              <a:t>Sparse </a:t>
            </a:r>
            <a:r>
              <a:rPr lang="en-US" altLang="en-US" b="1" dirty="0">
                <a:solidFill>
                  <a:srgbClr val="002060"/>
                </a:solidFill>
              </a:rPr>
              <a:t>Index</a:t>
            </a:r>
            <a:r>
              <a:rPr lang="en-US" altLang="en-US" dirty="0"/>
              <a:t>:  contains index records for only some search-key values.</a:t>
            </a:r>
          </a:p>
          <a:p>
            <a:pPr lvl="1"/>
            <a:r>
              <a:rPr lang="en-US" altLang="en-US" sz="1600" dirty="0"/>
              <a:t>Applicable when records are sequentially ordered on search-key</a:t>
            </a:r>
          </a:p>
          <a:p>
            <a:r>
              <a:rPr lang="en-US" altLang="en-US" dirty="0"/>
              <a:t>To locate a record with search-key value </a:t>
            </a:r>
            <a:r>
              <a:rPr lang="en-US" altLang="en-US" i="1" dirty="0"/>
              <a:t>K</a:t>
            </a:r>
            <a:r>
              <a:rPr lang="en-US" altLang="en-US" dirty="0"/>
              <a:t> we:</a:t>
            </a:r>
          </a:p>
          <a:p>
            <a:pPr lvl="1"/>
            <a:r>
              <a:rPr lang="en-US" altLang="en-US" sz="1600" dirty="0"/>
              <a:t>Find index record with largest search-key value &lt; </a:t>
            </a:r>
            <a:r>
              <a:rPr lang="en-US" altLang="en-US" sz="1600" i="1" dirty="0"/>
              <a:t>K</a:t>
            </a:r>
            <a:endParaRPr lang="en-US" altLang="en-US" sz="1600" dirty="0"/>
          </a:p>
          <a:p>
            <a:pPr lvl="1"/>
            <a:r>
              <a:rPr lang="en-US" altLang="en-US" sz="1600" dirty="0"/>
              <a:t>Search file sequentially starting at the record to which the index record points</a:t>
            </a:r>
          </a:p>
        </p:txBody>
      </p:sp>
      <p:pic>
        <p:nvPicPr>
          <p:cNvPr id="19460" name="Picture 7">
            <a:extLst>
              <a:ext uri="{FF2B5EF4-FFF2-40B4-BE49-F238E27FC236}">
                <a16:creationId xmlns:a16="http://schemas.microsoft.com/office/drawing/2014/main" id="{4CA72F48-2A38-43A9-866F-F0DC18882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722" y="2585808"/>
            <a:ext cx="6078598" cy="2797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293913" y="5477824"/>
            <a:ext cx="849085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000" dirty="0"/>
              <a:t>Compared to dense indices: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800" dirty="0"/>
              <a:t>Less space and less maintenance overhead for insertions and deletions.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800" dirty="0"/>
              <a:t>Generally slower than dense index for locating records.</a:t>
            </a:r>
          </a:p>
        </p:txBody>
      </p:sp>
    </p:spTree>
    <p:extLst>
      <p:ext uri="{BB962C8B-B14F-4D97-AF65-F5344CB8AC3E}">
        <p14:creationId xmlns:p14="http://schemas.microsoft.com/office/powerpoint/2010/main" val="3672905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Secondary Indices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9486" y="1093788"/>
            <a:ext cx="8512628" cy="4138612"/>
          </a:xfrm>
        </p:spPr>
        <p:txBody>
          <a:bodyPr/>
          <a:lstStyle/>
          <a:p>
            <a:r>
              <a:rPr lang="en-US" altLang="en-US" sz="2000" dirty="0" smtClean="0"/>
              <a:t>Frequently, one wants to find all the records whose values in a certain field (which is not the search-key of the primary index) satisfy some condition.</a:t>
            </a:r>
          </a:p>
          <a:p>
            <a:pPr lvl="1"/>
            <a:r>
              <a:rPr lang="en-US" altLang="en-US" sz="1800" dirty="0" smtClean="0">
                <a:ea typeface="ＭＳ Ｐゴシック" panose="020B0600070205080204" pitchFamily="34" charset="-128"/>
              </a:rPr>
              <a:t>Example 1: In the </a:t>
            </a:r>
            <a:r>
              <a:rPr lang="en-US" altLang="en-US" sz="1800" i="1" dirty="0" smtClean="0">
                <a:ea typeface="ＭＳ Ｐゴシック" panose="020B0600070205080204" pitchFamily="34" charset="-128"/>
              </a:rPr>
              <a:t>instructor</a:t>
            </a:r>
            <a:r>
              <a:rPr lang="en-US" altLang="en-US" sz="1800" dirty="0" smtClean="0">
                <a:ea typeface="ＭＳ Ｐゴシック" panose="020B0600070205080204" pitchFamily="34" charset="-128"/>
              </a:rPr>
              <a:t> relation stored sequentially by ID, we may want to find all instructors in a particular department</a:t>
            </a:r>
          </a:p>
          <a:p>
            <a:pPr lvl="1"/>
            <a:r>
              <a:rPr lang="en-US" altLang="en-US" sz="1800" dirty="0" smtClean="0">
                <a:ea typeface="ＭＳ Ｐゴシック" panose="020B0600070205080204" pitchFamily="34" charset="-128"/>
              </a:rPr>
              <a:t>Example 2: as above, but where we want to find all instructors with a specified salary or with salary in a specified range of values</a:t>
            </a:r>
          </a:p>
          <a:p>
            <a:pPr lvl="1"/>
            <a:endParaRPr lang="en-US" altLang="en-US" sz="1800" dirty="0" smtClean="0">
              <a:ea typeface="ＭＳ Ｐゴシック" panose="020B0600070205080204" pitchFamily="34" charset="-128"/>
            </a:endParaRPr>
          </a:p>
          <a:p>
            <a:r>
              <a:rPr lang="en-US" altLang="en-US" sz="2000" dirty="0" smtClean="0"/>
              <a:t>We can have a secondary index with an index record for each search-key value</a:t>
            </a:r>
          </a:p>
        </p:txBody>
      </p:sp>
    </p:spTree>
    <p:extLst>
      <p:ext uri="{BB962C8B-B14F-4D97-AF65-F5344CB8AC3E}">
        <p14:creationId xmlns:p14="http://schemas.microsoft.com/office/powerpoint/2010/main" val="2597090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778" name="Rectangle 2">
            <a:extLst>
              <a:ext uri="{FF2B5EF4-FFF2-40B4-BE49-F238E27FC236}">
                <a16:creationId xmlns:a16="http://schemas.microsoft.com/office/drawing/2014/main" id="{71DBFB25-C332-4E15-B164-4E01F55305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8350" y="96838"/>
            <a:ext cx="80772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Secondary Indices Example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614B819D-50FE-4933-AE5F-989AA66F724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00050" y="1196950"/>
            <a:ext cx="8445499" cy="4818088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Secondary index on salary field of </a:t>
            </a:r>
            <a:r>
              <a:rPr lang="en-US" altLang="en-US" dirty="0" smtClean="0"/>
              <a:t>instructor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 marL="0" indent="0">
              <a:buNone/>
            </a:pPr>
            <a:endParaRPr lang="en-US" alt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 smtClean="0"/>
              <a:t>Index </a:t>
            </a:r>
            <a:r>
              <a:rPr lang="en-US" altLang="en-US" dirty="0"/>
              <a:t>record points to a bucket that contains pointers to all the actual records with that particular search-key value.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Secondary indices have to be dense</a:t>
            </a:r>
          </a:p>
        </p:txBody>
      </p:sp>
      <p:pic>
        <p:nvPicPr>
          <p:cNvPr id="23557" name="Picture 7">
            <a:extLst>
              <a:ext uri="{FF2B5EF4-FFF2-40B4-BE49-F238E27FC236}">
                <a16:creationId xmlns:a16="http://schemas.microsoft.com/office/drawing/2014/main" id="{676DB81F-D9AB-4AD6-84B4-BF691501F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59" y="1700204"/>
            <a:ext cx="6553190" cy="3214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70510" y="6226556"/>
            <a:ext cx="85411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70C0"/>
                </a:solidFill>
              </a:rPr>
              <a:t>Q: Does it make sense to create a Sparse index file for secondary index? </a:t>
            </a:r>
          </a:p>
        </p:txBody>
      </p:sp>
    </p:spTree>
    <p:extLst>
      <p:ext uri="{BB962C8B-B14F-4D97-AF65-F5344CB8AC3E}">
        <p14:creationId xmlns:p14="http://schemas.microsoft.com/office/powerpoint/2010/main" val="3149525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538" name="Rectangle 2">
            <a:extLst>
              <a:ext uri="{FF2B5EF4-FFF2-40B4-BE49-F238E27FC236}">
                <a16:creationId xmlns:a16="http://schemas.microsoft.com/office/drawing/2014/main" id="{DF94CC11-5F95-4840-A50B-BD3BEEFCB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Multilevel Index</a:t>
            </a:r>
          </a:p>
        </p:txBody>
      </p:sp>
      <p:sp>
        <p:nvSpPr>
          <p:cNvPr id="1345539" name="Rectangle 3">
            <a:extLst>
              <a:ext uri="{FF2B5EF4-FFF2-40B4-BE49-F238E27FC236}">
                <a16:creationId xmlns:a16="http://schemas.microsoft.com/office/drawing/2014/main" id="{B96E43A7-D9BD-4C17-BB74-FEBE960D61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4502" y="1074198"/>
            <a:ext cx="7696724" cy="5117052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If index does not fit in memory, access becomes expensive.</a:t>
            </a:r>
          </a:p>
          <a:p>
            <a:r>
              <a:rPr lang="en-US" altLang="en-US" dirty="0"/>
              <a:t>Solution: treat index kept on disk as a sequential file and construct a sparse index on it.</a:t>
            </a:r>
          </a:p>
          <a:p>
            <a:pPr lvl="1"/>
            <a:r>
              <a:rPr lang="en-US" altLang="en-US" dirty="0"/>
              <a:t>outer index – a sparse index of the basic index</a:t>
            </a:r>
          </a:p>
          <a:p>
            <a:pPr lvl="1"/>
            <a:r>
              <a:rPr lang="en-US" altLang="en-US" dirty="0"/>
              <a:t>inner index – the basic index file</a:t>
            </a:r>
          </a:p>
          <a:p>
            <a:r>
              <a:rPr lang="en-US" altLang="en-US" dirty="0"/>
              <a:t>If even outer index is too large to fit in main memory, yet another level of index can be created, and so on.</a:t>
            </a:r>
          </a:p>
          <a:p>
            <a:r>
              <a:rPr lang="en-US" altLang="en-US" dirty="0"/>
              <a:t>Indices at all levels must be updated on insertion or deletion from the file.</a:t>
            </a:r>
          </a:p>
        </p:txBody>
      </p:sp>
    </p:spTree>
    <p:extLst>
      <p:ext uri="{BB962C8B-B14F-4D97-AF65-F5344CB8AC3E}">
        <p14:creationId xmlns:p14="http://schemas.microsoft.com/office/powerpoint/2010/main" val="107306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553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586" name="Rectangle 2">
            <a:extLst>
              <a:ext uri="{FF2B5EF4-FFF2-40B4-BE49-F238E27FC236}">
                <a16:creationId xmlns:a16="http://schemas.microsoft.com/office/drawing/2014/main" id="{730D8243-5BFC-4F26-8398-A21C749924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2938" y="257451"/>
            <a:ext cx="8077200" cy="4365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Multilevel Index (Cont.)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986" y="1495424"/>
            <a:ext cx="4618839" cy="4454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86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634" name="Rectangle 2">
            <a:extLst>
              <a:ext uri="{FF2B5EF4-FFF2-40B4-BE49-F238E27FC236}">
                <a16:creationId xmlns:a16="http://schemas.microsoft.com/office/drawing/2014/main" id="{1776D91E-94B0-4CCF-BA5E-7866FC2B3E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1275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Index Update:  Deletion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4D47DCDE-E174-43EB-A520-C2E39222D1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7765" y="3465513"/>
            <a:ext cx="7581531" cy="3275012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b="1" dirty="0"/>
              <a:t>Single-level index entry deletion:</a:t>
            </a:r>
          </a:p>
          <a:p>
            <a:pPr lvl="1"/>
            <a:r>
              <a:rPr lang="en-US" altLang="en-US" b="1" dirty="0"/>
              <a:t>Dense indices</a:t>
            </a:r>
            <a:r>
              <a:rPr lang="en-US" altLang="en-US" dirty="0"/>
              <a:t> – deletion of search-key is similar to file record deletion.</a:t>
            </a:r>
          </a:p>
          <a:p>
            <a:pPr lvl="1"/>
            <a:r>
              <a:rPr lang="en-US" altLang="en-US" b="1" dirty="0"/>
              <a:t>Sparse indices</a:t>
            </a:r>
            <a:r>
              <a:rPr lang="en-US" altLang="en-US" dirty="0"/>
              <a:t> –</a:t>
            </a:r>
          </a:p>
          <a:p>
            <a:pPr lvl="2"/>
            <a:r>
              <a:rPr lang="en-US" altLang="en-US" dirty="0"/>
              <a:t> if an entry for the search key exists in the index, it is deleted by replacing the entry in the index with the next search-key value in the file (in search-key order).  </a:t>
            </a:r>
          </a:p>
          <a:p>
            <a:pPr lvl="2"/>
            <a:r>
              <a:rPr lang="en-US" altLang="en-US" dirty="0"/>
              <a:t>If the next search-key value already has an index entry, the entry is deleted instead of being replaced.</a:t>
            </a:r>
          </a:p>
        </p:txBody>
      </p:sp>
      <p:pic>
        <p:nvPicPr>
          <p:cNvPr id="31748" name="Picture 7">
            <a:extLst>
              <a:ext uri="{FF2B5EF4-FFF2-40B4-BE49-F238E27FC236}">
                <a16:creationId xmlns:a16="http://schemas.microsoft.com/office/drawing/2014/main" id="{D8078A4D-BD66-4B0A-A59B-4E627C564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813" y="890588"/>
            <a:ext cx="6064250" cy="279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Rectangle 3">
            <a:extLst>
              <a:ext uri="{FF2B5EF4-FFF2-40B4-BE49-F238E27FC236}">
                <a16:creationId xmlns:a16="http://schemas.microsoft.com/office/drawing/2014/main" id="{EC5EB7AA-615E-4396-BE67-AC06B9C00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66" y="1739900"/>
            <a:ext cx="3112733" cy="152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altLang="en-US" sz="1700" dirty="0"/>
              <a:t>If deleted record was the only record in the file with its particular search-key value, the search-key is deleted from the index also.</a:t>
            </a:r>
          </a:p>
        </p:txBody>
      </p:sp>
    </p:spTree>
    <p:extLst>
      <p:ext uri="{BB962C8B-B14F-4D97-AF65-F5344CB8AC3E}">
        <p14:creationId xmlns:p14="http://schemas.microsoft.com/office/powerpoint/2010/main" val="133617701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82" name="Rectangle 2">
            <a:extLst>
              <a:ext uri="{FF2B5EF4-FFF2-40B4-BE49-F238E27FC236}">
                <a16:creationId xmlns:a16="http://schemas.microsoft.com/office/drawing/2014/main" id="{716639AD-F8B6-495F-99BB-A8C15DA67C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Index Update:  Insertion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C5E24636-92A6-40B8-ACF3-4EDA7B7562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4" y="1067662"/>
            <a:ext cx="7653603" cy="5263469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b="1" dirty="0"/>
              <a:t>Single-level index insertion:</a:t>
            </a:r>
          </a:p>
          <a:p>
            <a:pPr lvl="1"/>
            <a:r>
              <a:rPr lang="en-US" altLang="en-US" dirty="0"/>
              <a:t>Perform a lookup using the search-key value of the record to be inserted.</a:t>
            </a:r>
          </a:p>
          <a:p>
            <a:pPr lvl="1"/>
            <a:r>
              <a:rPr lang="en-US" altLang="en-US" b="1" dirty="0"/>
              <a:t>Dense indices</a:t>
            </a:r>
            <a:r>
              <a:rPr lang="en-US" altLang="en-US" dirty="0"/>
              <a:t> – if the search-key value does not appear in the index, insert it</a:t>
            </a:r>
          </a:p>
          <a:p>
            <a:pPr lvl="2"/>
            <a:r>
              <a:rPr lang="en-US" altLang="en-US" dirty="0"/>
              <a:t>Indices are maintained as sequential files</a:t>
            </a:r>
          </a:p>
          <a:p>
            <a:pPr lvl="2"/>
            <a:r>
              <a:rPr lang="en-US" altLang="en-US" dirty="0"/>
              <a:t>Need to create space for new entry, overflow blocks may be required</a:t>
            </a:r>
          </a:p>
          <a:p>
            <a:pPr lvl="1"/>
            <a:r>
              <a:rPr lang="en-US" altLang="en-US" b="1" dirty="0"/>
              <a:t>Sparse indices</a:t>
            </a:r>
            <a:r>
              <a:rPr lang="en-US" altLang="en-US" dirty="0"/>
              <a:t> – if index stores an entry for each block of the file, no change needs to be made to the index unless a new block is created.  </a:t>
            </a:r>
          </a:p>
          <a:p>
            <a:pPr lvl="2"/>
            <a:r>
              <a:rPr lang="en-US" altLang="en-US" dirty="0"/>
              <a:t>If a new block is created, the first search-key value appearing in the new block is inserted into the index.</a:t>
            </a:r>
          </a:p>
          <a:p>
            <a:r>
              <a:rPr lang="en-US" altLang="en-US" b="1" dirty="0"/>
              <a:t>Multilevel insertion and deletion:</a:t>
            </a:r>
            <a:r>
              <a:rPr lang="en-US" altLang="en-US" dirty="0"/>
              <a:t>  algorithms are simple extensions of the single-level algorithms</a:t>
            </a:r>
          </a:p>
        </p:txBody>
      </p:sp>
    </p:spTree>
    <p:extLst>
      <p:ext uri="{BB962C8B-B14F-4D97-AF65-F5344CB8AC3E}">
        <p14:creationId xmlns:p14="http://schemas.microsoft.com/office/powerpoint/2010/main" val="25966470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D221E-9C52-442B-B60E-604C6F42F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Indices on Multiple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33A1F-9167-438A-AF27-3662D79CF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134" y="1067662"/>
            <a:ext cx="7653603" cy="5263469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Composite search key</a:t>
            </a:r>
            <a:r>
              <a:rPr lang="en-IN" dirty="0"/>
              <a:t>  </a:t>
            </a:r>
          </a:p>
          <a:p>
            <a:pPr lvl="1"/>
            <a:r>
              <a:rPr lang="en-IN" dirty="0"/>
              <a:t>E</a:t>
            </a:r>
            <a:r>
              <a:rPr lang="en-IN" dirty="0" smtClean="0"/>
              <a:t>.g., </a:t>
            </a:r>
            <a:r>
              <a:rPr lang="en-IN" dirty="0"/>
              <a:t>index on </a:t>
            </a:r>
            <a:r>
              <a:rPr lang="en-IN" i="1" dirty="0"/>
              <a:t>instructor</a:t>
            </a:r>
            <a:r>
              <a:rPr lang="en-IN" dirty="0"/>
              <a:t> relation on attributes (</a:t>
            </a:r>
            <a:r>
              <a:rPr lang="en-IN" i="1" dirty="0"/>
              <a:t>name, ID</a:t>
            </a:r>
            <a:r>
              <a:rPr lang="en-IN" dirty="0"/>
              <a:t>)</a:t>
            </a:r>
          </a:p>
          <a:p>
            <a:pPr lvl="1"/>
            <a:r>
              <a:rPr lang="en-IN" dirty="0"/>
              <a:t>Values are sorted lexicographically</a:t>
            </a:r>
          </a:p>
          <a:p>
            <a:pPr lvl="2"/>
            <a:r>
              <a:rPr lang="en-IN" dirty="0"/>
              <a:t>E.g.  (John, 12121) &lt; (John, 13514)  and </a:t>
            </a:r>
            <a:br>
              <a:rPr lang="en-IN" dirty="0"/>
            </a:br>
            <a:r>
              <a:rPr lang="en-IN" dirty="0"/>
              <a:t>        (John, 13514) &lt; (Peter, 11223)</a:t>
            </a:r>
          </a:p>
          <a:p>
            <a:pPr lvl="1"/>
            <a:r>
              <a:rPr lang="en-IN" dirty="0"/>
              <a:t>Can query on just </a:t>
            </a:r>
            <a:r>
              <a:rPr lang="en-IN" i="1" dirty="0"/>
              <a:t>name</a:t>
            </a:r>
            <a:r>
              <a:rPr lang="en-IN" dirty="0"/>
              <a:t>, or on (</a:t>
            </a:r>
            <a:r>
              <a:rPr lang="en-IN" i="1" dirty="0"/>
              <a:t>name, ID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84686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ISAM Trees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/>
              <a:t>Indexed Sequential Access Method (ISAM) trees </a:t>
            </a:r>
            <a:br>
              <a:rPr lang="en-US" sz="2800" dirty="0"/>
            </a:br>
            <a:r>
              <a:rPr lang="en-US" sz="2800" dirty="0"/>
              <a:t>are </a:t>
            </a:r>
            <a:r>
              <a:rPr lang="en-US" sz="2800" i="1" dirty="0"/>
              <a:t>static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endParaRPr lang="en-US" sz="2400" dirty="0" smtClean="0"/>
          </a:p>
          <a:p>
            <a:pPr>
              <a:buFont typeface="Wingdings" pitchFamily="2" charset="2"/>
              <a:buChar char="§"/>
            </a:pPr>
            <a:endParaRPr lang="en-US" sz="2400" dirty="0" smtClean="0"/>
          </a:p>
          <a:p>
            <a:pPr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endParaRPr lang="en-US" sz="2400" dirty="0" smtClean="0"/>
          </a:p>
          <a:p>
            <a:pPr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endParaRPr lang="en-US" sz="2400" dirty="0"/>
          </a:p>
        </p:txBody>
      </p:sp>
      <p:sp>
        <p:nvSpPr>
          <p:cNvPr id="2" name="Rounded Rectangle 1"/>
          <p:cNvSpPr/>
          <p:nvPr/>
        </p:nvSpPr>
        <p:spPr>
          <a:xfrm>
            <a:off x="1958975" y="6019800"/>
            <a:ext cx="6537325" cy="4572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E.g., 2 Entries Per Page</a:t>
            </a:r>
            <a:endParaRPr lang="en-US" sz="2400" dirty="0">
              <a:solidFill>
                <a:schemeClr val="tx1"/>
              </a:solidFill>
            </a:endParaRPr>
          </a:p>
        </p:txBody>
      </p:sp>
      <p:grpSp>
        <p:nvGrpSpPr>
          <p:cNvPr id="164" name="Group 4"/>
          <p:cNvGrpSpPr>
            <a:grpSpLocks/>
          </p:cNvGrpSpPr>
          <p:nvPr/>
        </p:nvGrpSpPr>
        <p:grpSpPr bwMode="auto">
          <a:xfrm>
            <a:off x="1098550" y="2514600"/>
            <a:ext cx="7893050" cy="3100388"/>
            <a:chOff x="351" y="1868"/>
            <a:chExt cx="4972" cy="1953"/>
          </a:xfrm>
        </p:grpSpPr>
        <p:sp>
          <p:nvSpPr>
            <p:cNvPr id="165" name="Freeform 5"/>
            <p:cNvSpPr>
              <a:spLocks/>
            </p:cNvSpPr>
            <p:nvPr/>
          </p:nvSpPr>
          <p:spPr bwMode="auto">
            <a:xfrm>
              <a:off x="351" y="3509"/>
              <a:ext cx="699" cy="312"/>
            </a:xfrm>
            <a:custGeom>
              <a:avLst/>
              <a:gdLst>
                <a:gd name="T0" fmla="*/ 0 w 699"/>
                <a:gd name="T1" fmla="*/ 311 h 312"/>
                <a:gd name="T2" fmla="*/ 0 w 699"/>
                <a:gd name="T3" fmla="*/ 0 h 312"/>
                <a:gd name="T4" fmla="*/ 698 w 699"/>
                <a:gd name="T5" fmla="*/ 0 h 312"/>
                <a:gd name="T6" fmla="*/ 698 w 699"/>
                <a:gd name="T7" fmla="*/ 311 h 312"/>
                <a:gd name="T8" fmla="*/ 0 w 699"/>
                <a:gd name="T9" fmla="*/ 311 h 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9"/>
                <a:gd name="T16" fmla="*/ 0 h 312"/>
                <a:gd name="T17" fmla="*/ 699 w 699"/>
                <a:gd name="T18" fmla="*/ 312 h 3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9" h="312">
                  <a:moveTo>
                    <a:pt x="0" y="311"/>
                  </a:moveTo>
                  <a:lnTo>
                    <a:pt x="0" y="0"/>
                  </a:lnTo>
                  <a:lnTo>
                    <a:pt x="698" y="0"/>
                  </a:lnTo>
                  <a:lnTo>
                    <a:pt x="698" y="311"/>
                  </a:lnTo>
                  <a:lnTo>
                    <a:pt x="0" y="311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Freeform 6"/>
            <p:cNvSpPr>
              <a:spLocks/>
            </p:cNvSpPr>
            <p:nvPr/>
          </p:nvSpPr>
          <p:spPr bwMode="auto">
            <a:xfrm>
              <a:off x="1204" y="3509"/>
              <a:ext cx="700" cy="312"/>
            </a:xfrm>
            <a:custGeom>
              <a:avLst/>
              <a:gdLst>
                <a:gd name="T0" fmla="*/ 0 w 700"/>
                <a:gd name="T1" fmla="*/ 311 h 312"/>
                <a:gd name="T2" fmla="*/ 0 w 700"/>
                <a:gd name="T3" fmla="*/ 0 h 312"/>
                <a:gd name="T4" fmla="*/ 699 w 700"/>
                <a:gd name="T5" fmla="*/ 0 h 312"/>
                <a:gd name="T6" fmla="*/ 699 w 700"/>
                <a:gd name="T7" fmla="*/ 311 h 312"/>
                <a:gd name="T8" fmla="*/ 0 w 700"/>
                <a:gd name="T9" fmla="*/ 311 h 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0"/>
                <a:gd name="T16" fmla="*/ 0 h 312"/>
                <a:gd name="T17" fmla="*/ 700 w 700"/>
                <a:gd name="T18" fmla="*/ 312 h 3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0" h="312">
                  <a:moveTo>
                    <a:pt x="0" y="311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1"/>
                  </a:lnTo>
                  <a:lnTo>
                    <a:pt x="0" y="311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Freeform 7"/>
            <p:cNvSpPr>
              <a:spLocks/>
            </p:cNvSpPr>
            <p:nvPr/>
          </p:nvSpPr>
          <p:spPr bwMode="auto">
            <a:xfrm>
              <a:off x="2059" y="3509"/>
              <a:ext cx="700" cy="312"/>
            </a:xfrm>
            <a:custGeom>
              <a:avLst/>
              <a:gdLst>
                <a:gd name="T0" fmla="*/ 0 w 700"/>
                <a:gd name="T1" fmla="*/ 311 h 312"/>
                <a:gd name="T2" fmla="*/ 0 w 700"/>
                <a:gd name="T3" fmla="*/ 0 h 312"/>
                <a:gd name="T4" fmla="*/ 699 w 700"/>
                <a:gd name="T5" fmla="*/ 0 h 312"/>
                <a:gd name="T6" fmla="*/ 699 w 700"/>
                <a:gd name="T7" fmla="*/ 311 h 312"/>
                <a:gd name="T8" fmla="*/ 0 w 700"/>
                <a:gd name="T9" fmla="*/ 311 h 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0"/>
                <a:gd name="T16" fmla="*/ 0 h 312"/>
                <a:gd name="T17" fmla="*/ 700 w 700"/>
                <a:gd name="T18" fmla="*/ 312 h 3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0" h="312">
                  <a:moveTo>
                    <a:pt x="0" y="311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1"/>
                  </a:lnTo>
                  <a:lnTo>
                    <a:pt x="0" y="311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Freeform 8"/>
            <p:cNvSpPr>
              <a:spLocks/>
            </p:cNvSpPr>
            <p:nvPr/>
          </p:nvSpPr>
          <p:spPr bwMode="auto">
            <a:xfrm>
              <a:off x="2914" y="3509"/>
              <a:ext cx="699" cy="312"/>
            </a:xfrm>
            <a:custGeom>
              <a:avLst/>
              <a:gdLst>
                <a:gd name="T0" fmla="*/ 0 w 699"/>
                <a:gd name="T1" fmla="*/ 311 h 312"/>
                <a:gd name="T2" fmla="*/ 0 w 699"/>
                <a:gd name="T3" fmla="*/ 0 h 312"/>
                <a:gd name="T4" fmla="*/ 698 w 699"/>
                <a:gd name="T5" fmla="*/ 0 h 312"/>
                <a:gd name="T6" fmla="*/ 698 w 699"/>
                <a:gd name="T7" fmla="*/ 311 h 312"/>
                <a:gd name="T8" fmla="*/ 0 w 699"/>
                <a:gd name="T9" fmla="*/ 311 h 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9"/>
                <a:gd name="T16" fmla="*/ 0 h 312"/>
                <a:gd name="T17" fmla="*/ 699 w 699"/>
                <a:gd name="T18" fmla="*/ 312 h 3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9" h="312">
                  <a:moveTo>
                    <a:pt x="0" y="311"/>
                  </a:moveTo>
                  <a:lnTo>
                    <a:pt x="0" y="0"/>
                  </a:lnTo>
                  <a:lnTo>
                    <a:pt x="698" y="0"/>
                  </a:lnTo>
                  <a:lnTo>
                    <a:pt x="698" y="311"/>
                  </a:lnTo>
                  <a:lnTo>
                    <a:pt x="0" y="311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Freeform 9"/>
            <p:cNvSpPr>
              <a:spLocks/>
            </p:cNvSpPr>
            <p:nvPr/>
          </p:nvSpPr>
          <p:spPr bwMode="auto">
            <a:xfrm>
              <a:off x="3767" y="3509"/>
              <a:ext cx="701" cy="312"/>
            </a:xfrm>
            <a:custGeom>
              <a:avLst/>
              <a:gdLst>
                <a:gd name="T0" fmla="*/ 0 w 701"/>
                <a:gd name="T1" fmla="*/ 311 h 312"/>
                <a:gd name="T2" fmla="*/ 0 w 701"/>
                <a:gd name="T3" fmla="*/ 0 h 312"/>
                <a:gd name="T4" fmla="*/ 700 w 701"/>
                <a:gd name="T5" fmla="*/ 0 h 312"/>
                <a:gd name="T6" fmla="*/ 700 w 701"/>
                <a:gd name="T7" fmla="*/ 311 h 312"/>
                <a:gd name="T8" fmla="*/ 0 w 701"/>
                <a:gd name="T9" fmla="*/ 311 h 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1"/>
                <a:gd name="T16" fmla="*/ 0 h 312"/>
                <a:gd name="T17" fmla="*/ 701 w 701"/>
                <a:gd name="T18" fmla="*/ 312 h 3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1" h="312">
                  <a:moveTo>
                    <a:pt x="0" y="311"/>
                  </a:moveTo>
                  <a:lnTo>
                    <a:pt x="0" y="0"/>
                  </a:lnTo>
                  <a:lnTo>
                    <a:pt x="700" y="0"/>
                  </a:lnTo>
                  <a:lnTo>
                    <a:pt x="700" y="311"/>
                  </a:lnTo>
                  <a:lnTo>
                    <a:pt x="0" y="311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Freeform 10"/>
            <p:cNvSpPr>
              <a:spLocks/>
            </p:cNvSpPr>
            <p:nvPr/>
          </p:nvSpPr>
          <p:spPr bwMode="auto">
            <a:xfrm>
              <a:off x="4621" y="3509"/>
              <a:ext cx="702" cy="312"/>
            </a:xfrm>
            <a:custGeom>
              <a:avLst/>
              <a:gdLst>
                <a:gd name="T0" fmla="*/ 0 w 702"/>
                <a:gd name="T1" fmla="*/ 311 h 312"/>
                <a:gd name="T2" fmla="*/ 0 w 702"/>
                <a:gd name="T3" fmla="*/ 0 h 312"/>
                <a:gd name="T4" fmla="*/ 701 w 702"/>
                <a:gd name="T5" fmla="*/ 0 h 312"/>
                <a:gd name="T6" fmla="*/ 701 w 702"/>
                <a:gd name="T7" fmla="*/ 311 h 312"/>
                <a:gd name="T8" fmla="*/ 0 w 702"/>
                <a:gd name="T9" fmla="*/ 311 h 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312"/>
                <a:gd name="T17" fmla="*/ 702 w 702"/>
                <a:gd name="T18" fmla="*/ 312 h 3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312">
                  <a:moveTo>
                    <a:pt x="0" y="311"/>
                  </a:moveTo>
                  <a:lnTo>
                    <a:pt x="0" y="0"/>
                  </a:lnTo>
                  <a:lnTo>
                    <a:pt x="701" y="0"/>
                  </a:lnTo>
                  <a:lnTo>
                    <a:pt x="701" y="311"/>
                  </a:lnTo>
                  <a:lnTo>
                    <a:pt x="0" y="311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1" name="Freeform 11"/>
            <p:cNvSpPr>
              <a:spLocks/>
            </p:cNvSpPr>
            <p:nvPr/>
          </p:nvSpPr>
          <p:spPr bwMode="auto">
            <a:xfrm>
              <a:off x="1204" y="2735"/>
              <a:ext cx="700" cy="311"/>
            </a:xfrm>
            <a:custGeom>
              <a:avLst/>
              <a:gdLst>
                <a:gd name="T0" fmla="*/ 0 w 700"/>
                <a:gd name="T1" fmla="*/ 310 h 311"/>
                <a:gd name="T2" fmla="*/ 0 w 700"/>
                <a:gd name="T3" fmla="*/ 0 h 311"/>
                <a:gd name="T4" fmla="*/ 699 w 700"/>
                <a:gd name="T5" fmla="*/ 0 h 311"/>
                <a:gd name="T6" fmla="*/ 699 w 700"/>
                <a:gd name="T7" fmla="*/ 310 h 311"/>
                <a:gd name="T8" fmla="*/ 0 w 700"/>
                <a:gd name="T9" fmla="*/ 31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0"/>
                <a:gd name="T16" fmla="*/ 0 h 311"/>
                <a:gd name="T17" fmla="*/ 700 w 700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0" h="311">
                  <a:moveTo>
                    <a:pt x="0" y="310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0"/>
                  </a:lnTo>
                  <a:lnTo>
                    <a:pt x="0" y="31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2" name="Freeform 12"/>
            <p:cNvSpPr>
              <a:spLocks/>
            </p:cNvSpPr>
            <p:nvPr/>
          </p:nvSpPr>
          <p:spPr bwMode="auto">
            <a:xfrm>
              <a:off x="1284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  <a:gd name="T6" fmla="*/ 0 60000 65536"/>
                <a:gd name="T7" fmla="*/ 0 60000 65536"/>
                <a:gd name="T8" fmla="*/ 0 60000 65536"/>
                <a:gd name="T9" fmla="*/ 0 w 1"/>
                <a:gd name="T10" fmla="*/ 0 h 311"/>
                <a:gd name="T11" fmla="*/ 1 w 1"/>
                <a:gd name="T12" fmla="*/ 311 h 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3" name="Freeform 13"/>
            <p:cNvSpPr>
              <a:spLocks/>
            </p:cNvSpPr>
            <p:nvPr/>
          </p:nvSpPr>
          <p:spPr bwMode="auto">
            <a:xfrm>
              <a:off x="1515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  <a:gd name="T6" fmla="*/ 0 60000 65536"/>
                <a:gd name="T7" fmla="*/ 0 60000 65536"/>
                <a:gd name="T8" fmla="*/ 0 60000 65536"/>
                <a:gd name="T9" fmla="*/ 0 w 1"/>
                <a:gd name="T10" fmla="*/ 0 h 311"/>
                <a:gd name="T11" fmla="*/ 1 w 1"/>
                <a:gd name="T12" fmla="*/ 311 h 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" name="Freeform 14"/>
            <p:cNvSpPr>
              <a:spLocks/>
            </p:cNvSpPr>
            <p:nvPr/>
          </p:nvSpPr>
          <p:spPr bwMode="auto">
            <a:xfrm>
              <a:off x="1593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  <a:gd name="T6" fmla="*/ 0 60000 65536"/>
                <a:gd name="T7" fmla="*/ 0 60000 65536"/>
                <a:gd name="T8" fmla="*/ 0 60000 65536"/>
                <a:gd name="T9" fmla="*/ 0 w 1"/>
                <a:gd name="T10" fmla="*/ 0 h 311"/>
                <a:gd name="T11" fmla="*/ 1 w 1"/>
                <a:gd name="T12" fmla="*/ 311 h 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" name="Freeform 15"/>
            <p:cNvSpPr>
              <a:spLocks/>
            </p:cNvSpPr>
            <p:nvPr/>
          </p:nvSpPr>
          <p:spPr bwMode="auto">
            <a:xfrm>
              <a:off x="1827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  <a:gd name="T6" fmla="*/ 0 60000 65536"/>
                <a:gd name="T7" fmla="*/ 0 60000 65536"/>
                <a:gd name="T8" fmla="*/ 0 60000 65536"/>
                <a:gd name="T9" fmla="*/ 0 w 1"/>
                <a:gd name="T10" fmla="*/ 0 h 311"/>
                <a:gd name="T11" fmla="*/ 1 w 1"/>
                <a:gd name="T12" fmla="*/ 311 h 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Freeform 16"/>
            <p:cNvSpPr>
              <a:spLocks/>
            </p:cNvSpPr>
            <p:nvPr/>
          </p:nvSpPr>
          <p:spPr bwMode="auto">
            <a:xfrm>
              <a:off x="3767" y="2735"/>
              <a:ext cx="701" cy="311"/>
            </a:xfrm>
            <a:custGeom>
              <a:avLst/>
              <a:gdLst>
                <a:gd name="T0" fmla="*/ 0 w 701"/>
                <a:gd name="T1" fmla="*/ 310 h 311"/>
                <a:gd name="T2" fmla="*/ 0 w 701"/>
                <a:gd name="T3" fmla="*/ 0 h 311"/>
                <a:gd name="T4" fmla="*/ 700 w 701"/>
                <a:gd name="T5" fmla="*/ 0 h 311"/>
                <a:gd name="T6" fmla="*/ 700 w 701"/>
                <a:gd name="T7" fmla="*/ 310 h 311"/>
                <a:gd name="T8" fmla="*/ 0 w 701"/>
                <a:gd name="T9" fmla="*/ 31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1"/>
                <a:gd name="T16" fmla="*/ 0 h 311"/>
                <a:gd name="T17" fmla="*/ 701 w 701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1" h="311">
                  <a:moveTo>
                    <a:pt x="0" y="310"/>
                  </a:moveTo>
                  <a:lnTo>
                    <a:pt x="0" y="0"/>
                  </a:lnTo>
                  <a:lnTo>
                    <a:pt x="700" y="0"/>
                  </a:lnTo>
                  <a:lnTo>
                    <a:pt x="700" y="310"/>
                  </a:lnTo>
                  <a:lnTo>
                    <a:pt x="0" y="31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" name="Freeform 17"/>
            <p:cNvSpPr>
              <a:spLocks/>
            </p:cNvSpPr>
            <p:nvPr/>
          </p:nvSpPr>
          <p:spPr bwMode="auto">
            <a:xfrm>
              <a:off x="3846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  <a:gd name="T6" fmla="*/ 0 60000 65536"/>
                <a:gd name="T7" fmla="*/ 0 60000 65536"/>
                <a:gd name="T8" fmla="*/ 0 60000 65536"/>
                <a:gd name="T9" fmla="*/ 0 w 1"/>
                <a:gd name="T10" fmla="*/ 0 h 311"/>
                <a:gd name="T11" fmla="*/ 1 w 1"/>
                <a:gd name="T12" fmla="*/ 311 h 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Freeform 18"/>
            <p:cNvSpPr>
              <a:spLocks/>
            </p:cNvSpPr>
            <p:nvPr/>
          </p:nvSpPr>
          <p:spPr bwMode="auto">
            <a:xfrm>
              <a:off x="4078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  <a:gd name="T6" fmla="*/ 0 60000 65536"/>
                <a:gd name="T7" fmla="*/ 0 60000 65536"/>
                <a:gd name="T8" fmla="*/ 0 60000 65536"/>
                <a:gd name="T9" fmla="*/ 0 w 1"/>
                <a:gd name="T10" fmla="*/ 0 h 311"/>
                <a:gd name="T11" fmla="*/ 1 w 1"/>
                <a:gd name="T12" fmla="*/ 311 h 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9" name="Freeform 19"/>
            <p:cNvSpPr>
              <a:spLocks/>
            </p:cNvSpPr>
            <p:nvPr/>
          </p:nvSpPr>
          <p:spPr bwMode="auto">
            <a:xfrm>
              <a:off x="4156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  <a:gd name="T6" fmla="*/ 0 60000 65536"/>
                <a:gd name="T7" fmla="*/ 0 60000 65536"/>
                <a:gd name="T8" fmla="*/ 0 60000 65536"/>
                <a:gd name="T9" fmla="*/ 0 w 1"/>
                <a:gd name="T10" fmla="*/ 0 h 311"/>
                <a:gd name="T11" fmla="*/ 1 w 1"/>
                <a:gd name="T12" fmla="*/ 311 h 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Freeform 20"/>
            <p:cNvSpPr>
              <a:spLocks/>
            </p:cNvSpPr>
            <p:nvPr/>
          </p:nvSpPr>
          <p:spPr bwMode="auto">
            <a:xfrm>
              <a:off x="4389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  <a:gd name="T6" fmla="*/ 0 60000 65536"/>
                <a:gd name="T7" fmla="*/ 0 60000 65536"/>
                <a:gd name="T8" fmla="*/ 0 60000 65536"/>
                <a:gd name="T9" fmla="*/ 0 w 1"/>
                <a:gd name="T10" fmla="*/ 0 h 311"/>
                <a:gd name="T11" fmla="*/ 1 w 1"/>
                <a:gd name="T12" fmla="*/ 311 h 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Freeform 21"/>
            <p:cNvSpPr>
              <a:spLocks/>
            </p:cNvSpPr>
            <p:nvPr/>
          </p:nvSpPr>
          <p:spPr bwMode="auto">
            <a:xfrm>
              <a:off x="2447" y="2037"/>
              <a:ext cx="700" cy="312"/>
            </a:xfrm>
            <a:custGeom>
              <a:avLst/>
              <a:gdLst>
                <a:gd name="T0" fmla="*/ 0 w 700"/>
                <a:gd name="T1" fmla="*/ 311 h 312"/>
                <a:gd name="T2" fmla="*/ 0 w 700"/>
                <a:gd name="T3" fmla="*/ 0 h 312"/>
                <a:gd name="T4" fmla="*/ 699 w 700"/>
                <a:gd name="T5" fmla="*/ 0 h 312"/>
                <a:gd name="T6" fmla="*/ 699 w 700"/>
                <a:gd name="T7" fmla="*/ 311 h 312"/>
                <a:gd name="T8" fmla="*/ 0 w 700"/>
                <a:gd name="T9" fmla="*/ 311 h 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0"/>
                <a:gd name="T16" fmla="*/ 0 h 312"/>
                <a:gd name="T17" fmla="*/ 700 w 700"/>
                <a:gd name="T18" fmla="*/ 312 h 3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0" h="312">
                  <a:moveTo>
                    <a:pt x="0" y="311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1"/>
                  </a:lnTo>
                  <a:lnTo>
                    <a:pt x="0" y="311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" name="Freeform 22"/>
            <p:cNvSpPr>
              <a:spLocks/>
            </p:cNvSpPr>
            <p:nvPr/>
          </p:nvSpPr>
          <p:spPr bwMode="auto">
            <a:xfrm>
              <a:off x="2525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  <a:gd name="T6" fmla="*/ 0 60000 65536"/>
                <a:gd name="T7" fmla="*/ 0 60000 65536"/>
                <a:gd name="T8" fmla="*/ 0 60000 65536"/>
                <a:gd name="T9" fmla="*/ 0 w 1"/>
                <a:gd name="T10" fmla="*/ 0 h 312"/>
                <a:gd name="T11" fmla="*/ 1 w 1"/>
                <a:gd name="T12" fmla="*/ 312 h 3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3" name="Freeform 23"/>
            <p:cNvSpPr>
              <a:spLocks/>
            </p:cNvSpPr>
            <p:nvPr/>
          </p:nvSpPr>
          <p:spPr bwMode="auto">
            <a:xfrm>
              <a:off x="2758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  <a:gd name="T6" fmla="*/ 0 60000 65536"/>
                <a:gd name="T7" fmla="*/ 0 60000 65536"/>
                <a:gd name="T8" fmla="*/ 0 60000 65536"/>
                <a:gd name="T9" fmla="*/ 0 w 1"/>
                <a:gd name="T10" fmla="*/ 0 h 312"/>
                <a:gd name="T11" fmla="*/ 1 w 1"/>
                <a:gd name="T12" fmla="*/ 312 h 3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" name="Freeform 24"/>
            <p:cNvSpPr>
              <a:spLocks/>
            </p:cNvSpPr>
            <p:nvPr/>
          </p:nvSpPr>
          <p:spPr bwMode="auto">
            <a:xfrm>
              <a:off x="2836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  <a:gd name="T6" fmla="*/ 0 60000 65536"/>
                <a:gd name="T7" fmla="*/ 0 60000 65536"/>
                <a:gd name="T8" fmla="*/ 0 60000 65536"/>
                <a:gd name="T9" fmla="*/ 0 w 1"/>
                <a:gd name="T10" fmla="*/ 0 h 312"/>
                <a:gd name="T11" fmla="*/ 1 w 1"/>
                <a:gd name="T12" fmla="*/ 312 h 3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" name="Freeform 25"/>
            <p:cNvSpPr>
              <a:spLocks/>
            </p:cNvSpPr>
            <p:nvPr/>
          </p:nvSpPr>
          <p:spPr bwMode="auto">
            <a:xfrm>
              <a:off x="3069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  <a:gd name="T6" fmla="*/ 0 60000 65536"/>
                <a:gd name="T7" fmla="*/ 0 60000 65536"/>
                <a:gd name="T8" fmla="*/ 0 60000 65536"/>
                <a:gd name="T9" fmla="*/ 0 w 1"/>
                <a:gd name="T10" fmla="*/ 0 h 312"/>
                <a:gd name="T11" fmla="*/ 1 w 1"/>
                <a:gd name="T12" fmla="*/ 312 h 3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" name="Freeform 26"/>
            <p:cNvSpPr>
              <a:spLocks/>
            </p:cNvSpPr>
            <p:nvPr/>
          </p:nvSpPr>
          <p:spPr bwMode="auto">
            <a:xfrm>
              <a:off x="1903" y="2280"/>
              <a:ext cx="575" cy="418"/>
            </a:xfrm>
            <a:custGeom>
              <a:avLst/>
              <a:gdLst>
                <a:gd name="T0" fmla="*/ 574 w 575"/>
                <a:gd name="T1" fmla="*/ 0 h 418"/>
                <a:gd name="T2" fmla="*/ 0 w 575"/>
                <a:gd name="T3" fmla="*/ 417 h 418"/>
                <a:gd name="T4" fmla="*/ 574 w 575"/>
                <a:gd name="T5" fmla="*/ 0 h 418"/>
                <a:gd name="T6" fmla="*/ 0 60000 65536"/>
                <a:gd name="T7" fmla="*/ 0 60000 65536"/>
                <a:gd name="T8" fmla="*/ 0 60000 65536"/>
                <a:gd name="T9" fmla="*/ 0 w 575"/>
                <a:gd name="T10" fmla="*/ 0 h 418"/>
                <a:gd name="T11" fmla="*/ 575 w 575"/>
                <a:gd name="T12" fmla="*/ 418 h 4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5" h="418">
                  <a:moveTo>
                    <a:pt x="574" y="0"/>
                  </a:moveTo>
                  <a:lnTo>
                    <a:pt x="0" y="417"/>
                  </a:lnTo>
                  <a:lnTo>
                    <a:pt x="574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7" name="Freeform 27"/>
            <p:cNvSpPr>
              <a:spLocks/>
            </p:cNvSpPr>
            <p:nvPr/>
          </p:nvSpPr>
          <p:spPr bwMode="auto">
            <a:xfrm>
              <a:off x="1903" y="2620"/>
              <a:ext cx="94" cy="78"/>
            </a:xfrm>
            <a:custGeom>
              <a:avLst/>
              <a:gdLst>
                <a:gd name="T0" fmla="*/ 93 w 94"/>
                <a:gd name="T1" fmla="*/ 39 h 78"/>
                <a:gd name="T2" fmla="*/ 0 w 94"/>
                <a:gd name="T3" fmla="*/ 77 h 78"/>
                <a:gd name="T4" fmla="*/ 65 w 94"/>
                <a:gd name="T5" fmla="*/ 0 h 78"/>
                <a:gd name="T6" fmla="*/ 93 w 94"/>
                <a:gd name="T7" fmla="*/ 39 h 7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"/>
                <a:gd name="T13" fmla="*/ 0 h 78"/>
                <a:gd name="T14" fmla="*/ 94 w 94"/>
                <a:gd name="T15" fmla="*/ 78 h 7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" h="78">
                  <a:moveTo>
                    <a:pt x="93" y="39"/>
                  </a:moveTo>
                  <a:lnTo>
                    <a:pt x="0" y="77"/>
                  </a:lnTo>
                  <a:lnTo>
                    <a:pt x="65" y="0"/>
                  </a:lnTo>
                  <a:lnTo>
                    <a:pt x="93" y="39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" name="Freeform 28"/>
            <p:cNvSpPr>
              <a:spLocks/>
            </p:cNvSpPr>
            <p:nvPr/>
          </p:nvSpPr>
          <p:spPr bwMode="auto">
            <a:xfrm>
              <a:off x="2788" y="2260"/>
              <a:ext cx="971" cy="447"/>
            </a:xfrm>
            <a:custGeom>
              <a:avLst/>
              <a:gdLst>
                <a:gd name="T0" fmla="*/ 0 w 971"/>
                <a:gd name="T1" fmla="*/ 0 h 447"/>
                <a:gd name="T2" fmla="*/ 970 w 971"/>
                <a:gd name="T3" fmla="*/ 446 h 447"/>
                <a:gd name="T4" fmla="*/ 0 w 971"/>
                <a:gd name="T5" fmla="*/ 0 h 447"/>
                <a:gd name="T6" fmla="*/ 0 60000 65536"/>
                <a:gd name="T7" fmla="*/ 0 60000 65536"/>
                <a:gd name="T8" fmla="*/ 0 60000 65536"/>
                <a:gd name="T9" fmla="*/ 0 w 971"/>
                <a:gd name="T10" fmla="*/ 0 h 447"/>
                <a:gd name="T11" fmla="*/ 971 w 971"/>
                <a:gd name="T12" fmla="*/ 447 h 4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1" h="447">
                  <a:moveTo>
                    <a:pt x="0" y="0"/>
                  </a:moveTo>
                  <a:lnTo>
                    <a:pt x="970" y="446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9" name="Freeform 29"/>
            <p:cNvSpPr>
              <a:spLocks/>
            </p:cNvSpPr>
            <p:nvPr/>
          </p:nvSpPr>
          <p:spPr bwMode="auto">
            <a:xfrm>
              <a:off x="3659" y="2644"/>
              <a:ext cx="100" cy="63"/>
            </a:xfrm>
            <a:custGeom>
              <a:avLst/>
              <a:gdLst>
                <a:gd name="T0" fmla="*/ 21 w 100"/>
                <a:gd name="T1" fmla="*/ 0 h 63"/>
                <a:gd name="T2" fmla="*/ 99 w 100"/>
                <a:gd name="T3" fmla="*/ 62 h 63"/>
                <a:gd name="T4" fmla="*/ 0 w 100"/>
                <a:gd name="T5" fmla="*/ 44 h 63"/>
                <a:gd name="T6" fmla="*/ 21 w 10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"/>
                <a:gd name="T13" fmla="*/ 0 h 63"/>
                <a:gd name="T14" fmla="*/ 100 w 10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" h="63">
                  <a:moveTo>
                    <a:pt x="21" y="0"/>
                  </a:moveTo>
                  <a:lnTo>
                    <a:pt x="99" y="62"/>
                  </a:lnTo>
                  <a:lnTo>
                    <a:pt x="0" y="44"/>
                  </a:lnTo>
                  <a:lnTo>
                    <a:pt x="21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" name="Freeform 30"/>
            <p:cNvSpPr>
              <a:spLocks/>
            </p:cNvSpPr>
            <p:nvPr/>
          </p:nvSpPr>
          <p:spPr bwMode="auto">
            <a:xfrm>
              <a:off x="972" y="2996"/>
              <a:ext cx="272" cy="486"/>
            </a:xfrm>
            <a:custGeom>
              <a:avLst/>
              <a:gdLst>
                <a:gd name="T0" fmla="*/ 271 w 272"/>
                <a:gd name="T1" fmla="*/ 0 h 486"/>
                <a:gd name="T2" fmla="*/ 0 w 272"/>
                <a:gd name="T3" fmla="*/ 485 h 486"/>
                <a:gd name="T4" fmla="*/ 271 w 272"/>
                <a:gd name="T5" fmla="*/ 0 h 486"/>
                <a:gd name="T6" fmla="*/ 0 60000 65536"/>
                <a:gd name="T7" fmla="*/ 0 60000 65536"/>
                <a:gd name="T8" fmla="*/ 0 60000 65536"/>
                <a:gd name="T9" fmla="*/ 0 w 272"/>
                <a:gd name="T10" fmla="*/ 0 h 486"/>
                <a:gd name="T11" fmla="*/ 272 w 272"/>
                <a:gd name="T12" fmla="*/ 486 h 4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486">
                  <a:moveTo>
                    <a:pt x="271" y="0"/>
                  </a:moveTo>
                  <a:lnTo>
                    <a:pt x="0" y="485"/>
                  </a:lnTo>
                  <a:lnTo>
                    <a:pt x="271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1" name="Freeform 31"/>
            <p:cNvSpPr>
              <a:spLocks/>
            </p:cNvSpPr>
            <p:nvPr/>
          </p:nvSpPr>
          <p:spPr bwMode="auto">
            <a:xfrm>
              <a:off x="972" y="3384"/>
              <a:ext cx="69" cy="98"/>
            </a:xfrm>
            <a:custGeom>
              <a:avLst/>
              <a:gdLst>
                <a:gd name="T0" fmla="*/ 68 w 69"/>
                <a:gd name="T1" fmla="*/ 25 h 98"/>
                <a:gd name="T2" fmla="*/ 0 w 69"/>
                <a:gd name="T3" fmla="*/ 97 h 98"/>
                <a:gd name="T4" fmla="*/ 26 w 69"/>
                <a:gd name="T5" fmla="*/ 0 h 98"/>
                <a:gd name="T6" fmla="*/ 68 w 69"/>
                <a:gd name="T7" fmla="*/ 25 h 9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9"/>
                <a:gd name="T13" fmla="*/ 0 h 98"/>
                <a:gd name="T14" fmla="*/ 69 w 69"/>
                <a:gd name="T15" fmla="*/ 98 h 9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9" h="98">
                  <a:moveTo>
                    <a:pt x="68" y="25"/>
                  </a:moveTo>
                  <a:lnTo>
                    <a:pt x="0" y="97"/>
                  </a:lnTo>
                  <a:lnTo>
                    <a:pt x="26" y="0"/>
                  </a:lnTo>
                  <a:lnTo>
                    <a:pt x="68" y="25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2" name="Freeform 32"/>
            <p:cNvSpPr>
              <a:spLocks/>
            </p:cNvSpPr>
            <p:nvPr/>
          </p:nvSpPr>
          <p:spPr bwMode="auto">
            <a:xfrm>
              <a:off x="1554" y="2977"/>
              <a:ext cx="1" cy="505"/>
            </a:xfrm>
            <a:custGeom>
              <a:avLst/>
              <a:gdLst>
                <a:gd name="T0" fmla="*/ 0 w 1"/>
                <a:gd name="T1" fmla="*/ 0 h 505"/>
                <a:gd name="T2" fmla="*/ 0 w 1"/>
                <a:gd name="T3" fmla="*/ 504 h 505"/>
                <a:gd name="T4" fmla="*/ 0 w 1"/>
                <a:gd name="T5" fmla="*/ 0 h 505"/>
                <a:gd name="T6" fmla="*/ 0 60000 65536"/>
                <a:gd name="T7" fmla="*/ 0 60000 65536"/>
                <a:gd name="T8" fmla="*/ 0 60000 65536"/>
                <a:gd name="T9" fmla="*/ 0 w 1"/>
                <a:gd name="T10" fmla="*/ 0 h 505"/>
                <a:gd name="T11" fmla="*/ 1 w 1"/>
                <a:gd name="T12" fmla="*/ 505 h 5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05">
                  <a:moveTo>
                    <a:pt x="0" y="0"/>
                  </a:moveTo>
                  <a:lnTo>
                    <a:pt x="0" y="504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3" name="Freeform 33"/>
            <p:cNvSpPr>
              <a:spLocks/>
            </p:cNvSpPr>
            <p:nvPr/>
          </p:nvSpPr>
          <p:spPr bwMode="auto">
            <a:xfrm>
              <a:off x="1530" y="3384"/>
              <a:ext cx="50" cy="98"/>
            </a:xfrm>
            <a:custGeom>
              <a:avLst/>
              <a:gdLst>
                <a:gd name="T0" fmla="*/ 49 w 50"/>
                <a:gd name="T1" fmla="*/ 0 h 98"/>
                <a:gd name="T2" fmla="*/ 24 w 50"/>
                <a:gd name="T3" fmla="*/ 97 h 98"/>
                <a:gd name="T4" fmla="*/ 0 w 50"/>
                <a:gd name="T5" fmla="*/ 0 h 98"/>
                <a:gd name="T6" fmla="*/ 49 w 50"/>
                <a:gd name="T7" fmla="*/ 0 h 9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0"/>
                <a:gd name="T13" fmla="*/ 0 h 98"/>
                <a:gd name="T14" fmla="*/ 50 w 50"/>
                <a:gd name="T15" fmla="*/ 98 h 9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0" h="98">
                  <a:moveTo>
                    <a:pt x="49" y="0"/>
                  </a:moveTo>
                  <a:lnTo>
                    <a:pt x="24" y="97"/>
                  </a:lnTo>
                  <a:lnTo>
                    <a:pt x="0" y="0"/>
                  </a:lnTo>
                  <a:lnTo>
                    <a:pt x="49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Freeform 34"/>
            <p:cNvSpPr>
              <a:spLocks/>
            </p:cNvSpPr>
            <p:nvPr/>
          </p:nvSpPr>
          <p:spPr bwMode="auto">
            <a:xfrm>
              <a:off x="1865" y="2958"/>
              <a:ext cx="214" cy="514"/>
            </a:xfrm>
            <a:custGeom>
              <a:avLst/>
              <a:gdLst>
                <a:gd name="T0" fmla="*/ 0 w 214"/>
                <a:gd name="T1" fmla="*/ 0 h 514"/>
                <a:gd name="T2" fmla="*/ 213 w 214"/>
                <a:gd name="T3" fmla="*/ 513 h 514"/>
                <a:gd name="T4" fmla="*/ 0 w 214"/>
                <a:gd name="T5" fmla="*/ 0 h 514"/>
                <a:gd name="T6" fmla="*/ 0 60000 65536"/>
                <a:gd name="T7" fmla="*/ 0 60000 65536"/>
                <a:gd name="T8" fmla="*/ 0 60000 65536"/>
                <a:gd name="T9" fmla="*/ 0 w 214"/>
                <a:gd name="T10" fmla="*/ 0 h 514"/>
                <a:gd name="T11" fmla="*/ 214 w 214"/>
                <a:gd name="T12" fmla="*/ 514 h 5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4" h="514">
                  <a:moveTo>
                    <a:pt x="0" y="0"/>
                  </a:moveTo>
                  <a:lnTo>
                    <a:pt x="213" y="513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" name="Freeform 35"/>
            <p:cNvSpPr>
              <a:spLocks/>
            </p:cNvSpPr>
            <p:nvPr/>
          </p:nvSpPr>
          <p:spPr bwMode="auto">
            <a:xfrm>
              <a:off x="2019" y="3372"/>
              <a:ext cx="60" cy="100"/>
            </a:xfrm>
            <a:custGeom>
              <a:avLst/>
              <a:gdLst>
                <a:gd name="T0" fmla="*/ 45 w 60"/>
                <a:gd name="T1" fmla="*/ 0 h 100"/>
                <a:gd name="T2" fmla="*/ 59 w 60"/>
                <a:gd name="T3" fmla="*/ 99 h 100"/>
                <a:gd name="T4" fmla="*/ 0 w 60"/>
                <a:gd name="T5" fmla="*/ 18 h 100"/>
                <a:gd name="T6" fmla="*/ 45 w 60"/>
                <a:gd name="T7" fmla="*/ 0 h 1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"/>
                <a:gd name="T13" fmla="*/ 0 h 100"/>
                <a:gd name="T14" fmla="*/ 60 w 60"/>
                <a:gd name="T15" fmla="*/ 100 h 1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" h="100">
                  <a:moveTo>
                    <a:pt x="45" y="0"/>
                  </a:moveTo>
                  <a:lnTo>
                    <a:pt x="59" y="99"/>
                  </a:lnTo>
                  <a:lnTo>
                    <a:pt x="0" y="18"/>
                  </a:lnTo>
                  <a:lnTo>
                    <a:pt x="45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" name="Freeform 36"/>
            <p:cNvSpPr>
              <a:spLocks/>
            </p:cNvSpPr>
            <p:nvPr/>
          </p:nvSpPr>
          <p:spPr bwMode="auto">
            <a:xfrm>
              <a:off x="3554" y="2967"/>
              <a:ext cx="254" cy="496"/>
            </a:xfrm>
            <a:custGeom>
              <a:avLst/>
              <a:gdLst>
                <a:gd name="T0" fmla="*/ 253 w 254"/>
                <a:gd name="T1" fmla="*/ 0 h 496"/>
                <a:gd name="T2" fmla="*/ 0 w 254"/>
                <a:gd name="T3" fmla="*/ 495 h 496"/>
                <a:gd name="T4" fmla="*/ 253 w 254"/>
                <a:gd name="T5" fmla="*/ 0 h 496"/>
                <a:gd name="T6" fmla="*/ 0 60000 65536"/>
                <a:gd name="T7" fmla="*/ 0 60000 65536"/>
                <a:gd name="T8" fmla="*/ 0 60000 65536"/>
                <a:gd name="T9" fmla="*/ 0 w 254"/>
                <a:gd name="T10" fmla="*/ 0 h 496"/>
                <a:gd name="T11" fmla="*/ 254 w 254"/>
                <a:gd name="T12" fmla="*/ 496 h 4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4" h="496">
                  <a:moveTo>
                    <a:pt x="253" y="0"/>
                  </a:moveTo>
                  <a:lnTo>
                    <a:pt x="0" y="495"/>
                  </a:lnTo>
                  <a:lnTo>
                    <a:pt x="253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Freeform 37"/>
            <p:cNvSpPr>
              <a:spLocks/>
            </p:cNvSpPr>
            <p:nvPr/>
          </p:nvSpPr>
          <p:spPr bwMode="auto">
            <a:xfrm>
              <a:off x="3554" y="3365"/>
              <a:ext cx="67" cy="98"/>
            </a:xfrm>
            <a:custGeom>
              <a:avLst/>
              <a:gdLst>
                <a:gd name="T0" fmla="*/ 66 w 67"/>
                <a:gd name="T1" fmla="*/ 21 h 98"/>
                <a:gd name="T2" fmla="*/ 0 w 67"/>
                <a:gd name="T3" fmla="*/ 97 h 98"/>
                <a:gd name="T4" fmla="*/ 23 w 67"/>
                <a:gd name="T5" fmla="*/ 0 h 98"/>
                <a:gd name="T6" fmla="*/ 66 w 67"/>
                <a:gd name="T7" fmla="*/ 21 h 9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98"/>
                <a:gd name="T14" fmla="*/ 67 w 67"/>
                <a:gd name="T15" fmla="*/ 98 h 9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98">
                  <a:moveTo>
                    <a:pt x="66" y="21"/>
                  </a:moveTo>
                  <a:lnTo>
                    <a:pt x="0" y="97"/>
                  </a:lnTo>
                  <a:lnTo>
                    <a:pt x="23" y="0"/>
                  </a:lnTo>
                  <a:lnTo>
                    <a:pt x="66" y="21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" name="Freeform 38"/>
            <p:cNvSpPr>
              <a:spLocks/>
            </p:cNvSpPr>
            <p:nvPr/>
          </p:nvSpPr>
          <p:spPr bwMode="auto">
            <a:xfrm>
              <a:off x="4117" y="2977"/>
              <a:ext cx="1" cy="476"/>
            </a:xfrm>
            <a:custGeom>
              <a:avLst/>
              <a:gdLst>
                <a:gd name="T0" fmla="*/ 0 w 1"/>
                <a:gd name="T1" fmla="*/ 0 h 476"/>
                <a:gd name="T2" fmla="*/ 0 w 1"/>
                <a:gd name="T3" fmla="*/ 475 h 476"/>
                <a:gd name="T4" fmla="*/ 0 w 1"/>
                <a:gd name="T5" fmla="*/ 0 h 476"/>
                <a:gd name="T6" fmla="*/ 0 60000 65536"/>
                <a:gd name="T7" fmla="*/ 0 60000 65536"/>
                <a:gd name="T8" fmla="*/ 0 60000 65536"/>
                <a:gd name="T9" fmla="*/ 0 w 1"/>
                <a:gd name="T10" fmla="*/ 0 h 476"/>
                <a:gd name="T11" fmla="*/ 1 w 1"/>
                <a:gd name="T12" fmla="*/ 476 h 4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76">
                  <a:moveTo>
                    <a:pt x="0" y="0"/>
                  </a:moveTo>
                  <a:lnTo>
                    <a:pt x="0" y="475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9" name="Freeform 39"/>
            <p:cNvSpPr>
              <a:spLocks/>
            </p:cNvSpPr>
            <p:nvPr/>
          </p:nvSpPr>
          <p:spPr bwMode="auto">
            <a:xfrm>
              <a:off x="4093" y="3355"/>
              <a:ext cx="49" cy="98"/>
            </a:xfrm>
            <a:custGeom>
              <a:avLst/>
              <a:gdLst>
                <a:gd name="T0" fmla="*/ 48 w 49"/>
                <a:gd name="T1" fmla="*/ 0 h 98"/>
                <a:gd name="T2" fmla="*/ 24 w 49"/>
                <a:gd name="T3" fmla="*/ 97 h 98"/>
                <a:gd name="T4" fmla="*/ 0 w 49"/>
                <a:gd name="T5" fmla="*/ 0 h 98"/>
                <a:gd name="T6" fmla="*/ 48 w 49"/>
                <a:gd name="T7" fmla="*/ 0 h 9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9"/>
                <a:gd name="T13" fmla="*/ 0 h 98"/>
                <a:gd name="T14" fmla="*/ 49 w 49"/>
                <a:gd name="T15" fmla="*/ 98 h 9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9" h="98">
                  <a:moveTo>
                    <a:pt x="48" y="0"/>
                  </a:moveTo>
                  <a:lnTo>
                    <a:pt x="24" y="97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Freeform 40"/>
            <p:cNvSpPr>
              <a:spLocks/>
            </p:cNvSpPr>
            <p:nvPr/>
          </p:nvSpPr>
          <p:spPr bwMode="auto">
            <a:xfrm>
              <a:off x="4428" y="2986"/>
              <a:ext cx="253" cy="477"/>
            </a:xfrm>
            <a:custGeom>
              <a:avLst/>
              <a:gdLst>
                <a:gd name="T0" fmla="*/ 0 w 253"/>
                <a:gd name="T1" fmla="*/ 0 h 477"/>
                <a:gd name="T2" fmla="*/ 252 w 253"/>
                <a:gd name="T3" fmla="*/ 476 h 477"/>
                <a:gd name="T4" fmla="*/ 0 w 253"/>
                <a:gd name="T5" fmla="*/ 0 h 477"/>
                <a:gd name="T6" fmla="*/ 0 60000 65536"/>
                <a:gd name="T7" fmla="*/ 0 60000 65536"/>
                <a:gd name="T8" fmla="*/ 0 60000 65536"/>
                <a:gd name="T9" fmla="*/ 0 w 253"/>
                <a:gd name="T10" fmla="*/ 0 h 477"/>
                <a:gd name="T11" fmla="*/ 253 w 253"/>
                <a:gd name="T12" fmla="*/ 477 h 4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3" h="477">
                  <a:moveTo>
                    <a:pt x="0" y="0"/>
                  </a:moveTo>
                  <a:lnTo>
                    <a:pt x="252" y="476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1" name="Freeform 41"/>
            <p:cNvSpPr>
              <a:spLocks/>
            </p:cNvSpPr>
            <p:nvPr/>
          </p:nvSpPr>
          <p:spPr bwMode="auto">
            <a:xfrm>
              <a:off x="4614" y="3365"/>
              <a:ext cx="67" cy="98"/>
            </a:xfrm>
            <a:custGeom>
              <a:avLst/>
              <a:gdLst>
                <a:gd name="T0" fmla="*/ 42 w 67"/>
                <a:gd name="T1" fmla="*/ 0 h 98"/>
                <a:gd name="T2" fmla="*/ 66 w 67"/>
                <a:gd name="T3" fmla="*/ 97 h 98"/>
                <a:gd name="T4" fmla="*/ 0 w 67"/>
                <a:gd name="T5" fmla="*/ 22 h 98"/>
                <a:gd name="T6" fmla="*/ 42 w 67"/>
                <a:gd name="T7" fmla="*/ 0 h 9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98"/>
                <a:gd name="T14" fmla="*/ 67 w 67"/>
                <a:gd name="T15" fmla="*/ 98 h 9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98">
                  <a:moveTo>
                    <a:pt x="42" y="0"/>
                  </a:moveTo>
                  <a:lnTo>
                    <a:pt x="66" y="97"/>
                  </a:lnTo>
                  <a:lnTo>
                    <a:pt x="0" y="22"/>
                  </a:lnTo>
                  <a:lnTo>
                    <a:pt x="42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2" name="Freeform 42"/>
            <p:cNvSpPr>
              <a:spLocks/>
            </p:cNvSpPr>
            <p:nvPr/>
          </p:nvSpPr>
          <p:spPr bwMode="auto">
            <a:xfrm>
              <a:off x="700" y="3519"/>
              <a:ext cx="1" cy="283"/>
            </a:xfrm>
            <a:custGeom>
              <a:avLst/>
              <a:gdLst>
                <a:gd name="T0" fmla="*/ 0 w 1"/>
                <a:gd name="T1" fmla="*/ 0 h 283"/>
                <a:gd name="T2" fmla="*/ 0 w 1"/>
                <a:gd name="T3" fmla="*/ 282 h 283"/>
                <a:gd name="T4" fmla="*/ 0 w 1"/>
                <a:gd name="T5" fmla="*/ 0 h 283"/>
                <a:gd name="T6" fmla="*/ 0 60000 65536"/>
                <a:gd name="T7" fmla="*/ 0 60000 65536"/>
                <a:gd name="T8" fmla="*/ 0 60000 65536"/>
                <a:gd name="T9" fmla="*/ 0 w 1"/>
                <a:gd name="T10" fmla="*/ 0 h 283"/>
                <a:gd name="T11" fmla="*/ 1 w 1"/>
                <a:gd name="T12" fmla="*/ 283 h 28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83">
                  <a:moveTo>
                    <a:pt x="0" y="0"/>
                  </a:moveTo>
                  <a:lnTo>
                    <a:pt x="0" y="28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3" name="Freeform 43"/>
            <p:cNvSpPr>
              <a:spLocks/>
            </p:cNvSpPr>
            <p:nvPr/>
          </p:nvSpPr>
          <p:spPr bwMode="auto">
            <a:xfrm>
              <a:off x="1565" y="3509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" name="Freeform 44"/>
            <p:cNvSpPr>
              <a:spLocks/>
            </p:cNvSpPr>
            <p:nvPr/>
          </p:nvSpPr>
          <p:spPr bwMode="auto">
            <a:xfrm>
              <a:off x="2409" y="3509"/>
              <a:ext cx="1" cy="302"/>
            </a:xfrm>
            <a:custGeom>
              <a:avLst/>
              <a:gdLst>
                <a:gd name="T0" fmla="*/ 0 w 1"/>
                <a:gd name="T1" fmla="*/ 0 h 302"/>
                <a:gd name="T2" fmla="*/ 0 w 1"/>
                <a:gd name="T3" fmla="*/ 301 h 302"/>
                <a:gd name="T4" fmla="*/ 0 w 1"/>
                <a:gd name="T5" fmla="*/ 0 h 302"/>
                <a:gd name="T6" fmla="*/ 0 60000 65536"/>
                <a:gd name="T7" fmla="*/ 0 60000 65536"/>
                <a:gd name="T8" fmla="*/ 0 60000 65536"/>
                <a:gd name="T9" fmla="*/ 0 w 1"/>
                <a:gd name="T10" fmla="*/ 0 h 302"/>
                <a:gd name="T11" fmla="*/ 1 w 1"/>
                <a:gd name="T12" fmla="*/ 302 h 3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02">
                  <a:moveTo>
                    <a:pt x="0" y="0"/>
                  </a:moveTo>
                  <a:lnTo>
                    <a:pt x="0" y="30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Freeform 45"/>
            <p:cNvSpPr>
              <a:spLocks/>
            </p:cNvSpPr>
            <p:nvPr/>
          </p:nvSpPr>
          <p:spPr bwMode="auto">
            <a:xfrm>
              <a:off x="3252" y="3519"/>
              <a:ext cx="1" cy="273"/>
            </a:xfrm>
            <a:custGeom>
              <a:avLst/>
              <a:gdLst>
                <a:gd name="T0" fmla="*/ 0 w 1"/>
                <a:gd name="T1" fmla="*/ 0 h 273"/>
                <a:gd name="T2" fmla="*/ 0 w 1"/>
                <a:gd name="T3" fmla="*/ 272 h 273"/>
                <a:gd name="T4" fmla="*/ 0 w 1"/>
                <a:gd name="T5" fmla="*/ 0 h 273"/>
                <a:gd name="T6" fmla="*/ 0 60000 65536"/>
                <a:gd name="T7" fmla="*/ 0 60000 65536"/>
                <a:gd name="T8" fmla="*/ 0 60000 65536"/>
                <a:gd name="T9" fmla="*/ 0 w 1"/>
                <a:gd name="T10" fmla="*/ 0 h 273"/>
                <a:gd name="T11" fmla="*/ 1 w 1"/>
                <a:gd name="T12" fmla="*/ 273 h 2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73">
                  <a:moveTo>
                    <a:pt x="0" y="0"/>
                  </a:moveTo>
                  <a:lnTo>
                    <a:pt x="0" y="27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" name="Freeform 46"/>
            <p:cNvSpPr>
              <a:spLocks/>
            </p:cNvSpPr>
            <p:nvPr/>
          </p:nvSpPr>
          <p:spPr bwMode="auto">
            <a:xfrm>
              <a:off x="4108" y="3519"/>
              <a:ext cx="1" cy="292"/>
            </a:xfrm>
            <a:custGeom>
              <a:avLst/>
              <a:gdLst>
                <a:gd name="T0" fmla="*/ 0 w 1"/>
                <a:gd name="T1" fmla="*/ 0 h 292"/>
                <a:gd name="T2" fmla="*/ 0 w 1"/>
                <a:gd name="T3" fmla="*/ 291 h 292"/>
                <a:gd name="T4" fmla="*/ 0 w 1"/>
                <a:gd name="T5" fmla="*/ 0 h 292"/>
                <a:gd name="T6" fmla="*/ 0 60000 65536"/>
                <a:gd name="T7" fmla="*/ 0 60000 65536"/>
                <a:gd name="T8" fmla="*/ 0 60000 65536"/>
                <a:gd name="T9" fmla="*/ 0 w 1"/>
                <a:gd name="T10" fmla="*/ 0 h 292"/>
                <a:gd name="T11" fmla="*/ 1 w 1"/>
                <a:gd name="T12" fmla="*/ 292 h 2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2">
                  <a:moveTo>
                    <a:pt x="0" y="0"/>
                  </a:moveTo>
                  <a:lnTo>
                    <a:pt x="0" y="29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" name="Freeform 47"/>
            <p:cNvSpPr>
              <a:spLocks/>
            </p:cNvSpPr>
            <p:nvPr/>
          </p:nvSpPr>
          <p:spPr bwMode="auto">
            <a:xfrm>
              <a:off x="4952" y="3519"/>
              <a:ext cx="1" cy="292"/>
            </a:xfrm>
            <a:custGeom>
              <a:avLst/>
              <a:gdLst>
                <a:gd name="T0" fmla="*/ 0 w 1"/>
                <a:gd name="T1" fmla="*/ 0 h 292"/>
                <a:gd name="T2" fmla="*/ 0 w 1"/>
                <a:gd name="T3" fmla="*/ 291 h 292"/>
                <a:gd name="T4" fmla="*/ 0 w 1"/>
                <a:gd name="T5" fmla="*/ 0 h 292"/>
                <a:gd name="T6" fmla="*/ 0 60000 65536"/>
                <a:gd name="T7" fmla="*/ 0 60000 65536"/>
                <a:gd name="T8" fmla="*/ 0 60000 65536"/>
                <a:gd name="T9" fmla="*/ 0 w 1"/>
                <a:gd name="T10" fmla="*/ 0 h 292"/>
                <a:gd name="T11" fmla="*/ 1 w 1"/>
                <a:gd name="T12" fmla="*/ 292 h 2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2">
                  <a:moveTo>
                    <a:pt x="0" y="0"/>
                  </a:moveTo>
                  <a:lnTo>
                    <a:pt x="0" y="291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" name="Freeform 48"/>
            <p:cNvSpPr>
              <a:spLocks/>
            </p:cNvSpPr>
            <p:nvPr/>
          </p:nvSpPr>
          <p:spPr bwMode="auto">
            <a:xfrm>
              <a:off x="2146" y="1940"/>
              <a:ext cx="254" cy="78"/>
            </a:xfrm>
            <a:custGeom>
              <a:avLst/>
              <a:gdLst>
                <a:gd name="T0" fmla="*/ 0 w 254"/>
                <a:gd name="T1" fmla="*/ 0 h 78"/>
                <a:gd name="T2" fmla="*/ 253 w 254"/>
                <a:gd name="T3" fmla="*/ 77 h 78"/>
                <a:gd name="T4" fmla="*/ 0 w 254"/>
                <a:gd name="T5" fmla="*/ 0 h 78"/>
                <a:gd name="T6" fmla="*/ 0 60000 65536"/>
                <a:gd name="T7" fmla="*/ 0 60000 65536"/>
                <a:gd name="T8" fmla="*/ 0 60000 65536"/>
                <a:gd name="T9" fmla="*/ 0 w 254"/>
                <a:gd name="T10" fmla="*/ 0 h 78"/>
                <a:gd name="T11" fmla="*/ 254 w 254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4" h="78">
                  <a:moveTo>
                    <a:pt x="0" y="0"/>
                  </a:moveTo>
                  <a:lnTo>
                    <a:pt x="253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" name="Freeform 49"/>
            <p:cNvSpPr>
              <a:spLocks/>
            </p:cNvSpPr>
            <p:nvPr/>
          </p:nvSpPr>
          <p:spPr bwMode="auto">
            <a:xfrm>
              <a:off x="2299" y="1967"/>
              <a:ext cx="101" cy="51"/>
            </a:xfrm>
            <a:custGeom>
              <a:avLst/>
              <a:gdLst>
                <a:gd name="T0" fmla="*/ 15 w 101"/>
                <a:gd name="T1" fmla="*/ 0 h 51"/>
                <a:gd name="T2" fmla="*/ 100 w 101"/>
                <a:gd name="T3" fmla="*/ 50 h 51"/>
                <a:gd name="T4" fmla="*/ 0 w 101"/>
                <a:gd name="T5" fmla="*/ 45 h 51"/>
                <a:gd name="T6" fmla="*/ 15 w 101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51"/>
                <a:gd name="T14" fmla="*/ 101 w 101"/>
                <a:gd name="T15" fmla="*/ 51 h 5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51">
                  <a:moveTo>
                    <a:pt x="15" y="0"/>
                  </a:moveTo>
                  <a:lnTo>
                    <a:pt x="100" y="50"/>
                  </a:lnTo>
                  <a:lnTo>
                    <a:pt x="0" y="45"/>
                  </a:lnTo>
                  <a:lnTo>
                    <a:pt x="15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" name="Rectangle 50"/>
            <p:cNvSpPr>
              <a:spLocks noChangeArrowheads="1"/>
            </p:cNvSpPr>
            <p:nvPr/>
          </p:nvSpPr>
          <p:spPr bwMode="auto">
            <a:xfrm>
              <a:off x="380" y="3563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10*</a:t>
              </a:r>
            </a:p>
          </p:txBody>
        </p:sp>
        <p:sp>
          <p:nvSpPr>
            <p:cNvPr id="211" name="Rectangle 51"/>
            <p:cNvSpPr>
              <a:spLocks noChangeArrowheads="1"/>
            </p:cNvSpPr>
            <p:nvPr/>
          </p:nvSpPr>
          <p:spPr bwMode="auto">
            <a:xfrm>
              <a:off x="720" y="3563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15*</a:t>
              </a:r>
            </a:p>
          </p:txBody>
        </p:sp>
        <p:sp>
          <p:nvSpPr>
            <p:cNvPr id="212" name="Rectangle 52"/>
            <p:cNvSpPr>
              <a:spLocks noChangeArrowheads="1"/>
            </p:cNvSpPr>
            <p:nvPr/>
          </p:nvSpPr>
          <p:spPr bwMode="auto">
            <a:xfrm>
              <a:off x="1235" y="3563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20*</a:t>
              </a:r>
            </a:p>
          </p:txBody>
        </p:sp>
        <p:sp>
          <p:nvSpPr>
            <p:cNvPr id="213" name="Rectangle 53"/>
            <p:cNvSpPr>
              <a:spLocks noChangeArrowheads="1"/>
            </p:cNvSpPr>
            <p:nvPr/>
          </p:nvSpPr>
          <p:spPr bwMode="auto">
            <a:xfrm>
              <a:off x="1593" y="3563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27*</a:t>
              </a:r>
            </a:p>
          </p:txBody>
        </p:sp>
        <p:sp>
          <p:nvSpPr>
            <p:cNvPr id="214" name="Rectangle 54"/>
            <p:cNvSpPr>
              <a:spLocks noChangeArrowheads="1"/>
            </p:cNvSpPr>
            <p:nvPr/>
          </p:nvSpPr>
          <p:spPr bwMode="auto">
            <a:xfrm>
              <a:off x="2098" y="3563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33*</a:t>
              </a:r>
            </a:p>
          </p:txBody>
        </p:sp>
        <p:sp>
          <p:nvSpPr>
            <p:cNvPr id="215" name="Rectangle 55"/>
            <p:cNvSpPr>
              <a:spLocks noChangeArrowheads="1"/>
            </p:cNvSpPr>
            <p:nvPr/>
          </p:nvSpPr>
          <p:spPr bwMode="auto">
            <a:xfrm>
              <a:off x="2428" y="3563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37*</a:t>
              </a:r>
            </a:p>
          </p:txBody>
        </p:sp>
        <p:sp>
          <p:nvSpPr>
            <p:cNvPr id="216" name="Rectangle 56"/>
            <p:cNvSpPr>
              <a:spLocks noChangeArrowheads="1"/>
            </p:cNvSpPr>
            <p:nvPr/>
          </p:nvSpPr>
          <p:spPr bwMode="auto">
            <a:xfrm>
              <a:off x="2952" y="3562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40*</a:t>
              </a:r>
            </a:p>
          </p:txBody>
        </p:sp>
        <p:sp>
          <p:nvSpPr>
            <p:cNvPr id="217" name="Rectangle 57"/>
            <p:cNvSpPr>
              <a:spLocks noChangeArrowheads="1"/>
            </p:cNvSpPr>
            <p:nvPr/>
          </p:nvSpPr>
          <p:spPr bwMode="auto">
            <a:xfrm>
              <a:off x="3283" y="3552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46*</a:t>
              </a:r>
            </a:p>
          </p:txBody>
        </p:sp>
        <p:sp>
          <p:nvSpPr>
            <p:cNvPr id="218" name="Rectangle 58"/>
            <p:cNvSpPr>
              <a:spLocks noChangeArrowheads="1"/>
            </p:cNvSpPr>
            <p:nvPr/>
          </p:nvSpPr>
          <p:spPr bwMode="auto">
            <a:xfrm>
              <a:off x="3788" y="3562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51*</a:t>
              </a:r>
            </a:p>
          </p:txBody>
        </p:sp>
        <p:sp>
          <p:nvSpPr>
            <p:cNvPr id="219" name="Rectangle 59"/>
            <p:cNvSpPr>
              <a:spLocks noChangeArrowheads="1"/>
            </p:cNvSpPr>
            <p:nvPr/>
          </p:nvSpPr>
          <p:spPr bwMode="auto">
            <a:xfrm>
              <a:off x="4157" y="3552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55*</a:t>
              </a:r>
            </a:p>
          </p:txBody>
        </p:sp>
        <p:sp>
          <p:nvSpPr>
            <p:cNvPr id="220" name="Rectangle 60"/>
            <p:cNvSpPr>
              <a:spLocks noChangeArrowheads="1"/>
            </p:cNvSpPr>
            <p:nvPr/>
          </p:nvSpPr>
          <p:spPr bwMode="auto">
            <a:xfrm>
              <a:off x="4642" y="3572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63*</a:t>
              </a:r>
            </a:p>
          </p:txBody>
        </p:sp>
        <p:sp>
          <p:nvSpPr>
            <p:cNvPr id="221" name="Rectangle 61"/>
            <p:cNvSpPr>
              <a:spLocks noChangeArrowheads="1"/>
            </p:cNvSpPr>
            <p:nvPr/>
          </p:nvSpPr>
          <p:spPr bwMode="auto">
            <a:xfrm>
              <a:off x="4992" y="3562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97*</a:t>
              </a:r>
            </a:p>
          </p:txBody>
        </p:sp>
        <p:sp>
          <p:nvSpPr>
            <p:cNvPr id="222" name="Rectangle 62"/>
            <p:cNvSpPr>
              <a:spLocks noChangeArrowheads="1"/>
            </p:cNvSpPr>
            <p:nvPr/>
          </p:nvSpPr>
          <p:spPr bwMode="auto">
            <a:xfrm>
              <a:off x="1282" y="2778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20</a:t>
              </a:r>
            </a:p>
          </p:txBody>
        </p:sp>
        <p:sp>
          <p:nvSpPr>
            <p:cNvPr id="223" name="Rectangle 63"/>
            <p:cNvSpPr>
              <a:spLocks noChangeArrowheads="1"/>
            </p:cNvSpPr>
            <p:nvPr/>
          </p:nvSpPr>
          <p:spPr bwMode="auto">
            <a:xfrm>
              <a:off x="1593" y="2778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33</a:t>
              </a:r>
            </a:p>
          </p:txBody>
        </p:sp>
        <p:sp>
          <p:nvSpPr>
            <p:cNvPr id="224" name="Rectangle 64"/>
            <p:cNvSpPr>
              <a:spLocks noChangeArrowheads="1"/>
            </p:cNvSpPr>
            <p:nvPr/>
          </p:nvSpPr>
          <p:spPr bwMode="auto">
            <a:xfrm>
              <a:off x="3846" y="2777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51</a:t>
              </a:r>
            </a:p>
          </p:txBody>
        </p:sp>
        <p:sp>
          <p:nvSpPr>
            <p:cNvPr id="225" name="Rectangle 65"/>
            <p:cNvSpPr>
              <a:spLocks noChangeArrowheads="1"/>
            </p:cNvSpPr>
            <p:nvPr/>
          </p:nvSpPr>
          <p:spPr bwMode="auto">
            <a:xfrm>
              <a:off x="4146" y="2777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63</a:t>
              </a:r>
            </a:p>
          </p:txBody>
        </p:sp>
        <p:sp>
          <p:nvSpPr>
            <p:cNvPr id="226" name="Rectangle 66"/>
            <p:cNvSpPr>
              <a:spLocks noChangeArrowheads="1"/>
            </p:cNvSpPr>
            <p:nvPr/>
          </p:nvSpPr>
          <p:spPr bwMode="auto">
            <a:xfrm>
              <a:off x="2516" y="2080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40</a:t>
              </a:r>
            </a:p>
          </p:txBody>
        </p:sp>
        <p:sp>
          <p:nvSpPr>
            <p:cNvPr id="227" name="Rectangle 67"/>
            <p:cNvSpPr>
              <a:spLocks noChangeArrowheads="1"/>
            </p:cNvSpPr>
            <p:nvPr/>
          </p:nvSpPr>
          <p:spPr bwMode="auto">
            <a:xfrm>
              <a:off x="1669" y="1868"/>
              <a:ext cx="37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400" u="none">
                  <a:solidFill>
                    <a:srgbClr val="000000"/>
                  </a:solidFill>
                  <a:latin typeface="Arial" pitchFamily="34" charset="0"/>
                </a:rPr>
                <a:t>Root</a:t>
              </a:r>
            </a:p>
          </p:txBody>
        </p:sp>
      </p:grpSp>
      <p:sp>
        <p:nvSpPr>
          <p:cNvPr id="3" name="Left Bracket 2"/>
          <p:cNvSpPr/>
          <p:nvPr/>
        </p:nvSpPr>
        <p:spPr>
          <a:xfrm>
            <a:off x="1750144" y="2501106"/>
            <a:ext cx="579438" cy="1981200"/>
          </a:xfrm>
          <a:prstGeom prst="leftBracket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56318" y="3155043"/>
            <a:ext cx="12108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B050"/>
                </a:solidFill>
              </a:rPr>
              <a:t>Non-Leaf </a:t>
            </a:r>
            <a:br>
              <a:rPr lang="en-US" sz="2000" b="1" dirty="0" smtClean="0">
                <a:solidFill>
                  <a:srgbClr val="00B050"/>
                </a:solidFill>
              </a:rPr>
            </a:br>
            <a:r>
              <a:rPr lang="en-US" sz="2000" b="1" dirty="0" smtClean="0">
                <a:solidFill>
                  <a:srgbClr val="00B050"/>
                </a:solidFill>
              </a:rPr>
              <a:t>Pages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71" name="Left Bracket 70"/>
          <p:cNvSpPr/>
          <p:nvPr/>
        </p:nvSpPr>
        <p:spPr>
          <a:xfrm>
            <a:off x="886958" y="5030788"/>
            <a:ext cx="276225" cy="684212"/>
          </a:xfrm>
          <a:prstGeom prst="leftBracket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/>
          <p:cNvSpPr txBox="1"/>
          <p:nvPr/>
        </p:nvSpPr>
        <p:spPr>
          <a:xfrm>
            <a:off x="68288" y="5015367"/>
            <a:ext cx="7940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B050"/>
                </a:solidFill>
              </a:rPr>
              <a:t>Leaf </a:t>
            </a:r>
            <a:br>
              <a:rPr lang="en-US" sz="2000" b="1" dirty="0" smtClean="0">
                <a:solidFill>
                  <a:srgbClr val="00B050"/>
                </a:solidFill>
              </a:rPr>
            </a:br>
            <a:r>
              <a:rPr lang="en-US" sz="2000" b="1" dirty="0" smtClean="0">
                <a:solidFill>
                  <a:srgbClr val="00B050"/>
                </a:solidFill>
              </a:rPr>
              <a:t>Pages</a:t>
            </a:r>
            <a:endParaRPr lang="en-US" sz="2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80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71" grpId="0" animBg="1"/>
      <p:bldP spid="7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ISAM Trees: Page Overflows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What </a:t>
            </a:r>
            <a:r>
              <a:rPr lang="en-US" sz="2800" dirty="0"/>
              <a:t>if there are a lot of </a:t>
            </a:r>
            <a:r>
              <a:rPr lang="en-US" sz="2800" dirty="0" smtClean="0"/>
              <a:t>insertions after creating </a:t>
            </a:r>
            <a:br>
              <a:rPr lang="en-US" sz="2800" dirty="0" smtClean="0"/>
            </a:br>
            <a:r>
              <a:rPr lang="en-US" sz="2800" dirty="0" smtClean="0"/>
              <a:t>the tree?</a:t>
            </a:r>
            <a:endParaRPr lang="en-US" sz="2800" dirty="0"/>
          </a:p>
          <a:p>
            <a:pPr marL="0" indent="0">
              <a:buNone/>
            </a:pPr>
            <a:endParaRPr lang="en-US" sz="2800" i="1" dirty="0" smtClean="0">
              <a:solidFill>
                <a:srgbClr val="0070C0"/>
              </a:solidFill>
            </a:endParaRPr>
          </a:p>
          <a:p>
            <a:pPr>
              <a:buFont typeface="Wingdings" pitchFamily="2" charset="2"/>
              <a:buChar char="§"/>
            </a:pPr>
            <a:endParaRPr lang="en-US" sz="2800" i="1" dirty="0">
              <a:solidFill>
                <a:srgbClr val="0070C0"/>
              </a:solidFill>
            </a:endParaRPr>
          </a:p>
          <a:p>
            <a:pPr>
              <a:buFont typeface="Wingdings" pitchFamily="2" charset="2"/>
              <a:buChar char="§"/>
            </a:pPr>
            <a:endParaRPr lang="en-US" sz="2800" i="1" dirty="0" smtClean="0">
              <a:solidFill>
                <a:srgbClr val="0070C0"/>
              </a:solidFill>
            </a:endParaRPr>
          </a:p>
          <a:p>
            <a:pPr>
              <a:buFont typeface="Wingdings" pitchFamily="2" charset="2"/>
              <a:buChar char="§"/>
            </a:pPr>
            <a:endParaRPr lang="en-US" sz="2800" i="1" dirty="0">
              <a:solidFill>
                <a:srgbClr val="0070C0"/>
              </a:solidFill>
            </a:endParaRPr>
          </a:p>
          <a:p>
            <a:pPr>
              <a:buFont typeface="Wingdings" pitchFamily="2" charset="2"/>
              <a:buChar char="§"/>
            </a:pPr>
            <a:endParaRPr lang="en-US" sz="2800" i="1" dirty="0" smtClean="0">
              <a:solidFill>
                <a:srgbClr val="0070C0"/>
              </a:solidFill>
            </a:endParaRPr>
          </a:p>
          <a:p>
            <a:pPr>
              <a:buFont typeface="Wingdings" pitchFamily="2" charset="2"/>
              <a:buChar char="§"/>
            </a:pPr>
            <a:endParaRPr lang="en-US" sz="2800" i="1" dirty="0">
              <a:solidFill>
                <a:srgbClr val="0070C0"/>
              </a:solidFill>
            </a:endParaRPr>
          </a:p>
          <a:p>
            <a:pPr>
              <a:buFont typeface="Wingdings" pitchFamily="2" charset="2"/>
              <a:buChar char="§"/>
            </a:pPr>
            <a:endParaRPr lang="en-US" sz="2800" i="1" dirty="0" smtClean="0">
              <a:solidFill>
                <a:srgbClr val="0070C0"/>
              </a:solidFill>
            </a:endParaRPr>
          </a:p>
          <a:p>
            <a:pPr>
              <a:buFont typeface="Wingdings" pitchFamily="2" charset="2"/>
              <a:buChar char="§"/>
            </a:pPr>
            <a:endParaRPr lang="en-US" sz="2800" i="1" dirty="0">
              <a:solidFill>
                <a:srgbClr val="0070C0"/>
              </a:solidFill>
            </a:endParaRPr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endParaRPr lang="en-US" sz="2400" dirty="0" smtClean="0"/>
          </a:p>
          <a:p>
            <a:pPr>
              <a:buFont typeface="Wingdings" pitchFamily="2" charset="2"/>
              <a:buChar char="§"/>
            </a:pPr>
            <a:endParaRPr lang="en-US" sz="2400" dirty="0" smtClean="0"/>
          </a:p>
          <a:p>
            <a:pPr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endParaRPr lang="en-US" sz="2400" dirty="0" smtClean="0"/>
          </a:p>
          <a:p>
            <a:pPr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endParaRPr lang="en-US" sz="2400" dirty="0"/>
          </a:p>
        </p:txBody>
      </p:sp>
      <p:sp>
        <p:nvSpPr>
          <p:cNvPr id="44" name="Freeform 41"/>
          <p:cNvSpPr>
            <a:spLocks/>
          </p:cNvSpPr>
          <p:nvPr/>
        </p:nvSpPr>
        <p:spPr bwMode="auto">
          <a:xfrm>
            <a:off x="1200150" y="4948237"/>
            <a:ext cx="450850" cy="225425"/>
          </a:xfrm>
          <a:custGeom>
            <a:avLst/>
            <a:gdLst>
              <a:gd name="T0" fmla="*/ 0 w 284"/>
              <a:gd name="T1" fmla="*/ 223838 h 142"/>
              <a:gd name="T2" fmla="*/ 0 w 284"/>
              <a:gd name="T3" fmla="*/ 0 h 142"/>
              <a:gd name="T4" fmla="*/ 449263 w 284"/>
              <a:gd name="T5" fmla="*/ 0 h 142"/>
              <a:gd name="T6" fmla="*/ 449263 w 284"/>
              <a:gd name="T7" fmla="*/ 223838 h 142"/>
              <a:gd name="T8" fmla="*/ 0 w 284"/>
              <a:gd name="T9" fmla="*/ 223838 h 1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4"/>
              <a:gd name="T16" fmla="*/ 0 h 142"/>
              <a:gd name="T17" fmla="*/ 284 w 284"/>
              <a:gd name="T18" fmla="*/ 142 h 1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4" h="142">
                <a:moveTo>
                  <a:pt x="0" y="141"/>
                </a:moveTo>
                <a:lnTo>
                  <a:pt x="0" y="0"/>
                </a:lnTo>
                <a:lnTo>
                  <a:pt x="283" y="0"/>
                </a:lnTo>
                <a:lnTo>
                  <a:pt x="283" y="141"/>
                </a:lnTo>
                <a:lnTo>
                  <a:pt x="0" y="14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Freeform 42"/>
          <p:cNvSpPr>
            <a:spLocks/>
          </p:cNvSpPr>
          <p:nvPr/>
        </p:nvSpPr>
        <p:spPr bwMode="auto">
          <a:xfrm>
            <a:off x="2101850" y="4948237"/>
            <a:ext cx="450850" cy="225425"/>
          </a:xfrm>
          <a:custGeom>
            <a:avLst/>
            <a:gdLst>
              <a:gd name="T0" fmla="*/ 0 w 284"/>
              <a:gd name="T1" fmla="*/ 223838 h 142"/>
              <a:gd name="T2" fmla="*/ 0 w 284"/>
              <a:gd name="T3" fmla="*/ 0 h 142"/>
              <a:gd name="T4" fmla="*/ 449263 w 284"/>
              <a:gd name="T5" fmla="*/ 0 h 142"/>
              <a:gd name="T6" fmla="*/ 449263 w 284"/>
              <a:gd name="T7" fmla="*/ 223838 h 142"/>
              <a:gd name="T8" fmla="*/ 0 w 284"/>
              <a:gd name="T9" fmla="*/ 223838 h 1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4"/>
              <a:gd name="T16" fmla="*/ 0 h 142"/>
              <a:gd name="T17" fmla="*/ 284 w 284"/>
              <a:gd name="T18" fmla="*/ 142 h 1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4" h="142">
                <a:moveTo>
                  <a:pt x="0" y="141"/>
                </a:moveTo>
                <a:lnTo>
                  <a:pt x="0" y="0"/>
                </a:lnTo>
                <a:lnTo>
                  <a:pt x="283" y="0"/>
                </a:lnTo>
                <a:lnTo>
                  <a:pt x="283" y="141"/>
                </a:lnTo>
                <a:lnTo>
                  <a:pt x="0" y="14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Freeform 43"/>
          <p:cNvSpPr>
            <a:spLocks/>
          </p:cNvSpPr>
          <p:nvPr/>
        </p:nvSpPr>
        <p:spPr bwMode="auto">
          <a:xfrm>
            <a:off x="3114675" y="4948237"/>
            <a:ext cx="452438" cy="225425"/>
          </a:xfrm>
          <a:custGeom>
            <a:avLst/>
            <a:gdLst>
              <a:gd name="T0" fmla="*/ 0 w 285"/>
              <a:gd name="T1" fmla="*/ 223838 h 142"/>
              <a:gd name="T2" fmla="*/ 0 w 285"/>
              <a:gd name="T3" fmla="*/ 0 h 142"/>
              <a:gd name="T4" fmla="*/ 450850 w 285"/>
              <a:gd name="T5" fmla="*/ 0 h 142"/>
              <a:gd name="T6" fmla="*/ 450850 w 285"/>
              <a:gd name="T7" fmla="*/ 223838 h 142"/>
              <a:gd name="T8" fmla="*/ 0 w 285"/>
              <a:gd name="T9" fmla="*/ 223838 h 1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5"/>
              <a:gd name="T16" fmla="*/ 0 h 142"/>
              <a:gd name="T17" fmla="*/ 285 w 285"/>
              <a:gd name="T18" fmla="*/ 142 h 1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5" h="142">
                <a:moveTo>
                  <a:pt x="0" y="141"/>
                </a:moveTo>
                <a:lnTo>
                  <a:pt x="0" y="0"/>
                </a:lnTo>
                <a:lnTo>
                  <a:pt x="284" y="0"/>
                </a:lnTo>
                <a:lnTo>
                  <a:pt x="284" y="141"/>
                </a:lnTo>
                <a:lnTo>
                  <a:pt x="0" y="14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Freeform 44"/>
          <p:cNvSpPr>
            <a:spLocks/>
          </p:cNvSpPr>
          <p:nvPr/>
        </p:nvSpPr>
        <p:spPr bwMode="auto">
          <a:xfrm>
            <a:off x="4014788" y="4948237"/>
            <a:ext cx="452437" cy="225425"/>
          </a:xfrm>
          <a:custGeom>
            <a:avLst/>
            <a:gdLst>
              <a:gd name="T0" fmla="*/ 0 w 285"/>
              <a:gd name="T1" fmla="*/ 223838 h 142"/>
              <a:gd name="T2" fmla="*/ 0 w 285"/>
              <a:gd name="T3" fmla="*/ 0 h 142"/>
              <a:gd name="T4" fmla="*/ 450850 w 285"/>
              <a:gd name="T5" fmla="*/ 0 h 142"/>
              <a:gd name="T6" fmla="*/ 450850 w 285"/>
              <a:gd name="T7" fmla="*/ 223838 h 142"/>
              <a:gd name="T8" fmla="*/ 0 w 285"/>
              <a:gd name="T9" fmla="*/ 223838 h 1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5"/>
              <a:gd name="T16" fmla="*/ 0 h 142"/>
              <a:gd name="T17" fmla="*/ 285 w 285"/>
              <a:gd name="T18" fmla="*/ 142 h 1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5" h="142">
                <a:moveTo>
                  <a:pt x="0" y="141"/>
                </a:moveTo>
                <a:lnTo>
                  <a:pt x="0" y="0"/>
                </a:lnTo>
                <a:lnTo>
                  <a:pt x="284" y="0"/>
                </a:lnTo>
                <a:lnTo>
                  <a:pt x="284" y="141"/>
                </a:lnTo>
                <a:lnTo>
                  <a:pt x="0" y="14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" name="Freeform 45"/>
          <p:cNvSpPr>
            <a:spLocks/>
          </p:cNvSpPr>
          <p:nvPr/>
        </p:nvSpPr>
        <p:spPr bwMode="auto">
          <a:xfrm>
            <a:off x="5029200" y="4948237"/>
            <a:ext cx="450850" cy="225425"/>
          </a:xfrm>
          <a:custGeom>
            <a:avLst/>
            <a:gdLst>
              <a:gd name="T0" fmla="*/ 0 w 284"/>
              <a:gd name="T1" fmla="*/ 223838 h 142"/>
              <a:gd name="T2" fmla="*/ 0 w 284"/>
              <a:gd name="T3" fmla="*/ 0 h 142"/>
              <a:gd name="T4" fmla="*/ 449263 w 284"/>
              <a:gd name="T5" fmla="*/ 0 h 142"/>
              <a:gd name="T6" fmla="*/ 449263 w 284"/>
              <a:gd name="T7" fmla="*/ 223838 h 142"/>
              <a:gd name="T8" fmla="*/ 0 w 284"/>
              <a:gd name="T9" fmla="*/ 223838 h 1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4"/>
              <a:gd name="T16" fmla="*/ 0 h 142"/>
              <a:gd name="T17" fmla="*/ 284 w 284"/>
              <a:gd name="T18" fmla="*/ 142 h 1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4" h="142">
                <a:moveTo>
                  <a:pt x="0" y="141"/>
                </a:moveTo>
                <a:lnTo>
                  <a:pt x="0" y="0"/>
                </a:lnTo>
                <a:lnTo>
                  <a:pt x="283" y="0"/>
                </a:lnTo>
                <a:lnTo>
                  <a:pt x="283" y="141"/>
                </a:lnTo>
                <a:lnTo>
                  <a:pt x="0" y="14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Freeform 46"/>
          <p:cNvSpPr>
            <a:spLocks/>
          </p:cNvSpPr>
          <p:nvPr/>
        </p:nvSpPr>
        <p:spPr bwMode="auto">
          <a:xfrm>
            <a:off x="5929313" y="4948237"/>
            <a:ext cx="450850" cy="225425"/>
          </a:xfrm>
          <a:custGeom>
            <a:avLst/>
            <a:gdLst>
              <a:gd name="T0" fmla="*/ 0 w 284"/>
              <a:gd name="T1" fmla="*/ 223838 h 142"/>
              <a:gd name="T2" fmla="*/ 0 w 284"/>
              <a:gd name="T3" fmla="*/ 0 h 142"/>
              <a:gd name="T4" fmla="*/ 449263 w 284"/>
              <a:gd name="T5" fmla="*/ 0 h 142"/>
              <a:gd name="T6" fmla="*/ 449263 w 284"/>
              <a:gd name="T7" fmla="*/ 223838 h 142"/>
              <a:gd name="T8" fmla="*/ 0 w 284"/>
              <a:gd name="T9" fmla="*/ 223838 h 1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4"/>
              <a:gd name="T16" fmla="*/ 0 h 142"/>
              <a:gd name="T17" fmla="*/ 284 w 284"/>
              <a:gd name="T18" fmla="*/ 142 h 1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4" h="142">
                <a:moveTo>
                  <a:pt x="0" y="141"/>
                </a:moveTo>
                <a:lnTo>
                  <a:pt x="0" y="0"/>
                </a:lnTo>
                <a:lnTo>
                  <a:pt x="283" y="0"/>
                </a:lnTo>
                <a:lnTo>
                  <a:pt x="283" y="141"/>
                </a:lnTo>
                <a:lnTo>
                  <a:pt x="0" y="14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" name="Freeform 47"/>
          <p:cNvSpPr>
            <a:spLocks/>
          </p:cNvSpPr>
          <p:nvPr/>
        </p:nvSpPr>
        <p:spPr bwMode="auto">
          <a:xfrm>
            <a:off x="6943725" y="4948237"/>
            <a:ext cx="450850" cy="225425"/>
          </a:xfrm>
          <a:custGeom>
            <a:avLst/>
            <a:gdLst>
              <a:gd name="T0" fmla="*/ 0 w 284"/>
              <a:gd name="T1" fmla="*/ 223838 h 142"/>
              <a:gd name="T2" fmla="*/ 0 w 284"/>
              <a:gd name="T3" fmla="*/ 0 h 142"/>
              <a:gd name="T4" fmla="*/ 449263 w 284"/>
              <a:gd name="T5" fmla="*/ 0 h 142"/>
              <a:gd name="T6" fmla="*/ 449263 w 284"/>
              <a:gd name="T7" fmla="*/ 223838 h 142"/>
              <a:gd name="T8" fmla="*/ 0 w 284"/>
              <a:gd name="T9" fmla="*/ 223838 h 1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4"/>
              <a:gd name="T16" fmla="*/ 0 h 142"/>
              <a:gd name="T17" fmla="*/ 284 w 284"/>
              <a:gd name="T18" fmla="*/ 142 h 1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4" h="142">
                <a:moveTo>
                  <a:pt x="0" y="141"/>
                </a:moveTo>
                <a:lnTo>
                  <a:pt x="0" y="0"/>
                </a:lnTo>
                <a:lnTo>
                  <a:pt x="283" y="0"/>
                </a:lnTo>
                <a:lnTo>
                  <a:pt x="283" y="141"/>
                </a:lnTo>
                <a:lnTo>
                  <a:pt x="0" y="14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Freeform 48"/>
          <p:cNvSpPr>
            <a:spLocks/>
          </p:cNvSpPr>
          <p:nvPr/>
        </p:nvSpPr>
        <p:spPr bwMode="auto">
          <a:xfrm>
            <a:off x="7842250" y="4948237"/>
            <a:ext cx="454025" cy="225425"/>
          </a:xfrm>
          <a:custGeom>
            <a:avLst/>
            <a:gdLst>
              <a:gd name="T0" fmla="*/ 0 w 286"/>
              <a:gd name="T1" fmla="*/ 223838 h 142"/>
              <a:gd name="T2" fmla="*/ 0 w 286"/>
              <a:gd name="T3" fmla="*/ 0 h 142"/>
              <a:gd name="T4" fmla="*/ 452438 w 286"/>
              <a:gd name="T5" fmla="*/ 0 h 142"/>
              <a:gd name="T6" fmla="*/ 452438 w 286"/>
              <a:gd name="T7" fmla="*/ 223838 h 142"/>
              <a:gd name="T8" fmla="*/ 0 w 286"/>
              <a:gd name="T9" fmla="*/ 223838 h 1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6"/>
              <a:gd name="T16" fmla="*/ 0 h 142"/>
              <a:gd name="T17" fmla="*/ 286 w 286"/>
              <a:gd name="T18" fmla="*/ 142 h 1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6" h="142">
                <a:moveTo>
                  <a:pt x="0" y="141"/>
                </a:moveTo>
                <a:lnTo>
                  <a:pt x="0" y="0"/>
                </a:lnTo>
                <a:lnTo>
                  <a:pt x="285" y="0"/>
                </a:lnTo>
                <a:lnTo>
                  <a:pt x="285" y="141"/>
                </a:lnTo>
                <a:lnTo>
                  <a:pt x="0" y="14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" name="Freeform 49"/>
          <p:cNvSpPr>
            <a:spLocks/>
          </p:cNvSpPr>
          <p:nvPr/>
        </p:nvSpPr>
        <p:spPr bwMode="auto">
          <a:xfrm>
            <a:off x="1649413" y="4386262"/>
            <a:ext cx="454025" cy="225425"/>
          </a:xfrm>
          <a:custGeom>
            <a:avLst/>
            <a:gdLst>
              <a:gd name="T0" fmla="*/ 0 w 286"/>
              <a:gd name="T1" fmla="*/ 223838 h 142"/>
              <a:gd name="T2" fmla="*/ 0 w 286"/>
              <a:gd name="T3" fmla="*/ 0 h 142"/>
              <a:gd name="T4" fmla="*/ 452438 w 286"/>
              <a:gd name="T5" fmla="*/ 0 h 142"/>
              <a:gd name="T6" fmla="*/ 452438 w 286"/>
              <a:gd name="T7" fmla="*/ 223838 h 142"/>
              <a:gd name="T8" fmla="*/ 0 w 286"/>
              <a:gd name="T9" fmla="*/ 223838 h 1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6"/>
              <a:gd name="T16" fmla="*/ 0 h 142"/>
              <a:gd name="T17" fmla="*/ 286 w 286"/>
              <a:gd name="T18" fmla="*/ 142 h 1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6" h="142">
                <a:moveTo>
                  <a:pt x="0" y="141"/>
                </a:moveTo>
                <a:lnTo>
                  <a:pt x="0" y="0"/>
                </a:lnTo>
                <a:lnTo>
                  <a:pt x="285" y="0"/>
                </a:lnTo>
                <a:lnTo>
                  <a:pt x="285" y="141"/>
                </a:lnTo>
                <a:lnTo>
                  <a:pt x="0" y="141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Freeform 50"/>
          <p:cNvSpPr>
            <a:spLocks/>
          </p:cNvSpPr>
          <p:nvPr/>
        </p:nvSpPr>
        <p:spPr bwMode="auto">
          <a:xfrm>
            <a:off x="3565525" y="4386262"/>
            <a:ext cx="450850" cy="225425"/>
          </a:xfrm>
          <a:custGeom>
            <a:avLst/>
            <a:gdLst>
              <a:gd name="T0" fmla="*/ 0 w 284"/>
              <a:gd name="T1" fmla="*/ 223838 h 142"/>
              <a:gd name="T2" fmla="*/ 0 w 284"/>
              <a:gd name="T3" fmla="*/ 0 h 142"/>
              <a:gd name="T4" fmla="*/ 449263 w 284"/>
              <a:gd name="T5" fmla="*/ 0 h 142"/>
              <a:gd name="T6" fmla="*/ 449263 w 284"/>
              <a:gd name="T7" fmla="*/ 223838 h 142"/>
              <a:gd name="T8" fmla="*/ 0 w 284"/>
              <a:gd name="T9" fmla="*/ 223838 h 1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4"/>
              <a:gd name="T16" fmla="*/ 0 h 142"/>
              <a:gd name="T17" fmla="*/ 284 w 284"/>
              <a:gd name="T18" fmla="*/ 142 h 1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4" h="142">
                <a:moveTo>
                  <a:pt x="0" y="141"/>
                </a:moveTo>
                <a:lnTo>
                  <a:pt x="0" y="0"/>
                </a:lnTo>
                <a:lnTo>
                  <a:pt x="283" y="0"/>
                </a:lnTo>
                <a:lnTo>
                  <a:pt x="283" y="141"/>
                </a:lnTo>
                <a:lnTo>
                  <a:pt x="0" y="141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" name="Freeform 51"/>
          <p:cNvSpPr>
            <a:spLocks/>
          </p:cNvSpPr>
          <p:nvPr/>
        </p:nvSpPr>
        <p:spPr bwMode="auto">
          <a:xfrm>
            <a:off x="5478463" y="4386262"/>
            <a:ext cx="452437" cy="225425"/>
          </a:xfrm>
          <a:custGeom>
            <a:avLst/>
            <a:gdLst>
              <a:gd name="T0" fmla="*/ 0 w 285"/>
              <a:gd name="T1" fmla="*/ 223838 h 142"/>
              <a:gd name="T2" fmla="*/ 0 w 285"/>
              <a:gd name="T3" fmla="*/ 0 h 142"/>
              <a:gd name="T4" fmla="*/ 450850 w 285"/>
              <a:gd name="T5" fmla="*/ 0 h 142"/>
              <a:gd name="T6" fmla="*/ 450850 w 285"/>
              <a:gd name="T7" fmla="*/ 223838 h 142"/>
              <a:gd name="T8" fmla="*/ 0 w 285"/>
              <a:gd name="T9" fmla="*/ 223838 h 1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5"/>
              <a:gd name="T16" fmla="*/ 0 h 142"/>
              <a:gd name="T17" fmla="*/ 285 w 285"/>
              <a:gd name="T18" fmla="*/ 142 h 1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5" h="142">
                <a:moveTo>
                  <a:pt x="0" y="141"/>
                </a:moveTo>
                <a:lnTo>
                  <a:pt x="0" y="0"/>
                </a:lnTo>
                <a:lnTo>
                  <a:pt x="284" y="0"/>
                </a:lnTo>
                <a:lnTo>
                  <a:pt x="284" y="141"/>
                </a:lnTo>
                <a:lnTo>
                  <a:pt x="0" y="141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" name="Freeform 52"/>
          <p:cNvSpPr>
            <a:spLocks/>
          </p:cNvSpPr>
          <p:nvPr/>
        </p:nvSpPr>
        <p:spPr bwMode="auto">
          <a:xfrm>
            <a:off x="7392988" y="4386262"/>
            <a:ext cx="450850" cy="225425"/>
          </a:xfrm>
          <a:custGeom>
            <a:avLst/>
            <a:gdLst>
              <a:gd name="T0" fmla="*/ 0 w 284"/>
              <a:gd name="T1" fmla="*/ 223838 h 142"/>
              <a:gd name="T2" fmla="*/ 0 w 284"/>
              <a:gd name="T3" fmla="*/ 0 h 142"/>
              <a:gd name="T4" fmla="*/ 449263 w 284"/>
              <a:gd name="T5" fmla="*/ 0 h 142"/>
              <a:gd name="T6" fmla="*/ 449263 w 284"/>
              <a:gd name="T7" fmla="*/ 223838 h 142"/>
              <a:gd name="T8" fmla="*/ 0 w 284"/>
              <a:gd name="T9" fmla="*/ 223838 h 1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4"/>
              <a:gd name="T16" fmla="*/ 0 h 142"/>
              <a:gd name="T17" fmla="*/ 284 w 284"/>
              <a:gd name="T18" fmla="*/ 142 h 1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4" h="142">
                <a:moveTo>
                  <a:pt x="0" y="141"/>
                </a:moveTo>
                <a:lnTo>
                  <a:pt x="0" y="0"/>
                </a:lnTo>
                <a:lnTo>
                  <a:pt x="283" y="0"/>
                </a:lnTo>
                <a:lnTo>
                  <a:pt x="283" y="141"/>
                </a:lnTo>
                <a:lnTo>
                  <a:pt x="0" y="141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Freeform 53"/>
          <p:cNvSpPr>
            <a:spLocks/>
          </p:cNvSpPr>
          <p:nvPr/>
        </p:nvSpPr>
        <p:spPr bwMode="auto">
          <a:xfrm>
            <a:off x="6494463" y="3711575"/>
            <a:ext cx="450850" cy="225425"/>
          </a:xfrm>
          <a:custGeom>
            <a:avLst/>
            <a:gdLst>
              <a:gd name="T0" fmla="*/ 0 w 284"/>
              <a:gd name="T1" fmla="*/ 223838 h 142"/>
              <a:gd name="T2" fmla="*/ 0 w 284"/>
              <a:gd name="T3" fmla="*/ 0 h 142"/>
              <a:gd name="T4" fmla="*/ 449263 w 284"/>
              <a:gd name="T5" fmla="*/ 0 h 142"/>
              <a:gd name="T6" fmla="*/ 449263 w 284"/>
              <a:gd name="T7" fmla="*/ 223838 h 142"/>
              <a:gd name="T8" fmla="*/ 0 w 284"/>
              <a:gd name="T9" fmla="*/ 223838 h 1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4"/>
              <a:gd name="T16" fmla="*/ 0 h 142"/>
              <a:gd name="T17" fmla="*/ 284 w 284"/>
              <a:gd name="T18" fmla="*/ 142 h 1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4" h="142">
                <a:moveTo>
                  <a:pt x="0" y="141"/>
                </a:moveTo>
                <a:lnTo>
                  <a:pt x="0" y="0"/>
                </a:lnTo>
                <a:lnTo>
                  <a:pt x="283" y="0"/>
                </a:lnTo>
                <a:lnTo>
                  <a:pt x="283" y="141"/>
                </a:lnTo>
                <a:lnTo>
                  <a:pt x="0" y="141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" name="Freeform 54"/>
          <p:cNvSpPr>
            <a:spLocks/>
          </p:cNvSpPr>
          <p:nvPr/>
        </p:nvSpPr>
        <p:spPr bwMode="auto">
          <a:xfrm>
            <a:off x="2662238" y="3711575"/>
            <a:ext cx="454025" cy="225425"/>
          </a:xfrm>
          <a:custGeom>
            <a:avLst/>
            <a:gdLst>
              <a:gd name="T0" fmla="*/ 0 w 286"/>
              <a:gd name="T1" fmla="*/ 223838 h 142"/>
              <a:gd name="T2" fmla="*/ 0 w 286"/>
              <a:gd name="T3" fmla="*/ 0 h 142"/>
              <a:gd name="T4" fmla="*/ 452438 w 286"/>
              <a:gd name="T5" fmla="*/ 0 h 142"/>
              <a:gd name="T6" fmla="*/ 452438 w 286"/>
              <a:gd name="T7" fmla="*/ 223838 h 142"/>
              <a:gd name="T8" fmla="*/ 0 w 286"/>
              <a:gd name="T9" fmla="*/ 223838 h 1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6"/>
              <a:gd name="T16" fmla="*/ 0 h 142"/>
              <a:gd name="T17" fmla="*/ 286 w 286"/>
              <a:gd name="T18" fmla="*/ 142 h 1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6" h="142">
                <a:moveTo>
                  <a:pt x="0" y="141"/>
                </a:moveTo>
                <a:lnTo>
                  <a:pt x="0" y="0"/>
                </a:lnTo>
                <a:lnTo>
                  <a:pt x="285" y="0"/>
                </a:lnTo>
                <a:lnTo>
                  <a:pt x="285" y="141"/>
                </a:lnTo>
                <a:lnTo>
                  <a:pt x="0" y="141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Freeform 55"/>
          <p:cNvSpPr>
            <a:spLocks/>
          </p:cNvSpPr>
          <p:nvPr/>
        </p:nvSpPr>
        <p:spPr bwMode="auto">
          <a:xfrm>
            <a:off x="4465638" y="2924175"/>
            <a:ext cx="450850" cy="227012"/>
          </a:xfrm>
          <a:custGeom>
            <a:avLst/>
            <a:gdLst>
              <a:gd name="T0" fmla="*/ 0 w 284"/>
              <a:gd name="T1" fmla="*/ 225425 h 143"/>
              <a:gd name="T2" fmla="*/ 0 w 284"/>
              <a:gd name="T3" fmla="*/ 0 h 143"/>
              <a:gd name="T4" fmla="*/ 449263 w 284"/>
              <a:gd name="T5" fmla="*/ 0 h 143"/>
              <a:gd name="T6" fmla="*/ 449263 w 284"/>
              <a:gd name="T7" fmla="*/ 225425 h 143"/>
              <a:gd name="T8" fmla="*/ 0 w 284"/>
              <a:gd name="T9" fmla="*/ 225425 h 1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4"/>
              <a:gd name="T16" fmla="*/ 0 h 143"/>
              <a:gd name="T17" fmla="*/ 284 w 284"/>
              <a:gd name="T18" fmla="*/ 143 h 1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4" h="143">
                <a:moveTo>
                  <a:pt x="0" y="142"/>
                </a:moveTo>
                <a:lnTo>
                  <a:pt x="0" y="0"/>
                </a:lnTo>
                <a:lnTo>
                  <a:pt x="283" y="0"/>
                </a:lnTo>
                <a:lnTo>
                  <a:pt x="283" y="142"/>
                </a:lnTo>
                <a:lnTo>
                  <a:pt x="0" y="142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Freeform 56"/>
          <p:cNvSpPr>
            <a:spLocks/>
          </p:cNvSpPr>
          <p:nvPr/>
        </p:nvSpPr>
        <p:spPr bwMode="auto">
          <a:xfrm>
            <a:off x="3114675" y="3149600"/>
            <a:ext cx="1465263" cy="563562"/>
          </a:xfrm>
          <a:custGeom>
            <a:avLst/>
            <a:gdLst>
              <a:gd name="T0" fmla="*/ 1463675 w 923"/>
              <a:gd name="T1" fmla="*/ 0 h 355"/>
              <a:gd name="T2" fmla="*/ 0 w 923"/>
              <a:gd name="T3" fmla="*/ 561975 h 355"/>
              <a:gd name="T4" fmla="*/ 1463675 w 923"/>
              <a:gd name="T5" fmla="*/ 0 h 355"/>
              <a:gd name="T6" fmla="*/ 0 60000 65536"/>
              <a:gd name="T7" fmla="*/ 0 60000 65536"/>
              <a:gd name="T8" fmla="*/ 0 60000 65536"/>
              <a:gd name="T9" fmla="*/ 0 w 923"/>
              <a:gd name="T10" fmla="*/ 0 h 355"/>
              <a:gd name="T11" fmla="*/ 923 w 923"/>
              <a:gd name="T12" fmla="*/ 355 h 3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23" h="355">
                <a:moveTo>
                  <a:pt x="922" y="0"/>
                </a:moveTo>
                <a:lnTo>
                  <a:pt x="0" y="354"/>
                </a:lnTo>
                <a:lnTo>
                  <a:pt x="922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" name="Freeform 57"/>
          <p:cNvSpPr>
            <a:spLocks/>
          </p:cNvSpPr>
          <p:nvPr/>
        </p:nvSpPr>
        <p:spPr bwMode="auto">
          <a:xfrm>
            <a:off x="3114675" y="3643312"/>
            <a:ext cx="115888" cy="69850"/>
          </a:xfrm>
          <a:custGeom>
            <a:avLst/>
            <a:gdLst>
              <a:gd name="T0" fmla="*/ 114300 w 73"/>
              <a:gd name="T1" fmla="*/ 53975 h 44"/>
              <a:gd name="T2" fmla="*/ 0 w 73"/>
              <a:gd name="T3" fmla="*/ 68263 h 44"/>
              <a:gd name="T4" fmla="*/ 93663 w 73"/>
              <a:gd name="T5" fmla="*/ 0 h 44"/>
              <a:gd name="T6" fmla="*/ 114300 w 73"/>
              <a:gd name="T7" fmla="*/ 53975 h 44"/>
              <a:gd name="T8" fmla="*/ 0 60000 65536"/>
              <a:gd name="T9" fmla="*/ 0 60000 65536"/>
              <a:gd name="T10" fmla="*/ 0 60000 65536"/>
              <a:gd name="T11" fmla="*/ 0 60000 65536"/>
              <a:gd name="T12" fmla="*/ 0 w 73"/>
              <a:gd name="T13" fmla="*/ 0 h 44"/>
              <a:gd name="T14" fmla="*/ 73 w 73"/>
              <a:gd name="T15" fmla="*/ 44 h 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3" h="44">
                <a:moveTo>
                  <a:pt x="72" y="34"/>
                </a:moveTo>
                <a:lnTo>
                  <a:pt x="0" y="43"/>
                </a:lnTo>
                <a:lnTo>
                  <a:pt x="59" y="0"/>
                </a:lnTo>
                <a:lnTo>
                  <a:pt x="72" y="34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" name="Freeform 58"/>
          <p:cNvSpPr>
            <a:spLocks/>
          </p:cNvSpPr>
          <p:nvPr/>
        </p:nvSpPr>
        <p:spPr bwMode="auto">
          <a:xfrm>
            <a:off x="4691063" y="3149600"/>
            <a:ext cx="1587" cy="449262"/>
          </a:xfrm>
          <a:custGeom>
            <a:avLst/>
            <a:gdLst>
              <a:gd name="T0" fmla="*/ 0 w 1"/>
              <a:gd name="T1" fmla="*/ 0 h 283"/>
              <a:gd name="T2" fmla="*/ 0 w 1"/>
              <a:gd name="T3" fmla="*/ 447675 h 283"/>
              <a:gd name="T4" fmla="*/ 0 w 1"/>
              <a:gd name="T5" fmla="*/ 0 h 283"/>
              <a:gd name="T6" fmla="*/ 0 60000 65536"/>
              <a:gd name="T7" fmla="*/ 0 60000 65536"/>
              <a:gd name="T8" fmla="*/ 0 60000 65536"/>
              <a:gd name="T9" fmla="*/ 0 w 1"/>
              <a:gd name="T10" fmla="*/ 0 h 283"/>
              <a:gd name="T11" fmla="*/ 1 w 1"/>
              <a:gd name="T12" fmla="*/ 283 h 28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83">
                <a:moveTo>
                  <a:pt x="0" y="0"/>
                </a:moveTo>
                <a:lnTo>
                  <a:pt x="0" y="282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" name="Freeform 59"/>
          <p:cNvSpPr>
            <a:spLocks/>
          </p:cNvSpPr>
          <p:nvPr/>
        </p:nvSpPr>
        <p:spPr bwMode="auto">
          <a:xfrm>
            <a:off x="4660900" y="3486150"/>
            <a:ext cx="60325" cy="112712"/>
          </a:xfrm>
          <a:custGeom>
            <a:avLst/>
            <a:gdLst>
              <a:gd name="T0" fmla="*/ 58738 w 38"/>
              <a:gd name="T1" fmla="*/ 0 h 71"/>
              <a:gd name="T2" fmla="*/ 30163 w 38"/>
              <a:gd name="T3" fmla="*/ 111125 h 71"/>
              <a:gd name="T4" fmla="*/ 0 w 38"/>
              <a:gd name="T5" fmla="*/ 0 h 71"/>
              <a:gd name="T6" fmla="*/ 58738 w 38"/>
              <a:gd name="T7" fmla="*/ 0 h 71"/>
              <a:gd name="T8" fmla="*/ 0 60000 65536"/>
              <a:gd name="T9" fmla="*/ 0 60000 65536"/>
              <a:gd name="T10" fmla="*/ 0 60000 65536"/>
              <a:gd name="T11" fmla="*/ 0 60000 65536"/>
              <a:gd name="T12" fmla="*/ 0 w 38"/>
              <a:gd name="T13" fmla="*/ 0 h 71"/>
              <a:gd name="T14" fmla="*/ 38 w 38"/>
              <a:gd name="T15" fmla="*/ 71 h 7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" h="71">
                <a:moveTo>
                  <a:pt x="37" y="0"/>
                </a:moveTo>
                <a:lnTo>
                  <a:pt x="19" y="70"/>
                </a:lnTo>
                <a:lnTo>
                  <a:pt x="0" y="0"/>
                </a:lnTo>
                <a:lnTo>
                  <a:pt x="37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" name="Freeform 60"/>
          <p:cNvSpPr>
            <a:spLocks/>
          </p:cNvSpPr>
          <p:nvPr/>
        </p:nvSpPr>
        <p:spPr bwMode="auto">
          <a:xfrm>
            <a:off x="4802188" y="3149600"/>
            <a:ext cx="1693862" cy="563562"/>
          </a:xfrm>
          <a:custGeom>
            <a:avLst/>
            <a:gdLst>
              <a:gd name="T0" fmla="*/ 0 w 1067"/>
              <a:gd name="T1" fmla="*/ 0 h 355"/>
              <a:gd name="T2" fmla="*/ 1692275 w 1067"/>
              <a:gd name="T3" fmla="*/ 561975 h 355"/>
              <a:gd name="T4" fmla="*/ 0 w 1067"/>
              <a:gd name="T5" fmla="*/ 0 h 355"/>
              <a:gd name="T6" fmla="*/ 0 60000 65536"/>
              <a:gd name="T7" fmla="*/ 0 60000 65536"/>
              <a:gd name="T8" fmla="*/ 0 60000 65536"/>
              <a:gd name="T9" fmla="*/ 0 w 1067"/>
              <a:gd name="T10" fmla="*/ 0 h 355"/>
              <a:gd name="T11" fmla="*/ 1067 w 1067"/>
              <a:gd name="T12" fmla="*/ 355 h 3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7" h="355">
                <a:moveTo>
                  <a:pt x="0" y="0"/>
                </a:moveTo>
                <a:lnTo>
                  <a:pt x="1066" y="3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" name="Freeform 61"/>
          <p:cNvSpPr>
            <a:spLocks/>
          </p:cNvSpPr>
          <p:nvPr/>
        </p:nvSpPr>
        <p:spPr bwMode="auto">
          <a:xfrm>
            <a:off x="6375400" y="3646487"/>
            <a:ext cx="120650" cy="66675"/>
          </a:xfrm>
          <a:custGeom>
            <a:avLst/>
            <a:gdLst>
              <a:gd name="T0" fmla="*/ 19050 w 76"/>
              <a:gd name="T1" fmla="*/ 0 h 42"/>
              <a:gd name="T2" fmla="*/ 119063 w 76"/>
              <a:gd name="T3" fmla="*/ 65088 h 42"/>
              <a:gd name="T4" fmla="*/ 0 w 76"/>
              <a:gd name="T5" fmla="*/ 55563 h 42"/>
              <a:gd name="T6" fmla="*/ 19050 w 76"/>
              <a:gd name="T7" fmla="*/ 0 h 42"/>
              <a:gd name="T8" fmla="*/ 0 60000 65536"/>
              <a:gd name="T9" fmla="*/ 0 60000 65536"/>
              <a:gd name="T10" fmla="*/ 0 60000 65536"/>
              <a:gd name="T11" fmla="*/ 0 60000 65536"/>
              <a:gd name="T12" fmla="*/ 0 w 76"/>
              <a:gd name="T13" fmla="*/ 0 h 42"/>
              <a:gd name="T14" fmla="*/ 76 w 76"/>
              <a:gd name="T15" fmla="*/ 42 h 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6" h="42">
                <a:moveTo>
                  <a:pt x="12" y="0"/>
                </a:moveTo>
                <a:lnTo>
                  <a:pt x="75" y="41"/>
                </a:lnTo>
                <a:lnTo>
                  <a:pt x="0" y="35"/>
                </a:lnTo>
                <a:lnTo>
                  <a:pt x="12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" name="Freeform 62"/>
          <p:cNvSpPr>
            <a:spLocks/>
          </p:cNvSpPr>
          <p:nvPr/>
        </p:nvSpPr>
        <p:spPr bwMode="auto">
          <a:xfrm>
            <a:off x="2101850" y="3935412"/>
            <a:ext cx="676275" cy="452438"/>
          </a:xfrm>
          <a:custGeom>
            <a:avLst/>
            <a:gdLst>
              <a:gd name="T0" fmla="*/ 674688 w 426"/>
              <a:gd name="T1" fmla="*/ 0 h 285"/>
              <a:gd name="T2" fmla="*/ 0 w 426"/>
              <a:gd name="T3" fmla="*/ 450850 h 285"/>
              <a:gd name="T4" fmla="*/ 674688 w 426"/>
              <a:gd name="T5" fmla="*/ 0 h 285"/>
              <a:gd name="T6" fmla="*/ 0 60000 65536"/>
              <a:gd name="T7" fmla="*/ 0 60000 65536"/>
              <a:gd name="T8" fmla="*/ 0 60000 65536"/>
              <a:gd name="T9" fmla="*/ 0 w 426"/>
              <a:gd name="T10" fmla="*/ 0 h 285"/>
              <a:gd name="T11" fmla="*/ 426 w 426"/>
              <a:gd name="T12" fmla="*/ 285 h 28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6" h="285">
                <a:moveTo>
                  <a:pt x="425" y="0"/>
                </a:moveTo>
                <a:lnTo>
                  <a:pt x="0" y="284"/>
                </a:lnTo>
                <a:lnTo>
                  <a:pt x="425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" name="Freeform 63"/>
          <p:cNvSpPr>
            <a:spLocks/>
          </p:cNvSpPr>
          <p:nvPr/>
        </p:nvSpPr>
        <p:spPr bwMode="auto">
          <a:xfrm>
            <a:off x="2101850" y="4300537"/>
            <a:ext cx="109538" cy="87313"/>
          </a:xfrm>
          <a:custGeom>
            <a:avLst/>
            <a:gdLst>
              <a:gd name="T0" fmla="*/ 107950 w 69"/>
              <a:gd name="T1" fmla="*/ 46038 h 55"/>
              <a:gd name="T2" fmla="*/ 0 w 69"/>
              <a:gd name="T3" fmla="*/ 85725 h 55"/>
              <a:gd name="T4" fmla="*/ 77788 w 69"/>
              <a:gd name="T5" fmla="*/ 0 h 55"/>
              <a:gd name="T6" fmla="*/ 107950 w 69"/>
              <a:gd name="T7" fmla="*/ 46038 h 55"/>
              <a:gd name="T8" fmla="*/ 0 60000 65536"/>
              <a:gd name="T9" fmla="*/ 0 60000 65536"/>
              <a:gd name="T10" fmla="*/ 0 60000 65536"/>
              <a:gd name="T11" fmla="*/ 0 60000 65536"/>
              <a:gd name="T12" fmla="*/ 0 w 69"/>
              <a:gd name="T13" fmla="*/ 0 h 55"/>
              <a:gd name="T14" fmla="*/ 69 w 69"/>
              <a:gd name="T15" fmla="*/ 55 h 5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9" h="55">
                <a:moveTo>
                  <a:pt x="68" y="29"/>
                </a:moveTo>
                <a:lnTo>
                  <a:pt x="0" y="54"/>
                </a:lnTo>
                <a:lnTo>
                  <a:pt x="49" y="0"/>
                </a:lnTo>
                <a:lnTo>
                  <a:pt x="68" y="29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" name="Freeform 64"/>
          <p:cNvSpPr>
            <a:spLocks/>
          </p:cNvSpPr>
          <p:nvPr/>
        </p:nvSpPr>
        <p:spPr bwMode="auto">
          <a:xfrm>
            <a:off x="3001963" y="3935412"/>
            <a:ext cx="565150" cy="452438"/>
          </a:xfrm>
          <a:custGeom>
            <a:avLst/>
            <a:gdLst>
              <a:gd name="T0" fmla="*/ 0 w 356"/>
              <a:gd name="T1" fmla="*/ 0 h 285"/>
              <a:gd name="T2" fmla="*/ 563563 w 356"/>
              <a:gd name="T3" fmla="*/ 450850 h 285"/>
              <a:gd name="T4" fmla="*/ 0 w 356"/>
              <a:gd name="T5" fmla="*/ 0 h 285"/>
              <a:gd name="T6" fmla="*/ 0 60000 65536"/>
              <a:gd name="T7" fmla="*/ 0 60000 65536"/>
              <a:gd name="T8" fmla="*/ 0 60000 65536"/>
              <a:gd name="T9" fmla="*/ 0 w 356"/>
              <a:gd name="T10" fmla="*/ 0 h 285"/>
              <a:gd name="T11" fmla="*/ 356 w 356"/>
              <a:gd name="T12" fmla="*/ 285 h 28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56" h="285">
                <a:moveTo>
                  <a:pt x="0" y="0"/>
                </a:moveTo>
                <a:lnTo>
                  <a:pt x="355" y="28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" name="Freeform 65"/>
          <p:cNvSpPr>
            <a:spLocks/>
          </p:cNvSpPr>
          <p:nvPr/>
        </p:nvSpPr>
        <p:spPr bwMode="auto">
          <a:xfrm>
            <a:off x="3459163" y="4294187"/>
            <a:ext cx="107950" cy="93663"/>
          </a:xfrm>
          <a:custGeom>
            <a:avLst/>
            <a:gdLst>
              <a:gd name="T0" fmla="*/ 34925 w 68"/>
              <a:gd name="T1" fmla="*/ 0 h 59"/>
              <a:gd name="T2" fmla="*/ 106363 w 68"/>
              <a:gd name="T3" fmla="*/ 92075 h 59"/>
              <a:gd name="T4" fmla="*/ 0 w 68"/>
              <a:gd name="T5" fmla="*/ 42863 h 59"/>
              <a:gd name="T6" fmla="*/ 34925 w 68"/>
              <a:gd name="T7" fmla="*/ 0 h 59"/>
              <a:gd name="T8" fmla="*/ 0 60000 65536"/>
              <a:gd name="T9" fmla="*/ 0 60000 65536"/>
              <a:gd name="T10" fmla="*/ 0 60000 65536"/>
              <a:gd name="T11" fmla="*/ 0 60000 65536"/>
              <a:gd name="T12" fmla="*/ 0 w 68"/>
              <a:gd name="T13" fmla="*/ 0 h 59"/>
              <a:gd name="T14" fmla="*/ 68 w 68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8" h="59">
                <a:moveTo>
                  <a:pt x="22" y="0"/>
                </a:moveTo>
                <a:lnTo>
                  <a:pt x="67" y="58"/>
                </a:lnTo>
                <a:lnTo>
                  <a:pt x="0" y="27"/>
                </a:lnTo>
                <a:lnTo>
                  <a:pt x="22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" name="Freeform 66"/>
          <p:cNvSpPr>
            <a:spLocks/>
          </p:cNvSpPr>
          <p:nvPr/>
        </p:nvSpPr>
        <p:spPr bwMode="auto">
          <a:xfrm>
            <a:off x="2889250" y="3935412"/>
            <a:ext cx="1588" cy="338138"/>
          </a:xfrm>
          <a:custGeom>
            <a:avLst/>
            <a:gdLst>
              <a:gd name="T0" fmla="*/ 0 w 1"/>
              <a:gd name="T1" fmla="*/ 0 h 213"/>
              <a:gd name="T2" fmla="*/ 0 w 1"/>
              <a:gd name="T3" fmla="*/ 336550 h 213"/>
              <a:gd name="T4" fmla="*/ 0 w 1"/>
              <a:gd name="T5" fmla="*/ 0 h 213"/>
              <a:gd name="T6" fmla="*/ 0 60000 65536"/>
              <a:gd name="T7" fmla="*/ 0 60000 65536"/>
              <a:gd name="T8" fmla="*/ 0 60000 65536"/>
              <a:gd name="T9" fmla="*/ 0 w 1"/>
              <a:gd name="T10" fmla="*/ 0 h 213"/>
              <a:gd name="T11" fmla="*/ 1 w 1"/>
              <a:gd name="T12" fmla="*/ 213 h 2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13">
                <a:moveTo>
                  <a:pt x="0" y="0"/>
                </a:moveTo>
                <a:lnTo>
                  <a:pt x="0" y="212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" name="Freeform 67"/>
          <p:cNvSpPr>
            <a:spLocks/>
          </p:cNvSpPr>
          <p:nvPr/>
        </p:nvSpPr>
        <p:spPr bwMode="auto">
          <a:xfrm>
            <a:off x="2860675" y="4159250"/>
            <a:ext cx="58738" cy="114300"/>
          </a:xfrm>
          <a:custGeom>
            <a:avLst/>
            <a:gdLst>
              <a:gd name="T0" fmla="*/ 57150 w 37"/>
              <a:gd name="T1" fmla="*/ 0 h 72"/>
              <a:gd name="T2" fmla="*/ 28575 w 37"/>
              <a:gd name="T3" fmla="*/ 112713 h 72"/>
              <a:gd name="T4" fmla="*/ 0 w 37"/>
              <a:gd name="T5" fmla="*/ 0 h 72"/>
              <a:gd name="T6" fmla="*/ 57150 w 37"/>
              <a:gd name="T7" fmla="*/ 0 h 72"/>
              <a:gd name="T8" fmla="*/ 0 60000 65536"/>
              <a:gd name="T9" fmla="*/ 0 60000 65536"/>
              <a:gd name="T10" fmla="*/ 0 60000 65536"/>
              <a:gd name="T11" fmla="*/ 0 60000 65536"/>
              <a:gd name="T12" fmla="*/ 0 w 37"/>
              <a:gd name="T13" fmla="*/ 0 h 72"/>
              <a:gd name="T14" fmla="*/ 37 w 37"/>
              <a:gd name="T15" fmla="*/ 72 h 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7" h="72">
                <a:moveTo>
                  <a:pt x="36" y="0"/>
                </a:moveTo>
                <a:lnTo>
                  <a:pt x="18" y="71"/>
                </a:lnTo>
                <a:lnTo>
                  <a:pt x="0" y="0"/>
                </a:lnTo>
                <a:lnTo>
                  <a:pt x="36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" name="Freeform 68"/>
          <p:cNvSpPr>
            <a:spLocks/>
          </p:cNvSpPr>
          <p:nvPr/>
        </p:nvSpPr>
        <p:spPr bwMode="auto">
          <a:xfrm>
            <a:off x="5929313" y="3935412"/>
            <a:ext cx="677862" cy="452438"/>
          </a:xfrm>
          <a:custGeom>
            <a:avLst/>
            <a:gdLst>
              <a:gd name="T0" fmla="*/ 676275 w 427"/>
              <a:gd name="T1" fmla="*/ 0 h 285"/>
              <a:gd name="T2" fmla="*/ 0 w 427"/>
              <a:gd name="T3" fmla="*/ 450850 h 285"/>
              <a:gd name="T4" fmla="*/ 676275 w 427"/>
              <a:gd name="T5" fmla="*/ 0 h 285"/>
              <a:gd name="T6" fmla="*/ 0 60000 65536"/>
              <a:gd name="T7" fmla="*/ 0 60000 65536"/>
              <a:gd name="T8" fmla="*/ 0 60000 65536"/>
              <a:gd name="T9" fmla="*/ 0 w 427"/>
              <a:gd name="T10" fmla="*/ 0 h 285"/>
              <a:gd name="T11" fmla="*/ 427 w 427"/>
              <a:gd name="T12" fmla="*/ 285 h 28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7" h="285">
                <a:moveTo>
                  <a:pt x="426" y="0"/>
                </a:moveTo>
                <a:lnTo>
                  <a:pt x="0" y="284"/>
                </a:lnTo>
                <a:lnTo>
                  <a:pt x="426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" name="Freeform 69"/>
          <p:cNvSpPr>
            <a:spLocks/>
          </p:cNvSpPr>
          <p:nvPr/>
        </p:nvSpPr>
        <p:spPr bwMode="auto">
          <a:xfrm>
            <a:off x="5929313" y="4300537"/>
            <a:ext cx="111125" cy="87313"/>
          </a:xfrm>
          <a:custGeom>
            <a:avLst/>
            <a:gdLst>
              <a:gd name="T0" fmla="*/ 109538 w 70"/>
              <a:gd name="T1" fmla="*/ 46038 h 55"/>
              <a:gd name="T2" fmla="*/ 0 w 70"/>
              <a:gd name="T3" fmla="*/ 85725 h 55"/>
              <a:gd name="T4" fmla="*/ 77788 w 70"/>
              <a:gd name="T5" fmla="*/ 0 h 55"/>
              <a:gd name="T6" fmla="*/ 109538 w 70"/>
              <a:gd name="T7" fmla="*/ 46038 h 55"/>
              <a:gd name="T8" fmla="*/ 0 60000 65536"/>
              <a:gd name="T9" fmla="*/ 0 60000 65536"/>
              <a:gd name="T10" fmla="*/ 0 60000 65536"/>
              <a:gd name="T11" fmla="*/ 0 60000 65536"/>
              <a:gd name="T12" fmla="*/ 0 w 70"/>
              <a:gd name="T13" fmla="*/ 0 h 55"/>
              <a:gd name="T14" fmla="*/ 70 w 70"/>
              <a:gd name="T15" fmla="*/ 55 h 5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0" h="55">
                <a:moveTo>
                  <a:pt x="69" y="29"/>
                </a:moveTo>
                <a:lnTo>
                  <a:pt x="0" y="54"/>
                </a:lnTo>
                <a:lnTo>
                  <a:pt x="49" y="0"/>
                </a:lnTo>
                <a:lnTo>
                  <a:pt x="69" y="29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" name="Freeform 70"/>
          <p:cNvSpPr>
            <a:spLocks/>
          </p:cNvSpPr>
          <p:nvPr/>
        </p:nvSpPr>
        <p:spPr bwMode="auto">
          <a:xfrm>
            <a:off x="6831013" y="3935412"/>
            <a:ext cx="563562" cy="452438"/>
          </a:xfrm>
          <a:custGeom>
            <a:avLst/>
            <a:gdLst>
              <a:gd name="T0" fmla="*/ 0 w 355"/>
              <a:gd name="T1" fmla="*/ 0 h 285"/>
              <a:gd name="T2" fmla="*/ 561975 w 355"/>
              <a:gd name="T3" fmla="*/ 450850 h 285"/>
              <a:gd name="T4" fmla="*/ 0 w 355"/>
              <a:gd name="T5" fmla="*/ 0 h 285"/>
              <a:gd name="T6" fmla="*/ 0 60000 65536"/>
              <a:gd name="T7" fmla="*/ 0 60000 65536"/>
              <a:gd name="T8" fmla="*/ 0 60000 65536"/>
              <a:gd name="T9" fmla="*/ 0 w 355"/>
              <a:gd name="T10" fmla="*/ 0 h 285"/>
              <a:gd name="T11" fmla="*/ 355 w 355"/>
              <a:gd name="T12" fmla="*/ 285 h 28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55" h="285">
                <a:moveTo>
                  <a:pt x="0" y="0"/>
                </a:moveTo>
                <a:lnTo>
                  <a:pt x="354" y="28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" name="Freeform 71"/>
          <p:cNvSpPr>
            <a:spLocks/>
          </p:cNvSpPr>
          <p:nvPr/>
        </p:nvSpPr>
        <p:spPr bwMode="auto">
          <a:xfrm>
            <a:off x="7289800" y="4294187"/>
            <a:ext cx="104775" cy="93663"/>
          </a:xfrm>
          <a:custGeom>
            <a:avLst/>
            <a:gdLst>
              <a:gd name="T0" fmla="*/ 33338 w 66"/>
              <a:gd name="T1" fmla="*/ 0 h 59"/>
              <a:gd name="T2" fmla="*/ 103188 w 66"/>
              <a:gd name="T3" fmla="*/ 92075 h 59"/>
              <a:gd name="T4" fmla="*/ 0 w 66"/>
              <a:gd name="T5" fmla="*/ 42863 h 59"/>
              <a:gd name="T6" fmla="*/ 33338 w 66"/>
              <a:gd name="T7" fmla="*/ 0 h 59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59"/>
              <a:gd name="T14" fmla="*/ 66 w 66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59">
                <a:moveTo>
                  <a:pt x="21" y="0"/>
                </a:moveTo>
                <a:lnTo>
                  <a:pt x="65" y="58"/>
                </a:lnTo>
                <a:lnTo>
                  <a:pt x="0" y="27"/>
                </a:lnTo>
                <a:lnTo>
                  <a:pt x="21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" name="Freeform 72"/>
          <p:cNvSpPr>
            <a:spLocks/>
          </p:cNvSpPr>
          <p:nvPr/>
        </p:nvSpPr>
        <p:spPr bwMode="auto">
          <a:xfrm>
            <a:off x="6718300" y="3935412"/>
            <a:ext cx="1588" cy="338138"/>
          </a:xfrm>
          <a:custGeom>
            <a:avLst/>
            <a:gdLst>
              <a:gd name="T0" fmla="*/ 0 w 1"/>
              <a:gd name="T1" fmla="*/ 0 h 213"/>
              <a:gd name="T2" fmla="*/ 0 w 1"/>
              <a:gd name="T3" fmla="*/ 336550 h 213"/>
              <a:gd name="T4" fmla="*/ 0 w 1"/>
              <a:gd name="T5" fmla="*/ 0 h 213"/>
              <a:gd name="T6" fmla="*/ 0 60000 65536"/>
              <a:gd name="T7" fmla="*/ 0 60000 65536"/>
              <a:gd name="T8" fmla="*/ 0 60000 65536"/>
              <a:gd name="T9" fmla="*/ 0 w 1"/>
              <a:gd name="T10" fmla="*/ 0 h 213"/>
              <a:gd name="T11" fmla="*/ 1 w 1"/>
              <a:gd name="T12" fmla="*/ 213 h 2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13">
                <a:moveTo>
                  <a:pt x="0" y="0"/>
                </a:moveTo>
                <a:lnTo>
                  <a:pt x="0" y="212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1" name="Freeform 73"/>
          <p:cNvSpPr>
            <a:spLocks/>
          </p:cNvSpPr>
          <p:nvPr/>
        </p:nvSpPr>
        <p:spPr bwMode="auto">
          <a:xfrm>
            <a:off x="6689725" y="4159250"/>
            <a:ext cx="58738" cy="114300"/>
          </a:xfrm>
          <a:custGeom>
            <a:avLst/>
            <a:gdLst>
              <a:gd name="T0" fmla="*/ 57150 w 37"/>
              <a:gd name="T1" fmla="*/ 0 h 72"/>
              <a:gd name="T2" fmla="*/ 28575 w 37"/>
              <a:gd name="T3" fmla="*/ 112713 h 72"/>
              <a:gd name="T4" fmla="*/ 0 w 37"/>
              <a:gd name="T5" fmla="*/ 0 h 72"/>
              <a:gd name="T6" fmla="*/ 57150 w 37"/>
              <a:gd name="T7" fmla="*/ 0 h 72"/>
              <a:gd name="T8" fmla="*/ 0 60000 65536"/>
              <a:gd name="T9" fmla="*/ 0 60000 65536"/>
              <a:gd name="T10" fmla="*/ 0 60000 65536"/>
              <a:gd name="T11" fmla="*/ 0 60000 65536"/>
              <a:gd name="T12" fmla="*/ 0 w 37"/>
              <a:gd name="T13" fmla="*/ 0 h 72"/>
              <a:gd name="T14" fmla="*/ 37 w 37"/>
              <a:gd name="T15" fmla="*/ 72 h 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7" h="72">
                <a:moveTo>
                  <a:pt x="36" y="0"/>
                </a:moveTo>
                <a:lnTo>
                  <a:pt x="18" y="71"/>
                </a:lnTo>
                <a:lnTo>
                  <a:pt x="0" y="0"/>
                </a:lnTo>
                <a:lnTo>
                  <a:pt x="36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" name="Freeform 74"/>
          <p:cNvSpPr>
            <a:spLocks/>
          </p:cNvSpPr>
          <p:nvPr/>
        </p:nvSpPr>
        <p:spPr bwMode="auto">
          <a:xfrm>
            <a:off x="1649413" y="4610100"/>
            <a:ext cx="114300" cy="339725"/>
          </a:xfrm>
          <a:custGeom>
            <a:avLst/>
            <a:gdLst>
              <a:gd name="T0" fmla="*/ 112713 w 72"/>
              <a:gd name="T1" fmla="*/ 0 h 214"/>
              <a:gd name="T2" fmla="*/ 0 w 72"/>
              <a:gd name="T3" fmla="*/ 338138 h 214"/>
              <a:gd name="T4" fmla="*/ 112713 w 72"/>
              <a:gd name="T5" fmla="*/ 0 h 214"/>
              <a:gd name="T6" fmla="*/ 0 60000 65536"/>
              <a:gd name="T7" fmla="*/ 0 60000 65536"/>
              <a:gd name="T8" fmla="*/ 0 60000 65536"/>
              <a:gd name="T9" fmla="*/ 0 w 72"/>
              <a:gd name="T10" fmla="*/ 0 h 214"/>
              <a:gd name="T11" fmla="*/ 72 w 72"/>
              <a:gd name="T12" fmla="*/ 214 h 2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2" h="214">
                <a:moveTo>
                  <a:pt x="71" y="0"/>
                </a:moveTo>
                <a:lnTo>
                  <a:pt x="0" y="213"/>
                </a:lnTo>
                <a:lnTo>
                  <a:pt x="71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" name="Freeform 75"/>
          <p:cNvSpPr>
            <a:spLocks/>
          </p:cNvSpPr>
          <p:nvPr/>
        </p:nvSpPr>
        <p:spPr bwMode="auto">
          <a:xfrm>
            <a:off x="1649413" y="4832350"/>
            <a:ext cx="65087" cy="117475"/>
          </a:xfrm>
          <a:custGeom>
            <a:avLst/>
            <a:gdLst>
              <a:gd name="T0" fmla="*/ 63500 w 41"/>
              <a:gd name="T1" fmla="*/ 15875 h 74"/>
              <a:gd name="T2" fmla="*/ 0 w 41"/>
              <a:gd name="T3" fmla="*/ 115888 h 74"/>
              <a:gd name="T4" fmla="*/ 9525 w 41"/>
              <a:gd name="T5" fmla="*/ 0 h 74"/>
              <a:gd name="T6" fmla="*/ 63500 w 41"/>
              <a:gd name="T7" fmla="*/ 15875 h 74"/>
              <a:gd name="T8" fmla="*/ 0 60000 65536"/>
              <a:gd name="T9" fmla="*/ 0 60000 65536"/>
              <a:gd name="T10" fmla="*/ 0 60000 65536"/>
              <a:gd name="T11" fmla="*/ 0 60000 65536"/>
              <a:gd name="T12" fmla="*/ 0 w 41"/>
              <a:gd name="T13" fmla="*/ 0 h 74"/>
              <a:gd name="T14" fmla="*/ 41 w 41"/>
              <a:gd name="T15" fmla="*/ 74 h 7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1" h="74">
                <a:moveTo>
                  <a:pt x="40" y="10"/>
                </a:moveTo>
                <a:lnTo>
                  <a:pt x="0" y="73"/>
                </a:lnTo>
                <a:lnTo>
                  <a:pt x="6" y="0"/>
                </a:lnTo>
                <a:lnTo>
                  <a:pt x="40" y="1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" name="Freeform 76"/>
          <p:cNvSpPr>
            <a:spLocks/>
          </p:cNvSpPr>
          <p:nvPr/>
        </p:nvSpPr>
        <p:spPr bwMode="auto">
          <a:xfrm>
            <a:off x="1987550" y="4610100"/>
            <a:ext cx="115888" cy="339725"/>
          </a:xfrm>
          <a:custGeom>
            <a:avLst/>
            <a:gdLst>
              <a:gd name="T0" fmla="*/ 0 w 73"/>
              <a:gd name="T1" fmla="*/ 0 h 214"/>
              <a:gd name="T2" fmla="*/ 114300 w 73"/>
              <a:gd name="T3" fmla="*/ 338138 h 214"/>
              <a:gd name="T4" fmla="*/ 0 w 73"/>
              <a:gd name="T5" fmla="*/ 0 h 214"/>
              <a:gd name="T6" fmla="*/ 0 60000 65536"/>
              <a:gd name="T7" fmla="*/ 0 60000 65536"/>
              <a:gd name="T8" fmla="*/ 0 60000 65536"/>
              <a:gd name="T9" fmla="*/ 0 w 73"/>
              <a:gd name="T10" fmla="*/ 0 h 214"/>
              <a:gd name="T11" fmla="*/ 73 w 73"/>
              <a:gd name="T12" fmla="*/ 214 h 2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3" h="214">
                <a:moveTo>
                  <a:pt x="0" y="0"/>
                </a:moveTo>
                <a:lnTo>
                  <a:pt x="72" y="213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" name="Freeform 77"/>
          <p:cNvSpPr>
            <a:spLocks/>
          </p:cNvSpPr>
          <p:nvPr/>
        </p:nvSpPr>
        <p:spPr bwMode="auto">
          <a:xfrm>
            <a:off x="2038350" y="4832350"/>
            <a:ext cx="65088" cy="117475"/>
          </a:xfrm>
          <a:custGeom>
            <a:avLst/>
            <a:gdLst>
              <a:gd name="T0" fmla="*/ 52388 w 41"/>
              <a:gd name="T1" fmla="*/ 0 h 74"/>
              <a:gd name="T2" fmla="*/ 63500 w 41"/>
              <a:gd name="T3" fmla="*/ 115888 h 74"/>
              <a:gd name="T4" fmla="*/ 0 w 41"/>
              <a:gd name="T5" fmla="*/ 15875 h 74"/>
              <a:gd name="T6" fmla="*/ 52388 w 41"/>
              <a:gd name="T7" fmla="*/ 0 h 74"/>
              <a:gd name="T8" fmla="*/ 0 60000 65536"/>
              <a:gd name="T9" fmla="*/ 0 60000 65536"/>
              <a:gd name="T10" fmla="*/ 0 60000 65536"/>
              <a:gd name="T11" fmla="*/ 0 60000 65536"/>
              <a:gd name="T12" fmla="*/ 0 w 41"/>
              <a:gd name="T13" fmla="*/ 0 h 74"/>
              <a:gd name="T14" fmla="*/ 41 w 41"/>
              <a:gd name="T15" fmla="*/ 74 h 7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1" h="74">
                <a:moveTo>
                  <a:pt x="33" y="0"/>
                </a:moveTo>
                <a:lnTo>
                  <a:pt x="40" y="73"/>
                </a:lnTo>
                <a:lnTo>
                  <a:pt x="0" y="10"/>
                </a:lnTo>
                <a:lnTo>
                  <a:pt x="33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" name="Freeform 78"/>
          <p:cNvSpPr>
            <a:spLocks/>
          </p:cNvSpPr>
          <p:nvPr/>
        </p:nvSpPr>
        <p:spPr bwMode="auto">
          <a:xfrm>
            <a:off x="1873250" y="4610100"/>
            <a:ext cx="1588" cy="225425"/>
          </a:xfrm>
          <a:custGeom>
            <a:avLst/>
            <a:gdLst>
              <a:gd name="T0" fmla="*/ 0 w 1"/>
              <a:gd name="T1" fmla="*/ 0 h 142"/>
              <a:gd name="T2" fmla="*/ 0 w 1"/>
              <a:gd name="T3" fmla="*/ 223838 h 142"/>
              <a:gd name="T4" fmla="*/ 0 w 1"/>
              <a:gd name="T5" fmla="*/ 0 h 142"/>
              <a:gd name="T6" fmla="*/ 0 60000 65536"/>
              <a:gd name="T7" fmla="*/ 0 60000 65536"/>
              <a:gd name="T8" fmla="*/ 0 60000 65536"/>
              <a:gd name="T9" fmla="*/ 0 w 1"/>
              <a:gd name="T10" fmla="*/ 0 h 142"/>
              <a:gd name="T11" fmla="*/ 1 w 1"/>
              <a:gd name="T12" fmla="*/ 142 h 1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42">
                <a:moveTo>
                  <a:pt x="0" y="0"/>
                </a:moveTo>
                <a:lnTo>
                  <a:pt x="0" y="141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" name="Freeform 79"/>
          <p:cNvSpPr>
            <a:spLocks/>
          </p:cNvSpPr>
          <p:nvPr/>
        </p:nvSpPr>
        <p:spPr bwMode="auto">
          <a:xfrm>
            <a:off x="1846263" y="4721225"/>
            <a:ext cx="58737" cy="114300"/>
          </a:xfrm>
          <a:custGeom>
            <a:avLst/>
            <a:gdLst>
              <a:gd name="T0" fmla="*/ 57150 w 37"/>
              <a:gd name="T1" fmla="*/ 0 h 72"/>
              <a:gd name="T2" fmla="*/ 26987 w 37"/>
              <a:gd name="T3" fmla="*/ 112713 h 72"/>
              <a:gd name="T4" fmla="*/ 0 w 37"/>
              <a:gd name="T5" fmla="*/ 0 h 72"/>
              <a:gd name="T6" fmla="*/ 57150 w 37"/>
              <a:gd name="T7" fmla="*/ 0 h 72"/>
              <a:gd name="T8" fmla="*/ 0 60000 65536"/>
              <a:gd name="T9" fmla="*/ 0 60000 65536"/>
              <a:gd name="T10" fmla="*/ 0 60000 65536"/>
              <a:gd name="T11" fmla="*/ 0 60000 65536"/>
              <a:gd name="T12" fmla="*/ 0 w 37"/>
              <a:gd name="T13" fmla="*/ 0 h 72"/>
              <a:gd name="T14" fmla="*/ 37 w 37"/>
              <a:gd name="T15" fmla="*/ 72 h 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7" h="72">
                <a:moveTo>
                  <a:pt x="36" y="0"/>
                </a:moveTo>
                <a:lnTo>
                  <a:pt x="17" y="71"/>
                </a:lnTo>
                <a:lnTo>
                  <a:pt x="0" y="0"/>
                </a:lnTo>
                <a:lnTo>
                  <a:pt x="36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" name="Freeform 80"/>
          <p:cNvSpPr>
            <a:spLocks/>
          </p:cNvSpPr>
          <p:nvPr/>
        </p:nvSpPr>
        <p:spPr bwMode="auto">
          <a:xfrm>
            <a:off x="3565525" y="4610100"/>
            <a:ext cx="114300" cy="339725"/>
          </a:xfrm>
          <a:custGeom>
            <a:avLst/>
            <a:gdLst>
              <a:gd name="T0" fmla="*/ 112713 w 72"/>
              <a:gd name="T1" fmla="*/ 0 h 214"/>
              <a:gd name="T2" fmla="*/ 0 w 72"/>
              <a:gd name="T3" fmla="*/ 338138 h 214"/>
              <a:gd name="T4" fmla="*/ 112713 w 72"/>
              <a:gd name="T5" fmla="*/ 0 h 214"/>
              <a:gd name="T6" fmla="*/ 0 60000 65536"/>
              <a:gd name="T7" fmla="*/ 0 60000 65536"/>
              <a:gd name="T8" fmla="*/ 0 60000 65536"/>
              <a:gd name="T9" fmla="*/ 0 w 72"/>
              <a:gd name="T10" fmla="*/ 0 h 214"/>
              <a:gd name="T11" fmla="*/ 72 w 72"/>
              <a:gd name="T12" fmla="*/ 214 h 2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2" h="214">
                <a:moveTo>
                  <a:pt x="71" y="0"/>
                </a:moveTo>
                <a:lnTo>
                  <a:pt x="0" y="213"/>
                </a:lnTo>
                <a:lnTo>
                  <a:pt x="71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Freeform 81"/>
          <p:cNvSpPr>
            <a:spLocks/>
          </p:cNvSpPr>
          <p:nvPr/>
        </p:nvSpPr>
        <p:spPr bwMode="auto">
          <a:xfrm>
            <a:off x="3565525" y="4832350"/>
            <a:ext cx="61913" cy="117475"/>
          </a:xfrm>
          <a:custGeom>
            <a:avLst/>
            <a:gdLst>
              <a:gd name="T0" fmla="*/ 60325 w 39"/>
              <a:gd name="T1" fmla="*/ 15875 h 74"/>
              <a:gd name="T2" fmla="*/ 0 w 39"/>
              <a:gd name="T3" fmla="*/ 115888 h 74"/>
              <a:gd name="T4" fmla="*/ 7938 w 39"/>
              <a:gd name="T5" fmla="*/ 0 h 74"/>
              <a:gd name="T6" fmla="*/ 60325 w 39"/>
              <a:gd name="T7" fmla="*/ 15875 h 74"/>
              <a:gd name="T8" fmla="*/ 0 60000 65536"/>
              <a:gd name="T9" fmla="*/ 0 60000 65536"/>
              <a:gd name="T10" fmla="*/ 0 60000 65536"/>
              <a:gd name="T11" fmla="*/ 0 60000 65536"/>
              <a:gd name="T12" fmla="*/ 0 w 39"/>
              <a:gd name="T13" fmla="*/ 0 h 74"/>
              <a:gd name="T14" fmla="*/ 39 w 39"/>
              <a:gd name="T15" fmla="*/ 74 h 7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" h="74">
                <a:moveTo>
                  <a:pt x="38" y="10"/>
                </a:moveTo>
                <a:lnTo>
                  <a:pt x="0" y="73"/>
                </a:lnTo>
                <a:lnTo>
                  <a:pt x="5" y="0"/>
                </a:lnTo>
                <a:lnTo>
                  <a:pt x="38" y="1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" name="Freeform 82"/>
          <p:cNvSpPr>
            <a:spLocks/>
          </p:cNvSpPr>
          <p:nvPr/>
        </p:nvSpPr>
        <p:spPr bwMode="auto">
          <a:xfrm>
            <a:off x="3902075" y="4610100"/>
            <a:ext cx="114300" cy="339725"/>
          </a:xfrm>
          <a:custGeom>
            <a:avLst/>
            <a:gdLst>
              <a:gd name="T0" fmla="*/ 0 w 72"/>
              <a:gd name="T1" fmla="*/ 0 h 214"/>
              <a:gd name="T2" fmla="*/ 112713 w 72"/>
              <a:gd name="T3" fmla="*/ 338138 h 214"/>
              <a:gd name="T4" fmla="*/ 0 w 72"/>
              <a:gd name="T5" fmla="*/ 0 h 214"/>
              <a:gd name="T6" fmla="*/ 0 60000 65536"/>
              <a:gd name="T7" fmla="*/ 0 60000 65536"/>
              <a:gd name="T8" fmla="*/ 0 60000 65536"/>
              <a:gd name="T9" fmla="*/ 0 w 72"/>
              <a:gd name="T10" fmla="*/ 0 h 214"/>
              <a:gd name="T11" fmla="*/ 72 w 72"/>
              <a:gd name="T12" fmla="*/ 214 h 2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2" h="214">
                <a:moveTo>
                  <a:pt x="0" y="0"/>
                </a:moveTo>
                <a:lnTo>
                  <a:pt x="71" y="213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" name="Freeform 83"/>
          <p:cNvSpPr>
            <a:spLocks/>
          </p:cNvSpPr>
          <p:nvPr/>
        </p:nvSpPr>
        <p:spPr bwMode="auto">
          <a:xfrm>
            <a:off x="3952875" y="4832350"/>
            <a:ext cx="63500" cy="117475"/>
          </a:xfrm>
          <a:custGeom>
            <a:avLst/>
            <a:gdLst>
              <a:gd name="T0" fmla="*/ 52388 w 40"/>
              <a:gd name="T1" fmla="*/ 0 h 74"/>
              <a:gd name="T2" fmla="*/ 61913 w 40"/>
              <a:gd name="T3" fmla="*/ 115888 h 74"/>
              <a:gd name="T4" fmla="*/ 0 w 40"/>
              <a:gd name="T5" fmla="*/ 15875 h 74"/>
              <a:gd name="T6" fmla="*/ 52388 w 40"/>
              <a:gd name="T7" fmla="*/ 0 h 74"/>
              <a:gd name="T8" fmla="*/ 0 60000 65536"/>
              <a:gd name="T9" fmla="*/ 0 60000 65536"/>
              <a:gd name="T10" fmla="*/ 0 60000 65536"/>
              <a:gd name="T11" fmla="*/ 0 60000 65536"/>
              <a:gd name="T12" fmla="*/ 0 w 40"/>
              <a:gd name="T13" fmla="*/ 0 h 74"/>
              <a:gd name="T14" fmla="*/ 40 w 40"/>
              <a:gd name="T15" fmla="*/ 74 h 7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" h="74">
                <a:moveTo>
                  <a:pt x="33" y="0"/>
                </a:moveTo>
                <a:lnTo>
                  <a:pt x="39" y="73"/>
                </a:lnTo>
                <a:lnTo>
                  <a:pt x="0" y="10"/>
                </a:lnTo>
                <a:lnTo>
                  <a:pt x="33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" name="Freeform 84"/>
          <p:cNvSpPr>
            <a:spLocks/>
          </p:cNvSpPr>
          <p:nvPr/>
        </p:nvSpPr>
        <p:spPr bwMode="auto">
          <a:xfrm>
            <a:off x="3789363" y="4610100"/>
            <a:ext cx="1587" cy="225425"/>
          </a:xfrm>
          <a:custGeom>
            <a:avLst/>
            <a:gdLst>
              <a:gd name="T0" fmla="*/ 0 w 1"/>
              <a:gd name="T1" fmla="*/ 0 h 142"/>
              <a:gd name="T2" fmla="*/ 0 w 1"/>
              <a:gd name="T3" fmla="*/ 223838 h 142"/>
              <a:gd name="T4" fmla="*/ 0 w 1"/>
              <a:gd name="T5" fmla="*/ 0 h 142"/>
              <a:gd name="T6" fmla="*/ 0 60000 65536"/>
              <a:gd name="T7" fmla="*/ 0 60000 65536"/>
              <a:gd name="T8" fmla="*/ 0 60000 65536"/>
              <a:gd name="T9" fmla="*/ 0 w 1"/>
              <a:gd name="T10" fmla="*/ 0 h 142"/>
              <a:gd name="T11" fmla="*/ 1 w 1"/>
              <a:gd name="T12" fmla="*/ 142 h 1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42">
                <a:moveTo>
                  <a:pt x="0" y="0"/>
                </a:moveTo>
                <a:lnTo>
                  <a:pt x="0" y="141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Freeform 85"/>
          <p:cNvSpPr>
            <a:spLocks/>
          </p:cNvSpPr>
          <p:nvPr/>
        </p:nvSpPr>
        <p:spPr bwMode="auto">
          <a:xfrm>
            <a:off x="3760788" y="4721225"/>
            <a:ext cx="58737" cy="114300"/>
          </a:xfrm>
          <a:custGeom>
            <a:avLst/>
            <a:gdLst>
              <a:gd name="T0" fmla="*/ 57150 w 37"/>
              <a:gd name="T1" fmla="*/ 0 h 72"/>
              <a:gd name="T2" fmla="*/ 28575 w 37"/>
              <a:gd name="T3" fmla="*/ 112713 h 72"/>
              <a:gd name="T4" fmla="*/ 0 w 37"/>
              <a:gd name="T5" fmla="*/ 0 h 72"/>
              <a:gd name="T6" fmla="*/ 57150 w 37"/>
              <a:gd name="T7" fmla="*/ 0 h 72"/>
              <a:gd name="T8" fmla="*/ 0 60000 65536"/>
              <a:gd name="T9" fmla="*/ 0 60000 65536"/>
              <a:gd name="T10" fmla="*/ 0 60000 65536"/>
              <a:gd name="T11" fmla="*/ 0 60000 65536"/>
              <a:gd name="T12" fmla="*/ 0 w 37"/>
              <a:gd name="T13" fmla="*/ 0 h 72"/>
              <a:gd name="T14" fmla="*/ 37 w 37"/>
              <a:gd name="T15" fmla="*/ 72 h 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7" h="72">
                <a:moveTo>
                  <a:pt x="36" y="0"/>
                </a:moveTo>
                <a:lnTo>
                  <a:pt x="18" y="71"/>
                </a:lnTo>
                <a:lnTo>
                  <a:pt x="0" y="0"/>
                </a:lnTo>
                <a:lnTo>
                  <a:pt x="36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" name="Freeform 86"/>
          <p:cNvSpPr>
            <a:spLocks/>
          </p:cNvSpPr>
          <p:nvPr/>
        </p:nvSpPr>
        <p:spPr bwMode="auto">
          <a:xfrm>
            <a:off x="5478463" y="4610100"/>
            <a:ext cx="114300" cy="339725"/>
          </a:xfrm>
          <a:custGeom>
            <a:avLst/>
            <a:gdLst>
              <a:gd name="T0" fmla="*/ 112713 w 72"/>
              <a:gd name="T1" fmla="*/ 0 h 214"/>
              <a:gd name="T2" fmla="*/ 0 w 72"/>
              <a:gd name="T3" fmla="*/ 338138 h 214"/>
              <a:gd name="T4" fmla="*/ 112713 w 72"/>
              <a:gd name="T5" fmla="*/ 0 h 214"/>
              <a:gd name="T6" fmla="*/ 0 60000 65536"/>
              <a:gd name="T7" fmla="*/ 0 60000 65536"/>
              <a:gd name="T8" fmla="*/ 0 60000 65536"/>
              <a:gd name="T9" fmla="*/ 0 w 72"/>
              <a:gd name="T10" fmla="*/ 0 h 214"/>
              <a:gd name="T11" fmla="*/ 72 w 72"/>
              <a:gd name="T12" fmla="*/ 214 h 2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2" h="214">
                <a:moveTo>
                  <a:pt x="71" y="0"/>
                </a:moveTo>
                <a:lnTo>
                  <a:pt x="0" y="213"/>
                </a:lnTo>
                <a:lnTo>
                  <a:pt x="71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" name="Freeform 87"/>
          <p:cNvSpPr>
            <a:spLocks/>
          </p:cNvSpPr>
          <p:nvPr/>
        </p:nvSpPr>
        <p:spPr bwMode="auto">
          <a:xfrm>
            <a:off x="5478463" y="4832350"/>
            <a:ext cx="63500" cy="117475"/>
          </a:xfrm>
          <a:custGeom>
            <a:avLst/>
            <a:gdLst>
              <a:gd name="T0" fmla="*/ 61913 w 40"/>
              <a:gd name="T1" fmla="*/ 15875 h 74"/>
              <a:gd name="T2" fmla="*/ 0 w 40"/>
              <a:gd name="T3" fmla="*/ 115888 h 74"/>
              <a:gd name="T4" fmla="*/ 9525 w 40"/>
              <a:gd name="T5" fmla="*/ 0 h 74"/>
              <a:gd name="T6" fmla="*/ 61913 w 40"/>
              <a:gd name="T7" fmla="*/ 15875 h 74"/>
              <a:gd name="T8" fmla="*/ 0 60000 65536"/>
              <a:gd name="T9" fmla="*/ 0 60000 65536"/>
              <a:gd name="T10" fmla="*/ 0 60000 65536"/>
              <a:gd name="T11" fmla="*/ 0 60000 65536"/>
              <a:gd name="T12" fmla="*/ 0 w 40"/>
              <a:gd name="T13" fmla="*/ 0 h 74"/>
              <a:gd name="T14" fmla="*/ 40 w 40"/>
              <a:gd name="T15" fmla="*/ 74 h 7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" h="74">
                <a:moveTo>
                  <a:pt x="39" y="10"/>
                </a:moveTo>
                <a:lnTo>
                  <a:pt x="0" y="73"/>
                </a:lnTo>
                <a:lnTo>
                  <a:pt x="6" y="0"/>
                </a:lnTo>
                <a:lnTo>
                  <a:pt x="39" y="1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" name="Freeform 88"/>
          <p:cNvSpPr>
            <a:spLocks/>
          </p:cNvSpPr>
          <p:nvPr/>
        </p:nvSpPr>
        <p:spPr bwMode="auto">
          <a:xfrm>
            <a:off x="5816600" y="4610100"/>
            <a:ext cx="114300" cy="339725"/>
          </a:xfrm>
          <a:custGeom>
            <a:avLst/>
            <a:gdLst>
              <a:gd name="T0" fmla="*/ 0 w 72"/>
              <a:gd name="T1" fmla="*/ 0 h 214"/>
              <a:gd name="T2" fmla="*/ 112713 w 72"/>
              <a:gd name="T3" fmla="*/ 338138 h 214"/>
              <a:gd name="T4" fmla="*/ 0 w 72"/>
              <a:gd name="T5" fmla="*/ 0 h 214"/>
              <a:gd name="T6" fmla="*/ 0 60000 65536"/>
              <a:gd name="T7" fmla="*/ 0 60000 65536"/>
              <a:gd name="T8" fmla="*/ 0 60000 65536"/>
              <a:gd name="T9" fmla="*/ 0 w 72"/>
              <a:gd name="T10" fmla="*/ 0 h 214"/>
              <a:gd name="T11" fmla="*/ 72 w 72"/>
              <a:gd name="T12" fmla="*/ 214 h 2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2" h="214">
                <a:moveTo>
                  <a:pt x="0" y="0"/>
                </a:moveTo>
                <a:lnTo>
                  <a:pt x="71" y="213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" name="Freeform 89"/>
          <p:cNvSpPr>
            <a:spLocks/>
          </p:cNvSpPr>
          <p:nvPr/>
        </p:nvSpPr>
        <p:spPr bwMode="auto">
          <a:xfrm>
            <a:off x="5867400" y="4832350"/>
            <a:ext cx="63500" cy="117475"/>
          </a:xfrm>
          <a:custGeom>
            <a:avLst/>
            <a:gdLst>
              <a:gd name="T0" fmla="*/ 52388 w 40"/>
              <a:gd name="T1" fmla="*/ 0 h 74"/>
              <a:gd name="T2" fmla="*/ 61913 w 40"/>
              <a:gd name="T3" fmla="*/ 115888 h 74"/>
              <a:gd name="T4" fmla="*/ 0 w 40"/>
              <a:gd name="T5" fmla="*/ 15875 h 74"/>
              <a:gd name="T6" fmla="*/ 52388 w 40"/>
              <a:gd name="T7" fmla="*/ 0 h 74"/>
              <a:gd name="T8" fmla="*/ 0 60000 65536"/>
              <a:gd name="T9" fmla="*/ 0 60000 65536"/>
              <a:gd name="T10" fmla="*/ 0 60000 65536"/>
              <a:gd name="T11" fmla="*/ 0 60000 65536"/>
              <a:gd name="T12" fmla="*/ 0 w 40"/>
              <a:gd name="T13" fmla="*/ 0 h 74"/>
              <a:gd name="T14" fmla="*/ 40 w 40"/>
              <a:gd name="T15" fmla="*/ 74 h 7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" h="74">
                <a:moveTo>
                  <a:pt x="33" y="0"/>
                </a:moveTo>
                <a:lnTo>
                  <a:pt x="39" y="73"/>
                </a:lnTo>
                <a:lnTo>
                  <a:pt x="0" y="10"/>
                </a:lnTo>
                <a:lnTo>
                  <a:pt x="33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Freeform 90"/>
          <p:cNvSpPr>
            <a:spLocks/>
          </p:cNvSpPr>
          <p:nvPr/>
        </p:nvSpPr>
        <p:spPr bwMode="auto">
          <a:xfrm>
            <a:off x="5705475" y="4610100"/>
            <a:ext cx="1588" cy="225425"/>
          </a:xfrm>
          <a:custGeom>
            <a:avLst/>
            <a:gdLst>
              <a:gd name="T0" fmla="*/ 0 w 1"/>
              <a:gd name="T1" fmla="*/ 0 h 142"/>
              <a:gd name="T2" fmla="*/ 0 w 1"/>
              <a:gd name="T3" fmla="*/ 223838 h 142"/>
              <a:gd name="T4" fmla="*/ 0 w 1"/>
              <a:gd name="T5" fmla="*/ 0 h 142"/>
              <a:gd name="T6" fmla="*/ 0 60000 65536"/>
              <a:gd name="T7" fmla="*/ 0 60000 65536"/>
              <a:gd name="T8" fmla="*/ 0 60000 65536"/>
              <a:gd name="T9" fmla="*/ 0 w 1"/>
              <a:gd name="T10" fmla="*/ 0 h 142"/>
              <a:gd name="T11" fmla="*/ 1 w 1"/>
              <a:gd name="T12" fmla="*/ 142 h 1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42">
                <a:moveTo>
                  <a:pt x="0" y="0"/>
                </a:moveTo>
                <a:lnTo>
                  <a:pt x="0" y="141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Freeform 91"/>
          <p:cNvSpPr>
            <a:spLocks/>
          </p:cNvSpPr>
          <p:nvPr/>
        </p:nvSpPr>
        <p:spPr bwMode="auto">
          <a:xfrm>
            <a:off x="5675313" y="4721225"/>
            <a:ext cx="58737" cy="114300"/>
          </a:xfrm>
          <a:custGeom>
            <a:avLst/>
            <a:gdLst>
              <a:gd name="T0" fmla="*/ 57150 w 37"/>
              <a:gd name="T1" fmla="*/ 0 h 72"/>
              <a:gd name="T2" fmla="*/ 30162 w 37"/>
              <a:gd name="T3" fmla="*/ 112713 h 72"/>
              <a:gd name="T4" fmla="*/ 0 w 37"/>
              <a:gd name="T5" fmla="*/ 0 h 72"/>
              <a:gd name="T6" fmla="*/ 57150 w 37"/>
              <a:gd name="T7" fmla="*/ 0 h 72"/>
              <a:gd name="T8" fmla="*/ 0 60000 65536"/>
              <a:gd name="T9" fmla="*/ 0 60000 65536"/>
              <a:gd name="T10" fmla="*/ 0 60000 65536"/>
              <a:gd name="T11" fmla="*/ 0 60000 65536"/>
              <a:gd name="T12" fmla="*/ 0 w 37"/>
              <a:gd name="T13" fmla="*/ 0 h 72"/>
              <a:gd name="T14" fmla="*/ 37 w 37"/>
              <a:gd name="T15" fmla="*/ 72 h 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7" h="72">
                <a:moveTo>
                  <a:pt x="36" y="0"/>
                </a:moveTo>
                <a:lnTo>
                  <a:pt x="19" y="71"/>
                </a:lnTo>
                <a:lnTo>
                  <a:pt x="0" y="0"/>
                </a:lnTo>
                <a:lnTo>
                  <a:pt x="36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Freeform 92"/>
          <p:cNvSpPr>
            <a:spLocks/>
          </p:cNvSpPr>
          <p:nvPr/>
        </p:nvSpPr>
        <p:spPr bwMode="auto">
          <a:xfrm>
            <a:off x="7392988" y="4610100"/>
            <a:ext cx="115887" cy="339725"/>
          </a:xfrm>
          <a:custGeom>
            <a:avLst/>
            <a:gdLst>
              <a:gd name="T0" fmla="*/ 114300 w 73"/>
              <a:gd name="T1" fmla="*/ 0 h 214"/>
              <a:gd name="T2" fmla="*/ 0 w 73"/>
              <a:gd name="T3" fmla="*/ 338138 h 214"/>
              <a:gd name="T4" fmla="*/ 114300 w 73"/>
              <a:gd name="T5" fmla="*/ 0 h 214"/>
              <a:gd name="T6" fmla="*/ 0 60000 65536"/>
              <a:gd name="T7" fmla="*/ 0 60000 65536"/>
              <a:gd name="T8" fmla="*/ 0 60000 65536"/>
              <a:gd name="T9" fmla="*/ 0 w 73"/>
              <a:gd name="T10" fmla="*/ 0 h 214"/>
              <a:gd name="T11" fmla="*/ 73 w 73"/>
              <a:gd name="T12" fmla="*/ 214 h 2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3" h="214">
                <a:moveTo>
                  <a:pt x="72" y="0"/>
                </a:moveTo>
                <a:lnTo>
                  <a:pt x="0" y="213"/>
                </a:lnTo>
                <a:lnTo>
                  <a:pt x="72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Freeform 93"/>
          <p:cNvSpPr>
            <a:spLocks/>
          </p:cNvSpPr>
          <p:nvPr/>
        </p:nvSpPr>
        <p:spPr bwMode="auto">
          <a:xfrm>
            <a:off x="7392988" y="4832350"/>
            <a:ext cx="63500" cy="117475"/>
          </a:xfrm>
          <a:custGeom>
            <a:avLst/>
            <a:gdLst>
              <a:gd name="T0" fmla="*/ 61913 w 40"/>
              <a:gd name="T1" fmla="*/ 15875 h 74"/>
              <a:gd name="T2" fmla="*/ 0 w 40"/>
              <a:gd name="T3" fmla="*/ 115888 h 74"/>
              <a:gd name="T4" fmla="*/ 9525 w 40"/>
              <a:gd name="T5" fmla="*/ 0 h 74"/>
              <a:gd name="T6" fmla="*/ 61913 w 40"/>
              <a:gd name="T7" fmla="*/ 15875 h 74"/>
              <a:gd name="T8" fmla="*/ 0 60000 65536"/>
              <a:gd name="T9" fmla="*/ 0 60000 65536"/>
              <a:gd name="T10" fmla="*/ 0 60000 65536"/>
              <a:gd name="T11" fmla="*/ 0 60000 65536"/>
              <a:gd name="T12" fmla="*/ 0 w 40"/>
              <a:gd name="T13" fmla="*/ 0 h 74"/>
              <a:gd name="T14" fmla="*/ 40 w 40"/>
              <a:gd name="T15" fmla="*/ 74 h 7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" h="74">
                <a:moveTo>
                  <a:pt x="39" y="10"/>
                </a:moveTo>
                <a:lnTo>
                  <a:pt x="0" y="73"/>
                </a:lnTo>
                <a:lnTo>
                  <a:pt x="6" y="0"/>
                </a:lnTo>
                <a:lnTo>
                  <a:pt x="39" y="1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Freeform 94"/>
          <p:cNvSpPr>
            <a:spLocks/>
          </p:cNvSpPr>
          <p:nvPr/>
        </p:nvSpPr>
        <p:spPr bwMode="auto">
          <a:xfrm>
            <a:off x="7731125" y="4610100"/>
            <a:ext cx="112713" cy="339725"/>
          </a:xfrm>
          <a:custGeom>
            <a:avLst/>
            <a:gdLst>
              <a:gd name="T0" fmla="*/ 0 w 71"/>
              <a:gd name="T1" fmla="*/ 0 h 214"/>
              <a:gd name="T2" fmla="*/ 111125 w 71"/>
              <a:gd name="T3" fmla="*/ 338138 h 214"/>
              <a:gd name="T4" fmla="*/ 0 w 71"/>
              <a:gd name="T5" fmla="*/ 0 h 214"/>
              <a:gd name="T6" fmla="*/ 0 60000 65536"/>
              <a:gd name="T7" fmla="*/ 0 60000 65536"/>
              <a:gd name="T8" fmla="*/ 0 60000 65536"/>
              <a:gd name="T9" fmla="*/ 0 w 71"/>
              <a:gd name="T10" fmla="*/ 0 h 214"/>
              <a:gd name="T11" fmla="*/ 71 w 71"/>
              <a:gd name="T12" fmla="*/ 214 h 2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1" h="214">
                <a:moveTo>
                  <a:pt x="0" y="0"/>
                </a:moveTo>
                <a:lnTo>
                  <a:pt x="70" y="213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Freeform 95"/>
          <p:cNvSpPr>
            <a:spLocks/>
          </p:cNvSpPr>
          <p:nvPr/>
        </p:nvSpPr>
        <p:spPr bwMode="auto">
          <a:xfrm>
            <a:off x="7781925" y="4832350"/>
            <a:ext cx="61913" cy="117475"/>
          </a:xfrm>
          <a:custGeom>
            <a:avLst/>
            <a:gdLst>
              <a:gd name="T0" fmla="*/ 52388 w 39"/>
              <a:gd name="T1" fmla="*/ 0 h 74"/>
              <a:gd name="T2" fmla="*/ 60325 w 39"/>
              <a:gd name="T3" fmla="*/ 115888 h 74"/>
              <a:gd name="T4" fmla="*/ 0 w 39"/>
              <a:gd name="T5" fmla="*/ 15875 h 74"/>
              <a:gd name="T6" fmla="*/ 52388 w 39"/>
              <a:gd name="T7" fmla="*/ 0 h 74"/>
              <a:gd name="T8" fmla="*/ 0 60000 65536"/>
              <a:gd name="T9" fmla="*/ 0 60000 65536"/>
              <a:gd name="T10" fmla="*/ 0 60000 65536"/>
              <a:gd name="T11" fmla="*/ 0 60000 65536"/>
              <a:gd name="T12" fmla="*/ 0 w 39"/>
              <a:gd name="T13" fmla="*/ 0 h 74"/>
              <a:gd name="T14" fmla="*/ 39 w 39"/>
              <a:gd name="T15" fmla="*/ 74 h 7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" h="74">
                <a:moveTo>
                  <a:pt x="33" y="0"/>
                </a:moveTo>
                <a:lnTo>
                  <a:pt x="38" y="73"/>
                </a:lnTo>
                <a:lnTo>
                  <a:pt x="0" y="10"/>
                </a:lnTo>
                <a:lnTo>
                  <a:pt x="33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Freeform 96"/>
          <p:cNvSpPr>
            <a:spLocks/>
          </p:cNvSpPr>
          <p:nvPr/>
        </p:nvSpPr>
        <p:spPr bwMode="auto">
          <a:xfrm>
            <a:off x="7620000" y="4610100"/>
            <a:ext cx="1588" cy="225425"/>
          </a:xfrm>
          <a:custGeom>
            <a:avLst/>
            <a:gdLst>
              <a:gd name="T0" fmla="*/ 0 w 1"/>
              <a:gd name="T1" fmla="*/ 0 h 142"/>
              <a:gd name="T2" fmla="*/ 0 w 1"/>
              <a:gd name="T3" fmla="*/ 223838 h 142"/>
              <a:gd name="T4" fmla="*/ 0 w 1"/>
              <a:gd name="T5" fmla="*/ 0 h 142"/>
              <a:gd name="T6" fmla="*/ 0 60000 65536"/>
              <a:gd name="T7" fmla="*/ 0 60000 65536"/>
              <a:gd name="T8" fmla="*/ 0 60000 65536"/>
              <a:gd name="T9" fmla="*/ 0 w 1"/>
              <a:gd name="T10" fmla="*/ 0 h 142"/>
              <a:gd name="T11" fmla="*/ 1 w 1"/>
              <a:gd name="T12" fmla="*/ 142 h 1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42">
                <a:moveTo>
                  <a:pt x="0" y="0"/>
                </a:moveTo>
                <a:lnTo>
                  <a:pt x="0" y="141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Freeform 97"/>
          <p:cNvSpPr>
            <a:spLocks/>
          </p:cNvSpPr>
          <p:nvPr/>
        </p:nvSpPr>
        <p:spPr bwMode="auto">
          <a:xfrm>
            <a:off x="7589838" y="4721225"/>
            <a:ext cx="58737" cy="114300"/>
          </a:xfrm>
          <a:custGeom>
            <a:avLst/>
            <a:gdLst>
              <a:gd name="T0" fmla="*/ 57150 w 37"/>
              <a:gd name="T1" fmla="*/ 0 h 72"/>
              <a:gd name="T2" fmla="*/ 30162 w 37"/>
              <a:gd name="T3" fmla="*/ 112713 h 72"/>
              <a:gd name="T4" fmla="*/ 0 w 37"/>
              <a:gd name="T5" fmla="*/ 0 h 72"/>
              <a:gd name="T6" fmla="*/ 57150 w 37"/>
              <a:gd name="T7" fmla="*/ 0 h 72"/>
              <a:gd name="T8" fmla="*/ 0 60000 65536"/>
              <a:gd name="T9" fmla="*/ 0 60000 65536"/>
              <a:gd name="T10" fmla="*/ 0 60000 65536"/>
              <a:gd name="T11" fmla="*/ 0 60000 65536"/>
              <a:gd name="T12" fmla="*/ 0 w 37"/>
              <a:gd name="T13" fmla="*/ 0 h 72"/>
              <a:gd name="T14" fmla="*/ 37 w 37"/>
              <a:gd name="T15" fmla="*/ 72 h 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7" h="72">
                <a:moveTo>
                  <a:pt x="36" y="0"/>
                </a:moveTo>
                <a:lnTo>
                  <a:pt x="19" y="71"/>
                </a:lnTo>
                <a:lnTo>
                  <a:pt x="0" y="0"/>
                </a:lnTo>
                <a:lnTo>
                  <a:pt x="36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Freeform 98"/>
          <p:cNvSpPr>
            <a:spLocks/>
          </p:cNvSpPr>
          <p:nvPr/>
        </p:nvSpPr>
        <p:spPr bwMode="auto">
          <a:xfrm>
            <a:off x="1720850" y="5046662"/>
            <a:ext cx="57150" cy="28575"/>
          </a:xfrm>
          <a:custGeom>
            <a:avLst/>
            <a:gdLst>
              <a:gd name="T0" fmla="*/ 55563 w 36"/>
              <a:gd name="T1" fmla="*/ 14288 h 18"/>
              <a:gd name="T2" fmla="*/ 28575 w 36"/>
              <a:gd name="T3" fmla="*/ 0 h 18"/>
              <a:gd name="T4" fmla="*/ 0 w 36"/>
              <a:gd name="T5" fmla="*/ 14288 h 18"/>
              <a:gd name="T6" fmla="*/ 28575 w 36"/>
              <a:gd name="T7" fmla="*/ 26988 h 18"/>
              <a:gd name="T8" fmla="*/ 55563 w 36"/>
              <a:gd name="T9" fmla="*/ 14288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8"/>
              <a:gd name="T17" fmla="*/ 36 w 36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8">
                <a:moveTo>
                  <a:pt x="35" y="9"/>
                </a:moveTo>
                <a:lnTo>
                  <a:pt x="18" y="0"/>
                </a:lnTo>
                <a:lnTo>
                  <a:pt x="0" y="9"/>
                </a:lnTo>
                <a:lnTo>
                  <a:pt x="18" y="17"/>
                </a:lnTo>
                <a:lnTo>
                  <a:pt x="35" y="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Freeform 99"/>
          <p:cNvSpPr>
            <a:spLocks/>
          </p:cNvSpPr>
          <p:nvPr/>
        </p:nvSpPr>
        <p:spPr bwMode="auto">
          <a:xfrm>
            <a:off x="1846263" y="5046662"/>
            <a:ext cx="58737" cy="28575"/>
          </a:xfrm>
          <a:custGeom>
            <a:avLst/>
            <a:gdLst>
              <a:gd name="T0" fmla="*/ 57150 w 37"/>
              <a:gd name="T1" fmla="*/ 14288 h 18"/>
              <a:gd name="T2" fmla="*/ 26987 w 37"/>
              <a:gd name="T3" fmla="*/ 0 h 18"/>
              <a:gd name="T4" fmla="*/ 0 w 37"/>
              <a:gd name="T5" fmla="*/ 14288 h 18"/>
              <a:gd name="T6" fmla="*/ 26987 w 37"/>
              <a:gd name="T7" fmla="*/ 26988 h 18"/>
              <a:gd name="T8" fmla="*/ 57150 w 37"/>
              <a:gd name="T9" fmla="*/ 14288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"/>
              <a:gd name="T16" fmla="*/ 0 h 18"/>
              <a:gd name="T17" fmla="*/ 37 w 37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" h="18">
                <a:moveTo>
                  <a:pt x="36" y="9"/>
                </a:moveTo>
                <a:lnTo>
                  <a:pt x="17" y="0"/>
                </a:lnTo>
                <a:lnTo>
                  <a:pt x="0" y="9"/>
                </a:lnTo>
                <a:lnTo>
                  <a:pt x="17" y="17"/>
                </a:lnTo>
                <a:lnTo>
                  <a:pt x="36" y="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Freeform 100"/>
          <p:cNvSpPr>
            <a:spLocks/>
          </p:cNvSpPr>
          <p:nvPr/>
        </p:nvSpPr>
        <p:spPr bwMode="auto">
          <a:xfrm>
            <a:off x="1973263" y="5046662"/>
            <a:ext cx="58737" cy="28575"/>
          </a:xfrm>
          <a:custGeom>
            <a:avLst/>
            <a:gdLst>
              <a:gd name="T0" fmla="*/ 57150 w 37"/>
              <a:gd name="T1" fmla="*/ 14288 h 18"/>
              <a:gd name="T2" fmla="*/ 28575 w 37"/>
              <a:gd name="T3" fmla="*/ 0 h 18"/>
              <a:gd name="T4" fmla="*/ 0 w 37"/>
              <a:gd name="T5" fmla="*/ 14288 h 18"/>
              <a:gd name="T6" fmla="*/ 28575 w 37"/>
              <a:gd name="T7" fmla="*/ 26988 h 18"/>
              <a:gd name="T8" fmla="*/ 57150 w 37"/>
              <a:gd name="T9" fmla="*/ 14288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"/>
              <a:gd name="T16" fmla="*/ 0 h 18"/>
              <a:gd name="T17" fmla="*/ 37 w 37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" h="18">
                <a:moveTo>
                  <a:pt x="36" y="9"/>
                </a:moveTo>
                <a:lnTo>
                  <a:pt x="18" y="0"/>
                </a:lnTo>
                <a:lnTo>
                  <a:pt x="0" y="9"/>
                </a:lnTo>
                <a:lnTo>
                  <a:pt x="18" y="17"/>
                </a:lnTo>
                <a:lnTo>
                  <a:pt x="36" y="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Freeform 101"/>
          <p:cNvSpPr>
            <a:spLocks/>
          </p:cNvSpPr>
          <p:nvPr/>
        </p:nvSpPr>
        <p:spPr bwMode="auto">
          <a:xfrm>
            <a:off x="3621088" y="5046662"/>
            <a:ext cx="58737" cy="28575"/>
          </a:xfrm>
          <a:custGeom>
            <a:avLst/>
            <a:gdLst>
              <a:gd name="T0" fmla="*/ 57150 w 37"/>
              <a:gd name="T1" fmla="*/ 14288 h 18"/>
              <a:gd name="T2" fmla="*/ 28575 w 37"/>
              <a:gd name="T3" fmla="*/ 0 h 18"/>
              <a:gd name="T4" fmla="*/ 0 w 37"/>
              <a:gd name="T5" fmla="*/ 14288 h 18"/>
              <a:gd name="T6" fmla="*/ 28575 w 37"/>
              <a:gd name="T7" fmla="*/ 26988 h 18"/>
              <a:gd name="T8" fmla="*/ 57150 w 37"/>
              <a:gd name="T9" fmla="*/ 14288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"/>
              <a:gd name="T16" fmla="*/ 0 h 18"/>
              <a:gd name="T17" fmla="*/ 37 w 37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" h="18">
                <a:moveTo>
                  <a:pt x="36" y="9"/>
                </a:moveTo>
                <a:lnTo>
                  <a:pt x="18" y="0"/>
                </a:lnTo>
                <a:lnTo>
                  <a:pt x="0" y="9"/>
                </a:lnTo>
                <a:lnTo>
                  <a:pt x="18" y="17"/>
                </a:lnTo>
                <a:lnTo>
                  <a:pt x="36" y="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Freeform 102"/>
          <p:cNvSpPr>
            <a:spLocks/>
          </p:cNvSpPr>
          <p:nvPr/>
        </p:nvSpPr>
        <p:spPr bwMode="auto">
          <a:xfrm>
            <a:off x="3748088" y="5046662"/>
            <a:ext cx="55562" cy="28575"/>
          </a:xfrm>
          <a:custGeom>
            <a:avLst/>
            <a:gdLst>
              <a:gd name="T0" fmla="*/ 53975 w 35"/>
              <a:gd name="T1" fmla="*/ 14288 h 18"/>
              <a:gd name="T2" fmla="*/ 28575 w 35"/>
              <a:gd name="T3" fmla="*/ 0 h 18"/>
              <a:gd name="T4" fmla="*/ 0 w 35"/>
              <a:gd name="T5" fmla="*/ 14288 h 18"/>
              <a:gd name="T6" fmla="*/ 28575 w 35"/>
              <a:gd name="T7" fmla="*/ 26988 h 18"/>
              <a:gd name="T8" fmla="*/ 53975 w 35"/>
              <a:gd name="T9" fmla="*/ 14288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"/>
              <a:gd name="T16" fmla="*/ 0 h 18"/>
              <a:gd name="T17" fmla="*/ 35 w 35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" h="18">
                <a:moveTo>
                  <a:pt x="34" y="9"/>
                </a:moveTo>
                <a:lnTo>
                  <a:pt x="18" y="0"/>
                </a:lnTo>
                <a:lnTo>
                  <a:pt x="0" y="9"/>
                </a:lnTo>
                <a:lnTo>
                  <a:pt x="18" y="17"/>
                </a:lnTo>
                <a:lnTo>
                  <a:pt x="34" y="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" name="Freeform 103"/>
          <p:cNvSpPr>
            <a:spLocks/>
          </p:cNvSpPr>
          <p:nvPr/>
        </p:nvSpPr>
        <p:spPr bwMode="auto">
          <a:xfrm>
            <a:off x="3873500" y="5046662"/>
            <a:ext cx="58738" cy="28575"/>
          </a:xfrm>
          <a:custGeom>
            <a:avLst/>
            <a:gdLst>
              <a:gd name="T0" fmla="*/ 57150 w 37"/>
              <a:gd name="T1" fmla="*/ 14288 h 18"/>
              <a:gd name="T2" fmla="*/ 28575 w 37"/>
              <a:gd name="T3" fmla="*/ 0 h 18"/>
              <a:gd name="T4" fmla="*/ 0 w 37"/>
              <a:gd name="T5" fmla="*/ 14288 h 18"/>
              <a:gd name="T6" fmla="*/ 28575 w 37"/>
              <a:gd name="T7" fmla="*/ 26988 h 18"/>
              <a:gd name="T8" fmla="*/ 57150 w 37"/>
              <a:gd name="T9" fmla="*/ 14288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"/>
              <a:gd name="T16" fmla="*/ 0 h 18"/>
              <a:gd name="T17" fmla="*/ 37 w 37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" h="18">
                <a:moveTo>
                  <a:pt x="36" y="9"/>
                </a:moveTo>
                <a:lnTo>
                  <a:pt x="18" y="0"/>
                </a:lnTo>
                <a:lnTo>
                  <a:pt x="0" y="9"/>
                </a:lnTo>
                <a:lnTo>
                  <a:pt x="18" y="17"/>
                </a:lnTo>
                <a:lnTo>
                  <a:pt x="36" y="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Freeform 104"/>
          <p:cNvSpPr>
            <a:spLocks/>
          </p:cNvSpPr>
          <p:nvPr/>
        </p:nvSpPr>
        <p:spPr bwMode="auto">
          <a:xfrm>
            <a:off x="5535613" y="5046662"/>
            <a:ext cx="57150" cy="28575"/>
          </a:xfrm>
          <a:custGeom>
            <a:avLst/>
            <a:gdLst>
              <a:gd name="T0" fmla="*/ 55563 w 36"/>
              <a:gd name="T1" fmla="*/ 14288 h 18"/>
              <a:gd name="T2" fmla="*/ 26988 w 36"/>
              <a:gd name="T3" fmla="*/ 0 h 18"/>
              <a:gd name="T4" fmla="*/ 0 w 36"/>
              <a:gd name="T5" fmla="*/ 14288 h 18"/>
              <a:gd name="T6" fmla="*/ 26988 w 36"/>
              <a:gd name="T7" fmla="*/ 26988 h 18"/>
              <a:gd name="T8" fmla="*/ 55563 w 36"/>
              <a:gd name="T9" fmla="*/ 14288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8"/>
              <a:gd name="T17" fmla="*/ 36 w 36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8">
                <a:moveTo>
                  <a:pt x="35" y="9"/>
                </a:moveTo>
                <a:lnTo>
                  <a:pt x="17" y="0"/>
                </a:lnTo>
                <a:lnTo>
                  <a:pt x="0" y="9"/>
                </a:lnTo>
                <a:lnTo>
                  <a:pt x="17" y="17"/>
                </a:lnTo>
                <a:lnTo>
                  <a:pt x="35" y="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" name="Freeform 105"/>
          <p:cNvSpPr>
            <a:spLocks/>
          </p:cNvSpPr>
          <p:nvPr/>
        </p:nvSpPr>
        <p:spPr bwMode="auto">
          <a:xfrm>
            <a:off x="5661025" y="5046662"/>
            <a:ext cx="60325" cy="28575"/>
          </a:xfrm>
          <a:custGeom>
            <a:avLst/>
            <a:gdLst>
              <a:gd name="T0" fmla="*/ 58738 w 38"/>
              <a:gd name="T1" fmla="*/ 14288 h 18"/>
              <a:gd name="T2" fmla="*/ 28575 w 38"/>
              <a:gd name="T3" fmla="*/ 0 h 18"/>
              <a:gd name="T4" fmla="*/ 0 w 38"/>
              <a:gd name="T5" fmla="*/ 14288 h 18"/>
              <a:gd name="T6" fmla="*/ 28575 w 38"/>
              <a:gd name="T7" fmla="*/ 26988 h 18"/>
              <a:gd name="T8" fmla="*/ 58738 w 38"/>
              <a:gd name="T9" fmla="*/ 14288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8"/>
              <a:gd name="T16" fmla="*/ 0 h 18"/>
              <a:gd name="T17" fmla="*/ 38 w 38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8" h="18">
                <a:moveTo>
                  <a:pt x="37" y="9"/>
                </a:moveTo>
                <a:lnTo>
                  <a:pt x="18" y="0"/>
                </a:lnTo>
                <a:lnTo>
                  <a:pt x="0" y="9"/>
                </a:lnTo>
                <a:lnTo>
                  <a:pt x="18" y="17"/>
                </a:lnTo>
                <a:lnTo>
                  <a:pt x="37" y="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" name="Freeform 106"/>
          <p:cNvSpPr>
            <a:spLocks/>
          </p:cNvSpPr>
          <p:nvPr/>
        </p:nvSpPr>
        <p:spPr bwMode="auto">
          <a:xfrm>
            <a:off x="5789613" y="5046662"/>
            <a:ext cx="57150" cy="28575"/>
          </a:xfrm>
          <a:custGeom>
            <a:avLst/>
            <a:gdLst>
              <a:gd name="T0" fmla="*/ 55563 w 36"/>
              <a:gd name="T1" fmla="*/ 14288 h 18"/>
              <a:gd name="T2" fmla="*/ 26988 w 36"/>
              <a:gd name="T3" fmla="*/ 0 h 18"/>
              <a:gd name="T4" fmla="*/ 0 w 36"/>
              <a:gd name="T5" fmla="*/ 14288 h 18"/>
              <a:gd name="T6" fmla="*/ 26988 w 36"/>
              <a:gd name="T7" fmla="*/ 26988 h 18"/>
              <a:gd name="T8" fmla="*/ 55563 w 36"/>
              <a:gd name="T9" fmla="*/ 14288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8"/>
              <a:gd name="T17" fmla="*/ 36 w 36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8">
                <a:moveTo>
                  <a:pt x="35" y="9"/>
                </a:moveTo>
                <a:lnTo>
                  <a:pt x="17" y="0"/>
                </a:lnTo>
                <a:lnTo>
                  <a:pt x="0" y="9"/>
                </a:lnTo>
                <a:lnTo>
                  <a:pt x="17" y="17"/>
                </a:lnTo>
                <a:lnTo>
                  <a:pt x="35" y="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" name="Freeform 107"/>
          <p:cNvSpPr>
            <a:spLocks/>
          </p:cNvSpPr>
          <p:nvPr/>
        </p:nvSpPr>
        <p:spPr bwMode="auto">
          <a:xfrm>
            <a:off x="7464425" y="5046662"/>
            <a:ext cx="57150" cy="28575"/>
          </a:xfrm>
          <a:custGeom>
            <a:avLst/>
            <a:gdLst>
              <a:gd name="T0" fmla="*/ 55563 w 36"/>
              <a:gd name="T1" fmla="*/ 14288 h 18"/>
              <a:gd name="T2" fmla="*/ 26988 w 36"/>
              <a:gd name="T3" fmla="*/ 0 h 18"/>
              <a:gd name="T4" fmla="*/ 0 w 36"/>
              <a:gd name="T5" fmla="*/ 14288 h 18"/>
              <a:gd name="T6" fmla="*/ 26988 w 36"/>
              <a:gd name="T7" fmla="*/ 26988 h 18"/>
              <a:gd name="T8" fmla="*/ 55563 w 36"/>
              <a:gd name="T9" fmla="*/ 14288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8"/>
              <a:gd name="T17" fmla="*/ 36 w 36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8">
                <a:moveTo>
                  <a:pt x="35" y="9"/>
                </a:moveTo>
                <a:lnTo>
                  <a:pt x="17" y="0"/>
                </a:lnTo>
                <a:lnTo>
                  <a:pt x="0" y="9"/>
                </a:lnTo>
                <a:lnTo>
                  <a:pt x="17" y="17"/>
                </a:lnTo>
                <a:lnTo>
                  <a:pt x="35" y="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" name="Freeform 108"/>
          <p:cNvSpPr>
            <a:spLocks/>
          </p:cNvSpPr>
          <p:nvPr/>
        </p:nvSpPr>
        <p:spPr bwMode="auto">
          <a:xfrm>
            <a:off x="7589838" y="5046662"/>
            <a:ext cx="58737" cy="28575"/>
          </a:xfrm>
          <a:custGeom>
            <a:avLst/>
            <a:gdLst>
              <a:gd name="T0" fmla="*/ 57150 w 37"/>
              <a:gd name="T1" fmla="*/ 14288 h 18"/>
              <a:gd name="T2" fmla="*/ 30162 w 37"/>
              <a:gd name="T3" fmla="*/ 0 h 18"/>
              <a:gd name="T4" fmla="*/ 0 w 37"/>
              <a:gd name="T5" fmla="*/ 14288 h 18"/>
              <a:gd name="T6" fmla="*/ 30162 w 37"/>
              <a:gd name="T7" fmla="*/ 26988 h 18"/>
              <a:gd name="T8" fmla="*/ 57150 w 37"/>
              <a:gd name="T9" fmla="*/ 14288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"/>
              <a:gd name="T16" fmla="*/ 0 h 18"/>
              <a:gd name="T17" fmla="*/ 37 w 37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" h="18">
                <a:moveTo>
                  <a:pt x="36" y="9"/>
                </a:moveTo>
                <a:lnTo>
                  <a:pt x="19" y="0"/>
                </a:lnTo>
                <a:lnTo>
                  <a:pt x="0" y="9"/>
                </a:lnTo>
                <a:lnTo>
                  <a:pt x="19" y="17"/>
                </a:lnTo>
                <a:lnTo>
                  <a:pt x="36" y="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7" name="Freeform 109"/>
          <p:cNvSpPr>
            <a:spLocks/>
          </p:cNvSpPr>
          <p:nvPr/>
        </p:nvSpPr>
        <p:spPr bwMode="auto">
          <a:xfrm>
            <a:off x="7716838" y="5046662"/>
            <a:ext cx="57150" cy="28575"/>
          </a:xfrm>
          <a:custGeom>
            <a:avLst/>
            <a:gdLst>
              <a:gd name="T0" fmla="*/ 55563 w 36"/>
              <a:gd name="T1" fmla="*/ 14288 h 18"/>
              <a:gd name="T2" fmla="*/ 26988 w 36"/>
              <a:gd name="T3" fmla="*/ 0 h 18"/>
              <a:gd name="T4" fmla="*/ 0 w 36"/>
              <a:gd name="T5" fmla="*/ 14288 h 18"/>
              <a:gd name="T6" fmla="*/ 26988 w 36"/>
              <a:gd name="T7" fmla="*/ 26988 h 18"/>
              <a:gd name="T8" fmla="*/ 55563 w 36"/>
              <a:gd name="T9" fmla="*/ 14288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8"/>
              <a:gd name="T17" fmla="*/ 36 w 36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8">
                <a:moveTo>
                  <a:pt x="35" y="9"/>
                </a:moveTo>
                <a:lnTo>
                  <a:pt x="17" y="0"/>
                </a:lnTo>
                <a:lnTo>
                  <a:pt x="0" y="9"/>
                </a:lnTo>
                <a:lnTo>
                  <a:pt x="17" y="17"/>
                </a:lnTo>
                <a:lnTo>
                  <a:pt x="35" y="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" name="Freeform 110"/>
          <p:cNvSpPr>
            <a:spLocks/>
          </p:cNvSpPr>
          <p:nvPr/>
        </p:nvSpPr>
        <p:spPr bwMode="auto">
          <a:xfrm>
            <a:off x="6548438" y="4497387"/>
            <a:ext cx="58737" cy="30163"/>
          </a:xfrm>
          <a:custGeom>
            <a:avLst/>
            <a:gdLst>
              <a:gd name="T0" fmla="*/ 57150 w 37"/>
              <a:gd name="T1" fmla="*/ 14288 h 19"/>
              <a:gd name="T2" fmla="*/ 28575 w 37"/>
              <a:gd name="T3" fmla="*/ 0 h 19"/>
              <a:gd name="T4" fmla="*/ 0 w 37"/>
              <a:gd name="T5" fmla="*/ 14288 h 19"/>
              <a:gd name="T6" fmla="*/ 28575 w 37"/>
              <a:gd name="T7" fmla="*/ 28575 h 19"/>
              <a:gd name="T8" fmla="*/ 57150 w 37"/>
              <a:gd name="T9" fmla="*/ 14288 h 1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"/>
              <a:gd name="T16" fmla="*/ 0 h 19"/>
              <a:gd name="T17" fmla="*/ 37 w 37"/>
              <a:gd name="T18" fmla="*/ 19 h 1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" h="19">
                <a:moveTo>
                  <a:pt x="36" y="9"/>
                </a:moveTo>
                <a:lnTo>
                  <a:pt x="18" y="0"/>
                </a:lnTo>
                <a:lnTo>
                  <a:pt x="0" y="9"/>
                </a:lnTo>
                <a:lnTo>
                  <a:pt x="18" y="18"/>
                </a:lnTo>
                <a:lnTo>
                  <a:pt x="36" y="9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" name="Freeform 111"/>
          <p:cNvSpPr>
            <a:spLocks/>
          </p:cNvSpPr>
          <p:nvPr/>
        </p:nvSpPr>
        <p:spPr bwMode="auto">
          <a:xfrm>
            <a:off x="6675438" y="4497387"/>
            <a:ext cx="57150" cy="30163"/>
          </a:xfrm>
          <a:custGeom>
            <a:avLst/>
            <a:gdLst>
              <a:gd name="T0" fmla="*/ 55563 w 36"/>
              <a:gd name="T1" fmla="*/ 14288 h 19"/>
              <a:gd name="T2" fmla="*/ 28575 w 36"/>
              <a:gd name="T3" fmla="*/ 0 h 19"/>
              <a:gd name="T4" fmla="*/ 0 w 36"/>
              <a:gd name="T5" fmla="*/ 14288 h 19"/>
              <a:gd name="T6" fmla="*/ 28575 w 36"/>
              <a:gd name="T7" fmla="*/ 28575 h 19"/>
              <a:gd name="T8" fmla="*/ 55563 w 36"/>
              <a:gd name="T9" fmla="*/ 14288 h 1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9"/>
              <a:gd name="T17" fmla="*/ 36 w 36"/>
              <a:gd name="T18" fmla="*/ 19 h 1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9">
                <a:moveTo>
                  <a:pt x="35" y="9"/>
                </a:moveTo>
                <a:lnTo>
                  <a:pt x="18" y="0"/>
                </a:lnTo>
                <a:lnTo>
                  <a:pt x="0" y="9"/>
                </a:lnTo>
                <a:lnTo>
                  <a:pt x="18" y="18"/>
                </a:lnTo>
                <a:lnTo>
                  <a:pt x="35" y="9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Freeform 112"/>
          <p:cNvSpPr>
            <a:spLocks/>
          </p:cNvSpPr>
          <p:nvPr/>
        </p:nvSpPr>
        <p:spPr bwMode="auto">
          <a:xfrm>
            <a:off x="6802438" y="4497387"/>
            <a:ext cx="58737" cy="30163"/>
          </a:xfrm>
          <a:custGeom>
            <a:avLst/>
            <a:gdLst>
              <a:gd name="T0" fmla="*/ 57150 w 37"/>
              <a:gd name="T1" fmla="*/ 14288 h 19"/>
              <a:gd name="T2" fmla="*/ 28575 w 37"/>
              <a:gd name="T3" fmla="*/ 0 h 19"/>
              <a:gd name="T4" fmla="*/ 0 w 37"/>
              <a:gd name="T5" fmla="*/ 14288 h 19"/>
              <a:gd name="T6" fmla="*/ 28575 w 37"/>
              <a:gd name="T7" fmla="*/ 28575 h 19"/>
              <a:gd name="T8" fmla="*/ 57150 w 37"/>
              <a:gd name="T9" fmla="*/ 14288 h 1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"/>
              <a:gd name="T16" fmla="*/ 0 h 19"/>
              <a:gd name="T17" fmla="*/ 37 w 37"/>
              <a:gd name="T18" fmla="*/ 19 h 1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" h="19">
                <a:moveTo>
                  <a:pt x="36" y="9"/>
                </a:moveTo>
                <a:lnTo>
                  <a:pt x="18" y="0"/>
                </a:lnTo>
                <a:lnTo>
                  <a:pt x="0" y="9"/>
                </a:lnTo>
                <a:lnTo>
                  <a:pt x="18" y="18"/>
                </a:lnTo>
                <a:lnTo>
                  <a:pt x="36" y="9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" name="Freeform 113"/>
          <p:cNvSpPr>
            <a:spLocks/>
          </p:cNvSpPr>
          <p:nvPr/>
        </p:nvSpPr>
        <p:spPr bwMode="auto">
          <a:xfrm>
            <a:off x="4537075" y="3838575"/>
            <a:ext cx="55563" cy="28575"/>
          </a:xfrm>
          <a:custGeom>
            <a:avLst/>
            <a:gdLst>
              <a:gd name="T0" fmla="*/ 53975 w 35"/>
              <a:gd name="T1" fmla="*/ 12700 h 18"/>
              <a:gd name="T2" fmla="*/ 26988 w 35"/>
              <a:gd name="T3" fmla="*/ 0 h 18"/>
              <a:gd name="T4" fmla="*/ 0 w 35"/>
              <a:gd name="T5" fmla="*/ 12700 h 18"/>
              <a:gd name="T6" fmla="*/ 26988 w 35"/>
              <a:gd name="T7" fmla="*/ 26988 h 18"/>
              <a:gd name="T8" fmla="*/ 53975 w 35"/>
              <a:gd name="T9" fmla="*/ 12700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"/>
              <a:gd name="T16" fmla="*/ 0 h 18"/>
              <a:gd name="T17" fmla="*/ 35 w 35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" h="18">
                <a:moveTo>
                  <a:pt x="34" y="8"/>
                </a:moveTo>
                <a:lnTo>
                  <a:pt x="17" y="0"/>
                </a:lnTo>
                <a:lnTo>
                  <a:pt x="0" y="8"/>
                </a:lnTo>
                <a:lnTo>
                  <a:pt x="17" y="17"/>
                </a:lnTo>
                <a:lnTo>
                  <a:pt x="34" y="8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Freeform 114"/>
          <p:cNvSpPr>
            <a:spLocks/>
          </p:cNvSpPr>
          <p:nvPr/>
        </p:nvSpPr>
        <p:spPr bwMode="auto">
          <a:xfrm>
            <a:off x="4660900" y="3838575"/>
            <a:ext cx="60325" cy="28575"/>
          </a:xfrm>
          <a:custGeom>
            <a:avLst/>
            <a:gdLst>
              <a:gd name="T0" fmla="*/ 58738 w 38"/>
              <a:gd name="T1" fmla="*/ 12700 h 18"/>
              <a:gd name="T2" fmla="*/ 30163 w 38"/>
              <a:gd name="T3" fmla="*/ 0 h 18"/>
              <a:gd name="T4" fmla="*/ 0 w 38"/>
              <a:gd name="T5" fmla="*/ 12700 h 18"/>
              <a:gd name="T6" fmla="*/ 30163 w 38"/>
              <a:gd name="T7" fmla="*/ 26988 h 18"/>
              <a:gd name="T8" fmla="*/ 58738 w 38"/>
              <a:gd name="T9" fmla="*/ 12700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8"/>
              <a:gd name="T16" fmla="*/ 0 h 18"/>
              <a:gd name="T17" fmla="*/ 38 w 38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8" h="18">
                <a:moveTo>
                  <a:pt x="37" y="8"/>
                </a:moveTo>
                <a:lnTo>
                  <a:pt x="19" y="0"/>
                </a:lnTo>
                <a:lnTo>
                  <a:pt x="0" y="8"/>
                </a:lnTo>
                <a:lnTo>
                  <a:pt x="19" y="17"/>
                </a:lnTo>
                <a:lnTo>
                  <a:pt x="37" y="8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" name="Freeform 115"/>
          <p:cNvSpPr>
            <a:spLocks/>
          </p:cNvSpPr>
          <p:nvPr/>
        </p:nvSpPr>
        <p:spPr bwMode="auto">
          <a:xfrm>
            <a:off x="4789488" y="3838575"/>
            <a:ext cx="57150" cy="28575"/>
          </a:xfrm>
          <a:custGeom>
            <a:avLst/>
            <a:gdLst>
              <a:gd name="T0" fmla="*/ 55563 w 36"/>
              <a:gd name="T1" fmla="*/ 12700 h 18"/>
              <a:gd name="T2" fmla="*/ 26988 w 36"/>
              <a:gd name="T3" fmla="*/ 0 h 18"/>
              <a:gd name="T4" fmla="*/ 0 w 36"/>
              <a:gd name="T5" fmla="*/ 12700 h 18"/>
              <a:gd name="T6" fmla="*/ 26988 w 36"/>
              <a:gd name="T7" fmla="*/ 26988 h 18"/>
              <a:gd name="T8" fmla="*/ 55563 w 36"/>
              <a:gd name="T9" fmla="*/ 12700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8"/>
              <a:gd name="T17" fmla="*/ 36 w 36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8">
                <a:moveTo>
                  <a:pt x="35" y="8"/>
                </a:moveTo>
                <a:lnTo>
                  <a:pt x="17" y="0"/>
                </a:lnTo>
                <a:lnTo>
                  <a:pt x="0" y="8"/>
                </a:lnTo>
                <a:lnTo>
                  <a:pt x="17" y="17"/>
                </a:lnTo>
                <a:lnTo>
                  <a:pt x="35" y="8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" name="Freeform 116"/>
          <p:cNvSpPr>
            <a:spLocks/>
          </p:cNvSpPr>
          <p:nvPr/>
        </p:nvSpPr>
        <p:spPr bwMode="auto">
          <a:xfrm>
            <a:off x="2690813" y="4484687"/>
            <a:ext cx="58737" cy="28575"/>
          </a:xfrm>
          <a:custGeom>
            <a:avLst/>
            <a:gdLst>
              <a:gd name="T0" fmla="*/ 57150 w 37"/>
              <a:gd name="T1" fmla="*/ 12700 h 18"/>
              <a:gd name="T2" fmla="*/ 28575 w 37"/>
              <a:gd name="T3" fmla="*/ 0 h 18"/>
              <a:gd name="T4" fmla="*/ 0 w 37"/>
              <a:gd name="T5" fmla="*/ 12700 h 18"/>
              <a:gd name="T6" fmla="*/ 28575 w 37"/>
              <a:gd name="T7" fmla="*/ 26988 h 18"/>
              <a:gd name="T8" fmla="*/ 57150 w 37"/>
              <a:gd name="T9" fmla="*/ 12700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"/>
              <a:gd name="T16" fmla="*/ 0 h 18"/>
              <a:gd name="T17" fmla="*/ 37 w 37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" h="18">
                <a:moveTo>
                  <a:pt x="36" y="8"/>
                </a:moveTo>
                <a:lnTo>
                  <a:pt x="18" y="0"/>
                </a:lnTo>
                <a:lnTo>
                  <a:pt x="0" y="8"/>
                </a:lnTo>
                <a:lnTo>
                  <a:pt x="18" y="17"/>
                </a:lnTo>
                <a:lnTo>
                  <a:pt x="36" y="8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" name="Freeform 117"/>
          <p:cNvSpPr>
            <a:spLocks/>
          </p:cNvSpPr>
          <p:nvPr/>
        </p:nvSpPr>
        <p:spPr bwMode="auto">
          <a:xfrm>
            <a:off x="2819400" y="4484687"/>
            <a:ext cx="57150" cy="28575"/>
          </a:xfrm>
          <a:custGeom>
            <a:avLst/>
            <a:gdLst>
              <a:gd name="T0" fmla="*/ 55563 w 36"/>
              <a:gd name="T1" fmla="*/ 12700 h 18"/>
              <a:gd name="T2" fmla="*/ 26988 w 36"/>
              <a:gd name="T3" fmla="*/ 0 h 18"/>
              <a:gd name="T4" fmla="*/ 0 w 36"/>
              <a:gd name="T5" fmla="*/ 12700 h 18"/>
              <a:gd name="T6" fmla="*/ 26988 w 36"/>
              <a:gd name="T7" fmla="*/ 26988 h 18"/>
              <a:gd name="T8" fmla="*/ 55563 w 36"/>
              <a:gd name="T9" fmla="*/ 12700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8"/>
              <a:gd name="T17" fmla="*/ 36 w 36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8">
                <a:moveTo>
                  <a:pt x="35" y="8"/>
                </a:moveTo>
                <a:lnTo>
                  <a:pt x="17" y="0"/>
                </a:lnTo>
                <a:lnTo>
                  <a:pt x="0" y="8"/>
                </a:lnTo>
                <a:lnTo>
                  <a:pt x="17" y="17"/>
                </a:lnTo>
                <a:lnTo>
                  <a:pt x="35" y="8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" name="Freeform 118"/>
          <p:cNvSpPr>
            <a:spLocks/>
          </p:cNvSpPr>
          <p:nvPr/>
        </p:nvSpPr>
        <p:spPr bwMode="auto">
          <a:xfrm>
            <a:off x="2944813" y="4484687"/>
            <a:ext cx="58737" cy="28575"/>
          </a:xfrm>
          <a:custGeom>
            <a:avLst/>
            <a:gdLst>
              <a:gd name="T0" fmla="*/ 57150 w 37"/>
              <a:gd name="T1" fmla="*/ 12700 h 18"/>
              <a:gd name="T2" fmla="*/ 28575 w 37"/>
              <a:gd name="T3" fmla="*/ 0 h 18"/>
              <a:gd name="T4" fmla="*/ 0 w 37"/>
              <a:gd name="T5" fmla="*/ 12700 h 18"/>
              <a:gd name="T6" fmla="*/ 28575 w 37"/>
              <a:gd name="T7" fmla="*/ 26988 h 18"/>
              <a:gd name="T8" fmla="*/ 57150 w 37"/>
              <a:gd name="T9" fmla="*/ 12700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"/>
              <a:gd name="T16" fmla="*/ 0 h 18"/>
              <a:gd name="T17" fmla="*/ 37 w 37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" h="18">
                <a:moveTo>
                  <a:pt x="36" y="8"/>
                </a:moveTo>
                <a:lnTo>
                  <a:pt x="18" y="0"/>
                </a:lnTo>
                <a:lnTo>
                  <a:pt x="0" y="8"/>
                </a:lnTo>
                <a:lnTo>
                  <a:pt x="18" y="17"/>
                </a:lnTo>
                <a:lnTo>
                  <a:pt x="36" y="8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" name="Freeform 119"/>
          <p:cNvSpPr>
            <a:spLocks/>
          </p:cNvSpPr>
          <p:nvPr/>
        </p:nvSpPr>
        <p:spPr bwMode="auto">
          <a:xfrm>
            <a:off x="1438275" y="2809875"/>
            <a:ext cx="1588" cy="1912937"/>
          </a:xfrm>
          <a:custGeom>
            <a:avLst/>
            <a:gdLst>
              <a:gd name="T0" fmla="*/ 0 w 1"/>
              <a:gd name="T1" fmla="*/ 0 h 1205"/>
              <a:gd name="T2" fmla="*/ 0 w 1"/>
              <a:gd name="T3" fmla="*/ 1911350 h 1205"/>
              <a:gd name="T4" fmla="*/ 0 w 1"/>
              <a:gd name="T5" fmla="*/ 0 h 1205"/>
              <a:gd name="T6" fmla="*/ 0 60000 65536"/>
              <a:gd name="T7" fmla="*/ 0 60000 65536"/>
              <a:gd name="T8" fmla="*/ 0 60000 65536"/>
              <a:gd name="T9" fmla="*/ 0 w 1"/>
              <a:gd name="T10" fmla="*/ 0 h 1205"/>
              <a:gd name="T11" fmla="*/ 1 w 1"/>
              <a:gd name="T12" fmla="*/ 1205 h 12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205">
                <a:moveTo>
                  <a:pt x="0" y="0"/>
                </a:moveTo>
                <a:lnTo>
                  <a:pt x="0" y="120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" name="Freeform 120"/>
          <p:cNvSpPr>
            <a:spLocks/>
          </p:cNvSpPr>
          <p:nvPr/>
        </p:nvSpPr>
        <p:spPr bwMode="auto">
          <a:xfrm>
            <a:off x="1452563" y="4694237"/>
            <a:ext cx="114300" cy="1588"/>
          </a:xfrm>
          <a:custGeom>
            <a:avLst/>
            <a:gdLst>
              <a:gd name="T0" fmla="*/ 0 w 72"/>
              <a:gd name="T1" fmla="*/ 0 h 1"/>
              <a:gd name="T2" fmla="*/ 112713 w 72"/>
              <a:gd name="T3" fmla="*/ 0 h 1"/>
              <a:gd name="T4" fmla="*/ 0 w 72"/>
              <a:gd name="T5" fmla="*/ 0 h 1"/>
              <a:gd name="T6" fmla="*/ 0 60000 65536"/>
              <a:gd name="T7" fmla="*/ 0 60000 65536"/>
              <a:gd name="T8" fmla="*/ 0 60000 65536"/>
              <a:gd name="T9" fmla="*/ 0 w 72"/>
              <a:gd name="T10" fmla="*/ 0 h 1"/>
              <a:gd name="T11" fmla="*/ 72 w 72"/>
              <a:gd name="T12" fmla="*/ 1 h 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2" h="1">
                <a:moveTo>
                  <a:pt x="0" y="0"/>
                </a:moveTo>
                <a:lnTo>
                  <a:pt x="71" y="0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" name="Freeform 121"/>
          <p:cNvSpPr>
            <a:spLocks/>
          </p:cNvSpPr>
          <p:nvPr/>
        </p:nvSpPr>
        <p:spPr bwMode="auto">
          <a:xfrm>
            <a:off x="1438275" y="2838450"/>
            <a:ext cx="142875" cy="1587"/>
          </a:xfrm>
          <a:custGeom>
            <a:avLst/>
            <a:gdLst>
              <a:gd name="T0" fmla="*/ 0 w 90"/>
              <a:gd name="T1" fmla="*/ 0 h 1"/>
              <a:gd name="T2" fmla="*/ 141288 w 90"/>
              <a:gd name="T3" fmla="*/ 0 h 1"/>
              <a:gd name="T4" fmla="*/ 0 w 90"/>
              <a:gd name="T5" fmla="*/ 0 h 1"/>
              <a:gd name="T6" fmla="*/ 0 60000 65536"/>
              <a:gd name="T7" fmla="*/ 0 60000 65536"/>
              <a:gd name="T8" fmla="*/ 0 60000 65536"/>
              <a:gd name="T9" fmla="*/ 0 w 90"/>
              <a:gd name="T10" fmla="*/ 0 h 1"/>
              <a:gd name="T11" fmla="*/ 90 w 90"/>
              <a:gd name="T12" fmla="*/ 1 h 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0" h="1">
                <a:moveTo>
                  <a:pt x="0" y="0"/>
                </a:moveTo>
                <a:lnTo>
                  <a:pt x="89" y="0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" name="Freeform 122"/>
          <p:cNvSpPr>
            <a:spLocks/>
          </p:cNvSpPr>
          <p:nvPr/>
        </p:nvSpPr>
        <p:spPr bwMode="auto">
          <a:xfrm>
            <a:off x="523875" y="4776787"/>
            <a:ext cx="7800975" cy="1588"/>
          </a:xfrm>
          <a:custGeom>
            <a:avLst/>
            <a:gdLst>
              <a:gd name="T0" fmla="*/ 0 w 4914"/>
              <a:gd name="T1" fmla="*/ 0 h 1"/>
              <a:gd name="T2" fmla="*/ 7799388 w 4914"/>
              <a:gd name="T3" fmla="*/ 0 h 1"/>
              <a:gd name="T4" fmla="*/ 0 w 4914"/>
              <a:gd name="T5" fmla="*/ 0 h 1"/>
              <a:gd name="T6" fmla="*/ 0 60000 65536"/>
              <a:gd name="T7" fmla="*/ 0 60000 65536"/>
              <a:gd name="T8" fmla="*/ 0 60000 65536"/>
              <a:gd name="T9" fmla="*/ 0 w 4914"/>
              <a:gd name="T10" fmla="*/ 0 h 1"/>
              <a:gd name="T11" fmla="*/ 4914 w 4914"/>
              <a:gd name="T12" fmla="*/ 1 h 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14" h="1">
                <a:moveTo>
                  <a:pt x="0" y="0"/>
                </a:moveTo>
                <a:lnTo>
                  <a:pt x="4913" y="0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1" name="Freeform 125"/>
          <p:cNvSpPr>
            <a:spLocks/>
          </p:cNvSpPr>
          <p:nvPr/>
        </p:nvSpPr>
        <p:spPr bwMode="auto">
          <a:xfrm>
            <a:off x="1660525" y="5154612"/>
            <a:ext cx="69850" cy="187325"/>
          </a:xfrm>
          <a:custGeom>
            <a:avLst/>
            <a:gdLst>
              <a:gd name="T0" fmla="*/ 14288 w 44"/>
              <a:gd name="T1" fmla="*/ 0 h 118"/>
              <a:gd name="T2" fmla="*/ 30163 w 44"/>
              <a:gd name="T3" fmla="*/ 17463 h 118"/>
              <a:gd name="T4" fmla="*/ 68263 w 44"/>
              <a:gd name="T5" fmla="*/ 98425 h 118"/>
              <a:gd name="T6" fmla="*/ 14288 w 44"/>
              <a:gd name="T7" fmla="*/ 171450 h 118"/>
              <a:gd name="T8" fmla="*/ 0 w 44"/>
              <a:gd name="T9" fmla="*/ 185738 h 118"/>
              <a:gd name="T10" fmla="*/ 14288 w 44"/>
              <a:gd name="T11" fmla="*/ 0 h 11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4"/>
              <a:gd name="T19" fmla="*/ 0 h 118"/>
              <a:gd name="T20" fmla="*/ 44 w 44"/>
              <a:gd name="T21" fmla="*/ 118 h 11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4" h="118">
                <a:moveTo>
                  <a:pt x="9" y="0"/>
                </a:moveTo>
                <a:lnTo>
                  <a:pt x="19" y="11"/>
                </a:lnTo>
                <a:lnTo>
                  <a:pt x="43" y="62"/>
                </a:lnTo>
                <a:lnTo>
                  <a:pt x="9" y="108"/>
                </a:lnTo>
                <a:lnTo>
                  <a:pt x="0" y="117"/>
                </a:lnTo>
                <a:lnTo>
                  <a:pt x="9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2" name="Rectangle 127"/>
          <p:cNvSpPr>
            <a:spLocks noChangeArrowheads="1"/>
          </p:cNvSpPr>
          <p:nvPr/>
        </p:nvSpPr>
        <p:spPr bwMode="auto">
          <a:xfrm>
            <a:off x="412750" y="3446462"/>
            <a:ext cx="8921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u="none">
                <a:solidFill>
                  <a:schemeClr val="tx2"/>
                </a:solidFill>
                <a:latin typeface="Arial" pitchFamily="34" charset="0"/>
              </a:rPr>
              <a:t>Non-leaf</a:t>
            </a:r>
          </a:p>
          <a:p>
            <a:pPr>
              <a:spcBef>
                <a:spcPct val="0"/>
              </a:spcBef>
            </a:pPr>
            <a:r>
              <a:rPr lang="en-US" sz="1400" u="none">
                <a:solidFill>
                  <a:schemeClr val="tx2"/>
                </a:solidFill>
                <a:latin typeface="Arial" pitchFamily="34" charset="0"/>
              </a:rPr>
              <a:t>Pages</a:t>
            </a:r>
          </a:p>
        </p:txBody>
      </p:sp>
      <p:sp>
        <p:nvSpPr>
          <p:cNvPr id="143" name="Rectangle 129"/>
          <p:cNvSpPr>
            <a:spLocks noChangeArrowheads="1"/>
          </p:cNvSpPr>
          <p:nvPr/>
        </p:nvSpPr>
        <p:spPr bwMode="auto">
          <a:xfrm>
            <a:off x="417513" y="5089525"/>
            <a:ext cx="7080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u="none">
                <a:solidFill>
                  <a:srgbClr val="000000"/>
                </a:solidFill>
                <a:latin typeface="Arial" pitchFamily="34" charset="0"/>
              </a:rPr>
              <a:t>Pages</a:t>
            </a:r>
          </a:p>
        </p:txBody>
      </p:sp>
      <p:sp>
        <p:nvSpPr>
          <p:cNvPr id="144" name="Rectangle 134"/>
          <p:cNvSpPr>
            <a:spLocks noChangeArrowheads="1"/>
          </p:cNvSpPr>
          <p:nvPr/>
        </p:nvSpPr>
        <p:spPr bwMode="auto">
          <a:xfrm>
            <a:off x="446088" y="4824412"/>
            <a:ext cx="549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u="none">
                <a:solidFill>
                  <a:srgbClr val="000000"/>
                </a:solidFill>
                <a:latin typeface="Arial" pitchFamily="34" charset="0"/>
              </a:rPr>
              <a:t>Leaf</a:t>
            </a:r>
          </a:p>
        </p:txBody>
      </p:sp>
      <p:sp>
        <p:nvSpPr>
          <p:cNvPr id="145" name="Freeform 88"/>
          <p:cNvSpPr>
            <a:spLocks/>
          </p:cNvSpPr>
          <p:nvPr/>
        </p:nvSpPr>
        <p:spPr bwMode="auto">
          <a:xfrm>
            <a:off x="1194171" y="5314950"/>
            <a:ext cx="450850" cy="228600"/>
          </a:xfrm>
          <a:custGeom>
            <a:avLst/>
            <a:gdLst>
              <a:gd name="T0" fmla="*/ 0 w 284"/>
              <a:gd name="T1" fmla="*/ 227013 h 144"/>
              <a:gd name="T2" fmla="*/ 0 w 284"/>
              <a:gd name="T3" fmla="*/ 0 h 144"/>
              <a:gd name="T4" fmla="*/ 449263 w 284"/>
              <a:gd name="T5" fmla="*/ 0 h 144"/>
              <a:gd name="T6" fmla="*/ 449263 w 284"/>
              <a:gd name="T7" fmla="*/ 227013 h 144"/>
              <a:gd name="T8" fmla="*/ 0 w 284"/>
              <a:gd name="T9" fmla="*/ 227013 h 1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4"/>
              <a:gd name="T16" fmla="*/ 0 h 144"/>
              <a:gd name="T17" fmla="*/ 284 w 284"/>
              <a:gd name="T18" fmla="*/ 144 h 14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4" h="144">
                <a:moveTo>
                  <a:pt x="0" y="143"/>
                </a:moveTo>
                <a:lnTo>
                  <a:pt x="0" y="0"/>
                </a:lnTo>
                <a:lnTo>
                  <a:pt x="283" y="0"/>
                </a:lnTo>
                <a:lnTo>
                  <a:pt x="283" y="143"/>
                </a:lnTo>
                <a:lnTo>
                  <a:pt x="0" y="143"/>
                </a:lnTo>
              </a:path>
            </a:pathLst>
          </a:custGeom>
          <a:noFill/>
          <a:ln w="12700" cap="rnd">
            <a:solidFill>
              <a:srgbClr val="66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6" name="Freeform 89"/>
          <p:cNvSpPr>
            <a:spLocks/>
          </p:cNvSpPr>
          <p:nvPr/>
        </p:nvSpPr>
        <p:spPr bwMode="auto">
          <a:xfrm>
            <a:off x="4007221" y="5321300"/>
            <a:ext cx="450850" cy="227012"/>
          </a:xfrm>
          <a:custGeom>
            <a:avLst/>
            <a:gdLst>
              <a:gd name="T0" fmla="*/ 0 w 284"/>
              <a:gd name="T1" fmla="*/ 225425 h 143"/>
              <a:gd name="T2" fmla="*/ 0 w 284"/>
              <a:gd name="T3" fmla="*/ 0 h 143"/>
              <a:gd name="T4" fmla="*/ 449263 w 284"/>
              <a:gd name="T5" fmla="*/ 0 h 143"/>
              <a:gd name="T6" fmla="*/ 449263 w 284"/>
              <a:gd name="T7" fmla="*/ 225425 h 143"/>
              <a:gd name="T8" fmla="*/ 0 w 284"/>
              <a:gd name="T9" fmla="*/ 225425 h 1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4"/>
              <a:gd name="T16" fmla="*/ 0 h 143"/>
              <a:gd name="T17" fmla="*/ 284 w 284"/>
              <a:gd name="T18" fmla="*/ 143 h 1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4" h="143">
                <a:moveTo>
                  <a:pt x="0" y="142"/>
                </a:moveTo>
                <a:lnTo>
                  <a:pt x="0" y="0"/>
                </a:lnTo>
                <a:lnTo>
                  <a:pt x="283" y="0"/>
                </a:lnTo>
                <a:lnTo>
                  <a:pt x="283" y="142"/>
                </a:lnTo>
                <a:lnTo>
                  <a:pt x="0" y="142"/>
                </a:lnTo>
              </a:path>
            </a:pathLst>
          </a:custGeom>
          <a:noFill/>
          <a:ln w="12700" cap="rnd">
            <a:solidFill>
              <a:srgbClr val="66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7" name="Freeform 90"/>
          <p:cNvSpPr>
            <a:spLocks/>
          </p:cNvSpPr>
          <p:nvPr/>
        </p:nvSpPr>
        <p:spPr bwMode="auto">
          <a:xfrm>
            <a:off x="1643433" y="5113337"/>
            <a:ext cx="69850" cy="187325"/>
          </a:xfrm>
          <a:custGeom>
            <a:avLst/>
            <a:gdLst>
              <a:gd name="T0" fmla="*/ 14288 w 44"/>
              <a:gd name="T1" fmla="*/ 0 h 118"/>
              <a:gd name="T2" fmla="*/ 30163 w 44"/>
              <a:gd name="T3" fmla="*/ 17463 h 118"/>
              <a:gd name="T4" fmla="*/ 68263 w 44"/>
              <a:gd name="T5" fmla="*/ 98425 h 118"/>
              <a:gd name="T6" fmla="*/ 14288 w 44"/>
              <a:gd name="T7" fmla="*/ 171450 h 118"/>
              <a:gd name="T8" fmla="*/ 0 w 44"/>
              <a:gd name="T9" fmla="*/ 185738 h 118"/>
              <a:gd name="T10" fmla="*/ 14288 w 44"/>
              <a:gd name="T11" fmla="*/ 0 h 11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4"/>
              <a:gd name="T19" fmla="*/ 0 h 118"/>
              <a:gd name="T20" fmla="*/ 44 w 44"/>
              <a:gd name="T21" fmla="*/ 118 h 11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4" h="118">
                <a:moveTo>
                  <a:pt x="9" y="0"/>
                </a:moveTo>
                <a:lnTo>
                  <a:pt x="19" y="11"/>
                </a:lnTo>
                <a:lnTo>
                  <a:pt x="43" y="62"/>
                </a:lnTo>
                <a:lnTo>
                  <a:pt x="9" y="108"/>
                </a:lnTo>
                <a:lnTo>
                  <a:pt x="0" y="117"/>
                </a:lnTo>
                <a:lnTo>
                  <a:pt x="9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8" name="Freeform 91"/>
          <p:cNvSpPr>
            <a:spLocks/>
          </p:cNvSpPr>
          <p:nvPr/>
        </p:nvSpPr>
        <p:spPr bwMode="auto">
          <a:xfrm>
            <a:off x="1643433" y="5205412"/>
            <a:ext cx="104775" cy="95250"/>
          </a:xfrm>
          <a:custGeom>
            <a:avLst/>
            <a:gdLst>
              <a:gd name="T0" fmla="*/ 103188 w 66"/>
              <a:gd name="T1" fmla="*/ 41275 h 60"/>
              <a:gd name="T2" fmla="*/ 0 w 66"/>
              <a:gd name="T3" fmla="*/ 93663 h 60"/>
              <a:gd name="T4" fmla="*/ 66675 w 66"/>
              <a:gd name="T5" fmla="*/ 0 h 60"/>
              <a:gd name="T6" fmla="*/ 103188 w 66"/>
              <a:gd name="T7" fmla="*/ 41275 h 60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60"/>
              <a:gd name="T14" fmla="*/ 66 w 66"/>
              <a:gd name="T15" fmla="*/ 60 h 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60">
                <a:moveTo>
                  <a:pt x="65" y="26"/>
                </a:moveTo>
                <a:lnTo>
                  <a:pt x="0" y="59"/>
                </a:lnTo>
                <a:lnTo>
                  <a:pt x="42" y="0"/>
                </a:lnTo>
                <a:lnTo>
                  <a:pt x="65" y="26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49" name="Group 94"/>
          <p:cNvGrpSpPr>
            <a:grpSpLocks/>
          </p:cNvGrpSpPr>
          <p:nvPr/>
        </p:nvGrpSpPr>
        <p:grpSpPr bwMode="auto">
          <a:xfrm>
            <a:off x="2322883" y="5324475"/>
            <a:ext cx="993775" cy="488950"/>
            <a:chOff x="1474" y="3457"/>
            <a:chExt cx="626" cy="308"/>
          </a:xfrm>
        </p:grpSpPr>
        <p:sp>
          <p:nvSpPr>
            <p:cNvPr id="150" name="Rectangle 95"/>
            <p:cNvSpPr>
              <a:spLocks noChangeArrowheads="1"/>
            </p:cNvSpPr>
            <p:nvPr/>
          </p:nvSpPr>
          <p:spPr bwMode="auto">
            <a:xfrm>
              <a:off x="1474" y="3457"/>
              <a:ext cx="62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400" u="none">
                  <a:solidFill>
                    <a:srgbClr val="000000"/>
                  </a:solidFill>
                  <a:latin typeface="Arial" pitchFamily="34" charset="0"/>
                </a:rPr>
                <a:t>Overflow </a:t>
              </a:r>
            </a:p>
          </p:txBody>
        </p:sp>
        <p:sp>
          <p:nvSpPr>
            <p:cNvPr id="151" name="Rectangle 96"/>
            <p:cNvSpPr>
              <a:spLocks noChangeArrowheads="1"/>
            </p:cNvSpPr>
            <p:nvPr/>
          </p:nvSpPr>
          <p:spPr bwMode="auto">
            <a:xfrm>
              <a:off x="1597" y="3573"/>
              <a:ext cx="37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400" u="none">
                  <a:solidFill>
                    <a:srgbClr val="000000"/>
                  </a:solidFill>
                  <a:latin typeface="Arial" pitchFamily="34" charset="0"/>
                </a:rPr>
                <a:t>page</a:t>
              </a:r>
            </a:p>
          </p:txBody>
        </p:sp>
      </p:grpSp>
      <p:sp>
        <p:nvSpPr>
          <p:cNvPr id="152" name="Rectangle 97"/>
          <p:cNvSpPr>
            <a:spLocks noChangeArrowheads="1"/>
          </p:cNvSpPr>
          <p:nvPr/>
        </p:nvSpPr>
        <p:spPr bwMode="auto">
          <a:xfrm>
            <a:off x="6053508" y="5638800"/>
            <a:ext cx="1409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u="none">
                <a:solidFill>
                  <a:srgbClr val="000000"/>
                </a:solidFill>
                <a:latin typeface="Arial" pitchFamily="34" charset="0"/>
              </a:rPr>
              <a:t>Primary pages</a:t>
            </a:r>
          </a:p>
        </p:txBody>
      </p:sp>
      <p:sp>
        <p:nvSpPr>
          <p:cNvPr id="153" name="Arc 99"/>
          <p:cNvSpPr>
            <a:spLocks/>
          </p:cNvSpPr>
          <p:nvPr/>
        </p:nvSpPr>
        <p:spPr bwMode="auto">
          <a:xfrm>
            <a:off x="1659308" y="5095875"/>
            <a:ext cx="152400" cy="152400"/>
          </a:xfrm>
          <a:custGeom>
            <a:avLst/>
            <a:gdLst>
              <a:gd name="T0" fmla="*/ 0 w 21600"/>
              <a:gd name="T1" fmla="*/ 0 h 21600"/>
              <a:gd name="T2" fmla="*/ 1075267 w 21600"/>
              <a:gd name="T3" fmla="*/ 1075267 h 21600"/>
              <a:gd name="T4" fmla="*/ 0 w 21600"/>
              <a:gd name="T5" fmla="*/ 107526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lnTo>
                  <a:pt x="0" y="-1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" name="Arc 100"/>
          <p:cNvSpPr>
            <a:spLocks/>
          </p:cNvSpPr>
          <p:nvPr/>
        </p:nvSpPr>
        <p:spPr bwMode="auto">
          <a:xfrm>
            <a:off x="1659308" y="5246687"/>
            <a:ext cx="152400" cy="152400"/>
          </a:xfrm>
          <a:custGeom>
            <a:avLst/>
            <a:gdLst>
              <a:gd name="T0" fmla="*/ 1075267 w 21600"/>
              <a:gd name="T1" fmla="*/ 0 h 21600"/>
              <a:gd name="T2" fmla="*/ 0 w 21600"/>
              <a:gd name="T3" fmla="*/ 10752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55" name="Group 101"/>
          <p:cNvGrpSpPr>
            <a:grpSpLocks/>
          </p:cNvGrpSpPr>
          <p:nvPr/>
        </p:nvGrpSpPr>
        <p:grpSpPr bwMode="auto">
          <a:xfrm>
            <a:off x="4462833" y="5095875"/>
            <a:ext cx="168275" cy="303212"/>
            <a:chOff x="2822" y="3313"/>
            <a:chExt cx="106" cy="191"/>
          </a:xfrm>
        </p:grpSpPr>
        <p:sp>
          <p:nvSpPr>
            <p:cNvPr id="156" name="Freeform 102"/>
            <p:cNvSpPr>
              <a:spLocks/>
            </p:cNvSpPr>
            <p:nvPr/>
          </p:nvSpPr>
          <p:spPr bwMode="auto">
            <a:xfrm>
              <a:off x="2822" y="3324"/>
              <a:ext cx="44" cy="118"/>
            </a:xfrm>
            <a:custGeom>
              <a:avLst/>
              <a:gdLst>
                <a:gd name="T0" fmla="*/ 9 w 44"/>
                <a:gd name="T1" fmla="*/ 0 h 118"/>
                <a:gd name="T2" fmla="*/ 19 w 44"/>
                <a:gd name="T3" fmla="*/ 11 h 118"/>
                <a:gd name="T4" fmla="*/ 43 w 44"/>
                <a:gd name="T5" fmla="*/ 62 h 118"/>
                <a:gd name="T6" fmla="*/ 9 w 44"/>
                <a:gd name="T7" fmla="*/ 108 h 118"/>
                <a:gd name="T8" fmla="*/ 0 w 44"/>
                <a:gd name="T9" fmla="*/ 117 h 118"/>
                <a:gd name="T10" fmla="*/ 9 w 44"/>
                <a:gd name="T11" fmla="*/ 0 h 1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4"/>
                <a:gd name="T19" fmla="*/ 0 h 118"/>
                <a:gd name="T20" fmla="*/ 44 w 44"/>
                <a:gd name="T21" fmla="*/ 118 h 11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4" h="118">
                  <a:moveTo>
                    <a:pt x="9" y="0"/>
                  </a:moveTo>
                  <a:lnTo>
                    <a:pt x="19" y="11"/>
                  </a:lnTo>
                  <a:lnTo>
                    <a:pt x="43" y="62"/>
                  </a:lnTo>
                  <a:lnTo>
                    <a:pt x="9" y="108"/>
                  </a:lnTo>
                  <a:lnTo>
                    <a:pt x="0" y="117"/>
                  </a:lnTo>
                  <a:lnTo>
                    <a:pt x="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Freeform 103"/>
            <p:cNvSpPr>
              <a:spLocks/>
            </p:cNvSpPr>
            <p:nvPr/>
          </p:nvSpPr>
          <p:spPr bwMode="auto">
            <a:xfrm>
              <a:off x="2822" y="3382"/>
              <a:ext cx="66" cy="60"/>
            </a:xfrm>
            <a:custGeom>
              <a:avLst/>
              <a:gdLst>
                <a:gd name="T0" fmla="*/ 65 w 66"/>
                <a:gd name="T1" fmla="*/ 26 h 60"/>
                <a:gd name="T2" fmla="*/ 0 w 66"/>
                <a:gd name="T3" fmla="*/ 59 h 60"/>
                <a:gd name="T4" fmla="*/ 42 w 66"/>
                <a:gd name="T5" fmla="*/ 0 h 60"/>
                <a:gd name="T6" fmla="*/ 65 w 66"/>
                <a:gd name="T7" fmla="*/ 26 h 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6"/>
                <a:gd name="T13" fmla="*/ 0 h 60"/>
                <a:gd name="T14" fmla="*/ 66 w 66"/>
                <a:gd name="T15" fmla="*/ 60 h 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6" h="60">
                  <a:moveTo>
                    <a:pt x="65" y="26"/>
                  </a:moveTo>
                  <a:lnTo>
                    <a:pt x="0" y="59"/>
                  </a:lnTo>
                  <a:lnTo>
                    <a:pt x="42" y="0"/>
                  </a:lnTo>
                  <a:lnTo>
                    <a:pt x="65" y="2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Arc 104"/>
            <p:cNvSpPr>
              <a:spLocks/>
            </p:cNvSpPr>
            <p:nvPr/>
          </p:nvSpPr>
          <p:spPr bwMode="auto">
            <a:xfrm>
              <a:off x="2832" y="3313"/>
              <a:ext cx="96" cy="9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9" name="Arc 105"/>
            <p:cNvSpPr>
              <a:spLocks/>
            </p:cNvSpPr>
            <p:nvPr/>
          </p:nvSpPr>
          <p:spPr bwMode="auto">
            <a:xfrm>
              <a:off x="2832" y="3408"/>
              <a:ext cx="96" cy="9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599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599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60" name="Line 106"/>
          <p:cNvSpPr>
            <a:spLocks noChangeShapeType="1"/>
          </p:cNvSpPr>
          <p:nvPr/>
        </p:nvSpPr>
        <p:spPr bwMode="auto">
          <a:xfrm>
            <a:off x="3259508" y="5475287"/>
            <a:ext cx="685800" cy="0"/>
          </a:xfrm>
          <a:prstGeom prst="line">
            <a:avLst/>
          </a:prstGeom>
          <a:noFill/>
          <a:ln w="12700">
            <a:solidFill>
              <a:srgbClr val="669900"/>
            </a:solidFill>
            <a:prstDash val="dash"/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1" name="Line 107"/>
          <p:cNvSpPr>
            <a:spLocks noChangeShapeType="1"/>
          </p:cNvSpPr>
          <p:nvPr/>
        </p:nvSpPr>
        <p:spPr bwMode="auto">
          <a:xfrm flipH="1" flipV="1">
            <a:off x="6002708" y="5170487"/>
            <a:ext cx="3810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" name="Line 108"/>
          <p:cNvSpPr>
            <a:spLocks noChangeShapeType="1"/>
          </p:cNvSpPr>
          <p:nvPr/>
        </p:nvSpPr>
        <p:spPr bwMode="auto">
          <a:xfrm flipV="1">
            <a:off x="6612308" y="5170487"/>
            <a:ext cx="3810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" name="Line 109"/>
          <p:cNvSpPr>
            <a:spLocks noChangeShapeType="1"/>
          </p:cNvSpPr>
          <p:nvPr/>
        </p:nvSpPr>
        <p:spPr bwMode="auto">
          <a:xfrm flipV="1">
            <a:off x="6840908" y="5170487"/>
            <a:ext cx="9144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717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0" animBg="1"/>
      <p:bldP spid="146" grpId="0" animBg="1"/>
      <p:bldP spid="147" grpId="0"/>
      <p:bldP spid="148" grpId="0"/>
      <p:bldP spid="152" grpId="0"/>
      <p:bldP spid="153" grpId="0" animBg="1"/>
      <p:bldP spid="154" grpId="0" animBg="1"/>
      <p:bldP spid="160" grpId="0" animBg="1"/>
      <p:bldP spid="161" grpId="0" animBg="1"/>
      <p:bldP spid="162" grpId="0" animBg="1"/>
      <p:bldP spid="16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ISAM File Creation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How to create an ISAM file?</a:t>
            </a:r>
          </a:p>
          <a:p>
            <a:pPr lvl="1">
              <a:buFont typeface="Wingdings" pitchFamily="2" charset="2"/>
              <a:buChar char="§"/>
            </a:pPr>
            <a:r>
              <a:rPr lang="en-US" sz="3000" dirty="0" smtClean="0"/>
              <a:t>All leaf pages are allocated </a:t>
            </a:r>
            <a:r>
              <a:rPr lang="en-US" sz="3000" i="1" dirty="0" smtClean="0"/>
              <a:t>sequentially</a:t>
            </a:r>
            <a:r>
              <a:rPr lang="en-US" sz="3000" dirty="0" smtClean="0"/>
              <a:t> and </a:t>
            </a:r>
            <a:r>
              <a:rPr lang="en-US" sz="3000" i="1" dirty="0" smtClean="0"/>
              <a:t>sorted</a:t>
            </a:r>
            <a:r>
              <a:rPr lang="en-US" sz="3000" dirty="0" smtClean="0"/>
              <a:t> on the search key value</a:t>
            </a:r>
          </a:p>
          <a:p>
            <a:pPr lvl="1">
              <a:buFont typeface="Wingdings" pitchFamily="2" charset="2"/>
              <a:buChar char="§"/>
            </a:pPr>
            <a:endParaRPr lang="en-US" sz="3000" dirty="0" smtClean="0"/>
          </a:p>
          <a:p>
            <a:pPr lvl="1">
              <a:buFont typeface="Wingdings" pitchFamily="2" charset="2"/>
              <a:buChar char="§"/>
            </a:pPr>
            <a:r>
              <a:rPr lang="en-US" sz="3000" dirty="0" smtClean="0"/>
              <a:t>Or the </a:t>
            </a:r>
            <a:r>
              <a:rPr lang="en-US" sz="3000" dirty="0" smtClean="0"/>
              <a:t>data records are created and </a:t>
            </a:r>
            <a:r>
              <a:rPr lang="en-US" sz="3000" i="1" dirty="0" smtClean="0"/>
              <a:t>sorted</a:t>
            </a:r>
            <a:r>
              <a:rPr lang="en-US" sz="3000" dirty="0" smtClean="0"/>
              <a:t> before allocating </a:t>
            </a:r>
            <a:r>
              <a:rPr lang="en-US" sz="3000" dirty="0" smtClean="0"/>
              <a:t>leaf </a:t>
            </a:r>
            <a:r>
              <a:rPr lang="en-US" sz="3000" dirty="0" smtClean="0"/>
              <a:t>pages</a:t>
            </a:r>
          </a:p>
          <a:p>
            <a:pPr lvl="1">
              <a:buFont typeface="Wingdings" pitchFamily="2" charset="2"/>
              <a:buChar char="§"/>
            </a:pPr>
            <a:endParaRPr lang="en-US" sz="3000" dirty="0" smtClean="0"/>
          </a:p>
          <a:p>
            <a:pPr lvl="1">
              <a:buFont typeface="Wingdings" pitchFamily="2" charset="2"/>
              <a:buChar char="§"/>
            </a:pPr>
            <a:r>
              <a:rPr lang="en-US" sz="3000" dirty="0" smtClean="0"/>
              <a:t>The non-leaf pages are subsequently allocated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82416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ISAM: Searching for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/>
              <a:t>Search begins at root, and key comparisons direct it to a </a:t>
            </a:r>
            <a:r>
              <a:rPr lang="en-US" sz="2800" dirty="0" smtClean="0"/>
              <a:t>leaf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Search for </a:t>
            </a:r>
            <a:r>
              <a:rPr lang="en-US" sz="2800" dirty="0" smtClean="0">
                <a:solidFill>
                  <a:srgbClr val="FF0000"/>
                </a:solidFill>
              </a:rPr>
              <a:t>27*</a:t>
            </a:r>
            <a:endParaRPr lang="en-US" sz="2400" dirty="0">
              <a:solidFill>
                <a:srgbClr val="FF0000"/>
              </a:solidFill>
            </a:endParaRPr>
          </a:p>
        </p:txBody>
      </p:sp>
      <p:grpSp>
        <p:nvGrpSpPr>
          <p:cNvPr id="107" name="Group 69"/>
          <p:cNvGrpSpPr>
            <a:grpSpLocks/>
          </p:cNvGrpSpPr>
          <p:nvPr/>
        </p:nvGrpSpPr>
        <p:grpSpPr bwMode="auto">
          <a:xfrm>
            <a:off x="557213" y="3529012"/>
            <a:ext cx="7893050" cy="2605088"/>
            <a:chOff x="351" y="1868"/>
            <a:chExt cx="4972" cy="1953"/>
          </a:xfrm>
        </p:grpSpPr>
        <p:sp>
          <p:nvSpPr>
            <p:cNvPr id="108" name="Freeform 6"/>
            <p:cNvSpPr>
              <a:spLocks/>
            </p:cNvSpPr>
            <p:nvPr/>
          </p:nvSpPr>
          <p:spPr bwMode="auto">
            <a:xfrm>
              <a:off x="351" y="3509"/>
              <a:ext cx="699" cy="312"/>
            </a:xfrm>
            <a:custGeom>
              <a:avLst/>
              <a:gdLst>
                <a:gd name="T0" fmla="*/ 0 w 699"/>
                <a:gd name="T1" fmla="*/ 311 h 312"/>
                <a:gd name="T2" fmla="*/ 0 w 699"/>
                <a:gd name="T3" fmla="*/ 0 h 312"/>
                <a:gd name="T4" fmla="*/ 698 w 699"/>
                <a:gd name="T5" fmla="*/ 0 h 312"/>
                <a:gd name="T6" fmla="*/ 698 w 699"/>
                <a:gd name="T7" fmla="*/ 311 h 312"/>
                <a:gd name="T8" fmla="*/ 0 w 699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9" h="312">
                  <a:moveTo>
                    <a:pt x="0" y="311"/>
                  </a:moveTo>
                  <a:lnTo>
                    <a:pt x="0" y="0"/>
                  </a:lnTo>
                  <a:lnTo>
                    <a:pt x="698" y="0"/>
                  </a:lnTo>
                  <a:lnTo>
                    <a:pt x="698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7"/>
            <p:cNvSpPr>
              <a:spLocks/>
            </p:cNvSpPr>
            <p:nvPr/>
          </p:nvSpPr>
          <p:spPr bwMode="auto">
            <a:xfrm>
              <a:off x="1204" y="3509"/>
              <a:ext cx="700" cy="312"/>
            </a:xfrm>
            <a:custGeom>
              <a:avLst/>
              <a:gdLst>
                <a:gd name="T0" fmla="*/ 0 w 700"/>
                <a:gd name="T1" fmla="*/ 311 h 312"/>
                <a:gd name="T2" fmla="*/ 0 w 700"/>
                <a:gd name="T3" fmla="*/ 0 h 312"/>
                <a:gd name="T4" fmla="*/ 699 w 700"/>
                <a:gd name="T5" fmla="*/ 0 h 312"/>
                <a:gd name="T6" fmla="*/ 699 w 700"/>
                <a:gd name="T7" fmla="*/ 311 h 312"/>
                <a:gd name="T8" fmla="*/ 0 w 700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2">
                  <a:moveTo>
                    <a:pt x="0" y="311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8"/>
            <p:cNvSpPr>
              <a:spLocks/>
            </p:cNvSpPr>
            <p:nvPr/>
          </p:nvSpPr>
          <p:spPr bwMode="auto">
            <a:xfrm>
              <a:off x="2059" y="3509"/>
              <a:ext cx="700" cy="312"/>
            </a:xfrm>
            <a:custGeom>
              <a:avLst/>
              <a:gdLst>
                <a:gd name="T0" fmla="*/ 0 w 700"/>
                <a:gd name="T1" fmla="*/ 311 h 312"/>
                <a:gd name="T2" fmla="*/ 0 w 700"/>
                <a:gd name="T3" fmla="*/ 0 h 312"/>
                <a:gd name="T4" fmla="*/ 699 w 700"/>
                <a:gd name="T5" fmla="*/ 0 h 312"/>
                <a:gd name="T6" fmla="*/ 699 w 700"/>
                <a:gd name="T7" fmla="*/ 311 h 312"/>
                <a:gd name="T8" fmla="*/ 0 w 700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2">
                  <a:moveTo>
                    <a:pt x="0" y="311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9"/>
            <p:cNvSpPr>
              <a:spLocks/>
            </p:cNvSpPr>
            <p:nvPr/>
          </p:nvSpPr>
          <p:spPr bwMode="auto">
            <a:xfrm>
              <a:off x="2914" y="3509"/>
              <a:ext cx="699" cy="312"/>
            </a:xfrm>
            <a:custGeom>
              <a:avLst/>
              <a:gdLst>
                <a:gd name="T0" fmla="*/ 0 w 699"/>
                <a:gd name="T1" fmla="*/ 311 h 312"/>
                <a:gd name="T2" fmla="*/ 0 w 699"/>
                <a:gd name="T3" fmla="*/ 0 h 312"/>
                <a:gd name="T4" fmla="*/ 698 w 699"/>
                <a:gd name="T5" fmla="*/ 0 h 312"/>
                <a:gd name="T6" fmla="*/ 698 w 699"/>
                <a:gd name="T7" fmla="*/ 311 h 312"/>
                <a:gd name="T8" fmla="*/ 0 w 699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9" h="312">
                  <a:moveTo>
                    <a:pt x="0" y="311"/>
                  </a:moveTo>
                  <a:lnTo>
                    <a:pt x="0" y="0"/>
                  </a:lnTo>
                  <a:lnTo>
                    <a:pt x="698" y="0"/>
                  </a:lnTo>
                  <a:lnTo>
                    <a:pt x="698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0"/>
            <p:cNvSpPr>
              <a:spLocks/>
            </p:cNvSpPr>
            <p:nvPr/>
          </p:nvSpPr>
          <p:spPr bwMode="auto">
            <a:xfrm>
              <a:off x="3767" y="3509"/>
              <a:ext cx="701" cy="312"/>
            </a:xfrm>
            <a:custGeom>
              <a:avLst/>
              <a:gdLst>
                <a:gd name="T0" fmla="*/ 0 w 701"/>
                <a:gd name="T1" fmla="*/ 311 h 312"/>
                <a:gd name="T2" fmla="*/ 0 w 701"/>
                <a:gd name="T3" fmla="*/ 0 h 312"/>
                <a:gd name="T4" fmla="*/ 700 w 701"/>
                <a:gd name="T5" fmla="*/ 0 h 312"/>
                <a:gd name="T6" fmla="*/ 700 w 701"/>
                <a:gd name="T7" fmla="*/ 311 h 312"/>
                <a:gd name="T8" fmla="*/ 0 w 701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1" h="312">
                  <a:moveTo>
                    <a:pt x="0" y="311"/>
                  </a:moveTo>
                  <a:lnTo>
                    <a:pt x="0" y="0"/>
                  </a:lnTo>
                  <a:lnTo>
                    <a:pt x="700" y="0"/>
                  </a:lnTo>
                  <a:lnTo>
                    <a:pt x="700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1"/>
            <p:cNvSpPr>
              <a:spLocks/>
            </p:cNvSpPr>
            <p:nvPr/>
          </p:nvSpPr>
          <p:spPr bwMode="auto">
            <a:xfrm>
              <a:off x="4621" y="3509"/>
              <a:ext cx="702" cy="312"/>
            </a:xfrm>
            <a:custGeom>
              <a:avLst/>
              <a:gdLst>
                <a:gd name="T0" fmla="*/ 0 w 702"/>
                <a:gd name="T1" fmla="*/ 311 h 312"/>
                <a:gd name="T2" fmla="*/ 0 w 702"/>
                <a:gd name="T3" fmla="*/ 0 h 312"/>
                <a:gd name="T4" fmla="*/ 701 w 702"/>
                <a:gd name="T5" fmla="*/ 0 h 312"/>
                <a:gd name="T6" fmla="*/ 701 w 702"/>
                <a:gd name="T7" fmla="*/ 311 h 312"/>
                <a:gd name="T8" fmla="*/ 0 w 702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2" h="312">
                  <a:moveTo>
                    <a:pt x="0" y="311"/>
                  </a:moveTo>
                  <a:lnTo>
                    <a:pt x="0" y="0"/>
                  </a:lnTo>
                  <a:lnTo>
                    <a:pt x="701" y="0"/>
                  </a:lnTo>
                  <a:lnTo>
                    <a:pt x="701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12"/>
            <p:cNvSpPr>
              <a:spLocks/>
            </p:cNvSpPr>
            <p:nvPr/>
          </p:nvSpPr>
          <p:spPr bwMode="auto">
            <a:xfrm>
              <a:off x="1204" y="2735"/>
              <a:ext cx="700" cy="311"/>
            </a:xfrm>
            <a:custGeom>
              <a:avLst/>
              <a:gdLst>
                <a:gd name="T0" fmla="*/ 0 w 700"/>
                <a:gd name="T1" fmla="*/ 310 h 311"/>
                <a:gd name="T2" fmla="*/ 0 w 700"/>
                <a:gd name="T3" fmla="*/ 0 h 311"/>
                <a:gd name="T4" fmla="*/ 699 w 700"/>
                <a:gd name="T5" fmla="*/ 0 h 311"/>
                <a:gd name="T6" fmla="*/ 699 w 700"/>
                <a:gd name="T7" fmla="*/ 310 h 311"/>
                <a:gd name="T8" fmla="*/ 0 w 700"/>
                <a:gd name="T9" fmla="*/ 31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1">
                  <a:moveTo>
                    <a:pt x="0" y="310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0"/>
                  </a:lnTo>
                  <a:lnTo>
                    <a:pt x="0" y="31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13"/>
            <p:cNvSpPr>
              <a:spLocks/>
            </p:cNvSpPr>
            <p:nvPr/>
          </p:nvSpPr>
          <p:spPr bwMode="auto">
            <a:xfrm>
              <a:off x="1284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14"/>
            <p:cNvSpPr>
              <a:spLocks/>
            </p:cNvSpPr>
            <p:nvPr/>
          </p:nvSpPr>
          <p:spPr bwMode="auto">
            <a:xfrm>
              <a:off x="1515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15"/>
            <p:cNvSpPr>
              <a:spLocks/>
            </p:cNvSpPr>
            <p:nvPr/>
          </p:nvSpPr>
          <p:spPr bwMode="auto">
            <a:xfrm>
              <a:off x="1593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16"/>
            <p:cNvSpPr>
              <a:spLocks/>
            </p:cNvSpPr>
            <p:nvPr/>
          </p:nvSpPr>
          <p:spPr bwMode="auto">
            <a:xfrm>
              <a:off x="1827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17"/>
            <p:cNvSpPr>
              <a:spLocks/>
            </p:cNvSpPr>
            <p:nvPr/>
          </p:nvSpPr>
          <p:spPr bwMode="auto">
            <a:xfrm>
              <a:off x="3767" y="2735"/>
              <a:ext cx="701" cy="311"/>
            </a:xfrm>
            <a:custGeom>
              <a:avLst/>
              <a:gdLst>
                <a:gd name="T0" fmla="*/ 0 w 701"/>
                <a:gd name="T1" fmla="*/ 310 h 311"/>
                <a:gd name="T2" fmla="*/ 0 w 701"/>
                <a:gd name="T3" fmla="*/ 0 h 311"/>
                <a:gd name="T4" fmla="*/ 700 w 701"/>
                <a:gd name="T5" fmla="*/ 0 h 311"/>
                <a:gd name="T6" fmla="*/ 700 w 701"/>
                <a:gd name="T7" fmla="*/ 310 h 311"/>
                <a:gd name="T8" fmla="*/ 0 w 701"/>
                <a:gd name="T9" fmla="*/ 31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1" h="311">
                  <a:moveTo>
                    <a:pt x="0" y="310"/>
                  </a:moveTo>
                  <a:lnTo>
                    <a:pt x="0" y="0"/>
                  </a:lnTo>
                  <a:lnTo>
                    <a:pt x="700" y="0"/>
                  </a:lnTo>
                  <a:lnTo>
                    <a:pt x="700" y="310"/>
                  </a:lnTo>
                  <a:lnTo>
                    <a:pt x="0" y="31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18"/>
            <p:cNvSpPr>
              <a:spLocks/>
            </p:cNvSpPr>
            <p:nvPr/>
          </p:nvSpPr>
          <p:spPr bwMode="auto">
            <a:xfrm>
              <a:off x="3846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19"/>
            <p:cNvSpPr>
              <a:spLocks/>
            </p:cNvSpPr>
            <p:nvPr/>
          </p:nvSpPr>
          <p:spPr bwMode="auto">
            <a:xfrm>
              <a:off x="4078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20"/>
            <p:cNvSpPr>
              <a:spLocks/>
            </p:cNvSpPr>
            <p:nvPr/>
          </p:nvSpPr>
          <p:spPr bwMode="auto">
            <a:xfrm>
              <a:off x="4156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21"/>
            <p:cNvSpPr>
              <a:spLocks/>
            </p:cNvSpPr>
            <p:nvPr/>
          </p:nvSpPr>
          <p:spPr bwMode="auto">
            <a:xfrm>
              <a:off x="4389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22"/>
            <p:cNvSpPr>
              <a:spLocks/>
            </p:cNvSpPr>
            <p:nvPr/>
          </p:nvSpPr>
          <p:spPr bwMode="auto">
            <a:xfrm>
              <a:off x="2447" y="2037"/>
              <a:ext cx="700" cy="312"/>
            </a:xfrm>
            <a:custGeom>
              <a:avLst/>
              <a:gdLst>
                <a:gd name="T0" fmla="*/ 0 w 700"/>
                <a:gd name="T1" fmla="*/ 311 h 312"/>
                <a:gd name="T2" fmla="*/ 0 w 700"/>
                <a:gd name="T3" fmla="*/ 0 h 312"/>
                <a:gd name="T4" fmla="*/ 699 w 700"/>
                <a:gd name="T5" fmla="*/ 0 h 312"/>
                <a:gd name="T6" fmla="*/ 699 w 700"/>
                <a:gd name="T7" fmla="*/ 311 h 312"/>
                <a:gd name="T8" fmla="*/ 0 w 700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2">
                  <a:moveTo>
                    <a:pt x="0" y="311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23"/>
            <p:cNvSpPr>
              <a:spLocks/>
            </p:cNvSpPr>
            <p:nvPr/>
          </p:nvSpPr>
          <p:spPr bwMode="auto">
            <a:xfrm>
              <a:off x="2525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24"/>
            <p:cNvSpPr>
              <a:spLocks/>
            </p:cNvSpPr>
            <p:nvPr/>
          </p:nvSpPr>
          <p:spPr bwMode="auto">
            <a:xfrm>
              <a:off x="2758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25"/>
            <p:cNvSpPr>
              <a:spLocks/>
            </p:cNvSpPr>
            <p:nvPr/>
          </p:nvSpPr>
          <p:spPr bwMode="auto">
            <a:xfrm>
              <a:off x="2836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26"/>
            <p:cNvSpPr>
              <a:spLocks/>
            </p:cNvSpPr>
            <p:nvPr/>
          </p:nvSpPr>
          <p:spPr bwMode="auto">
            <a:xfrm>
              <a:off x="3069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27"/>
            <p:cNvSpPr>
              <a:spLocks/>
            </p:cNvSpPr>
            <p:nvPr/>
          </p:nvSpPr>
          <p:spPr bwMode="auto">
            <a:xfrm>
              <a:off x="1903" y="2280"/>
              <a:ext cx="575" cy="418"/>
            </a:xfrm>
            <a:custGeom>
              <a:avLst/>
              <a:gdLst>
                <a:gd name="T0" fmla="*/ 574 w 575"/>
                <a:gd name="T1" fmla="*/ 0 h 418"/>
                <a:gd name="T2" fmla="*/ 0 w 575"/>
                <a:gd name="T3" fmla="*/ 417 h 418"/>
                <a:gd name="T4" fmla="*/ 574 w 575"/>
                <a:gd name="T5" fmla="*/ 0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5" h="418">
                  <a:moveTo>
                    <a:pt x="574" y="0"/>
                  </a:moveTo>
                  <a:lnTo>
                    <a:pt x="0" y="417"/>
                  </a:lnTo>
                  <a:lnTo>
                    <a:pt x="574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28"/>
            <p:cNvSpPr>
              <a:spLocks/>
            </p:cNvSpPr>
            <p:nvPr/>
          </p:nvSpPr>
          <p:spPr bwMode="auto">
            <a:xfrm>
              <a:off x="1903" y="2620"/>
              <a:ext cx="94" cy="78"/>
            </a:xfrm>
            <a:custGeom>
              <a:avLst/>
              <a:gdLst>
                <a:gd name="T0" fmla="*/ 93 w 94"/>
                <a:gd name="T1" fmla="*/ 39 h 78"/>
                <a:gd name="T2" fmla="*/ 0 w 94"/>
                <a:gd name="T3" fmla="*/ 77 h 78"/>
                <a:gd name="T4" fmla="*/ 65 w 94"/>
                <a:gd name="T5" fmla="*/ 0 h 78"/>
                <a:gd name="T6" fmla="*/ 93 w 94"/>
                <a:gd name="T7" fmla="*/ 3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4" h="78">
                  <a:moveTo>
                    <a:pt x="93" y="39"/>
                  </a:moveTo>
                  <a:lnTo>
                    <a:pt x="0" y="77"/>
                  </a:lnTo>
                  <a:lnTo>
                    <a:pt x="65" y="0"/>
                  </a:lnTo>
                  <a:lnTo>
                    <a:pt x="93" y="39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29"/>
            <p:cNvSpPr>
              <a:spLocks/>
            </p:cNvSpPr>
            <p:nvPr/>
          </p:nvSpPr>
          <p:spPr bwMode="auto">
            <a:xfrm>
              <a:off x="2788" y="2260"/>
              <a:ext cx="971" cy="447"/>
            </a:xfrm>
            <a:custGeom>
              <a:avLst/>
              <a:gdLst>
                <a:gd name="T0" fmla="*/ 0 w 971"/>
                <a:gd name="T1" fmla="*/ 0 h 447"/>
                <a:gd name="T2" fmla="*/ 970 w 971"/>
                <a:gd name="T3" fmla="*/ 446 h 447"/>
                <a:gd name="T4" fmla="*/ 0 w 971"/>
                <a:gd name="T5" fmla="*/ 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71" h="447">
                  <a:moveTo>
                    <a:pt x="0" y="0"/>
                  </a:moveTo>
                  <a:lnTo>
                    <a:pt x="970" y="446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30"/>
            <p:cNvSpPr>
              <a:spLocks/>
            </p:cNvSpPr>
            <p:nvPr/>
          </p:nvSpPr>
          <p:spPr bwMode="auto">
            <a:xfrm>
              <a:off x="3659" y="2644"/>
              <a:ext cx="100" cy="63"/>
            </a:xfrm>
            <a:custGeom>
              <a:avLst/>
              <a:gdLst>
                <a:gd name="T0" fmla="*/ 21 w 100"/>
                <a:gd name="T1" fmla="*/ 0 h 63"/>
                <a:gd name="T2" fmla="*/ 99 w 100"/>
                <a:gd name="T3" fmla="*/ 62 h 63"/>
                <a:gd name="T4" fmla="*/ 0 w 100"/>
                <a:gd name="T5" fmla="*/ 44 h 63"/>
                <a:gd name="T6" fmla="*/ 21 w 100"/>
                <a:gd name="T7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" h="63">
                  <a:moveTo>
                    <a:pt x="21" y="0"/>
                  </a:moveTo>
                  <a:lnTo>
                    <a:pt x="99" y="62"/>
                  </a:lnTo>
                  <a:lnTo>
                    <a:pt x="0" y="44"/>
                  </a:lnTo>
                  <a:lnTo>
                    <a:pt x="21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31"/>
            <p:cNvSpPr>
              <a:spLocks/>
            </p:cNvSpPr>
            <p:nvPr/>
          </p:nvSpPr>
          <p:spPr bwMode="auto">
            <a:xfrm>
              <a:off x="972" y="2996"/>
              <a:ext cx="272" cy="486"/>
            </a:xfrm>
            <a:custGeom>
              <a:avLst/>
              <a:gdLst>
                <a:gd name="T0" fmla="*/ 271 w 272"/>
                <a:gd name="T1" fmla="*/ 0 h 486"/>
                <a:gd name="T2" fmla="*/ 0 w 272"/>
                <a:gd name="T3" fmla="*/ 485 h 486"/>
                <a:gd name="T4" fmla="*/ 271 w 272"/>
                <a:gd name="T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2" h="486">
                  <a:moveTo>
                    <a:pt x="271" y="0"/>
                  </a:moveTo>
                  <a:lnTo>
                    <a:pt x="0" y="485"/>
                  </a:lnTo>
                  <a:lnTo>
                    <a:pt x="271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32"/>
            <p:cNvSpPr>
              <a:spLocks/>
            </p:cNvSpPr>
            <p:nvPr/>
          </p:nvSpPr>
          <p:spPr bwMode="auto">
            <a:xfrm>
              <a:off x="972" y="3384"/>
              <a:ext cx="69" cy="98"/>
            </a:xfrm>
            <a:custGeom>
              <a:avLst/>
              <a:gdLst>
                <a:gd name="T0" fmla="*/ 68 w 69"/>
                <a:gd name="T1" fmla="*/ 25 h 98"/>
                <a:gd name="T2" fmla="*/ 0 w 69"/>
                <a:gd name="T3" fmla="*/ 97 h 98"/>
                <a:gd name="T4" fmla="*/ 26 w 69"/>
                <a:gd name="T5" fmla="*/ 0 h 98"/>
                <a:gd name="T6" fmla="*/ 68 w 69"/>
                <a:gd name="T7" fmla="*/ 25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98">
                  <a:moveTo>
                    <a:pt x="68" y="25"/>
                  </a:moveTo>
                  <a:lnTo>
                    <a:pt x="0" y="97"/>
                  </a:lnTo>
                  <a:lnTo>
                    <a:pt x="26" y="0"/>
                  </a:lnTo>
                  <a:lnTo>
                    <a:pt x="68" y="25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33"/>
            <p:cNvSpPr>
              <a:spLocks/>
            </p:cNvSpPr>
            <p:nvPr/>
          </p:nvSpPr>
          <p:spPr bwMode="auto">
            <a:xfrm>
              <a:off x="1554" y="2977"/>
              <a:ext cx="1" cy="505"/>
            </a:xfrm>
            <a:custGeom>
              <a:avLst/>
              <a:gdLst>
                <a:gd name="T0" fmla="*/ 0 w 1"/>
                <a:gd name="T1" fmla="*/ 0 h 505"/>
                <a:gd name="T2" fmla="*/ 0 w 1"/>
                <a:gd name="T3" fmla="*/ 504 h 505"/>
                <a:gd name="T4" fmla="*/ 0 w 1"/>
                <a:gd name="T5" fmla="*/ 0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05">
                  <a:moveTo>
                    <a:pt x="0" y="0"/>
                  </a:moveTo>
                  <a:lnTo>
                    <a:pt x="0" y="504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34"/>
            <p:cNvSpPr>
              <a:spLocks/>
            </p:cNvSpPr>
            <p:nvPr/>
          </p:nvSpPr>
          <p:spPr bwMode="auto">
            <a:xfrm>
              <a:off x="1530" y="3384"/>
              <a:ext cx="50" cy="98"/>
            </a:xfrm>
            <a:custGeom>
              <a:avLst/>
              <a:gdLst>
                <a:gd name="T0" fmla="*/ 49 w 50"/>
                <a:gd name="T1" fmla="*/ 0 h 98"/>
                <a:gd name="T2" fmla="*/ 24 w 50"/>
                <a:gd name="T3" fmla="*/ 97 h 98"/>
                <a:gd name="T4" fmla="*/ 0 w 50"/>
                <a:gd name="T5" fmla="*/ 0 h 98"/>
                <a:gd name="T6" fmla="*/ 49 w 50"/>
                <a:gd name="T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98">
                  <a:moveTo>
                    <a:pt x="49" y="0"/>
                  </a:moveTo>
                  <a:lnTo>
                    <a:pt x="24" y="97"/>
                  </a:lnTo>
                  <a:lnTo>
                    <a:pt x="0" y="0"/>
                  </a:lnTo>
                  <a:lnTo>
                    <a:pt x="49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35"/>
            <p:cNvSpPr>
              <a:spLocks/>
            </p:cNvSpPr>
            <p:nvPr/>
          </p:nvSpPr>
          <p:spPr bwMode="auto">
            <a:xfrm>
              <a:off x="1865" y="2958"/>
              <a:ext cx="214" cy="514"/>
            </a:xfrm>
            <a:custGeom>
              <a:avLst/>
              <a:gdLst>
                <a:gd name="T0" fmla="*/ 0 w 214"/>
                <a:gd name="T1" fmla="*/ 0 h 514"/>
                <a:gd name="T2" fmla="*/ 213 w 214"/>
                <a:gd name="T3" fmla="*/ 513 h 514"/>
                <a:gd name="T4" fmla="*/ 0 w 214"/>
                <a:gd name="T5" fmla="*/ 0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4" h="514">
                  <a:moveTo>
                    <a:pt x="0" y="0"/>
                  </a:moveTo>
                  <a:lnTo>
                    <a:pt x="213" y="513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36"/>
            <p:cNvSpPr>
              <a:spLocks/>
            </p:cNvSpPr>
            <p:nvPr/>
          </p:nvSpPr>
          <p:spPr bwMode="auto">
            <a:xfrm>
              <a:off x="2019" y="3372"/>
              <a:ext cx="60" cy="100"/>
            </a:xfrm>
            <a:custGeom>
              <a:avLst/>
              <a:gdLst>
                <a:gd name="T0" fmla="*/ 45 w 60"/>
                <a:gd name="T1" fmla="*/ 0 h 100"/>
                <a:gd name="T2" fmla="*/ 59 w 60"/>
                <a:gd name="T3" fmla="*/ 99 h 100"/>
                <a:gd name="T4" fmla="*/ 0 w 60"/>
                <a:gd name="T5" fmla="*/ 18 h 100"/>
                <a:gd name="T6" fmla="*/ 45 w 60"/>
                <a:gd name="T7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" h="100">
                  <a:moveTo>
                    <a:pt x="45" y="0"/>
                  </a:moveTo>
                  <a:lnTo>
                    <a:pt x="59" y="99"/>
                  </a:lnTo>
                  <a:lnTo>
                    <a:pt x="0" y="18"/>
                  </a:lnTo>
                  <a:lnTo>
                    <a:pt x="45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37"/>
            <p:cNvSpPr>
              <a:spLocks/>
            </p:cNvSpPr>
            <p:nvPr/>
          </p:nvSpPr>
          <p:spPr bwMode="auto">
            <a:xfrm>
              <a:off x="3554" y="2967"/>
              <a:ext cx="254" cy="496"/>
            </a:xfrm>
            <a:custGeom>
              <a:avLst/>
              <a:gdLst>
                <a:gd name="T0" fmla="*/ 253 w 254"/>
                <a:gd name="T1" fmla="*/ 0 h 496"/>
                <a:gd name="T2" fmla="*/ 0 w 254"/>
                <a:gd name="T3" fmla="*/ 495 h 496"/>
                <a:gd name="T4" fmla="*/ 253 w 254"/>
                <a:gd name="T5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4" h="496">
                  <a:moveTo>
                    <a:pt x="253" y="0"/>
                  </a:moveTo>
                  <a:lnTo>
                    <a:pt x="0" y="495"/>
                  </a:lnTo>
                  <a:lnTo>
                    <a:pt x="253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38"/>
            <p:cNvSpPr>
              <a:spLocks/>
            </p:cNvSpPr>
            <p:nvPr/>
          </p:nvSpPr>
          <p:spPr bwMode="auto">
            <a:xfrm>
              <a:off x="3554" y="3365"/>
              <a:ext cx="67" cy="98"/>
            </a:xfrm>
            <a:custGeom>
              <a:avLst/>
              <a:gdLst>
                <a:gd name="T0" fmla="*/ 66 w 67"/>
                <a:gd name="T1" fmla="*/ 21 h 98"/>
                <a:gd name="T2" fmla="*/ 0 w 67"/>
                <a:gd name="T3" fmla="*/ 97 h 98"/>
                <a:gd name="T4" fmla="*/ 23 w 67"/>
                <a:gd name="T5" fmla="*/ 0 h 98"/>
                <a:gd name="T6" fmla="*/ 66 w 67"/>
                <a:gd name="T7" fmla="*/ 21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98">
                  <a:moveTo>
                    <a:pt x="66" y="21"/>
                  </a:moveTo>
                  <a:lnTo>
                    <a:pt x="0" y="97"/>
                  </a:lnTo>
                  <a:lnTo>
                    <a:pt x="23" y="0"/>
                  </a:lnTo>
                  <a:lnTo>
                    <a:pt x="66" y="2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39"/>
            <p:cNvSpPr>
              <a:spLocks/>
            </p:cNvSpPr>
            <p:nvPr/>
          </p:nvSpPr>
          <p:spPr bwMode="auto">
            <a:xfrm>
              <a:off x="4117" y="2977"/>
              <a:ext cx="1" cy="476"/>
            </a:xfrm>
            <a:custGeom>
              <a:avLst/>
              <a:gdLst>
                <a:gd name="T0" fmla="*/ 0 w 1"/>
                <a:gd name="T1" fmla="*/ 0 h 476"/>
                <a:gd name="T2" fmla="*/ 0 w 1"/>
                <a:gd name="T3" fmla="*/ 475 h 476"/>
                <a:gd name="T4" fmla="*/ 0 w 1"/>
                <a:gd name="T5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76">
                  <a:moveTo>
                    <a:pt x="0" y="0"/>
                  </a:moveTo>
                  <a:lnTo>
                    <a:pt x="0" y="475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40"/>
            <p:cNvSpPr>
              <a:spLocks/>
            </p:cNvSpPr>
            <p:nvPr/>
          </p:nvSpPr>
          <p:spPr bwMode="auto">
            <a:xfrm>
              <a:off x="4093" y="3355"/>
              <a:ext cx="49" cy="98"/>
            </a:xfrm>
            <a:custGeom>
              <a:avLst/>
              <a:gdLst>
                <a:gd name="T0" fmla="*/ 48 w 49"/>
                <a:gd name="T1" fmla="*/ 0 h 98"/>
                <a:gd name="T2" fmla="*/ 24 w 49"/>
                <a:gd name="T3" fmla="*/ 97 h 98"/>
                <a:gd name="T4" fmla="*/ 0 w 49"/>
                <a:gd name="T5" fmla="*/ 0 h 98"/>
                <a:gd name="T6" fmla="*/ 48 w 49"/>
                <a:gd name="T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98">
                  <a:moveTo>
                    <a:pt x="48" y="0"/>
                  </a:moveTo>
                  <a:lnTo>
                    <a:pt x="24" y="97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41"/>
            <p:cNvSpPr>
              <a:spLocks/>
            </p:cNvSpPr>
            <p:nvPr/>
          </p:nvSpPr>
          <p:spPr bwMode="auto">
            <a:xfrm>
              <a:off x="4428" y="2986"/>
              <a:ext cx="253" cy="477"/>
            </a:xfrm>
            <a:custGeom>
              <a:avLst/>
              <a:gdLst>
                <a:gd name="T0" fmla="*/ 0 w 253"/>
                <a:gd name="T1" fmla="*/ 0 h 477"/>
                <a:gd name="T2" fmla="*/ 252 w 253"/>
                <a:gd name="T3" fmla="*/ 476 h 477"/>
                <a:gd name="T4" fmla="*/ 0 w 253"/>
                <a:gd name="T5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3" h="477">
                  <a:moveTo>
                    <a:pt x="0" y="0"/>
                  </a:moveTo>
                  <a:lnTo>
                    <a:pt x="252" y="476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42"/>
            <p:cNvSpPr>
              <a:spLocks/>
            </p:cNvSpPr>
            <p:nvPr/>
          </p:nvSpPr>
          <p:spPr bwMode="auto">
            <a:xfrm>
              <a:off x="4614" y="3365"/>
              <a:ext cx="67" cy="98"/>
            </a:xfrm>
            <a:custGeom>
              <a:avLst/>
              <a:gdLst>
                <a:gd name="T0" fmla="*/ 42 w 67"/>
                <a:gd name="T1" fmla="*/ 0 h 98"/>
                <a:gd name="T2" fmla="*/ 66 w 67"/>
                <a:gd name="T3" fmla="*/ 97 h 98"/>
                <a:gd name="T4" fmla="*/ 0 w 67"/>
                <a:gd name="T5" fmla="*/ 22 h 98"/>
                <a:gd name="T6" fmla="*/ 42 w 67"/>
                <a:gd name="T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98">
                  <a:moveTo>
                    <a:pt x="42" y="0"/>
                  </a:moveTo>
                  <a:lnTo>
                    <a:pt x="66" y="97"/>
                  </a:lnTo>
                  <a:lnTo>
                    <a:pt x="0" y="22"/>
                  </a:lnTo>
                  <a:lnTo>
                    <a:pt x="42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43"/>
            <p:cNvSpPr>
              <a:spLocks/>
            </p:cNvSpPr>
            <p:nvPr/>
          </p:nvSpPr>
          <p:spPr bwMode="auto">
            <a:xfrm>
              <a:off x="700" y="3519"/>
              <a:ext cx="1" cy="283"/>
            </a:xfrm>
            <a:custGeom>
              <a:avLst/>
              <a:gdLst>
                <a:gd name="T0" fmla="*/ 0 w 1"/>
                <a:gd name="T1" fmla="*/ 0 h 283"/>
                <a:gd name="T2" fmla="*/ 0 w 1"/>
                <a:gd name="T3" fmla="*/ 282 h 283"/>
                <a:gd name="T4" fmla="*/ 0 w 1"/>
                <a:gd name="T5" fmla="*/ 0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83">
                  <a:moveTo>
                    <a:pt x="0" y="0"/>
                  </a:moveTo>
                  <a:lnTo>
                    <a:pt x="0" y="28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44"/>
            <p:cNvSpPr>
              <a:spLocks/>
            </p:cNvSpPr>
            <p:nvPr/>
          </p:nvSpPr>
          <p:spPr bwMode="auto">
            <a:xfrm>
              <a:off x="1565" y="3509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45"/>
            <p:cNvSpPr>
              <a:spLocks/>
            </p:cNvSpPr>
            <p:nvPr/>
          </p:nvSpPr>
          <p:spPr bwMode="auto">
            <a:xfrm>
              <a:off x="2409" y="3509"/>
              <a:ext cx="1" cy="302"/>
            </a:xfrm>
            <a:custGeom>
              <a:avLst/>
              <a:gdLst>
                <a:gd name="T0" fmla="*/ 0 w 1"/>
                <a:gd name="T1" fmla="*/ 0 h 302"/>
                <a:gd name="T2" fmla="*/ 0 w 1"/>
                <a:gd name="T3" fmla="*/ 301 h 302"/>
                <a:gd name="T4" fmla="*/ 0 w 1"/>
                <a:gd name="T5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02">
                  <a:moveTo>
                    <a:pt x="0" y="0"/>
                  </a:moveTo>
                  <a:lnTo>
                    <a:pt x="0" y="30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 46"/>
            <p:cNvSpPr>
              <a:spLocks/>
            </p:cNvSpPr>
            <p:nvPr/>
          </p:nvSpPr>
          <p:spPr bwMode="auto">
            <a:xfrm>
              <a:off x="3252" y="3519"/>
              <a:ext cx="1" cy="273"/>
            </a:xfrm>
            <a:custGeom>
              <a:avLst/>
              <a:gdLst>
                <a:gd name="T0" fmla="*/ 0 w 1"/>
                <a:gd name="T1" fmla="*/ 0 h 273"/>
                <a:gd name="T2" fmla="*/ 0 w 1"/>
                <a:gd name="T3" fmla="*/ 272 h 273"/>
                <a:gd name="T4" fmla="*/ 0 w 1"/>
                <a:gd name="T5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73">
                  <a:moveTo>
                    <a:pt x="0" y="0"/>
                  </a:moveTo>
                  <a:lnTo>
                    <a:pt x="0" y="27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47"/>
            <p:cNvSpPr>
              <a:spLocks/>
            </p:cNvSpPr>
            <p:nvPr/>
          </p:nvSpPr>
          <p:spPr bwMode="auto">
            <a:xfrm>
              <a:off x="4108" y="3519"/>
              <a:ext cx="1" cy="292"/>
            </a:xfrm>
            <a:custGeom>
              <a:avLst/>
              <a:gdLst>
                <a:gd name="T0" fmla="*/ 0 w 1"/>
                <a:gd name="T1" fmla="*/ 0 h 292"/>
                <a:gd name="T2" fmla="*/ 0 w 1"/>
                <a:gd name="T3" fmla="*/ 291 h 292"/>
                <a:gd name="T4" fmla="*/ 0 w 1"/>
                <a:gd name="T5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2">
                  <a:moveTo>
                    <a:pt x="0" y="0"/>
                  </a:moveTo>
                  <a:lnTo>
                    <a:pt x="0" y="29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48"/>
            <p:cNvSpPr>
              <a:spLocks/>
            </p:cNvSpPr>
            <p:nvPr/>
          </p:nvSpPr>
          <p:spPr bwMode="auto">
            <a:xfrm>
              <a:off x="4952" y="3519"/>
              <a:ext cx="1" cy="292"/>
            </a:xfrm>
            <a:custGeom>
              <a:avLst/>
              <a:gdLst>
                <a:gd name="T0" fmla="*/ 0 w 1"/>
                <a:gd name="T1" fmla="*/ 0 h 292"/>
                <a:gd name="T2" fmla="*/ 0 w 1"/>
                <a:gd name="T3" fmla="*/ 291 h 292"/>
                <a:gd name="T4" fmla="*/ 0 w 1"/>
                <a:gd name="T5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2">
                  <a:moveTo>
                    <a:pt x="0" y="0"/>
                  </a:moveTo>
                  <a:lnTo>
                    <a:pt x="0" y="29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49"/>
            <p:cNvSpPr>
              <a:spLocks/>
            </p:cNvSpPr>
            <p:nvPr/>
          </p:nvSpPr>
          <p:spPr bwMode="auto">
            <a:xfrm>
              <a:off x="2146" y="1940"/>
              <a:ext cx="254" cy="78"/>
            </a:xfrm>
            <a:custGeom>
              <a:avLst/>
              <a:gdLst>
                <a:gd name="T0" fmla="*/ 0 w 254"/>
                <a:gd name="T1" fmla="*/ 0 h 78"/>
                <a:gd name="T2" fmla="*/ 253 w 254"/>
                <a:gd name="T3" fmla="*/ 77 h 78"/>
                <a:gd name="T4" fmla="*/ 0 w 254"/>
                <a:gd name="T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4" h="78">
                  <a:moveTo>
                    <a:pt x="0" y="0"/>
                  </a:moveTo>
                  <a:lnTo>
                    <a:pt x="253" y="77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50"/>
            <p:cNvSpPr>
              <a:spLocks/>
            </p:cNvSpPr>
            <p:nvPr/>
          </p:nvSpPr>
          <p:spPr bwMode="auto">
            <a:xfrm>
              <a:off x="2299" y="1967"/>
              <a:ext cx="101" cy="51"/>
            </a:xfrm>
            <a:custGeom>
              <a:avLst/>
              <a:gdLst>
                <a:gd name="T0" fmla="*/ 15 w 101"/>
                <a:gd name="T1" fmla="*/ 0 h 51"/>
                <a:gd name="T2" fmla="*/ 100 w 101"/>
                <a:gd name="T3" fmla="*/ 50 h 51"/>
                <a:gd name="T4" fmla="*/ 0 w 101"/>
                <a:gd name="T5" fmla="*/ 45 h 51"/>
                <a:gd name="T6" fmla="*/ 15 w 101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" h="51">
                  <a:moveTo>
                    <a:pt x="15" y="0"/>
                  </a:moveTo>
                  <a:lnTo>
                    <a:pt x="100" y="50"/>
                  </a:lnTo>
                  <a:lnTo>
                    <a:pt x="0" y="45"/>
                  </a:lnTo>
                  <a:lnTo>
                    <a:pt x="15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Rectangle 51"/>
            <p:cNvSpPr>
              <a:spLocks noChangeArrowheads="1"/>
            </p:cNvSpPr>
            <p:nvPr/>
          </p:nvSpPr>
          <p:spPr bwMode="auto">
            <a:xfrm>
              <a:off x="381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10*</a:t>
              </a:r>
            </a:p>
          </p:txBody>
        </p:sp>
        <p:sp>
          <p:nvSpPr>
            <p:cNvPr id="154" name="Rectangle 52"/>
            <p:cNvSpPr>
              <a:spLocks noChangeArrowheads="1"/>
            </p:cNvSpPr>
            <p:nvPr/>
          </p:nvSpPr>
          <p:spPr bwMode="auto">
            <a:xfrm>
              <a:off x="721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15*</a:t>
              </a:r>
            </a:p>
          </p:txBody>
        </p:sp>
        <p:sp>
          <p:nvSpPr>
            <p:cNvPr id="155" name="Rectangle 53"/>
            <p:cNvSpPr>
              <a:spLocks noChangeArrowheads="1"/>
            </p:cNvSpPr>
            <p:nvPr/>
          </p:nvSpPr>
          <p:spPr bwMode="auto">
            <a:xfrm>
              <a:off x="1236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20*</a:t>
              </a:r>
            </a:p>
          </p:txBody>
        </p:sp>
        <p:sp>
          <p:nvSpPr>
            <p:cNvPr id="156" name="Rectangle 54"/>
            <p:cNvSpPr>
              <a:spLocks noChangeArrowheads="1"/>
            </p:cNvSpPr>
            <p:nvPr/>
          </p:nvSpPr>
          <p:spPr bwMode="auto">
            <a:xfrm>
              <a:off x="1594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27*</a:t>
              </a:r>
            </a:p>
          </p:txBody>
        </p:sp>
        <p:sp>
          <p:nvSpPr>
            <p:cNvPr id="157" name="Rectangle 55"/>
            <p:cNvSpPr>
              <a:spLocks noChangeArrowheads="1"/>
            </p:cNvSpPr>
            <p:nvPr/>
          </p:nvSpPr>
          <p:spPr bwMode="auto">
            <a:xfrm>
              <a:off x="2099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33*</a:t>
              </a:r>
            </a:p>
          </p:txBody>
        </p:sp>
        <p:sp>
          <p:nvSpPr>
            <p:cNvPr id="158" name="Rectangle 56"/>
            <p:cNvSpPr>
              <a:spLocks noChangeArrowheads="1"/>
            </p:cNvSpPr>
            <p:nvPr/>
          </p:nvSpPr>
          <p:spPr bwMode="auto">
            <a:xfrm>
              <a:off x="2429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37*</a:t>
              </a:r>
            </a:p>
          </p:txBody>
        </p:sp>
        <p:sp>
          <p:nvSpPr>
            <p:cNvPr id="159" name="Rectangle 57"/>
            <p:cNvSpPr>
              <a:spLocks noChangeArrowheads="1"/>
            </p:cNvSpPr>
            <p:nvPr/>
          </p:nvSpPr>
          <p:spPr bwMode="auto">
            <a:xfrm>
              <a:off x="2953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40*</a:t>
              </a:r>
            </a:p>
          </p:txBody>
        </p:sp>
        <p:sp>
          <p:nvSpPr>
            <p:cNvPr id="160" name="Rectangle 58"/>
            <p:cNvSpPr>
              <a:spLocks noChangeArrowheads="1"/>
            </p:cNvSpPr>
            <p:nvPr/>
          </p:nvSpPr>
          <p:spPr bwMode="auto">
            <a:xfrm>
              <a:off x="3284" y="355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46*</a:t>
              </a:r>
            </a:p>
          </p:txBody>
        </p:sp>
        <p:sp>
          <p:nvSpPr>
            <p:cNvPr id="161" name="Rectangle 59"/>
            <p:cNvSpPr>
              <a:spLocks noChangeArrowheads="1"/>
            </p:cNvSpPr>
            <p:nvPr/>
          </p:nvSpPr>
          <p:spPr bwMode="auto">
            <a:xfrm>
              <a:off x="3789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51*</a:t>
              </a:r>
            </a:p>
          </p:txBody>
        </p:sp>
        <p:sp>
          <p:nvSpPr>
            <p:cNvPr id="162" name="Rectangle 60"/>
            <p:cNvSpPr>
              <a:spLocks noChangeArrowheads="1"/>
            </p:cNvSpPr>
            <p:nvPr/>
          </p:nvSpPr>
          <p:spPr bwMode="auto">
            <a:xfrm>
              <a:off x="4158" y="355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55*</a:t>
              </a:r>
            </a:p>
          </p:txBody>
        </p:sp>
        <p:sp>
          <p:nvSpPr>
            <p:cNvPr id="163" name="Rectangle 61"/>
            <p:cNvSpPr>
              <a:spLocks noChangeArrowheads="1"/>
            </p:cNvSpPr>
            <p:nvPr/>
          </p:nvSpPr>
          <p:spPr bwMode="auto">
            <a:xfrm>
              <a:off x="4643" y="357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63*</a:t>
              </a:r>
            </a:p>
          </p:txBody>
        </p:sp>
        <p:sp>
          <p:nvSpPr>
            <p:cNvPr id="164" name="Rectangle 62"/>
            <p:cNvSpPr>
              <a:spLocks noChangeArrowheads="1"/>
            </p:cNvSpPr>
            <p:nvPr/>
          </p:nvSpPr>
          <p:spPr bwMode="auto">
            <a:xfrm>
              <a:off x="4993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97*</a:t>
              </a:r>
            </a:p>
          </p:txBody>
        </p:sp>
        <p:sp>
          <p:nvSpPr>
            <p:cNvPr id="165" name="Rectangle 63"/>
            <p:cNvSpPr>
              <a:spLocks noChangeArrowheads="1"/>
            </p:cNvSpPr>
            <p:nvPr/>
          </p:nvSpPr>
          <p:spPr bwMode="auto">
            <a:xfrm>
              <a:off x="1283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20</a:t>
              </a:r>
            </a:p>
          </p:txBody>
        </p:sp>
        <p:sp>
          <p:nvSpPr>
            <p:cNvPr id="166" name="Rectangle 64"/>
            <p:cNvSpPr>
              <a:spLocks noChangeArrowheads="1"/>
            </p:cNvSpPr>
            <p:nvPr/>
          </p:nvSpPr>
          <p:spPr bwMode="auto">
            <a:xfrm>
              <a:off x="1594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33</a:t>
              </a:r>
            </a:p>
          </p:txBody>
        </p:sp>
        <p:sp>
          <p:nvSpPr>
            <p:cNvPr id="167" name="Rectangle 65"/>
            <p:cNvSpPr>
              <a:spLocks noChangeArrowheads="1"/>
            </p:cNvSpPr>
            <p:nvPr/>
          </p:nvSpPr>
          <p:spPr bwMode="auto">
            <a:xfrm>
              <a:off x="3847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51</a:t>
              </a:r>
            </a:p>
          </p:txBody>
        </p:sp>
        <p:sp>
          <p:nvSpPr>
            <p:cNvPr id="168" name="Rectangle 66"/>
            <p:cNvSpPr>
              <a:spLocks noChangeArrowheads="1"/>
            </p:cNvSpPr>
            <p:nvPr/>
          </p:nvSpPr>
          <p:spPr bwMode="auto">
            <a:xfrm>
              <a:off x="4147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63</a:t>
              </a:r>
            </a:p>
          </p:txBody>
        </p:sp>
        <p:sp>
          <p:nvSpPr>
            <p:cNvPr id="169" name="Rectangle 67"/>
            <p:cNvSpPr>
              <a:spLocks noChangeArrowheads="1"/>
            </p:cNvSpPr>
            <p:nvPr/>
          </p:nvSpPr>
          <p:spPr bwMode="auto">
            <a:xfrm>
              <a:off x="2517" y="2080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40</a:t>
              </a:r>
            </a:p>
          </p:txBody>
        </p:sp>
        <p:sp>
          <p:nvSpPr>
            <p:cNvPr id="170" name="Rectangle 68"/>
            <p:cNvSpPr>
              <a:spLocks noChangeArrowheads="1"/>
            </p:cNvSpPr>
            <p:nvPr/>
          </p:nvSpPr>
          <p:spPr bwMode="auto">
            <a:xfrm>
              <a:off x="1671" y="1868"/>
              <a:ext cx="369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Root</a:t>
              </a:r>
            </a:p>
          </p:txBody>
        </p:sp>
      </p:grpSp>
      <p:cxnSp>
        <p:nvCxnSpPr>
          <p:cNvPr id="3" name="Straight Arrow Connector 2"/>
          <p:cNvCxnSpPr>
            <a:stCxn id="129" idx="0"/>
            <a:endCxn id="129" idx="1"/>
          </p:cNvCxnSpPr>
          <p:nvPr/>
        </p:nvCxnSpPr>
        <p:spPr>
          <a:xfrm flipH="1">
            <a:off x="3021013" y="4078575"/>
            <a:ext cx="911225" cy="5562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/>
          <p:cNvCxnSpPr/>
          <p:nvPr/>
        </p:nvCxnSpPr>
        <p:spPr>
          <a:xfrm>
            <a:off x="2468564" y="5020301"/>
            <a:ext cx="7937" cy="71096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463357" y="5597998"/>
            <a:ext cx="619124" cy="6426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93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ISAM: Inserting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69937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The appropriate page is determined as for a search, and the entry is inserted (with overflow pages added if necessary)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Insert </a:t>
            </a:r>
            <a:r>
              <a:rPr lang="en-US" sz="2600" dirty="0" smtClean="0">
                <a:solidFill>
                  <a:srgbClr val="FF0000"/>
                </a:solidFill>
              </a:rPr>
              <a:t>23*</a:t>
            </a:r>
            <a:endParaRPr lang="en-US" sz="2600" dirty="0">
              <a:solidFill>
                <a:srgbClr val="FF0000"/>
              </a:solidFill>
            </a:endParaRPr>
          </a:p>
        </p:txBody>
      </p:sp>
      <p:grpSp>
        <p:nvGrpSpPr>
          <p:cNvPr id="107" name="Group 69"/>
          <p:cNvGrpSpPr>
            <a:grpSpLocks/>
          </p:cNvGrpSpPr>
          <p:nvPr/>
        </p:nvGrpSpPr>
        <p:grpSpPr bwMode="auto">
          <a:xfrm>
            <a:off x="1022350" y="3352800"/>
            <a:ext cx="7893050" cy="2368322"/>
            <a:chOff x="351" y="1868"/>
            <a:chExt cx="4972" cy="1953"/>
          </a:xfrm>
        </p:grpSpPr>
        <p:sp>
          <p:nvSpPr>
            <p:cNvPr id="108" name="Freeform 6"/>
            <p:cNvSpPr>
              <a:spLocks/>
            </p:cNvSpPr>
            <p:nvPr/>
          </p:nvSpPr>
          <p:spPr bwMode="auto">
            <a:xfrm>
              <a:off x="351" y="3509"/>
              <a:ext cx="699" cy="312"/>
            </a:xfrm>
            <a:custGeom>
              <a:avLst/>
              <a:gdLst>
                <a:gd name="T0" fmla="*/ 0 w 699"/>
                <a:gd name="T1" fmla="*/ 311 h 312"/>
                <a:gd name="T2" fmla="*/ 0 w 699"/>
                <a:gd name="T3" fmla="*/ 0 h 312"/>
                <a:gd name="T4" fmla="*/ 698 w 699"/>
                <a:gd name="T5" fmla="*/ 0 h 312"/>
                <a:gd name="T6" fmla="*/ 698 w 699"/>
                <a:gd name="T7" fmla="*/ 311 h 312"/>
                <a:gd name="T8" fmla="*/ 0 w 699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9" h="312">
                  <a:moveTo>
                    <a:pt x="0" y="311"/>
                  </a:moveTo>
                  <a:lnTo>
                    <a:pt x="0" y="0"/>
                  </a:lnTo>
                  <a:lnTo>
                    <a:pt x="698" y="0"/>
                  </a:lnTo>
                  <a:lnTo>
                    <a:pt x="698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7"/>
            <p:cNvSpPr>
              <a:spLocks/>
            </p:cNvSpPr>
            <p:nvPr/>
          </p:nvSpPr>
          <p:spPr bwMode="auto">
            <a:xfrm>
              <a:off x="1204" y="3509"/>
              <a:ext cx="700" cy="312"/>
            </a:xfrm>
            <a:custGeom>
              <a:avLst/>
              <a:gdLst>
                <a:gd name="T0" fmla="*/ 0 w 700"/>
                <a:gd name="T1" fmla="*/ 311 h 312"/>
                <a:gd name="T2" fmla="*/ 0 w 700"/>
                <a:gd name="T3" fmla="*/ 0 h 312"/>
                <a:gd name="T4" fmla="*/ 699 w 700"/>
                <a:gd name="T5" fmla="*/ 0 h 312"/>
                <a:gd name="T6" fmla="*/ 699 w 700"/>
                <a:gd name="T7" fmla="*/ 311 h 312"/>
                <a:gd name="T8" fmla="*/ 0 w 700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2">
                  <a:moveTo>
                    <a:pt x="0" y="311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8"/>
            <p:cNvSpPr>
              <a:spLocks/>
            </p:cNvSpPr>
            <p:nvPr/>
          </p:nvSpPr>
          <p:spPr bwMode="auto">
            <a:xfrm>
              <a:off x="2059" y="3509"/>
              <a:ext cx="700" cy="312"/>
            </a:xfrm>
            <a:custGeom>
              <a:avLst/>
              <a:gdLst>
                <a:gd name="T0" fmla="*/ 0 w 700"/>
                <a:gd name="T1" fmla="*/ 311 h 312"/>
                <a:gd name="T2" fmla="*/ 0 w 700"/>
                <a:gd name="T3" fmla="*/ 0 h 312"/>
                <a:gd name="T4" fmla="*/ 699 w 700"/>
                <a:gd name="T5" fmla="*/ 0 h 312"/>
                <a:gd name="T6" fmla="*/ 699 w 700"/>
                <a:gd name="T7" fmla="*/ 311 h 312"/>
                <a:gd name="T8" fmla="*/ 0 w 700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2">
                  <a:moveTo>
                    <a:pt x="0" y="311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9"/>
            <p:cNvSpPr>
              <a:spLocks/>
            </p:cNvSpPr>
            <p:nvPr/>
          </p:nvSpPr>
          <p:spPr bwMode="auto">
            <a:xfrm>
              <a:off x="2914" y="3509"/>
              <a:ext cx="699" cy="312"/>
            </a:xfrm>
            <a:custGeom>
              <a:avLst/>
              <a:gdLst>
                <a:gd name="T0" fmla="*/ 0 w 699"/>
                <a:gd name="T1" fmla="*/ 311 h 312"/>
                <a:gd name="T2" fmla="*/ 0 w 699"/>
                <a:gd name="T3" fmla="*/ 0 h 312"/>
                <a:gd name="T4" fmla="*/ 698 w 699"/>
                <a:gd name="T5" fmla="*/ 0 h 312"/>
                <a:gd name="T6" fmla="*/ 698 w 699"/>
                <a:gd name="T7" fmla="*/ 311 h 312"/>
                <a:gd name="T8" fmla="*/ 0 w 699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9" h="312">
                  <a:moveTo>
                    <a:pt x="0" y="311"/>
                  </a:moveTo>
                  <a:lnTo>
                    <a:pt x="0" y="0"/>
                  </a:lnTo>
                  <a:lnTo>
                    <a:pt x="698" y="0"/>
                  </a:lnTo>
                  <a:lnTo>
                    <a:pt x="698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0"/>
            <p:cNvSpPr>
              <a:spLocks/>
            </p:cNvSpPr>
            <p:nvPr/>
          </p:nvSpPr>
          <p:spPr bwMode="auto">
            <a:xfrm>
              <a:off x="3767" y="3509"/>
              <a:ext cx="701" cy="312"/>
            </a:xfrm>
            <a:custGeom>
              <a:avLst/>
              <a:gdLst>
                <a:gd name="T0" fmla="*/ 0 w 701"/>
                <a:gd name="T1" fmla="*/ 311 h 312"/>
                <a:gd name="T2" fmla="*/ 0 w 701"/>
                <a:gd name="T3" fmla="*/ 0 h 312"/>
                <a:gd name="T4" fmla="*/ 700 w 701"/>
                <a:gd name="T5" fmla="*/ 0 h 312"/>
                <a:gd name="T6" fmla="*/ 700 w 701"/>
                <a:gd name="T7" fmla="*/ 311 h 312"/>
                <a:gd name="T8" fmla="*/ 0 w 701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1" h="312">
                  <a:moveTo>
                    <a:pt x="0" y="311"/>
                  </a:moveTo>
                  <a:lnTo>
                    <a:pt x="0" y="0"/>
                  </a:lnTo>
                  <a:lnTo>
                    <a:pt x="700" y="0"/>
                  </a:lnTo>
                  <a:lnTo>
                    <a:pt x="700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1"/>
            <p:cNvSpPr>
              <a:spLocks/>
            </p:cNvSpPr>
            <p:nvPr/>
          </p:nvSpPr>
          <p:spPr bwMode="auto">
            <a:xfrm>
              <a:off x="4621" y="3509"/>
              <a:ext cx="702" cy="312"/>
            </a:xfrm>
            <a:custGeom>
              <a:avLst/>
              <a:gdLst>
                <a:gd name="T0" fmla="*/ 0 w 702"/>
                <a:gd name="T1" fmla="*/ 311 h 312"/>
                <a:gd name="T2" fmla="*/ 0 w 702"/>
                <a:gd name="T3" fmla="*/ 0 h 312"/>
                <a:gd name="T4" fmla="*/ 701 w 702"/>
                <a:gd name="T5" fmla="*/ 0 h 312"/>
                <a:gd name="T6" fmla="*/ 701 w 702"/>
                <a:gd name="T7" fmla="*/ 311 h 312"/>
                <a:gd name="T8" fmla="*/ 0 w 702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2" h="312">
                  <a:moveTo>
                    <a:pt x="0" y="311"/>
                  </a:moveTo>
                  <a:lnTo>
                    <a:pt x="0" y="0"/>
                  </a:lnTo>
                  <a:lnTo>
                    <a:pt x="701" y="0"/>
                  </a:lnTo>
                  <a:lnTo>
                    <a:pt x="701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12"/>
            <p:cNvSpPr>
              <a:spLocks/>
            </p:cNvSpPr>
            <p:nvPr/>
          </p:nvSpPr>
          <p:spPr bwMode="auto">
            <a:xfrm>
              <a:off x="1204" y="2735"/>
              <a:ext cx="700" cy="311"/>
            </a:xfrm>
            <a:custGeom>
              <a:avLst/>
              <a:gdLst>
                <a:gd name="T0" fmla="*/ 0 w 700"/>
                <a:gd name="T1" fmla="*/ 310 h 311"/>
                <a:gd name="T2" fmla="*/ 0 w 700"/>
                <a:gd name="T3" fmla="*/ 0 h 311"/>
                <a:gd name="T4" fmla="*/ 699 w 700"/>
                <a:gd name="T5" fmla="*/ 0 h 311"/>
                <a:gd name="T6" fmla="*/ 699 w 700"/>
                <a:gd name="T7" fmla="*/ 310 h 311"/>
                <a:gd name="T8" fmla="*/ 0 w 700"/>
                <a:gd name="T9" fmla="*/ 31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1">
                  <a:moveTo>
                    <a:pt x="0" y="310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0"/>
                  </a:lnTo>
                  <a:lnTo>
                    <a:pt x="0" y="31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13"/>
            <p:cNvSpPr>
              <a:spLocks/>
            </p:cNvSpPr>
            <p:nvPr/>
          </p:nvSpPr>
          <p:spPr bwMode="auto">
            <a:xfrm>
              <a:off x="1284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14"/>
            <p:cNvSpPr>
              <a:spLocks/>
            </p:cNvSpPr>
            <p:nvPr/>
          </p:nvSpPr>
          <p:spPr bwMode="auto">
            <a:xfrm>
              <a:off x="1515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15"/>
            <p:cNvSpPr>
              <a:spLocks/>
            </p:cNvSpPr>
            <p:nvPr/>
          </p:nvSpPr>
          <p:spPr bwMode="auto">
            <a:xfrm>
              <a:off x="1593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16"/>
            <p:cNvSpPr>
              <a:spLocks/>
            </p:cNvSpPr>
            <p:nvPr/>
          </p:nvSpPr>
          <p:spPr bwMode="auto">
            <a:xfrm>
              <a:off x="1827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17"/>
            <p:cNvSpPr>
              <a:spLocks/>
            </p:cNvSpPr>
            <p:nvPr/>
          </p:nvSpPr>
          <p:spPr bwMode="auto">
            <a:xfrm>
              <a:off x="3767" y="2735"/>
              <a:ext cx="701" cy="311"/>
            </a:xfrm>
            <a:custGeom>
              <a:avLst/>
              <a:gdLst>
                <a:gd name="T0" fmla="*/ 0 w 701"/>
                <a:gd name="T1" fmla="*/ 310 h 311"/>
                <a:gd name="T2" fmla="*/ 0 w 701"/>
                <a:gd name="T3" fmla="*/ 0 h 311"/>
                <a:gd name="T4" fmla="*/ 700 w 701"/>
                <a:gd name="T5" fmla="*/ 0 h 311"/>
                <a:gd name="T6" fmla="*/ 700 w 701"/>
                <a:gd name="T7" fmla="*/ 310 h 311"/>
                <a:gd name="T8" fmla="*/ 0 w 701"/>
                <a:gd name="T9" fmla="*/ 31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1" h="311">
                  <a:moveTo>
                    <a:pt x="0" y="310"/>
                  </a:moveTo>
                  <a:lnTo>
                    <a:pt x="0" y="0"/>
                  </a:lnTo>
                  <a:lnTo>
                    <a:pt x="700" y="0"/>
                  </a:lnTo>
                  <a:lnTo>
                    <a:pt x="700" y="310"/>
                  </a:lnTo>
                  <a:lnTo>
                    <a:pt x="0" y="31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18"/>
            <p:cNvSpPr>
              <a:spLocks/>
            </p:cNvSpPr>
            <p:nvPr/>
          </p:nvSpPr>
          <p:spPr bwMode="auto">
            <a:xfrm>
              <a:off x="3846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19"/>
            <p:cNvSpPr>
              <a:spLocks/>
            </p:cNvSpPr>
            <p:nvPr/>
          </p:nvSpPr>
          <p:spPr bwMode="auto">
            <a:xfrm>
              <a:off x="4078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20"/>
            <p:cNvSpPr>
              <a:spLocks/>
            </p:cNvSpPr>
            <p:nvPr/>
          </p:nvSpPr>
          <p:spPr bwMode="auto">
            <a:xfrm>
              <a:off x="4156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21"/>
            <p:cNvSpPr>
              <a:spLocks/>
            </p:cNvSpPr>
            <p:nvPr/>
          </p:nvSpPr>
          <p:spPr bwMode="auto">
            <a:xfrm>
              <a:off x="4389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22"/>
            <p:cNvSpPr>
              <a:spLocks/>
            </p:cNvSpPr>
            <p:nvPr/>
          </p:nvSpPr>
          <p:spPr bwMode="auto">
            <a:xfrm>
              <a:off x="2447" y="2037"/>
              <a:ext cx="700" cy="312"/>
            </a:xfrm>
            <a:custGeom>
              <a:avLst/>
              <a:gdLst>
                <a:gd name="T0" fmla="*/ 0 w 700"/>
                <a:gd name="T1" fmla="*/ 311 h 312"/>
                <a:gd name="T2" fmla="*/ 0 w 700"/>
                <a:gd name="T3" fmla="*/ 0 h 312"/>
                <a:gd name="T4" fmla="*/ 699 w 700"/>
                <a:gd name="T5" fmla="*/ 0 h 312"/>
                <a:gd name="T6" fmla="*/ 699 w 700"/>
                <a:gd name="T7" fmla="*/ 311 h 312"/>
                <a:gd name="T8" fmla="*/ 0 w 700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2">
                  <a:moveTo>
                    <a:pt x="0" y="311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23"/>
            <p:cNvSpPr>
              <a:spLocks/>
            </p:cNvSpPr>
            <p:nvPr/>
          </p:nvSpPr>
          <p:spPr bwMode="auto">
            <a:xfrm>
              <a:off x="2525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24"/>
            <p:cNvSpPr>
              <a:spLocks/>
            </p:cNvSpPr>
            <p:nvPr/>
          </p:nvSpPr>
          <p:spPr bwMode="auto">
            <a:xfrm>
              <a:off x="2758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25"/>
            <p:cNvSpPr>
              <a:spLocks/>
            </p:cNvSpPr>
            <p:nvPr/>
          </p:nvSpPr>
          <p:spPr bwMode="auto">
            <a:xfrm>
              <a:off x="2836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26"/>
            <p:cNvSpPr>
              <a:spLocks/>
            </p:cNvSpPr>
            <p:nvPr/>
          </p:nvSpPr>
          <p:spPr bwMode="auto">
            <a:xfrm>
              <a:off x="3069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27"/>
            <p:cNvSpPr>
              <a:spLocks/>
            </p:cNvSpPr>
            <p:nvPr/>
          </p:nvSpPr>
          <p:spPr bwMode="auto">
            <a:xfrm>
              <a:off x="1903" y="2280"/>
              <a:ext cx="575" cy="418"/>
            </a:xfrm>
            <a:custGeom>
              <a:avLst/>
              <a:gdLst>
                <a:gd name="T0" fmla="*/ 574 w 575"/>
                <a:gd name="T1" fmla="*/ 0 h 418"/>
                <a:gd name="T2" fmla="*/ 0 w 575"/>
                <a:gd name="T3" fmla="*/ 417 h 418"/>
                <a:gd name="T4" fmla="*/ 574 w 575"/>
                <a:gd name="T5" fmla="*/ 0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5" h="418">
                  <a:moveTo>
                    <a:pt x="574" y="0"/>
                  </a:moveTo>
                  <a:lnTo>
                    <a:pt x="0" y="417"/>
                  </a:lnTo>
                  <a:lnTo>
                    <a:pt x="574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28"/>
            <p:cNvSpPr>
              <a:spLocks/>
            </p:cNvSpPr>
            <p:nvPr/>
          </p:nvSpPr>
          <p:spPr bwMode="auto">
            <a:xfrm>
              <a:off x="1903" y="2620"/>
              <a:ext cx="94" cy="78"/>
            </a:xfrm>
            <a:custGeom>
              <a:avLst/>
              <a:gdLst>
                <a:gd name="T0" fmla="*/ 93 w 94"/>
                <a:gd name="T1" fmla="*/ 39 h 78"/>
                <a:gd name="T2" fmla="*/ 0 w 94"/>
                <a:gd name="T3" fmla="*/ 77 h 78"/>
                <a:gd name="T4" fmla="*/ 65 w 94"/>
                <a:gd name="T5" fmla="*/ 0 h 78"/>
                <a:gd name="T6" fmla="*/ 93 w 94"/>
                <a:gd name="T7" fmla="*/ 3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4" h="78">
                  <a:moveTo>
                    <a:pt x="93" y="39"/>
                  </a:moveTo>
                  <a:lnTo>
                    <a:pt x="0" y="77"/>
                  </a:lnTo>
                  <a:lnTo>
                    <a:pt x="65" y="0"/>
                  </a:lnTo>
                  <a:lnTo>
                    <a:pt x="93" y="39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29"/>
            <p:cNvSpPr>
              <a:spLocks/>
            </p:cNvSpPr>
            <p:nvPr/>
          </p:nvSpPr>
          <p:spPr bwMode="auto">
            <a:xfrm>
              <a:off x="2788" y="2260"/>
              <a:ext cx="971" cy="447"/>
            </a:xfrm>
            <a:custGeom>
              <a:avLst/>
              <a:gdLst>
                <a:gd name="T0" fmla="*/ 0 w 971"/>
                <a:gd name="T1" fmla="*/ 0 h 447"/>
                <a:gd name="T2" fmla="*/ 970 w 971"/>
                <a:gd name="T3" fmla="*/ 446 h 447"/>
                <a:gd name="T4" fmla="*/ 0 w 971"/>
                <a:gd name="T5" fmla="*/ 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71" h="447">
                  <a:moveTo>
                    <a:pt x="0" y="0"/>
                  </a:moveTo>
                  <a:lnTo>
                    <a:pt x="970" y="446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30"/>
            <p:cNvSpPr>
              <a:spLocks/>
            </p:cNvSpPr>
            <p:nvPr/>
          </p:nvSpPr>
          <p:spPr bwMode="auto">
            <a:xfrm>
              <a:off x="3659" y="2644"/>
              <a:ext cx="100" cy="63"/>
            </a:xfrm>
            <a:custGeom>
              <a:avLst/>
              <a:gdLst>
                <a:gd name="T0" fmla="*/ 21 w 100"/>
                <a:gd name="T1" fmla="*/ 0 h 63"/>
                <a:gd name="T2" fmla="*/ 99 w 100"/>
                <a:gd name="T3" fmla="*/ 62 h 63"/>
                <a:gd name="T4" fmla="*/ 0 w 100"/>
                <a:gd name="T5" fmla="*/ 44 h 63"/>
                <a:gd name="T6" fmla="*/ 21 w 100"/>
                <a:gd name="T7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" h="63">
                  <a:moveTo>
                    <a:pt x="21" y="0"/>
                  </a:moveTo>
                  <a:lnTo>
                    <a:pt x="99" y="62"/>
                  </a:lnTo>
                  <a:lnTo>
                    <a:pt x="0" y="44"/>
                  </a:lnTo>
                  <a:lnTo>
                    <a:pt x="21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31"/>
            <p:cNvSpPr>
              <a:spLocks/>
            </p:cNvSpPr>
            <p:nvPr/>
          </p:nvSpPr>
          <p:spPr bwMode="auto">
            <a:xfrm>
              <a:off x="972" y="2996"/>
              <a:ext cx="272" cy="486"/>
            </a:xfrm>
            <a:custGeom>
              <a:avLst/>
              <a:gdLst>
                <a:gd name="T0" fmla="*/ 271 w 272"/>
                <a:gd name="T1" fmla="*/ 0 h 486"/>
                <a:gd name="T2" fmla="*/ 0 w 272"/>
                <a:gd name="T3" fmla="*/ 485 h 486"/>
                <a:gd name="T4" fmla="*/ 271 w 272"/>
                <a:gd name="T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2" h="486">
                  <a:moveTo>
                    <a:pt x="271" y="0"/>
                  </a:moveTo>
                  <a:lnTo>
                    <a:pt x="0" y="485"/>
                  </a:lnTo>
                  <a:lnTo>
                    <a:pt x="271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32"/>
            <p:cNvSpPr>
              <a:spLocks/>
            </p:cNvSpPr>
            <p:nvPr/>
          </p:nvSpPr>
          <p:spPr bwMode="auto">
            <a:xfrm>
              <a:off x="972" y="3384"/>
              <a:ext cx="69" cy="98"/>
            </a:xfrm>
            <a:custGeom>
              <a:avLst/>
              <a:gdLst>
                <a:gd name="T0" fmla="*/ 68 w 69"/>
                <a:gd name="T1" fmla="*/ 25 h 98"/>
                <a:gd name="T2" fmla="*/ 0 w 69"/>
                <a:gd name="T3" fmla="*/ 97 h 98"/>
                <a:gd name="T4" fmla="*/ 26 w 69"/>
                <a:gd name="T5" fmla="*/ 0 h 98"/>
                <a:gd name="T6" fmla="*/ 68 w 69"/>
                <a:gd name="T7" fmla="*/ 25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98">
                  <a:moveTo>
                    <a:pt x="68" y="25"/>
                  </a:moveTo>
                  <a:lnTo>
                    <a:pt x="0" y="97"/>
                  </a:lnTo>
                  <a:lnTo>
                    <a:pt x="26" y="0"/>
                  </a:lnTo>
                  <a:lnTo>
                    <a:pt x="68" y="25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33"/>
            <p:cNvSpPr>
              <a:spLocks/>
            </p:cNvSpPr>
            <p:nvPr/>
          </p:nvSpPr>
          <p:spPr bwMode="auto">
            <a:xfrm>
              <a:off x="1554" y="2977"/>
              <a:ext cx="1" cy="505"/>
            </a:xfrm>
            <a:custGeom>
              <a:avLst/>
              <a:gdLst>
                <a:gd name="T0" fmla="*/ 0 w 1"/>
                <a:gd name="T1" fmla="*/ 0 h 505"/>
                <a:gd name="T2" fmla="*/ 0 w 1"/>
                <a:gd name="T3" fmla="*/ 504 h 505"/>
                <a:gd name="T4" fmla="*/ 0 w 1"/>
                <a:gd name="T5" fmla="*/ 0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05">
                  <a:moveTo>
                    <a:pt x="0" y="0"/>
                  </a:moveTo>
                  <a:lnTo>
                    <a:pt x="0" y="504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34"/>
            <p:cNvSpPr>
              <a:spLocks/>
            </p:cNvSpPr>
            <p:nvPr/>
          </p:nvSpPr>
          <p:spPr bwMode="auto">
            <a:xfrm>
              <a:off x="1530" y="3384"/>
              <a:ext cx="50" cy="98"/>
            </a:xfrm>
            <a:custGeom>
              <a:avLst/>
              <a:gdLst>
                <a:gd name="T0" fmla="*/ 49 w 50"/>
                <a:gd name="T1" fmla="*/ 0 h 98"/>
                <a:gd name="T2" fmla="*/ 24 w 50"/>
                <a:gd name="T3" fmla="*/ 97 h 98"/>
                <a:gd name="T4" fmla="*/ 0 w 50"/>
                <a:gd name="T5" fmla="*/ 0 h 98"/>
                <a:gd name="T6" fmla="*/ 49 w 50"/>
                <a:gd name="T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98">
                  <a:moveTo>
                    <a:pt x="49" y="0"/>
                  </a:moveTo>
                  <a:lnTo>
                    <a:pt x="24" y="97"/>
                  </a:lnTo>
                  <a:lnTo>
                    <a:pt x="0" y="0"/>
                  </a:lnTo>
                  <a:lnTo>
                    <a:pt x="49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35"/>
            <p:cNvSpPr>
              <a:spLocks/>
            </p:cNvSpPr>
            <p:nvPr/>
          </p:nvSpPr>
          <p:spPr bwMode="auto">
            <a:xfrm>
              <a:off x="1865" y="2958"/>
              <a:ext cx="214" cy="514"/>
            </a:xfrm>
            <a:custGeom>
              <a:avLst/>
              <a:gdLst>
                <a:gd name="T0" fmla="*/ 0 w 214"/>
                <a:gd name="T1" fmla="*/ 0 h 514"/>
                <a:gd name="T2" fmla="*/ 213 w 214"/>
                <a:gd name="T3" fmla="*/ 513 h 514"/>
                <a:gd name="T4" fmla="*/ 0 w 214"/>
                <a:gd name="T5" fmla="*/ 0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4" h="514">
                  <a:moveTo>
                    <a:pt x="0" y="0"/>
                  </a:moveTo>
                  <a:lnTo>
                    <a:pt x="213" y="513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36"/>
            <p:cNvSpPr>
              <a:spLocks/>
            </p:cNvSpPr>
            <p:nvPr/>
          </p:nvSpPr>
          <p:spPr bwMode="auto">
            <a:xfrm>
              <a:off x="2019" y="3372"/>
              <a:ext cx="60" cy="100"/>
            </a:xfrm>
            <a:custGeom>
              <a:avLst/>
              <a:gdLst>
                <a:gd name="T0" fmla="*/ 45 w 60"/>
                <a:gd name="T1" fmla="*/ 0 h 100"/>
                <a:gd name="T2" fmla="*/ 59 w 60"/>
                <a:gd name="T3" fmla="*/ 99 h 100"/>
                <a:gd name="T4" fmla="*/ 0 w 60"/>
                <a:gd name="T5" fmla="*/ 18 h 100"/>
                <a:gd name="T6" fmla="*/ 45 w 60"/>
                <a:gd name="T7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" h="100">
                  <a:moveTo>
                    <a:pt x="45" y="0"/>
                  </a:moveTo>
                  <a:lnTo>
                    <a:pt x="59" y="99"/>
                  </a:lnTo>
                  <a:lnTo>
                    <a:pt x="0" y="18"/>
                  </a:lnTo>
                  <a:lnTo>
                    <a:pt x="45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37"/>
            <p:cNvSpPr>
              <a:spLocks/>
            </p:cNvSpPr>
            <p:nvPr/>
          </p:nvSpPr>
          <p:spPr bwMode="auto">
            <a:xfrm>
              <a:off x="3554" y="2967"/>
              <a:ext cx="254" cy="496"/>
            </a:xfrm>
            <a:custGeom>
              <a:avLst/>
              <a:gdLst>
                <a:gd name="T0" fmla="*/ 253 w 254"/>
                <a:gd name="T1" fmla="*/ 0 h 496"/>
                <a:gd name="T2" fmla="*/ 0 w 254"/>
                <a:gd name="T3" fmla="*/ 495 h 496"/>
                <a:gd name="T4" fmla="*/ 253 w 254"/>
                <a:gd name="T5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4" h="496">
                  <a:moveTo>
                    <a:pt x="253" y="0"/>
                  </a:moveTo>
                  <a:lnTo>
                    <a:pt x="0" y="495"/>
                  </a:lnTo>
                  <a:lnTo>
                    <a:pt x="253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38"/>
            <p:cNvSpPr>
              <a:spLocks/>
            </p:cNvSpPr>
            <p:nvPr/>
          </p:nvSpPr>
          <p:spPr bwMode="auto">
            <a:xfrm>
              <a:off x="3554" y="3365"/>
              <a:ext cx="67" cy="98"/>
            </a:xfrm>
            <a:custGeom>
              <a:avLst/>
              <a:gdLst>
                <a:gd name="T0" fmla="*/ 66 w 67"/>
                <a:gd name="T1" fmla="*/ 21 h 98"/>
                <a:gd name="T2" fmla="*/ 0 w 67"/>
                <a:gd name="T3" fmla="*/ 97 h 98"/>
                <a:gd name="T4" fmla="*/ 23 w 67"/>
                <a:gd name="T5" fmla="*/ 0 h 98"/>
                <a:gd name="T6" fmla="*/ 66 w 67"/>
                <a:gd name="T7" fmla="*/ 21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98">
                  <a:moveTo>
                    <a:pt x="66" y="21"/>
                  </a:moveTo>
                  <a:lnTo>
                    <a:pt x="0" y="97"/>
                  </a:lnTo>
                  <a:lnTo>
                    <a:pt x="23" y="0"/>
                  </a:lnTo>
                  <a:lnTo>
                    <a:pt x="66" y="2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39"/>
            <p:cNvSpPr>
              <a:spLocks/>
            </p:cNvSpPr>
            <p:nvPr/>
          </p:nvSpPr>
          <p:spPr bwMode="auto">
            <a:xfrm>
              <a:off x="4117" y="2977"/>
              <a:ext cx="1" cy="476"/>
            </a:xfrm>
            <a:custGeom>
              <a:avLst/>
              <a:gdLst>
                <a:gd name="T0" fmla="*/ 0 w 1"/>
                <a:gd name="T1" fmla="*/ 0 h 476"/>
                <a:gd name="T2" fmla="*/ 0 w 1"/>
                <a:gd name="T3" fmla="*/ 475 h 476"/>
                <a:gd name="T4" fmla="*/ 0 w 1"/>
                <a:gd name="T5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76">
                  <a:moveTo>
                    <a:pt x="0" y="0"/>
                  </a:moveTo>
                  <a:lnTo>
                    <a:pt x="0" y="475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40"/>
            <p:cNvSpPr>
              <a:spLocks/>
            </p:cNvSpPr>
            <p:nvPr/>
          </p:nvSpPr>
          <p:spPr bwMode="auto">
            <a:xfrm>
              <a:off x="4093" y="3355"/>
              <a:ext cx="49" cy="98"/>
            </a:xfrm>
            <a:custGeom>
              <a:avLst/>
              <a:gdLst>
                <a:gd name="T0" fmla="*/ 48 w 49"/>
                <a:gd name="T1" fmla="*/ 0 h 98"/>
                <a:gd name="T2" fmla="*/ 24 w 49"/>
                <a:gd name="T3" fmla="*/ 97 h 98"/>
                <a:gd name="T4" fmla="*/ 0 w 49"/>
                <a:gd name="T5" fmla="*/ 0 h 98"/>
                <a:gd name="T6" fmla="*/ 48 w 49"/>
                <a:gd name="T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98">
                  <a:moveTo>
                    <a:pt x="48" y="0"/>
                  </a:moveTo>
                  <a:lnTo>
                    <a:pt x="24" y="97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41"/>
            <p:cNvSpPr>
              <a:spLocks/>
            </p:cNvSpPr>
            <p:nvPr/>
          </p:nvSpPr>
          <p:spPr bwMode="auto">
            <a:xfrm>
              <a:off x="4428" y="2986"/>
              <a:ext cx="253" cy="477"/>
            </a:xfrm>
            <a:custGeom>
              <a:avLst/>
              <a:gdLst>
                <a:gd name="T0" fmla="*/ 0 w 253"/>
                <a:gd name="T1" fmla="*/ 0 h 477"/>
                <a:gd name="T2" fmla="*/ 252 w 253"/>
                <a:gd name="T3" fmla="*/ 476 h 477"/>
                <a:gd name="T4" fmla="*/ 0 w 253"/>
                <a:gd name="T5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3" h="477">
                  <a:moveTo>
                    <a:pt x="0" y="0"/>
                  </a:moveTo>
                  <a:lnTo>
                    <a:pt x="252" y="476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42"/>
            <p:cNvSpPr>
              <a:spLocks/>
            </p:cNvSpPr>
            <p:nvPr/>
          </p:nvSpPr>
          <p:spPr bwMode="auto">
            <a:xfrm>
              <a:off x="4614" y="3365"/>
              <a:ext cx="67" cy="98"/>
            </a:xfrm>
            <a:custGeom>
              <a:avLst/>
              <a:gdLst>
                <a:gd name="T0" fmla="*/ 42 w 67"/>
                <a:gd name="T1" fmla="*/ 0 h 98"/>
                <a:gd name="T2" fmla="*/ 66 w 67"/>
                <a:gd name="T3" fmla="*/ 97 h 98"/>
                <a:gd name="T4" fmla="*/ 0 w 67"/>
                <a:gd name="T5" fmla="*/ 22 h 98"/>
                <a:gd name="T6" fmla="*/ 42 w 67"/>
                <a:gd name="T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98">
                  <a:moveTo>
                    <a:pt x="42" y="0"/>
                  </a:moveTo>
                  <a:lnTo>
                    <a:pt x="66" y="97"/>
                  </a:lnTo>
                  <a:lnTo>
                    <a:pt x="0" y="22"/>
                  </a:lnTo>
                  <a:lnTo>
                    <a:pt x="42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43"/>
            <p:cNvSpPr>
              <a:spLocks/>
            </p:cNvSpPr>
            <p:nvPr/>
          </p:nvSpPr>
          <p:spPr bwMode="auto">
            <a:xfrm>
              <a:off x="700" y="3519"/>
              <a:ext cx="1" cy="283"/>
            </a:xfrm>
            <a:custGeom>
              <a:avLst/>
              <a:gdLst>
                <a:gd name="T0" fmla="*/ 0 w 1"/>
                <a:gd name="T1" fmla="*/ 0 h 283"/>
                <a:gd name="T2" fmla="*/ 0 w 1"/>
                <a:gd name="T3" fmla="*/ 282 h 283"/>
                <a:gd name="T4" fmla="*/ 0 w 1"/>
                <a:gd name="T5" fmla="*/ 0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83">
                  <a:moveTo>
                    <a:pt x="0" y="0"/>
                  </a:moveTo>
                  <a:lnTo>
                    <a:pt x="0" y="28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44"/>
            <p:cNvSpPr>
              <a:spLocks/>
            </p:cNvSpPr>
            <p:nvPr/>
          </p:nvSpPr>
          <p:spPr bwMode="auto">
            <a:xfrm>
              <a:off x="1565" y="3509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45"/>
            <p:cNvSpPr>
              <a:spLocks/>
            </p:cNvSpPr>
            <p:nvPr/>
          </p:nvSpPr>
          <p:spPr bwMode="auto">
            <a:xfrm>
              <a:off x="2409" y="3509"/>
              <a:ext cx="1" cy="302"/>
            </a:xfrm>
            <a:custGeom>
              <a:avLst/>
              <a:gdLst>
                <a:gd name="T0" fmla="*/ 0 w 1"/>
                <a:gd name="T1" fmla="*/ 0 h 302"/>
                <a:gd name="T2" fmla="*/ 0 w 1"/>
                <a:gd name="T3" fmla="*/ 301 h 302"/>
                <a:gd name="T4" fmla="*/ 0 w 1"/>
                <a:gd name="T5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02">
                  <a:moveTo>
                    <a:pt x="0" y="0"/>
                  </a:moveTo>
                  <a:lnTo>
                    <a:pt x="0" y="30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 46"/>
            <p:cNvSpPr>
              <a:spLocks/>
            </p:cNvSpPr>
            <p:nvPr/>
          </p:nvSpPr>
          <p:spPr bwMode="auto">
            <a:xfrm>
              <a:off x="3252" y="3519"/>
              <a:ext cx="1" cy="273"/>
            </a:xfrm>
            <a:custGeom>
              <a:avLst/>
              <a:gdLst>
                <a:gd name="T0" fmla="*/ 0 w 1"/>
                <a:gd name="T1" fmla="*/ 0 h 273"/>
                <a:gd name="T2" fmla="*/ 0 w 1"/>
                <a:gd name="T3" fmla="*/ 272 h 273"/>
                <a:gd name="T4" fmla="*/ 0 w 1"/>
                <a:gd name="T5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73">
                  <a:moveTo>
                    <a:pt x="0" y="0"/>
                  </a:moveTo>
                  <a:lnTo>
                    <a:pt x="0" y="27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47"/>
            <p:cNvSpPr>
              <a:spLocks/>
            </p:cNvSpPr>
            <p:nvPr/>
          </p:nvSpPr>
          <p:spPr bwMode="auto">
            <a:xfrm>
              <a:off x="4108" y="3519"/>
              <a:ext cx="1" cy="292"/>
            </a:xfrm>
            <a:custGeom>
              <a:avLst/>
              <a:gdLst>
                <a:gd name="T0" fmla="*/ 0 w 1"/>
                <a:gd name="T1" fmla="*/ 0 h 292"/>
                <a:gd name="T2" fmla="*/ 0 w 1"/>
                <a:gd name="T3" fmla="*/ 291 h 292"/>
                <a:gd name="T4" fmla="*/ 0 w 1"/>
                <a:gd name="T5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2">
                  <a:moveTo>
                    <a:pt x="0" y="0"/>
                  </a:moveTo>
                  <a:lnTo>
                    <a:pt x="0" y="29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48"/>
            <p:cNvSpPr>
              <a:spLocks/>
            </p:cNvSpPr>
            <p:nvPr/>
          </p:nvSpPr>
          <p:spPr bwMode="auto">
            <a:xfrm>
              <a:off x="4952" y="3519"/>
              <a:ext cx="1" cy="292"/>
            </a:xfrm>
            <a:custGeom>
              <a:avLst/>
              <a:gdLst>
                <a:gd name="T0" fmla="*/ 0 w 1"/>
                <a:gd name="T1" fmla="*/ 0 h 292"/>
                <a:gd name="T2" fmla="*/ 0 w 1"/>
                <a:gd name="T3" fmla="*/ 291 h 292"/>
                <a:gd name="T4" fmla="*/ 0 w 1"/>
                <a:gd name="T5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2">
                  <a:moveTo>
                    <a:pt x="0" y="0"/>
                  </a:moveTo>
                  <a:lnTo>
                    <a:pt x="0" y="29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49"/>
            <p:cNvSpPr>
              <a:spLocks/>
            </p:cNvSpPr>
            <p:nvPr/>
          </p:nvSpPr>
          <p:spPr bwMode="auto">
            <a:xfrm>
              <a:off x="2146" y="1940"/>
              <a:ext cx="254" cy="78"/>
            </a:xfrm>
            <a:custGeom>
              <a:avLst/>
              <a:gdLst>
                <a:gd name="T0" fmla="*/ 0 w 254"/>
                <a:gd name="T1" fmla="*/ 0 h 78"/>
                <a:gd name="T2" fmla="*/ 253 w 254"/>
                <a:gd name="T3" fmla="*/ 77 h 78"/>
                <a:gd name="T4" fmla="*/ 0 w 254"/>
                <a:gd name="T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4" h="78">
                  <a:moveTo>
                    <a:pt x="0" y="0"/>
                  </a:moveTo>
                  <a:lnTo>
                    <a:pt x="253" y="77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50"/>
            <p:cNvSpPr>
              <a:spLocks/>
            </p:cNvSpPr>
            <p:nvPr/>
          </p:nvSpPr>
          <p:spPr bwMode="auto">
            <a:xfrm>
              <a:off x="2299" y="1967"/>
              <a:ext cx="101" cy="51"/>
            </a:xfrm>
            <a:custGeom>
              <a:avLst/>
              <a:gdLst>
                <a:gd name="T0" fmla="*/ 15 w 101"/>
                <a:gd name="T1" fmla="*/ 0 h 51"/>
                <a:gd name="T2" fmla="*/ 100 w 101"/>
                <a:gd name="T3" fmla="*/ 50 h 51"/>
                <a:gd name="T4" fmla="*/ 0 w 101"/>
                <a:gd name="T5" fmla="*/ 45 h 51"/>
                <a:gd name="T6" fmla="*/ 15 w 101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" h="51">
                  <a:moveTo>
                    <a:pt x="15" y="0"/>
                  </a:moveTo>
                  <a:lnTo>
                    <a:pt x="100" y="50"/>
                  </a:lnTo>
                  <a:lnTo>
                    <a:pt x="0" y="45"/>
                  </a:lnTo>
                  <a:lnTo>
                    <a:pt x="15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Rectangle 51"/>
            <p:cNvSpPr>
              <a:spLocks noChangeArrowheads="1"/>
            </p:cNvSpPr>
            <p:nvPr/>
          </p:nvSpPr>
          <p:spPr bwMode="auto">
            <a:xfrm>
              <a:off x="381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10*</a:t>
              </a:r>
            </a:p>
          </p:txBody>
        </p:sp>
        <p:sp>
          <p:nvSpPr>
            <p:cNvPr id="154" name="Rectangle 52"/>
            <p:cNvSpPr>
              <a:spLocks noChangeArrowheads="1"/>
            </p:cNvSpPr>
            <p:nvPr/>
          </p:nvSpPr>
          <p:spPr bwMode="auto">
            <a:xfrm>
              <a:off x="721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15*</a:t>
              </a:r>
            </a:p>
          </p:txBody>
        </p:sp>
        <p:sp>
          <p:nvSpPr>
            <p:cNvPr id="155" name="Rectangle 53"/>
            <p:cNvSpPr>
              <a:spLocks noChangeArrowheads="1"/>
            </p:cNvSpPr>
            <p:nvPr/>
          </p:nvSpPr>
          <p:spPr bwMode="auto">
            <a:xfrm>
              <a:off x="1236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20*</a:t>
              </a:r>
            </a:p>
          </p:txBody>
        </p:sp>
        <p:sp>
          <p:nvSpPr>
            <p:cNvPr id="156" name="Rectangle 54"/>
            <p:cNvSpPr>
              <a:spLocks noChangeArrowheads="1"/>
            </p:cNvSpPr>
            <p:nvPr/>
          </p:nvSpPr>
          <p:spPr bwMode="auto">
            <a:xfrm>
              <a:off x="1594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27*</a:t>
              </a:r>
            </a:p>
          </p:txBody>
        </p:sp>
        <p:sp>
          <p:nvSpPr>
            <p:cNvPr id="157" name="Rectangle 55"/>
            <p:cNvSpPr>
              <a:spLocks noChangeArrowheads="1"/>
            </p:cNvSpPr>
            <p:nvPr/>
          </p:nvSpPr>
          <p:spPr bwMode="auto">
            <a:xfrm>
              <a:off x="2099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33*</a:t>
              </a:r>
            </a:p>
          </p:txBody>
        </p:sp>
        <p:sp>
          <p:nvSpPr>
            <p:cNvPr id="158" name="Rectangle 56"/>
            <p:cNvSpPr>
              <a:spLocks noChangeArrowheads="1"/>
            </p:cNvSpPr>
            <p:nvPr/>
          </p:nvSpPr>
          <p:spPr bwMode="auto">
            <a:xfrm>
              <a:off x="2429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37*</a:t>
              </a:r>
            </a:p>
          </p:txBody>
        </p:sp>
        <p:sp>
          <p:nvSpPr>
            <p:cNvPr id="159" name="Rectangle 57"/>
            <p:cNvSpPr>
              <a:spLocks noChangeArrowheads="1"/>
            </p:cNvSpPr>
            <p:nvPr/>
          </p:nvSpPr>
          <p:spPr bwMode="auto">
            <a:xfrm>
              <a:off x="2953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40*</a:t>
              </a:r>
            </a:p>
          </p:txBody>
        </p:sp>
        <p:sp>
          <p:nvSpPr>
            <p:cNvPr id="160" name="Rectangle 58"/>
            <p:cNvSpPr>
              <a:spLocks noChangeArrowheads="1"/>
            </p:cNvSpPr>
            <p:nvPr/>
          </p:nvSpPr>
          <p:spPr bwMode="auto">
            <a:xfrm>
              <a:off x="3284" y="355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46*</a:t>
              </a:r>
            </a:p>
          </p:txBody>
        </p:sp>
        <p:sp>
          <p:nvSpPr>
            <p:cNvPr id="161" name="Rectangle 59"/>
            <p:cNvSpPr>
              <a:spLocks noChangeArrowheads="1"/>
            </p:cNvSpPr>
            <p:nvPr/>
          </p:nvSpPr>
          <p:spPr bwMode="auto">
            <a:xfrm>
              <a:off x="3789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51*</a:t>
              </a:r>
            </a:p>
          </p:txBody>
        </p:sp>
        <p:sp>
          <p:nvSpPr>
            <p:cNvPr id="162" name="Rectangle 60"/>
            <p:cNvSpPr>
              <a:spLocks noChangeArrowheads="1"/>
            </p:cNvSpPr>
            <p:nvPr/>
          </p:nvSpPr>
          <p:spPr bwMode="auto">
            <a:xfrm>
              <a:off x="4158" y="355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55*</a:t>
              </a:r>
            </a:p>
          </p:txBody>
        </p:sp>
        <p:sp>
          <p:nvSpPr>
            <p:cNvPr id="163" name="Rectangle 61"/>
            <p:cNvSpPr>
              <a:spLocks noChangeArrowheads="1"/>
            </p:cNvSpPr>
            <p:nvPr/>
          </p:nvSpPr>
          <p:spPr bwMode="auto">
            <a:xfrm>
              <a:off x="4643" y="357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63*</a:t>
              </a:r>
            </a:p>
          </p:txBody>
        </p:sp>
        <p:sp>
          <p:nvSpPr>
            <p:cNvPr id="164" name="Rectangle 62"/>
            <p:cNvSpPr>
              <a:spLocks noChangeArrowheads="1"/>
            </p:cNvSpPr>
            <p:nvPr/>
          </p:nvSpPr>
          <p:spPr bwMode="auto">
            <a:xfrm>
              <a:off x="4993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97*</a:t>
              </a:r>
            </a:p>
          </p:txBody>
        </p:sp>
        <p:sp>
          <p:nvSpPr>
            <p:cNvPr id="165" name="Rectangle 63"/>
            <p:cNvSpPr>
              <a:spLocks noChangeArrowheads="1"/>
            </p:cNvSpPr>
            <p:nvPr/>
          </p:nvSpPr>
          <p:spPr bwMode="auto">
            <a:xfrm>
              <a:off x="1283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20</a:t>
              </a:r>
            </a:p>
          </p:txBody>
        </p:sp>
        <p:sp>
          <p:nvSpPr>
            <p:cNvPr id="166" name="Rectangle 64"/>
            <p:cNvSpPr>
              <a:spLocks noChangeArrowheads="1"/>
            </p:cNvSpPr>
            <p:nvPr/>
          </p:nvSpPr>
          <p:spPr bwMode="auto">
            <a:xfrm>
              <a:off x="1594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33</a:t>
              </a:r>
            </a:p>
          </p:txBody>
        </p:sp>
        <p:sp>
          <p:nvSpPr>
            <p:cNvPr id="167" name="Rectangle 65"/>
            <p:cNvSpPr>
              <a:spLocks noChangeArrowheads="1"/>
            </p:cNvSpPr>
            <p:nvPr/>
          </p:nvSpPr>
          <p:spPr bwMode="auto">
            <a:xfrm>
              <a:off x="3847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51</a:t>
              </a:r>
            </a:p>
          </p:txBody>
        </p:sp>
        <p:sp>
          <p:nvSpPr>
            <p:cNvPr id="168" name="Rectangle 66"/>
            <p:cNvSpPr>
              <a:spLocks noChangeArrowheads="1"/>
            </p:cNvSpPr>
            <p:nvPr/>
          </p:nvSpPr>
          <p:spPr bwMode="auto">
            <a:xfrm>
              <a:off x="4147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63</a:t>
              </a:r>
            </a:p>
          </p:txBody>
        </p:sp>
        <p:sp>
          <p:nvSpPr>
            <p:cNvPr id="169" name="Rectangle 67"/>
            <p:cNvSpPr>
              <a:spLocks noChangeArrowheads="1"/>
            </p:cNvSpPr>
            <p:nvPr/>
          </p:nvSpPr>
          <p:spPr bwMode="auto">
            <a:xfrm>
              <a:off x="2517" y="2080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40</a:t>
              </a:r>
            </a:p>
          </p:txBody>
        </p:sp>
        <p:sp>
          <p:nvSpPr>
            <p:cNvPr id="170" name="Rectangle 68"/>
            <p:cNvSpPr>
              <a:spLocks noChangeArrowheads="1"/>
            </p:cNvSpPr>
            <p:nvPr/>
          </p:nvSpPr>
          <p:spPr bwMode="auto">
            <a:xfrm>
              <a:off x="1671" y="1868"/>
              <a:ext cx="369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Root</a:t>
              </a:r>
            </a:p>
          </p:txBody>
        </p:sp>
      </p:grpSp>
      <p:cxnSp>
        <p:nvCxnSpPr>
          <p:cNvPr id="3" name="Straight Arrow Connector 2"/>
          <p:cNvCxnSpPr>
            <a:stCxn id="129" idx="0"/>
            <a:endCxn id="129" idx="1"/>
          </p:cNvCxnSpPr>
          <p:nvPr/>
        </p:nvCxnSpPr>
        <p:spPr>
          <a:xfrm flipH="1">
            <a:off x="3486150" y="3852415"/>
            <a:ext cx="911225" cy="50567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/>
          <p:cNvCxnSpPr/>
          <p:nvPr/>
        </p:nvCxnSpPr>
        <p:spPr>
          <a:xfrm>
            <a:off x="2933701" y="4674598"/>
            <a:ext cx="7937" cy="68030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reeform 50"/>
          <p:cNvSpPr>
            <a:spLocks/>
          </p:cNvSpPr>
          <p:nvPr/>
        </p:nvSpPr>
        <p:spPr bwMode="auto">
          <a:xfrm>
            <a:off x="2398209" y="6069384"/>
            <a:ext cx="992188" cy="341312"/>
          </a:xfrm>
          <a:custGeom>
            <a:avLst/>
            <a:gdLst>
              <a:gd name="T0" fmla="*/ 0 w 625"/>
              <a:gd name="T1" fmla="*/ 278 h 279"/>
              <a:gd name="T2" fmla="*/ 0 w 625"/>
              <a:gd name="T3" fmla="*/ 0 h 279"/>
              <a:gd name="T4" fmla="*/ 624 w 625"/>
              <a:gd name="T5" fmla="*/ 0 h 279"/>
              <a:gd name="T6" fmla="*/ 624 w 625"/>
              <a:gd name="T7" fmla="*/ 278 h 279"/>
              <a:gd name="T8" fmla="*/ 0 w 625"/>
              <a:gd name="T9" fmla="*/ 278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5" h="279">
                <a:moveTo>
                  <a:pt x="0" y="278"/>
                </a:moveTo>
                <a:lnTo>
                  <a:pt x="0" y="0"/>
                </a:lnTo>
                <a:lnTo>
                  <a:pt x="624" y="0"/>
                </a:lnTo>
                <a:lnTo>
                  <a:pt x="624" y="278"/>
                </a:lnTo>
                <a:lnTo>
                  <a:pt x="0" y="27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Freeform 51"/>
          <p:cNvSpPr>
            <a:spLocks/>
          </p:cNvSpPr>
          <p:nvPr/>
        </p:nvSpPr>
        <p:spPr bwMode="auto">
          <a:xfrm>
            <a:off x="2893509" y="6083671"/>
            <a:ext cx="1588" cy="309506"/>
          </a:xfrm>
          <a:custGeom>
            <a:avLst/>
            <a:gdLst>
              <a:gd name="T0" fmla="*/ 0 w 1"/>
              <a:gd name="T1" fmla="*/ 0 h 253"/>
              <a:gd name="T2" fmla="*/ 0 w 1"/>
              <a:gd name="T3" fmla="*/ 252 h 253"/>
              <a:gd name="T4" fmla="*/ 0 w 1"/>
              <a:gd name="T5" fmla="*/ 0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3">
                <a:moveTo>
                  <a:pt x="0" y="0"/>
                </a:moveTo>
                <a:lnTo>
                  <a:pt x="0" y="25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Rectangle 76"/>
          <p:cNvSpPr>
            <a:spLocks noChangeArrowheads="1"/>
          </p:cNvSpPr>
          <p:nvPr/>
        </p:nvSpPr>
        <p:spPr bwMode="auto">
          <a:xfrm>
            <a:off x="2444247" y="6123359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23*</a:t>
            </a:r>
          </a:p>
        </p:txBody>
      </p:sp>
      <p:sp>
        <p:nvSpPr>
          <p:cNvPr id="75" name="Arc 87"/>
          <p:cNvSpPr>
            <a:spLocks/>
          </p:cNvSpPr>
          <p:nvPr/>
        </p:nvSpPr>
        <p:spPr bwMode="auto">
          <a:xfrm>
            <a:off x="2377603" y="5721122"/>
            <a:ext cx="152400" cy="35232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94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3" grpId="0" animBg="1"/>
      <p:bldP spid="74" grpId="0"/>
      <p:bldP spid="7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ISAM: Inserting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The appropriate page is determined as for a search, and the entry is inserted (with overflow pages added if necessary)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Insert </a:t>
            </a:r>
            <a:r>
              <a:rPr lang="en-US" sz="2600" dirty="0" smtClean="0">
                <a:solidFill>
                  <a:srgbClr val="FF0000"/>
                </a:solidFill>
              </a:rPr>
              <a:t>48*</a:t>
            </a:r>
            <a:endParaRPr lang="en-US" sz="2600" dirty="0">
              <a:solidFill>
                <a:srgbClr val="FF0000"/>
              </a:solidFill>
            </a:endParaRPr>
          </a:p>
        </p:txBody>
      </p:sp>
      <p:grpSp>
        <p:nvGrpSpPr>
          <p:cNvPr id="107" name="Group 69"/>
          <p:cNvGrpSpPr>
            <a:grpSpLocks/>
          </p:cNvGrpSpPr>
          <p:nvPr/>
        </p:nvGrpSpPr>
        <p:grpSpPr bwMode="auto">
          <a:xfrm>
            <a:off x="1022350" y="3342904"/>
            <a:ext cx="7893050" cy="2368322"/>
            <a:chOff x="351" y="1868"/>
            <a:chExt cx="4972" cy="1953"/>
          </a:xfrm>
        </p:grpSpPr>
        <p:sp>
          <p:nvSpPr>
            <p:cNvPr id="108" name="Freeform 6"/>
            <p:cNvSpPr>
              <a:spLocks/>
            </p:cNvSpPr>
            <p:nvPr/>
          </p:nvSpPr>
          <p:spPr bwMode="auto">
            <a:xfrm>
              <a:off x="351" y="3509"/>
              <a:ext cx="699" cy="312"/>
            </a:xfrm>
            <a:custGeom>
              <a:avLst/>
              <a:gdLst>
                <a:gd name="T0" fmla="*/ 0 w 699"/>
                <a:gd name="T1" fmla="*/ 311 h 312"/>
                <a:gd name="T2" fmla="*/ 0 w 699"/>
                <a:gd name="T3" fmla="*/ 0 h 312"/>
                <a:gd name="T4" fmla="*/ 698 w 699"/>
                <a:gd name="T5" fmla="*/ 0 h 312"/>
                <a:gd name="T6" fmla="*/ 698 w 699"/>
                <a:gd name="T7" fmla="*/ 311 h 312"/>
                <a:gd name="T8" fmla="*/ 0 w 699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9" h="312">
                  <a:moveTo>
                    <a:pt x="0" y="311"/>
                  </a:moveTo>
                  <a:lnTo>
                    <a:pt x="0" y="0"/>
                  </a:lnTo>
                  <a:lnTo>
                    <a:pt x="698" y="0"/>
                  </a:lnTo>
                  <a:lnTo>
                    <a:pt x="698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7"/>
            <p:cNvSpPr>
              <a:spLocks/>
            </p:cNvSpPr>
            <p:nvPr/>
          </p:nvSpPr>
          <p:spPr bwMode="auto">
            <a:xfrm>
              <a:off x="1204" y="3509"/>
              <a:ext cx="700" cy="312"/>
            </a:xfrm>
            <a:custGeom>
              <a:avLst/>
              <a:gdLst>
                <a:gd name="T0" fmla="*/ 0 w 700"/>
                <a:gd name="T1" fmla="*/ 311 h 312"/>
                <a:gd name="T2" fmla="*/ 0 w 700"/>
                <a:gd name="T3" fmla="*/ 0 h 312"/>
                <a:gd name="T4" fmla="*/ 699 w 700"/>
                <a:gd name="T5" fmla="*/ 0 h 312"/>
                <a:gd name="T6" fmla="*/ 699 w 700"/>
                <a:gd name="T7" fmla="*/ 311 h 312"/>
                <a:gd name="T8" fmla="*/ 0 w 700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2">
                  <a:moveTo>
                    <a:pt x="0" y="311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8"/>
            <p:cNvSpPr>
              <a:spLocks/>
            </p:cNvSpPr>
            <p:nvPr/>
          </p:nvSpPr>
          <p:spPr bwMode="auto">
            <a:xfrm>
              <a:off x="2059" y="3509"/>
              <a:ext cx="700" cy="312"/>
            </a:xfrm>
            <a:custGeom>
              <a:avLst/>
              <a:gdLst>
                <a:gd name="T0" fmla="*/ 0 w 700"/>
                <a:gd name="T1" fmla="*/ 311 h 312"/>
                <a:gd name="T2" fmla="*/ 0 w 700"/>
                <a:gd name="T3" fmla="*/ 0 h 312"/>
                <a:gd name="T4" fmla="*/ 699 w 700"/>
                <a:gd name="T5" fmla="*/ 0 h 312"/>
                <a:gd name="T6" fmla="*/ 699 w 700"/>
                <a:gd name="T7" fmla="*/ 311 h 312"/>
                <a:gd name="T8" fmla="*/ 0 w 700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2">
                  <a:moveTo>
                    <a:pt x="0" y="311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9"/>
            <p:cNvSpPr>
              <a:spLocks/>
            </p:cNvSpPr>
            <p:nvPr/>
          </p:nvSpPr>
          <p:spPr bwMode="auto">
            <a:xfrm>
              <a:off x="2914" y="3509"/>
              <a:ext cx="699" cy="312"/>
            </a:xfrm>
            <a:custGeom>
              <a:avLst/>
              <a:gdLst>
                <a:gd name="T0" fmla="*/ 0 w 699"/>
                <a:gd name="T1" fmla="*/ 311 h 312"/>
                <a:gd name="T2" fmla="*/ 0 w 699"/>
                <a:gd name="T3" fmla="*/ 0 h 312"/>
                <a:gd name="T4" fmla="*/ 698 w 699"/>
                <a:gd name="T5" fmla="*/ 0 h 312"/>
                <a:gd name="T6" fmla="*/ 698 w 699"/>
                <a:gd name="T7" fmla="*/ 311 h 312"/>
                <a:gd name="T8" fmla="*/ 0 w 699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9" h="312">
                  <a:moveTo>
                    <a:pt x="0" y="311"/>
                  </a:moveTo>
                  <a:lnTo>
                    <a:pt x="0" y="0"/>
                  </a:lnTo>
                  <a:lnTo>
                    <a:pt x="698" y="0"/>
                  </a:lnTo>
                  <a:lnTo>
                    <a:pt x="698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0"/>
            <p:cNvSpPr>
              <a:spLocks/>
            </p:cNvSpPr>
            <p:nvPr/>
          </p:nvSpPr>
          <p:spPr bwMode="auto">
            <a:xfrm>
              <a:off x="3767" y="3509"/>
              <a:ext cx="701" cy="312"/>
            </a:xfrm>
            <a:custGeom>
              <a:avLst/>
              <a:gdLst>
                <a:gd name="T0" fmla="*/ 0 w 701"/>
                <a:gd name="T1" fmla="*/ 311 h 312"/>
                <a:gd name="T2" fmla="*/ 0 w 701"/>
                <a:gd name="T3" fmla="*/ 0 h 312"/>
                <a:gd name="T4" fmla="*/ 700 w 701"/>
                <a:gd name="T5" fmla="*/ 0 h 312"/>
                <a:gd name="T6" fmla="*/ 700 w 701"/>
                <a:gd name="T7" fmla="*/ 311 h 312"/>
                <a:gd name="T8" fmla="*/ 0 w 701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1" h="312">
                  <a:moveTo>
                    <a:pt x="0" y="311"/>
                  </a:moveTo>
                  <a:lnTo>
                    <a:pt x="0" y="0"/>
                  </a:lnTo>
                  <a:lnTo>
                    <a:pt x="700" y="0"/>
                  </a:lnTo>
                  <a:lnTo>
                    <a:pt x="700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1"/>
            <p:cNvSpPr>
              <a:spLocks/>
            </p:cNvSpPr>
            <p:nvPr/>
          </p:nvSpPr>
          <p:spPr bwMode="auto">
            <a:xfrm>
              <a:off x="4621" y="3509"/>
              <a:ext cx="702" cy="312"/>
            </a:xfrm>
            <a:custGeom>
              <a:avLst/>
              <a:gdLst>
                <a:gd name="T0" fmla="*/ 0 w 702"/>
                <a:gd name="T1" fmla="*/ 311 h 312"/>
                <a:gd name="T2" fmla="*/ 0 w 702"/>
                <a:gd name="T3" fmla="*/ 0 h 312"/>
                <a:gd name="T4" fmla="*/ 701 w 702"/>
                <a:gd name="T5" fmla="*/ 0 h 312"/>
                <a:gd name="T6" fmla="*/ 701 w 702"/>
                <a:gd name="T7" fmla="*/ 311 h 312"/>
                <a:gd name="T8" fmla="*/ 0 w 702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2" h="312">
                  <a:moveTo>
                    <a:pt x="0" y="311"/>
                  </a:moveTo>
                  <a:lnTo>
                    <a:pt x="0" y="0"/>
                  </a:lnTo>
                  <a:lnTo>
                    <a:pt x="701" y="0"/>
                  </a:lnTo>
                  <a:lnTo>
                    <a:pt x="701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12"/>
            <p:cNvSpPr>
              <a:spLocks/>
            </p:cNvSpPr>
            <p:nvPr/>
          </p:nvSpPr>
          <p:spPr bwMode="auto">
            <a:xfrm>
              <a:off x="1204" y="2735"/>
              <a:ext cx="700" cy="311"/>
            </a:xfrm>
            <a:custGeom>
              <a:avLst/>
              <a:gdLst>
                <a:gd name="T0" fmla="*/ 0 w 700"/>
                <a:gd name="T1" fmla="*/ 310 h 311"/>
                <a:gd name="T2" fmla="*/ 0 w 700"/>
                <a:gd name="T3" fmla="*/ 0 h 311"/>
                <a:gd name="T4" fmla="*/ 699 w 700"/>
                <a:gd name="T5" fmla="*/ 0 h 311"/>
                <a:gd name="T6" fmla="*/ 699 w 700"/>
                <a:gd name="T7" fmla="*/ 310 h 311"/>
                <a:gd name="T8" fmla="*/ 0 w 700"/>
                <a:gd name="T9" fmla="*/ 31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1">
                  <a:moveTo>
                    <a:pt x="0" y="310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0"/>
                  </a:lnTo>
                  <a:lnTo>
                    <a:pt x="0" y="31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13"/>
            <p:cNvSpPr>
              <a:spLocks/>
            </p:cNvSpPr>
            <p:nvPr/>
          </p:nvSpPr>
          <p:spPr bwMode="auto">
            <a:xfrm>
              <a:off x="1284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14"/>
            <p:cNvSpPr>
              <a:spLocks/>
            </p:cNvSpPr>
            <p:nvPr/>
          </p:nvSpPr>
          <p:spPr bwMode="auto">
            <a:xfrm>
              <a:off x="1515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15"/>
            <p:cNvSpPr>
              <a:spLocks/>
            </p:cNvSpPr>
            <p:nvPr/>
          </p:nvSpPr>
          <p:spPr bwMode="auto">
            <a:xfrm>
              <a:off x="1593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16"/>
            <p:cNvSpPr>
              <a:spLocks/>
            </p:cNvSpPr>
            <p:nvPr/>
          </p:nvSpPr>
          <p:spPr bwMode="auto">
            <a:xfrm>
              <a:off x="1827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17"/>
            <p:cNvSpPr>
              <a:spLocks/>
            </p:cNvSpPr>
            <p:nvPr/>
          </p:nvSpPr>
          <p:spPr bwMode="auto">
            <a:xfrm>
              <a:off x="3767" y="2735"/>
              <a:ext cx="701" cy="311"/>
            </a:xfrm>
            <a:custGeom>
              <a:avLst/>
              <a:gdLst>
                <a:gd name="T0" fmla="*/ 0 w 701"/>
                <a:gd name="T1" fmla="*/ 310 h 311"/>
                <a:gd name="T2" fmla="*/ 0 w 701"/>
                <a:gd name="T3" fmla="*/ 0 h 311"/>
                <a:gd name="T4" fmla="*/ 700 w 701"/>
                <a:gd name="T5" fmla="*/ 0 h 311"/>
                <a:gd name="T6" fmla="*/ 700 w 701"/>
                <a:gd name="T7" fmla="*/ 310 h 311"/>
                <a:gd name="T8" fmla="*/ 0 w 701"/>
                <a:gd name="T9" fmla="*/ 31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1" h="311">
                  <a:moveTo>
                    <a:pt x="0" y="310"/>
                  </a:moveTo>
                  <a:lnTo>
                    <a:pt x="0" y="0"/>
                  </a:lnTo>
                  <a:lnTo>
                    <a:pt x="700" y="0"/>
                  </a:lnTo>
                  <a:lnTo>
                    <a:pt x="700" y="310"/>
                  </a:lnTo>
                  <a:lnTo>
                    <a:pt x="0" y="31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18"/>
            <p:cNvSpPr>
              <a:spLocks/>
            </p:cNvSpPr>
            <p:nvPr/>
          </p:nvSpPr>
          <p:spPr bwMode="auto">
            <a:xfrm>
              <a:off x="3846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19"/>
            <p:cNvSpPr>
              <a:spLocks/>
            </p:cNvSpPr>
            <p:nvPr/>
          </p:nvSpPr>
          <p:spPr bwMode="auto">
            <a:xfrm>
              <a:off x="4078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20"/>
            <p:cNvSpPr>
              <a:spLocks/>
            </p:cNvSpPr>
            <p:nvPr/>
          </p:nvSpPr>
          <p:spPr bwMode="auto">
            <a:xfrm>
              <a:off x="4156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21"/>
            <p:cNvSpPr>
              <a:spLocks/>
            </p:cNvSpPr>
            <p:nvPr/>
          </p:nvSpPr>
          <p:spPr bwMode="auto">
            <a:xfrm>
              <a:off x="4389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22"/>
            <p:cNvSpPr>
              <a:spLocks/>
            </p:cNvSpPr>
            <p:nvPr/>
          </p:nvSpPr>
          <p:spPr bwMode="auto">
            <a:xfrm>
              <a:off x="2447" y="2037"/>
              <a:ext cx="700" cy="312"/>
            </a:xfrm>
            <a:custGeom>
              <a:avLst/>
              <a:gdLst>
                <a:gd name="T0" fmla="*/ 0 w 700"/>
                <a:gd name="T1" fmla="*/ 311 h 312"/>
                <a:gd name="T2" fmla="*/ 0 w 700"/>
                <a:gd name="T3" fmla="*/ 0 h 312"/>
                <a:gd name="T4" fmla="*/ 699 w 700"/>
                <a:gd name="T5" fmla="*/ 0 h 312"/>
                <a:gd name="T6" fmla="*/ 699 w 700"/>
                <a:gd name="T7" fmla="*/ 311 h 312"/>
                <a:gd name="T8" fmla="*/ 0 w 700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2">
                  <a:moveTo>
                    <a:pt x="0" y="311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23"/>
            <p:cNvSpPr>
              <a:spLocks/>
            </p:cNvSpPr>
            <p:nvPr/>
          </p:nvSpPr>
          <p:spPr bwMode="auto">
            <a:xfrm>
              <a:off x="2525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24"/>
            <p:cNvSpPr>
              <a:spLocks/>
            </p:cNvSpPr>
            <p:nvPr/>
          </p:nvSpPr>
          <p:spPr bwMode="auto">
            <a:xfrm>
              <a:off x="2758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25"/>
            <p:cNvSpPr>
              <a:spLocks/>
            </p:cNvSpPr>
            <p:nvPr/>
          </p:nvSpPr>
          <p:spPr bwMode="auto">
            <a:xfrm>
              <a:off x="2836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26"/>
            <p:cNvSpPr>
              <a:spLocks/>
            </p:cNvSpPr>
            <p:nvPr/>
          </p:nvSpPr>
          <p:spPr bwMode="auto">
            <a:xfrm>
              <a:off x="3069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27"/>
            <p:cNvSpPr>
              <a:spLocks/>
            </p:cNvSpPr>
            <p:nvPr/>
          </p:nvSpPr>
          <p:spPr bwMode="auto">
            <a:xfrm>
              <a:off x="1903" y="2280"/>
              <a:ext cx="575" cy="418"/>
            </a:xfrm>
            <a:custGeom>
              <a:avLst/>
              <a:gdLst>
                <a:gd name="T0" fmla="*/ 574 w 575"/>
                <a:gd name="T1" fmla="*/ 0 h 418"/>
                <a:gd name="T2" fmla="*/ 0 w 575"/>
                <a:gd name="T3" fmla="*/ 417 h 418"/>
                <a:gd name="T4" fmla="*/ 574 w 575"/>
                <a:gd name="T5" fmla="*/ 0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5" h="418">
                  <a:moveTo>
                    <a:pt x="574" y="0"/>
                  </a:moveTo>
                  <a:lnTo>
                    <a:pt x="0" y="417"/>
                  </a:lnTo>
                  <a:lnTo>
                    <a:pt x="574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28"/>
            <p:cNvSpPr>
              <a:spLocks/>
            </p:cNvSpPr>
            <p:nvPr/>
          </p:nvSpPr>
          <p:spPr bwMode="auto">
            <a:xfrm>
              <a:off x="1903" y="2620"/>
              <a:ext cx="94" cy="78"/>
            </a:xfrm>
            <a:custGeom>
              <a:avLst/>
              <a:gdLst>
                <a:gd name="T0" fmla="*/ 93 w 94"/>
                <a:gd name="T1" fmla="*/ 39 h 78"/>
                <a:gd name="T2" fmla="*/ 0 w 94"/>
                <a:gd name="T3" fmla="*/ 77 h 78"/>
                <a:gd name="T4" fmla="*/ 65 w 94"/>
                <a:gd name="T5" fmla="*/ 0 h 78"/>
                <a:gd name="T6" fmla="*/ 93 w 94"/>
                <a:gd name="T7" fmla="*/ 3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4" h="78">
                  <a:moveTo>
                    <a:pt x="93" y="39"/>
                  </a:moveTo>
                  <a:lnTo>
                    <a:pt x="0" y="77"/>
                  </a:lnTo>
                  <a:lnTo>
                    <a:pt x="65" y="0"/>
                  </a:lnTo>
                  <a:lnTo>
                    <a:pt x="93" y="39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29"/>
            <p:cNvSpPr>
              <a:spLocks/>
            </p:cNvSpPr>
            <p:nvPr/>
          </p:nvSpPr>
          <p:spPr bwMode="auto">
            <a:xfrm>
              <a:off x="2788" y="2260"/>
              <a:ext cx="971" cy="447"/>
            </a:xfrm>
            <a:custGeom>
              <a:avLst/>
              <a:gdLst>
                <a:gd name="T0" fmla="*/ 0 w 971"/>
                <a:gd name="T1" fmla="*/ 0 h 447"/>
                <a:gd name="T2" fmla="*/ 970 w 971"/>
                <a:gd name="T3" fmla="*/ 446 h 447"/>
                <a:gd name="T4" fmla="*/ 0 w 971"/>
                <a:gd name="T5" fmla="*/ 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71" h="447">
                  <a:moveTo>
                    <a:pt x="0" y="0"/>
                  </a:moveTo>
                  <a:lnTo>
                    <a:pt x="970" y="446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30"/>
            <p:cNvSpPr>
              <a:spLocks/>
            </p:cNvSpPr>
            <p:nvPr/>
          </p:nvSpPr>
          <p:spPr bwMode="auto">
            <a:xfrm>
              <a:off x="3659" y="2644"/>
              <a:ext cx="100" cy="63"/>
            </a:xfrm>
            <a:custGeom>
              <a:avLst/>
              <a:gdLst>
                <a:gd name="T0" fmla="*/ 21 w 100"/>
                <a:gd name="T1" fmla="*/ 0 h 63"/>
                <a:gd name="T2" fmla="*/ 99 w 100"/>
                <a:gd name="T3" fmla="*/ 62 h 63"/>
                <a:gd name="T4" fmla="*/ 0 w 100"/>
                <a:gd name="T5" fmla="*/ 44 h 63"/>
                <a:gd name="T6" fmla="*/ 21 w 100"/>
                <a:gd name="T7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" h="63">
                  <a:moveTo>
                    <a:pt x="21" y="0"/>
                  </a:moveTo>
                  <a:lnTo>
                    <a:pt x="99" y="62"/>
                  </a:lnTo>
                  <a:lnTo>
                    <a:pt x="0" y="44"/>
                  </a:lnTo>
                  <a:lnTo>
                    <a:pt x="21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31"/>
            <p:cNvSpPr>
              <a:spLocks/>
            </p:cNvSpPr>
            <p:nvPr/>
          </p:nvSpPr>
          <p:spPr bwMode="auto">
            <a:xfrm>
              <a:off x="972" y="2996"/>
              <a:ext cx="272" cy="486"/>
            </a:xfrm>
            <a:custGeom>
              <a:avLst/>
              <a:gdLst>
                <a:gd name="T0" fmla="*/ 271 w 272"/>
                <a:gd name="T1" fmla="*/ 0 h 486"/>
                <a:gd name="T2" fmla="*/ 0 w 272"/>
                <a:gd name="T3" fmla="*/ 485 h 486"/>
                <a:gd name="T4" fmla="*/ 271 w 272"/>
                <a:gd name="T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2" h="486">
                  <a:moveTo>
                    <a:pt x="271" y="0"/>
                  </a:moveTo>
                  <a:lnTo>
                    <a:pt x="0" y="485"/>
                  </a:lnTo>
                  <a:lnTo>
                    <a:pt x="271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32"/>
            <p:cNvSpPr>
              <a:spLocks/>
            </p:cNvSpPr>
            <p:nvPr/>
          </p:nvSpPr>
          <p:spPr bwMode="auto">
            <a:xfrm>
              <a:off x="972" y="3384"/>
              <a:ext cx="69" cy="98"/>
            </a:xfrm>
            <a:custGeom>
              <a:avLst/>
              <a:gdLst>
                <a:gd name="T0" fmla="*/ 68 w 69"/>
                <a:gd name="T1" fmla="*/ 25 h 98"/>
                <a:gd name="T2" fmla="*/ 0 w 69"/>
                <a:gd name="T3" fmla="*/ 97 h 98"/>
                <a:gd name="T4" fmla="*/ 26 w 69"/>
                <a:gd name="T5" fmla="*/ 0 h 98"/>
                <a:gd name="T6" fmla="*/ 68 w 69"/>
                <a:gd name="T7" fmla="*/ 25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98">
                  <a:moveTo>
                    <a:pt x="68" y="25"/>
                  </a:moveTo>
                  <a:lnTo>
                    <a:pt x="0" y="97"/>
                  </a:lnTo>
                  <a:lnTo>
                    <a:pt x="26" y="0"/>
                  </a:lnTo>
                  <a:lnTo>
                    <a:pt x="68" y="25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33"/>
            <p:cNvSpPr>
              <a:spLocks/>
            </p:cNvSpPr>
            <p:nvPr/>
          </p:nvSpPr>
          <p:spPr bwMode="auto">
            <a:xfrm>
              <a:off x="1554" y="2977"/>
              <a:ext cx="1" cy="505"/>
            </a:xfrm>
            <a:custGeom>
              <a:avLst/>
              <a:gdLst>
                <a:gd name="T0" fmla="*/ 0 w 1"/>
                <a:gd name="T1" fmla="*/ 0 h 505"/>
                <a:gd name="T2" fmla="*/ 0 w 1"/>
                <a:gd name="T3" fmla="*/ 504 h 505"/>
                <a:gd name="T4" fmla="*/ 0 w 1"/>
                <a:gd name="T5" fmla="*/ 0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05">
                  <a:moveTo>
                    <a:pt x="0" y="0"/>
                  </a:moveTo>
                  <a:lnTo>
                    <a:pt x="0" y="504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34"/>
            <p:cNvSpPr>
              <a:spLocks/>
            </p:cNvSpPr>
            <p:nvPr/>
          </p:nvSpPr>
          <p:spPr bwMode="auto">
            <a:xfrm>
              <a:off x="1530" y="3384"/>
              <a:ext cx="50" cy="98"/>
            </a:xfrm>
            <a:custGeom>
              <a:avLst/>
              <a:gdLst>
                <a:gd name="T0" fmla="*/ 49 w 50"/>
                <a:gd name="T1" fmla="*/ 0 h 98"/>
                <a:gd name="T2" fmla="*/ 24 w 50"/>
                <a:gd name="T3" fmla="*/ 97 h 98"/>
                <a:gd name="T4" fmla="*/ 0 w 50"/>
                <a:gd name="T5" fmla="*/ 0 h 98"/>
                <a:gd name="T6" fmla="*/ 49 w 50"/>
                <a:gd name="T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98">
                  <a:moveTo>
                    <a:pt x="49" y="0"/>
                  </a:moveTo>
                  <a:lnTo>
                    <a:pt x="24" y="97"/>
                  </a:lnTo>
                  <a:lnTo>
                    <a:pt x="0" y="0"/>
                  </a:lnTo>
                  <a:lnTo>
                    <a:pt x="49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35"/>
            <p:cNvSpPr>
              <a:spLocks/>
            </p:cNvSpPr>
            <p:nvPr/>
          </p:nvSpPr>
          <p:spPr bwMode="auto">
            <a:xfrm>
              <a:off x="1865" y="2958"/>
              <a:ext cx="214" cy="514"/>
            </a:xfrm>
            <a:custGeom>
              <a:avLst/>
              <a:gdLst>
                <a:gd name="T0" fmla="*/ 0 w 214"/>
                <a:gd name="T1" fmla="*/ 0 h 514"/>
                <a:gd name="T2" fmla="*/ 213 w 214"/>
                <a:gd name="T3" fmla="*/ 513 h 514"/>
                <a:gd name="T4" fmla="*/ 0 w 214"/>
                <a:gd name="T5" fmla="*/ 0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4" h="514">
                  <a:moveTo>
                    <a:pt x="0" y="0"/>
                  </a:moveTo>
                  <a:lnTo>
                    <a:pt x="213" y="513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36"/>
            <p:cNvSpPr>
              <a:spLocks/>
            </p:cNvSpPr>
            <p:nvPr/>
          </p:nvSpPr>
          <p:spPr bwMode="auto">
            <a:xfrm>
              <a:off x="2019" y="3372"/>
              <a:ext cx="60" cy="100"/>
            </a:xfrm>
            <a:custGeom>
              <a:avLst/>
              <a:gdLst>
                <a:gd name="T0" fmla="*/ 45 w 60"/>
                <a:gd name="T1" fmla="*/ 0 h 100"/>
                <a:gd name="T2" fmla="*/ 59 w 60"/>
                <a:gd name="T3" fmla="*/ 99 h 100"/>
                <a:gd name="T4" fmla="*/ 0 w 60"/>
                <a:gd name="T5" fmla="*/ 18 h 100"/>
                <a:gd name="T6" fmla="*/ 45 w 60"/>
                <a:gd name="T7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" h="100">
                  <a:moveTo>
                    <a:pt x="45" y="0"/>
                  </a:moveTo>
                  <a:lnTo>
                    <a:pt x="59" y="99"/>
                  </a:lnTo>
                  <a:lnTo>
                    <a:pt x="0" y="18"/>
                  </a:lnTo>
                  <a:lnTo>
                    <a:pt x="45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37"/>
            <p:cNvSpPr>
              <a:spLocks/>
            </p:cNvSpPr>
            <p:nvPr/>
          </p:nvSpPr>
          <p:spPr bwMode="auto">
            <a:xfrm>
              <a:off x="3554" y="2967"/>
              <a:ext cx="254" cy="496"/>
            </a:xfrm>
            <a:custGeom>
              <a:avLst/>
              <a:gdLst>
                <a:gd name="T0" fmla="*/ 253 w 254"/>
                <a:gd name="T1" fmla="*/ 0 h 496"/>
                <a:gd name="T2" fmla="*/ 0 w 254"/>
                <a:gd name="T3" fmla="*/ 495 h 496"/>
                <a:gd name="T4" fmla="*/ 253 w 254"/>
                <a:gd name="T5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4" h="496">
                  <a:moveTo>
                    <a:pt x="253" y="0"/>
                  </a:moveTo>
                  <a:lnTo>
                    <a:pt x="0" y="495"/>
                  </a:lnTo>
                  <a:lnTo>
                    <a:pt x="253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38"/>
            <p:cNvSpPr>
              <a:spLocks/>
            </p:cNvSpPr>
            <p:nvPr/>
          </p:nvSpPr>
          <p:spPr bwMode="auto">
            <a:xfrm>
              <a:off x="3554" y="3365"/>
              <a:ext cx="67" cy="98"/>
            </a:xfrm>
            <a:custGeom>
              <a:avLst/>
              <a:gdLst>
                <a:gd name="T0" fmla="*/ 66 w 67"/>
                <a:gd name="T1" fmla="*/ 21 h 98"/>
                <a:gd name="T2" fmla="*/ 0 w 67"/>
                <a:gd name="T3" fmla="*/ 97 h 98"/>
                <a:gd name="T4" fmla="*/ 23 w 67"/>
                <a:gd name="T5" fmla="*/ 0 h 98"/>
                <a:gd name="T6" fmla="*/ 66 w 67"/>
                <a:gd name="T7" fmla="*/ 21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98">
                  <a:moveTo>
                    <a:pt x="66" y="21"/>
                  </a:moveTo>
                  <a:lnTo>
                    <a:pt x="0" y="97"/>
                  </a:lnTo>
                  <a:lnTo>
                    <a:pt x="23" y="0"/>
                  </a:lnTo>
                  <a:lnTo>
                    <a:pt x="66" y="2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39"/>
            <p:cNvSpPr>
              <a:spLocks/>
            </p:cNvSpPr>
            <p:nvPr/>
          </p:nvSpPr>
          <p:spPr bwMode="auto">
            <a:xfrm>
              <a:off x="4117" y="2977"/>
              <a:ext cx="1" cy="476"/>
            </a:xfrm>
            <a:custGeom>
              <a:avLst/>
              <a:gdLst>
                <a:gd name="T0" fmla="*/ 0 w 1"/>
                <a:gd name="T1" fmla="*/ 0 h 476"/>
                <a:gd name="T2" fmla="*/ 0 w 1"/>
                <a:gd name="T3" fmla="*/ 475 h 476"/>
                <a:gd name="T4" fmla="*/ 0 w 1"/>
                <a:gd name="T5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76">
                  <a:moveTo>
                    <a:pt x="0" y="0"/>
                  </a:moveTo>
                  <a:lnTo>
                    <a:pt x="0" y="475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40"/>
            <p:cNvSpPr>
              <a:spLocks/>
            </p:cNvSpPr>
            <p:nvPr/>
          </p:nvSpPr>
          <p:spPr bwMode="auto">
            <a:xfrm>
              <a:off x="4093" y="3355"/>
              <a:ext cx="49" cy="98"/>
            </a:xfrm>
            <a:custGeom>
              <a:avLst/>
              <a:gdLst>
                <a:gd name="T0" fmla="*/ 48 w 49"/>
                <a:gd name="T1" fmla="*/ 0 h 98"/>
                <a:gd name="T2" fmla="*/ 24 w 49"/>
                <a:gd name="T3" fmla="*/ 97 h 98"/>
                <a:gd name="T4" fmla="*/ 0 w 49"/>
                <a:gd name="T5" fmla="*/ 0 h 98"/>
                <a:gd name="T6" fmla="*/ 48 w 49"/>
                <a:gd name="T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98">
                  <a:moveTo>
                    <a:pt x="48" y="0"/>
                  </a:moveTo>
                  <a:lnTo>
                    <a:pt x="24" y="97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41"/>
            <p:cNvSpPr>
              <a:spLocks/>
            </p:cNvSpPr>
            <p:nvPr/>
          </p:nvSpPr>
          <p:spPr bwMode="auto">
            <a:xfrm>
              <a:off x="4428" y="2986"/>
              <a:ext cx="253" cy="477"/>
            </a:xfrm>
            <a:custGeom>
              <a:avLst/>
              <a:gdLst>
                <a:gd name="T0" fmla="*/ 0 w 253"/>
                <a:gd name="T1" fmla="*/ 0 h 477"/>
                <a:gd name="T2" fmla="*/ 252 w 253"/>
                <a:gd name="T3" fmla="*/ 476 h 477"/>
                <a:gd name="T4" fmla="*/ 0 w 253"/>
                <a:gd name="T5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3" h="477">
                  <a:moveTo>
                    <a:pt x="0" y="0"/>
                  </a:moveTo>
                  <a:lnTo>
                    <a:pt x="252" y="476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42"/>
            <p:cNvSpPr>
              <a:spLocks/>
            </p:cNvSpPr>
            <p:nvPr/>
          </p:nvSpPr>
          <p:spPr bwMode="auto">
            <a:xfrm>
              <a:off x="4614" y="3365"/>
              <a:ext cx="67" cy="98"/>
            </a:xfrm>
            <a:custGeom>
              <a:avLst/>
              <a:gdLst>
                <a:gd name="T0" fmla="*/ 42 w 67"/>
                <a:gd name="T1" fmla="*/ 0 h 98"/>
                <a:gd name="T2" fmla="*/ 66 w 67"/>
                <a:gd name="T3" fmla="*/ 97 h 98"/>
                <a:gd name="T4" fmla="*/ 0 w 67"/>
                <a:gd name="T5" fmla="*/ 22 h 98"/>
                <a:gd name="T6" fmla="*/ 42 w 67"/>
                <a:gd name="T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98">
                  <a:moveTo>
                    <a:pt x="42" y="0"/>
                  </a:moveTo>
                  <a:lnTo>
                    <a:pt x="66" y="97"/>
                  </a:lnTo>
                  <a:lnTo>
                    <a:pt x="0" y="22"/>
                  </a:lnTo>
                  <a:lnTo>
                    <a:pt x="42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43"/>
            <p:cNvSpPr>
              <a:spLocks/>
            </p:cNvSpPr>
            <p:nvPr/>
          </p:nvSpPr>
          <p:spPr bwMode="auto">
            <a:xfrm>
              <a:off x="700" y="3519"/>
              <a:ext cx="1" cy="283"/>
            </a:xfrm>
            <a:custGeom>
              <a:avLst/>
              <a:gdLst>
                <a:gd name="T0" fmla="*/ 0 w 1"/>
                <a:gd name="T1" fmla="*/ 0 h 283"/>
                <a:gd name="T2" fmla="*/ 0 w 1"/>
                <a:gd name="T3" fmla="*/ 282 h 283"/>
                <a:gd name="T4" fmla="*/ 0 w 1"/>
                <a:gd name="T5" fmla="*/ 0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83">
                  <a:moveTo>
                    <a:pt x="0" y="0"/>
                  </a:moveTo>
                  <a:lnTo>
                    <a:pt x="0" y="28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44"/>
            <p:cNvSpPr>
              <a:spLocks/>
            </p:cNvSpPr>
            <p:nvPr/>
          </p:nvSpPr>
          <p:spPr bwMode="auto">
            <a:xfrm>
              <a:off x="1565" y="3509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45"/>
            <p:cNvSpPr>
              <a:spLocks/>
            </p:cNvSpPr>
            <p:nvPr/>
          </p:nvSpPr>
          <p:spPr bwMode="auto">
            <a:xfrm>
              <a:off x="2409" y="3509"/>
              <a:ext cx="1" cy="302"/>
            </a:xfrm>
            <a:custGeom>
              <a:avLst/>
              <a:gdLst>
                <a:gd name="T0" fmla="*/ 0 w 1"/>
                <a:gd name="T1" fmla="*/ 0 h 302"/>
                <a:gd name="T2" fmla="*/ 0 w 1"/>
                <a:gd name="T3" fmla="*/ 301 h 302"/>
                <a:gd name="T4" fmla="*/ 0 w 1"/>
                <a:gd name="T5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02">
                  <a:moveTo>
                    <a:pt x="0" y="0"/>
                  </a:moveTo>
                  <a:lnTo>
                    <a:pt x="0" y="30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 46"/>
            <p:cNvSpPr>
              <a:spLocks/>
            </p:cNvSpPr>
            <p:nvPr/>
          </p:nvSpPr>
          <p:spPr bwMode="auto">
            <a:xfrm>
              <a:off x="3252" y="3519"/>
              <a:ext cx="1" cy="273"/>
            </a:xfrm>
            <a:custGeom>
              <a:avLst/>
              <a:gdLst>
                <a:gd name="T0" fmla="*/ 0 w 1"/>
                <a:gd name="T1" fmla="*/ 0 h 273"/>
                <a:gd name="T2" fmla="*/ 0 w 1"/>
                <a:gd name="T3" fmla="*/ 272 h 273"/>
                <a:gd name="T4" fmla="*/ 0 w 1"/>
                <a:gd name="T5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73">
                  <a:moveTo>
                    <a:pt x="0" y="0"/>
                  </a:moveTo>
                  <a:lnTo>
                    <a:pt x="0" y="27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47"/>
            <p:cNvSpPr>
              <a:spLocks/>
            </p:cNvSpPr>
            <p:nvPr/>
          </p:nvSpPr>
          <p:spPr bwMode="auto">
            <a:xfrm>
              <a:off x="4108" y="3519"/>
              <a:ext cx="1" cy="292"/>
            </a:xfrm>
            <a:custGeom>
              <a:avLst/>
              <a:gdLst>
                <a:gd name="T0" fmla="*/ 0 w 1"/>
                <a:gd name="T1" fmla="*/ 0 h 292"/>
                <a:gd name="T2" fmla="*/ 0 w 1"/>
                <a:gd name="T3" fmla="*/ 291 h 292"/>
                <a:gd name="T4" fmla="*/ 0 w 1"/>
                <a:gd name="T5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2">
                  <a:moveTo>
                    <a:pt x="0" y="0"/>
                  </a:moveTo>
                  <a:lnTo>
                    <a:pt x="0" y="29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48"/>
            <p:cNvSpPr>
              <a:spLocks/>
            </p:cNvSpPr>
            <p:nvPr/>
          </p:nvSpPr>
          <p:spPr bwMode="auto">
            <a:xfrm>
              <a:off x="4952" y="3519"/>
              <a:ext cx="1" cy="292"/>
            </a:xfrm>
            <a:custGeom>
              <a:avLst/>
              <a:gdLst>
                <a:gd name="T0" fmla="*/ 0 w 1"/>
                <a:gd name="T1" fmla="*/ 0 h 292"/>
                <a:gd name="T2" fmla="*/ 0 w 1"/>
                <a:gd name="T3" fmla="*/ 291 h 292"/>
                <a:gd name="T4" fmla="*/ 0 w 1"/>
                <a:gd name="T5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2">
                  <a:moveTo>
                    <a:pt x="0" y="0"/>
                  </a:moveTo>
                  <a:lnTo>
                    <a:pt x="0" y="29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49"/>
            <p:cNvSpPr>
              <a:spLocks/>
            </p:cNvSpPr>
            <p:nvPr/>
          </p:nvSpPr>
          <p:spPr bwMode="auto">
            <a:xfrm>
              <a:off x="2146" y="1940"/>
              <a:ext cx="254" cy="78"/>
            </a:xfrm>
            <a:custGeom>
              <a:avLst/>
              <a:gdLst>
                <a:gd name="T0" fmla="*/ 0 w 254"/>
                <a:gd name="T1" fmla="*/ 0 h 78"/>
                <a:gd name="T2" fmla="*/ 253 w 254"/>
                <a:gd name="T3" fmla="*/ 77 h 78"/>
                <a:gd name="T4" fmla="*/ 0 w 254"/>
                <a:gd name="T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4" h="78">
                  <a:moveTo>
                    <a:pt x="0" y="0"/>
                  </a:moveTo>
                  <a:lnTo>
                    <a:pt x="253" y="77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50"/>
            <p:cNvSpPr>
              <a:spLocks/>
            </p:cNvSpPr>
            <p:nvPr/>
          </p:nvSpPr>
          <p:spPr bwMode="auto">
            <a:xfrm>
              <a:off x="2299" y="1967"/>
              <a:ext cx="101" cy="51"/>
            </a:xfrm>
            <a:custGeom>
              <a:avLst/>
              <a:gdLst>
                <a:gd name="T0" fmla="*/ 15 w 101"/>
                <a:gd name="T1" fmla="*/ 0 h 51"/>
                <a:gd name="T2" fmla="*/ 100 w 101"/>
                <a:gd name="T3" fmla="*/ 50 h 51"/>
                <a:gd name="T4" fmla="*/ 0 w 101"/>
                <a:gd name="T5" fmla="*/ 45 h 51"/>
                <a:gd name="T6" fmla="*/ 15 w 101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" h="51">
                  <a:moveTo>
                    <a:pt x="15" y="0"/>
                  </a:moveTo>
                  <a:lnTo>
                    <a:pt x="100" y="50"/>
                  </a:lnTo>
                  <a:lnTo>
                    <a:pt x="0" y="45"/>
                  </a:lnTo>
                  <a:lnTo>
                    <a:pt x="15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Rectangle 51"/>
            <p:cNvSpPr>
              <a:spLocks noChangeArrowheads="1"/>
            </p:cNvSpPr>
            <p:nvPr/>
          </p:nvSpPr>
          <p:spPr bwMode="auto">
            <a:xfrm>
              <a:off x="381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10*</a:t>
              </a:r>
            </a:p>
          </p:txBody>
        </p:sp>
        <p:sp>
          <p:nvSpPr>
            <p:cNvPr id="154" name="Rectangle 52"/>
            <p:cNvSpPr>
              <a:spLocks noChangeArrowheads="1"/>
            </p:cNvSpPr>
            <p:nvPr/>
          </p:nvSpPr>
          <p:spPr bwMode="auto">
            <a:xfrm>
              <a:off x="721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15*</a:t>
              </a:r>
            </a:p>
          </p:txBody>
        </p:sp>
        <p:sp>
          <p:nvSpPr>
            <p:cNvPr id="155" name="Rectangle 53"/>
            <p:cNvSpPr>
              <a:spLocks noChangeArrowheads="1"/>
            </p:cNvSpPr>
            <p:nvPr/>
          </p:nvSpPr>
          <p:spPr bwMode="auto">
            <a:xfrm>
              <a:off x="1236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20*</a:t>
              </a:r>
            </a:p>
          </p:txBody>
        </p:sp>
        <p:sp>
          <p:nvSpPr>
            <p:cNvPr id="156" name="Rectangle 54"/>
            <p:cNvSpPr>
              <a:spLocks noChangeArrowheads="1"/>
            </p:cNvSpPr>
            <p:nvPr/>
          </p:nvSpPr>
          <p:spPr bwMode="auto">
            <a:xfrm>
              <a:off x="1594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27*</a:t>
              </a:r>
            </a:p>
          </p:txBody>
        </p:sp>
        <p:sp>
          <p:nvSpPr>
            <p:cNvPr id="157" name="Rectangle 55"/>
            <p:cNvSpPr>
              <a:spLocks noChangeArrowheads="1"/>
            </p:cNvSpPr>
            <p:nvPr/>
          </p:nvSpPr>
          <p:spPr bwMode="auto">
            <a:xfrm>
              <a:off x="2099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33*</a:t>
              </a:r>
            </a:p>
          </p:txBody>
        </p:sp>
        <p:sp>
          <p:nvSpPr>
            <p:cNvPr id="158" name="Rectangle 56"/>
            <p:cNvSpPr>
              <a:spLocks noChangeArrowheads="1"/>
            </p:cNvSpPr>
            <p:nvPr/>
          </p:nvSpPr>
          <p:spPr bwMode="auto">
            <a:xfrm>
              <a:off x="2429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37*</a:t>
              </a:r>
            </a:p>
          </p:txBody>
        </p:sp>
        <p:sp>
          <p:nvSpPr>
            <p:cNvPr id="159" name="Rectangle 57"/>
            <p:cNvSpPr>
              <a:spLocks noChangeArrowheads="1"/>
            </p:cNvSpPr>
            <p:nvPr/>
          </p:nvSpPr>
          <p:spPr bwMode="auto">
            <a:xfrm>
              <a:off x="2953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40*</a:t>
              </a:r>
            </a:p>
          </p:txBody>
        </p:sp>
        <p:sp>
          <p:nvSpPr>
            <p:cNvPr id="160" name="Rectangle 58"/>
            <p:cNvSpPr>
              <a:spLocks noChangeArrowheads="1"/>
            </p:cNvSpPr>
            <p:nvPr/>
          </p:nvSpPr>
          <p:spPr bwMode="auto">
            <a:xfrm>
              <a:off x="3284" y="355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46*</a:t>
              </a:r>
            </a:p>
          </p:txBody>
        </p:sp>
        <p:sp>
          <p:nvSpPr>
            <p:cNvPr id="161" name="Rectangle 59"/>
            <p:cNvSpPr>
              <a:spLocks noChangeArrowheads="1"/>
            </p:cNvSpPr>
            <p:nvPr/>
          </p:nvSpPr>
          <p:spPr bwMode="auto">
            <a:xfrm>
              <a:off x="3789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51*</a:t>
              </a:r>
            </a:p>
          </p:txBody>
        </p:sp>
        <p:sp>
          <p:nvSpPr>
            <p:cNvPr id="162" name="Rectangle 60"/>
            <p:cNvSpPr>
              <a:spLocks noChangeArrowheads="1"/>
            </p:cNvSpPr>
            <p:nvPr/>
          </p:nvSpPr>
          <p:spPr bwMode="auto">
            <a:xfrm>
              <a:off x="4158" y="355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55*</a:t>
              </a:r>
            </a:p>
          </p:txBody>
        </p:sp>
        <p:sp>
          <p:nvSpPr>
            <p:cNvPr id="163" name="Rectangle 61"/>
            <p:cNvSpPr>
              <a:spLocks noChangeArrowheads="1"/>
            </p:cNvSpPr>
            <p:nvPr/>
          </p:nvSpPr>
          <p:spPr bwMode="auto">
            <a:xfrm>
              <a:off x="4643" y="357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63*</a:t>
              </a:r>
            </a:p>
          </p:txBody>
        </p:sp>
        <p:sp>
          <p:nvSpPr>
            <p:cNvPr id="164" name="Rectangle 62"/>
            <p:cNvSpPr>
              <a:spLocks noChangeArrowheads="1"/>
            </p:cNvSpPr>
            <p:nvPr/>
          </p:nvSpPr>
          <p:spPr bwMode="auto">
            <a:xfrm>
              <a:off x="4993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97*</a:t>
              </a:r>
            </a:p>
          </p:txBody>
        </p:sp>
        <p:sp>
          <p:nvSpPr>
            <p:cNvPr id="165" name="Rectangle 63"/>
            <p:cNvSpPr>
              <a:spLocks noChangeArrowheads="1"/>
            </p:cNvSpPr>
            <p:nvPr/>
          </p:nvSpPr>
          <p:spPr bwMode="auto">
            <a:xfrm>
              <a:off x="1283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20</a:t>
              </a:r>
            </a:p>
          </p:txBody>
        </p:sp>
        <p:sp>
          <p:nvSpPr>
            <p:cNvPr id="166" name="Rectangle 64"/>
            <p:cNvSpPr>
              <a:spLocks noChangeArrowheads="1"/>
            </p:cNvSpPr>
            <p:nvPr/>
          </p:nvSpPr>
          <p:spPr bwMode="auto">
            <a:xfrm>
              <a:off x="1594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33</a:t>
              </a:r>
            </a:p>
          </p:txBody>
        </p:sp>
        <p:sp>
          <p:nvSpPr>
            <p:cNvPr id="167" name="Rectangle 65"/>
            <p:cNvSpPr>
              <a:spLocks noChangeArrowheads="1"/>
            </p:cNvSpPr>
            <p:nvPr/>
          </p:nvSpPr>
          <p:spPr bwMode="auto">
            <a:xfrm>
              <a:off x="3847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51</a:t>
              </a:r>
            </a:p>
          </p:txBody>
        </p:sp>
        <p:sp>
          <p:nvSpPr>
            <p:cNvPr id="168" name="Rectangle 66"/>
            <p:cNvSpPr>
              <a:spLocks noChangeArrowheads="1"/>
            </p:cNvSpPr>
            <p:nvPr/>
          </p:nvSpPr>
          <p:spPr bwMode="auto">
            <a:xfrm>
              <a:off x="4147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63</a:t>
              </a:r>
            </a:p>
          </p:txBody>
        </p:sp>
        <p:sp>
          <p:nvSpPr>
            <p:cNvPr id="169" name="Rectangle 67"/>
            <p:cNvSpPr>
              <a:spLocks noChangeArrowheads="1"/>
            </p:cNvSpPr>
            <p:nvPr/>
          </p:nvSpPr>
          <p:spPr bwMode="auto">
            <a:xfrm>
              <a:off x="2517" y="2080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40</a:t>
              </a:r>
            </a:p>
          </p:txBody>
        </p:sp>
        <p:sp>
          <p:nvSpPr>
            <p:cNvPr id="170" name="Rectangle 68"/>
            <p:cNvSpPr>
              <a:spLocks noChangeArrowheads="1"/>
            </p:cNvSpPr>
            <p:nvPr/>
          </p:nvSpPr>
          <p:spPr bwMode="auto">
            <a:xfrm>
              <a:off x="1671" y="1868"/>
              <a:ext cx="369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Root</a:t>
              </a:r>
            </a:p>
          </p:txBody>
        </p:sp>
      </p:grpSp>
      <p:cxnSp>
        <p:nvCxnSpPr>
          <p:cNvPr id="3" name="Straight Arrow Connector 2"/>
          <p:cNvCxnSpPr>
            <a:endCxn id="132" idx="1"/>
          </p:cNvCxnSpPr>
          <p:nvPr/>
        </p:nvCxnSpPr>
        <p:spPr>
          <a:xfrm>
            <a:off x="4905376" y="3819479"/>
            <a:ext cx="1525587" cy="5396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/>
          <p:cNvCxnSpPr>
            <a:endCxn id="140" idx="1"/>
          </p:cNvCxnSpPr>
          <p:nvPr/>
        </p:nvCxnSpPr>
        <p:spPr>
          <a:xfrm flipH="1">
            <a:off x="6107113" y="4675616"/>
            <a:ext cx="405110" cy="6002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reeform 50"/>
          <p:cNvSpPr>
            <a:spLocks/>
          </p:cNvSpPr>
          <p:nvPr/>
        </p:nvSpPr>
        <p:spPr bwMode="auto">
          <a:xfrm>
            <a:off x="2389833" y="5835042"/>
            <a:ext cx="992188" cy="341312"/>
          </a:xfrm>
          <a:custGeom>
            <a:avLst/>
            <a:gdLst>
              <a:gd name="T0" fmla="*/ 0 w 625"/>
              <a:gd name="T1" fmla="*/ 278 h 279"/>
              <a:gd name="T2" fmla="*/ 0 w 625"/>
              <a:gd name="T3" fmla="*/ 0 h 279"/>
              <a:gd name="T4" fmla="*/ 624 w 625"/>
              <a:gd name="T5" fmla="*/ 0 h 279"/>
              <a:gd name="T6" fmla="*/ 624 w 625"/>
              <a:gd name="T7" fmla="*/ 278 h 279"/>
              <a:gd name="T8" fmla="*/ 0 w 625"/>
              <a:gd name="T9" fmla="*/ 278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5" h="279">
                <a:moveTo>
                  <a:pt x="0" y="278"/>
                </a:moveTo>
                <a:lnTo>
                  <a:pt x="0" y="0"/>
                </a:lnTo>
                <a:lnTo>
                  <a:pt x="624" y="0"/>
                </a:lnTo>
                <a:lnTo>
                  <a:pt x="624" y="278"/>
                </a:lnTo>
                <a:lnTo>
                  <a:pt x="0" y="27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Freeform 51"/>
          <p:cNvSpPr>
            <a:spLocks/>
          </p:cNvSpPr>
          <p:nvPr/>
        </p:nvSpPr>
        <p:spPr bwMode="auto">
          <a:xfrm>
            <a:off x="2885133" y="5849329"/>
            <a:ext cx="1588" cy="309506"/>
          </a:xfrm>
          <a:custGeom>
            <a:avLst/>
            <a:gdLst>
              <a:gd name="T0" fmla="*/ 0 w 1"/>
              <a:gd name="T1" fmla="*/ 0 h 253"/>
              <a:gd name="T2" fmla="*/ 0 w 1"/>
              <a:gd name="T3" fmla="*/ 252 h 253"/>
              <a:gd name="T4" fmla="*/ 0 w 1"/>
              <a:gd name="T5" fmla="*/ 0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3">
                <a:moveTo>
                  <a:pt x="0" y="0"/>
                </a:moveTo>
                <a:lnTo>
                  <a:pt x="0" y="25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Rectangle 76"/>
          <p:cNvSpPr>
            <a:spLocks noChangeArrowheads="1"/>
          </p:cNvSpPr>
          <p:nvPr/>
        </p:nvSpPr>
        <p:spPr bwMode="auto">
          <a:xfrm>
            <a:off x="2435871" y="5889017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23*</a:t>
            </a:r>
          </a:p>
        </p:txBody>
      </p:sp>
      <p:sp>
        <p:nvSpPr>
          <p:cNvPr id="75" name="Arc 87"/>
          <p:cNvSpPr>
            <a:spLocks/>
          </p:cNvSpPr>
          <p:nvPr/>
        </p:nvSpPr>
        <p:spPr bwMode="auto">
          <a:xfrm>
            <a:off x="2377603" y="5711226"/>
            <a:ext cx="152400" cy="14506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" name="Freeform 52"/>
          <p:cNvSpPr>
            <a:spLocks/>
          </p:cNvSpPr>
          <p:nvPr/>
        </p:nvSpPr>
        <p:spPr bwMode="auto">
          <a:xfrm>
            <a:off x="5103680" y="5856288"/>
            <a:ext cx="992188" cy="373856"/>
          </a:xfrm>
          <a:custGeom>
            <a:avLst/>
            <a:gdLst>
              <a:gd name="T0" fmla="*/ 0 w 625"/>
              <a:gd name="T1" fmla="*/ 278 h 279"/>
              <a:gd name="T2" fmla="*/ 0 w 625"/>
              <a:gd name="T3" fmla="*/ 0 h 279"/>
              <a:gd name="T4" fmla="*/ 624 w 625"/>
              <a:gd name="T5" fmla="*/ 0 h 279"/>
              <a:gd name="T6" fmla="*/ 624 w 625"/>
              <a:gd name="T7" fmla="*/ 278 h 279"/>
              <a:gd name="T8" fmla="*/ 0 w 625"/>
              <a:gd name="T9" fmla="*/ 278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5" h="279">
                <a:moveTo>
                  <a:pt x="0" y="278"/>
                </a:moveTo>
                <a:lnTo>
                  <a:pt x="0" y="0"/>
                </a:lnTo>
                <a:lnTo>
                  <a:pt x="624" y="0"/>
                </a:lnTo>
                <a:lnTo>
                  <a:pt x="624" y="278"/>
                </a:lnTo>
                <a:lnTo>
                  <a:pt x="0" y="27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" name="Freeform 53"/>
          <p:cNvSpPr>
            <a:spLocks/>
          </p:cNvSpPr>
          <p:nvPr/>
        </p:nvSpPr>
        <p:spPr bwMode="auto">
          <a:xfrm>
            <a:off x="5568818" y="5868988"/>
            <a:ext cx="1587" cy="351077"/>
          </a:xfrm>
          <a:custGeom>
            <a:avLst/>
            <a:gdLst>
              <a:gd name="T0" fmla="*/ 0 w 1"/>
              <a:gd name="T1" fmla="*/ 0 h 262"/>
              <a:gd name="T2" fmla="*/ 0 w 1"/>
              <a:gd name="T3" fmla="*/ 261 h 262"/>
              <a:gd name="T4" fmla="*/ 0 w 1"/>
              <a:gd name="T5" fmla="*/ 0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62">
                <a:moveTo>
                  <a:pt x="0" y="0"/>
                </a:moveTo>
                <a:lnTo>
                  <a:pt x="0" y="26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Rectangle 77"/>
          <p:cNvSpPr>
            <a:spLocks noChangeArrowheads="1"/>
          </p:cNvSpPr>
          <p:nvPr/>
        </p:nvSpPr>
        <p:spPr bwMode="auto">
          <a:xfrm>
            <a:off x="5162418" y="5897563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48*</a:t>
            </a:r>
          </a:p>
        </p:txBody>
      </p:sp>
      <p:sp>
        <p:nvSpPr>
          <p:cNvPr id="102" name="Arc 88"/>
          <p:cNvSpPr>
            <a:spLocks/>
          </p:cNvSpPr>
          <p:nvPr/>
        </p:nvSpPr>
        <p:spPr bwMode="auto">
          <a:xfrm>
            <a:off x="5071930" y="5711226"/>
            <a:ext cx="152400" cy="156174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755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  <p:bldP spid="96" grpId="0" animBg="1"/>
      <p:bldP spid="99" grpId="0"/>
      <p:bldP spid="10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ISAM: Inserting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The appropriate page is determined as for a search, and the entry is inserted (with overflow pages added if necessary)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Insert </a:t>
            </a:r>
            <a:r>
              <a:rPr lang="en-US" sz="2600" dirty="0" smtClean="0">
                <a:solidFill>
                  <a:srgbClr val="FF0000"/>
                </a:solidFill>
              </a:rPr>
              <a:t>41*</a:t>
            </a:r>
            <a:endParaRPr lang="en-US" sz="2600" dirty="0">
              <a:solidFill>
                <a:srgbClr val="FF0000"/>
              </a:solidFill>
            </a:endParaRPr>
          </a:p>
        </p:txBody>
      </p:sp>
      <p:grpSp>
        <p:nvGrpSpPr>
          <p:cNvPr id="107" name="Group 69"/>
          <p:cNvGrpSpPr>
            <a:grpSpLocks/>
          </p:cNvGrpSpPr>
          <p:nvPr/>
        </p:nvGrpSpPr>
        <p:grpSpPr bwMode="auto">
          <a:xfrm>
            <a:off x="1022350" y="3342904"/>
            <a:ext cx="7893050" cy="2368322"/>
            <a:chOff x="351" y="1868"/>
            <a:chExt cx="4972" cy="1953"/>
          </a:xfrm>
        </p:grpSpPr>
        <p:sp>
          <p:nvSpPr>
            <p:cNvPr id="108" name="Freeform 6"/>
            <p:cNvSpPr>
              <a:spLocks/>
            </p:cNvSpPr>
            <p:nvPr/>
          </p:nvSpPr>
          <p:spPr bwMode="auto">
            <a:xfrm>
              <a:off x="351" y="3509"/>
              <a:ext cx="699" cy="312"/>
            </a:xfrm>
            <a:custGeom>
              <a:avLst/>
              <a:gdLst>
                <a:gd name="T0" fmla="*/ 0 w 699"/>
                <a:gd name="T1" fmla="*/ 311 h 312"/>
                <a:gd name="T2" fmla="*/ 0 w 699"/>
                <a:gd name="T3" fmla="*/ 0 h 312"/>
                <a:gd name="T4" fmla="*/ 698 w 699"/>
                <a:gd name="T5" fmla="*/ 0 h 312"/>
                <a:gd name="T6" fmla="*/ 698 w 699"/>
                <a:gd name="T7" fmla="*/ 311 h 312"/>
                <a:gd name="T8" fmla="*/ 0 w 699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9" h="312">
                  <a:moveTo>
                    <a:pt x="0" y="311"/>
                  </a:moveTo>
                  <a:lnTo>
                    <a:pt x="0" y="0"/>
                  </a:lnTo>
                  <a:lnTo>
                    <a:pt x="698" y="0"/>
                  </a:lnTo>
                  <a:lnTo>
                    <a:pt x="698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7"/>
            <p:cNvSpPr>
              <a:spLocks/>
            </p:cNvSpPr>
            <p:nvPr/>
          </p:nvSpPr>
          <p:spPr bwMode="auto">
            <a:xfrm>
              <a:off x="1204" y="3509"/>
              <a:ext cx="700" cy="312"/>
            </a:xfrm>
            <a:custGeom>
              <a:avLst/>
              <a:gdLst>
                <a:gd name="T0" fmla="*/ 0 w 700"/>
                <a:gd name="T1" fmla="*/ 311 h 312"/>
                <a:gd name="T2" fmla="*/ 0 w 700"/>
                <a:gd name="T3" fmla="*/ 0 h 312"/>
                <a:gd name="T4" fmla="*/ 699 w 700"/>
                <a:gd name="T5" fmla="*/ 0 h 312"/>
                <a:gd name="T6" fmla="*/ 699 w 700"/>
                <a:gd name="T7" fmla="*/ 311 h 312"/>
                <a:gd name="T8" fmla="*/ 0 w 700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2">
                  <a:moveTo>
                    <a:pt x="0" y="311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8"/>
            <p:cNvSpPr>
              <a:spLocks/>
            </p:cNvSpPr>
            <p:nvPr/>
          </p:nvSpPr>
          <p:spPr bwMode="auto">
            <a:xfrm>
              <a:off x="2059" y="3509"/>
              <a:ext cx="700" cy="312"/>
            </a:xfrm>
            <a:custGeom>
              <a:avLst/>
              <a:gdLst>
                <a:gd name="T0" fmla="*/ 0 w 700"/>
                <a:gd name="T1" fmla="*/ 311 h 312"/>
                <a:gd name="T2" fmla="*/ 0 w 700"/>
                <a:gd name="T3" fmla="*/ 0 h 312"/>
                <a:gd name="T4" fmla="*/ 699 w 700"/>
                <a:gd name="T5" fmla="*/ 0 h 312"/>
                <a:gd name="T6" fmla="*/ 699 w 700"/>
                <a:gd name="T7" fmla="*/ 311 h 312"/>
                <a:gd name="T8" fmla="*/ 0 w 700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2">
                  <a:moveTo>
                    <a:pt x="0" y="311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9"/>
            <p:cNvSpPr>
              <a:spLocks/>
            </p:cNvSpPr>
            <p:nvPr/>
          </p:nvSpPr>
          <p:spPr bwMode="auto">
            <a:xfrm>
              <a:off x="2914" y="3509"/>
              <a:ext cx="699" cy="312"/>
            </a:xfrm>
            <a:custGeom>
              <a:avLst/>
              <a:gdLst>
                <a:gd name="T0" fmla="*/ 0 w 699"/>
                <a:gd name="T1" fmla="*/ 311 h 312"/>
                <a:gd name="T2" fmla="*/ 0 w 699"/>
                <a:gd name="T3" fmla="*/ 0 h 312"/>
                <a:gd name="T4" fmla="*/ 698 w 699"/>
                <a:gd name="T5" fmla="*/ 0 h 312"/>
                <a:gd name="T6" fmla="*/ 698 w 699"/>
                <a:gd name="T7" fmla="*/ 311 h 312"/>
                <a:gd name="T8" fmla="*/ 0 w 699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9" h="312">
                  <a:moveTo>
                    <a:pt x="0" y="311"/>
                  </a:moveTo>
                  <a:lnTo>
                    <a:pt x="0" y="0"/>
                  </a:lnTo>
                  <a:lnTo>
                    <a:pt x="698" y="0"/>
                  </a:lnTo>
                  <a:lnTo>
                    <a:pt x="698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0"/>
            <p:cNvSpPr>
              <a:spLocks/>
            </p:cNvSpPr>
            <p:nvPr/>
          </p:nvSpPr>
          <p:spPr bwMode="auto">
            <a:xfrm>
              <a:off x="3767" y="3509"/>
              <a:ext cx="701" cy="312"/>
            </a:xfrm>
            <a:custGeom>
              <a:avLst/>
              <a:gdLst>
                <a:gd name="T0" fmla="*/ 0 w 701"/>
                <a:gd name="T1" fmla="*/ 311 h 312"/>
                <a:gd name="T2" fmla="*/ 0 w 701"/>
                <a:gd name="T3" fmla="*/ 0 h 312"/>
                <a:gd name="T4" fmla="*/ 700 w 701"/>
                <a:gd name="T5" fmla="*/ 0 h 312"/>
                <a:gd name="T6" fmla="*/ 700 w 701"/>
                <a:gd name="T7" fmla="*/ 311 h 312"/>
                <a:gd name="T8" fmla="*/ 0 w 701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1" h="312">
                  <a:moveTo>
                    <a:pt x="0" y="311"/>
                  </a:moveTo>
                  <a:lnTo>
                    <a:pt x="0" y="0"/>
                  </a:lnTo>
                  <a:lnTo>
                    <a:pt x="700" y="0"/>
                  </a:lnTo>
                  <a:lnTo>
                    <a:pt x="700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1"/>
            <p:cNvSpPr>
              <a:spLocks/>
            </p:cNvSpPr>
            <p:nvPr/>
          </p:nvSpPr>
          <p:spPr bwMode="auto">
            <a:xfrm>
              <a:off x="4621" y="3509"/>
              <a:ext cx="702" cy="312"/>
            </a:xfrm>
            <a:custGeom>
              <a:avLst/>
              <a:gdLst>
                <a:gd name="T0" fmla="*/ 0 w 702"/>
                <a:gd name="T1" fmla="*/ 311 h 312"/>
                <a:gd name="T2" fmla="*/ 0 w 702"/>
                <a:gd name="T3" fmla="*/ 0 h 312"/>
                <a:gd name="T4" fmla="*/ 701 w 702"/>
                <a:gd name="T5" fmla="*/ 0 h 312"/>
                <a:gd name="T6" fmla="*/ 701 w 702"/>
                <a:gd name="T7" fmla="*/ 311 h 312"/>
                <a:gd name="T8" fmla="*/ 0 w 702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2" h="312">
                  <a:moveTo>
                    <a:pt x="0" y="311"/>
                  </a:moveTo>
                  <a:lnTo>
                    <a:pt x="0" y="0"/>
                  </a:lnTo>
                  <a:lnTo>
                    <a:pt x="701" y="0"/>
                  </a:lnTo>
                  <a:lnTo>
                    <a:pt x="701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12"/>
            <p:cNvSpPr>
              <a:spLocks/>
            </p:cNvSpPr>
            <p:nvPr/>
          </p:nvSpPr>
          <p:spPr bwMode="auto">
            <a:xfrm>
              <a:off x="1204" y="2735"/>
              <a:ext cx="700" cy="311"/>
            </a:xfrm>
            <a:custGeom>
              <a:avLst/>
              <a:gdLst>
                <a:gd name="T0" fmla="*/ 0 w 700"/>
                <a:gd name="T1" fmla="*/ 310 h 311"/>
                <a:gd name="T2" fmla="*/ 0 w 700"/>
                <a:gd name="T3" fmla="*/ 0 h 311"/>
                <a:gd name="T4" fmla="*/ 699 w 700"/>
                <a:gd name="T5" fmla="*/ 0 h 311"/>
                <a:gd name="T6" fmla="*/ 699 w 700"/>
                <a:gd name="T7" fmla="*/ 310 h 311"/>
                <a:gd name="T8" fmla="*/ 0 w 700"/>
                <a:gd name="T9" fmla="*/ 31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1">
                  <a:moveTo>
                    <a:pt x="0" y="310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0"/>
                  </a:lnTo>
                  <a:lnTo>
                    <a:pt x="0" y="31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13"/>
            <p:cNvSpPr>
              <a:spLocks/>
            </p:cNvSpPr>
            <p:nvPr/>
          </p:nvSpPr>
          <p:spPr bwMode="auto">
            <a:xfrm>
              <a:off x="1284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14"/>
            <p:cNvSpPr>
              <a:spLocks/>
            </p:cNvSpPr>
            <p:nvPr/>
          </p:nvSpPr>
          <p:spPr bwMode="auto">
            <a:xfrm>
              <a:off x="1515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15"/>
            <p:cNvSpPr>
              <a:spLocks/>
            </p:cNvSpPr>
            <p:nvPr/>
          </p:nvSpPr>
          <p:spPr bwMode="auto">
            <a:xfrm>
              <a:off x="1593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16"/>
            <p:cNvSpPr>
              <a:spLocks/>
            </p:cNvSpPr>
            <p:nvPr/>
          </p:nvSpPr>
          <p:spPr bwMode="auto">
            <a:xfrm>
              <a:off x="1827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17"/>
            <p:cNvSpPr>
              <a:spLocks/>
            </p:cNvSpPr>
            <p:nvPr/>
          </p:nvSpPr>
          <p:spPr bwMode="auto">
            <a:xfrm>
              <a:off x="3767" y="2735"/>
              <a:ext cx="701" cy="311"/>
            </a:xfrm>
            <a:custGeom>
              <a:avLst/>
              <a:gdLst>
                <a:gd name="T0" fmla="*/ 0 w 701"/>
                <a:gd name="T1" fmla="*/ 310 h 311"/>
                <a:gd name="T2" fmla="*/ 0 w 701"/>
                <a:gd name="T3" fmla="*/ 0 h 311"/>
                <a:gd name="T4" fmla="*/ 700 w 701"/>
                <a:gd name="T5" fmla="*/ 0 h 311"/>
                <a:gd name="T6" fmla="*/ 700 w 701"/>
                <a:gd name="T7" fmla="*/ 310 h 311"/>
                <a:gd name="T8" fmla="*/ 0 w 701"/>
                <a:gd name="T9" fmla="*/ 31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1" h="311">
                  <a:moveTo>
                    <a:pt x="0" y="310"/>
                  </a:moveTo>
                  <a:lnTo>
                    <a:pt x="0" y="0"/>
                  </a:lnTo>
                  <a:lnTo>
                    <a:pt x="700" y="0"/>
                  </a:lnTo>
                  <a:lnTo>
                    <a:pt x="700" y="310"/>
                  </a:lnTo>
                  <a:lnTo>
                    <a:pt x="0" y="31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18"/>
            <p:cNvSpPr>
              <a:spLocks/>
            </p:cNvSpPr>
            <p:nvPr/>
          </p:nvSpPr>
          <p:spPr bwMode="auto">
            <a:xfrm>
              <a:off x="3846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19"/>
            <p:cNvSpPr>
              <a:spLocks/>
            </p:cNvSpPr>
            <p:nvPr/>
          </p:nvSpPr>
          <p:spPr bwMode="auto">
            <a:xfrm>
              <a:off x="4078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20"/>
            <p:cNvSpPr>
              <a:spLocks/>
            </p:cNvSpPr>
            <p:nvPr/>
          </p:nvSpPr>
          <p:spPr bwMode="auto">
            <a:xfrm>
              <a:off x="4156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21"/>
            <p:cNvSpPr>
              <a:spLocks/>
            </p:cNvSpPr>
            <p:nvPr/>
          </p:nvSpPr>
          <p:spPr bwMode="auto">
            <a:xfrm>
              <a:off x="4389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22"/>
            <p:cNvSpPr>
              <a:spLocks/>
            </p:cNvSpPr>
            <p:nvPr/>
          </p:nvSpPr>
          <p:spPr bwMode="auto">
            <a:xfrm>
              <a:off x="2447" y="2037"/>
              <a:ext cx="700" cy="312"/>
            </a:xfrm>
            <a:custGeom>
              <a:avLst/>
              <a:gdLst>
                <a:gd name="T0" fmla="*/ 0 w 700"/>
                <a:gd name="T1" fmla="*/ 311 h 312"/>
                <a:gd name="T2" fmla="*/ 0 w 700"/>
                <a:gd name="T3" fmla="*/ 0 h 312"/>
                <a:gd name="T4" fmla="*/ 699 w 700"/>
                <a:gd name="T5" fmla="*/ 0 h 312"/>
                <a:gd name="T6" fmla="*/ 699 w 700"/>
                <a:gd name="T7" fmla="*/ 311 h 312"/>
                <a:gd name="T8" fmla="*/ 0 w 700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2">
                  <a:moveTo>
                    <a:pt x="0" y="311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23"/>
            <p:cNvSpPr>
              <a:spLocks/>
            </p:cNvSpPr>
            <p:nvPr/>
          </p:nvSpPr>
          <p:spPr bwMode="auto">
            <a:xfrm>
              <a:off x="2525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24"/>
            <p:cNvSpPr>
              <a:spLocks/>
            </p:cNvSpPr>
            <p:nvPr/>
          </p:nvSpPr>
          <p:spPr bwMode="auto">
            <a:xfrm>
              <a:off x="2758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25"/>
            <p:cNvSpPr>
              <a:spLocks/>
            </p:cNvSpPr>
            <p:nvPr/>
          </p:nvSpPr>
          <p:spPr bwMode="auto">
            <a:xfrm>
              <a:off x="2836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26"/>
            <p:cNvSpPr>
              <a:spLocks/>
            </p:cNvSpPr>
            <p:nvPr/>
          </p:nvSpPr>
          <p:spPr bwMode="auto">
            <a:xfrm>
              <a:off x="3069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27"/>
            <p:cNvSpPr>
              <a:spLocks/>
            </p:cNvSpPr>
            <p:nvPr/>
          </p:nvSpPr>
          <p:spPr bwMode="auto">
            <a:xfrm>
              <a:off x="1903" y="2280"/>
              <a:ext cx="575" cy="418"/>
            </a:xfrm>
            <a:custGeom>
              <a:avLst/>
              <a:gdLst>
                <a:gd name="T0" fmla="*/ 574 w 575"/>
                <a:gd name="T1" fmla="*/ 0 h 418"/>
                <a:gd name="T2" fmla="*/ 0 w 575"/>
                <a:gd name="T3" fmla="*/ 417 h 418"/>
                <a:gd name="T4" fmla="*/ 574 w 575"/>
                <a:gd name="T5" fmla="*/ 0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5" h="418">
                  <a:moveTo>
                    <a:pt x="574" y="0"/>
                  </a:moveTo>
                  <a:lnTo>
                    <a:pt x="0" y="417"/>
                  </a:lnTo>
                  <a:lnTo>
                    <a:pt x="574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28"/>
            <p:cNvSpPr>
              <a:spLocks/>
            </p:cNvSpPr>
            <p:nvPr/>
          </p:nvSpPr>
          <p:spPr bwMode="auto">
            <a:xfrm>
              <a:off x="1903" y="2620"/>
              <a:ext cx="94" cy="78"/>
            </a:xfrm>
            <a:custGeom>
              <a:avLst/>
              <a:gdLst>
                <a:gd name="T0" fmla="*/ 93 w 94"/>
                <a:gd name="T1" fmla="*/ 39 h 78"/>
                <a:gd name="T2" fmla="*/ 0 w 94"/>
                <a:gd name="T3" fmla="*/ 77 h 78"/>
                <a:gd name="T4" fmla="*/ 65 w 94"/>
                <a:gd name="T5" fmla="*/ 0 h 78"/>
                <a:gd name="T6" fmla="*/ 93 w 94"/>
                <a:gd name="T7" fmla="*/ 3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4" h="78">
                  <a:moveTo>
                    <a:pt x="93" y="39"/>
                  </a:moveTo>
                  <a:lnTo>
                    <a:pt x="0" y="77"/>
                  </a:lnTo>
                  <a:lnTo>
                    <a:pt x="65" y="0"/>
                  </a:lnTo>
                  <a:lnTo>
                    <a:pt x="93" y="39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29"/>
            <p:cNvSpPr>
              <a:spLocks/>
            </p:cNvSpPr>
            <p:nvPr/>
          </p:nvSpPr>
          <p:spPr bwMode="auto">
            <a:xfrm>
              <a:off x="2788" y="2260"/>
              <a:ext cx="971" cy="447"/>
            </a:xfrm>
            <a:custGeom>
              <a:avLst/>
              <a:gdLst>
                <a:gd name="T0" fmla="*/ 0 w 971"/>
                <a:gd name="T1" fmla="*/ 0 h 447"/>
                <a:gd name="T2" fmla="*/ 970 w 971"/>
                <a:gd name="T3" fmla="*/ 446 h 447"/>
                <a:gd name="T4" fmla="*/ 0 w 971"/>
                <a:gd name="T5" fmla="*/ 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71" h="447">
                  <a:moveTo>
                    <a:pt x="0" y="0"/>
                  </a:moveTo>
                  <a:lnTo>
                    <a:pt x="970" y="446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30"/>
            <p:cNvSpPr>
              <a:spLocks/>
            </p:cNvSpPr>
            <p:nvPr/>
          </p:nvSpPr>
          <p:spPr bwMode="auto">
            <a:xfrm>
              <a:off x="3659" y="2644"/>
              <a:ext cx="100" cy="63"/>
            </a:xfrm>
            <a:custGeom>
              <a:avLst/>
              <a:gdLst>
                <a:gd name="T0" fmla="*/ 21 w 100"/>
                <a:gd name="T1" fmla="*/ 0 h 63"/>
                <a:gd name="T2" fmla="*/ 99 w 100"/>
                <a:gd name="T3" fmla="*/ 62 h 63"/>
                <a:gd name="T4" fmla="*/ 0 w 100"/>
                <a:gd name="T5" fmla="*/ 44 h 63"/>
                <a:gd name="T6" fmla="*/ 21 w 100"/>
                <a:gd name="T7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" h="63">
                  <a:moveTo>
                    <a:pt x="21" y="0"/>
                  </a:moveTo>
                  <a:lnTo>
                    <a:pt x="99" y="62"/>
                  </a:lnTo>
                  <a:lnTo>
                    <a:pt x="0" y="44"/>
                  </a:lnTo>
                  <a:lnTo>
                    <a:pt x="21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31"/>
            <p:cNvSpPr>
              <a:spLocks/>
            </p:cNvSpPr>
            <p:nvPr/>
          </p:nvSpPr>
          <p:spPr bwMode="auto">
            <a:xfrm>
              <a:off x="972" y="2996"/>
              <a:ext cx="272" cy="486"/>
            </a:xfrm>
            <a:custGeom>
              <a:avLst/>
              <a:gdLst>
                <a:gd name="T0" fmla="*/ 271 w 272"/>
                <a:gd name="T1" fmla="*/ 0 h 486"/>
                <a:gd name="T2" fmla="*/ 0 w 272"/>
                <a:gd name="T3" fmla="*/ 485 h 486"/>
                <a:gd name="T4" fmla="*/ 271 w 272"/>
                <a:gd name="T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2" h="486">
                  <a:moveTo>
                    <a:pt x="271" y="0"/>
                  </a:moveTo>
                  <a:lnTo>
                    <a:pt x="0" y="485"/>
                  </a:lnTo>
                  <a:lnTo>
                    <a:pt x="271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32"/>
            <p:cNvSpPr>
              <a:spLocks/>
            </p:cNvSpPr>
            <p:nvPr/>
          </p:nvSpPr>
          <p:spPr bwMode="auto">
            <a:xfrm>
              <a:off x="972" y="3384"/>
              <a:ext cx="69" cy="98"/>
            </a:xfrm>
            <a:custGeom>
              <a:avLst/>
              <a:gdLst>
                <a:gd name="T0" fmla="*/ 68 w 69"/>
                <a:gd name="T1" fmla="*/ 25 h 98"/>
                <a:gd name="T2" fmla="*/ 0 w 69"/>
                <a:gd name="T3" fmla="*/ 97 h 98"/>
                <a:gd name="T4" fmla="*/ 26 w 69"/>
                <a:gd name="T5" fmla="*/ 0 h 98"/>
                <a:gd name="T6" fmla="*/ 68 w 69"/>
                <a:gd name="T7" fmla="*/ 25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98">
                  <a:moveTo>
                    <a:pt x="68" y="25"/>
                  </a:moveTo>
                  <a:lnTo>
                    <a:pt x="0" y="97"/>
                  </a:lnTo>
                  <a:lnTo>
                    <a:pt x="26" y="0"/>
                  </a:lnTo>
                  <a:lnTo>
                    <a:pt x="68" y="25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33"/>
            <p:cNvSpPr>
              <a:spLocks/>
            </p:cNvSpPr>
            <p:nvPr/>
          </p:nvSpPr>
          <p:spPr bwMode="auto">
            <a:xfrm>
              <a:off x="1554" y="2977"/>
              <a:ext cx="1" cy="505"/>
            </a:xfrm>
            <a:custGeom>
              <a:avLst/>
              <a:gdLst>
                <a:gd name="T0" fmla="*/ 0 w 1"/>
                <a:gd name="T1" fmla="*/ 0 h 505"/>
                <a:gd name="T2" fmla="*/ 0 w 1"/>
                <a:gd name="T3" fmla="*/ 504 h 505"/>
                <a:gd name="T4" fmla="*/ 0 w 1"/>
                <a:gd name="T5" fmla="*/ 0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05">
                  <a:moveTo>
                    <a:pt x="0" y="0"/>
                  </a:moveTo>
                  <a:lnTo>
                    <a:pt x="0" y="504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34"/>
            <p:cNvSpPr>
              <a:spLocks/>
            </p:cNvSpPr>
            <p:nvPr/>
          </p:nvSpPr>
          <p:spPr bwMode="auto">
            <a:xfrm>
              <a:off x="1530" y="3384"/>
              <a:ext cx="50" cy="98"/>
            </a:xfrm>
            <a:custGeom>
              <a:avLst/>
              <a:gdLst>
                <a:gd name="T0" fmla="*/ 49 w 50"/>
                <a:gd name="T1" fmla="*/ 0 h 98"/>
                <a:gd name="T2" fmla="*/ 24 w 50"/>
                <a:gd name="T3" fmla="*/ 97 h 98"/>
                <a:gd name="T4" fmla="*/ 0 w 50"/>
                <a:gd name="T5" fmla="*/ 0 h 98"/>
                <a:gd name="T6" fmla="*/ 49 w 50"/>
                <a:gd name="T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98">
                  <a:moveTo>
                    <a:pt x="49" y="0"/>
                  </a:moveTo>
                  <a:lnTo>
                    <a:pt x="24" y="97"/>
                  </a:lnTo>
                  <a:lnTo>
                    <a:pt x="0" y="0"/>
                  </a:lnTo>
                  <a:lnTo>
                    <a:pt x="49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35"/>
            <p:cNvSpPr>
              <a:spLocks/>
            </p:cNvSpPr>
            <p:nvPr/>
          </p:nvSpPr>
          <p:spPr bwMode="auto">
            <a:xfrm>
              <a:off x="1865" y="2958"/>
              <a:ext cx="214" cy="514"/>
            </a:xfrm>
            <a:custGeom>
              <a:avLst/>
              <a:gdLst>
                <a:gd name="T0" fmla="*/ 0 w 214"/>
                <a:gd name="T1" fmla="*/ 0 h 514"/>
                <a:gd name="T2" fmla="*/ 213 w 214"/>
                <a:gd name="T3" fmla="*/ 513 h 514"/>
                <a:gd name="T4" fmla="*/ 0 w 214"/>
                <a:gd name="T5" fmla="*/ 0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4" h="514">
                  <a:moveTo>
                    <a:pt x="0" y="0"/>
                  </a:moveTo>
                  <a:lnTo>
                    <a:pt x="213" y="513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36"/>
            <p:cNvSpPr>
              <a:spLocks/>
            </p:cNvSpPr>
            <p:nvPr/>
          </p:nvSpPr>
          <p:spPr bwMode="auto">
            <a:xfrm>
              <a:off x="2019" y="3372"/>
              <a:ext cx="60" cy="100"/>
            </a:xfrm>
            <a:custGeom>
              <a:avLst/>
              <a:gdLst>
                <a:gd name="T0" fmla="*/ 45 w 60"/>
                <a:gd name="T1" fmla="*/ 0 h 100"/>
                <a:gd name="T2" fmla="*/ 59 w 60"/>
                <a:gd name="T3" fmla="*/ 99 h 100"/>
                <a:gd name="T4" fmla="*/ 0 w 60"/>
                <a:gd name="T5" fmla="*/ 18 h 100"/>
                <a:gd name="T6" fmla="*/ 45 w 60"/>
                <a:gd name="T7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" h="100">
                  <a:moveTo>
                    <a:pt x="45" y="0"/>
                  </a:moveTo>
                  <a:lnTo>
                    <a:pt x="59" y="99"/>
                  </a:lnTo>
                  <a:lnTo>
                    <a:pt x="0" y="18"/>
                  </a:lnTo>
                  <a:lnTo>
                    <a:pt x="45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37"/>
            <p:cNvSpPr>
              <a:spLocks/>
            </p:cNvSpPr>
            <p:nvPr/>
          </p:nvSpPr>
          <p:spPr bwMode="auto">
            <a:xfrm>
              <a:off x="3554" y="2967"/>
              <a:ext cx="254" cy="496"/>
            </a:xfrm>
            <a:custGeom>
              <a:avLst/>
              <a:gdLst>
                <a:gd name="T0" fmla="*/ 253 w 254"/>
                <a:gd name="T1" fmla="*/ 0 h 496"/>
                <a:gd name="T2" fmla="*/ 0 w 254"/>
                <a:gd name="T3" fmla="*/ 495 h 496"/>
                <a:gd name="T4" fmla="*/ 253 w 254"/>
                <a:gd name="T5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4" h="496">
                  <a:moveTo>
                    <a:pt x="253" y="0"/>
                  </a:moveTo>
                  <a:lnTo>
                    <a:pt x="0" y="495"/>
                  </a:lnTo>
                  <a:lnTo>
                    <a:pt x="253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38"/>
            <p:cNvSpPr>
              <a:spLocks/>
            </p:cNvSpPr>
            <p:nvPr/>
          </p:nvSpPr>
          <p:spPr bwMode="auto">
            <a:xfrm>
              <a:off x="3554" y="3365"/>
              <a:ext cx="67" cy="98"/>
            </a:xfrm>
            <a:custGeom>
              <a:avLst/>
              <a:gdLst>
                <a:gd name="T0" fmla="*/ 66 w 67"/>
                <a:gd name="T1" fmla="*/ 21 h 98"/>
                <a:gd name="T2" fmla="*/ 0 w 67"/>
                <a:gd name="T3" fmla="*/ 97 h 98"/>
                <a:gd name="T4" fmla="*/ 23 w 67"/>
                <a:gd name="T5" fmla="*/ 0 h 98"/>
                <a:gd name="T6" fmla="*/ 66 w 67"/>
                <a:gd name="T7" fmla="*/ 21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98">
                  <a:moveTo>
                    <a:pt x="66" y="21"/>
                  </a:moveTo>
                  <a:lnTo>
                    <a:pt x="0" y="97"/>
                  </a:lnTo>
                  <a:lnTo>
                    <a:pt x="23" y="0"/>
                  </a:lnTo>
                  <a:lnTo>
                    <a:pt x="66" y="2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39"/>
            <p:cNvSpPr>
              <a:spLocks/>
            </p:cNvSpPr>
            <p:nvPr/>
          </p:nvSpPr>
          <p:spPr bwMode="auto">
            <a:xfrm>
              <a:off x="4117" y="2977"/>
              <a:ext cx="1" cy="476"/>
            </a:xfrm>
            <a:custGeom>
              <a:avLst/>
              <a:gdLst>
                <a:gd name="T0" fmla="*/ 0 w 1"/>
                <a:gd name="T1" fmla="*/ 0 h 476"/>
                <a:gd name="T2" fmla="*/ 0 w 1"/>
                <a:gd name="T3" fmla="*/ 475 h 476"/>
                <a:gd name="T4" fmla="*/ 0 w 1"/>
                <a:gd name="T5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76">
                  <a:moveTo>
                    <a:pt x="0" y="0"/>
                  </a:moveTo>
                  <a:lnTo>
                    <a:pt x="0" y="475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40"/>
            <p:cNvSpPr>
              <a:spLocks/>
            </p:cNvSpPr>
            <p:nvPr/>
          </p:nvSpPr>
          <p:spPr bwMode="auto">
            <a:xfrm>
              <a:off x="4093" y="3355"/>
              <a:ext cx="49" cy="98"/>
            </a:xfrm>
            <a:custGeom>
              <a:avLst/>
              <a:gdLst>
                <a:gd name="T0" fmla="*/ 48 w 49"/>
                <a:gd name="T1" fmla="*/ 0 h 98"/>
                <a:gd name="T2" fmla="*/ 24 w 49"/>
                <a:gd name="T3" fmla="*/ 97 h 98"/>
                <a:gd name="T4" fmla="*/ 0 w 49"/>
                <a:gd name="T5" fmla="*/ 0 h 98"/>
                <a:gd name="T6" fmla="*/ 48 w 49"/>
                <a:gd name="T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98">
                  <a:moveTo>
                    <a:pt x="48" y="0"/>
                  </a:moveTo>
                  <a:lnTo>
                    <a:pt x="24" y="97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41"/>
            <p:cNvSpPr>
              <a:spLocks/>
            </p:cNvSpPr>
            <p:nvPr/>
          </p:nvSpPr>
          <p:spPr bwMode="auto">
            <a:xfrm>
              <a:off x="4428" y="2986"/>
              <a:ext cx="253" cy="477"/>
            </a:xfrm>
            <a:custGeom>
              <a:avLst/>
              <a:gdLst>
                <a:gd name="T0" fmla="*/ 0 w 253"/>
                <a:gd name="T1" fmla="*/ 0 h 477"/>
                <a:gd name="T2" fmla="*/ 252 w 253"/>
                <a:gd name="T3" fmla="*/ 476 h 477"/>
                <a:gd name="T4" fmla="*/ 0 w 253"/>
                <a:gd name="T5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3" h="477">
                  <a:moveTo>
                    <a:pt x="0" y="0"/>
                  </a:moveTo>
                  <a:lnTo>
                    <a:pt x="252" y="476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42"/>
            <p:cNvSpPr>
              <a:spLocks/>
            </p:cNvSpPr>
            <p:nvPr/>
          </p:nvSpPr>
          <p:spPr bwMode="auto">
            <a:xfrm>
              <a:off x="4614" y="3365"/>
              <a:ext cx="67" cy="98"/>
            </a:xfrm>
            <a:custGeom>
              <a:avLst/>
              <a:gdLst>
                <a:gd name="T0" fmla="*/ 42 w 67"/>
                <a:gd name="T1" fmla="*/ 0 h 98"/>
                <a:gd name="T2" fmla="*/ 66 w 67"/>
                <a:gd name="T3" fmla="*/ 97 h 98"/>
                <a:gd name="T4" fmla="*/ 0 w 67"/>
                <a:gd name="T5" fmla="*/ 22 h 98"/>
                <a:gd name="T6" fmla="*/ 42 w 67"/>
                <a:gd name="T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98">
                  <a:moveTo>
                    <a:pt x="42" y="0"/>
                  </a:moveTo>
                  <a:lnTo>
                    <a:pt x="66" y="97"/>
                  </a:lnTo>
                  <a:lnTo>
                    <a:pt x="0" y="22"/>
                  </a:lnTo>
                  <a:lnTo>
                    <a:pt x="42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43"/>
            <p:cNvSpPr>
              <a:spLocks/>
            </p:cNvSpPr>
            <p:nvPr/>
          </p:nvSpPr>
          <p:spPr bwMode="auto">
            <a:xfrm>
              <a:off x="700" y="3519"/>
              <a:ext cx="1" cy="283"/>
            </a:xfrm>
            <a:custGeom>
              <a:avLst/>
              <a:gdLst>
                <a:gd name="T0" fmla="*/ 0 w 1"/>
                <a:gd name="T1" fmla="*/ 0 h 283"/>
                <a:gd name="T2" fmla="*/ 0 w 1"/>
                <a:gd name="T3" fmla="*/ 282 h 283"/>
                <a:gd name="T4" fmla="*/ 0 w 1"/>
                <a:gd name="T5" fmla="*/ 0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83">
                  <a:moveTo>
                    <a:pt x="0" y="0"/>
                  </a:moveTo>
                  <a:lnTo>
                    <a:pt x="0" y="28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44"/>
            <p:cNvSpPr>
              <a:spLocks/>
            </p:cNvSpPr>
            <p:nvPr/>
          </p:nvSpPr>
          <p:spPr bwMode="auto">
            <a:xfrm>
              <a:off x="1565" y="3509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45"/>
            <p:cNvSpPr>
              <a:spLocks/>
            </p:cNvSpPr>
            <p:nvPr/>
          </p:nvSpPr>
          <p:spPr bwMode="auto">
            <a:xfrm>
              <a:off x="2409" y="3509"/>
              <a:ext cx="1" cy="302"/>
            </a:xfrm>
            <a:custGeom>
              <a:avLst/>
              <a:gdLst>
                <a:gd name="T0" fmla="*/ 0 w 1"/>
                <a:gd name="T1" fmla="*/ 0 h 302"/>
                <a:gd name="T2" fmla="*/ 0 w 1"/>
                <a:gd name="T3" fmla="*/ 301 h 302"/>
                <a:gd name="T4" fmla="*/ 0 w 1"/>
                <a:gd name="T5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02">
                  <a:moveTo>
                    <a:pt x="0" y="0"/>
                  </a:moveTo>
                  <a:lnTo>
                    <a:pt x="0" y="30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 46"/>
            <p:cNvSpPr>
              <a:spLocks/>
            </p:cNvSpPr>
            <p:nvPr/>
          </p:nvSpPr>
          <p:spPr bwMode="auto">
            <a:xfrm>
              <a:off x="3252" y="3519"/>
              <a:ext cx="1" cy="273"/>
            </a:xfrm>
            <a:custGeom>
              <a:avLst/>
              <a:gdLst>
                <a:gd name="T0" fmla="*/ 0 w 1"/>
                <a:gd name="T1" fmla="*/ 0 h 273"/>
                <a:gd name="T2" fmla="*/ 0 w 1"/>
                <a:gd name="T3" fmla="*/ 272 h 273"/>
                <a:gd name="T4" fmla="*/ 0 w 1"/>
                <a:gd name="T5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73">
                  <a:moveTo>
                    <a:pt x="0" y="0"/>
                  </a:moveTo>
                  <a:lnTo>
                    <a:pt x="0" y="27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47"/>
            <p:cNvSpPr>
              <a:spLocks/>
            </p:cNvSpPr>
            <p:nvPr/>
          </p:nvSpPr>
          <p:spPr bwMode="auto">
            <a:xfrm>
              <a:off x="4108" y="3519"/>
              <a:ext cx="1" cy="292"/>
            </a:xfrm>
            <a:custGeom>
              <a:avLst/>
              <a:gdLst>
                <a:gd name="T0" fmla="*/ 0 w 1"/>
                <a:gd name="T1" fmla="*/ 0 h 292"/>
                <a:gd name="T2" fmla="*/ 0 w 1"/>
                <a:gd name="T3" fmla="*/ 291 h 292"/>
                <a:gd name="T4" fmla="*/ 0 w 1"/>
                <a:gd name="T5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2">
                  <a:moveTo>
                    <a:pt x="0" y="0"/>
                  </a:moveTo>
                  <a:lnTo>
                    <a:pt x="0" y="29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48"/>
            <p:cNvSpPr>
              <a:spLocks/>
            </p:cNvSpPr>
            <p:nvPr/>
          </p:nvSpPr>
          <p:spPr bwMode="auto">
            <a:xfrm>
              <a:off x="4952" y="3519"/>
              <a:ext cx="1" cy="292"/>
            </a:xfrm>
            <a:custGeom>
              <a:avLst/>
              <a:gdLst>
                <a:gd name="T0" fmla="*/ 0 w 1"/>
                <a:gd name="T1" fmla="*/ 0 h 292"/>
                <a:gd name="T2" fmla="*/ 0 w 1"/>
                <a:gd name="T3" fmla="*/ 291 h 292"/>
                <a:gd name="T4" fmla="*/ 0 w 1"/>
                <a:gd name="T5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2">
                  <a:moveTo>
                    <a:pt x="0" y="0"/>
                  </a:moveTo>
                  <a:lnTo>
                    <a:pt x="0" y="29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49"/>
            <p:cNvSpPr>
              <a:spLocks/>
            </p:cNvSpPr>
            <p:nvPr/>
          </p:nvSpPr>
          <p:spPr bwMode="auto">
            <a:xfrm>
              <a:off x="2146" y="1940"/>
              <a:ext cx="254" cy="78"/>
            </a:xfrm>
            <a:custGeom>
              <a:avLst/>
              <a:gdLst>
                <a:gd name="T0" fmla="*/ 0 w 254"/>
                <a:gd name="T1" fmla="*/ 0 h 78"/>
                <a:gd name="T2" fmla="*/ 253 w 254"/>
                <a:gd name="T3" fmla="*/ 77 h 78"/>
                <a:gd name="T4" fmla="*/ 0 w 254"/>
                <a:gd name="T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4" h="78">
                  <a:moveTo>
                    <a:pt x="0" y="0"/>
                  </a:moveTo>
                  <a:lnTo>
                    <a:pt x="253" y="77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50"/>
            <p:cNvSpPr>
              <a:spLocks/>
            </p:cNvSpPr>
            <p:nvPr/>
          </p:nvSpPr>
          <p:spPr bwMode="auto">
            <a:xfrm>
              <a:off x="2299" y="1967"/>
              <a:ext cx="101" cy="51"/>
            </a:xfrm>
            <a:custGeom>
              <a:avLst/>
              <a:gdLst>
                <a:gd name="T0" fmla="*/ 15 w 101"/>
                <a:gd name="T1" fmla="*/ 0 h 51"/>
                <a:gd name="T2" fmla="*/ 100 w 101"/>
                <a:gd name="T3" fmla="*/ 50 h 51"/>
                <a:gd name="T4" fmla="*/ 0 w 101"/>
                <a:gd name="T5" fmla="*/ 45 h 51"/>
                <a:gd name="T6" fmla="*/ 15 w 101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" h="51">
                  <a:moveTo>
                    <a:pt x="15" y="0"/>
                  </a:moveTo>
                  <a:lnTo>
                    <a:pt x="100" y="50"/>
                  </a:lnTo>
                  <a:lnTo>
                    <a:pt x="0" y="45"/>
                  </a:lnTo>
                  <a:lnTo>
                    <a:pt x="15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Rectangle 51"/>
            <p:cNvSpPr>
              <a:spLocks noChangeArrowheads="1"/>
            </p:cNvSpPr>
            <p:nvPr/>
          </p:nvSpPr>
          <p:spPr bwMode="auto">
            <a:xfrm>
              <a:off x="381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10*</a:t>
              </a:r>
            </a:p>
          </p:txBody>
        </p:sp>
        <p:sp>
          <p:nvSpPr>
            <p:cNvPr id="154" name="Rectangle 52"/>
            <p:cNvSpPr>
              <a:spLocks noChangeArrowheads="1"/>
            </p:cNvSpPr>
            <p:nvPr/>
          </p:nvSpPr>
          <p:spPr bwMode="auto">
            <a:xfrm>
              <a:off x="721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15*</a:t>
              </a:r>
            </a:p>
          </p:txBody>
        </p:sp>
        <p:sp>
          <p:nvSpPr>
            <p:cNvPr id="155" name="Rectangle 53"/>
            <p:cNvSpPr>
              <a:spLocks noChangeArrowheads="1"/>
            </p:cNvSpPr>
            <p:nvPr/>
          </p:nvSpPr>
          <p:spPr bwMode="auto">
            <a:xfrm>
              <a:off x="1236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20*</a:t>
              </a:r>
            </a:p>
          </p:txBody>
        </p:sp>
        <p:sp>
          <p:nvSpPr>
            <p:cNvPr id="156" name="Rectangle 54"/>
            <p:cNvSpPr>
              <a:spLocks noChangeArrowheads="1"/>
            </p:cNvSpPr>
            <p:nvPr/>
          </p:nvSpPr>
          <p:spPr bwMode="auto">
            <a:xfrm>
              <a:off x="1594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27*</a:t>
              </a:r>
            </a:p>
          </p:txBody>
        </p:sp>
        <p:sp>
          <p:nvSpPr>
            <p:cNvPr id="157" name="Rectangle 55"/>
            <p:cNvSpPr>
              <a:spLocks noChangeArrowheads="1"/>
            </p:cNvSpPr>
            <p:nvPr/>
          </p:nvSpPr>
          <p:spPr bwMode="auto">
            <a:xfrm>
              <a:off x="2099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33*</a:t>
              </a:r>
            </a:p>
          </p:txBody>
        </p:sp>
        <p:sp>
          <p:nvSpPr>
            <p:cNvPr id="158" name="Rectangle 56"/>
            <p:cNvSpPr>
              <a:spLocks noChangeArrowheads="1"/>
            </p:cNvSpPr>
            <p:nvPr/>
          </p:nvSpPr>
          <p:spPr bwMode="auto">
            <a:xfrm>
              <a:off x="2429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37*</a:t>
              </a:r>
            </a:p>
          </p:txBody>
        </p:sp>
        <p:sp>
          <p:nvSpPr>
            <p:cNvPr id="159" name="Rectangle 57"/>
            <p:cNvSpPr>
              <a:spLocks noChangeArrowheads="1"/>
            </p:cNvSpPr>
            <p:nvPr/>
          </p:nvSpPr>
          <p:spPr bwMode="auto">
            <a:xfrm>
              <a:off x="2953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40*</a:t>
              </a:r>
            </a:p>
          </p:txBody>
        </p:sp>
        <p:sp>
          <p:nvSpPr>
            <p:cNvPr id="160" name="Rectangle 58"/>
            <p:cNvSpPr>
              <a:spLocks noChangeArrowheads="1"/>
            </p:cNvSpPr>
            <p:nvPr/>
          </p:nvSpPr>
          <p:spPr bwMode="auto">
            <a:xfrm>
              <a:off x="3284" y="355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46*</a:t>
              </a:r>
            </a:p>
          </p:txBody>
        </p:sp>
        <p:sp>
          <p:nvSpPr>
            <p:cNvPr id="161" name="Rectangle 59"/>
            <p:cNvSpPr>
              <a:spLocks noChangeArrowheads="1"/>
            </p:cNvSpPr>
            <p:nvPr/>
          </p:nvSpPr>
          <p:spPr bwMode="auto">
            <a:xfrm>
              <a:off x="3789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51*</a:t>
              </a:r>
            </a:p>
          </p:txBody>
        </p:sp>
        <p:sp>
          <p:nvSpPr>
            <p:cNvPr id="162" name="Rectangle 60"/>
            <p:cNvSpPr>
              <a:spLocks noChangeArrowheads="1"/>
            </p:cNvSpPr>
            <p:nvPr/>
          </p:nvSpPr>
          <p:spPr bwMode="auto">
            <a:xfrm>
              <a:off x="4158" y="355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55*</a:t>
              </a:r>
            </a:p>
          </p:txBody>
        </p:sp>
        <p:sp>
          <p:nvSpPr>
            <p:cNvPr id="163" name="Rectangle 61"/>
            <p:cNvSpPr>
              <a:spLocks noChangeArrowheads="1"/>
            </p:cNvSpPr>
            <p:nvPr/>
          </p:nvSpPr>
          <p:spPr bwMode="auto">
            <a:xfrm>
              <a:off x="4643" y="357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63*</a:t>
              </a:r>
            </a:p>
          </p:txBody>
        </p:sp>
        <p:sp>
          <p:nvSpPr>
            <p:cNvPr id="164" name="Rectangle 62"/>
            <p:cNvSpPr>
              <a:spLocks noChangeArrowheads="1"/>
            </p:cNvSpPr>
            <p:nvPr/>
          </p:nvSpPr>
          <p:spPr bwMode="auto">
            <a:xfrm>
              <a:off x="4993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97*</a:t>
              </a:r>
            </a:p>
          </p:txBody>
        </p:sp>
        <p:sp>
          <p:nvSpPr>
            <p:cNvPr id="165" name="Rectangle 63"/>
            <p:cNvSpPr>
              <a:spLocks noChangeArrowheads="1"/>
            </p:cNvSpPr>
            <p:nvPr/>
          </p:nvSpPr>
          <p:spPr bwMode="auto">
            <a:xfrm>
              <a:off x="1283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20</a:t>
              </a:r>
            </a:p>
          </p:txBody>
        </p:sp>
        <p:sp>
          <p:nvSpPr>
            <p:cNvPr id="166" name="Rectangle 64"/>
            <p:cNvSpPr>
              <a:spLocks noChangeArrowheads="1"/>
            </p:cNvSpPr>
            <p:nvPr/>
          </p:nvSpPr>
          <p:spPr bwMode="auto">
            <a:xfrm>
              <a:off x="1594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33</a:t>
              </a:r>
            </a:p>
          </p:txBody>
        </p:sp>
        <p:sp>
          <p:nvSpPr>
            <p:cNvPr id="167" name="Rectangle 65"/>
            <p:cNvSpPr>
              <a:spLocks noChangeArrowheads="1"/>
            </p:cNvSpPr>
            <p:nvPr/>
          </p:nvSpPr>
          <p:spPr bwMode="auto">
            <a:xfrm>
              <a:off x="3847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51</a:t>
              </a:r>
            </a:p>
          </p:txBody>
        </p:sp>
        <p:sp>
          <p:nvSpPr>
            <p:cNvPr id="168" name="Rectangle 66"/>
            <p:cNvSpPr>
              <a:spLocks noChangeArrowheads="1"/>
            </p:cNvSpPr>
            <p:nvPr/>
          </p:nvSpPr>
          <p:spPr bwMode="auto">
            <a:xfrm>
              <a:off x="4147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63</a:t>
              </a:r>
            </a:p>
          </p:txBody>
        </p:sp>
        <p:sp>
          <p:nvSpPr>
            <p:cNvPr id="169" name="Rectangle 67"/>
            <p:cNvSpPr>
              <a:spLocks noChangeArrowheads="1"/>
            </p:cNvSpPr>
            <p:nvPr/>
          </p:nvSpPr>
          <p:spPr bwMode="auto">
            <a:xfrm>
              <a:off x="2517" y="2080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40</a:t>
              </a:r>
            </a:p>
          </p:txBody>
        </p:sp>
        <p:sp>
          <p:nvSpPr>
            <p:cNvPr id="170" name="Rectangle 68"/>
            <p:cNvSpPr>
              <a:spLocks noChangeArrowheads="1"/>
            </p:cNvSpPr>
            <p:nvPr/>
          </p:nvSpPr>
          <p:spPr bwMode="auto">
            <a:xfrm>
              <a:off x="1671" y="1868"/>
              <a:ext cx="369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Root</a:t>
              </a:r>
            </a:p>
          </p:txBody>
        </p:sp>
      </p:grpSp>
      <p:cxnSp>
        <p:nvCxnSpPr>
          <p:cNvPr id="3" name="Straight Arrow Connector 2"/>
          <p:cNvCxnSpPr>
            <a:endCxn id="132" idx="1"/>
          </p:cNvCxnSpPr>
          <p:nvPr/>
        </p:nvCxnSpPr>
        <p:spPr>
          <a:xfrm>
            <a:off x="4905376" y="3819479"/>
            <a:ext cx="1525587" cy="5396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/>
          <p:cNvCxnSpPr>
            <a:endCxn id="140" idx="1"/>
          </p:cNvCxnSpPr>
          <p:nvPr/>
        </p:nvCxnSpPr>
        <p:spPr>
          <a:xfrm flipH="1">
            <a:off x="6107113" y="4675616"/>
            <a:ext cx="405110" cy="6002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reeform 50"/>
          <p:cNvSpPr>
            <a:spLocks/>
          </p:cNvSpPr>
          <p:nvPr/>
        </p:nvSpPr>
        <p:spPr bwMode="auto">
          <a:xfrm>
            <a:off x="2389833" y="5835042"/>
            <a:ext cx="992188" cy="341312"/>
          </a:xfrm>
          <a:custGeom>
            <a:avLst/>
            <a:gdLst>
              <a:gd name="T0" fmla="*/ 0 w 625"/>
              <a:gd name="T1" fmla="*/ 278 h 279"/>
              <a:gd name="T2" fmla="*/ 0 w 625"/>
              <a:gd name="T3" fmla="*/ 0 h 279"/>
              <a:gd name="T4" fmla="*/ 624 w 625"/>
              <a:gd name="T5" fmla="*/ 0 h 279"/>
              <a:gd name="T6" fmla="*/ 624 w 625"/>
              <a:gd name="T7" fmla="*/ 278 h 279"/>
              <a:gd name="T8" fmla="*/ 0 w 625"/>
              <a:gd name="T9" fmla="*/ 278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5" h="279">
                <a:moveTo>
                  <a:pt x="0" y="278"/>
                </a:moveTo>
                <a:lnTo>
                  <a:pt x="0" y="0"/>
                </a:lnTo>
                <a:lnTo>
                  <a:pt x="624" y="0"/>
                </a:lnTo>
                <a:lnTo>
                  <a:pt x="624" y="278"/>
                </a:lnTo>
                <a:lnTo>
                  <a:pt x="0" y="27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Freeform 51"/>
          <p:cNvSpPr>
            <a:spLocks/>
          </p:cNvSpPr>
          <p:nvPr/>
        </p:nvSpPr>
        <p:spPr bwMode="auto">
          <a:xfrm>
            <a:off x="2885133" y="5849329"/>
            <a:ext cx="1588" cy="309506"/>
          </a:xfrm>
          <a:custGeom>
            <a:avLst/>
            <a:gdLst>
              <a:gd name="T0" fmla="*/ 0 w 1"/>
              <a:gd name="T1" fmla="*/ 0 h 253"/>
              <a:gd name="T2" fmla="*/ 0 w 1"/>
              <a:gd name="T3" fmla="*/ 252 h 253"/>
              <a:gd name="T4" fmla="*/ 0 w 1"/>
              <a:gd name="T5" fmla="*/ 0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3">
                <a:moveTo>
                  <a:pt x="0" y="0"/>
                </a:moveTo>
                <a:lnTo>
                  <a:pt x="0" y="25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Rectangle 76"/>
          <p:cNvSpPr>
            <a:spLocks noChangeArrowheads="1"/>
          </p:cNvSpPr>
          <p:nvPr/>
        </p:nvSpPr>
        <p:spPr bwMode="auto">
          <a:xfrm>
            <a:off x="2435871" y="5889017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23*</a:t>
            </a:r>
          </a:p>
        </p:txBody>
      </p:sp>
      <p:sp>
        <p:nvSpPr>
          <p:cNvPr id="75" name="Arc 87"/>
          <p:cNvSpPr>
            <a:spLocks/>
          </p:cNvSpPr>
          <p:nvPr/>
        </p:nvSpPr>
        <p:spPr bwMode="auto">
          <a:xfrm>
            <a:off x="2377603" y="5711226"/>
            <a:ext cx="152400" cy="14506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" name="Freeform 52"/>
          <p:cNvSpPr>
            <a:spLocks/>
          </p:cNvSpPr>
          <p:nvPr/>
        </p:nvSpPr>
        <p:spPr bwMode="auto">
          <a:xfrm>
            <a:off x="5103680" y="5856288"/>
            <a:ext cx="992188" cy="373856"/>
          </a:xfrm>
          <a:custGeom>
            <a:avLst/>
            <a:gdLst>
              <a:gd name="T0" fmla="*/ 0 w 625"/>
              <a:gd name="T1" fmla="*/ 278 h 279"/>
              <a:gd name="T2" fmla="*/ 0 w 625"/>
              <a:gd name="T3" fmla="*/ 0 h 279"/>
              <a:gd name="T4" fmla="*/ 624 w 625"/>
              <a:gd name="T5" fmla="*/ 0 h 279"/>
              <a:gd name="T6" fmla="*/ 624 w 625"/>
              <a:gd name="T7" fmla="*/ 278 h 279"/>
              <a:gd name="T8" fmla="*/ 0 w 625"/>
              <a:gd name="T9" fmla="*/ 278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5" h="279">
                <a:moveTo>
                  <a:pt x="0" y="278"/>
                </a:moveTo>
                <a:lnTo>
                  <a:pt x="0" y="0"/>
                </a:lnTo>
                <a:lnTo>
                  <a:pt x="624" y="0"/>
                </a:lnTo>
                <a:lnTo>
                  <a:pt x="624" y="278"/>
                </a:lnTo>
                <a:lnTo>
                  <a:pt x="0" y="27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" name="Freeform 53"/>
          <p:cNvSpPr>
            <a:spLocks/>
          </p:cNvSpPr>
          <p:nvPr/>
        </p:nvSpPr>
        <p:spPr bwMode="auto">
          <a:xfrm>
            <a:off x="5568818" y="5868988"/>
            <a:ext cx="1587" cy="351077"/>
          </a:xfrm>
          <a:custGeom>
            <a:avLst/>
            <a:gdLst>
              <a:gd name="T0" fmla="*/ 0 w 1"/>
              <a:gd name="T1" fmla="*/ 0 h 262"/>
              <a:gd name="T2" fmla="*/ 0 w 1"/>
              <a:gd name="T3" fmla="*/ 261 h 262"/>
              <a:gd name="T4" fmla="*/ 0 w 1"/>
              <a:gd name="T5" fmla="*/ 0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62">
                <a:moveTo>
                  <a:pt x="0" y="0"/>
                </a:moveTo>
                <a:lnTo>
                  <a:pt x="0" y="26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Rectangle 77"/>
          <p:cNvSpPr>
            <a:spLocks noChangeArrowheads="1"/>
          </p:cNvSpPr>
          <p:nvPr/>
        </p:nvSpPr>
        <p:spPr bwMode="auto">
          <a:xfrm>
            <a:off x="5162418" y="5897563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48*</a:t>
            </a:r>
          </a:p>
        </p:txBody>
      </p:sp>
      <p:sp>
        <p:nvSpPr>
          <p:cNvPr id="100" name="Rectangle 78"/>
          <p:cNvSpPr>
            <a:spLocks noChangeArrowheads="1"/>
          </p:cNvSpPr>
          <p:nvPr/>
        </p:nvSpPr>
        <p:spPr bwMode="auto">
          <a:xfrm>
            <a:off x="5591043" y="5881688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 dirty="0">
                <a:solidFill>
                  <a:srgbClr val="000000"/>
                </a:solidFill>
                <a:latin typeface="Arial" pitchFamily="34" charset="0"/>
              </a:rPr>
              <a:t>41*</a:t>
            </a:r>
          </a:p>
        </p:txBody>
      </p:sp>
      <p:sp>
        <p:nvSpPr>
          <p:cNvPr id="102" name="Arc 88"/>
          <p:cNvSpPr>
            <a:spLocks/>
          </p:cNvSpPr>
          <p:nvPr/>
        </p:nvSpPr>
        <p:spPr bwMode="auto">
          <a:xfrm>
            <a:off x="5071930" y="5711226"/>
            <a:ext cx="152400" cy="156174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" name="Arc 88"/>
          <p:cNvSpPr>
            <a:spLocks/>
          </p:cNvSpPr>
          <p:nvPr/>
        </p:nvSpPr>
        <p:spPr bwMode="auto">
          <a:xfrm>
            <a:off x="5071216" y="5706454"/>
            <a:ext cx="152400" cy="156174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5400" cap="rnd">
            <a:solidFill>
              <a:srgbClr val="FF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63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7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ISAM: Inserting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The appropriate page is determined as for a search, and the entry is inserted (with overflow pages added if necessary)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Insert </a:t>
            </a:r>
            <a:r>
              <a:rPr lang="en-US" sz="2600" dirty="0" smtClean="0">
                <a:solidFill>
                  <a:srgbClr val="FF0000"/>
                </a:solidFill>
              </a:rPr>
              <a:t>42*</a:t>
            </a:r>
            <a:endParaRPr lang="en-US" sz="2600" dirty="0">
              <a:solidFill>
                <a:srgbClr val="FF0000"/>
              </a:solidFill>
            </a:endParaRPr>
          </a:p>
        </p:txBody>
      </p:sp>
      <p:grpSp>
        <p:nvGrpSpPr>
          <p:cNvPr id="107" name="Group 69"/>
          <p:cNvGrpSpPr>
            <a:grpSpLocks/>
          </p:cNvGrpSpPr>
          <p:nvPr/>
        </p:nvGrpSpPr>
        <p:grpSpPr bwMode="auto">
          <a:xfrm>
            <a:off x="1022350" y="3342904"/>
            <a:ext cx="7893050" cy="2368322"/>
            <a:chOff x="351" y="1868"/>
            <a:chExt cx="4972" cy="1953"/>
          </a:xfrm>
        </p:grpSpPr>
        <p:sp>
          <p:nvSpPr>
            <p:cNvPr id="108" name="Freeform 6"/>
            <p:cNvSpPr>
              <a:spLocks/>
            </p:cNvSpPr>
            <p:nvPr/>
          </p:nvSpPr>
          <p:spPr bwMode="auto">
            <a:xfrm>
              <a:off x="351" y="3509"/>
              <a:ext cx="699" cy="312"/>
            </a:xfrm>
            <a:custGeom>
              <a:avLst/>
              <a:gdLst>
                <a:gd name="T0" fmla="*/ 0 w 699"/>
                <a:gd name="T1" fmla="*/ 311 h 312"/>
                <a:gd name="T2" fmla="*/ 0 w 699"/>
                <a:gd name="T3" fmla="*/ 0 h 312"/>
                <a:gd name="T4" fmla="*/ 698 w 699"/>
                <a:gd name="T5" fmla="*/ 0 h 312"/>
                <a:gd name="T6" fmla="*/ 698 w 699"/>
                <a:gd name="T7" fmla="*/ 311 h 312"/>
                <a:gd name="T8" fmla="*/ 0 w 699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9" h="312">
                  <a:moveTo>
                    <a:pt x="0" y="311"/>
                  </a:moveTo>
                  <a:lnTo>
                    <a:pt x="0" y="0"/>
                  </a:lnTo>
                  <a:lnTo>
                    <a:pt x="698" y="0"/>
                  </a:lnTo>
                  <a:lnTo>
                    <a:pt x="698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7"/>
            <p:cNvSpPr>
              <a:spLocks/>
            </p:cNvSpPr>
            <p:nvPr/>
          </p:nvSpPr>
          <p:spPr bwMode="auto">
            <a:xfrm>
              <a:off x="1204" y="3509"/>
              <a:ext cx="700" cy="312"/>
            </a:xfrm>
            <a:custGeom>
              <a:avLst/>
              <a:gdLst>
                <a:gd name="T0" fmla="*/ 0 w 700"/>
                <a:gd name="T1" fmla="*/ 311 h 312"/>
                <a:gd name="T2" fmla="*/ 0 w 700"/>
                <a:gd name="T3" fmla="*/ 0 h 312"/>
                <a:gd name="T4" fmla="*/ 699 w 700"/>
                <a:gd name="T5" fmla="*/ 0 h 312"/>
                <a:gd name="T6" fmla="*/ 699 w 700"/>
                <a:gd name="T7" fmla="*/ 311 h 312"/>
                <a:gd name="T8" fmla="*/ 0 w 700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2">
                  <a:moveTo>
                    <a:pt x="0" y="311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8"/>
            <p:cNvSpPr>
              <a:spLocks/>
            </p:cNvSpPr>
            <p:nvPr/>
          </p:nvSpPr>
          <p:spPr bwMode="auto">
            <a:xfrm>
              <a:off x="2059" y="3509"/>
              <a:ext cx="700" cy="312"/>
            </a:xfrm>
            <a:custGeom>
              <a:avLst/>
              <a:gdLst>
                <a:gd name="T0" fmla="*/ 0 w 700"/>
                <a:gd name="T1" fmla="*/ 311 h 312"/>
                <a:gd name="T2" fmla="*/ 0 w 700"/>
                <a:gd name="T3" fmla="*/ 0 h 312"/>
                <a:gd name="T4" fmla="*/ 699 w 700"/>
                <a:gd name="T5" fmla="*/ 0 h 312"/>
                <a:gd name="T6" fmla="*/ 699 w 700"/>
                <a:gd name="T7" fmla="*/ 311 h 312"/>
                <a:gd name="T8" fmla="*/ 0 w 700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2">
                  <a:moveTo>
                    <a:pt x="0" y="311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9"/>
            <p:cNvSpPr>
              <a:spLocks/>
            </p:cNvSpPr>
            <p:nvPr/>
          </p:nvSpPr>
          <p:spPr bwMode="auto">
            <a:xfrm>
              <a:off x="2914" y="3509"/>
              <a:ext cx="699" cy="312"/>
            </a:xfrm>
            <a:custGeom>
              <a:avLst/>
              <a:gdLst>
                <a:gd name="T0" fmla="*/ 0 w 699"/>
                <a:gd name="T1" fmla="*/ 311 h 312"/>
                <a:gd name="T2" fmla="*/ 0 w 699"/>
                <a:gd name="T3" fmla="*/ 0 h 312"/>
                <a:gd name="T4" fmla="*/ 698 w 699"/>
                <a:gd name="T5" fmla="*/ 0 h 312"/>
                <a:gd name="T6" fmla="*/ 698 w 699"/>
                <a:gd name="T7" fmla="*/ 311 h 312"/>
                <a:gd name="T8" fmla="*/ 0 w 699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9" h="312">
                  <a:moveTo>
                    <a:pt x="0" y="311"/>
                  </a:moveTo>
                  <a:lnTo>
                    <a:pt x="0" y="0"/>
                  </a:lnTo>
                  <a:lnTo>
                    <a:pt x="698" y="0"/>
                  </a:lnTo>
                  <a:lnTo>
                    <a:pt x="698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0"/>
            <p:cNvSpPr>
              <a:spLocks/>
            </p:cNvSpPr>
            <p:nvPr/>
          </p:nvSpPr>
          <p:spPr bwMode="auto">
            <a:xfrm>
              <a:off x="3767" y="3509"/>
              <a:ext cx="701" cy="312"/>
            </a:xfrm>
            <a:custGeom>
              <a:avLst/>
              <a:gdLst>
                <a:gd name="T0" fmla="*/ 0 w 701"/>
                <a:gd name="T1" fmla="*/ 311 h 312"/>
                <a:gd name="T2" fmla="*/ 0 w 701"/>
                <a:gd name="T3" fmla="*/ 0 h 312"/>
                <a:gd name="T4" fmla="*/ 700 w 701"/>
                <a:gd name="T5" fmla="*/ 0 h 312"/>
                <a:gd name="T6" fmla="*/ 700 w 701"/>
                <a:gd name="T7" fmla="*/ 311 h 312"/>
                <a:gd name="T8" fmla="*/ 0 w 701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1" h="312">
                  <a:moveTo>
                    <a:pt x="0" y="311"/>
                  </a:moveTo>
                  <a:lnTo>
                    <a:pt x="0" y="0"/>
                  </a:lnTo>
                  <a:lnTo>
                    <a:pt x="700" y="0"/>
                  </a:lnTo>
                  <a:lnTo>
                    <a:pt x="700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1"/>
            <p:cNvSpPr>
              <a:spLocks/>
            </p:cNvSpPr>
            <p:nvPr/>
          </p:nvSpPr>
          <p:spPr bwMode="auto">
            <a:xfrm>
              <a:off x="4621" y="3509"/>
              <a:ext cx="702" cy="312"/>
            </a:xfrm>
            <a:custGeom>
              <a:avLst/>
              <a:gdLst>
                <a:gd name="T0" fmla="*/ 0 w 702"/>
                <a:gd name="T1" fmla="*/ 311 h 312"/>
                <a:gd name="T2" fmla="*/ 0 w 702"/>
                <a:gd name="T3" fmla="*/ 0 h 312"/>
                <a:gd name="T4" fmla="*/ 701 w 702"/>
                <a:gd name="T5" fmla="*/ 0 h 312"/>
                <a:gd name="T6" fmla="*/ 701 w 702"/>
                <a:gd name="T7" fmla="*/ 311 h 312"/>
                <a:gd name="T8" fmla="*/ 0 w 702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2" h="312">
                  <a:moveTo>
                    <a:pt x="0" y="311"/>
                  </a:moveTo>
                  <a:lnTo>
                    <a:pt x="0" y="0"/>
                  </a:lnTo>
                  <a:lnTo>
                    <a:pt x="701" y="0"/>
                  </a:lnTo>
                  <a:lnTo>
                    <a:pt x="701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12"/>
            <p:cNvSpPr>
              <a:spLocks/>
            </p:cNvSpPr>
            <p:nvPr/>
          </p:nvSpPr>
          <p:spPr bwMode="auto">
            <a:xfrm>
              <a:off x="1204" y="2735"/>
              <a:ext cx="700" cy="311"/>
            </a:xfrm>
            <a:custGeom>
              <a:avLst/>
              <a:gdLst>
                <a:gd name="T0" fmla="*/ 0 w 700"/>
                <a:gd name="T1" fmla="*/ 310 h 311"/>
                <a:gd name="T2" fmla="*/ 0 w 700"/>
                <a:gd name="T3" fmla="*/ 0 h 311"/>
                <a:gd name="T4" fmla="*/ 699 w 700"/>
                <a:gd name="T5" fmla="*/ 0 h 311"/>
                <a:gd name="T6" fmla="*/ 699 w 700"/>
                <a:gd name="T7" fmla="*/ 310 h 311"/>
                <a:gd name="T8" fmla="*/ 0 w 700"/>
                <a:gd name="T9" fmla="*/ 31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1">
                  <a:moveTo>
                    <a:pt x="0" y="310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0"/>
                  </a:lnTo>
                  <a:lnTo>
                    <a:pt x="0" y="31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13"/>
            <p:cNvSpPr>
              <a:spLocks/>
            </p:cNvSpPr>
            <p:nvPr/>
          </p:nvSpPr>
          <p:spPr bwMode="auto">
            <a:xfrm>
              <a:off x="1284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14"/>
            <p:cNvSpPr>
              <a:spLocks/>
            </p:cNvSpPr>
            <p:nvPr/>
          </p:nvSpPr>
          <p:spPr bwMode="auto">
            <a:xfrm>
              <a:off x="1515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15"/>
            <p:cNvSpPr>
              <a:spLocks/>
            </p:cNvSpPr>
            <p:nvPr/>
          </p:nvSpPr>
          <p:spPr bwMode="auto">
            <a:xfrm>
              <a:off x="1593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16"/>
            <p:cNvSpPr>
              <a:spLocks/>
            </p:cNvSpPr>
            <p:nvPr/>
          </p:nvSpPr>
          <p:spPr bwMode="auto">
            <a:xfrm>
              <a:off x="1827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17"/>
            <p:cNvSpPr>
              <a:spLocks/>
            </p:cNvSpPr>
            <p:nvPr/>
          </p:nvSpPr>
          <p:spPr bwMode="auto">
            <a:xfrm>
              <a:off x="3767" y="2735"/>
              <a:ext cx="701" cy="311"/>
            </a:xfrm>
            <a:custGeom>
              <a:avLst/>
              <a:gdLst>
                <a:gd name="T0" fmla="*/ 0 w 701"/>
                <a:gd name="T1" fmla="*/ 310 h 311"/>
                <a:gd name="T2" fmla="*/ 0 w 701"/>
                <a:gd name="T3" fmla="*/ 0 h 311"/>
                <a:gd name="T4" fmla="*/ 700 w 701"/>
                <a:gd name="T5" fmla="*/ 0 h 311"/>
                <a:gd name="T6" fmla="*/ 700 w 701"/>
                <a:gd name="T7" fmla="*/ 310 h 311"/>
                <a:gd name="T8" fmla="*/ 0 w 701"/>
                <a:gd name="T9" fmla="*/ 31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1" h="311">
                  <a:moveTo>
                    <a:pt x="0" y="310"/>
                  </a:moveTo>
                  <a:lnTo>
                    <a:pt x="0" y="0"/>
                  </a:lnTo>
                  <a:lnTo>
                    <a:pt x="700" y="0"/>
                  </a:lnTo>
                  <a:lnTo>
                    <a:pt x="700" y="310"/>
                  </a:lnTo>
                  <a:lnTo>
                    <a:pt x="0" y="31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18"/>
            <p:cNvSpPr>
              <a:spLocks/>
            </p:cNvSpPr>
            <p:nvPr/>
          </p:nvSpPr>
          <p:spPr bwMode="auto">
            <a:xfrm>
              <a:off x="3846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19"/>
            <p:cNvSpPr>
              <a:spLocks/>
            </p:cNvSpPr>
            <p:nvPr/>
          </p:nvSpPr>
          <p:spPr bwMode="auto">
            <a:xfrm>
              <a:off x="4078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20"/>
            <p:cNvSpPr>
              <a:spLocks/>
            </p:cNvSpPr>
            <p:nvPr/>
          </p:nvSpPr>
          <p:spPr bwMode="auto">
            <a:xfrm>
              <a:off x="4156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21"/>
            <p:cNvSpPr>
              <a:spLocks/>
            </p:cNvSpPr>
            <p:nvPr/>
          </p:nvSpPr>
          <p:spPr bwMode="auto">
            <a:xfrm>
              <a:off x="4389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22"/>
            <p:cNvSpPr>
              <a:spLocks/>
            </p:cNvSpPr>
            <p:nvPr/>
          </p:nvSpPr>
          <p:spPr bwMode="auto">
            <a:xfrm>
              <a:off x="2447" y="2037"/>
              <a:ext cx="700" cy="312"/>
            </a:xfrm>
            <a:custGeom>
              <a:avLst/>
              <a:gdLst>
                <a:gd name="T0" fmla="*/ 0 w 700"/>
                <a:gd name="T1" fmla="*/ 311 h 312"/>
                <a:gd name="T2" fmla="*/ 0 w 700"/>
                <a:gd name="T3" fmla="*/ 0 h 312"/>
                <a:gd name="T4" fmla="*/ 699 w 700"/>
                <a:gd name="T5" fmla="*/ 0 h 312"/>
                <a:gd name="T6" fmla="*/ 699 w 700"/>
                <a:gd name="T7" fmla="*/ 311 h 312"/>
                <a:gd name="T8" fmla="*/ 0 w 700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2">
                  <a:moveTo>
                    <a:pt x="0" y="311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23"/>
            <p:cNvSpPr>
              <a:spLocks/>
            </p:cNvSpPr>
            <p:nvPr/>
          </p:nvSpPr>
          <p:spPr bwMode="auto">
            <a:xfrm>
              <a:off x="2525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24"/>
            <p:cNvSpPr>
              <a:spLocks/>
            </p:cNvSpPr>
            <p:nvPr/>
          </p:nvSpPr>
          <p:spPr bwMode="auto">
            <a:xfrm>
              <a:off x="2758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25"/>
            <p:cNvSpPr>
              <a:spLocks/>
            </p:cNvSpPr>
            <p:nvPr/>
          </p:nvSpPr>
          <p:spPr bwMode="auto">
            <a:xfrm>
              <a:off x="2836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26"/>
            <p:cNvSpPr>
              <a:spLocks/>
            </p:cNvSpPr>
            <p:nvPr/>
          </p:nvSpPr>
          <p:spPr bwMode="auto">
            <a:xfrm>
              <a:off x="3069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27"/>
            <p:cNvSpPr>
              <a:spLocks/>
            </p:cNvSpPr>
            <p:nvPr/>
          </p:nvSpPr>
          <p:spPr bwMode="auto">
            <a:xfrm>
              <a:off x="1903" y="2280"/>
              <a:ext cx="575" cy="418"/>
            </a:xfrm>
            <a:custGeom>
              <a:avLst/>
              <a:gdLst>
                <a:gd name="T0" fmla="*/ 574 w 575"/>
                <a:gd name="T1" fmla="*/ 0 h 418"/>
                <a:gd name="T2" fmla="*/ 0 w 575"/>
                <a:gd name="T3" fmla="*/ 417 h 418"/>
                <a:gd name="T4" fmla="*/ 574 w 575"/>
                <a:gd name="T5" fmla="*/ 0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5" h="418">
                  <a:moveTo>
                    <a:pt x="574" y="0"/>
                  </a:moveTo>
                  <a:lnTo>
                    <a:pt x="0" y="417"/>
                  </a:lnTo>
                  <a:lnTo>
                    <a:pt x="574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28"/>
            <p:cNvSpPr>
              <a:spLocks/>
            </p:cNvSpPr>
            <p:nvPr/>
          </p:nvSpPr>
          <p:spPr bwMode="auto">
            <a:xfrm>
              <a:off x="1903" y="2620"/>
              <a:ext cx="94" cy="78"/>
            </a:xfrm>
            <a:custGeom>
              <a:avLst/>
              <a:gdLst>
                <a:gd name="T0" fmla="*/ 93 w 94"/>
                <a:gd name="T1" fmla="*/ 39 h 78"/>
                <a:gd name="T2" fmla="*/ 0 w 94"/>
                <a:gd name="T3" fmla="*/ 77 h 78"/>
                <a:gd name="T4" fmla="*/ 65 w 94"/>
                <a:gd name="T5" fmla="*/ 0 h 78"/>
                <a:gd name="T6" fmla="*/ 93 w 94"/>
                <a:gd name="T7" fmla="*/ 3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4" h="78">
                  <a:moveTo>
                    <a:pt x="93" y="39"/>
                  </a:moveTo>
                  <a:lnTo>
                    <a:pt x="0" y="77"/>
                  </a:lnTo>
                  <a:lnTo>
                    <a:pt x="65" y="0"/>
                  </a:lnTo>
                  <a:lnTo>
                    <a:pt x="93" y="39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29"/>
            <p:cNvSpPr>
              <a:spLocks/>
            </p:cNvSpPr>
            <p:nvPr/>
          </p:nvSpPr>
          <p:spPr bwMode="auto">
            <a:xfrm>
              <a:off x="2788" y="2260"/>
              <a:ext cx="971" cy="447"/>
            </a:xfrm>
            <a:custGeom>
              <a:avLst/>
              <a:gdLst>
                <a:gd name="T0" fmla="*/ 0 w 971"/>
                <a:gd name="T1" fmla="*/ 0 h 447"/>
                <a:gd name="T2" fmla="*/ 970 w 971"/>
                <a:gd name="T3" fmla="*/ 446 h 447"/>
                <a:gd name="T4" fmla="*/ 0 w 971"/>
                <a:gd name="T5" fmla="*/ 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71" h="447">
                  <a:moveTo>
                    <a:pt x="0" y="0"/>
                  </a:moveTo>
                  <a:lnTo>
                    <a:pt x="970" y="446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30"/>
            <p:cNvSpPr>
              <a:spLocks/>
            </p:cNvSpPr>
            <p:nvPr/>
          </p:nvSpPr>
          <p:spPr bwMode="auto">
            <a:xfrm>
              <a:off x="3659" y="2644"/>
              <a:ext cx="100" cy="63"/>
            </a:xfrm>
            <a:custGeom>
              <a:avLst/>
              <a:gdLst>
                <a:gd name="T0" fmla="*/ 21 w 100"/>
                <a:gd name="T1" fmla="*/ 0 h 63"/>
                <a:gd name="T2" fmla="*/ 99 w 100"/>
                <a:gd name="T3" fmla="*/ 62 h 63"/>
                <a:gd name="T4" fmla="*/ 0 w 100"/>
                <a:gd name="T5" fmla="*/ 44 h 63"/>
                <a:gd name="T6" fmla="*/ 21 w 100"/>
                <a:gd name="T7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" h="63">
                  <a:moveTo>
                    <a:pt x="21" y="0"/>
                  </a:moveTo>
                  <a:lnTo>
                    <a:pt x="99" y="62"/>
                  </a:lnTo>
                  <a:lnTo>
                    <a:pt x="0" y="44"/>
                  </a:lnTo>
                  <a:lnTo>
                    <a:pt x="21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31"/>
            <p:cNvSpPr>
              <a:spLocks/>
            </p:cNvSpPr>
            <p:nvPr/>
          </p:nvSpPr>
          <p:spPr bwMode="auto">
            <a:xfrm>
              <a:off x="972" y="2996"/>
              <a:ext cx="272" cy="486"/>
            </a:xfrm>
            <a:custGeom>
              <a:avLst/>
              <a:gdLst>
                <a:gd name="T0" fmla="*/ 271 w 272"/>
                <a:gd name="T1" fmla="*/ 0 h 486"/>
                <a:gd name="T2" fmla="*/ 0 w 272"/>
                <a:gd name="T3" fmla="*/ 485 h 486"/>
                <a:gd name="T4" fmla="*/ 271 w 272"/>
                <a:gd name="T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2" h="486">
                  <a:moveTo>
                    <a:pt x="271" y="0"/>
                  </a:moveTo>
                  <a:lnTo>
                    <a:pt x="0" y="485"/>
                  </a:lnTo>
                  <a:lnTo>
                    <a:pt x="271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32"/>
            <p:cNvSpPr>
              <a:spLocks/>
            </p:cNvSpPr>
            <p:nvPr/>
          </p:nvSpPr>
          <p:spPr bwMode="auto">
            <a:xfrm>
              <a:off x="972" y="3384"/>
              <a:ext cx="69" cy="98"/>
            </a:xfrm>
            <a:custGeom>
              <a:avLst/>
              <a:gdLst>
                <a:gd name="T0" fmla="*/ 68 w 69"/>
                <a:gd name="T1" fmla="*/ 25 h 98"/>
                <a:gd name="T2" fmla="*/ 0 w 69"/>
                <a:gd name="T3" fmla="*/ 97 h 98"/>
                <a:gd name="T4" fmla="*/ 26 w 69"/>
                <a:gd name="T5" fmla="*/ 0 h 98"/>
                <a:gd name="T6" fmla="*/ 68 w 69"/>
                <a:gd name="T7" fmla="*/ 25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98">
                  <a:moveTo>
                    <a:pt x="68" y="25"/>
                  </a:moveTo>
                  <a:lnTo>
                    <a:pt x="0" y="97"/>
                  </a:lnTo>
                  <a:lnTo>
                    <a:pt x="26" y="0"/>
                  </a:lnTo>
                  <a:lnTo>
                    <a:pt x="68" y="25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33"/>
            <p:cNvSpPr>
              <a:spLocks/>
            </p:cNvSpPr>
            <p:nvPr/>
          </p:nvSpPr>
          <p:spPr bwMode="auto">
            <a:xfrm>
              <a:off x="1554" y="2977"/>
              <a:ext cx="1" cy="505"/>
            </a:xfrm>
            <a:custGeom>
              <a:avLst/>
              <a:gdLst>
                <a:gd name="T0" fmla="*/ 0 w 1"/>
                <a:gd name="T1" fmla="*/ 0 h 505"/>
                <a:gd name="T2" fmla="*/ 0 w 1"/>
                <a:gd name="T3" fmla="*/ 504 h 505"/>
                <a:gd name="T4" fmla="*/ 0 w 1"/>
                <a:gd name="T5" fmla="*/ 0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05">
                  <a:moveTo>
                    <a:pt x="0" y="0"/>
                  </a:moveTo>
                  <a:lnTo>
                    <a:pt x="0" y="504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34"/>
            <p:cNvSpPr>
              <a:spLocks/>
            </p:cNvSpPr>
            <p:nvPr/>
          </p:nvSpPr>
          <p:spPr bwMode="auto">
            <a:xfrm>
              <a:off x="1530" y="3384"/>
              <a:ext cx="50" cy="98"/>
            </a:xfrm>
            <a:custGeom>
              <a:avLst/>
              <a:gdLst>
                <a:gd name="T0" fmla="*/ 49 w 50"/>
                <a:gd name="T1" fmla="*/ 0 h 98"/>
                <a:gd name="T2" fmla="*/ 24 w 50"/>
                <a:gd name="T3" fmla="*/ 97 h 98"/>
                <a:gd name="T4" fmla="*/ 0 w 50"/>
                <a:gd name="T5" fmla="*/ 0 h 98"/>
                <a:gd name="T6" fmla="*/ 49 w 50"/>
                <a:gd name="T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98">
                  <a:moveTo>
                    <a:pt x="49" y="0"/>
                  </a:moveTo>
                  <a:lnTo>
                    <a:pt x="24" y="97"/>
                  </a:lnTo>
                  <a:lnTo>
                    <a:pt x="0" y="0"/>
                  </a:lnTo>
                  <a:lnTo>
                    <a:pt x="49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35"/>
            <p:cNvSpPr>
              <a:spLocks/>
            </p:cNvSpPr>
            <p:nvPr/>
          </p:nvSpPr>
          <p:spPr bwMode="auto">
            <a:xfrm>
              <a:off x="1865" y="2958"/>
              <a:ext cx="214" cy="514"/>
            </a:xfrm>
            <a:custGeom>
              <a:avLst/>
              <a:gdLst>
                <a:gd name="T0" fmla="*/ 0 w 214"/>
                <a:gd name="T1" fmla="*/ 0 h 514"/>
                <a:gd name="T2" fmla="*/ 213 w 214"/>
                <a:gd name="T3" fmla="*/ 513 h 514"/>
                <a:gd name="T4" fmla="*/ 0 w 214"/>
                <a:gd name="T5" fmla="*/ 0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4" h="514">
                  <a:moveTo>
                    <a:pt x="0" y="0"/>
                  </a:moveTo>
                  <a:lnTo>
                    <a:pt x="213" y="513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36"/>
            <p:cNvSpPr>
              <a:spLocks/>
            </p:cNvSpPr>
            <p:nvPr/>
          </p:nvSpPr>
          <p:spPr bwMode="auto">
            <a:xfrm>
              <a:off x="2019" y="3372"/>
              <a:ext cx="60" cy="100"/>
            </a:xfrm>
            <a:custGeom>
              <a:avLst/>
              <a:gdLst>
                <a:gd name="T0" fmla="*/ 45 w 60"/>
                <a:gd name="T1" fmla="*/ 0 h 100"/>
                <a:gd name="T2" fmla="*/ 59 w 60"/>
                <a:gd name="T3" fmla="*/ 99 h 100"/>
                <a:gd name="T4" fmla="*/ 0 w 60"/>
                <a:gd name="T5" fmla="*/ 18 h 100"/>
                <a:gd name="T6" fmla="*/ 45 w 60"/>
                <a:gd name="T7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" h="100">
                  <a:moveTo>
                    <a:pt x="45" y="0"/>
                  </a:moveTo>
                  <a:lnTo>
                    <a:pt x="59" y="99"/>
                  </a:lnTo>
                  <a:lnTo>
                    <a:pt x="0" y="18"/>
                  </a:lnTo>
                  <a:lnTo>
                    <a:pt x="45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37"/>
            <p:cNvSpPr>
              <a:spLocks/>
            </p:cNvSpPr>
            <p:nvPr/>
          </p:nvSpPr>
          <p:spPr bwMode="auto">
            <a:xfrm>
              <a:off x="3554" y="2967"/>
              <a:ext cx="254" cy="496"/>
            </a:xfrm>
            <a:custGeom>
              <a:avLst/>
              <a:gdLst>
                <a:gd name="T0" fmla="*/ 253 w 254"/>
                <a:gd name="T1" fmla="*/ 0 h 496"/>
                <a:gd name="T2" fmla="*/ 0 w 254"/>
                <a:gd name="T3" fmla="*/ 495 h 496"/>
                <a:gd name="T4" fmla="*/ 253 w 254"/>
                <a:gd name="T5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4" h="496">
                  <a:moveTo>
                    <a:pt x="253" y="0"/>
                  </a:moveTo>
                  <a:lnTo>
                    <a:pt x="0" y="495"/>
                  </a:lnTo>
                  <a:lnTo>
                    <a:pt x="253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38"/>
            <p:cNvSpPr>
              <a:spLocks/>
            </p:cNvSpPr>
            <p:nvPr/>
          </p:nvSpPr>
          <p:spPr bwMode="auto">
            <a:xfrm>
              <a:off x="3554" y="3365"/>
              <a:ext cx="67" cy="98"/>
            </a:xfrm>
            <a:custGeom>
              <a:avLst/>
              <a:gdLst>
                <a:gd name="T0" fmla="*/ 66 w 67"/>
                <a:gd name="T1" fmla="*/ 21 h 98"/>
                <a:gd name="T2" fmla="*/ 0 w 67"/>
                <a:gd name="T3" fmla="*/ 97 h 98"/>
                <a:gd name="T4" fmla="*/ 23 w 67"/>
                <a:gd name="T5" fmla="*/ 0 h 98"/>
                <a:gd name="T6" fmla="*/ 66 w 67"/>
                <a:gd name="T7" fmla="*/ 21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98">
                  <a:moveTo>
                    <a:pt x="66" y="21"/>
                  </a:moveTo>
                  <a:lnTo>
                    <a:pt x="0" y="97"/>
                  </a:lnTo>
                  <a:lnTo>
                    <a:pt x="23" y="0"/>
                  </a:lnTo>
                  <a:lnTo>
                    <a:pt x="66" y="2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39"/>
            <p:cNvSpPr>
              <a:spLocks/>
            </p:cNvSpPr>
            <p:nvPr/>
          </p:nvSpPr>
          <p:spPr bwMode="auto">
            <a:xfrm>
              <a:off x="4117" y="2977"/>
              <a:ext cx="1" cy="476"/>
            </a:xfrm>
            <a:custGeom>
              <a:avLst/>
              <a:gdLst>
                <a:gd name="T0" fmla="*/ 0 w 1"/>
                <a:gd name="T1" fmla="*/ 0 h 476"/>
                <a:gd name="T2" fmla="*/ 0 w 1"/>
                <a:gd name="T3" fmla="*/ 475 h 476"/>
                <a:gd name="T4" fmla="*/ 0 w 1"/>
                <a:gd name="T5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76">
                  <a:moveTo>
                    <a:pt x="0" y="0"/>
                  </a:moveTo>
                  <a:lnTo>
                    <a:pt x="0" y="475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40"/>
            <p:cNvSpPr>
              <a:spLocks/>
            </p:cNvSpPr>
            <p:nvPr/>
          </p:nvSpPr>
          <p:spPr bwMode="auto">
            <a:xfrm>
              <a:off x="4093" y="3355"/>
              <a:ext cx="49" cy="98"/>
            </a:xfrm>
            <a:custGeom>
              <a:avLst/>
              <a:gdLst>
                <a:gd name="T0" fmla="*/ 48 w 49"/>
                <a:gd name="T1" fmla="*/ 0 h 98"/>
                <a:gd name="T2" fmla="*/ 24 w 49"/>
                <a:gd name="T3" fmla="*/ 97 h 98"/>
                <a:gd name="T4" fmla="*/ 0 w 49"/>
                <a:gd name="T5" fmla="*/ 0 h 98"/>
                <a:gd name="T6" fmla="*/ 48 w 49"/>
                <a:gd name="T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98">
                  <a:moveTo>
                    <a:pt x="48" y="0"/>
                  </a:moveTo>
                  <a:lnTo>
                    <a:pt x="24" y="97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41"/>
            <p:cNvSpPr>
              <a:spLocks/>
            </p:cNvSpPr>
            <p:nvPr/>
          </p:nvSpPr>
          <p:spPr bwMode="auto">
            <a:xfrm>
              <a:off x="4428" y="2986"/>
              <a:ext cx="253" cy="477"/>
            </a:xfrm>
            <a:custGeom>
              <a:avLst/>
              <a:gdLst>
                <a:gd name="T0" fmla="*/ 0 w 253"/>
                <a:gd name="T1" fmla="*/ 0 h 477"/>
                <a:gd name="T2" fmla="*/ 252 w 253"/>
                <a:gd name="T3" fmla="*/ 476 h 477"/>
                <a:gd name="T4" fmla="*/ 0 w 253"/>
                <a:gd name="T5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3" h="477">
                  <a:moveTo>
                    <a:pt x="0" y="0"/>
                  </a:moveTo>
                  <a:lnTo>
                    <a:pt x="252" y="476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42"/>
            <p:cNvSpPr>
              <a:spLocks/>
            </p:cNvSpPr>
            <p:nvPr/>
          </p:nvSpPr>
          <p:spPr bwMode="auto">
            <a:xfrm>
              <a:off x="4614" y="3365"/>
              <a:ext cx="67" cy="98"/>
            </a:xfrm>
            <a:custGeom>
              <a:avLst/>
              <a:gdLst>
                <a:gd name="T0" fmla="*/ 42 w 67"/>
                <a:gd name="T1" fmla="*/ 0 h 98"/>
                <a:gd name="T2" fmla="*/ 66 w 67"/>
                <a:gd name="T3" fmla="*/ 97 h 98"/>
                <a:gd name="T4" fmla="*/ 0 w 67"/>
                <a:gd name="T5" fmla="*/ 22 h 98"/>
                <a:gd name="T6" fmla="*/ 42 w 67"/>
                <a:gd name="T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98">
                  <a:moveTo>
                    <a:pt x="42" y="0"/>
                  </a:moveTo>
                  <a:lnTo>
                    <a:pt x="66" y="97"/>
                  </a:lnTo>
                  <a:lnTo>
                    <a:pt x="0" y="22"/>
                  </a:lnTo>
                  <a:lnTo>
                    <a:pt x="42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43"/>
            <p:cNvSpPr>
              <a:spLocks/>
            </p:cNvSpPr>
            <p:nvPr/>
          </p:nvSpPr>
          <p:spPr bwMode="auto">
            <a:xfrm>
              <a:off x="700" y="3519"/>
              <a:ext cx="1" cy="283"/>
            </a:xfrm>
            <a:custGeom>
              <a:avLst/>
              <a:gdLst>
                <a:gd name="T0" fmla="*/ 0 w 1"/>
                <a:gd name="T1" fmla="*/ 0 h 283"/>
                <a:gd name="T2" fmla="*/ 0 w 1"/>
                <a:gd name="T3" fmla="*/ 282 h 283"/>
                <a:gd name="T4" fmla="*/ 0 w 1"/>
                <a:gd name="T5" fmla="*/ 0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83">
                  <a:moveTo>
                    <a:pt x="0" y="0"/>
                  </a:moveTo>
                  <a:lnTo>
                    <a:pt x="0" y="28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44"/>
            <p:cNvSpPr>
              <a:spLocks/>
            </p:cNvSpPr>
            <p:nvPr/>
          </p:nvSpPr>
          <p:spPr bwMode="auto">
            <a:xfrm>
              <a:off x="1565" y="3509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45"/>
            <p:cNvSpPr>
              <a:spLocks/>
            </p:cNvSpPr>
            <p:nvPr/>
          </p:nvSpPr>
          <p:spPr bwMode="auto">
            <a:xfrm>
              <a:off x="2409" y="3509"/>
              <a:ext cx="1" cy="302"/>
            </a:xfrm>
            <a:custGeom>
              <a:avLst/>
              <a:gdLst>
                <a:gd name="T0" fmla="*/ 0 w 1"/>
                <a:gd name="T1" fmla="*/ 0 h 302"/>
                <a:gd name="T2" fmla="*/ 0 w 1"/>
                <a:gd name="T3" fmla="*/ 301 h 302"/>
                <a:gd name="T4" fmla="*/ 0 w 1"/>
                <a:gd name="T5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02">
                  <a:moveTo>
                    <a:pt x="0" y="0"/>
                  </a:moveTo>
                  <a:lnTo>
                    <a:pt x="0" y="30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 46"/>
            <p:cNvSpPr>
              <a:spLocks/>
            </p:cNvSpPr>
            <p:nvPr/>
          </p:nvSpPr>
          <p:spPr bwMode="auto">
            <a:xfrm>
              <a:off x="3252" y="3519"/>
              <a:ext cx="1" cy="273"/>
            </a:xfrm>
            <a:custGeom>
              <a:avLst/>
              <a:gdLst>
                <a:gd name="T0" fmla="*/ 0 w 1"/>
                <a:gd name="T1" fmla="*/ 0 h 273"/>
                <a:gd name="T2" fmla="*/ 0 w 1"/>
                <a:gd name="T3" fmla="*/ 272 h 273"/>
                <a:gd name="T4" fmla="*/ 0 w 1"/>
                <a:gd name="T5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73">
                  <a:moveTo>
                    <a:pt x="0" y="0"/>
                  </a:moveTo>
                  <a:lnTo>
                    <a:pt x="0" y="27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47"/>
            <p:cNvSpPr>
              <a:spLocks/>
            </p:cNvSpPr>
            <p:nvPr/>
          </p:nvSpPr>
          <p:spPr bwMode="auto">
            <a:xfrm>
              <a:off x="4108" y="3519"/>
              <a:ext cx="1" cy="292"/>
            </a:xfrm>
            <a:custGeom>
              <a:avLst/>
              <a:gdLst>
                <a:gd name="T0" fmla="*/ 0 w 1"/>
                <a:gd name="T1" fmla="*/ 0 h 292"/>
                <a:gd name="T2" fmla="*/ 0 w 1"/>
                <a:gd name="T3" fmla="*/ 291 h 292"/>
                <a:gd name="T4" fmla="*/ 0 w 1"/>
                <a:gd name="T5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2">
                  <a:moveTo>
                    <a:pt x="0" y="0"/>
                  </a:moveTo>
                  <a:lnTo>
                    <a:pt x="0" y="29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48"/>
            <p:cNvSpPr>
              <a:spLocks/>
            </p:cNvSpPr>
            <p:nvPr/>
          </p:nvSpPr>
          <p:spPr bwMode="auto">
            <a:xfrm>
              <a:off x="4952" y="3519"/>
              <a:ext cx="1" cy="292"/>
            </a:xfrm>
            <a:custGeom>
              <a:avLst/>
              <a:gdLst>
                <a:gd name="T0" fmla="*/ 0 w 1"/>
                <a:gd name="T1" fmla="*/ 0 h 292"/>
                <a:gd name="T2" fmla="*/ 0 w 1"/>
                <a:gd name="T3" fmla="*/ 291 h 292"/>
                <a:gd name="T4" fmla="*/ 0 w 1"/>
                <a:gd name="T5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2">
                  <a:moveTo>
                    <a:pt x="0" y="0"/>
                  </a:moveTo>
                  <a:lnTo>
                    <a:pt x="0" y="29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49"/>
            <p:cNvSpPr>
              <a:spLocks/>
            </p:cNvSpPr>
            <p:nvPr/>
          </p:nvSpPr>
          <p:spPr bwMode="auto">
            <a:xfrm>
              <a:off x="2146" y="1940"/>
              <a:ext cx="254" cy="78"/>
            </a:xfrm>
            <a:custGeom>
              <a:avLst/>
              <a:gdLst>
                <a:gd name="T0" fmla="*/ 0 w 254"/>
                <a:gd name="T1" fmla="*/ 0 h 78"/>
                <a:gd name="T2" fmla="*/ 253 w 254"/>
                <a:gd name="T3" fmla="*/ 77 h 78"/>
                <a:gd name="T4" fmla="*/ 0 w 254"/>
                <a:gd name="T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4" h="78">
                  <a:moveTo>
                    <a:pt x="0" y="0"/>
                  </a:moveTo>
                  <a:lnTo>
                    <a:pt x="253" y="77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50"/>
            <p:cNvSpPr>
              <a:spLocks/>
            </p:cNvSpPr>
            <p:nvPr/>
          </p:nvSpPr>
          <p:spPr bwMode="auto">
            <a:xfrm>
              <a:off x="2299" y="1967"/>
              <a:ext cx="101" cy="51"/>
            </a:xfrm>
            <a:custGeom>
              <a:avLst/>
              <a:gdLst>
                <a:gd name="T0" fmla="*/ 15 w 101"/>
                <a:gd name="T1" fmla="*/ 0 h 51"/>
                <a:gd name="T2" fmla="*/ 100 w 101"/>
                <a:gd name="T3" fmla="*/ 50 h 51"/>
                <a:gd name="T4" fmla="*/ 0 w 101"/>
                <a:gd name="T5" fmla="*/ 45 h 51"/>
                <a:gd name="T6" fmla="*/ 15 w 101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" h="51">
                  <a:moveTo>
                    <a:pt x="15" y="0"/>
                  </a:moveTo>
                  <a:lnTo>
                    <a:pt x="100" y="50"/>
                  </a:lnTo>
                  <a:lnTo>
                    <a:pt x="0" y="45"/>
                  </a:lnTo>
                  <a:lnTo>
                    <a:pt x="15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Rectangle 51"/>
            <p:cNvSpPr>
              <a:spLocks noChangeArrowheads="1"/>
            </p:cNvSpPr>
            <p:nvPr/>
          </p:nvSpPr>
          <p:spPr bwMode="auto">
            <a:xfrm>
              <a:off x="381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10*</a:t>
              </a:r>
            </a:p>
          </p:txBody>
        </p:sp>
        <p:sp>
          <p:nvSpPr>
            <p:cNvPr id="154" name="Rectangle 52"/>
            <p:cNvSpPr>
              <a:spLocks noChangeArrowheads="1"/>
            </p:cNvSpPr>
            <p:nvPr/>
          </p:nvSpPr>
          <p:spPr bwMode="auto">
            <a:xfrm>
              <a:off x="721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15*</a:t>
              </a:r>
            </a:p>
          </p:txBody>
        </p:sp>
        <p:sp>
          <p:nvSpPr>
            <p:cNvPr id="155" name="Rectangle 53"/>
            <p:cNvSpPr>
              <a:spLocks noChangeArrowheads="1"/>
            </p:cNvSpPr>
            <p:nvPr/>
          </p:nvSpPr>
          <p:spPr bwMode="auto">
            <a:xfrm>
              <a:off x="1236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20*</a:t>
              </a:r>
            </a:p>
          </p:txBody>
        </p:sp>
        <p:sp>
          <p:nvSpPr>
            <p:cNvPr id="156" name="Rectangle 54"/>
            <p:cNvSpPr>
              <a:spLocks noChangeArrowheads="1"/>
            </p:cNvSpPr>
            <p:nvPr/>
          </p:nvSpPr>
          <p:spPr bwMode="auto">
            <a:xfrm>
              <a:off x="1594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27*</a:t>
              </a:r>
            </a:p>
          </p:txBody>
        </p:sp>
        <p:sp>
          <p:nvSpPr>
            <p:cNvPr id="157" name="Rectangle 55"/>
            <p:cNvSpPr>
              <a:spLocks noChangeArrowheads="1"/>
            </p:cNvSpPr>
            <p:nvPr/>
          </p:nvSpPr>
          <p:spPr bwMode="auto">
            <a:xfrm>
              <a:off x="2099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33*</a:t>
              </a:r>
            </a:p>
          </p:txBody>
        </p:sp>
        <p:sp>
          <p:nvSpPr>
            <p:cNvPr id="158" name="Rectangle 56"/>
            <p:cNvSpPr>
              <a:spLocks noChangeArrowheads="1"/>
            </p:cNvSpPr>
            <p:nvPr/>
          </p:nvSpPr>
          <p:spPr bwMode="auto">
            <a:xfrm>
              <a:off x="2429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37*</a:t>
              </a:r>
            </a:p>
          </p:txBody>
        </p:sp>
        <p:sp>
          <p:nvSpPr>
            <p:cNvPr id="159" name="Rectangle 57"/>
            <p:cNvSpPr>
              <a:spLocks noChangeArrowheads="1"/>
            </p:cNvSpPr>
            <p:nvPr/>
          </p:nvSpPr>
          <p:spPr bwMode="auto">
            <a:xfrm>
              <a:off x="2953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40*</a:t>
              </a:r>
            </a:p>
          </p:txBody>
        </p:sp>
        <p:sp>
          <p:nvSpPr>
            <p:cNvPr id="160" name="Rectangle 58"/>
            <p:cNvSpPr>
              <a:spLocks noChangeArrowheads="1"/>
            </p:cNvSpPr>
            <p:nvPr/>
          </p:nvSpPr>
          <p:spPr bwMode="auto">
            <a:xfrm>
              <a:off x="3284" y="355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46*</a:t>
              </a:r>
            </a:p>
          </p:txBody>
        </p:sp>
        <p:sp>
          <p:nvSpPr>
            <p:cNvPr id="161" name="Rectangle 59"/>
            <p:cNvSpPr>
              <a:spLocks noChangeArrowheads="1"/>
            </p:cNvSpPr>
            <p:nvPr/>
          </p:nvSpPr>
          <p:spPr bwMode="auto">
            <a:xfrm>
              <a:off x="3789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51*</a:t>
              </a:r>
            </a:p>
          </p:txBody>
        </p:sp>
        <p:sp>
          <p:nvSpPr>
            <p:cNvPr id="162" name="Rectangle 60"/>
            <p:cNvSpPr>
              <a:spLocks noChangeArrowheads="1"/>
            </p:cNvSpPr>
            <p:nvPr/>
          </p:nvSpPr>
          <p:spPr bwMode="auto">
            <a:xfrm>
              <a:off x="4158" y="355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55*</a:t>
              </a:r>
            </a:p>
          </p:txBody>
        </p:sp>
        <p:sp>
          <p:nvSpPr>
            <p:cNvPr id="163" name="Rectangle 61"/>
            <p:cNvSpPr>
              <a:spLocks noChangeArrowheads="1"/>
            </p:cNvSpPr>
            <p:nvPr/>
          </p:nvSpPr>
          <p:spPr bwMode="auto">
            <a:xfrm>
              <a:off x="4643" y="357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63*</a:t>
              </a:r>
            </a:p>
          </p:txBody>
        </p:sp>
        <p:sp>
          <p:nvSpPr>
            <p:cNvPr id="164" name="Rectangle 62"/>
            <p:cNvSpPr>
              <a:spLocks noChangeArrowheads="1"/>
            </p:cNvSpPr>
            <p:nvPr/>
          </p:nvSpPr>
          <p:spPr bwMode="auto">
            <a:xfrm>
              <a:off x="4993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97*</a:t>
              </a:r>
            </a:p>
          </p:txBody>
        </p:sp>
        <p:sp>
          <p:nvSpPr>
            <p:cNvPr id="165" name="Rectangle 63"/>
            <p:cNvSpPr>
              <a:spLocks noChangeArrowheads="1"/>
            </p:cNvSpPr>
            <p:nvPr/>
          </p:nvSpPr>
          <p:spPr bwMode="auto">
            <a:xfrm>
              <a:off x="1283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20</a:t>
              </a:r>
            </a:p>
          </p:txBody>
        </p:sp>
        <p:sp>
          <p:nvSpPr>
            <p:cNvPr id="166" name="Rectangle 64"/>
            <p:cNvSpPr>
              <a:spLocks noChangeArrowheads="1"/>
            </p:cNvSpPr>
            <p:nvPr/>
          </p:nvSpPr>
          <p:spPr bwMode="auto">
            <a:xfrm>
              <a:off x="1594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33</a:t>
              </a:r>
            </a:p>
          </p:txBody>
        </p:sp>
        <p:sp>
          <p:nvSpPr>
            <p:cNvPr id="167" name="Rectangle 65"/>
            <p:cNvSpPr>
              <a:spLocks noChangeArrowheads="1"/>
            </p:cNvSpPr>
            <p:nvPr/>
          </p:nvSpPr>
          <p:spPr bwMode="auto">
            <a:xfrm>
              <a:off x="3847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51</a:t>
              </a:r>
            </a:p>
          </p:txBody>
        </p:sp>
        <p:sp>
          <p:nvSpPr>
            <p:cNvPr id="168" name="Rectangle 66"/>
            <p:cNvSpPr>
              <a:spLocks noChangeArrowheads="1"/>
            </p:cNvSpPr>
            <p:nvPr/>
          </p:nvSpPr>
          <p:spPr bwMode="auto">
            <a:xfrm>
              <a:off x="4147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63</a:t>
              </a:r>
            </a:p>
          </p:txBody>
        </p:sp>
        <p:sp>
          <p:nvSpPr>
            <p:cNvPr id="169" name="Rectangle 67"/>
            <p:cNvSpPr>
              <a:spLocks noChangeArrowheads="1"/>
            </p:cNvSpPr>
            <p:nvPr/>
          </p:nvSpPr>
          <p:spPr bwMode="auto">
            <a:xfrm>
              <a:off x="2517" y="2080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40</a:t>
              </a:r>
            </a:p>
          </p:txBody>
        </p:sp>
        <p:sp>
          <p:nvSpPr>
            <p:cNvPr id="170" name="Rectangle 68"/>
            <p:cNvSpPr>
              <a:spLocks noChangeArrowheads="1"/>
            </p:cNvSpPr>
            <p:nvPr/>
          </p:nvSpPr>
          <p:spPr bwMode="auto">
            <a:xfrm>
              <a:off x="1671" y="1868"/>
              <a:ext cx="369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Root</a:t>
              </a:r>
            </a:p>
          </p:txBody>
        </p:sp>
      </p:grpSp>
      <p:cxnSp>
        <p:nvCxnSpPr>
          <p:cNvPr id="3" name="Straight Arrow Connector 2"/>
          <p:cNvCxnSpPr>
            <a:endCxn id="132" idx="1"/>
          </p:cNvCxnSpPr>
          <p:nvPr/>
        </p:nvCxnSpPr>
        <p:spPr>
          <a:xfrm>
            <a:off x="4905376" y="3819479"/>
            <a:ext cx="1525587" cy="5396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/>
          <p:cNvCxnSpPr>
            <a:endCxn id="140" idx="1"/>
          </p:cNvCxnSpPr>
          <p:nvPr/>
        </p:nvCxnSpPr>
        <p:spPr>
          <a:xfrm flipH="1">
            <a:off x="6107113" y="4675616"/>
            <a:ext cx="405110" cy="6002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reeform 50"/>
          <p:cNvSpPr>
            <a:spLocks/>
          </p:cNvSpPr>
          <p:nvPr/>
        </p:nvSpPr>
        <p:spPr bwMode="auto">
          <a:xfrm>
            <a:off x="2389833" y="5835042"/>
            <a:ext cx="992188" cy="341312"/>
          </a:xfrm>
          <a:custGeom>
            <a:avLst/>
            <a:gdLst>
              <a:gd name="T0" fmla="*/ 0 w 625"/>
              <a:gd name="T1" fmla="*/ 278 h 279"/>
              <a:gd name="T2" fmla="*/ 0 w 625"/>
              <a:gd name="T3" fmla="*/ 0 h 279"/>
              <a:gd name="T4" fmla="*/ 624 w 625"/>
              <a:gd name="T5" fmla="*/ 0 h 279"/>
              <a:gd name="T6" fmla="*/ 624 w 625"/>
              <a:gd name="T7" fmla="*/ 278 h 279"/>
              <a:gd name="T8" fmla="*/ 0 w 625"/>
              <a:gd name="T9" fmla="*/ 278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5" h="279">
                <a:moveTo>
                  <a:pt x="0" y="278"/>
                </a:moveTo>
                <a:lnTo>
                  <a:pt x="0" y="0"/>
                </a:lnTo>
                <a:lnTo>
                  <a:pt x="624" y="0"/>
                </a:lnTo>
                <a:lnTo>
                  <a:pt x="624" y="278"/>
                </a:lnTo>
                <a:lnTo>
                  <a:pt x="0" y="27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Freeform 51"/>
          <p:cNvSpPr>
            <a:spLocks/>
          </p:cNvSpPr>
          <p:nvPr/>
        </p:nvSpPr>
        <p:spPr bwMode="auto">
          <a:xfrm>
            <a:off x="2885133" y="5849329"/>
            <a:ext cx="1588" cy="309506"/>
          </a:xfrm>
          <a:custGeom>
            <a:avLst/>
            <a:gdLst>
              <a:gd name="T0" fmla="*/ 0 w 1"/>
              <a:gd name="T1" fmla="*/ 0 h 253"/>
              <a:gd name="T2" fmla="*/ 0 w 1"/>
              <a:gd name="T3" fmla="*/ 252 h 253"/>
              <a:gd name="T4" fmla="*/ 0 w 1"/>
              <a:gd name="T5" fmla="*/ 0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3">
                <a:moveTo>
                  <a:pt x="0" y="0"/>
                </a:moveTo>
                <a:lnTo>
                  <a:pt x="0" y="25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Rectangle 76"/>
          <p:cNvSpPr>
            <a:spLocks noChangeArrowheads="1"/>
          </p:cNvSpPr>
          <p:nvPr/>
        </p:nvSpPr>
        <p:spPr bwMode="auto">
          <a:xfrm>
            <a:off x="2435871" y="5889017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23*</a:t>
            </a:r>
          </a:p>
        </p:txBody>
      </p:sp>
      <p:sp>
        <p:nvSpPr>
          <p:cNvPr id="75" name="Arc 87"/>
          <p:cNvSpPr>
            <a:spLocks/>
          </p:cNvSpPr>
          <p:nvPr/>
        </p:nvSpPr>
        <p:spPr bwMode="auto">
          <a:xfrm>
            <a:off x="2377603" y="5711226"/>
            <a:ext cx="152400" cy="14506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" name="Freeform 52"/>
          <p:cNvSpPr>
            <a:spLocks/>
          </p:cNvSpPr>
          <p:nvPr/>
        </p:nvSpPr>
        <p:spPr bwMode="auto">
          <a:xfrm>
            <a:off x="5103680" y="5856288"/>
            <a:ext cx="992188" cy="373856"/>
          </a:xfrm>
          <a:custGeom>
            <a:avLst/>
            <a:gdLst>
              <a:gd name="T0" fmla="*/ 0 w 625"/>
              <a:gd name="T1" fmla="*/ 278 h 279"/>
              <a:gd name="T2" fmla="*/ 0 w 625"/>
              <a:gd name="T3" fmla="*/ 0 h 279"/>
              <a:gd name="T4" fmla="*/ 624 w 625"/>
              <a:gd name="T5" fmla="*/ 0 h 279"/>
              <a:gd name="T6" fmla="*/ 624 w 625"/>
              <a:gd name="T7" fmla="*/ 278 h 279"/>
              <a:gd name="T8" fmla="*/ 0 w 625"/>
              <a:gd name="T9" fmla="*/ 278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5" h="279">
                <a:moveTo>
                  <a:pt x="0" y="278"/>
                </a:moveTo>
                <a:lnTo>
                  <a:pt x="0" y="0"/>
                </a:lnTo>
                <a:lnTo>
                  <a:pt x="624" y="0"/>
                </a:lnTo>
                <a:lnTo>
                  <a:pt x="624" y="278"/>
                </a:lnTo>
                <a:lnTo>
                  <a:pt x="0" y="27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" name="Freeform 53"/>
          <p:cNvSpPr>
            <a:spLocks/>
          </p:cNvSpPr>
          <p:nvPr/>
        </p:nvSpPr>
        <p:spPr bwMode="auto">
          <a:xfrm>
            <a:off x="5568818" y="5868988"/>
            <a:ext cx="1587" cy="351077"/>
          </a:xfrm>
          <a:custGeom>
            <a:avLst/>
            <a:gdLst>
              <a:gd name="T0" fmla="*/ 0 w 1"/>
              <a:gd name="T1" fmla="*/ 0 h 262"/>
              <a:gd name="T2" fmla="*/ 0 w 1"/>
              <a:gd name="T3" fmla="*/ 261 h 262"/>
              <a:gd name="T4" fmla="*/ 0 w 1"/>
              <a:gd name="T5" fmla="*/ 0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62">
                <a:moveTo>
                  <a:pt x="0" y="0"/>
                </a:moveTo>
                <a:lnTo>
                  <a:pt x="0" y="26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" name="Freeform 54"/>
          <p:cNvSpPr>
            <a:spLocks/>
          </p:cNvSpPr>
          <p:nvPr/>
        </p:nvSpPr>
        <p:spPr bwMode="auto">
          <a:xfrm>
            <a:off x="5094949" y="6406942"/>
            <a:ext cx="992187" cy="341313"/>
          </a:xfrm>
          <a:custGeom>
            <a:avLst/>
            <a:gdLst>
              <a:gd name="T0" fmla="*/ 0 w 625"/>
              <a:gd name="T1" fmla="*/ 278 h 279"/>
              <a:gd name="T2" fmla="*/ 0 w 625"/>
              <a:gd name="T3" fmla="*/ 0 h 279"/>
              <a:gd name="T4" fmla="*/ 624 w 625"/>
              <a:gd name="T5" fmla="*/ 0 h 279"/>
              <a:gd name="T6" fmla="*/ 624 w 625"/>
              <a:gd name="T7" fmla="*/ 278 h 279"/>
              <a:gd name="T8" fmla="*/ 0 w 625"/>
              <a:gd name="T9" fmla="*/ 278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5" h="279">
                <a:moveTo>
                  <a:pt x="0" y="278"/>
                </a:moveTo>
                <a:lnTo>
                  <a:pt x="0" y="0"/>
                </a:lnTo>
                <a:lnTo>
                  <a:pt x="624" y="0"/>
                </a:lnTo>
                <a:lnTo>
                  <a:pt x="624" y="278"/>
                </a:lnTo>
                <a:lnTo>
                  <a:pt x="0" y="27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" name="Freeform 55"/>
          <p:cNvSpPr>
            <a:spLocks/>
          </p:cNvSpPr>
          <p:nvPr/>
        </p:nvSpPr>
        <p:spPr bwMode="auto">
          <a:xfrm>
            <a:off x="5574374" y="6421230"/>
            <a:ext cx="1587" cy="294045"/>
          </a:xfrm>
          <a:custGeom>
            <a:avLst/>
            <a:gdLst>
              <a:gd name="T0" fmla="*/ 0 w 1"/>
              <a:gd name="T1" fmla="*/ 0 h 261"/>
              <a:gd name="T2" fmla="*/ 0 w 1"/>
              <a:gd name="T3" fmla="*/ 260 h 261"/>
              <a:gd name="T4" fmla="*/ 0 w 1"/>
              <a:gd name="T5" fmla="*/ 0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61">
                <a:moveTo>
                  <a:pt x="0" y="0"/>
                </a:moveTo>
                <a:lnTo>
                  <a:pt x="0" y="26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Rectangle 77"/>
          <p:cNvSpPr>
            <a:spLocks noChangeArrowheads="1"/>
          </p:cNvSpPr>
          <p:nvPr/>
        </p:nvSpPr>
        <p:spPr bwMode="auto">
          <a:xfrm>
            <a:off x="5162418" y="5897563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48*</a:t>
            </a:r>
          </a:p>
        </p:txBody>
      </p:sp>
      <p:sp>
        <p:nvSpPr>
          <p:cNvPr id="100" name="Rectangle 78"/>
          <p:cNvSpPr>
            <a:spLocks noChangeArrowheads="1"/>
          </p:cNvSpPr>
          <p:nvPr/>
        </p:nvSpPr>
        <p:spPr bwMode="auto">
          <a:xfrm>
            <a:off x="5591043" y="5881688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41*</a:t>
            </a:r>
          </a:p>
        </p:txBody>
      </p:sp>
      <p:sp>
        <p:nvSpPr>
          <p:cNvPr id="101" name="Rectangle 79"/>
          <p:cNvSpPr>
            <a:spLocks noChangeArrowheads="1"/>
          </p:cNvSpPr>
          <p:nvPr/>
        </p:nvSpPr>
        <p:spPr bwMode="auto">
          <a:xfrm>
            <a:off x="5140986" y="6460917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42*</a:t>
            </a:r>
          </a:p>
        </p:txBody>
      </p:sp>
      <p:sp>
        <p:nvSpPr>
          <p:cNvPr id="102" name="Arc 88"/>
          <p:cNvSpPr>
            <a:spLocks/>
          </p:cNvSpPr>
          <p:nvPr/>
        </p:nvSpPr>
        <p:spPr bwMode="auto">
          <a:xfrm>
            <a:off x="5071930" y="5711226"/>
            <a:ext cx="152400" cy="156174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Arc 89"/>
          <p:cNvSpPr>
            <a:spLocks/>
          </p:cNvSpPr>
          <p:nvPr/>
        </p:nvSpPr>
        <p:spPr bwMode="auto">
          <a:xfrm>
            <a:off x="5148130" y="6248400"/>
            <a:ext cx="76200" cy="152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228600" y="6324600"/>
            <a:ext cx="4597400" cy="42365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Chains of overflow pages can easily develop!</a:t>
            </a:r>
            <a:endParaRPr lang="en-US" dirty="0"/>
          </a:p>
        </p:txBody>
      </p:sp>
      <p:sp>
        <p:nvSpPr>
          <p:cNvPr id="84" name="Arc 88"/>
          <p:cNvSpPr>
            <a:spLocks/>
          </p:cNvSpPr>
          <p:nvPr/>
        </p:nvSpPr>
        <p:spPr bwMode="auto">
          <a:xfrm>
            <a:off x="5079762" y="5715000"/>
            <a:ext cx="152400" cy="156174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5400" cap="rnd">
            <a:solidFill>
              <a:srgbClr val="FF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61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8" grpId="0" animBg="1"/>
      <p:bldP spid="101" grpId="0"/>
      <p:bldP spid="103" grpId="0" animBg="1"/>
      <p:bldP spid="2" grpId="0" animBg="1"/>
      <p:bldP spid="8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ISAM: Deleting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The appropriate page is determined as for a search, and the entry is deleted (</a:t>
            </a:r>
            <a:r>
              <a:rPr lang="en-US" sz="2600" i="1" dirty="0" smtClean="0"/>
              <a:t>with ONLY overflow pages removed when becoming empty</a:t>
            </a:r>
            <a:r>
              <a:rPr lang="en-US" sz="2600" dirty="0" smtClean="0"/>
              <a:t>)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Delete </a:t>
            </a:r>
            <a:r>
              <a:rPr lang="en-US" sz="2600" dirty="0" smtClean="0">
                <a:solidFill>
                  <a:srgbClr val="FF0000"/>
                </a:solidFill>
              </a:rPr>
              <a:t>42*</a:t>
            </a:r>
            <a:endParaRPr lang="en-US" sz="2600" dirty="0">
              <a:solidFill>
                <a:srgbClr val="FF0000"/>
              </a:solidFill>
            </a:endParaRPr>
          </a:p>
        </p:txBody>
      </p:sp>
      <p:grpSp>
        <p:nvGrpSpPr>
          <p:cNvPr id="107" name="Group 69"/>
          <p:cNvGrpSpPr>
            <a:grpSpLocks/>
          </p:cNvGrpSpPr>
          <p:nvPr/>
        </p:nvGrpSpPr>
        <p:grpSpPr bwMode="auto">
          <a:xfrm>
            <a:off x="1022350" y="3342904"/>
            <a:ext cx="7893050" cy="2368322"/>
            <a:chOff x="351" y="1868"/>
            <a:chExt cx="4972" cy="1953"/>
          </a:xfrm>
        </p:grpSpPr>
        <p:sp>
          <p:nvSpPr>
            <p:cNvPr id="108" name="Freeform 6"/>
            <p:cNvSpPr>
              <a:spLocks/>
            </p:cNvSpPr>
            <p:nvPr/>
          </p:nvSpPr>
          <p:spPr bwMode="auto">
            <a:xfrm>
              <a:off x="351" y="3509"/>
              <a:ext cx="699" cy="312"/>
            </a:xfrm>
            <a:custGeom>
              <a:avLst/>
              <a:gdLst>
                <a:gd name="T0" fmla="*/ 0 w 699"/>
                <a:gd name="T1" fmla="*/ 311 h 312"/>
                <a:gd name="T2" fmla="*/ 0 w 699"/>
                <a:gd name="T3" fmla="*/ 0 h 312"/>
                <a:gd name="T4" fmla="*/ 698 w 699"/>
                <a:gd name="T5" fmla="*/ 0 h 312"/>
                <a:gd name="T6" fmla="*/ 698 w 699"/>
                <a:gd name="T7" fmla="*/ 311 h 312"/>
                <a:gd name="T8" fmla="*/ 0 w 699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9" h="312">
                  <a:moveTo>
                    <a:pt x="0" y="311"/>
                  </a:moveTo>
                  <a:lnTo>
                    <a:pt x="0" y="0"/>
                  </a:lnTo>
                  <a:lnTo>
                    <a:pt x="698" y="0"/>
                  </a:lnTo>
                  <a:lnTo>
                    <a:pt x="698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7"/>
            <p:cNvSpPr>
              <a:spLocks/>
            </p:cNvSpPr>
            <p:nvPr/>
          </p:nvSpPr>
          <p:spPr bwMode="auto">
            <a:xfrm>
              <a:off x="1204" y="3509"/>
              <a:ext cx="700" cy="312"/>
            </a:xfrm>
            <a:custGeom>
              <a:avLst/>
              <a:gdLst>
                <a:gd name="T0" fmla="*/ 0 w 700"/>
                <a:gd name="T1" fmla="*/ 311 h 312"/>
                <a:gd name="T2" fmla="*/ 0 w 700"/>
                <a:gd name="T3" fmla="*/ 0 h 312"/>
                <a:gd name="T4" fmla="*/ 699 w 700"/>
                <a:gd name="T5" fmla="*/ 0 h 312"/>
                <a:gd name="T6" fmla="*/ 699 w 700"/>
                <a:gd name="T7" fmla="*/ 311 h 312"/>
                <a:gd name="T8" fmla="*/ 0 w 700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2">
                  <a:moveTo>
                    <a:pt x="0" y="311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8"/>
            <p:cNvSpPr>
              <a:spLocks/>
            </p:cNvSpPr>
            <p:nvPr/>
          </p:nvSpPr>
          <p:spPr bwMode="auto">
            <a:xfrm>
              <a:off x="2059" y="3509"/>
              <a:ext cx="700" cy="312"/>
            </a:xfrm>
            <a:custGeom>
              <a:avLst/>
              <a:gdLst>
                <a:gd name="T0" fmla="*/ 0 w 700"/>
                <a:gd name="T1" fmla="*/ 311 h 312"/>
                <a:gd name="T2" fmla="*/ 0 w 700"/>
                <a:gd name="T3" fmla="*/ 0 h 312"/>
                <a:gd name="T4" fmla="*/ 699 w 700"/>
                <a:gd name="T5" fmla="*/ 0 h 312"/>
                <a:gd name="T6" fmla="*/ 699 w 700"/>
                <a:gd name="T7" fmla="*/ 311 h 312"/>
                <a:gd name="T8" fmla="*/ 0 w 700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2">
                  <a:moveTo>
                    <a:pt x="0" y="311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9"/>
            <p:cNvSpPr>
              <a:spLocks/>
            </p:cNvSpPr>
            <p:nvPr/>
          </p:nvSpPr>
          <p:spPr bwMode="auto">
            <a:xfrm>
              <a:off x="2914" y="3509"/>
              <a:ext cx="699" cy="312"/>
            </a:xfrm>
            <a:custGeom>
              <a:avLst/>
              <a:gdLst>
                <a:gd name="T0" fmla="*/ 0 w 699"/>
                <a:gd name="T1" fmla="*/ 311 h 312"/>
                <a:gd name="T2" fmla="*/ 0 w 699"/>
                <a:gd name="T3" fmla="*/ 0 h 312"/>
                <a:gd name="T4" fmla="*/ 698 w 699"/>
                <a:gd name="T5" fmla="*/ 0 h 312"/>
                <a:gd name="T6" fmla="*/ 698 w 699"/>
                <a:gd name="T7" fmla="*/ 311 h 312"/>
                <a:gd name="T8" fmla="*/ 0 w 699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9" h="312">
                  <a:moveTo>
                    <a:pt x="0" y="311"/>
                  </a:moveTo>
                  <a:lnTo>
                    <a:pt x="0" y="0"/>
                  </a:lnTo>
                  <a:lnTo>
                    <a:pt x="698" y="0"/>
                  </a:lnTo>
                  <a:lnTo>
                    <a:pt x="698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0"/>
            <p:cNvSpPr>
              <a:spLocks/>
            </p:cNvSpPr>
            <p:nvPr/>
          </p:nvSpPr>
          <p:spPr bwMode="auto">
            <a:xfrm>
              <a:off x="3767" y="3509"/>
              <a:ext cx="701" cy="312"/>
            </a:xfrm>
            <a:custGeom>
              <a:avLst/>
              <a:gdLst>
                <a:gd name="T0" fmla="*/ 0 w 701"/>
                <a:gd name="T1" fmla="*/ 311 h 312"/>
                <a:gd name="T2" fmla="*/ 0 w 701"/>
                <a:gd name="T3" fmla="*/ 0 h 312"/>
                <a:gd name="T4" fmla="*/ 700 w 701"/>
                <a:gd name="T5" fmla="*/ 0 h 312"/>
                <a:gd name="T6" fmla="*/ 700 w 701"/>
                <a:gd name="T7" fmla="*/ 311 h 312"/>
                <a:gd name="T8" fmla="*/ 0 w 701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1" h="312">
                  <a:moveTo>
                    <a:pt x="0" y="311"/>
                  </a:moveTo>
                  <a:lnTo>
                    <a:pt x="0" y="0"/>
                  </a:lnTo>
                  <a:lnTo>
                    <a:pt x="700" y="0"/>
                  </a:lnTo>
                  <a:lnTo>
                    <a:pt x="700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1"/>
            <p:cNvSpPr>
              <a:spLocks/>
            </p:cNvSpPr>
            <p:nvPr/>
          </p:nvSpPr>
          <p:spPr bwMode="auto">
            <a:xfrm>
              <a:off x="4621" y="3509"/>
              <a:ext cx="702" cy="312"/>
            </a:xfrm>
            <a:custGeom>
              <a:avLst/>
              <a:gdLst>
                <a:gd name="T0" fmla="*/ 0 w 702"/>
                <a:gd name="T1" fmla="*/ 311 h 312"/>
                <a:gd name="T2" fmla="*/ 0 w 702"/>
                <a:gd name="T3" fmla="*/ 0 h 312"/>
                <a:gd name="T4" fmla="*/ 701 w 702"/>
                <a:gd name="T5" fmla="*/ 0 h 312"/>
                <a:gd name="T6" fmla="*/ 701 w 702"/>
                <a:gd name="T7" fmla="*/ 311 h 312"/>
                <a:gd name="T8" fmla="*/ 0 w 702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2" h="312">
                  <a:moveTo>
                    <a:pt x="0" y="311"/>
                  </a:moveTo>
                  <a:lnTo>
                    <a:pt x="0" y="0"/>
                  </a:lnTo>
                  <a:lnTo>
                    <a:pt x="701" y="0"/>
                  </a:lnTo>
                  <a:lnTo>
                    <a:pt x="701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12"/>
            <p:cNvSpPr>
              <a:spLocks/>
            </p:cNvSpPr>
            <p:nvPr/>
          </p:nvSpPr>
          <p:spPr bwMode="auto">
            <a:xfrm>
              <a:off x="1204" y="2735"/>
              <a:ext cx="700" cy="311"/>
            </a:xfrm>
            <a:custGeom>
              <a:avLst/>
              <a:gdLst>
                <a:gd name="T0" fmla="*/ 0 w 700"/>
                <a:gd name="T1" fmla="*/ 310 h 311"/>
                <a:gd name="T2" fmla="*/ 0 w 700"/>
                <a:gd name="T3" fmla="*/ 0 h 311"/>
                <a:gd name="T4" fmla="*/ 699 w 700"/>
                <a:gd name="T5" fmla="*/ 0 h 311"/>
                <a:gd name="T6" fmla="*/ 699 w 700"/>
                <a:gd name="T7" fmla="*/ 310 h 311"/>
                <a:gd name="T8" fmla="*/ 0 w 700"/>
                <a:gd name="T9" fmla="*/ 31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1">
                  <a:moveTo>
                    <a:pt x="0" y="310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0"/>
                  </a:lnTo>
                  <a:lnTo>
                    <a:pt x="0" y="31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13"/>
            <p:cNvSpPr>
              <a:spLocks/>
            </p:cNvSpPr>
            <p:nvPr/>
          </p:nvSpPr>
          <p:spPr bwMode="auto">
            <a:xfrm>
              <a:off x="1284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14"/>
            <p:cNvSpPr>
              <a:spLocks/>
            </p:cNvSpPr>
            <p:nvPr/>
          </p:nvSpPr>
          <p:spPr bwMode="auto">
            <a:xfrm>
              <a:off x="1515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15"/>
            <p:cNvSpPr>
              <a:spLocks/>
            </p:cNvSpPr>
            <p:nvPr/>
          </p:nvSpPr>
          <p:spPr bwMode="auto">
            <a:xfrm>
              <a:off x="1593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16"/>
            <p:cNvSpPr>
              <a:spLocks/>
            </p:cNvSpPr>
            <p:nvPr/>
          </p:nvSpPr>
          <p:spPr bwMode="auto">
            <a:xfrm>
              <a:off x="1827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17"/>
            <p:cNvSpPr>
              <a:spLocks/>
            </p:cNvSpPr>
            <p:nvPr/>
          </p:nvSpPr>
          <p:spPr bwMode="auto">
            <a:xfrm>
              <a:off x="3767" y="2735"/>
              <a:ext cx="701" cy="311"/>
            </a:xfrm>
            <a:custGeom>
              <a:avLst/>
              <a:gdLst>
                <a:gd name="T0" fmla="*/ 0 w 701"/>
                <a:gd name="T1" fmla="*/ 310 h 311"/>
                <a:gd name="T2" fmla="*/ 0 w 701"/>
                <a:gd name="T3" fmla="*/ 0 h 311"/>
                <a:gd name="T4" fmla="*/ 700 w 701"/>
                <a:gd name="T5" fmla="*/ 0 h 311"/>
                <a:gd name="T6" fmla="*/ 700 w 701"/>
                <a:gd name="T7" fmla="*/ 310 h 311"/>
                <a:gd name="T8" fmla="*/ 0 w 701"/>
                <a:gd name="T9" fmla="*/ 31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1" h="311">
                  <a:moveTo>
                    <a:pt x="0" y="310"/>
                  </a:moveTo>
                  <a:lnTo>
                    <a:pt x="0" y="0"/>
                  </a:lnTo>
                  <a:lnTo>
                    <a:pt x="700" y="0"/>
                  </a:lnTo>
                  <a:lnTo>
                    <a:pt x="700" y="310"/>
                  </a:lnTo>
                  <a:lnTo>
                    <a:pt x="0" y="31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18"/>
            <p:cNvSpPr>
              <a:spLocks/>
            </p:cNvSpPr>
            <p:nvPr/>
          </p:nvSpPr>
          <p:spPr bwMode="auto">
            <a:xfrm>
              <a:off x="3846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19"/>
            <p:cNvSpPr>
              <a:spLocks/>
            </p:cNvSpPr>
            <p:nvPr/>
          </p:nvSpPr>
          <p:spPr bwMode="auto">
            <a:xfrm>
              <a:off x="4078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20"/>
            <p:cNvSpPr>
              <a:spLocks/>
            </p:cNvSpPr>
            <p:nvPr/>
          </p:nvSpPr>
          <p:spPr bwMode="auto">
            <a:xfrm>
              <a:off x="4156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21"/>
            <p:cNvSpPr>
              <a:spLocks/>
            </p:cNvSpPr>
            <p:nvPr/>
          </p:nvSpPr>
          <p:spPr bwMode="auto">
            <a:xfrm>
              <a:off x="4389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22"/>
            <p:cNvSpPr>
              <a:spLocks/>
            </p:cNvSpPr>
            <p:nvPr/>
          </p:nvSpPr>
          <p:spPr bwMode="auto">
            <a:xfrm>
              <a:off x="2447" y="2037"/>
              <a:ext cx="700" cy="312"/>
            </a:xfrm>
            <a:custGeom>
              <a:avLst/>
              <a:gdLst>
                <a:gd name="T0" fmla="*/ 0 w 700"/>
                <a:gd name="T1" fmla="*/ 311 h 312"/>
                <a:gd name="T2" fmla="*/ 0 w 700"/>
                <a:gd name="T3" fmla="*/ 0 h 312"/>
                <a:gd name="T4" fmla="*/ 699 w 700"/>
                <a:gd name="T5" fmla="*/ 0 h 312"/>
                <a:gd name="T6" fmla="*/ 699 w 700"/>
                <a:gd name="T7" fmla="*/ 311 h 312"/>
                <a:gd name="T8" fmla="*/ 0 w 700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2">
                  <a:moveTo>
                    <a:pt x="0" y="311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23"/>
            <p:cNvSpPr>
              <a:spLocks/>
            </p:cNvSpPr>
            <p:nvPr/>
          </p:nvSpPr>
          <p:spPr bwMode="auto">
            <a:xfrm>
              <a:off x="2525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24"/>
            <p:cNvSpPr>
              <a:spLocks/>
            </p:cNvSpPr>
            <p:nvPr/>
          </p:nvSpPr>
          <p:spPr bwMode="auto">
            <a:xfrm>
              <a:off x="2758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25"/>
            <p:cNvSpPr>
              <a:spLocks/>
            </p:cNvSpPr>
            <p:nvPr/>
          </p:nvSpPr>
          <p:spPr bwMode="auto">
            <a:xfrm>
              <a:off x="2836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26"/>
            <p:cNvSpPr>
              <a:spLocks/>
            </p:cNvSpPr>
            <p:nvPr/>
          </p:nvSpPr>
          <p:spPr bwMode="auto">
            <a:xfrm>
              <a:off x="3069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27"/>
            <p:cNvSpPr>
              <a:spLocks/>
            </p:cNvSpPr>
            <p:nvPr/>
          </p:nvSpPr>
          <p:spPr bwMode="auto">
            <a:xfrm>
              <a:off x="1903" y="2280"/>
              <a:ext cx="575" cy="418"/>
            </a:xfrm>
            <a:custGeom>
              <a:avLst/>
              <a:gdLst>
                <a:gd name="T0" fmla="*/ 574 w 575"/>
                <a:gd name="T1" fmla="*/ 0 h 418"/>
                <a:gd name="T2" fmla="*/ 0 w 575"/>
                <a:gd name="T3" fmla="*/ 417 h 418"/>
                <a:gd name="T4" fmla="*/ 574 w 575"/>
                <a:gd name="T5" fmla="*/ 0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5" h="418">
                  <a:moveTo>
                    <a:pt x="574" y="0"/>
                  </a:moveTo>
                  <a:lnTo>
                    <a:pt x="0" y="417"/>
                  </a:lnTo>
                  <a:lnTo>
                    <a:pt x="574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28"/>
            <p:cNvSpPr>
              <a:spLocks/>
            </p:cNvSpPr>
            <p:nvPr/>
          </p:nvSpPr>
          <p:spPr bwMode="auto">
            <a:xfrm>
              <a:off x="1903" y="2620"/>
              <a:ext cx="94" cy="78"/>
            </a:xfrm>
            <a:custGeom>
              <a:avLst/>
              <a:gdLst>
                <a:gd name="T0" fmla="*/ 93 w 94"/>
                <a:gd name="T1" fmla="*/ 39 h 78"/>
                <a:gd name="T2" fmla="*/ 0 w 94"/>
                <a:gd name="T3" fmla="*/ 77 h 78"/>
                <a:gd name="T4" fmla="*/ 65 w 94"/>
                <a:gd name="T5" fmla="*/ 0 h 78"/>
                <a:gd name="T6" fmla="*/ 93 w 94"/>
                <a:gd name="T7" fmla="*/ 3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4" h="78">
                  <a:moveTo>
                    <a:pt x="93" y="39"/>
                  </a:moveTo>
                  <a:lnTo>
                    <a:pt x="0" y="77"/>
                  </a:lnTo>
                  <a:lnTo>
                    <a:pt x="65" y="0"/>
                  </a:lnTo>
                  <a:lnTo>
                    <a:pt x="93" y="39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29"/>
            <p:cNvSpPr>
              <a:spLocks/>
            </p:cNvSpPr>
            <p:nvPr/>
          </p:nvSpPr>
          <p:spPr bwMode="auto">
            <a:xfrm>
              <a:off x="2788" y="2260"/>
              <a:ext cx="971" cy="447"/>
            </a:xfrm>
            <a:custGeom>
              <a:avLst/>
              <a:gdLst>
                <a:gd name="T0" fmla="*/ 0 w 971"/>
                <a:gd name="T1" fmla="*/ 0 h 447"/>
                <a:gd name="T2" fmla="*/ 970 w 971"/>
                <a:gd name="T3" fmla="*/ 446 h 447"/>
                <a:gd name="T4" fmla="*/ 0 w 971"/>
                <a:gd name="T5" fmla="*/ 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71" h="447">
                  <a:moveTo>
                    <a:pt x="0" y="0"/>
                  </a:moveTo>
                  <a:lnTo>
                    <a:pt x="970" y="446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30"/>
            <p:cNvSpPr>
              <a:spLocks/>
            </p:cNvSpPr>
            <p:nvPr/>
          </p:nvSpPr>
          <p:spPr bwMode="auto">
            <a:xfrm>
              <a:off x="3659" y="2644"/>
              <a:ext cx="100" cy="63"/>
            </a:xfrm>
            <a:custGeom>
              <a:avLst/>
              <a:gdLst>
                <a:gd name="T0" fmla="*/ 21 w 100"/>
                <a:gd name="T1" fmla="*/ 0 h 63"/>
                <a:gd name="T2" fmla="*/ 99 w 100"/>
                <a:gd name="T3" fmla="*/ 62 h 63"/>
                <a:gd name="T4" fmla="*/ 0 w 100"/>
                <a:gd name="T5" fmla="*/ 44 h 63"/>
                <a:gd name="T6" fmla="*/ 21 w 100"/>
                <a:gd name="T7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" h="63">
                  <a:moveTo>
                    <a:pt x="21" y="0"/>
                  </a:moveTo>
                  <a:lnTo>
                    <a:pt x="99" y="62"/>
                  </a:lnTo>
                  <a:lnTo>
                    <a:pt x="0" y="44"/>
                  </a:lnTo>
                  <a:lnTo>
                    <a:pt x="21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31"/>
            <p:cNvSpPr>
              <a:spLocks/>
            </p:cNvSpPr>
            <p:nvPr/>
          </p:nvSpPr>
          <p:spPr bwMode="auto">
            <a:xfrm>
              <a:off x="972" y="2996"/>
              <a:ext cx="272" cy="486"/>
            </a:xfrm>
            <a:custGeom>
              <a:avLst/>
              <a:gdLst>
                <a:gd name="T0" fmla="*/ 271 w 272"/>
                <a:gd name="T1" fmla="*/ 0 h 486"/>
                <a:gd name="T2" fmla="*/ 0 w 272"/>
                <a:gd name="T3" fmla="*/ 485 h 486"/>
                <a:gd name="T4" fmla="*/ 271 w 272"/>
                <a:gd name="T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2" h="486">
                  <a:moveTo>
                    <a:pt x="271" y="0"/>
                  </a:moveTo>
                  <a:lnTo>
                    <a:pt x="0" y="485"/>
                  </a:lnTo>
                  <a:lnTo>
                    <a:pt x="271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32"/>
            <p:cNvSpPr>
              <a:spLocks/>
            </p:cNvSpPr>
            <p:nvPr/>
          </p:nvSpPr>
          <p:spPr bwMode="auto">
            <a:xfrm>
              <a:off x="972" y="3384"/>
              <a:ext cx="69" cy="98"/>
            </a:xfrm>
            <a:custGeom>
              <a:avLst/>
              <a:gdLst>
                <a:gd name="T0" fmla="*/ 68 w 69"/>
                <a:gd name="T1" fmla="*/ 25 h 98"/>
                <a:gd name="T2" fmla="*/ 0 w 69"/>
                <a:gd name="T3" fmla="*/ 97 h 98"/>
                <a:gd name="T4" fmla="*/ 26 w 69"/>
                <a:gd name="T5" fmla="*/ 0 h 98"/>
                <a:gd name="T6" fmla="*/ 68 w 69"/>
                <a:gd name="T7" fmla="*/ 25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98">
                  <a:moveTo>
                    <a:pt x="68" y="25"/>
                  </a:moveTo>
                  <a:lnTo>
                    <a:pt x="0" y="97"/>
                  </a:lnTo>
                  <a:lnTo>
                    <a:pt x="26" y="0"/>
                  </a:lnTo>
                  <a:lnTo>
                    <a:pt x="68" y="25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33"/>
            <p:cNvSpPr>
              <a:spLocks/>
            </p:cNvSpPr>
            <p:nvPr/>
          </p:nvSpPr>
          <p:spPr bwMode="auto">
            <a:xfrm>
              <a:off x="1554" y="2977"/>
              <a:ext cx="1" cy="505"/>
            </a:xfrm>
            <a:custGeom>
              <a:avLst/>
              <a:gdLst>
                <a:gd name="T0" fmla="*/ 0 w 1"/>
                <a:gd name="T1" fmla="*/ 0 h 505"/>
                <a:gd name="T2" fmla="*/ 0 w 1"/>
                <a:gd name="T3" fmla="*/ 504 h 505"/>
                <a:gd name="T4" fmla="*/ 0 w 1"/>
                <a:gd name="T5" fmla="*/ 0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05">
                  <a:moveTo>
                    <a:pt x="0" y="0"/>
                  </a:moveTo>
                  <a:lnTo>
                    <a:pt x="0" y="504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34"/>
            <p:cNvSpPr>
              <a:spLocks/>
            </p:cNvSpPr>
            <p:nvPr/>
          </p:nvSpPr>
          <p:spPr bwMode="auto">
            <a:xfrm>
              <a:off x="1530" y="3384"/>
              <a:ext cx="50" cy="98"/>
            </a:xfrm>
            <a:custGeom>
              <a:avLst/>
              <a:gdLst>
                <a:gd name="T0" fmla="*/ 49 w 50"/>
                <a:gd name="T1" fmla="*/ 0 h 98"/>
                <a:gd name="T2" fmla="*/ 24 w 50"/>
                <a:gd name="T3" fmla="*/ 97 h 98"/>
                <a:gd name="T4" fmla="*/ 0 w 50"/>
                <a:gd name="T5" fmla="*/ 0 h 98"/>
                <a:gd name="T6" fmla="*/ 49 w 50"/>
                <a:gd name="T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98">
                  <a:moveTo>
                    <a:pt x="49" y="0"/>
                  </a:moveTo>
                  <a:lnTo>
                    <a:pt x="24" y="97"/>
                  </a:lnTo>
                  <a:lnTo>
                    <a:pt x="0" y="0"/>
                  </a:lnTo>
                  <a:lnTo>
                    <a:pt x="49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35"/>
            <p:cNvSpPr>
              <a:spLocks/>
            </p:cNvSpPr>
            <p:nvPr/>
          </p:nvSpPr>
          <p:spPr bwMode="auto">
            <a:xfrm>
              <a:off x="1865" y="2958"/>
              <a:ext cx="214" cy="514"/>
            </a:xfrm>
            <a:custGeom>
              <a:avLst/>
              <a:gdLst>
                <a:gd name="T0" fmla="*/ 0 w 214"/>
                <a:gd name="T1" fmla="*/ 0 h 514"/>
                <a:gd name="T2" fmla="*/ 213 w 214"/>
                <a:gd name="T3" fmla="*/ 513 h 514"/>
                <a:gd name="T4" fmla="*/ 0 w 214"/>
                <a:gd name="T5" fmla="*/ 0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4" h="514">
                  <a:moveTo>
                    <a:pt x="0" y="0"/>
                  </a:moveTo>
                  <a:lnTo>
                    <a:pt x="213" y="513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36"/>
            <p:cNvSpPr>
              <a:spLocks/>
            </p:cNvSpPr>
            <p:nvPr/>
          </p:nvSpPr>
          <p:spPr bwMode="auto">
            <a:xfrm>
              <a:off x="2019" y="3372"/>
              <a:ext cx="60" cy="100"/>
            </a:xfrm>
            <a:custGeom>
              <a:avLst/>
              <a:gdLst>
                <a:gd name="T0" fmla="*/ 45 w 60"/>
                <a:gd name="T1" fmla="*/ 0 h 100"/>
                <a:gd name="T2" fmla="*/ 59 w 60"/>
                <a:gd name="T3" fmla="*/ 99 h 100"/>
                <a:gd name="T4" fmla="*/ 0 w 60"/>
                <a:gd name="T5" fmla="*/ 18 h 100"/>
                <a:gd name="T6" fmla="*/ 45 w 60"/>
                <a:gd name="T7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" h="100">
                  <a:moveTo>
                    <a:pt x="45" y="0"/>
                  </a:moveTo>
                  <a:lnTo>
                    <a:pt x="59" y="99"/>
                  </a:lnTo>
                  <a:lnTo>
                    <a:pt x="0" y="18"/>
                  </a:lnTo>
                  <a:lnTo>
                    <a:pt x="45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37"/>
            <p:cNvSpPr>
              <a:spLocks/>
            </p:cNvSpPr>
            <p:nvPr/>
          </p:nvSpPr>
          <p:spPr bwMode="auto">
            <a:xfrm>
              <a:off x="3554" y="2967"/>
              <a:ext cx="254" cy="496"/>
            </a:xfrm>
            <a:custGeom>
              <a:avLst/>
              <a:gdLst>
                <a:gd name="T0" fmla="*/ 253 w 254"/>
                <a:gd name="T1" fmla="*/ 0 h 496"/>
                <a:gd name="T2" fmla="*/ 0 w 254"/>
                <a:gd name="T3" fmla="*/ 495 h 496"/>
                <a:gd name="T4" fmla="*/ 253 w 254"/>
                <a:gd name="T5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4" h="496">
                  <a:moveTo>
                    <a:pt x="253" y="0"/>
                  </a:moveTo>
                  <a:lnTo>
                    <a:pt x="0" y="495"/>
                  </a:lnTo>
                  <a:lnTo>
                    <a:pt x="253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38"/>
            <p:cNvSpPr>
              <a:spLocks/>
            </p:cNvSpPr>
            <p:nvPr/>
          </p:nvSpPr>
          <p:spPr bwMode="auto">
            <a:xfrm>
              <a:off x="3554" y="3365"/>
              <a:ext cx="67" cy="98"/>
            </a:xfrm>
            <a:custGeom>
              <a:avLst/>
              <a:gdLst>
                <a:gd name="T0" fmla="*/ 66 w 67"/>
                <a:gd name="T1" fmla="*/ 21 h 98"/>
                <a:gd name="T2" fmla="*/ 0 w 67"/>
                <a:gd name="T3" fmla="*/ 97 h 98"/>
                <a:gd name="T4" fmla="*/ 23 w 67"/>
                <a:gd name="T5" fmla="*/ 0 h 98"/>
                <a:gd name="T6" fmla="*/ 66 w 67"/>
                <a:gd name="T7" fmla="*/ 21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98">
                  <a:moveTo>
                    <a:pt x="66" y="21"/>
                  </a:moveTo>
                  <a:lnTo>
                    <a:pt x="0" y="97"/>
                  </a:lnTo>
                  <a:lnTo>
                    <a:pt x="23" y="0"/>
                  </a:lnTo>
                  <a:lnTo>
                    <a:pt x="66" y="2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39"/>
            <p:cNvSpPr>
              <a:spLocks/>
            </p:cNvSpPr>
            <p:nvPr/>
          </p:nvSpPr>
          <p:spPr bwMode="auto">
            <a:xfrm>
              <a:off x="4117" y="2977"/>
              <a:ext cx="1" cy="476"/>
            </a:xfrm>
            <a:custGeom>
              <a:avLst/>
              <a:gdLst>
                <a:gd name="T0" fmla="*/ 0 w 1"/>
                <a:gd name="T1" fmla="*/ 0 h 476"/>
                <a:gd name="T2" fmla="*/ 0 w 1"/>
                <a:gd name="T3" fmla="*/ 475 h 476"/>
                <a:gd name="T4" fmla="*/ 0 w 1"/>
                <a:gd name="T5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76">
                  <a:moveTo>
                    <a:pt x="0" y="0"/>
                  </a:moveTo>
                  <a:lnTo>
                    <a:pt x="0" y="475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40"/>
            <p:cNvSpPr>
              <a:spLocks/>
            </p:cNvSpPr>
            <p:nvPr/>
          </p:nvSpPr>
          <p:spPr bwMode="auto">
            <a:xfrm>
              <a:off x="4093" y="3355"/>
              <a:ext cx="49" cy="98"/>
            </a:xfrm>
            <a:custGeom>
              <a:avLst/>
              <a:gdLst>
                <a:gd name="T0" fmla="*/ 48 w 49"/>
                <a:gd name="T1" fmla="*/ 0 h 98"/>
                <a:gd name="T2" fmla="*/ 24 w 49"/>
                <a:gd name="T3" fmla="*/ 97 h 98"/>
                <a:gd name="T4" fmla="*/ 0 w 49"/>
                <a:gd name="T5" fmla="*/ 0 h 98"/>
                <a:gd name="T6" fmla="*/ 48 w 49"/>
                <a:gd name="T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98">
                  <a:moveTo>
                    <a:pt x="48" y="0"/>
                  </a:moveTo>
                  <a:lnTo>
                    <a:pt x="24" y="97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41"/>
            <p:cNvSpPr>
              <a:spLocks/>
            </p:cNvSpPr>
            <p:nvPr/>
          </p:nvSpPr>
          <p:spPr bwMode="auto">
            <a:xfrm>
              <a:off x="4428" y="2986"/>
              <a:ext cx="253" cy="477"/>
            </a:xfrm>
            <a:custGeom>
              <a:avLst/>
              <a:gdLst>
                <a:gd name="T0" fmla="*/ 0 w 253"/>
                <a:gd name="T1" fmla="*/ 0 h 477"/>
                <a:gd name="T2" fmla="*/ 252 w 253"/>
                <a:gd name="T3" fmla="*/ 476 h 477"/>
                <a:gd name="T4" fmla="*/ 0 w 253"/>
                <a:gd name="T5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3" h="477">
                  <a:moveTo>
                    <a:pt x="0" y="0"/>
                  </a:moveTo>
                  <a:lnTo>
                    <a:pt x="252" y="476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42"/>
            <p:cNvSpPr>
              <a:spLocks/>
            </p:cNvSpPr>
            <p:nvPr/>
          </p:nvSpPr>
          <p:spPr bwMode="auto">
            <a:xfrm>
              <a:off x="4614" y="3365"/>
              <a:ext cx="67" cy="98"/>
            </a:xfrm>
            <a:custGeom>
              <a:avLst/>
              <a:gdLst>
                <a:gd name="T0" fmla="*/ 42 w 67"/>
                <a:gd name="T1" fmla="*/ 0 h 98"/>
                <a:gd name="T2" fmla="*/ 66 w 67"/>
                <a:gd name="T3" fmla="*/ 97 h 98"/>
                <a:gd name="T4" fmla="*/ 0 w 67"/>
                <a:gd name="T5" fmla="*/ 22 h 98"/>
                <a:gd name="T6" fmla="*/ 42 w 67"/>
                <a:gd name="T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98">
                  <a:moveTo>
                    <a:pt x="42" y="0"/>
                  </a:moveTo>
                  <a:lnTo>
                    <a:pt x="66" y="97"/>
                  </a:lnTo>
                  <a:lnTo>
                    <a:pt x="0" y="22"/>
                  </a:lnTo>
                  <a:lnTo>
                    <a:pt x="42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43"/>
            <p:cNvSpPr>
              <a:spLocks/>
            </p:cNvSpPr>
            <p:nvPr/>
          </p:nvSpPr>
          <p:spPr bwMode="auto">
            <a:xfrm>
              <a:off x="700" y="3519"/>
              <a:ext cx="1" cy="283"/>
            </a:xfrm>
            <a:custGeom>
              <a:avLst/>
              <a:gdLst>
                <a:gd name="T0" fmla="*/ 0 w 1"/>
                <a:gd name="T1" fmla="*/ 0 h 283"/>
                <a:gd name="T2" fmla="*/ 0 w 1"/>
                <a:gd name="T3" fmla="*/ 282 h 283"/>
                <a:gd name="T4" fmla="*/ 0 w 1"/>
                <a:gd name="T5" fmla="*/ 0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83">
                  <a:moveTo>
                    <a:pt x="0" y="0"/>
                  </a:moveTo>
                  <a:lnTo>
                    <a:pt x="0" y="28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44"/>
            <p:cNvSpPr>
              <a:spLocks/>
            </p:cNvSpPr>
            <p:nvPr/>
          </p:nvSpPr>
          <p:spPr bwMode="auto">
            <a:xfrm>
              <a:off x="1565" y="3509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45"/>
            <p:cNvSpPr>
              <a:spLocks/>
            </p:cNvSpPr>
            <p:nvPr/>
          </p:nvSpPr>
          <p:spPr bwMode="auto">
            <a:xfrm>
              <a:off x="2409" y="3509"/>
              <a:ext cx="1" cy="302"/>
            </a:xfrm>
            <a:custGeom>
              <a:avLst/>
              <a:gdLst>
                <a:gd name="T0" fmla="*/ 0 w 1"/>
                <a:gd name="T1" fmla="*/ 0 h 302"/>
                <a:gd name="T2" fmla="*/ 0 w 1"/>
                <a:gd name="T3" fmla="*/ 301 h 302"/>
                <a:gd name="T4" fmla="*/ 0 w 1"/>
                <a:gd name="T5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02">
                  <a:moveTo>
                    <a:pt x="0" y="0"/>
                  </a:moveTo>
                  <a:lnTo>
                    <a:pt x="0" y="30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 46"/>
            <p:cNvSpPr>
              <a:spLocks/>
            </p:cNvSpPr>
            <p:nvPr/>
          </p:nvSpPr>
          <p:spPr bwMode="auto">
            <a:xfrm>
              <a:off x="3252" y="3519"/>
              <a:ext cx="1" cy="273"/>
            </a:xfrm>
            <a:custGeom>
              <a:avLst/>
              <a:gdLst>
                <a:gd name="T0" fmla="*/ 0 w 1"/>
                <a:gd name="T1" fmla="*/ 0 h 273"/>
                <a:gd name="T2" fmla="*/ 0 w 1"/>
                <a:gd name="T3" fmla="*/ 272 h 273"/>
                <a:gd name="T4" fmla="*/ 0 w 1"/>
                <a:gd name="T5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73">
                  <a:moveTo>
                    <a:pt x="0" y="0"/>
                  </a:moveTo>
                  <a:lnTo>
                    <a:pt x="0" y="27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47"/>
            <p:cNvSpPr>
              <a:spLocks/>
            </p:cNvSpPr>
            <p:nvPr/>
          </p:nvSpPr>
          <p:spPr bwMode="auto">
            <a:xfrm>
              <a:off x="4108" y="3519"/>
              <a:ext cx="1" cy="292"/>
            </a:xfrm>
            <a:custGeom>
              <a:avLst/>
              <a:gdLst>
                <a:gd name="T0" fmla="*/ 0 w 1"/>
                <a:gd name="T1" fmla="*/ 0 h 292"/>
                <a:gd name="T2" fmla="*/ 0 w 1"/>
                <a:gd name="T3" fmla="*/ 291 h 292"/>
                <a:gd name="T4" fmla="*/ 0 w 1"/>
                <a:gd name="T5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2">
                  <a:moveTo>
                    <a:pt x="0" y="0"/>
                  </a:moveTo>
                  <a:lnTo>
                    <a:pt x="0" y="29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48"/>
            <p:cNvSpPr>
              <a:spLocks/>
            </p:cNvSpPr>
            <p:nvPr/>
          </p:nvSpPr>
          <p:spPr bwMode="auto">
            <a:xfrm>
              <a:off x="4952" y="3519"/>
              <a:ext cx="1" cy="292"/>
            </a:xfrm>
            <a:custGeom>
              <a:avLst/>
              <a:gdLst>
                <a:gd name="T0" fmla="*/ 0 w 1"/>
                <a:gd name="T1" fmla="*/ 0 h 292"/>
                <a:gd name="T2" fmla="*/ 0 w 1"/>
                <a:gd name="T3" fmla="*/ 291 h 292"/>
                <a:gd name="T4" fmla="*/ 0 w 1"/>
                <a:gd name="T5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2">
                  <a:moveTo>
                    <a:pt x="0" y="0"/>
                  </a:moveTo>
                  <a:lnTo>
                    <a:pt x="0" y="29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49"/>
            <p:cNvSpPr>
              <a:spLocks/>
            </p:cNvSpPr>
            <p:nvPr/>
          </p:nvSpPr>
          <p:spPr bwMode="auto">
            <a:xfrm>
              <a:off x="2146" y="1940"/>
              <a:ext cx="254" cy="78"/>
            </a:xfrm>
            <a:custGeom>
              <a:avLst/>
              <a:gdLst>
                <a:gd name="T0" fmla="*/ 0 w 254"/>
                <a:gd name="T1" fmla="*/ 0 h 78"/>
                <a:gd name="T2" fmla="*/ 253 w 254"/>
                <a:gd name="T3" fmla="*/ 77 h 78"/>
                <a:gd name="T4" fmla="*/ 0 w 254"/>
                <a:gd name="T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4" h="78">
                  <a:moveTo>
                    <a:pt x="0" y="0"/>
                  </a:moveTo>
                  <a:lnTo>
                    <a:pt x="253" y="77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50"/>
            <p:cNvSpPr>
              <a:spLocks/>
            </p:cNvSpPr>
            <p:nvPr/>
          </p:nvSpPr>
          <p:spPr bwMode="auto">
            <a:xfrm>
              <a:off x="2299" y="1967"/>
              <a:ext cx="101" cy="51"/>
            </a:xfrm>
            <a:custGeom>
              <a:avLst/>
              <a:gdLst>
                <a:gd name="T0" fmla="*/ 15 w 101"/>
                <a:gd name="T1" fmla="*/ 0 h 51"/>
                <a:gd name="T2" fmla="*/ 100 w 101"/>
                <a:gd name="T3" fmla="*/ 50 h 51"/>
                <a:gd name="T4" fmla="*/ 0 w 101"/>
                <a:gd name="T5" fmla="*/ 45 h 51"/>
                <a:gd name="T6" fmla="*/ 15 w 101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" h="51">
                  <a:moveTo>
                    <a:pt x="15" y="0"/>
                  </a:moveTo>
                  <a:lnTo>
                    <a:pt x="100" y="50"/>
                  </a:lnTo>
                  <a:lnTo>
                    <a:pt x="0" y="45"/>
                  </a:lnTo>
                  <a:lnTo>
                    <a:pt x="15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Rectangle 51"/>
            <p:cNvSpPr>
              <a:spLocks noChangeArrowheads="1"/>
            </p:cNvSpPr>
            <p:nvPr/>
          </p:nvSpPr>
          <p:spPr bwMode="auto">
            <a:xfrm>
              <a:off x="381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10*</a:t>
              </a:r>
            </a:p>
          </p:txBody>
        </p:sp>
        <p:sp>
          <p:nvSpPr>
            <p:cNvPr id="154" name="Rectangle 52"/>
            <p:cNvSpPr>
              <a:spLocks noChangeArrowheads="1"/>
            </p:cNvSpPr>
            <p:nvPr/>
          </p:nvSpPr>
          <p:spPr bwMode="auto">
            <a:xfrm>
              <a:off x="721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15*</a:t>
              </a:r>
            </a:p>
          </p:txBody>
        </p:sp>
        <p:sp>
          <p:nvSpPr>
            <p:cNvPr id="155" name="Rectangle 53"/>
            <p:cNvSpPr>
              <a:spLocks noChangeArrowheads="1"/>
            </p:cNvSpPr>
            <p:nvPr/>
          </p:nvSpPr>
          <p:spPr bwMode="auto">
            <a:xfrm>
              <a:off x="1236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20*</a:t>
              </a:r>
            </a:p>
          </p:txBody>
        </p:sp>
        <p:sp>
          <p:nvSpPr>
            <p:cNvPr id="156" name="Rectangle 54"/>
            <p:cNvSpPr>
              <a:spLocks noChangeArrowheads="1"/>
            </p:cNvSpPr>
            <p:nvPr/>
          </p:nvSpPr>
          <p:spPr bwMode="auto">
            <a:xfrm>
              <a:off x="1594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27*</a:t>
              </a:r>
            </a:p>
          </p:txBody>
        </p:sp>
        <p:sp>
          <p:nvSpPr>
            <p:cNvPr id="157" name="Rectangle 55"/>
            <p:cNvSpPr>
              <a:spLocks noChangeArrowheads="1"/>
            </p:cNvSpPr>
            <p:nvPr/>
          </p:nvSpPr>
          <p:spPr bwMode="auto">
            <a:xfrm>
              <a:off x="2099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33*</a:t>
              </a:r>
            </a:p>
          </p:txBody>
        </p:sp>
        <p:sp>
          <p:nvSpPr>
            <p:cNvPr id="158" name="Rectangle 56"/>
            <p:cNvSpPr>
              <a:spLocks noChangeArrowheads="1"/>
            </p:cNvSpPr>
            <p:nvPr/>
          </p:nvSpPr>
          <p:spPr bwMode="auto">
            <a:xfrm>
              <a:off x="2429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37*</a:t>
              </a:r>
            </a:p>
          </p:txBody>
        </p:sp>
        <p:sp>
          <p:nvSpPr>
            <p:cNvPr id="159" name="Rectangle 57"/>
            <p:cNvSpPr>
              <a:spLocks noChangeArrowheads="1"/>
            </p:cNvSpPr>
            <p:nvPr/>
          </p:nvSpPr>
          <p:spPr bwMode="auto">
            <a:xfrm>
              <a:off x="2953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40*</a:t>
              </a:r>
            </a:p>
          </p:txBody>
        </p:sp>
        <p:sp>
          <p:nvSpPr>
            <p:cNvPr id="160" name="Rectangle 58"/>
            <p:cNvSpPr>
              <a:spLocks noChangeArrowheads="1"/>
            </p:cNvSpPr>
            <p:nvPr/>
          </p:nvSpPr>
          <p:spPr bwMode="auto">
            <a:xfrm>
              <a:off x="3284" y="355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46*</a:t>
              </a:r>
            </a:p>
          </p:txBody>
        </p:sp>
        <p:sp>
          <p:nvSpPr>
            <p:cNvPr id="161" name="Rectangle 59"/>
            <p:cNvSpPr>
              <a:spLocks noChangeArrowheads="1"/>
            </p:cNvSpPr>
            <p:nvPr/>
          </p:nvSpPr>
          <p:spPr bwMode="auto">
            <a:xfrm>
              <a:off x="3789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51*</a:t>
              </a:r>
            </a:p>
          </p:txBody>
        </p:sp>
        <p:sp>
          <p:nvSpPr>
            <p:cNvPr id="162" name="Rectangle 60"/>
            <p:cNvSpPr>
              <a:spLocks noChangeArrowheads="1"/>
            </p:cNvSpPr>
            <p:nvPr/>
          </p:nvSpPr>
          <p:spPr bwMode="auto">
            <a:xfrm>
              <a:off x="4158" y="355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55*</a:t>
              </a:r>
            </a:p>
          </p:txBody>
        </p:sp>
        <p:sp>
          <p:nvSpPr>
            <p:cNvPr id="163" name="Rectangle 61"/>
            <p:cNvSpPr>
              <a:spLocks noChangeArrowheads="1"/>
            </p:cNvSpPr>
            <p:nvPr/>
          </p:nvSpPr>
          <p:spPr bwMode="auto">
            <a:xfrm>
              <a:off x="4643" y="357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63*</a:t>
              </a:r>
            </a:p>
          </p:txBody>
        </p:sp>
        <p:sp>
          <p:nvSpPr>
            <p:cNvPr id="164" name="Rectangle 62"/>
            <p:cNvSpPr>
              <a:spLocks noChangeArrowheads="1"/>
            </p:cNvSpPr>
            <p:nvPr/>
          </p:nvSpPr>
          <p:spPr bwMode="auto">
            <a:xfrm>
              <a:off x="4993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97*</a:t>
              </a:r>
            </a:p>
          </p:txBody>
        </p:sp>
        <p:sp>
          <p:nvSpPr>
            <p:cNvPr id="165" name="Rectangle 63"/>
            <p:cNvSpPr>
              <a:spLocks noChangeArrowheads="1"/>
            </p:cNvSpPr>
            <p:nvPr/>
          </p:nvSpPr>
          <p:spPr bwMode="auto">
            <a:xfrm>
              <a:off x="1283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20</a:t>
              </a:r>
            </a:p>
          </p:txBody>
        </p:sp>
        <p:sp>
          <p:nvSpPr>
            <p:cNvPr id="166" name="Rectangle 64"/>
            <p:cNvSpPr>
              <a:spLocks noChangeArrowheads="1"/>
            </p:cNvSpPr>
            <p:nvPr/>
          </p:nvSpPr>
          <p:spPr bwMode="auto">
            <a:xfrm>
              <a:off x="1594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33</a:t>
              </a:r>
            </a:p>
          </p:txBody>
        </p:sp>
        <p:sp>
          <p:nvSpPr>
            <p:cNvPr id="167" name="Rectangle 65"/>
            <p:cNvSpPr>
              <a:spLocks noChangeArrowheads="1"/>
            </p:cNvSpPr>
            <p:nvPr/>
          </p:nvSpPr>
          <p:spPr bwMode="auto">
            <a:xfrm>
              <a:off x="3847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51</a:t>
              </a:r>
            </a:p>
          </p:txBody>
        </p:sp>
        <p:sp>
          <p:nvSpPr>
            <p:cNvPr id="168" name="Rectangle 66"/>
            <p:cNvSpPr>
              <a:spLocks noChangeArrowheads="1"/>
            </p:cNvSpPr>
            <p:nvPr/>
          </p:nvSpPr>
          <p:spPr bwMode="auto">
            <a:xfrm>
              <a:off x="4147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63</a:t>
              </a:r>
            </a:p>
          </p:txBody>
        </p:sp>
        <p:sp>
          <p:nvSpPr>
            <p:cNvPr id="169" name="Rectangle 67"/>
            <p:cNvSpPr>
              <a:spLocks noChangeArrowheads="1"/>
            </p:cNvSpPr>
            <p:nvPr/>
          </p:nvSpPr>
          <p:spPr bwMode="auto">
            <a:xfrm>
              <a:off x="2517" y="2080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40</a:t>
              </a:r>
            </a:p>
          </p:txBody>
        </p:sp>
        <p:sp>
          <p:nvSpPr>
            <p:cNvPr id="170" name="Rectangle 68"/>
            <p:cNvSpPr>
              <a:spLocks noChangeArrowheads="1"/>
            </p:cNvSpPr>
            <p:nvPr/>
          </p:nvSpPr>
          <p:spPr bwMode="auto">
            <a:xfrm>
              <a:off x="1671" y="1868"/>
              <a:ext cx="369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Root</a:t>
              </a:r>
            </a:p>
          </p:txBody>
        </p:sp>
      </p:grpSp>
      <p:cxnSp>
        <p:nvCxnSpPr>
          <p:cNvPr id="3" name="Straight Arrow Connector 2"/>
          <p:cNvCxnSpPr>
            <a:endCxn id="132" idx="1"/>
          </p:cNvCxnSpPr>
          <p:nvPr/>
        </p:nvCxnSpPr>
        <p:spPr>
          <a:xfrm>
            <a:off x="4905376" y="3819479"/>
            <a:ext cx="1525587" cy="5396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/>
          <p:cNvCxnSpPr>
            <a:endCxn id="140" idx="1"/>
          </p:cNvCxnSpPr>
          <p:nvPr/>
        </p:nvCxnSpPr>
        <p:spPr>
          <a:xfrm flipH="1">
            <a:off x="6107113" y="4675616"/>
            <a:ext cx="405110" cy="6002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reeform 50"/>
          <p:cNvSpPr>
            <a:spLocks/>
          </p:cNvSpPr>
          <p:nvPr/>
        </p:nvSpPr>
        <p:spPr bwMode="auto">
          <a:xfrm>
            <a:off x="2389833" y="5835042"/>
            <a:ext cx="992188" cy="341312"/>
          </a:xfrm>
          <a:custGeom>
            <a:avLst/>
            <a:gdLst>
              <a:gd name="T0" fmla="*/ 0 w 625"/>
              <a:gd name="T1" fmla="*/ 278 h 279"/>
              <a:gd name="T2" fmla="*/ 0 w 625"/>
              <a:gd name="T3" fmla="*/ 0 h 279"/>
              <a:gd name="T4" fmla="*/ 624 w 625"/>
              <a:gd name="T5" fmla="*/ 0 h 279"/>
              <a:gd name="T6" fmla="*/ 624 w 625"/>
              <a:gd name="T7" fmla="*/ 278 h 279"/>
              <a:gd name="T8" fmla="*/ 0 w 625"/>
              <a:gd name="T9" fmla="*/ 278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5" h="279">
                <a:moveTo>
                  <a:pt x="0" y="278"/>
                </a:moveTo>
                <a:lnTo>
                  <a:pt x="0" y="0"/>
                </a:lnTo>
                <a:lnTo>
                  <a:pt x="624" y="0"/>
                </a:lnTo>
                <a:lnTo>
                  <a:pt x="624" y="278"/>
                </a:lnTo>
                <a:lnTo>
                  <a:pt x="0" y="27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Freeform 51"/>
          <p:cNvSpPr>
            <a:spLocks/>
          </p:cNvSpPr>
          <p:nvPr/>
        </p:nvSpPr>
        <p:spPr bwMode="auto">
          <a:xfrm>
            <a:off x="2885133" y="5849329"/>
            <a:ext cx="1588" cy="309506"/>
          </a:xfrm>
          <a:custGeom>
            <a:avLst/>
            <a:gdLst>
              <a:gd name="T0" fmla="*/ 0 w 1"/>
              <a:gd name="T1" fmla="*/ 0 h 253"/>
              <a:gd name="T2" fmla="*/ 0 w 1"/>
              <a:gd name="T3" fmla="*/ 252 h 253"/>
              <a:gd name="T4" fmla="*/ 0 w 1"/>
              <a:gd name="T5" fmla="*/ 0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3">
                <a:moveTo>
                  <a:pt x="0" y="0"/>
                </a:moveTo>
                <a:lnTo>
                  <a:pt x="0" y="25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Rectangle 76"/>
          <p:cNvSpPr>
            <a:spLocks noChangeArrowheads="1"/>
          </p:cNvSpPr>
          <p:nvPr/>
        </p:nvSpPr>
        <p:spPr bwMode="auto">
          <a:xfrm>
            <a:off x="2435871" y="5889017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23*</a:t>
            </a:r>
          </a:p>
        </p:txBody>
      </p:sp>
      <p:sp>
        <p:nvSpPr>
          <p:cNvPr id="75" name="Arc 87"/>
          <p:cNvSpPr>
            <a:spLocks/>
          </p:cNvSpPr>
          <p:nvPr/>
        </p:nvSpPr>
        <p:spPr bwMode="auto">
          <a:xfrm>
            <a:off x="2377603" y="5711226"/>
            <a:ext cx="152400" cy="14506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" name="Freeform 52"/>
          <p:cNvSpPr>
            <a:spLocks/>
          </p:cNvSpPr>
          <p:nvPr/>
        </p:nvSpPr>
        <p:spPr bwMode="auto">
          <a:xfrm>
            <a:off x="5103680" y="5856288"/>
            <a:ext cx="992188" cy="373856"/>
          </a:xfrm>
          <a:custGeom>
            <a:avLst/>
            <a:gdLst>
              <a:gd name="T0" fmla="*/ 0 w 625"/>
              <a:gd name="T1" fmla="*/ 278 h 279"/>
              <a:gd name="T2" fmla="*/ 0 w 625"/>
              <a:gd name="T3" fmla="*/ 0 h 279"/>
              <a:gd name="T4" fmla="*/ 624 w 625"/>
              <a:gd name="T5" fmla="*/ 0 h 279"/>
              <a:gd name="T6" fmla="*/ 624 w 625"/>
              <a:gd name="T7" fmla="*/ 278 h 279"/>
              <a:gd name="T8" fmla="*/ 0 w 625"/>
              <a:gd name="T9" fmla="*/ 278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5" h="279">
                <a:moveTo>
                  <a:pt x="0" y="278"/>
                </a:moveTo>
                <a:lnTo>
                  <a:pt x="0" y="0"/>
                </a:lnTo>
                <a:lnTo>
                  <a:pt x="624" y="0"/>
                </a:lnTo>
                <a:lnTo>
                  <a:pt x="624" y="278"/>
                </a:lnTo>
                <a:lnTo>
                  <a:pt x="0" y="27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" name="Freeform 53"/>
          <p:cNvSpPr>
            <a:spLocks/>
          </p:cNvSpPr>
          <p:nvPr/>
        </p:nvSpPr>
        <p:spPr bwMode="auto">
          <a:xfrm>
            <a:off x="5568818" y="5868988"/>
            <a:ext cx="1587" cy="351077"/>
          </a:xfrm>
          <a:custGeom>
            <a:avLst/>
            <a:gdLst>
              <a:gd name="T0" fmla="*/ 0 w 1"/>
              <a:gd name="T1" fmla="*/ 0 h 262"/>
              <a:gd name="T2" fmla="*/ 0 w 1"/>
              <a:gd name="T3" fmla="*/ 261 h 262"/>
              <a:gd name="T4" fmla="*/ 0 w 1"/>
              <a:gd name="T5" fmla="*/ 0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62">
                <a:moveTo>
                  <a:pt x="0" y="0"/>
                </a:moveTo>
                <a:lnTo>
                  <a:pt x="0" y="26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" name="Freeform 54"/>
          <p:cNvSpPr>
            <a:spLocks/>
          </p:cNvSpPr>
          <p:nvPr/>
        </p:nvSpPr>
        <p:spPr bwMode="auto">
          <a:xfrm>
            <a:off x="5094949" y="6406942"/>
            <a:ext cx="992187" cy="341313"/>
          </a:xfrm>
          <a:custGeom>
            <a:avLst/>
            <a:gdLst>
              <a:gd name="T0" fmla="*/ 0 w 625"/>
              <a:gd name="T1" fmla="*/ 278 h 279"/>
              <a:gd name="T2" fmla="*/ 0 w 625"/>
              <a:gd name="T3" fmla="*/ 0 h 279"/>
              <a:gd name="T4" fmla="*/ 624 w 625"/>
              <a:gd name="T5" fmla="*/ 0 h 279"/>
              <a:gd name="T6" fmla="*/ 624 w 625"/>
              <a:gd name="T7" fmla="*/ 278 h 279"/>
              <a:gd name="T8" fmla="*/ 0 w 625"/>
              <a:gd name="T9" fmla="*/ 278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5" h="279">
                <a:moveTo>
                  <a:pt x="0" y="278"/>
                </a:moveTo>
                <a:lnTo>
                  <a:pt x="0" y="0"/>
                </a:lnTo>
                <a:lnTo>
                  <a:pt x="624" y="0"/>
                </a:lnTo>
                <a:lnTo>
                  <a:pt x="624" y="278"/>
                </a:lnTo>
                <a:lnTo>
                  <a:pt x="0" y="27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" name="Freeform 55"/>
          <p:cNvSpPr>
            <a:spLocks/>
          </p:cNvSpPr>
          <p:nvPr/>
        </p:nvSpPr>
        <p:spPr bwMode="auto">
          <a:xfrm>
            <a:off x="5574374" y="6421230"/>
            <a:ext cx="1587" cy="294045"/>
          </a:xfrm>
          <a:custGeom>
            <a:avLst/>
            <a:gdLst>
              <a:gd name="T0" fmla="*/ 0 w 1"/>
              <a:gd name="T1" fmla="*/ 0 h 261"/>
              <a:gd name="T2" fmla="*/ 0 w 1"/>
              <a:gd name="T3" fmla="*/ 260 h 261"/>
              <a:gd name="T4" fmla="*/ 0 w 1"/>
              <a:gd name="T5" fmla="*/ 0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61">
                <a:moveTo>
                  <a:pt x="0" y="0"/>
                </a:moveTo>
                <a:lnTo>
                  <a:pt x="0" y="26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Rectangle 77"/>
          <p:cNvSpPr>
            <a:spLocks noChangeArrowheads="1"/>
          </p:cNvSpPr>
          <p:nvPr/>
        </p:nvSpPr>
        <p:spPr bwMode="auto">
          <a:xfrm>
            <a:off x="5162418" y="5897563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48*</a:t>
            </a:r>
          </a:p>
        </p:txBody>
      </p:sp>
      <p:sp>
        <p:nvSpPr>
          <p:cNvPr id="100" name="Rectangle 78"/>
          <p:cNvSpPr>
            <a:spLocks noChangeArrowheads="1"/>
          </p:cNvSpPr>
          <p:nvPr/>
        </p:nvSpPr>
        <p:spPr bwMode="auto">
          <a:xfrm>
            <a:off x="5591043" y="5881688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41*</a:t>
            </a:r>
          </a:p>
        </p:txBody>
      </p:sp>
      <p:sp>
        <p:nvSpPr>
          <p:cNvPr id="101" name="Rectangle 79"/>
          <p:cNvSpPr>
            <a:spLocks noChangeArrowheads="1"/>
          </p:cNvSpPr>
          <p:nvPr/>
        </p:nvSpPr>
        <p:spPr bwMode="auto">
          <a:xfrm>
            <a:off x="5140986" y="6460917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 dirty="0">
                <a:solidFill>
                  <a:srgbClr val="000000"/>
                </a:solidFill>
                <a:latin typeface="Arial" pitchFamily="34" charset="0"/>
              </a:rPr>
              <a:t>42*</a:t>
            </a:r>
          </a:p>
        </p:txBody>
      </p:sp>
      <p:sp>
        <p:nvSpPr>
          <p:cNvPr id="102" name="Arc 88"/>
          <p:cNvSpPr>
            <a:spLocks/>
          </p:cNvSpPr>
          <p:nvPr/>
        </p:nvSpPr>
        <p:spPr bwMode="auto">
          <a:xfrm>
            <a:off x="5071930" y="5711226"/>
            <a:ext cx="152400" cy="156174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Arc 89"/>
          <p:cNvSpPr>
            <a:spLocks/>
          </p:cNvSpPr>
          <p:nvPr/>
        </p:nvSpPr>
        <p:spPr bwMode="auto">
          <a:xfrm>
            <a:off x="5148130" y="6248400"/>
            <a:ext cx="76200" cy="152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" name="Arc 88"/>
          <p:cNvSpPr>
            <a:spLocks/>
          </p:cNvSpPr>
          <p:nvPr/>
        </p:nvSpPr>
        <p:spPr bwMode="auto">
          <a:xfrm>
            <a:off x="5079762" y="5715000"/>
            <a:ext cx="152400" cy="156174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5400" cap="rnd">
            <a:solidFill>
              <a:srgbClr val="FF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" name="Arc 89"/>
          <p:cNvSpPr>
            <a:spLocks/>
          </p:cNvSpPr>
          <p:nvPr/>
        </p:nvSpPr>
        <p:spPr bwMode="auto">
          <a:xfrm>
            <a:off x="5146702" y="6248400"/>
            <a:ext cx="76200" cy="152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5400" cap="rnd">
            <a:solidFill>
              <a:srgbClr val="FF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0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3" grpId="0" animBg="1"/>
      <p:bldP spid="74" grpId="0"/>
      <p:bldP spid="75" grpId="0" animBg="1"/>
      <p:bldP spid="95" grpId="0" animBg="1"/>
      <p:bldP spid="96" grpId="0" animBg="1"/>
      <p:bldP spid="97" grpId="0" animBg="1"/>
      <p:bldP spid="98" grpId="0" animBg="1"/>
      <p:bldP spid="99" grpId="0"/>
      <p:bldP spid="100" grpId="0"/>
      <p:bldP spid="101" grpId="0"/>
      <p:bldP spid="102" grpId="0" animBg="1"/>
      <p:bldP spid="103" grpId="0" animBg="1"/>
      <p:bldP spid="86" grpId="0" animBg="1"/>
      <p:bldP spid="8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ISAM: Deleting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The appropriate page is determined as for a search, and the entry is deleted (</a:t>
            </a:r>
            <a:r>
              <a:rPr lang="en-US" sz="2600" i="1" dirty="0" smtClean="0"/>
              <a:t>with ONLY overflow pages removed when becoming empty</a:t>
            </a:r>
            <a:r>
              <a:rPr lang="en-US" sz="2600" dirty="0" smtClean="0"/>
              <a:t>)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Delete </a:t>
            </a:r>
            <a:r>
              <a:rPr lang="en-US" sz="2600" dirty="0" smtClean="0">
                <a:solidFill>
                  <a:srgbClr val="FF0000"/>
                </a:solidFill>
              </a:rPr>
              <a:t>42*</a:t>
            </a:r>
            <a:endParaRPr lang="en-US" sz="2600" dirty="0">
              <a:solidFill>
                <a:srgbClr val="FF0000"/>
              </a:solidFill>
            </a:endParaRPr>
          </a:p>
        </p:txBody>
      </p:sp>
      <p:grpSp>
        <p:nvGrpSpPr>
          <p:cNvPr id="107" name="Group 69"/>
          <p:cNvGrpSpPr>
            <a:grpSpLocks/>
          </p:cNvGrpSpPr>
          <p:nvPr/>
        </p:nvGrpSpPr>
        <p:grpSpPr bwMode="auto">
          <a:xfrm>
            <a:off x="1022350" y="3342904"/>
            <a:ext cx="7893050" cy="2368322"/>
            <a:chOff x="351" y="1868"/>
            <a:chExt cx="4972" cy="1953"/>
          </a:xfrm>
        </p:grpSpPr>
        <p:sp>
          <p:nvSpPr>
            <p:cNvPr id="108" name="Freeform 6"/>
            <p:cNvSpPr>
              <a:spLocks/>
            </p:cNvSpPr>
            <p:nvPr/>
          </p:nvSpPr>
          <p:spPr bwMode="auto">
            <a:xfrm>
              <a:off x="351" y="3509"/>
              <a:ext cx="699" cy="312"/>
            </a:xfrm>
            <a:custGeom>
              <a:avLst/>
              <a:gdLst>
                <a:gd name="T0" fmla="*/ 0 w 699"/>
                <a:gd name="T1" fmla="*/ 311 h 312"/>
                <a:gd name="T2" fmla="*/ 0 w 699"/>
                <a:gd name="T3" fmla="*/ 0 h 312"/>
                <a:gd name="T4" fmla="*/ 698 w 699"/>
                <a:gd name="T5" fmla="*/ 0 h 312"/>
                <a:gd name="T6" fmla="*/ 698 w 699"/>
                <a:gd name="T7" fmla="*/ 311 h 312"/>
                <a:gd name="T8" fmla="*/ 0 w 699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9" h="312">
                  <a:moveTo>
                    <a:pt x="0" y="311"/>
                  </a:moveTo>
                  <a:lnTo>
                    <a:pt x="0" y="0"/>
                  </a:lnTo>
                  <a:lnTo>
                    <a:pt x="698" y="0"/>
                  </a:lnTo>
                  <a:lnTo>
                    <a:pt x="698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7"/>
            <p:cNvSpPr>
              <a:spLocks/>
            </p:cNvSpPr>
            <p:nvPr/>
          </p:nvSpPr>
          <p:spPr bwMode="auto">
            <a:xfrm>
              <a:off x="1204" y="3509"/>
              <a:ext cx="700" cy="312"/>
            </a:xfrm>
            <a:custGeom>
              <a:avLst/>
              <a:gdLst>
                <a:gd name="T0" fmla="*/ 0 w 700"/>
                <a:gd name="T1" fmla="*/ 311 h 312"/>
                <a:gd name="T2" fmla="*/ 0 w 700"/>
                <a:gd name="T3" fmla="*/ 0 h 312"/>
                <a:gd name="T4" fmla="*/ 699 w 700"/>
                <a:gd name="T5" fmla="*/ 0 h 312"/>
                <a:gd name="T6" fmla="*/ 699 w 700"/>
                <a:gd name="T7" fmla="*/ 311 h 312"/>
                <a:gd name="T8" fmla="*/ 0 w 700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2">
                  <a:moveTo>
                    <a:pt x="0" y="311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8"/>
            <p:cNvSpPr>
              <a:spLocks/>
            </p:cNvSpPr>
            <p:nvPr/>
          </p:nvSpPr>
          <p:spPr bwMode="auto">
            <a:xfrm>
              <a:off x="2059" y="3509"/>
              <a:ext cx="700" cy="312"/>
            </a:xfrm>
            <a:custGeom>
              <a:avLst/>
              <a:gdLst>
                <a:gd name="T0" fmla="*/ 0 w 700"/>
                <a:gd name="T1" fmla="*/ 311 h 312"/>
                <a:gd name="T2" fmla="*/ 0 w 700"/>
                <a:gd name="T3" fmla="*/ 0 h 312"/>
                <a:gd name="T4" fmla="*/ 699 w 700"/>
                <a:gd name="T5" fmla="*/ 0 h 312"/>
                <a:gd name="T6" fmla="*/ 699 w 700"/>
                <a:gd name="T7" fmla="*/ 311 h 312"/>
                <a:gd name="T8" fmla="*/ 0 w 700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2">
                  <a:moveTo>
                    <a:pt x="0" y="311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9"/>
            <p:cNvSpPr>
              <a:spLocks/>
            </p:cNvSpPr>
            <p:nvPr/>
          </p:nvSpPr>
          <p:spPr bwMode="auto">
            <a:xfrm>
              <a:off x="2914" y="3509"/>
              <a:ext cx="699" cy="312"/>
            </a:xfrm>
            <a:custGeom>
              <a:avLst/>
              <a:gdLst>
                <a:gd name="T0" fmla="*/ 0 w 699"/>
                <a:gd name="T1" fmla="*/ 311 h 312"/>
                <a:gd name="T2" fmla="*/ 0 w 699"/>
                <a:gd name="T3" fmla="*/ 0 h 312"/>
                <a:gd name="T4" fmla="*/ 698 w 699"/>
                <a:gd name="T5" fmla="*/ 0 h 312"/>
                <a:gd name="T6" fmla="*/ 698 w 699"/>
                <a:gd name="T7" fmla="*/ 311 h 312"/>
                <a:gd name="T8" fmla="*/ 0 w 699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9" h="312">
                  <a:moveTo>
                    <a:pt x="0" y="311"/>
                  </a:moveTo>
                  <a:lnTo>
                    <a:pt x="0" y="0"/>
                  </a:lnTo>
                  <a:lnTo>
                    <a:pt x="698" y="0"/>
                  </a:lnTo>
                  <a:lnTo>
                    <a:pt x="698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0"/>
            <p:cNvSpPr>
              <a:spLocks/>
            </p:cNvSpPr>
            <p:nvPr/>
          </p:nvSpPr>
          <p:spPr bwMode="auto">
            <a:xfrm>
              <a:off x="3767" y="3509"/>
              <a:ext cx="701" cy="312"/>
            </a:xfrm>
            <a:custGeom>
              <a:avLst/>
              <a:gdLst>
                <a:gd name="T0" fmla="*/ 0 w 701"/>
                <a:gd name="T1" fmla="*/ 311 h 312"/>
                <a:gd name="T2" fmla="*/ 0 w 701"/>
                <a:gd name="T3" fmla="*/ 0 h 312"/>
                <a:gd name="T4" fmla="*/ 700 w 701"/>
                <a:gd name="T5" fmla="*/ 0 h 312"/>
                <a:gd name="T6" fmla="*/ 700 w 701"/>
                <a:gd name="T7" fmla="*/ 311 h 312"/>
                <a:gd name="T8" fmla="*/ 0 w 701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1" h="312">
                  <a:moveTo>
                    <a:pt x="0" y="311"/>
                  </a:moveTo>
                  <a:lnTo>
                    <a:pt x="0" y="0"/>
                  </a:lnTo>
                  <a:lnTo>
                    <a:pt x="700" y="0"/>
                  </a:lnTo>
                  <a:lnTo>
                    <a:pt x="700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1"/>
            <p:cNvSpPr>
              <a:spLocks/>
            </p:cNvSpPr>
            <p:nvPr/>
          </p:nvSpPr>
          <p:spPr bwMode="auto">
            <a:xfrm>
              <a:off x="4621" y="3509"/>
              <a:ext cx="702" cy="312"/>
            </a:xfrm>
            <a:custGeom>
              <a:avLst/>
              <a:gdLst>
                <a:gd name="T0" fmla="*/ 0 w 702"/>
                <a:gd name="T1" fmla="*/ 311 h 312"/>
                <a:gd name="T2" fmla="*/ 0 w 702"/>
                <a:gd name="T3" fmla="*/ 0 h 312"/>
                <a:gd name="T4" fmla="*/ 701 w 702"/>
                <a:gd name="T5" fmla="*/ 0 h 312"/>
                <a:gd name="T6" fmla="*/ 701 w 702"/>
                <a:gd name="T7" fmla="*/ 311 h 312"/>
                <a:gd name="T8" fmla="*/ 0 w 702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2" h="312">
                  <a:moveTo>
                    <a:pt x="0" y="311"/>
                  </a:moveTo>
                  <a:lnTo>
                    <a:pt x="0" y="0"/>
                  </a:lnTo>
                  <a:lnTo>
                    <a:pt x="701" y="0"/>
                  </a:lnTo>
                  <a:lnTo>
                    <a:pt x="701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12"/>
            <p:cNvSpPr>
              <a:spLocks/>
            </p:cNvSpPr>
            <p:nvPr/>
          </p:nvSpPr>
          <p:spPr bwMode="auto">
            <a:xfrm>
              <a:off x="1204" y="2735"/>
              <a:ext cx="700" cy="311"/>
            </a:xfrm>
            <a:custGeom>
              <a:avLst/>
              <a:gdLst>
                <a:gd name="T0" fmla="*/ 0 w 700"/>
                <a:gd name="T1" fmla="*/ 310 h 311"/>
                <a:gd name="T2" fmla="*/ 0 w 700"/>
                <a:gd name="T3" fmla="*/ 0 h 311"/>
                <a:gd name="T4" fmla="*/ 699 w 700"/>
                <a:gd name="T5" fmla="*/ 0 h 311"/>
                <a:gd name="T6" fmla="*/ 699 w 700"/>
                <a:gd name="T7" fmla="*/ 310 h 311"/>
                <a:gd name="T8" fmla="*/ 0 w 700"/>
                <a:gd name="T9" fmla="*/ 31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1">
                  <a:moveTo>
                    <a:pt x="0" y="310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0"/>
                  </a:lnTo>
                  <a:lnTo>
                    <a:pt x="0" y="31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13"/>
            <p:cNvSpPr>
              <a:spLocks/>
            </p:cNvSpPr>
            <p:nvPr/>
          </p:nvSpPr>
          <p:spPr bwMode="auto">
            <a:xfrm>
              <a:off x="1284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14"/>
            <p:cNvSpPr>
              <a:spLocks/>
            </p:cNvSpPr>
            <p:nvPr/>
          </p:nvSpPr>
          <p:spPr bwMode="auto">
            <a:xfrm>
              <a:off x="1515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15"/>
            <p:cNvSpPr>
              <a:spLocks/>
            </p:cNvSpPr>
            <p:nvPr/>
          </p:nvSpPr>
          <p:spPr bwMode="auto">
            <a:xfrm>
              <a:off x="1593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16"/>
            <p:cNvSpPr>
              <a:spLocks/>
            </p:cNvSpPr>
            <p:nvPr/>
          </p:nvSpPr>
          <p:spPr bwMode="auto">
            <a:xfrm>
              <a:off x="1827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17"/>
            <p:cNvSpPr>
              <a:spLocks/>
            </p:cNvSpPr>
            <p:nvPr/>
          </p:nvSpPr>
          <p:spPr bwMode="auto">
            <a:xfrm>
              <a:off x="3767" y="2735"/>
              <a:ext cx="701" cy="311"/>
            </a:xfrm>
            <a:custGeom>
              <a:avLst/>
              <a:gdLst>
                <a:gd name="T0" fmla="*/ 0 w 701"/>
                <a:gd name="T1" fmla="*/ 310 h 311"/>
                <a:gd name="T2" fmla="*/ 0 w 701"/>
                <a:gd name="T3" fmla="*/ 0 h 311"/>
                <a:gd name="T4" fmla="*/ 700 w 701"/>
                <a:gd name="T5" fmla="*/ 0 h 311"/>
                <a:gd name="T6" fmla="*/ 700 w 701"/>
                <a:gd name="T7" fmla="*/ 310 h 311"/>
                <a:gd name="T8" fmla="*/ 0 w 701"/>
                <a:gd name="T9" fmla="*/ 31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1" h="311">
                  <a:moveTo>
                    <a:pt x="0" y="310"/>
                  </a:moveTo>
                  <a:lnTo>
                    <a:pt x="0" y="0"/>
                  </a:lnTo>
                  <a:lnTo>
                    <a:pt x="700" y="0"/>
                  </a:lnTo>
                  <a:lnTo>
                    <a:pt x="700" y="310"/>
                  </a:lnTo>
                  <a:lnTo>
                    <a:pt x="0" y="31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18"/>
            <p:cNvSpPr>
              <a:spLocks/>
            </p:cNvSpPr>
            <p:nvPr/>
          </p:nvSpPr>
          <p:spPr bwMode="auto">
            <a:xfrm>
              <a:off x="3846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19"/>
            <p:cNvSpPr>
              <a:spLocks/>
            </p:cNvSpPr>
            <p:nvPr/>
          </p:nvSpPr>
          <p:spPr bwMode="auto">
            <a:xfrm>
              <a:off x="4078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20"/>
            <p:cNvSpPr>
              <a:spLocks/>
            </p:cNvSpPr>
            <p:nvPr/>
          </p:nvSpPr>
          <p:spPr bwMode="auto">
            <a:xfrm>
              <a:off x="4156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21"/>
            <p:cNvSpPr>
              <a:spLocks/>
            </p:cNvSpPr>
            <p:nvPr/>
          </p:nvSpPr>
          <p:spPr bwMode="auto">
            <a:xfrm>
              <a:off x="4389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22"/>
            <p:cNvSpPr>
              <a:spLocks/>
            </p:cNvSpPr>
            <p:nvPr/>
          </p:nvSpPr>
          <p:spPr bwMode="auto">
            <a:xfrm>
              <a:off x="2447" y="2037"/>
              <a:ext cx="700" cy="312"/>
            </a:xfrm>
            <a:custGeom>
              <a:avLst/>
              <a:gdLst>
                <a:gd name="T0" fmla="*/ 0 w 700"/>
                <a:gd name="T1" fmla="*/ 311 h 312"/>
                <a:gd name="T2" fmla="*/ 0 w 700"/>
                <a:gd name="T3" fmla="*/ 0 h 312"/>
                <a:gd name="T4" fmla="*/ 699 w 700"/>
                <a:gd name="T5" fmla="*/ 0 h 312"/>
                <a:gd name="T6" fmla="*/ 699 w 700"/>
                <a:gd name="T7" fmla="*/ 311 h 312"/>
                <a:gd name="T8" fmla="*/ 0 w 700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2">
                  <a:moveTo>
                    <a:pt x="0" y="311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23"/>
            <p:cNvSpPr>
              <a:spLocks/>
            </p:cNvSpPr>
            <p:nvPr/>
          </p:nvSpPr>
          <p:spPr bwMode="auto">
            <a:xfrm>
              <a:off x="2525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24"/>
            <p:cNvSpPr>
              <a:spLocks/>
            </p:cNvSpPr>
            <p:nvPr/>
          </p:nvSpPr>
          <p:spPr bwMode="auto">
            <a:xfrm>
              <a:off x="2758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25"/>
            <p:cNvSpPr>
              <a:spLocks/>
            </p:cNvSpPr>
            <p:nvPr/>
          </p:nvSpPr>
          <p:spPr bwMode="auto">
            <a:xfrm>
              <a:off x="2836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26"/>
            <p:cNvSpPr>
              <a:spLocks/>
            </p:cNvSpPr>
            <p:nvPr/>
          </p:nvSpPr>
          <p:spPr bwMode="auto">
            <a:xfrm>
              <a:off x="3069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27"/>
            <p:cNvSpPr>
              <a:spLocks/>
            </p:cNvSpPr>
            <p:nvPr/>
          </p:nvSpPr>
          <p:spPr bwMode="auto">
            <a:xfrm>
              <a:off x="1903" y="2280"/>
              <a:ext cx="575" cy="418"/>
            </a:xfrm>
            <a:custGeom>
              <a:avLst/>
              <a:gdLst>
                <a:gd name="T0" fmla="*/ 574 w 575"/>
                <a:gd name="T1" fmla="*/ 0 h 418"/>
                <a:gd name="T2" fmla="*/ 0 w 575"/>
                <a:gd name="T3" fmla="*/ 417 h 418"/>
                <a:gd name="T4" fmla="*/ 574 w 575"/>
                <a:gd name="T5" fmla="*/ 0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5" h="418">
                  <a:moveTo>
                    <a:pt x="574" y="0"/>
                  </a:moveTo>
                  <a:lnTo>
                    <a:pt x="0" y="417"/>
                  </a:lnTo>
                  <a:lnTo>
                    <a:pt x="574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28"/>
            <p:cNvSpPr>
              <a:spLocks/>
            </p:cNvSpPr>
            <p:nvPr/>
          </p:nvSpPr>
          <p:spPr bwMode="auto">
            <a:xfrm>
              <a:off x="1903" y="2620"/>
              <a:ext cx="94" cy="78"/>
            </a:xfrm>
            <a:custGeom>
              <a:avLst/>
              <a:gdLst>
                <a:gd name="T0" fmla="*/ 93 w 94"/>
                <a:gd name="T1" fmla="*/ 39 h 78"/>
                <a:gd name="T2" fmla="*/ 0 w 94"/>
                <a:gd name="T3" fmla="*/ 77 h 78"/>
                <a:gd name="T4" fmla="*/ 65 w 94"/>
                <a:gd name="T5" fmla="*/ 0 h 78"/>
                <a:gd name="T6" fmla="*/ 93 w 94"/>
                <a:gd name="T7" fmla="*/ 3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4" h="78">
                  <a:moveTo>
                    <a:pt x="93" y="39"/>
                  </a:moveTo>
                  <a:lnTo>
                    <a:pt x="0" y="77"/>
                  </a:lnTo>
                  <a:lnTo>
                    <a:pt x="65" y="0"/>
                  </a:lnTo>
                  <a:lnTo>
                    <a:pt x="93" y="39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29"/>
            <p:cNvSpPr>
              <a:spLocks/>
            </p:cNvSpPr>
            <p:nvPr/>
          </p:nvSpPr>
          <p:spPr bwMode="auto">
            <a:xfrm>
              <a:off x="2788" y="2260"/>
              <a:ext cx="971" cy="447"/>
            </a:xfrm>
            <a:custGeom>
              <a:avLst/>
              <a:gdLst>
                <a:gd name="T0" fmla="*/ 0 w 971"/>
                <a:gd name="T1" fmla="*/ 0 h 447"/>
                <a:gd name="T2" fmla="*/ 970 w 971"/>
                <a:gd name="T3" fmla="*/ 446 h 447"/>
                <a:gd name="T4" fmla="*/ 0 w 971"/>
                <a:gd name="T5" fmla="*/ 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71" h="447">
                  <a:moveTo>
                    <a:pt x="0" y="0"/>
                  </a:moveTo>
                  <a:lnTo>
                    <a:pt x="970" y="446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30"/>
            <p:cNvSpPr>
              <a:spLocks/>
            </p:cNvSpPr>
            <p:nvPr/>
          </p:nvSpPr>
          <p:spPr bwMode="auto">
            <a:xfrm>
              <a:off x="3659" y="2644"/>
              <a:ext cx="100" cy="63"/>
            </a:xfrm>
            <a:custGeom>
              <a:avLst/>
              <a:gdLst>
                <a:gd name="T0" fmla="*/ 21 w 100"/>
                <a:gd name="T1" fmla="*/ 0 h 63"/>
                <a:gd name="T2" fmla="*/ 99 w 100"/>
                <a:gd name="T3" fmla="*/ 62 h 63"/>
                <a:gd name="T4" fmla="*/ 0 w 100"/>
                <a:gd name="T5" fmla="*/ 44 h 63"/>
                <a:gd name="T6" fmla="*/ 21 w 100"/>
                <a:gd name="T7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" h="63">
                  <a:moveTo>
                    <a:pt x="21" y="0"/>
                  </a:moveTo>
                  <a:lnTo>
                    <a:pt x="99" y="62"/>
                  </a:lnTo>
                  <a:lnTo>
                    <a:pt x="0" y="44"/>
                  </a:lnTo>
                  <a:lnTo>
                    <a:pt x="21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31"/>
            <p:cNvSpPr>
              <a:spLocks/>
            </p:cNvSpPr>
            <p:nvPr/>
          </p:nvSpPr>
          <p:spPr bwMode="auto">
            <a:xfrm>
              <a:off x="972" y="2996"/>
              <a:ext cx="272" cy="486"/>
            </a:xfrm>
            <a:custGeom>
              <a:avLst/>
              <a:gdLst>
                <a:gd name="T0" fmla="*/ 271 w 272"/>
                <a:gd name="T1" fmla="*/ 0 h 486"/>
                <a:gd name="T2" fmla="*/ 0 w 272"/>
                <a:gd name="T3" fmla="*/ 485 h 486"/>
                <a:gd name="T4" fmla="*/ 271 w 272"/>
                <a:gd name="T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2" h="486">
                  <a:moveTo>
                    <a:pt x="271" y="0"/>
                  </a:moveTo>
                  <a:lnTo>
                    <a:pt x="0" y="485"/>
                  </a:lnTo>
                  <a:lnTo>
                    <a:pt x="271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32"/>
            <p:cNvSpPr>
              <a:spLocks/>
            </p:cNvSpPr>
            <p:nvPr/>
          </p:nvSpPr>
          <p:spPr bwMode="auto">
            <a:xfrm>
              <a:off x="972" y="3384"/>
              <a:ext cx="69" cy="98"/>
            </a:xfrm>
            <a:custGeom>
              <a:avLst/>
              <a:gdLst>
                <a:gd name="T0" fmla="*/ 68 w 69"/>
                <a:gd name="T1" fmla="*/ 25 h 98"/>
                <a:gd name="T2" fmla="*/ 0 w 69"/>
                <a:gd name="T3" fmla="*/ 97 h 98"/>
                <a:gd name="T4" fmla="*/ 26 w 69"/>
                <a:gd name="T5" fmla="*/ 0 h 98"/>
                <a:gd name="T6" fmla="*/ 68 w 69"/>
                <a:gd name="T7" fmla="*/ 25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98">
                  <a:moveTo>
                    <a:pt x="68" y="25"/>
                  </a:moveTo>
                  <a:lnTo>
                    <a:pt x="0" y="97"/>
                  </a:lnTo>
                  <a:lnTo>
                    <a:pt x="26" y="0"/>
                  </a:lnTo>
                  <a:lnTo>
                    <a:pt x="68" y="25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33"/>
            <p:cNvSpPr>
              <a:spLocks/>
            </p:cNvSpPr>
            <p:nvPr/>
          </p:nvSpPr>
          <p:spPr bwMode="auto">
            <a:xfrm>
              <a:off x="1554" y="2977"/>
              <a:ext cx="1" cy="505"/>
            </a:xfrm>
            <a:custGeom>
              <a:avLst/>
              <a:gdLst>
                <a:gd name="T0" fmla="*/ 0 w 1"/>
                <a:gd name="T1" fmla="*/ 0 h 505"/>
                <a:gd name="T2" fmla="*/ 0 w 1"/>
                <a:gd name="T3" fmla="*/ 504 h 505"/>
                <a:gd name="T4" fmla="*/ 0 w 1"/>
                <a:gd name="T5" fmla="*/ 0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05">
                  <a:moveTo>
                    <a:pt x="0" y="0"/>
                  </a:moveTo>
                  <a:lnTo>
                    <a:pt x="0" y="504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34"/>
            <p:cNvSpPr>
              <a:spLocks/>
            </p:cNvSpPr>
            <p:nvPr/>
          </p:nvSpPr>
          <p:spPr bwMode="auto">
            <a:xfrm>
              <a:off x="1530" y="3384"/>
              <a:ext cx="50" cy="98"/>
            </a:xfrm>
            <a:custGeom>
              <a:avLst/>
              <a:gdLst>
                <a:gd name="T0" fmla="*/ 49 w 50"/>
                <a:gd name="T1" fmla="*/ 0 h 98"/>
                <a:gd name="T2" fmla="*/ 24 w 50"/>
                <a:gd name="T3" fmla="*/ 97 h 98"/>
                <a:gd name="T4" fmla="*/ 0 w 50"/>
                <a:gd name="T5" fmla="*/ 0 h 98"/>
                <a:gd name="T6" fmla="*/ 49 w 50"/>
                <a:gd name="T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98">
                  <a:moveTo>
                    <a:pt x="49" y="0"/>
                  </a:moveTo>
                  <a:lnTo>
                    <a:pt x="24" y="97"/>
                  </a:lnTo>
                  <a:lnTo>
                    <a:pt x="0" y="0"/>
                  </a:lnTo>
                  <a:lnTo>
                    <a:pt x="49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35"/>
            <p:cNvSpPr>
              <a:spLocks/>
            </p:cNvSpPr>
            <p:nvPr/>
          </p:nvSpPr>
          <p:spPr bwMode="auto">
            <a:xfrm>
              <a:off x="1865" y="2958"/>
              <a:ext cx="214" cy="514"/>
            </a:xfrm>
            <a:custGeom>
              <a:avLst/>
              <a:gdLst>
                <a:gd name="T0" fmla="*/ 0 w 214"/>
                <a:gd name="T1" fmla="*/ 0 h 514"/>
                <a:gd name="T2" fmla="*/ 213 w 214"/>
                <a:gd name="T3" fmla="*/ 513 h 514"/>
                <a:gd name="T4" fmla="*/ 0 w 214"/>
                <a:gd name="T5" fmla="*/ 0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4" h="514">
                  <a:moveTo>
                    <a:pt x="0" y="0"/>
                  </a:moveTo>
                  <a:lnTo>
                    <a:pt x="213" y="513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36"/>
            <p:cNvSpPr>
              <a:spLocks/>
            </p:cNvSpPr>
            <p:nvPr/>
          </p:nvSpPr>
          <p:spPr bwMode="auto">
            <a:xfrm>
              <a:off x="2019" y="3372"/>
              <a:ext cx="60" cy="100"/>
            </a:xfrm>
            <a:custGeom>
              <a:avLst/>
              <a:gdLst>
                <a:gd name="T0" fmla="*/ 45 w 60"/>
                <a:gd name="T1" fmla="*/ 0 h 100"/>
                <a:gd name="T2" fmla="*/ 59 w 60"/>
                <a:gd name="T3" fmla="*/ 99 h 100"/>
                <a:gd name="T4" fmla="*/ 0 w 60"/>
                <a:gd name="T5" fmla="*/ 18 h 100"/>
                <a:gd name="T6" fmla="*/ 45 w 60"/>
                <a:gd name="T7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" h="100">
                  <a:moveTo>
                    <a:pt x="45" y="0"/>
                  </a:moveTo>
                  <a:lnTo>
                    <a:pt x="59" y="99"/>
                  </a:lnTo>
                  <a:lnTo>
                    <a:pt x="0" y="18"/>
                  </a:lnTo>
                  <a:lnTo>
                    <a:pt x="45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37"/>
            <p:cNvSpPr>
              <a:spLocks/>
            </p:cNvSpPr>
            <p:nvPr/>
          </p:nvSpPr>
          <p:spPr bwMode="auto">
            <a:xfrm>
              <a:off x="3554" y="2967"/>
              <a:ext cx="254" cy="496"/>
            </a:xfrm>
            <a:custGeom>
              <a:avLst/>
              <a:gdLst>
                <a:gd name="T0" fmla="*/ 253 w 254"/>
                <a:gd name="T1" fmla="*/ 0 h 496"/>
                <a:gd name="T2" fmla="*/ 0 w 254"/>
                <a:gd name="T3" fmla="*/ 495 h 496"/>
                <a:gd name="T4" fmla="*/ 253 w 254"/>
                <a:gd name="T5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4" h="496">
                  <a:moveTo>
                    <a:pt x="253" y="0"/>
                  </a:moveTo>
                  <a:lnTo>
                    <a:pt x="0" y="495"/>
                  </a:lnTo>
                  <a:lnTo>
                    <a:pt x="253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38"/>
            <p:cNvSpPr>
              <a:spLocks/>
            </p:cNvSpPr>
            <p:nvPr/>
          </p:nvSpPr>
          <p:spPr bwMode="auto">
            <a:xfrm>
              <a:off x="3554" y="3365"/>
              <a:ext cx="67" cy="98"/>
            </a:xfrm>
            <a:custGeom>
              <a:avLst/>
              <a:gdLst>
                <a:gd name="T0" fmla="*/ 66 w 67"/>
                <a:gd name="T1" fmla="*/ 21 h 98"/>
                <a:gd name="T2" fmla="*/ 0 w 67"/>
                <a:gd name="T3" fmla="*/ 97 h 98"/>
                <a:gd name="T4" fmla="*/ 23 w 67"/>
                <a:gd name="T5" fmla="*/ 0 h 98"/>
                <a:gd name="T6" fmla="*/ 66 w 67"/>
                <a:gd name="T7" fmla="*/ 21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98">
                  <a:moveTo>
                    <a:pt x="66" y="21"/>
                  </a:moveTo>
                  <a:lnTo>
                    <a:pt x="0" y="97"/>
                  </a:lnTo>
                  <a:lnTo>
                    <a:pt x="23" y="0"/>
                  </a:lnTo>
                  <a:lnTo>
                    <a:pt x="66" y="2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39"/>
            <p:cNvSpPr>
              <a:spLocks/>
            </p:cNvSpPr>
            <p:nvPr/>
          </p:nvSpPr>
          <p:spPr bwMode="auto">
            <a:xfrm>
              <a:off x="4117" y="2977"/>
              <a:ext cx="1" cy="476"/>
            </a:xfrm>
            <a:custGeom>
              <a:avLst/>
              <a:gdLst>
                <a:gd name="T0" fmla="*/ 0 w 1"/>
                <a:gd name="T1" fmla="*/ 0 h 476"/>
                <a:gd name="T2" fmla="*/ 0 w 1"/>
                <a:gd name="T3" fmla="*/ 475 h 476"/>
                <a:gd name="T4" fmla="*/ 0 w 1"/>
                <a:gd name="T5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76">
                  <a:moveTo>
                    <a:pt x="0" y="0"/>
                  </a:moveTo>
                  <a:lnTo>
                    <a:pt x="0" y="475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40"/>
            <p:cNvSpPr>
              <a:spLocks/>
            </p:cNvSpPr>
            <p:nvPr/>
          </p:nvSpPr>
          <p:spPr bwMode="auto">
            <a:xfrm>
              <a:off x="4093" y="3355"/>
              <a:ext cx="49" cy="98"/>
            </a:xfrm>
            <a:custGeom>
              <a:avLst/>
              <a:gdLst>
                <a:gd name="T0" fmla="*/ 48 w 49"/>
                <a:gd name="T1" fmla="*/ 0 h 98"/>
                <a:gd name="T2" fmla="*/ 24 w 49"/>
                <a:gd name="T3" fmla="*/ 97 h 98"/>
                <a:gd name="T4" fmla="*/ 0 w 49"/>
                <a:gd name="T5" fmla="*/ 0 h 98"/>
                <a:gd name="T6" fmla="*/ 48 w 49"/>
                <a:gd name="T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98">
                  <a:moveTo>
                    <a:pt x="48" y="0"/>
                  </a:moveTo>
                  <a:lnTo>
                    <a:pt x="24" y="97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41"/>
            <p:cNvSpPr>
              <a:spLocks/>
            </p:cNvSpPr>
            <p:nvPr/>
          </p:nvSpPr>
          <p:spPr bwMode="auto">
            <a:xfrm>
              <a:off x="4428" y="2986"/>
              <a:ext cx="253" cy="477"/>
            </a:xfrm>
            <a:custGeom>
              <a:avLst/>
              <a:gdLst>
                <a:gd name="T0" fmla="*/ 0 w 253"/>
                <a:gd name="T1" fmla="*/ 0 h 477"/>
                <a:gd name="T2" fmla="*/ 252 w 253"/>
                <a:gd name="T3" fmla="*/ 476 h 477"/>
                <a:gd name="T4" fmla="*/ 0 w 253"/>
                <a:gd name="T5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3" h="477">
                  <a:moveTo>
                    <a:pt x="0" y="0"/>
                  </a:moveTo>
                  <a:lnTo>
                    <a:pt x="252" y="476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42"/>
            <p:cNvSpPr>
              <a:spLocks/>
            </p:cNvSpPr>
            <p:nvPr/>
          </p:nvSpPr>
          <p:spPr bwMode="auto">
            <a:xfrm>
              <a:off x="4614" y="3365"/>
              <a:ext cx="67" cy="98"/>
            </a:xfrm>
            <a:custGeom>
              <a:avLst/>
              <a:gdLst>
                <a:gd name="T0" fmla="*/ 42 w 67"/>
                <a:gd name="T1" fmla="*/ 0 h 98"/>
                <a:gd name="T2" fmla="*/ 66 w 67"/>
                <a:gd name="T3" fmla="*/ 97 h 98"/>
                <a:gd name="T4" fmla="*/ 0 w 67"/>
                <a:gd name="T5" fmla="*/ 22 h 98"/>
                <a:gd name="T6" fmla="*/ 42 w 67"/>
                <a:gd name="T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98">
                  <a:moveTo>
                    <a:pt x="42" y="0"/>
                  </a:moveTo>
                  <a:lnTo>
                    <a:pt x="66" y="97"/>
                  </a:lnTo>
                  <a:lnTo>
                    <a:pt x="0" y="22"/>
                  </a:lnTo>
                  <a:lnTo>
                    <a:pt x="42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43"/>
            <p:cNvSpPr>
              <a:spLocks/>
            </p:cNvSpPr>
            <p:nvPr/>
          </p:nvSpPr>
          <p:spPr bwMode="auto">
            <a:xfrm>
              <a:off x="700" y="3519"/>
              <a:ext cx="1" cy="283"/>
            </a:xfrm>
            <a:custGeom>
              <a:avLst/>
              <a:gdLst>
                <a:gd name="T0" fmla="*/ 0 w 1"/>
                <a:gd name="T1" fmla="*/ 0 h 283"/>
                <a:gd name="T2" fmla="*/ 0 w 1"/>
                <a:gd name="T3" fmla="*/ 282 h 283"/>
                <a:gd name="T4" fmla="*/ 0 w 1"/>
                <a:gd name="T5" fmla="*/ 0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83">
                  <a:moveTo>
                    <a:pt x="0" y="0"/>
                  </a:moveTo>
                  <a:lnTo>
                    <a:pt x="0" y="28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44"/>
            <p:cNvSpPr>
              <a:spLocks/>
            </p:cNvSpPr>
            <p:nvPr/>
          </p:nvSpPr>
          <p:spPr bwMode="auto">
            <a:xfrm>
              <a:off x="1565" y="3509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45"/>
            <p:cNvSpPr>
              <a:spLocks/>
            </p:cNvSpPr>
            <p:nvPr/>
          </p:nvSpPr>
          <p:spPr bwMode="auto">
            <a:xfrm>
              <a:off x="2409" y="3509"/>
              <a:ext cx="1" cy="302"/>
            </a:xfrm>
            <a:custGeom>
              <a:avLst/>
              <a:gdLst>
                <a:gd name="T0" fmla="*/ 0 w 1"/>
                <a:gd name="T1" fmla="*/ 0 h 302"/>
                <a:gd name="T2" fmla="*/ 0 w 1"/>
                <a:gd name="T3" fmla="*/ 301 h 302"/>
                <a:gd name="T4" fmla="*/ 0 w 1"/>
                <a:gd name="T5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02">
                  <a:moveTo>
                    <a:pt x="0" y="0"/>
                  </a:moveTo>
                  <a:lnTo>
                    <a:pt x="0" y="30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 46"/>
            <p:cNvSpPr>
              <a:spLocks/>
            </p:cNvSpPr>
            <p:nvPr/>
          </p:nvSpPr>
          <p:spPr bwMode="auto">
            <a:xfrm>
              <a:off x="3252" y="3519"/>
              <a:ext cx="1" cy="273"/>
            </a:xfrm>
            <a:custGeom>
              <a:avLst/>
              <a:gdLst>
                <a:gd name="T0" fmla="*/ 0 w 1"/>
                <a:gd name="T1" fmla="*/ 0 h 273"/>
                <a:gd name="T2" fmla="*/ 0 w 1"/>
                <a:gd name="T3" fmla="*/ 272 h 273"/>
                <a:gd name="T4" fmla="*/ 0 w 1"/>
                <a:gd name="T5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73">
                  <a:moveTo>
                    <a:pt x="0" y="0"/>
                  </a:moveTo>
                  <a:lnTo>
                    <a:pt x="0" y="27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47"/>
            <p:cNvSpPr>
              <a:spLocks/>
            </p:cNvSpPr>
            <p:nvPr/>
          </p:nvSpPr>
          <p:spPr bwMode="auto">
            <a:xfrm>
              <a:off x="4108" y="3519"/>
              <a:ext cx="1" cy="292"/>
            </a:xfrm>
            <a:custGeom>
              <a:avLst/>
              <a:gdLst>
                <a:gd name="T0" fmla="*/ 0 w 1"/>
                <a:gd name="T1" fmla="*/ 0 h 292"/>
                <a:gd name="T2" fmla="*/ 0 w 1"/>
                <a:gd name="T3" fmla="*/ 291 h 292"/>
                <a:gd name="T4" fmla="*/ 0 w 1"/>
                <a:gd name="T5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2">
                  <a:moveTo>
                    <a:pt x="0" y="0"/>
                  </a:moveTo>
                  <a:lnTo>
                    <a:pt x="0" y="29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48"/>
            <p:cNvSpPr>
              <a:spLocks/>
            </p:cNvSpPr>
            <p:nvPr/>
          </p:nvSpPr>
          <p:spPr bwMode="auto">
            <a:xfrm>
              <a:off x="4952" y="3519"/>
              <a:ext cx="1" cy="292"/>
            </a:xfrm>
            <a:custGeom>
              <a:avLst/>
              <a:gdLst>
                <a:gd name="T0" fmla="*/ 0 w 1"/>
                <a:gd name="T1" fmla="*/ 0 h 292"/>
                <a:gd name="T2" fmla="*/ 0 w 1"/>
                <a:gd name="T3" fmla="*/ 291 h 292"/>
                <a:gd name="T4" fmla="*/ 0 w 1"/>
                <a:gd name="T5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2">
                  <a:moveTo>
                    <a:pt x="0" y="0"/>
                  </a:moveTo>
                  <a:lnTo>
                    <a:pt x="0" y="29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49"/>
            <p:cNvSpPr>
              <a:spLocks/>
            </p:cNvSpPr>
            <p:nvPr/>
          </p:nvSpPr>
          <p:spPr bwMode="auto">
            <a:xfrm>
              <a:off x="2146" y="1940"/>
              <a:ext cx="254" cy="78"/>
            </a:xfrm>
            <a:custGeom>
              <a:avLst/>
              <a:gdLst>
                <a:gd name="T0" fmla="*/ 0 w 254"/>
                <a:gd name="T1" fmla="*/ 0 h 78"/>
                <a:gd name="T2" fmla="*/ 253 w 254"/>
                <a:gd name="T3" fmla="*/ 77 h 78"/>
                <a:gd name="T4" fmla="*/ 0 w 254"/>
                <a:gd name="T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4" h="78">
                  <a:moveTo>
                    <a:pt x="0" y="0"/>
                  </a:moveTo>
                  <a:lnTo>
                    <a:pt x="253" y="77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50"/>
            <p:cNvSpPr>
              <a:spLocks/>
            </p:cNvSpPr>
            <p:nvPr/>
          </p:nvSpPr>
          <p:spPr bwMode="auto">
            <a:xfrm>
              <a:off x="2299" y="1967"/>
              <a:ext cx="101" cy="51"/>
            </a:xfrm>
            <a:custGeom>
              <a:avLst/>
              <a:gdLst>
                <a:gd name="T0" fmla="*/ 15 w 101"/>
                <a:gd name="T1" fmla="*/ 0 h 51"/>
                <a:gd name="T2" fmla="*/ 100 w 101"/>
                <a:gd name="T3" fmla="*/ 50 h 51"/>
                <a:gd name="T4" fmla="*/ 0 w 101"/>
                <a:gd name="T5" fmla="*/ 45 h 51"/>
                <a:gd name="T6" fmla="*/ 15 w 101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" h="51">
                  <a:moveTo>
                    <a:pt x="15" y="0"/>
                  </a:moveTo>
                  <a:lnTo>
                    <a:pt x="100" y="50"/>
                  </a:lnTo>
                  <a:lnTo>
                    <a:pt x="0" y="45"/>
                  </a:lnTo>
                  <a:lnTo>
                    <a:pt x="15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Rectangle 51"/>
            <p:cNvSpPr>
              <a:spLocks noChangeArrowheads="1"/>
            </p:cNvSpPr>
            <p:nvPr/>
          </p:nvSpPr>
          <p:spPr bwMode="auto">
            <a:xfrm>
              <a:off x="381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10*</a:t>
              </a:r>
            </a:p>
          </p:txBody>
        </p:sp>
        <p:sp>
          <p:nvSpPr>
            <p:cNvPr id="154" name="Rectangle 52"/>
            <p:cNvSpPr>
              <a:spLocks noChangeArrowheads="1"/>
            </p:cNvSpPr>
            <p:nvPr/>
          </p:nvSpPr>
          <p:spPr bwMode="auto">
            <a:xfrm>
              <a:off x="721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15*</a:t>
              </a:r>
            </a:p>
          </p:txBody>
        </p:sp>
        <p:sp>
          <p:nvSpPr>
            <p:cNvPr id="155" name="Rectangle 53"/>
            <p:cNvSpPr>
              <a:spLocks noChangeArrowheads="1"/>
            </p:cNvSpPr>
            <p:nvPr/>
          </p:nvSpPr>
          <p:spPr bwMode="auto">
            <a:xfrm>
              <a:off x="1236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20*</a:t>
              </a:r>
            </a:p>
          </p:txBody>
        </p:sp>
        <p:sp>
          <p:nvSpPr>
            <p:cNvPr id="156" name="Rectangle 54"/>
            <p:cNvSpPr>
              <a:spLocks noChangeArrowheads="1"/>
            </p:cNvSpPr>
            <p:nvPr/>
          </p:nvSpPr>
          <p:spPr bwMode="auto">
            <a:xfrm>
              <a:off x="1594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27*</a:t>
              </a:r>
            </a:p>
          </p:txBody>
        </p:sp>
        <p:sp>
          <p:nvSpPr>
            <p:cNvPr id="157" name="Rectangle 55"/>
            <p:cNvSpPr>
              <a:spLocks noChangeArrowheads="1"/>
            </p:cNvSpPr>
            <p:nvPr/>
          </p:nvSpPr>
          <p:spPr bwMode="auto">
            <a:xfrm>
              <a:off x="2099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33*</a:t>
              </a:r>
            </a:p>
          </p:txBody>
        </p:sp>
        <p:sp>
          <p:nvSpPr>
            <p:cNvPr id="158" name="Rectangle 56"/>
            <p:cNvSpPr>
              <a:spLocks noChangeArrowheads="1"/>
            </p:cNvSpPr>
            <p:nvPr/>
          </p:nvSpPr>
          <p:spPr bwMode="auto">
            <a:xfrm>
              <a:off x="2429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37*</a:t>
              </a:r>
            </a:p>
          </p:txBody>
        </p:sp>
        <p:sp>
          <p:nvSpPr>
            <p:cNvPr id="159" name="Rectangle 57"/>
            <p:cNvSpPr>
              <a:spLocks noChangeArrowheads="1"/>
            </p:cNvSpPr>
            <p:nvPr/>
          </p:nvSpPr>
          <p:spPr bwMode="auto">
            <a:xfrm>
              <a:off x="2953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40*</a:t>
              </a:r>
            </a:p>
          </p:txBody>
        </p:sp>
        <p:sp>
          <p:nvSpPr>
            <p:cNvPr id="160" name="Rectangle 58"/>
            <p:cNvSpPr>
              <a:spLocks noChangeArrowheads="1"/>
            </p:cNvSpPr>
            <p:nvPr/>
          </p:nvSpPr>
          <p:spPr bwMode="auto">
            <a:xfrm>
              <a:off x="3284" y="355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46*</a:t>
              </a:r>
            </a:p>
          </p:txBody>
        </p:sp>
        <p:sp>
          <p:nvSpPr>
            <p:cNvPr id="161" name="Rectangle 59"/>
            <p:cNvSpPr>
              <a:spLocks noChangeArrowheads="1"/>
            </p:cNvSpPr>
            <p:nvPr/>
          </p:nvSpPr>
          <p:spPr bwMode="auto">
            <a:xfrm>
              <a:off x="3789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51*</a:t>
              </a:r>
            </a:p>
          </p:txBody>
        </p:sp>
        <p:sp>
          <p:nvSpPr>
            <p:cNvPr id="162" name="Rectangle 60"/>
            <p:cNvSpPr>
              <a:spLocks noChangeArrowheads="1"/>
            </p:cNvSpPr>
            <p:nvPr/>
          </p:nvSpPr>
          <p:spPr bwMode="auto">
            <a:xfrm>
              <a:off x="4158" y="355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55*</a:t>
              </a:r>
            </a:p>
          </p:txBody>
        </p:sp>
        <p:sp>
          <p:nvSpPr>
            <p:cNvPr id="163" name="Rectangle 61"/>
            <p:cNvSpPr>
              <a:spLocks noChangeArrowheads="1"/>
            </p:cNvSpPr>
            <p:nvPr/>
          </p:nvSpPr>
          <p:spPr bwMode="auto">
            <a:xfrm>
              <a:off x="4643" y="357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63*</a:t>
              </a:r>
            </a:p>
          </p:txBody>
        </p:sp>
        <p:sp>
          <p:nvSpPr>
            <p:cNvPr id="164" name="Rectangle 62"/>
            <p:cNvSpPr>
              <a:spLocks noChangeArrowheads="1"/>
            </p:cNvSpPr>
            <p:nvPr/>
          </p:nvSpPr>
          <p:spPr bwMode="auto">
            <a:xfrm>
              <a:off x="4993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97*</a:t>
              </a:r>
            </a:p>
          </p:txBody>
        </p:sp>
        <p:sp>
          <p:nvSpPr>
            <p:cNvPr id="165" name="Rectangle 63"/>
            <p:cNvSpPr>
              <a:spLocks noChangeArrowheads="1"/>
            </p:cNvSpPr>
            <p:nvPr/>
          </p:nvSpPr>
          <p:spPr bwMode="auto">
            <a:xfrm>
              <a:off x="1283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20</a:t>
              </a:r>
            </a:p>
          </p:txBody>
        </p:sp>
        <p:sp>
          <p:nvSpPr>
            <p:cNvPr id="166" name="Rectangle 64"/>
            <p:cNvSpPr>
              <a:spLocks noChangeArrowheads="1"/>
            </p:cNvSpPr>
            <p:nvPr/>
          </p:nvSpPr>
          <p:spPr bwMode="auto">
            <a:xfrm>
              <a:off x="1594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33</a:t>
              </a:r>
            </a:p>
          </p:txBody>
        </p:sp>
        <p:sp>
          <p:nvSpPr>
            <p:cNvPr id="167" name="Rectangle 65"/>
            <p:cNvSpPr>
              <a:spLocks noChangeArrowheads="1"/>
            </p:cNvSpPr>
            <p:nvPr/>
          </p:nvSpPr>
          <p:spPr bwMode="auto">
            <a:xfrm>
              <a:off x="3847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51</a:t>
              </a:r>
            </a:p>
          </p:txBody>
        </p:sp>
        <p:sp>
          <p:nvSpPr>
            <p:cNvPr id="168" name="Rectangle 66"/>
            <p:cNvSpPr>
              <a:spLocks noChangeArrowheads="1"/>
            </p:cNvSpPr>
            <p:nvPr/>
          </p:nvSpPr>
          <p:spPr bwMode="auto">
            <a:xfrm>
              <a:off x="4147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63</a:t>
              </a:r>
            </a:p>
          </p:txBody>
        </p:sp>
        <p:sp>
          <p:nvSpPr>
            <p:cNvPr id="169" name="Rectangle 67"/>
            <p:cNvSpPr>
              <a:spLocks noChangeArrowheads="1"/>
            </p:cNvSpPr>
            <p:nvPr/>
          </p:nvSpPr>
          <p:spPr bwMode="auto">
            <a:xfrm>
              <a:off x="2517" y="2080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40</a:t>
              </a:r>
            </a:p>
          </p:txBody>
        </p:sp>
        <p:sp>
          <p:nvSpPr>
            <p:cNvPr id="170" name="Rectangle 68"/>
            <p:cNvSpPr>
              <a:spLocks noChangeArrowheads="1"/>
            </p:cNvSpPr>
            <p:nvPr/>
          </p:nvSpPr>
          <p:spPr bwMode="auto">
            <a:xfrm>
              <a:off x="1671" y="1868"/>
              <a:ext cx="369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Root</a:t>
              </a:r>
            </a:p>
          </p:txBody>
        </p:sp>
      </p:grpSp>
      <p:cxnSp>
        <p:nvCxnSpPr>
          <p:cNvPr id="3" name="Straight Arrow Connector 2"/>
          <p:cNvCxnSpPr>
            <a:endCxn id="132" idx="1"/>
          </p:cNvCxnSpPr>
          <p:nvPr/>
        </p:nvCxnSpPr>
        <p:spPr>
          <a:xfrm>
            <a:off x="4905376" y="3819479"/>
            <a:ext cx="1525587" cy="5396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/>
          <p:cNvCxnSpPr>
            <a:endCxn id="140" idx="1"/>
          </p:cNvCxnSpPr>
          <p:nvPr/>
        </p:nvCxnSpPr>
        <p:spPr>
          <a:xfrm flipH="1">
            <a:off x="6107113" y="4675616"/>
            <a:ext cx="405110" cy="6002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reeform 50"/>
          <p:cNvSpPr>
            <a:spLocks/>
          </p:cNvSpPr>
          <p:nvPr/>
        </p:nvSpPr>
        <p:spPr bwMode="auto">
          <a:xfrm>
            <a:off x="2389833" y="5835042"/>
            <a:ext cx="992188" cy="341312"/>
          </a:xfrm>
          <a:custGeom>
            <a:avLst/>
            <a:gdLst>
              <a:gd name="T0" fmla="*/ 0 w 625"/>
              <a:gd name="T1" fmla="*/ 278 h 279"/>
              <a:gd name="T2" fmla="*/ 0 w 625"/>
              <a:gd name="T3" fmla="*/ 0 h 279"/>
              <a:gd name="T4" fmla="*/ 624 w 625"/>
              <a:gd name="T5" fmla="*/ 0 h 279"/>
              <a:gd name="T6" fmla="*/ 624 w 625"/>
              <a:gd name="T7" fmla="*/ 278 h 279"/>
              <a:gd name="T8" fmla="*/ 0 w 625"/>
              <a:gd name="T9" fmla="*/ 278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5" h="279">
                <a:moveTo>
                  <a:pt x="0" y="278"/>
                </a:moveTo>
                <a:lnTo>
                  <a:pt x="0" y="0"/>
                </a:lnTo>
                <a:lnTo>
                  <a:pt x="624" y="0"/>
                </a:lnTo>
                <a:lnTo>
                  <a:pt x="624" y="278"/>
                </a:lnTo>
                <a:lnTo>
                  <a:pt x="0" y="27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Freeform 51"/>
          <p:cNvSpPr>
            <a:spLocks/>
          </p:cNvSpPr>
          <p:nvPr/>
        </p:nvSpPr>
        <p:spPr bwMode="auto">
          <a:xfrm>
            <a:off x="2885133" y="5849329"/>
            <a:ext cx="1588" cy="309506"/>
          </a:xfrm>
          <a:custGeom>
            <a:avLst/>
            <a:gdLst>
              <a:gd name="T0" fmla="*/ 0 w 1"/>
              <a:gd name="T1" fmla="*/ 0 h 253"/>
              <a:gd name="T2" fmla="*/ 0 w 1"/>
              <a:gd name="T3" fmla="*/ 252 h 253"/>
              <a:gd name="T4" fmla="*/ 0 w 1"/>
              <a:gd name="T5" fmla="*/ 0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3">
                <a:moveTo>
                  <a:pt x="0" y="0"/>
                </a:moveTo>
                <a:lnTo>
                  <a:pt x="0" y="25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Rectangle 76"/>
          <p:cNvSpPr>
            <a:spLocks noChangeArrowheads="1"/>
          </p:cNvSpPr>
          <p:nvPr/>
        </p:nvSpPr>
        <p:spPr bwMode="auto">
          <a:xfrm>
            <a:off x="2435871" y="5889017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23*</a:t>
            </a:r>
          </a:p>
        </p:txBody>
      </p:sp>
      <p:sp>
        <p:nvSpPr>
          <p:cNvPr id="75" name="Arc 87"/>
          <p:cNvSpPr>
            <a:spLocks/>
          </p:cNvSpPr>
          <p:nvPr/>
        </p:nvSpPr>
        <p:spPr bwMode="auto">
          <a:xfrm>
            <a:off x="2377603" y="5711226"/>
            <a:ext cx="152400" cy="14506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" name="Freeform 52"/>
          <p:cNvSpPr>
            <a:spLocks/>
          </p:cNvSpPr>
          <p:nvPr/>
        </p:nvSpPr>
        <p:spPr bwMode="auto">
          <a:xfrm>
            <a:off x="5103680" y="5856288"/>
            <a:ext cx="992188" cy="373856"/>
          </a:xfrm>
          <a:custGeom>
            <a:avLst/>
            <a:gdLst>
              <a:gd name="T0" fmla="*/ 0 w 625"/>
              <a:gd name="T1" fmla="*/ 278 h 279"/>
              <a:gd name="T2" fmla="*/ 0 w 625"/>
              <a:gd name="T3" fmla="*/ 0 h 279"/>
              <a:gd name="T4" fmla="*/ 624 w 625"/>
              <a:gd name="T5" fmla="*/ 0 h 279"/>
              <a:gd name="T6" fmla="*/ 624 w 625"/>
              <a:gd name="T7" fmla="*/ 278 h 279"/>
              <a:gd name="T8" fmla="*/ 0 w 625"/>
              <a:gd name="T9" fmla="*/ 278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5" h="279">
                <a:moveTo>
                  <a:pt x="0" y="278"/>
                </a:moveTo>
                <a:lnTo>
                  <a:pt x="0" y="0"/>
                </a:lnTo>
                <a:lnTo>
                  <a:pt x="624" y="0"/>
                </a:lnTo>
                <a:lnTo>
                  <a:pt x="624" y="278"/>
                </a:lnTo>
                <a:lnTo>
                  <a:pt x="0" y="27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" name="Freeform 53"/>
          <p:cNvSpPr>
            <a:spLocks/>
          </p:cNvSpPr>
          <p:nvPr/>
        </p:nvSpPr>
        <p:spPr bwMode="auto">
          <a:xfrm>
            <a:off x="5568818" y="5868988"/>
            <a:ext cx="1587" cy="351077"/>
          </a:xfrm>
          <a:custGeom>
            <a:avLst/>
            <a:gdLst>
              <a:gd name="T0" fmla="*/ 0 w 1"/>
              <a:gd name="T1" fmla="*/ 0 h 262"/>
              <a:gd name="T2" fmla="*/ 0 w 1"/>
              <a:gd name="T3" fmla="*/ 261 h 262"/>
              <a:gd name="T4" fmla="*/ 0 w 1"/>
              <a:gd name="T5" fmla="*/ 0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62">
                <a:moveTo>
                  <a:pt x="0" y="0"/>
                </a:moveTo>
                <a:lnTo>
                  <a:pt x="0" y="26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" name="Freeform 54"/>
          <p:cNvSpPr>
            <a:spLocks/>
          </p:cNvSpPr>
          <p:nvPr/>
        </p:nvSpPr>
        <p:spPr bwMode="auto">
          <a:xfrm>
            <a:off x="5094949" y="6406942"/>
            <a:ext cx="992187" cy="341313"/>
          </a:xfrm>
          <a:custGeom>
            <a:avLst/>
            <a:gdLst>
              <a:gd name="T0" fmla="*/ 0 w 625"/>
              <a:gd name="T1" fmla="*/ 278 h 279"/>
              <a:gd name="T2" fmla="*/ 0 w 625"/>
              <a:gd name="T3" fmla="*/ 0 h 279"/>
              <a:gd name="T4" fmla="*/ 624 w 625"/>
              <a:gd name="T5" fmla="*/ 0 h 279"/>
              <a:gd name="T6" fmla="*/ 624 w 625"/>
              <a:gd name="T7" fmla="*/ 278 h 279"/>
              <a:gd name="T8" fmla="*/ 0 w 625"/>
              <a:gd name="T9" fmla="*/ 278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5" h="279">
                <a:moveTo>
                  <a:pt x="0" y="278"/>
                </a:moveTo>
                <a:lnTo>
                  <a:pt x="0" y="0"/>
                </a:lnTo>
                <a:lnTo>
                  <a:pt x="624" y="0"/>
                </a:lnTo>
                <a:lnTo>
                  <a:pt x="624" y="278"/>
                </a:lnTo>
                <a:lnTo>
                  <a:pt x="0" y="27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" name="Freeform 55"/>
          <p:cNvSpPr>
            <a:spLocks/>
          </p:cNvSpPr>
          <p:nvPr/>
        </p:nvSpPr>
        <p:spPr bwMode="auto">
          <a:xfrm>
            <a:off x="5574374" y="6421230"/>
            <a:ext cx="1587" cy="294045"/>
          </a:xfrm>
          <a:custGeom>
            <a:avLst/>
            <a:gdLst>
              <a:gd name="T0" fmla="*/ 0 w 1"/>
              <a:gd name="T1" fmla="*/ 0 h 261"/>
              <a:gd name="T2" fmla="*/ 0 w 1"/>
              <a:gd name="T3" fmla="*/ 260 h 261"/>
              <a:gd name="T4" fmla="*/ 0 w 1"/>
              <a:gd name="T5" fmla="*/ 0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61">
                <a:moveTo>
                  <a:pt x="0" y="0"/>
                </a:moveTo>
                <a:lnTo>
                  <a:pt x="0" y="26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Rectangle 77"/>
          <p:cNvSpPr>
            <a:spLocks noChangeArrowheads="1"/>
          </p:cNvSpPr>
          <p:nvPr/>
        </p:nvSpPr>
        <p:spPr bwMode="auto">
          <a:xfrm>
            <a:off x="5162418" y="5897563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48*</a:t>
            </a:r>
          </a:p>
        </p:txBody>
      </p:sp>
      <p:sp>
        <p:nvSpPr>
          <p:cNvPr id="100" name="Rectangle 78"/>
          <p:cNvSpPr>
            <a:spLocks noChangeArrowheads="1"/>
          </p:cNvSpPr>
          <p:nvPr/>
        </p:nvSpPr>
        <p:spPr bwMode="auto">
          <a:xfrm>
            <a:off x="5591043" y="5881688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41*</a:t>
            </a:r>
          </a:p>
        </p:txBody>
      </p:sp>
      <p:sp>
        <p:nvSpPr>
          <p:cNvPr id="102" name="Arc 88"/>
          <p:cNvSpPr>
            <a:spLocks/>
          </p:cNvSpPr>
          <p:nvPr/>
        </p:nvSpPr>
        <p:spPr bwMode="auto">
          <a:xfrm>
            <a:off x="5071930" y="5711226"/>
            <a:ext cx="152400" cy="156174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Arc 89"/>
          <p:cNvSpPr>
            <a:spLocks/>
          </p:cNvSpPr>
          <p:nvPr/>
        </p:nvSpPr>
        <p:spPr bwMode="auto">
          <a:xfrm>
            <a:off x="5148130" y="6248400"/>
            <a:ext cx="76200" cy="152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" name="Arc 88"/>
          <p:cNvSpPr>
            <a:spLocks/>
          </p:cNvSpPr>
          <p:nvPr/>
        </p:nvSpPr>
        <p:spPr bwMode="auto">
          <a:xfrm>
            <a:off x="5079762" y="5715000"/>
            <a:ext cx="152400" cy="156174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5400" cap="rnd">
            <a:solidFill>
              <a:srgbClr val="FF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" name="Arc 89"/>
          <p:cNvSpPr>
            <a:spLocks/>
          </p:cNvSpPr>
          <p:nvPr/>
        </p:nvSpPr>
        <p:spPr bwMode="auto">
          <a:xfrm>
            <a:off x="5146702" y="6248400"/>
            <a:ext cx="76200" cy="152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5400" cap="rnd">
            <a:solidFill>
              <a:srgbClr val="FF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165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ISAM: Deleting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The appropriate page is determined as for a search, and the entry is deleted (</a:t>
            </a:r>
            <a:r>
              <a:rPr lang="en-US" sz="2600" i="1" dirty="0" smtClean="0"/>
              <a:t>with ONLY overflow pages removed when becoming empty</a:t>
            </a:r>
            <a:r>
              <a:rPr lang="en-US" sz="2600" dirty="0" smtClean="0"/>
              <a:t>)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Delete </a:t>
            </a:r>
            <a:r>
              <a:rPr lang="en-US" sz="2600" dirty="0" smtClean="0">
                <a:solidFill>
                  <a:srgbClr val="FF0000"/>
                </a:solidFill>
              </a:rPr>
              <a:t>42*</a:t>
            </a:r>
            <a:endParaRPr lang="en-US" sz="2600" dirty="0">
              <a:solidFill>
                <a:srgbClr val="FF0000"/>
              </a:solidFill>
            </a:endParaRPr>
          </a:p>
        </p:txBody>
      </p:sp>
      <p:grpSp>
        <p:nvGrpSpPr>
          <p:cNvPr id="107" name="Group 69"/>
          <p:cNvGrpSpPr>
            <a:grpSpLocks/>
          </p:cNvGrpSpPr>
          <p:nvPr/>
        </p:nvGrpSpPr>
        <p:grpSpPr bwMode="auto">
          <a:xfrm>
            <a:off x="1022350" y="3342904"/>
            <a:ext cx="7893050" cy="2368322"/>
            <a:chOff x="351" y="1868"/>
            <a:chExt cx="4972" cy="1953"/>
          </a:xfrm>
        </p:grpSpPr>
        <p:sp>
          <p:nvSpPr>
            <p:cNvPr id="108" name="Freeform 6"/>
            <p:cNvSpPr>
              <a:spLocks/>
            </p:cNvSpPr>
            <p:nvPr/>
          </p:nvSpPr>
          <p:spPr bwMode="auto">
            <a:xfrm>
              <a:off x="351" y="3509"/>
              <a:ext cx="699" cy="312"/>
            </a:xfrm>
            <a:custGeom>
              <a:avLst/>
              <a:gdLst>
                <a:gd name="T0" fmla="*/ 0 w 699"/>
                <a:gd name="T1" fmla="*/ 311 h 312"/>
                <a:gd name="T2" fmla="*/ 0 w 699"/>
                <a:gd name="T3" fmla="*/ 0 h 312"/>
                <a:gd name="T4" fmla="*/ 698 w 699"/>
                <a:gd name="T5" fmla="*/ 0 h 312"/>
                <a:gd name="T6" fmla="*/ 698 w 699"/>
                <a:gd name="T7" fmla="*/ 311 h 312"/>
                <a:gd name="T8" fmla="*/ 0 w 699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9" h="312">
                  <a:moveTo>
                    <a:pt x="0" y="311"/>
                  </a:moveTo>
                  <a:lnTo>
                    <a:pt x="0" y="0"/>
                  </a:lnTo>
                  <a:lnTo>
                    <a:pt x="698" y="0"/>
                  </a:lnTo>
                  <a:lnTo>
                    <a:pt x="698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7"/>
            <p:cNvSpPr>
              <a:spLocks/>
            </p:cNvSpPr>
            <p:nvPr/>
          </p:nvSpPr>
          <p:spPr bwMode="auto">
            <a:xfrm>
              <a:off x="1204" y="3509"/>
              <a:ext cx="700" cy="312"/>
            </a:xfrm>
            <a:custGeom>
              <a:avLst/>
              <a:gdLst>
                <a:gd name="T0" fmla="*/ 0 w 700"/>
                <a:gd name="T1" fmla="*/ 311 h 312"/>
                <a:gd name="T2" fmla="*/ 0 w 700"/>
                <a:gd name="T3" fmla="*/ 0 h 312"/>
                <a:gd name="T4" fmla="*/ 699 w 700"/>
                <a:gd name="T5" fmla="*/ 0 h 312"/>
                <a:gd name="T6" fmla="*/ 699 w 700"/>
                <a:gd name="T7" fmla="*/ 311 h 312"/>
                <a:gd name="T8" fmla="*/ 0 w 700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2">
                  <a:moveTo>
                    <a:pt x="0" y="311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8"/>
            <p:cNvSpPr>
              <a:spLocks/>
            </p:cNvSpPr>
            <p:nvPr/>
          </p:nvSpPr>
          <p:spPr bwMode="auto">
            <a:xfrm>
              <a:off x="2059" y="3509"/>
              <a:ext cx="700" cy="312"/>
            </a:xfrm>
            <a:custGeom>
              <a:avLst/>
              <a:gdLst>
                <a:gd name="T0" fmla="*/ 0 w 700"/>
                <a:gd name="T1" fmla="*/ 311 h 312"/>
                <a:gd name="T2" fmla="*/ 0 w 700"/>
                <a:gd name="T3" fmla="*/ 0 h 312"/>
                <a:gd name="T4" fmla="*/ 699 w 700"/>
                <a:gd name="T5" fmla="*/ 0 h 312"/>
                <a:gd name="T6" fmla="*/ 699 w 700"/>
                <a:gd name="T7" fmla="*/ 311 h 312"/>
                <a:gd name="T8" fmla="*/ 0 w 700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2">
                  <a:moveTo>
                    <a:pt x="0" y="311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9"/>
            <p:cNvSpPr>
              <a:spLocks/>
            </p:cNvSpPr>
            <p:nvPr/>
          </p:nvSpPr>
          <p:spPr bwMode="auto">
            <a:xfrm>
              <a:off x="2914" y="3509"/>
              <a:ext cx="699" cy="312"/>
            </a:xfrm>
            <a:custGeom>
              <a:avLst/>
              <a:gdLst>
                <a:gd name="T0" fmla="*/ 0 w 699"/>
                <a:gd name="T1" fmla="*/ 311 h 312"/>
                <a:gd name="T2" fmla="*/ 0 w 699"/>
                <a:gd name="T3" fmla="*/ 0 h 312"/>
                <a:gd name="T4" fmla="*/ 698 w 699"/>
                <a:gd name="T5" fmla="*/ 0 h 312"/>
                <a:gd name="T6" fmla="*/ 698 w 699"/>
                <a:gd name="T7" fmla="*/ 311 h 312"/>
                <a:gd name="T8" fmla="*/ 0 w 699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9" h="312">
                  <a:moveTo>
                    <a:pt x="0" y="311"/>
                  </a:moveTo>
                  <a:lnTo>
                    <a:pt x="0" y="0"/>
                  </a:lnTo>
                  <a:lnTo>
                    <a:pt x="698" y="0"/>
                  </a:lnTo>
                  <a:lnTo>
                    <a:pt x="698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0"/>
            <p:cNvSpPr>
              <a:spLocks/>
            </p:cNvSpPr>
            <p:nvPr/>
          </p:nvSpPr>
          <p:spPr bwMode="auto">
            <a:xfrm>
              <a:off x="3767" y="3509"/>
              <a:ext cx="701" cy="312"/>
            </a:xfrm>
            <a:custGeom>
              <a:avLst/>
              <a:gdLst>
                <a:gd name="T0" fmla="*/ 0 w 701"/>
                <a:gd name="T1" fmla="*/ 311 h 312"/>
                <a:gd name="T2" fmla="*/ 0 w 701"/>
                <a:gd name="T3" fmla="*/ 0 h 312"/>
                <a:gd name="T4" fmla="*/ 700 w 701"/>
                <a:gd name="T5" fmla="*/ 0 h 312"/>
                <a:gd name="T6" fmla="*/ 700 w 701"/>
                <a:gd name="T7" fmla="*/ 311 h 312"/>
                <a:gd name="T8" fmla="*/ 0 w 701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1" h="312">
                  <a:moveTo>
                    <a:pt x="0" y="311"/>
                  </a:moveTo>
                  <a:lnTo>
                    <a:pt x="0" y="0"/>
                  </a:lnTo>
                  <a:lnTo>
                    <a:pt x="700" y="0"/>
                  </a:lnTo>
                  <a:lnTo>
                    <a:pt x="700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1"/>
            <p:cNvSpPr>
              <a:spLocks/>
            </p:cNvSpPr>
            <p:nvPr/>
          </p:nvSpPr>
          <p:spPr bwMode="auto">
            <a:xfrm>
              <a:off x="4621" y="3509"/>
              <a:ext cx="702" cy="312"/>
            </a:xfrm>
            <a:custGeom>
              <a:avLst/>
              <a:gdLst>
                <a:gd name="T0" fmla="*/ 0 w 702"/>
                <a:gd name="T1" fmla="*/ 311 h 312"/>
                <a:gd name="T2" fmla="*/ 0 w 702"/>
                <a:gd name="T3" fmla="*/ 0 h 312"/>
                <a:gd name="T4" fmla="*/ 701 w 702"/>
                <a:gd name="T5" fmla="*/ 0 h 312"/>
                <a:gd name="T6" fmla="*/ 701 w 702"/>
                <a:gd name="T7" fmla="*/ 311 h 312"/>
                <a:gd name="T8" fmla="*/ 0 w 702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2" h="312">
                  <a:moveTo>
                    <a:pt x="0" y="311"/>
                  </a:moveTo>
                  <a:lnTo>
                    <a:pt x="0" y="0"/>
                  </a:lnTo>
                  <a:lnTo>
                    <a:pt x="701" y="0"/>
                  </a:lnTo>
                  <a:lnTo>
                    <a:pt x="701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12"/>
            <p:cNvSpPr>
              <a:spLocks/>
            </p:cNvSpPr>
            <p:nvPr/>
          </p:nvSpPr>
          <p:spPr bwMode="auto">
            <a:xfrm>
              <a:off x="1204" y="2735"/>
              <a:ext cx="700" cy="311"/>
            </a:xfrm>
            <a:custGeom>
              <a:avLst/>
              <a:gdLst>
                <a:gd name="T0" fmla="*/ 0 w 700"/>
                <a:gd name="T1" fmla="*/ 310 h 311"/>
                <a:gd name="T2" fmla="*/ 0 w 700"/>
                <a:gd name="T3" fmla="*/ 0 h 311"/>
                <a:gd name="T4" fmla="*/ 699 w 700"/>
                <a:gd name="T5" fmla="*/ 0 h 311"/>
                <a:gd name="T6" fmla="*/ 699 w 700"/>
                <a:gd name="T7" fmla="*/ 310 h 311"/>
                <a:gd name="T8" fmla="*/ 0 w 700"/>
                <a:gd name="T9" fmla="*/ 31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1">
                  <a:moveTo>
                    <a:pt x="0" y="310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0"/>
                  </a:lnTo>
                  <a:lnTo>
                    <a:pt x="0" y="31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13"/>
            <p:cNvSpPr>
              <a:spLocks/>
            </p:cNvSpPr>
            <p:nvPr/>
          </p:nvSpPr>
          <p:spPr bwMode="auto">
            <a:xfrm>
              <a:off x="1284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14"/>
            <p:cNvSpPr>
              <a:spLocks/>
            </p:cNvSpPr>
            <p:nvPr/>
          </p:nvSpPr>
          <p:spPr bwMode="auto">
            <a:xfrm>
              <a:off x="1515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15"/>
            <p:cNvSpPr>
              <a:spLocks/>
            </p:cNvSpPr>
            <p:nvPr/>
          </p:nvSpPr>
          <p:spPr bwMode="auto">
            <a:xfrm>
              <a:off x="1593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16"/>
            <p:cNvSpPr>
              <a:spLocks/>
            </p:cNvSpPr>
            <p:nvPr/>
          </p:nvSpPr>
          <p:spPr bwMode="auto">
            <a:xfrm>
              <a:off x="1827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17"/>
            <p:cNvSpPr>
              <a:spLocks/>
            </p:cNvSpPr>
            <p:nvPr/>
          </p:nvSpPr>
          <p:spPr bwMode="auto">
            <a:xfrm>
              <a:off x="3767" y="2735"/>
              <a:ext cx="701" cy="311"/>
            </a:xfrm>
            <a:custGeom>
              <a:avLst/>
              <a:gdLst>
                <a:gd name="T0" fmla="*/ 0 w 701"/>
                <a:gd name="T1" fmla="*/ 310 h 311"/>
                <a:gd name="T2" fmla="*/ 0 w 701"/>
                <a:gd name="T3" fmla="*/ 0 h 311"/>
                <a:gd name="T4" fmla="*/ 700 w 701"/>
                <a:gd name="T5" fmla="*/ 0 h 311"/>
                <a:gd name="T6" fmla="*/ 700 w 701"/>
                <a:gd name="T7" fmla="*/ 310 h 311"/>
                <a:gd name="T8" fmla="*/ 0 w 701"/>
                <a:gd name="T9" fmla="*/ 31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1" h="311">
                  <a:moveTo>
                    <a:pt x="0" y="310"/>
                  </a:moveTo>
                  <a:lnTo>
                    <a:pt x="0" y="0"/>
                  </a:lnTo>
                  <a:lnTo>
                    <a:pt x="700" y="0"/>
                  </a:lnTo>
                  <a:lnTo>
                    <a:pt x="700" y="310"/>
                  </a:lnTo>
                  <a:lnTo>
                    <a:pt x="0" y="31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18"/>
            <p:cNvSpPr>
              <a:spLocks/>
            </p:cNvSpPr>
            <p:nvPr/>
          </p:nvSpPr>
          <p:spPr bwMode="auto">
            <a:xfrm>
              <a:off x="3846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19"/>
            <p:cNvSpPr>
              <a:spLocks/>
            </p:cNvSpPr>
            <p:nvPr/>
          </p:nvSpPr>
          <p:spPr bwMode="auto">
            <a:xfrm>
              <a:off x="4078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20"/>
            <p:cNvSpPr>
              <a:spLocks/>
            </p:cNvSpPr>
            <p:nvPr/>
          </p:nvSpPr>
          <p:spPr bwMode="auto">
            <a:xfrm>
              <a:off x="4156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21"/>
            <p:cNvSpPr>
              <a:spLocks/>
            </p:cNvSpPr>
            <p:nvPr/>
          </p:nvSpPr>
          <p:spPr bwMode="auto">
            <a:xfrm>
              <a:off x="4389" y="2735"/>
              <a:ext cx="1" cy="311"/>
            </a:xfrm>
            <a:custGeom>
              <a:avLst/>
              <a:gdLst>
                <a:gd name="T0" fmla="*/ 0 w 1"/>
                <a:gd name="T1" fmla="*/ 0 h 311"/>
                <a:gd name="T2" fmla="*/ 0 w 1"/>
                <a:gd name="T3" fmla="*/ 310 h 311"/>
                <a:gd name="T4" fmla="*/ 0 w 1"/>
                <a:gd name="T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1">
                  <a:moveTo>
                    <a:pt x="0" y="0"/>
                  </a:moveTo>
                  <a:lnTo>
                    <a:pt x="0" y="31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22"/>
            <p:cNvSpPr>
              <a:spLocks/>
            </p:cNvSpPr>
            <p:nvPr/>
          </p:nvSpPr>
          <p:spPr bwMode="auto">
            <a:xfrm>
              <a:off x="2447" y="2037"/>
              <a:ext cx="700" cy="312"/>
            </a:xfrm>
            <a:custGeom>
              <a:avLst/>
              <a:gdLst>
                <a:gd name="T0" fmla="*/ 0 w 700"/>
                <a:gd name="T1" fmla="*/ 311 h 312"/>
                <a:gd name="T2" fmla="*/ 0 w 700"/>
                <a:gd name="T3" fmla="*/ 0 h 312"/>
                <a:gd name="T4" fmla="*/ 699 w 700"/>
                <a:gd name="T5" fmla="*/ 0 h 312"/>
                <a:gd name="T6" fmla="*/ 699 w 700"/>
                <a:gd name="T7" fmla="*/ 311 h 312"/>
                <a:gd name="T8" fmla="*/ 0 w 700"/>
                <a:gd name="T9" fmla="*/ 311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312">
                  <a:moveTo>
                    <a:pt x="0" y="311"/>
                  </a:moveTo>
                  <a:lnTo>
                    <a:pt x="0" y="0"/>
                  </a:lnTo>
                  <a:lnTo>
                    <a:pt x="699" y="0"/>
                  </a:lnTo>
                  <a:lnTo>
                    <a:pt x="699" y="311"/>
                  </a:lnTo>
                  <a:lnTo>
                    <a:pt x="0" y="31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23"/>
            <p:cNvSpPr>
              <a:spLocks/>
            </p:cNvSpPr>
            <p:nvPr/>
          </p:nvSpPr>
          <p:spPr bwMode="auto">
            <a:xfrm>
              <a:off x="2525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24"/>
            <p:cNvSpPr>
              <a:spLocks/>
            </p:cNvSpPr>
            <p:nvPr/>
          </p:nvSpPr>
          <p:spPr bwMode="auto">
            <a:xfrm>
              <a:off x="2758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25"/>
            <p:cNvSpPr>
              <a:spLocks/>
            </p:cNvSpPr>
            <p:nvPr/>
          </p:nvSpPr>
          <p:spPr bwMode="auto">
            <a:xfrm>
              <a:off x="2836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26"/>
            <p:cNvSpPr>
              <a:spLocks/>
            </p:cNvSpPr>
            <p:nvPr/>
          </p:nvSpPr>
          <p:spPr bwMode="auto">
            <a:xfrm>
              <a:off x="3069" y="2037"/>
              <a:ext cx="1" cy="312"/>
            </a:xfrm>
            <a:custGeom>
              <a:avLst/>
              <a:gdLst>
                <a:gd name="T0" fmla="*/ 0 w 1"/>
                <a:gd name="T1" fmla="*/ 0 h 312"/>
                <a:gd name="T2" fmla="*/ 0 w 1"/>
                <a:gd name="T3" fmla="*/ 311 h 312"/>
                <a:gd name="T4" fmla="*/ 0 w 1"/>
                <a:gd name="T5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2">
                  <a:moveTo>
                    <a:pt x="0" y="0"/>
                  </a:move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27"/>
            <p:cNvSpPr>
              <a:spLocks/>
            </p:cNvSpPr>
            <p:nvPr/>
          </p:nvSpPr>
          <p:spPr bwMode="auto">
            <a:xfrm>
              <a:off x="1903" y="2280"/>
              <a:ext cx="575" cy="418"/>
            </a:xfrm>
            <a:custGeom>
              <a:avLst/>
              <a:gdLst>
                <a:gd name="T0" fmla="*/ 574 w 575"/>
                <a:gd name="T1" fmla="*/ 0 h 418"/>
                <a:gd name="T2" fmla="*/ 0 w 575"/>
                <a:gd name="T3" fmla="*/ 417 h 418"/>
                <a:gd name="T4" fmla="*/ 574 w 575"/>
                <a:gd name="T5" fmla="*/ 0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5" h="418">
                  <a:moveTo>
                    <a:pt x="574" y="0"/>
                  </a:moveTo>
                  <a:lnTo>
                    <a:pt x="0" y="417"/>
                  </a:lnTo>
                  <a:lnTo>
                    <a:pt x="574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28"/>
            <p:cNvSpPr>
              <a:spLocks/>
            </p:cNvSpPr>
            <p:nvPr/>
          </p:nvSpPr>
          <p:spPr bwMode="auto">
            <a:xfrm>
              <a:off x="1903" y="2620"/>
              <a:ext cx="94" cy="78"/>
            </a:xfrm>
            <a:custGeom>
              <a:avLst/>
              <a:gdLst>
                <a:gd name="T0" fmla="*/ 93 w 94"/>
                <a:gd name="T1" fmla="*/ 39 h 78"/>
                <a:gd name="T2" fmla="*/ 0 w 94"/>
                <a:gd name="T3" fmla="*/ 77 h 78"/>
                <a:gd name="T4" fmla="*/ 65 w 94"/>
                <a:gd name="T5" fmla="*/ 0 h 78"/>
                <a:gd name="T6" fmla="*/ 93 w 94"/>
                <a:gd name="T7" fmla="*/ 3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4" h="78">
                  <a:moveTo>
                    <a:pt x="93" y="39"/>
                  </a:moveTo>
                  <a:lnTo>
                    <a:pt x="0" y="77"/>
                  </a:lnTo>
                  <a:lnTo>
                    <a:pt x="65" y="0"/>
                  </a:lnTo>
                  <a:lnTo>
                    <a:pt x="93" y="39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29"/>
            <p:cNvSpPr>
              <a:spLocks/>
            </p:cNvSpPr>
            <p:nvPr/>
          </p:nvSpPr>
          <p:spPr bwMode="auto">
            <a:xfrm>
              <a:off x="2788" y="2260"/>
              <a:ext cx="971" cy="447"/>
            </a:xfrm>
            <a:custGeom>
              <a:avLst/>
              <a:gdLst>
                <a:gd name="T0" fmla="*/ 0 w 971"/>
                <a:gd name="T1" fmla="*/ 0 h 447"/>
                <a:gd name="T2" fmla="*/ 970 w 971"/>
                <a:gd name="T3" fmla="*/ 446 h 447"/>
                <a:gd name="T4" fmla="*/ 0 w 971"/>
                <a:gd name="T5" fmla="*/ 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71" h="447">
                  <a:moveTo>
                    <a:pt x="0" y="0"/>
                  </a:moveTo>
                  <a:lnTo>
                    <a:pt x="970" y="446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30"/>
            <p:cNvSpPr>
              <a:spLocks/>
            </p:cNvSpPr>
            <p:nvPr/>
          </p:nvSpPr>
          <p:spPr bwMode="auto">
            <a:xfrm>
              <a:off x="3659" y="2644"/>
              <a:ext cx="100" cy="63"/>
            </a:xfrm>
            <a:custGeom>
              <a:avLst/>
              <a:gdLst>
                <a:gd name="T0" fmla="*/ 21 w 100"/>
                <a:gd name="T1" fmla="*/ 0 h 63"/>
                <a:gd name="T2" fmla="*/ 99 w 100"/>
                <a:gd name="T3" fmla="*/ 62 h 63"/>
                <a:gd name="T4" fmla="*/ 0 w 100"/>
                <a:gd name="T5" fmla="*/ 44 h 63"/>
                <a:gd name="T6" fmla="*/ 21 w 100"/>
                <a:gd name="T7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" h="63">
                  <a:moveTo>
                    <a:pt x="21" y="0"/>
                  </a:moveTo>
                  <a:lnTo>
                    <a:pt x="99" y="62"/>
                  </a:lnTo>
                  <a:lnTo>
                    <a:pt x="0" y="44"/>
                  </a:lnTo>
                  <a:lnTo>
                    <a:pt x="21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31"/>
            <p:cNvSpPr>
              <a:spLocks/>
            </p:cNvSpPr>
            <p:nvPr/>
          </p:nvSpPr>
          <p:spPr bwMode="auto">
            <a:xfrm>
              <a:off x="972" y="2996"/>
              <a:ext cx="272" cy="486"/>
            </a:xfrm>
            <a:custGeom>
              <a:avLst/>
              <a:gdLst>
                <a:gd name="T0" fmla="*/ 271 w 272"/>
                <a:gd name="T1" fmla="*/ 0 h 486"/>
                <a:gd name="T2" fmla="*/ 0 w 272"/>
                <a:gd name="T3" fmla="*/ 485 h 486"/>
                <a:gd name="T4" fmla="*/ 271 w 272"/>
                <a:gd name="T5" fmla="*/ 0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2" h="486">
                  <a:moveTo>
                    <a:pt x="271" y="0"/>
                  </a:moveTo>
                  <a:lnTo>
                    <a:pt x="0" y="485"/>
                  </a:lnTo>
                  <a:lnTo>
                    <a:pt x="271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32"/>
            <p:cNvSpPr>
              <a:spLocks/>
            </p:cNvSpPr>
            <p:nvPr/>
          </p:nvSpPr>
          <p:spPr bwMode="auto">
            <a:xfrm>
              <a:off x="972" y="3384"/>
              <a:ext cx="69" cy="98"/>
            </a:xfrm>
            <a:custGeom>
              <a:avLst/>
              <a:gdLst>
                <a:gd name="T0" fmla="*/ 68 w 69"/>
                <a:gd name="T1" fmla="*/ 25 h 98"/>
                <a:gd name="T2" fmla="*/ 0 w 69"/>
                <a:gd name="T3" fmla="*/ 97 h 98"/>
                <a:gd name="T4" fmla="*/ 26 w 69"/>
                <a:gd name="T5" fmla="*/ 0 h 98"/>
                <a:gd name="T6" fmla="*/ 68 w 69"/>
                <a:gd name="T7" fmla="*/ 25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98">
                  <a:moveTo>
                    <a:pt x="68" y="25"/>
                  </a:moveTo>
                  <a:lnTo>
                    <a:pt x="0" y="97"/>
                  </a:lnTo>
                  <a:lnTo>
                    <a:pt x="26" y="0"/>
                  </a:lnTo>
                  <a:lnTo>
                    <a:pt x="68" y="25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33"/>
            <p:cNvSpPr>
              <a:spLocks/>
            </p:cNvSpPr>
            <p:nvPr/>
          </p:nvSpPr>
          <p:spPr bwMode="auto">
            <a:xfrm>
              <a:off x="1554" y="2977"/>
              <a:ext cx="1" cy="505"/>
            </a:xfrm>
            <a:custGeom>
              <a:avLst/>
              <a:gdLst>
                <a:gd name="T0" fmla="*/ 0 w 1"/>
                <a:gd name="T1" fmla="*/ 0 h 505"/>
                <a:gd name="T2" fmla="*/ 0 w 1"/>
                <a:gd name="T3" fmla="*/ 504 h 505"/>
                <a:gd name="T4" fmla="*/ 0 w 1"/>
                <a:gd name="T5" fmla="*/ 0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505">
                  <a:moveTo>
                    <a:pt x="0" y="0"/>
                  </a:moveTo>
                  <a:lnTo>
                    <a:pt x="0" y="504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34"/>
            <p:cNvSpPr>
              <a:spLocks/>
            </p:cNvSpPr>
            <p:nvPr/>
          </p:nvSpPr>
          <p:spPr bwMode="auto">
            <a:xfrm>
              <a:off x="1530" y="3384"/>
              <a:ext cx="50" cy="98"/>
            </a:xfrm>
            <a:custGeom>
              <a:avLst/>
              <a:gdLst>
                <a:gd name="T0" fmla="*/ 49 w 50"/>
                <a:gd name="T1" fmla="*/ 0 h 98"/>
                <a:gd name="T2" fmla="*/ 24 w 50"/>
                <a:gd name="T3" fmla="*/ 97 h 98"/>
                <a:gd name="T4" fmla="*/ 0 w 50"/>
                <a:gd name="T5" fmla="*/ 0 h 98"/>
                <a:gd name="T6" fmla="*/ 49 w 50"/>
                <a:gd name="T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98">
                  <a:moveTo>
                    <a:pt x="49" y="0"/>
                  </a:moveTo>
                  <a:lnTo>
                    <a:pt x="24" y="97"/>
                  </a:lnTo>
                  <a:lnTo>
                    <a:pt x="0" y="0"/>
                  </a:lnTo>
                  <a:lnTo>
                    <a:pt x="49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35"/>
            <p:cNvSpPr>
              <a:spLocks/>
            </p:cNvSpPr>
            <p:nvPr/>
          </p:nvSpPr>
          <p:spPr bwMode="auto">
            <a:xfrm>
              <a:off x="1865" y="2958"/>
              <a:ext cx="214" cy="514"/>
            </a:xfrm>
            <a:custGeom>
              <a:avLst/>
              <a:gdLst>
                <a:gd name="T0" fmla="*/ 0 w 214"/>
                <a:gd name="T1" fmla="*/ 0 h 514"/>
                <a:gd name="T2" fmla="*/ 213 w 214"/>
                <a:gd name="T3" fmla="*/ 513 h 514"/>
                <a:gd name="T4" fmla="*/ 0 w 214"/>
                <a:gd name="T5" fmla="*/ 0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4" h="514">
                  <a:moveTo>
                    <a:pt x="0" y="0"/>
                  </a:moveTo>
                  <a:lnTo>
                    <a:pt x="213" y="513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36"/>
            <p:cNvSpPr>
              <a:spLocks/>
            </p:cNvSpPr>
            <p:nvPr/>
          </p:nvSpPr>
          <p:spPr bwMode="auto">
            <a:xfrm>
              <a:off x="2019" y="3372"/>
              <a:ext cx="60" cy="100"/>
            </a:xfrm>
            <a:custGeom>
              <a:avLst/>
              <a:gdLst>
                <a:gd name="T0" fmla="*/ 45 w 60"/>
                <a:gd name="T1" fmla="*/ 0 h 100"/>
                <a:gd name="T2" fmla="*/ 59 w 60"/>
                <a:gd name="T3" fmla="*/ 99 h 100"/>
                <a:gd name="T4" fmla="*/ 0 w 60"/>
                <a:gd name="T5" fmla="*/ 18 h 100"/>
                <a:gd name="T6" fmla="*/ 45 w 60"/>
                <a:gd name="T7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" h="100">
                  <a:moveTo>
                    <a:pt x="45" y="0"/>
                  </a:moveTo>
                  <a:lnTo>
                    <a:pt x="59" y="99"/>
                  </a:lnTo>
                  <a:lnTo>
                    <a:pt x="0" y="18"/>
                  </a:lnTo>
                  <a:lnTo>
                    <a:pt x="45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37"/>
            <p:cNvSpPr>
              <a:spLocks/>
            </p:cNvSpPr>
            <p:nvPr/>
          </p:nvSpPr>
          <p:spPr bwMode="auto">
            <a:xfrm>
              <a:off x="3554" y="2967"/>
              <a:ext cx="254" cy="496"/>
            </a:xfrm>
            <a:custGeom>
              <a:avLst/>
              <a:gdLst>
                <a:gd name="T0" fmla="*/ 253 w 254"/>
                <a:gd name="T1" fmla="*/ 0 h 496"/>
                <a:gd name="T2" fmla="*/ 0 w 254"/>
                <a:gd name="T3" fmla="*/ 495 h 496"/>
                <a:gd name="T4" fmla="*/ 253 w 254"/>
                <a:gd name="T5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4" h="496">
                  <a:moveTo>
                    <a:pt x="253" y="0"/>
                  </a:moveTo>
                  <a:lnTo>
                    <a:pt x="0" y="495"/>
                  </a:lnTo>
                  <a:lnTo>
                    <a:pt x="253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38"/>
            <p:cNvSpPr>
              <a:spLocks/>
            </p:cNvSpPr>
            <p:nvPr/>
          </p:nvSpPr>
          <p:spPr bwMode="auto">
            <a:xfrm>
              <a:off x="3554" y="3365"/>
              <a:ext cx="67" cy="98"/>
            </a:xfrm>
            <a:custGeom>
              <a:avLst/>
              <a:gdLst>
                <a:gd name="T0" fmla="*/ 66 w 67"/>
                <a:gd name="T1" fmla="*/ 21 h 98"/>
                <a:gd name="T2" fmla="*/ 0 w 67"/>
                <a:gd name="T3" fmla="*/ 97 h 98"/>
                <a:gd name="T4" fmla="*/ 23 w 67"/>
                <a:gd name="T5" fmla="*/ 0 h 98"/>
                <a:gd name="T6" fmla="*/ 66 w 67"/>
                <a:gd name="T7" fmla="*/ 21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98">
                  <a:moveTo>
                    <a:pt x="66" y="21"/>
                  </a:moveTo>
                  <a:lnTo>
                    <a:pt x="0" y="97"/>
                  </a:lnTo>
                  <a:lnTo>
                    <a:pt x="23" y="0"/>
                  </a:lnTo>
                  <a:lnTo>
                    <a:pt x="66" y="2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39"/>
            <p:cNvSpPr>
              <a:spLocks/>
            </p:cNvSpPr>
            <p:nvPr/>
          </p:nvSpPr>
          <p:spPr bwMode="auto">
            <a:xfrm>
              <a:off x="4117" y="2977"/>
              <a:ext cx="1" cy="476"/>
            </a:xfrm>
            <a:custGeom>
              <a:avLst/>
              <a:gdLst>
                <a:gd name="T0" fmla="*/ 0 w 1"/>
                <a:gd name="T1" fmla="*/ 0 h 476"/>
                <a:gd name="T2" fmla="*/ 0 w 1"/>
                <a:gd name="T3" fmla="*/ 475 h 476"/>
                <a:gd name="T4" fmla="*/ 0 w 1"/>
                <a:gd name="T5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76">
                  <a:moveTo>
                    <a:pt x="0" y="0"/>
                  </a:moveTo>
                  <a:lnTo>
                    <a:pt x="0" y="475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40"/>
            <p:cNvSpPr>
              <a:spLocks/>
            </p:cNvSpPr>
            <p:nvPr/>
          </p:nvSpPr>
          <p:spPr bwMode="auto">
            <a:xfrm>
              <a:off x="4093" y="3355"/>
              <a:ext cx="49" cy="98"/>
            </a:xfrm>
            <a:custGeom>
              <a:avLst/>
              <a:gdLst>
                <a:gd name="T0" fmla="*/ 48 w 49"/>
                <a:gd name="T1" fmla="*/ 0 h 98"/>
                <a:gd name="T2" fmla="*/ 24 w 49"/>
                <a:gd name="T3" fmla="*/ 97 h 98"/>
                <a:gd name="T4" fmla="*/ 0 w 49"/>
                <a:gd name="T5" fmla="*/ 0 h 98"/>
                <a:gd name="T6" fmla="*/ 48 w 49"/>
                <a:gd name="T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98">
                  <a:moveTo>
                    <a:pt x="48" y="0"/>
                  </a:moveTo>
                  <a:lnTo>
                    <a:pt x="24" y="97"/>
                  </a:ln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41"/>
            <p:cNvSpPr>
              <a:spLocks/>
            </p:cNvSpPr>
            <p:nvPr/>
          </p:nvSpPr>
          <p:spPr bwMode="auto">
            <a:xfrm>
              <a:off x="4428" y="2986"/>
              <a:ext cx="253" cy="477"/>
            </a:xfrm>
            <a:custGeom>
              <a:avLst/>
              <a:gdLst>
                <a:gd name="T0" fmla="*/ 0 w 253"/>
                <a:gd name="T1" fmla="*/ 0 h 477"/>
                <a:gd name="T2" fmla="*/ 252 w 253"/>
                <a:gd name="T3" fmla="*/ 476 h 477"/>
                <a:gd name="T4" fmla="*/ 0 w 253"/>
                <a:gd name="T5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3" h="477">
                  <a:moveTo>
                    <a:pt x="0" y="0"/>
                  </a:moveTo>
                  <a:lnTo>
                    <a:pt x="252" y="476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42"/>
            <p:cNvSpPr>
              <a:spLocks/>
            </p:cNvSpPr>
            <p:nvPr/>
          </p:nvSpPr>
          <p:spPr bwMode="auto">
            <a:xfrm>
              <a:off x="4614" y="3365"/>
              <a:ext cx="67" cy="98"/>
            </a:xfrm>
            <a:custGeom>
              <a:avLst/>
              <a:gdLst>
                <a:gd name="T0" fmla="*/ 42 w 67"/>
                <a:gd name="T1" fmla="*/ 0 h 98"/>
                <a:gd name="T2" fmla="*/ 66 w 67"/>
                <a:gd name="T3" fmla="*/ 97 h 98"/>
                <a:gd name="T4" fmla="*/ 0 w 67"/>
                <a:gd name="T5" fmla="*/ 22 h 98"/>
                <a:gd name="T6" fmla="*/ 42 w 67"/>
                <a:gd name="T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98">
                  <a:moveTo>
                    <a:pt x="42" y="0"/>
                  </a:moveTo>
                  <a:lnTo>
                    <a:pt x="66" y="97"/>
                  </a:lnTo>
                  <a:lnTo>
                    <a:pt x="0" y="22"/>
                  </a:lnTo>
                  <a:lnTo>
                    <a:pt x="42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43"/>
            <p:cNvSpPr>
              <a:spLocks/>
            </p:cNvSpPr>
            <p:nvPr/>
          </p:nvSpPr>
          <p:spPr bwMode="auto">
            <a:xfrm>
              <a:off x="700" y="3519"/>
              <a:ext cx="1" cy="283"/>
            </a:xfrm>
            <a:custGeom>
              <a:avLst/>
              <a:gdLst>
                <a:gd name="T0" fmla="*/ 0 w 1"/>
                <a:gd name="T1" fmla="*/ 0 h 283"/>
                <a:gd name="T2" fmla="*/ 0 w 1"/>
                <a:gd name="T3" fmla="*/ 282 h 283"/>
                <a:gd name="T4" fmla="*/ 0 w 1"/>
                <a:gd name="T5" fmla="*/ 0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83">
                  <a:moveTo>
                    <a:pt x="0" y="0"/>
                  </a:moveTo>
                  <a:lnTo>
                    <a:pt x="0" y="28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44"/>
            <p:cNvSpPr>
              <a:spLocks/>
            </p:cNvSpPr>
            <p:nvPr/>
          </p:nvSpPr>
          <p:spPr bwMode="auto">
            <a:xfrm>
              <a:off x="1565" y="3509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45"/>
            <p:cNvSpPr>
              <a:spLocks/>
            </p:cNvSpPr>
            <p:nvPr/>
          </p:nvSpPr>
          <p:spPr bwMode="auto">
            <a:xfrm>
              <a:off x="2409" y="3509"/>
              <a:ext cx="1" cy="302"/>
            </a:xfrm>
            <a:custGeom>
              <a:avLst/>
              <a:gdLst>
                <a:gd name="T0" fmla="*/ 0 w 1"/>
                <a:gd name="T1" fmla="*/ 0 h 302"/>
                <a:gd name="T2" fmla="*/ 0 w 1"/>
                <a:gd name="T3" fmla="*/ 301 h 302"/>
                <a:gd name="T4" fmla="*/ 0 w 1"/>
                <a:gd name="T5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02">
                  <a:moveTo>
                    <a:pt x="0" y="0"/>
                  </a:moveTo>
                  <a:lnTo>
                    <a:pt x="0" y="30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 46"/>
            <p:cNvSpPr>
              <a:spLocks/>
            </p:cNvSpPr>
            <p:nvPr/>
          </p:nvSpPr>
          <p:spPr bwMode="auto">
            <a:xfrm>
              <a:off x="3252" y="3519"/>
              <a:ext cx="1" cy="273"/>
            </a:xfrm>
            <a:custGeom>
              <a:avLst/>
              <a:gdLst>
                <a:gd name="T0" fmla="*/ 0 w 1"/>
                <a:gd name="T1" fmla="*/ 0 h 273"/>
                <a:gd name="T2" fmla="*/ 0 w 1"/>
                <a:gd name="T3" fmla="*/ 272 h 273"/>
                <a:gd name="T4" fmla="*/ 0 w 1"/>
                <a:gd name="T5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73">
                  <a:moveTo>
                    <a:pt x="0" y="0"/>
                  </a:moveTo>
                  <a:lnTo>
                    <a:pt x="0" y="27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47"/>
            <p:cNvSpPr>
              <a:spLocks/>
            </p:cNvSpPr>
            <p:nvPr/>
          </p:nvSpPr>
          <p:spPr bwMode="auto">
            <a:xfrm>
              <a:off x="4108" y="3519"/>
              <a:ext cx="1" cy="292"/>
            </a:xfrm>
            <a:custGeom>
              <a:avLst/>
              <a:gdLst>
                <a:gd name="T0" fmla="*/ 0 w 1"/>
                <a:gd name="T1" fmla="*/ 0 h 292"/>
                <a:gd name="T2" fmla="*/ 0 w 1"/>
                <a:gd name="T3" fmla="*/ 291 h 292"/>
                <a:gd name="T4" fmla="*/ 0 w 1"/>
                <a:gd name="T5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2">
                  <a:moveTo>
                    <a:pt x="0" y="0"/>
                  </a:moveTo>
                  <a:lnTo>
                    <a:pt x="0" y="29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48"/>
            <p:cNvSpPr>
              <a:spLocks/>
            </p:cNvSpPr>
            <p:nvPr/>
          </p:nvSpPr>
          <p:spPr bwMode="auto">
            <a:xfrm>
              <a:off x="4952" y="3519"/>
              <a:ext cx="1" cy="292"/>
            </a:xfrm>
            <a:custGeom>
              <a:avLst/>
              <a:gdLst>
                <a:gd name="T0" fmla="*/ 0 w 1"/>
                <a:gd name="T1" fmla="*/ 0 h 292"/>
                <a:gd name="T2" fmla="*/ 0 w 1"/>
                <a:gd name="T3" fmla="*/ 291 h 292"/>
                <a:gd name="T4" fmla="*/ 0 w 1"/>
                <a:gd name="T5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92">
                  <a:moveTo>
                    <a:pt x="0" y="0"/>
                  </a:moveTo>
                  <a:lnTo>
                    <a:pt x="0" y="29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49"/>
            <p:cNvSpPr>
              <a:spLocks/>
            </p:cNvSpPr>
            <p:nvPr/>
          </p:nvSpPr>
          <p:spPr bwMode="auto">
            <a:xfrm>
              <a:off x="2146" y="1940"/>
              <a:ext cx="254" cy="78"/>
            </a:xfrm>
            <a:custGeom>
              <a:avLst/>
              <a:gdLst>
                <a:gd name="T0" fmla="*/ 0 w 254"/>
                <a:gd name="T1" fmla="*/ 0 h 78"/>
                <a:gd name="T2" fmla="*/ 253 w 254"/>
                <a:gd name="T3" fmla="*/ 77 h 78"/>
                <a:gd name="T4" fmla="*/ 0 w 254"/>
                <a:gd name="T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4" h="78">
                  <a:moveTo>
                    <a:pt x="0" y="0"/>
                  </a:moveTo>
                  <a:lnTo>
                    <a:pt x="253" y="77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50"/>
            <p:cNvSpPr>
              <a:spLocks/>
            </p:cNvSpPr>
            <p:nvPr/>
          </p:nvSpPr>
          <p:spPr bwMode="auto">
            <a:xfrm>
              <a:off x="2299" y="1967"/>
              <a:ext cx="101" cy="51"/>
            </a:xfrm>
            <a:custGeom>
              <a:avLst/>
              <a:gdLst>
                <a:gd name="T0" fmla="*/ 15 w 101"/>
                <a:gd name="T1" fmla="*/ 0 h 51"/>
                <a:gd name="T2" fmla="*/ 100 w 101"/>
                <a:gd name="T3" fmla="*/ 50 h 51"/>
                <a:gd name="T4" fmla="*/ 0 w 101"/>
                <a:gd name="T5" fmla="*/ 45 h 51"/>
                <a:gd name="T6" fmla="*/ 15 w 101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" h="51">
                  <a:moveTo>
                    <a:pt x="15" y="0"/>
                  </a:moveTo>
                  <a:lnTo>
                    <a:pt x="100" y="50"/>
                  </a:lnTo>
                  <a:lnTo>
                    <a:pt x="0" y="45"/>
                  </a:lnTo>
                  <a:lnTo>
                    <a:pt x="15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Rectangle 51"/>
            <p:cNvSpPr>
              <a:spLocks noChangeArrowheads="1"/>
            </p:cNvSpPr>
            <p:nvPr/>
          </p:nvSpPr>
          <p:spPr bwMode="auto">
            <a:xfrm>
              <a:off x="381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10*</a:t>
              </a:r>
            </a:p>
          </p:txBody>
        </p:sp>
        <p:sp>
          <p:nvSpPr>
            <p:cNvPr id="154" name="Rectangle 52"/>
            <p:cNvSpPr>
              <a:spLocks noChangeArrowheads="1"/>
            </p:cNvSpPr>
            <p:nvPr/>
          </p:nvSpPr>
          <p:spPr bwMode="auto">
            <a:xfrm>
              <a:off x="721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15*</a:t>
              </a:r>
            </a:p>
          </p:txBody>
        </p:sp>
        <p:sp>
          <p:nvSpPr>
            <p:cNvPr id="155" name="Rectangle 53"/>
            <p:cNvSpPr>
              <a:spLocks noChangeArrowheads="1"/>
            </p:cNvSpPr>
            <p:nvPr/>
          </p:nvSpPr>
          <p:spPr bwMode="auto">
            <a:xfrm>
              <a:off x="1236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20*</a:t>
              </a:r>
            </a:p>
          </p:txBody>
        </p:sp>
        <p:sp>
          <p:nvSpPr>
            <p:cNvPr id="156" name="Rectangle 54"/>
            <p:cNvSpPr>
              <a:spLocks noChangeArrowheads="1"/>
            </p:cNvSpPr>
            <p:nvPr/>
          </p:nvSpPr>
          <p:spPr bwMode="auto">
            <a:xfrm>
              <a:off x="1594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27*</a:t>
              </a:r>
            </a:p>
          </p:txBody>
        </p:sp>
        <p:sp>
          <p:nvSpPr>
            <p:cNvPr id="157" name="Rectangle 55"/>
            <p:cNvSpPr>
              <a:spLocks noChangeArrowheads="1"/>
            </p:cNvSpPr>
            <p:nvPr/>
          </p:nvSpPr>
          <p:spPr bwMode="auto">
            <a:xfrm>
              <a:off x="2099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33*</a:t>
              </a:r>
            </a:p>
          </p:txBody>
        </p:sp>
        <p:sp>
          <p:nvSpPr>
            <p:cNvPr id="158" name="Rectangle 56"/>
            <p:cNvSpPr>
              <a:spLocks noChangeArrowheads="1"/>
            </p:cNvSpPr>
            <p:nvPr/>
          </p:nvSpPr>
          <p:spPr bwMode="auto">
            <a:xfrm>
              <a:off x="2429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37*</a:t>
              </a:r>
            </a:p>
          </p:txBody>
        </p:sp>
        <p:sp>
          <p:nvSpPr>
            <p:cNvPr id="159" name="Rectangle 57"/>
            <p:cNvSpPr>
              <a:spLocks noChangeArrowheads="1"/>
            </p:cNvSpPr>
            <p:nvPr/>
          </p:nvSpPr>
          <p:spPr bwMode="auto">
            <a:xfrm>
              <a:off x="2953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40*</a:t>
              </a:r>
            </a:p>
          </p:txBody>
        </p:sp>
        <p:sp>
          <p:nvSpPr>
            <p:cNvPr id="160" name="Rectangle 58"/>
            <p:cNvSpPr>
              <a:spLocks noChangeArrowheads="1"/>
            </p:cNvSpPr>
            <p:nvPr/>
          </p:nvSpPr>
          <p:spPr bwMode="auto">
            <a:xfrm>
              <a:off x="3284" y="355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46*</a:t>
              </a:r>
            </a:p>
          </p:txBody>
        </p:sp>
        <p:sp>
          <p:nvSpPr>
            <p:cNvPr id="161" name="Rectangle 59"/>
            <p:cNvSpPr>
              <a:spLocks noChangeArrowheads="1"/>
            </p:cNvSpPr>
            <p:nvPr/>
          </p:nvSpPr>
          <p:spPr bwMode="auto">
            <a:xfrm>
              <a:off x="3789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51*</a:t>
              </a:r>
            </a:p>
          </p:txBody>
        </p:sp>
        <p:sp>
          <p:nvSpPr>
            <p:cNvPr id="162" name="Rectangle 60"/>
            <p:cNvSpPr>
              <a:spLocks noChangeArrowheads="1"/>
            </p:cNvSpPr>
            <p:nvPr/>
          </p:nvSpPr>
          <p:spPr bwMode="auto">
            <a:xfrm>
              <a:off x="4158" y="355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55*</a:t>
              </a:r>
            </a:p>
          </p:txBody>
        </p:sp>
        <p:sp>
          <p:nvSpPr>
            <p:cNvPr id="163" name="Rectangle 61"/>
            <p:cNvSpPr>
              <a:spLocks noChangeArrowheads="1"/>
            </p:cNvSpPr>
            <p:nvPr/>
          </p:nvSpPr>
          <p:spPr bwMode="auto">
            <a:xfrm>
              <a:off x="4643" y="357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63*</a:t>
              </a:r>
            </a:p>
          </p:txBody>
        </p:sp>
        <p:sp>
          <p:nvSpPr>
            <p:cNvPr id="164" name="Rectangle 62"/>
            <p:cNvSpPr>
              <a:spLocks noChangeArrowheads="1"/>
            </p:cNvSpPr>
            <p:nvPr/>
          </p:nvSpPr>
          <p:spPr bwMode="auto">
            <a:xfrm>
              <a:off x="4993" y="356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97*</a:t>
              </a:r>
            </a:p>
          </p:txBody>
        </p:sp>
        <p:sp>
          <p:nvSpPr>
            <p:cNvPr id="165" name="Rectangle 63"/>
            <p:cNvSpPr>
              <a:spLocks noChangeArrowheads="1"/>
            </p:cNvSpPr>
            <p:nvPr/>
          </p:nvSpPr>
          <p:spPr bwMode="auto">
            <a:xfrm>
              <a:off x="1283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20</a:t>
              </a:r>
            </a:p>
          </p:txBody>
        </p:sp>
        <p:sp>
          <p:nvSpPr>
            <p:cNvPr id="166" name="Rectangle 64"/>
            <p:cNvSpPr>
              <a:spLocks noChangeArrowheads="1"/>
            </p:cNvSpPr>
            <p:nvPr/>
          </p:nvSpPr>
          <p:spPr bwMode="auto">
            <a:xfrm>
              <a:off x="1594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33</a:t>
              </a:r>
            </a:p>
          </p:txBody>
        </p:sp>
        <p:sp>
          <p:nvSpPr>
            <p:cNvPr id="167" name="Rectangle 65"/>
            <p:cNvSpPr>
              <a:spLocks noChangeArrowheads="1"/>
            </p:cNvSpPr>
            <p:nvPr/>
          </p:nvSpPr>
          <p:spPr bwMode="auto">
            <a:xfrm>
              <a:off x="3847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51</a:t>
              </a:r>
            </a:p>
          </p:txBody>
        </p:sp>
        <p:sp>
          <p:nvSpPr>
            <p:cNvPr id="168" name="Rectangle 66"/>
            <p:cNvSpPr>
              <a:spLocks noChangeArrowheads="1"/>
            </p:cNvSpPr>
            <p:nvPr/>
          </p:nvSpPr>
          <p:spPr bwMode="auto">
            <a:xfrm>
              <a:off x="4147" y="2778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63</a:t>
              </a:r>
            </a:p>
          </p:txBody>
        </p:sp>
        <p:sp>
          <p:nvSpPr>
            <p:cNvPr id="169" name="Rectangle 67"/>
            <p:cNvSpPr>
              <a:spLocks noChangeArrowheads="1"/>
            </p:cNvSpPr>
            <p:nvPr/>
          </p:nvSpPr>
          <p:spPr bwMode="auto">
            <a:xfrm>
              <a:off x="2517" y="2080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40</a:t>
              </a:r>
            </a:p>
          </p:txBody>
        </p:sp>
        <p:sp>
          <p:nvSpPr>
            <p:cNvPr id="170" name="Rectangle 68"/>
            <p:cNvSpPr>
              <a:spLocks noChangeArrowheads="1"/>
            </p:cNvSpPr>
            <p:nvPr/>
          </p:nvSpPr>
          <p:spPr bwMode="auto">
            <a:xfrm>
              <a:off x="1671" y="1868"/>
              <a:ext cx="369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400" b="1">
                  <a:solidFill>
                    <a:srgbClr val="000000"/>
                  </a:solidFill>
                  <a:latin typeface="Arial" pitchFamily="34" charset="0"/>
                </a:rPr>
                <a:t>Root</a:t>
              </a:r>
            </a:p>
          </p:txBody>
        </p:sp>
      </p:grpSp>
      <p:cxnSp>
        <p:nvCxnSpPr>
          <p:cNvPr id="3" name="Straight Arrow Connector 2"/>
          <p:cNvCxnSpPr>
            <a:endCxn id="132" idx="1"/>
          </p:cNvCxnSpPr>
          <p:nvPr/>
        </p:nvCxnSpPr>
        <p:spPr>
          <a:xfrm>
            <a:off x="4905376" y="3819479"/>
            <a:ext cx="1525587" cy="5396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/>
          <p:cNvCxnSpPr>
            <a:endCxn id="140" idx="1"/>
          </p:cNvCxnSpPr>
          <p:nvPr/>
        </p:nvCxnSpPr>
        <p:spPr>
          <a:xfrm flipH="1">
            <a:off x="6107113" y="4675616"/>
            <a:ext cx="405110" cy="6002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reeform 50"/>
          <p:cNvSpPr>
            <a:spLocks/>
          </p:cNvSpPr>
          <p:nvPr/>
        </p:nvSpPr>
        <p:spPr bwMode="auto">
          <a:xfrm>
            <a:off x="2389833" y="5835042"/>
            <a:ext cx="992188" cy="341312"/>
          </a:xfrm>
          <a:custGeom>
            <a:avLst/>
            <a:gdLst>
              <a:gd name="T0" fmla="*/ 0 w 625"/>
              <a:gd name="T1" fmla="*/ 278 h 279"/>
              <a:gd name="T2" fmla="*/ 0 w 625"/>
              <a:gd name="T3" fmla="*/ 0 h 279"/>
              <a:gd name="T4" fmla="*/ 624 w 625"/>
              <a:gd name="T5" fmla="*/ 0 h 279"/>
              <a:gd name="T6" fmla="*/ 624 w 625"/>
              <a:gd name="T7" fmla="*/ 278 h 279"/>
              <a:gd name="T8" fmla="*/ 0 w 625"/>
              <a:gd name="T9" fmla="*/ 278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5" h="279">
                <a:moveTo>
                  <a:pt x="0" y="278"/>
                </a:moveTo>
                <a:lnTo>
                  <a:pt x="0" y="0"/>
                </a:lnTo>
                <a:lnTo>
                  <a:pt x="624" y="0"/>
                </a:lnTo>
                <a:lnTo>
                  <a:pt x="624" y="278"/>
                </a:lnTo>
                <a:lnTo>
                  <a:pt x="0" y="27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Freeform 51"/>
          <p:cNvSpPr>
            <a:spLocks/>
          </p:cNvSpPr>
          <p:nvPr/>
        </p:nvSpPr>
        <p:spPr bwMode="auto">
          <a:xfrm>
            <a:off x="2885133" y="5849329"/>
            <a:ext cx="1588" cy="309506"/>
          </a:xfrm>
          <a:custGeom>
            <a:avLst/>
            <a:gdLst>
              <a:gd name="T0" fmla="*/ 0 w 1"/>
              <a:gd name="T1" fmla="*/ 0 h 253"/>
              <a:gd name="T2" fmla="*/ 0 w 1"/>
              <a:gd name="T3" fmla="*/ 252 h 253"/>
              <a:gd name="T4" fmla="*/ 0 w 1"/>
              <a:gd name="T5" fmla="*/ 0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3">
                <a:moveTo>
                  <a:pt x="0" y="0"/>
                </a:moveTo>
                <a:lnTo>
                  <a:pt x="0" y="25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Rectangle 76"/>
          <p:cNvSpPr>
            <a:spLocks noChangeArrowheads="1"/>
          </p:cNvSpPr>
          <p:nvPr/>
        </p:nvSpPr>
        <p:spPr bwMode="auto">
          <a:xfrm>
            <a:off x="2435871" y="5889017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23*</a:t>
            </a:r>
          </a:p>
        </p:txBody>
      </p:sp>
      <p:sp>
        <p:nvSpPr>
          <p:cNvPr id="75" name="Arc 87"/>
          <p:cNvSpPr>
            <a:spLocks/>
          </p:cNvSpPr>
          <p:nvPr/>
        </p:nvSpPr>
        <p:spPr bwMode="auto">
          <a:xfrm>
            <a:off x="2377603" y="5711226"/>
            <a:ext cx="152400" cy="14506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" name="Freeform 52"/>
          <p:cNvSpPr>
            <a:spLocks/>
          </p:cNvSpPr>
          <p:nvPr/>
        </p:nvSpPr>
        <p:spPr bwMode="auto">
          <a:xfrm>
            <a:off x="5103680" y="5856288"/>
            <a:ext cx="992188" cy="373856"/>
          </a:xfrm>
          <a:custGeom>
            <a:avLst/>
            <a:gdLst>
              <a:gd name="T0" fmla="*/ 0 w 625"/>
              <a:gd name="T1" fmla="*/ 278 h 279"/>
              <a:gd name="T2" fmla="*/ 0 w 625"/>
              <a:gd name="T3" fmla="*/ 0 h 279"/>
              <a:gd name="T4" fmla="*/ 624 w 625"/>
              <a:gd name="T5" fmla="*/ 0 h 279"/>
              <a:gd name="T6" fmla="*/ 624 w 625"/>
              <a:gd name="T7" fmla="*/ 278 h 279"/>
              <a:gd name="T8" fmla="*/ 0 w 625"/>
              <a:gd name="T9" fmla="*/ 278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5" h="279">
                <a:moveTo>
                  <a:pt x="0" y="278"/>
                </a:moveTo>
                <a:lnTo>
                  <a:pt x="0" y="0"/>
                </a:lnTo>
                <a:lnTo>
                  <a:pt x="624" y="0"/>
                </a:lnTo>
                <a:lnTo>
                  <a:pt x="624" y="278"/>
                </a:lnTo>
                <a:lnTo>
                  <a:pt x="0" y="27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" name="Freeform 53"/>
          <p:cNvSpPr>
            <a:spLocks/>
          </p:cNvSpPr>
          <p:nvPr/>
        </p:nvSpPr>
        <p:spPr bwMode="auto">
          <a:xfrm>
            <a:off x="5568818" y="5868988"/>
            <a:ext cx="1587" cy="351077"/>
          </a:xfrm>
          <a:custGeom>
            <a:avLst/>
            <a:gdLst>
              <a:gd name="T0" fmla="*/ 0 w 1"/>
              <a:gd name="T1" fmla="*/ 0 h 262"/>
              <a:gd name="T2" fmla="*/ 0 w 1"/>
              <a:gd name="T3" fmla="*/ 261 h 262"/>
              <a:gd name="T4" fmla="*/ 0 w 1"/>
              <a:gd name="T5" fmla="*/ 0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62">
                <a:moveTo>
                  <a:pt x="0" y="0"/>
                </a:moveTo>
                <a:lnTo>
                  <a:pt x="0" y="26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Rectangle 77"/>
          <p:cNvSpPr>
            <a:spLocks noChangeArrowheads="1"/>
          </p:cNvSpPr>
          <p:nvPr/>
        </p:nvSpPr>
        <p:spPr bwMode="auto">
          <a:xfrm>
            <a:off x="5162418" y="5897563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48*</a:t>
            </a:r>
          </a:p>
        </p:txBody>
      </p:sp>
      <p:sp>
        <p:nvSpPr>
          <p:cNvPr id="100" name="Rectangle 78"/>
          <p:cNvSpPr>
            <a:spLocks noChangeArrowheads="1"/>
          </p:cNvSpPr>
          <p:nvPr/>
        </p:nvSpPr>
        <p:spPr bwMode="auto">
          <a:xfrm>
            <a:off x="5591043" y="5881688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41*</a:t>
            </a:r>
          </a:p>
        </p:txBody>
      </p:sp>
      <p:sp>
        <p:nvSpPr>
          <p:cNvPr id="102" name="Arc 88"/>
          <p:cNvSpPr>
            <a:spLocks/>
          </p:cNvSpPr>
          <p:nvPr/>
        </p:nvSpPr>
        <p:spPr bwMode="auto">
          <a:xfrm>
            <a:off x="5071930" y="5711226"/>
            <a:ext cx="152400" cy="156174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" name="Arc 88"/>
          <p:cNvSpPr>
            <a:spLocks/>
          </p:cNvSpPr>
          <p:nvPr/>
        </p:nvSpPr>
        <p:spPr bwMode="auto">
          <a:xfrm>
            <a:off x="5079762" y="5715000"/>
            <a:ext cx="152400" cy="156174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5400" cap="rnd">
            <a:solidFill>
              <a:srgbClr val="FF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98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ISAM: Deleting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The appropriate page is determined as for a search, and the entry is deleted (</a:t>
            </a:r>
            <a:r>
              <a:rPr lang="en-US" sz="2600" i="1" dirty="0" smtClean="0"/>
              <a:t>with ONLY overflow pages removed when becoming empty</a:t>
            </a:r>
            <a:r>
              <a:rPr lang="en-US" sz="2600" dirty="0" smtClean="0"/>
              <a:t>)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Delete </a:t>
            </a:r>
            <a:r>
              <a:rPr lang="en-US" sz="2600" dirty="0" smtClean="0">
                <a:solidFill>
                  <a:srgbClr val="FF0000"/>
                </a:solidFill>
              </a:rPr>
              <a:t>51*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108" name="Freeform 6"/>
          <p:cNvSpPr>
            <a:spLocks/>
          </p:cNvSpPr>
          <p:nvPr/>
        </p:nvSpPr>
        <p:spPr bwMode="auto">
          <a:xfrm>
            <a:off x="1022350" y="5332877"/>
            <a:ext cx="1109663" cy="378349"/>
          </a:xfrm>
          <a:custGeom>
            <a:avLst/>
            <a:gdLst>
              <a:gd name="T0" fmla="*/ 0 w 699"/>
              <a:gd name="T1" fmla="*/ 311 h 312"/>
              <a:gd name="T2" fmla="*/ 0 w 699"/>
              <a:gd name="T3" fmla="*/ 0 h 312"/>
              <a:gd name="T4" fmla="*/ 698 w 699"/>
              <a:gd name="T5" fmla="*/ 0 h 312"/>
              <a:gd name="T6" fmla="*/ 698 w 699"/>
              <a:gd name="T7" fmla="*/ 311 h 312"/>
              <a:gd name="T8" fmla="*/ 0 w 699"/>
              <a:gd name="T9" fmla="*/ 311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9" h="312">
                <a:moveTo>
                  <a:pt x="0" y="311"/>
                </a:moveTo>
                <a:lnTo>
                  <a:pt x="0" y="0"/>
                </a:lnTo>
                <a:lnTo>
                  <a:pt x="698" y="0"/>
                </a:lnTo>
                <a:lnTo>
                  <a:pt x="698" y="311"/>
                </a:lnTo>
                <a:lnTo>
                  <a:pt x="0" y="31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Freeform 7"/>
          <p:cNvSpPr>
            <a:spLocks/>
          </p:cNvSpPr>
          <p:nvPr/>
        </p:nvSpPr>
        <p:spPr bwMode="auto">
          <a:xfrm>
            <a:off x="2376488" y="5332877"/>
            <a:ext cx="1111250" cy="378349"/>
          </a:xfrm>
          <a:custGeom>
            <a:avLst/>
            <a:gdLst>
              <a:gd name="T0" fmla="*/ 0 w 700"/>
              <a:gd name="T1" fmla="*/ 311 h 312"/>
              <a:gd name="T2" fmla="*/ 0 w 700"/>
              <a:gd name="T3" fmla="*/ 0 h 312"/>
              <a:gd name="T4" fmla="*/ 699 w 700"/>
              <a:gd name="T5" fmla="*/ 0 h 312"/>
              <a:gd name="T6" fmla="*/ 699 w 700"/>
              <a:gd name="T7" fmla="*/ 311 h 312"/>
              <a:gd name="T8" fmla="*/ 0 w 700"/>
              <a:gd name="T9" fmla="*/ 311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0" h="312">
                <a:moveTo>
                  <a:pt x="0" y="311"/>
                </a:moveTo>
                <a:lnTo>
                  <a:pt x="0" y="0"/>
                </a:lnTo>
                <a:lnTo>
                  <a:pt x="699" y="0"/>
                </a:lnTo>
                <a:lnTo>
                  <a:pt x="699" y="311"/>
                </a:lnTo>
                <a:lnTo>
                  <a:pt x="0" y="31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Freeform 8"/>
          <p:cNvSpPr>
            <a:spLocks/>
          </p:cNvSpPr>
          <p:nvPr/>
        </p:nvSpPr>
        <p:spPr bwMode="auto">
          <a:xfrm>
            <a:off x="3733800" y="5332877"/>
            <a:ext cx="1111250" cy="378349"/>
          </a:xfrm>
          <a:custGeom>
            <a:avLst/>
            <a:gdLst>
              <a:gd name="T0" fmla="*/ 0 w 700"/>
              <a:gd name="T1" fmla="*/ 311 h 312"/>
              <a:gd name="T2" fmla="*/ 0 w 700"/>
              <a:gd name="T3" fmla="*/ 0 h 312"/>
              <a:gd name="T4" fmla="*/ 699 w 700"/>
              <a:gd name="T5" fmla="*/ 0 h 312"/>
              <a:gd name="T6" fmla="*/ 699 w 700"/>
              <a:gd name="T7" fmla="*/ 311 h 312"/>
              <a:gd name="T8" fmla="*/ 0 w 700"/>
              <a:gd name="T9" fmla="*/ 311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0" h="312">
                <a:moveTo>
                  <a:pt x="0" y="311"/>
                </a:moveTo>
                <a:lnTo>
                  <a:pt x="0" y="0"/>
                </a:lnTo>
                <a:lnTo>
                  <a:pt x="699" y="0"/>
                </a:lnTo>
                <a:lnTo>
                  <a:pt x="699" y="311"/>
                </a:lnTo>
                <a:lnTo>
                  <a:pt x="0" y="31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Freeform 9"/>
          <p:cNvSpPr>
            <a:spLocks/>
          </p:cNvSpPr>
          <p:nvPr/>
        </p:nvSpPr>
        <p:spPr bwMode="auto">
          <a:xfrm>
            <a:off x="5091113" y="5332877"/>
            <a:ext cx="1109663" cy="378349"/>
          </a:xfrm>
          <a:custGeom>
            <a:avLst/>
            <a:gdLst>
              <a:gd name="T0" fmla="*/ 0 w 699"/>
              <a:gd name="T1" fmla="*/ 311 h 312"/>
              <a:gd name="T2" fmla="*/ 0 w 699"/>
              <a:gd name="T3" fmla="*/ 0 h 312"/>
              <a:gd name="T4" fmla="*/ 698 w 699"/>
              <a:gd name="T5" fmla="*/ 0 h 312"/>
              <a:gd name="T6" fmla="*/ 698 w 699"/>
              <a:gd name="T7" fmla="*/ 311 h 312"/>
              <a:gd name="T8" fmla="*/ 0 w 699"/>
              <a:gd name="T9" fmla="*/ 311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9" h="312">
                <a:moveTo>
                  <a:pt x="0" y="311"/>
                </a:moveTo>
                <a:lnTo>
                  <a:pt x="0" y="0"/>
                </a:lnTo>
                <a:lnTo>
                  <a:pt x="698" y="0"/>
                </a:lnTo>
                <a:lnTo>
                  <a:pt x="698" y="311"/>
                </a:lnTo>
                <a:lnTo>
                  <a:pt x="0" y="31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Freeform 10"/>
          <p:cNvSpPr>
            <a:spLocks/>
          </p:cNvSpPr>
          <p:nvPr/>
        </p:nvSpPr>
        <p:spPr bwMode="auto">
          <a:xfrm>
            <a:off x="6445250" y="5332877"/>
            <a:ext cx="1112838" cy="378349"/>
          </a:xfrm>
          <a:custGeom>
            <a:avLst/>
            <a:gdLst>
              <a:gd name="T0" fmla="*/ 0 w 701"/>
              <a:gd name="T1" fmla="*/ 311 h 312"/>
              <a:gd name="T2" fmla="*/ 0 w 701"/>
              <a:gd name="T3" fmla="*/ 0 h 312"/>
              <a:gd name="T4" fmla="*/ 700 w 701"/>
              <a:gd name="T5" fmla="*/ 0 h 312"/>
              <a:gd name="T6" fmla="*/ 700 w 701"/>
              <a:gd name="T7" fmla="*/ 311 h 312"/>
              <a:gd name="T8" fmla="*/ 0 w 701"/>
              <a:gd name="T9" fmla="*/ 311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1" h="312">
                <a:moveTo>
                  <a:pt x="0" y="311"/>
                </a:moveTo>
                <a:lnTo>
                  <a:pt x="0" y="0"/>
                </a:lnTo>
                <a:lnTo>
                  <a:pt x="700" y="0"/>
                </a:lnTo>
                <a:lnTo>
                  <a:pt x="700" y="311"/>
                </a:lnTo>
                <a:lnTo>
                  <a:pt x="0" y="31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Freeform 11"/>
          <p:cNvSpPr>
            <a:spLocks/>
          </p:cNvSpPr>
          <p:nvPr/>
        </p:nvSpPr>
        <p:spPr bwMode="auto">
          <a:xfrm>
            <a:off x="7800975" y="5332877"/>
            <a:ext cx="1114425" cy="378349"/>
          </a:xfrm>
          <a:custGeom>
            <a:avLst/>
            <a:gdLst>
              <a:gd name="T0" fmla="*/ 0 w 702"/>
              <a:gd name="T1" fmla="*/ 311 h 312"/>
              <a:gd name="T2" fmla="*/ 0 w 702"/>
              <a:gd name="T3" fmla="*/ 0 h 312"/>
              <a:gd name="T4" fmla="*/ 701 w 702"/>
              <a:gd name="T5" fmla="*/ 0 h 312"/>
              <a:gd name="T6" fmla="*/ 701 w 702"/>
              <a:gd name="T7" fmla="*/ 311 h 312"/>
              <a:gd name="T8" fmla="*/ 0 w 702"/>
              <a:gd name="T9" fmla="*/ 311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2" h="312">
                <a:moveTo>
                  <a:pt x="0" y="311"/>
                </a:moveTo>
                <a:lnTo>
                  <a:pt x="0" y="0"/>
                </a:lnTo>
                <a:lnTo>
                  <a:pt x="701" y="0"/>
                </a:lnTo>
                <a:lnTo>
                  <a:pt x="701" y="311"/>
                </a:lnTo>
                <a:lnTo>
                  <a:pt x="0" y="31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Freeform 12"/>
          <p:cNvSpPr>
            <a:spLocks/>
          </p:cNvSpPr>
          <p:nvPr/>
        </p:nvSpPr>
        <p:spPr bwMode="auto">
          <a:xfrm>
            <a:off x="2376488" y="4394279"/>
            <a:ext cx="1111250" cy="377137"/>
          </a:xfrm>
          <a:custGeom>
            <a:avLst/>
            <a:gdLst>
              <a:gd name="T0" fmla="*/ 0 w 700"/>
              <a:gd name="T1" fmla="*/ 310 h 311"/>
              <a:gd name="T2" fmla="*/ 0 w 700"/>
              <a:gd name="T3" fmla="*/ 0 h 311"/>
              <a:gd name="T4" fmla="*/ 699 w 700"/>
              <a:gd name="T5" fmla="*/ 0 h 311"/>
              <a:gd name="T6" fmla="*/ 699 w 700"/>
              <a:gd name="T7" fmla="*/ 310 h 311"/>
              <a:gd name="T8" fmla="*/ 0 w 700"/>
              <a:gd name="T9" fmla="*/ 310 h 3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0" h="311">
                <a:moveTo>
                  <a:pt x="0" y="310"/>
                </a:moveTo>
                <a:lnTo>
                  <a:pt x="0" y="0"/>
                </a:lnTo>
                <a:lnTo>
                  <a:pt x="699" y="0"/>
                </a:lnTo>
                <a:lnTo>
                  <a:pt x="699" y="310"/>
                </a:lnTo>
                <a:lnTo>
                  <a:pt x="0" y="31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Freeform 13"/>
          <p:cNvSpPr>
            <a:spLocks/>
          </p:cNvSpPr>
          <p:nvPr/>
        </p:nvSpPr>
        <p:spPr bwMode="auto">
          <a:xfrm>
            <a:off x="2503488" y="4394279"/>
            <a:ext cx="1588" cy="377137"/>
          </a:xfrm>
          <a:custGeom>
            <a:avLst/>
            <a:gdLst>
              <a:gd name="T0" fmla="*/ 0 w 1"/>
              <a:gd name="T1" fmla="*/ 0 h 311"/>
              <a:gd name="T2" fmla="*/ 0 w 1"/>
              <a:gd name="T3" fmla="*/ 310 h 311"/>
              <a:gd name="T4" fmla="*/ 0 w 1"/>
              <a:gd name="T5" fmla="*/ 0 h 3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11">
                <a:moveTo>
                  <a:pt x="0" y="0"/>
                </a:moveTo>
                <a:lnTo>
                  <a:pt x="0" y="31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Freeform 14"/>
          <p:cNvSpPr>
            <a:spLocks/>
          </p:cNvSpPr>
          <p:nvPr/>
        </p:nvSpPr>
        <p:spPr bwMode="auto">
          <a:xfrm>
            <a:off x="2870200" y="4394279"/>
            <a:ext cx="1588" cy="377137"/>
          </a:xfrm>
          <a:custGeom>
            <a:avLst/>
            <a:gdLst>
              <a:gd name="T0" fmla="*/ 0 w 1"/>
              <a:gd name="T1" fmla="*/ 0 h 311"/>
              <a:gd name="T2" fmla="*/ 0 w 1"/>
              <a:gd name="T3" fmla="*/ 310 h 311"/>
              <a:gd name="T4" fmla="*/ 0 w 1"/>
              <a:gd name="T5" fmla="*/ 0 h 3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11">
                <a:moveTo>
                  <a:pt x="0" y="0"/>
                </a:moveTo>
                <a:lnTo>
                  <a:pt x="0" y="31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Freeform 15"/>
          <p:cNvSpPr>
            <a:spLocks/>
          </p:cNvSpPr>
          <p:nvPr/>
        </p:nvSpPr>
        <p:spPr bwMode="auto">
          <a:xfrm>
            <a:off x="2994025" y="4394279"/>
            <a:ext cx="1588" cy="377137"/>
          </a:xfrm>
          <a:custGeom>
            <a:avLst/>
            <a:gdLst>
              <a:gd name="T0" fmla="*/ 0 w 1"/>
              <a:gd name="T1" fmla="*/ 0 h 311"/>
              <a:gd name="T2" fmla="*/ 0 w 1"/>
              <a:gd name="T3" fmla="*/ 310 h 311"/>
              <a:gd name="T4" fmla="*/ 0 w 1"/>
              <a:gd name="T5" fmla="*/ 0 h 3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11">
                <a:moveTo>
                  <a:pt x="0" y="0"/>
                </a:moveTo>
                <a:lnTo>
                  <a:pt x="0" y="31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Freeform 16"/>
          <p:cNvSpPr>
            <a:spLocks/>
          </p:cNvSpPr>
          <p:nvPr/>
        </p:nvSpPr>
        <p:spPr bwMode="auto">
          <a:xfrm>
            <a:off x="3365500" y="4394279"/>
            <a:ext cx="1588" cy="377137"/>
          </a:xfrm>
          <a:custGeom>
            <a:avLst/>
            <a:gdLst>
              <a:gd name="T0" fmla="*/ 0 w 1"/>
              <a:gd name="T1" fmla="*/ 0 h 311"/>
              <a:gd name="T2" fmla="*/ 0 w 1"/>
              <a:gd name="T3" fmla="*/ 310 h 311"/>
              <a:gd name="T4" fmla="*/ 0 w 1"/>
              <a:gd name="T5" fmla="*/ 0 h 3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11">
                <a:moveTo>
                  <a:pt x="0" y="0"/>
                </a:moveTo>
                <a:lnTo>
                  <a:pt x="0" y="31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Freeform 17"/>
          <p:cNvSpPr>
            <a:spLocks/>
          </p:cNvSpPr>
          <p:nvPr/>
        </p:nvSpPr>
        <p:spPr bwMode="auto">
          <a:xfrm>
            <a:off x="6445250" y="4394279"/>
            <a:ext cx="1112838" cy="377137"/>
          </a:xfrm>
          <a:custGeom>
            <a:avLst/>
            <a:gdLst>
              <a:gd name="T0" fmla="*/ 0 w 701"/>
              <a:gd name="T1" fmla="*/ 310 h 311"/>
              <a:gd name="T2" fmla="*/ 0 w 701"/>
              <a:gd name="T3" fmla="*/ 0 h 311"/>
              <a:gd name="T4" fmla="*/ 700 w 701"/>
              <a:gd name="T5" fmla="*/ 0 h 311"/>
              <a:gd name="T6" fmla="*/ 700 w 701"/>
              <a:gd name="T7" fmla="*/ 310 h 311"/>
              <a:gd name="T8" fmla="*/ 0 w 701"/>
              <a:gd name="T9" fmla="*/ 310 h 3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1" h="311">
                <a:moveTo>
                  <a:pt x="0" y="310"/>
                </a:moveTo>
                <a:lnTo>
                  <a:pt x="0" y="0"/>
                </a:lnTo>
                <a:lnTo>
                  <a:pt x="700" y="0"/>
                </a:lnTo>
                <a:lnTo>
                  <a:pt x="700" y="310"/>
                </a:lnTo>
                <a:lnTo>
                  <a:pt x="0" y="31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Freeform 18"/>
          <p:cNvSpPr>
            <a:spLocks/>
          </p:cNvSpPr>
          <p:nvPr/>
        </p:nvSpPr>
        <p:spPr bwMode="auto">
          <a:xfrm>
            <a:off x="6570663" y="4394279"/>
            <a:ext cx="1588" cy="377137"/>
          </a:xfrm>
          <a:custGeom>
            <a:avLst/>
            <a:gdLst>
              <a:gd name="T0" fmla="*/ 0 w 1"/>
              <a:gd name="T1" fmla="*/ 0 h 311"/>
              <a:gd name="T2" fmla="*/ 0 w 1"/>
              <a:gd name="T3" fmla="*/ 310 h 311"/>
              <a:gd name="T4" fmla="*/ 0 w 1"/>
              <a:gd name="T5" fmla="*/ 0 h 3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11">
                <a:moveTo>
                  <a:pt x="0" y="0"/>
                </a:moveTo>
                <a:lnTo>
                  <a:pt x="0" y="31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" name="Freeform 19"/>
          <p:cNvSpPr>
            <a:spLocks/>
          </p:cNvSpPr>
          <p:nvPr/>
        </p:nvSpPr>
        <p:spPr bwMode="auto">
          <a:xfrm>
            <a:off x="6938963" y="4394279"/>
            <a:ext cx="1588" cy="377137"/>
          </a:xfrm>
          <a:custGeom>
            <a:avLst/>
            <a:gdLst>
              <a:gd name="T0" fmla="*/ 0 w 1"/>
              <a:gd name="T1" fmla="*/ 0 h 311"/>
              <a:gd name="T2" fmla="*/ 0 w 1"/>
              <a:gd name="T3" fmla="*/ 310 h 311"/>
              <a:gd name="T4" fmla="*/ 0 w 1"/>
              <a:gd name="T5" fmla="*/ 0 h 3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11">
                <a:moveTo>
                  <a:pt x="0" y="0"/>
                </a:moveTo>
                <a:lnTo>
                  <a:pt x="0" y="31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Freeform 20"/>
          <p:cNvSpPr>
            <a:spLocks/>
          </p:cNvSpPr>
          <p:nvPr/>
        </p:nvSpPr>
        <p:spPr bwMode="auto">
          <a:xfrm>
            <a:off x="7062788" y="4394279"/>
            <a:ext cx="1588" cy="377137"/>
          </a:xfrm>
          <a:custGeom>
            <a:avLst/>
            <a:gdLst>
              <a:gd name="T0" fmla="*/ 0 w 1"/>
              <a:gd name="T1" fmla="*/ 0 h 311"/>
              <a:gd name="T2" fmla="*/ 0 w 1"/>
              <a:gd name="T3" fmla="*/ 310 h 311"/>
              <a:gd name="T4" fmla="*/ 0 w 1"/>
              <a:gd name="T5" fmla="*/ 0 h 3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11">
                <a:moveTo>
                  <a:pt x="0" y="0"/>
                </a:moveTo>
                <a:lnTo>
                  <a:pt x="0" y="31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" name="Freeform 21"/>
          <p:cNvSpPr>
            <a:spLocks/>
          </p:cNvSpPr>
          <p:nvPr/>
        </p:nvSpPr>
        <p:spPr bwMode="auto">
          <a:xfrm>
            <a:off x="7432675" y="4394279"/>
            <a:ext cx="1588" cy="377137"/>
          </a:xfrm>
          <a:custGeom>
            <a:avLst/>
            <a:gdLst>
              <a:gd name="T0" fmla="*/ 0 w 1"/>
              <a:gd name="T1" fmla="*/ 0 h 311"/>
              <a:gd name="T2" fmla="*/ 0 w 1"/>
              <a:gd name="T3" fmla="*/ 310 h 311"/>
              <a:gd name="T4" fmla="*/ 0 w 1"/>
              <a:gd name="T5" fmla="*/ 0 h 3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11">
                <a:moveTo>
                  <a:pt x="0" y="0"/>
                </a:moveTo>
                <a:lnTo>
                  <a:pt x="0" y="31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" name="Freeform 22"/>
          <p:cNvSpPr>
            <a:spLocks/>
          </p:cNvSpPr>
          <p:nvPr/>
        </p:nvSpPr>
        <p:spPr bwMode="auto">
          <a:xfrm>
            <a:off x="4349750" y="3547843"/>
            <a:ext cx="1111250" cy="378349"/>
          </a:xfrm>
          <a:custGeom>
            <a:avLst/>
            <a:gdLst>
              <a:gd name="T0" fmla="*/ 0 w 700"/>
              <a:gd name="T1" fmla="*/ 311 h 312"/>
              <a:gd name="T2" fmla="*/ 0 w 700"/>
              <a:gd name="T3" fmla="*/ 0 h 312"/>
              <a:gd name="T4" fmla="*/ 699 w 700"/>
              <a:gd name="T5" fmla="*/ 0 h 312"/>
              <a:gd name="T6" fmla="*/ 699 w 700"/>
              <a:gd name="T7" fmla="*/ 311 h 312"/>
              <a:gd name="T8" fmla="*/ 0 w 700"/>
              <a:gd name="T9" fmla="*/ 311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0" h="312">
                <a:moveTo>
                  <a:pt x="0" y="311"/>
                </a:moveTo>
                <a:lnTo>
                  <a:pt x="0" y="0"/>
                </a:lnTo>
                <a:lnTo>
                  <a:pt x="699" y="0"/>
                </a:lnTo>
                <a:lnTo>
                  <a:pt x="699" y="311"/>
                </a:lnTo>
                <a:lnTo>
                  <a:pt x="0" y="31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" name="Freeform 23"/>
          <p:cNvSpPr>
            <a:spLocks/>
          </p:cNvSpPr>
          <p:nvPr/>
        </p:nvSpPr>
        <p:spPr bwMode="auto">
          <a:xfrm>
            <a:off x="4473575" y="3547843"/>
            <a:ext cx="1588" cy="378349"/>
          </a:xfrm>
          <a:custGeom>
            <a:avLst/>
            <a:gdLst>
              <a:gd name="T0" fmla="*/ 0 w 1"/>
              <a:gd name="T1" fmla="*/ 0 h 312"/>
              <a:gd name="T2" fmla="*/ 0 w 1"/>
              <a:gd name="T3" fmla="*/ 311 h 312"/>
              <a:gd name="T4" fmla="*/ 0 w 1"/>
              <a:gd name="T5" fmla="*/ 0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12">
                <a:moveTo>
                  <a:pt x="0" y="0"/>
                </a:moveTo>
                <a:lnTo>
                  <a:pt x="0" y="31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" name="Freeform 24"/>
          <p:cNvSpPr>
            <a:spLocks/>
          </p:cNvSpPr>
          <p:nvPr/>
        </p:nvSpPr>
        <p:spPr bwMode="auto">
          <a:xfrm>
            <a:off x="4843463" y="3547843"/>
            <a:ext cx="1588" cy="378349"/>
          </a:xfrm>
          <a:custGeom>
            <a:avLst/>
            <a:gdLst>
              <a:gd name="T0" fmla="*/ 0 w 1"/>
              <a:gd name="T1" fmla="*/ 0 h 312"/>
              <a:gd name="T2" fmla="*/ 0 w 1"/>
              <a:gd name="T3" fmla="*/ 311 h 312"/>
              <a:gd name="T4" fmla="*/ 0 w 1"/>
              <a:gd name="T5" fmla="*/ 0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12">
                <a:moveTo>
                  <a:pt x="0" y="0"/>
                </a:moveTo>
                <a:lnTo>
                  <a:pt x="0" y="31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7" name="Freeform 25"/>
          <p:cNvSpPr>
            <a:spLocks/>
          </p:cNvSpPr>
          <p:nvPr/>
        </p:nvSpPr>
        <p:spPr bwMode="auto">
          <a:xfrm>
            <a:off x="4967288" y="3547843"/>
            <a:ext cx="1588" cy="378349"/>
          </a:xfrm>
          <a:custGeom>
            <a:avLst/>
            <a:gdLst>
              <a:gd name="T0" fmla="*/ 0 w 1"/>
              <a:gd name="T1" fmla="*/ 0 h 312"/>
              <a:gd name="T2" fmla="*/ 0 w 1"/>
              <a:gd name="T3" fmla="*/ 311 h 312"/>
              <a:gd name="T4" fmla="*/ 0 w 1"/>
              <a:gd name="T5" fmla="*/ 0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12">
                <a:moveTo>
                  <a:pt x="0" y="0"/>
                </a:moveTo>
                <a:lnTo>
                  <a:pt x="0" y="31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" name="Freeform 26"/>
          <p:cNvSpPr>
            <a:spLocks/>
          </p:cNvSpPr>
          <p:nvPr/>
        </p:nvSpPr>
        <p:spPr bwMode="auto">
          <a:xfrm>
            <a:off x="5337175" y="3547843"/>
            <a:ext cx="1588" cy="378349"/>
          </a:xfrm>
          <a:custGeom>
            <a:avLst/>
            <a:gdLst>
              <a:gd name="T0" fmla="*/ 0 w 1"/>
              <a:gd name="T1" fmla="*/ 0 h 312"/>
              <a:gd name="T2" fmla="*/ 0 w 1"/>
              <a:gd name="T3" fmla="*/ 311 h 312"/>
              <a:gd name="T4" fmla="*/ 0 w 1"/>
              <a:gd name="T5" fmla="*/ 0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12">
                <a:moveTo>
                  <a:pt x="0" y="0"/>
                </a:moveTo>
                <a:lnTo>
                  <a:pt x="0" y="31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" name="Freeform 27"/>
          <p:cNvSpPr>
            <a:spLocks/>
          </p:cNvSpPr>
          <p:nvPr/>
        </p:nvSpPr>
        <p:spPr bwMode="auto">
          <a:xfrm>
            <a:off x="3486150" y="3842519"/>
            <a:ext cx="912813" cy="506891"/>
          </a:xfrm>
          <a:custGeom>
            <a:avLst/>
            <a:gdLst>
              <a:gd name="T0" fmla="*/ 574 w 575"/>
              <a:gd name="T1" fmla="*/ 0 h 418"/>
              <a:gd name="T2" fmla="*/ 0 w 575"/>
              <a:gd name="T3" fmla="*/ 417 h 418"/>
              <a:gd name="T4" fmla="*/ 574 w 575"/>
              <a:gd name="T5" fmla="*/ 0 h 4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75" h="418">
                <a:moveTo>
                  <a:pt x="574" y="0"/>
                </a:moveTo>
                <a:lnTo>
                  <a:pt x="0" y="417"/>
                </a:lnTo>
                <a:lnTo>
                  <a:pt x="574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Freeform 28"/>
          <p:cNvSpPr>
            <a:spLocks/>
          </p:cNvSpPr>
          <p:nvPr/>
        </p:nvSpPr>
        <p:spPr bwMode="auto">
          <a:xfrm>
            <a:off x="3486150" y="4254823"/>
            <a:ext cx="149225" cy="94587"/>
          </a:xfrm>
          <a:custGeom>
            <a:avLst/>
            <a:gdLst>
              <a:gd name="T0" fmla="*/ 93 w 94"/>
              <a:gd name="T1" fmla="*/ 39 h 78"/>
              <a:gd name="T2" fmla="*/ 0 w 94"/>
              <a:gd name="T3" fmla="*/ 77 h 78"/>
              <a:gd name="T4" fmla="*/ 65 w 94"/>
              <a:gd name="T5" fmla="*/ 0 h 78"/>
              <a:gd name="T6" fmla="*/ 93 w 94"/>
              <a:gd name="T7" fmla="*/ 39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4" h="78">
                <a:moveTo>
                  <a:pt x="93" y="39"/>
                </a:moveTo>
                <a:lnTo>
                  <a:pt x="0" y="77"/>
                </a:lnTo>
                <a:lnTo>
                  <a:pt x="65" y="0"/>
                </a:lnTo>
                <a:lnTo>
                  <a:pt x="93" y="3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" name="Freeform 29"/>
          <p:cNvSpPr>
            <a:spLocks/>
          </p:cNvSpPr>
          <p:nvPr/>
        </p:nvSpPr>
        <p:spPr bwMode="auto">
          <a:xfrm>
            <a:off x="4891088" y="3818266"/>
            <a:ext cx="1541463" cy="542058"/>
          </a:xfrm>
          <a:custGeom>
            <a:avLst/>
            <a:gdLst>
              <a:gd name="T0" fmla="*/ 0 w 971"/>
              <a:gd name="T1" fmla="*/ 0 h 447"/>
              <a:gd name="T2" fmla="*/ 970 w 971"/>
              <a:gd name="T3" fmla="*/ 446 h 447"/>
              <a:gd name="T4" fmla="*/ 0 w 971"/>
              <a:gd name="T5" fmla="*/ 0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71" h="447">
                <a:moveTo>
                  <a:pt x="0" y="0"/>
                </a:moveTo>
                <a:lnTo>
                  <a:pt x="970" y="446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Freeform 30"/>
          <p:cNvSpPr>
            <a:spLocks/>
          </p:cNvSpPr>
          <p:nvPr/>
        </p:nvSpPr>
        <p:spPr bwMode="auto">
          <a:xfrm>
            <a:off x="6273800" y="4283927"/>
            <a:ext cx="158750" cy="76397"/>
          </a:xfrm>
          <a:custGeom>
            <a:avLst/>
            <a:gdLst>
              <a:gd name="T0" fmla="*/ 21 w 100"/>
              <a:gd name="T1" fmla="*/ 0 h 63"/>
              <a:gd name="T2" fmla="*/ 99 w 100"/>
              <a:gd name="T3" fmla="*/ 62 h 63"/>
              <a:gd name="T4" fmla="*/ 0 w 100"/>
              <a:gd name="T5" fmla="*/ 44 h 63"/>
              <a:gd name="T6" fmla="*/ 21 w 100"/>
              <a:gd name="T7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" h="63">
                <a:moveTo>
                  <a:pt x="21" y="0"/>
                </a:moveTo>
                <a:lnTo>
                  <a:pt x="99" y="62"/>
                </a:lnTo>
                <a:lnTo>
                  <a:pt x="0" y="44"/>
                </a:lnTo>
                <a:lnTo>
                  <a:pt x="21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" name="Freeform 31"/>
          <p:cNvSpPr>
            <a:spLocks/>
          </p:cNvSpPr>
          <p:nvPr/>
        </p:nvSpPr>
        <p:spPr bwMode="auto">
          <a:xfrm>
            <a:off x="2008188" y="4710783"/>
            <a:ext cx="431800" cy="589352"/>
          </a:xfrm>
          <a:custGeom>
            <a:avLst/>
            <a:gdLst>
              <a:gd name="T0" fmla="*/ 271 w 272"/>
              <a:gd name="T1" fmla="*/ 0 h 486"/>
              <a:gd name="T2" fmla="*/ 0 w 272"/>
              <a:gd name="T3" fmla="*/ 485 h 486"/>
              <a:gd name="T4" fmla="*/ 271 w 272"/>
              <a:gd name="T5" fmla="*/ 0 h 4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2" h="486">
                <a:moveTo>
                  <a:pt x="271" y="0"/>
                </a:moveTo>
                <a:lnTo>
                  <a:pt x="0" y="485"/>
                </a:lnTo>
                <a:lnTo>
                  <a:pt x="271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" name="Freeform 32"/>
          <p:cNvSpPr>
            <a:spLocks/>
          </p:cNvSpPr>
          <p:nvPr/>
        </p:nvSpPr>
        <p:spPr bwMode="auto">
          <a:xfrm>
            <a:off x="2008188" y="5181294"/>
            <a:ext cx="109538" cy="118841"/>
          </a:xfrm>
          <a:custGeom>
            <a:avLst/>
            <a:gdLst>
              <a:gd name="T0" fmla="*/ 68 w 69"/>
              <a:gd name="T1" fmla="*/ 25 h 98"/>
              <a:gd name="T2" fmla="*/ 0 w 69"/>
              <a:gd name="T3" fmla="*/ 97 h 98"/>
              <a:gd name="T4" fmla="*/ 26 w 69"/>
              <a:gd name="T5" fmla="*/ 0 h 98"/>
              <a:gd name="T6" fmla="*/ 68 w 69"/>
              <a:gd name="T7" fmla="*/ 25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9" h="98">
                <a:moveTo>
                  <a:pt x="68" y="25"/>
                </a:moveTo>
                <a:lnTo>
                  <a:pt x="0" y="97"/>
                </a:lnTo>
                <a:lnTo>
                  <a:pt x="26" y="0"/>
                </a:lnTo>
                <a:lnTo>
                  <a:pt x="68" y="2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" name="Freeform 33"/>
          <p:cNvSpPr>
            <a:spLocks/>
          </p:cNvSpPr>
          <p:nvPr/>
        </p:nvSpPr>
        <p:spPr bwMode="auto">
          <a:xfrm>
            <a:off x="2932113" y="4687742"/>
            <a:ext cx="1588" cy="612393"/>
          </a:xfrm>
          <a:custGeom>
            <a:avLst/>
            <a:gdLst>
              <a:gd name="T0" fmla="*/ 0 w 1"/>
              <a:gd name="T1" fmla="*/ 0 h 505"/>
              <a:gd name="T2" fmla="*/ 0 w 1"/>
              <a:gd name="T3" fmla="*/ 504 h 505"/>
              <a:gd name="T4" fmla="*/ 0 w 1"/>
              <a:gd name="T5" fmla="*/ 0 h 5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505">
                <a:moveTo>
                  <a:pt x="0" y="0"/>
                </a:moveTo>
                <a:lnTo>
                  <a:pt x="0" y="504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" name="Freeform 34"/>
          <p:cNvSpPr>
            <a:spLocks/>
          </p:cNvSpPr>
          <p:nvPr/>
        </p:nvSpPr>
        <p:spPr bwMode="auto">
          <a:xfrm>
            <a:off x="2894013" y="5181294"/>
            <a:ext cx="79375" cy="118841"/>
          </a:xfrm>
          <a:custGeom>
            <a:avLst/>
            <a:gdLst>
              <a:gd name="T0" fmla="*/ 49 w 50"/>
              <a:gd name="T1" fmla="*/ 0 h 98"/>
              <a:gd name="T2" fmla="*/ 24 w 50"/>
              <a:gd name="T3" fmla="*/ 97 h 98"/>
              <a:gd name="T4" fmla="*/ 0 w 50"/>
              <a:gd name="T5" fmla="*/ 0 h 98"/>
              <a:gd name="T6" fmla="*/ 49 w 50"/>
              <a:gd name="T7" fmla="*/ 0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0" h="98">
                <a:moveTo>
                  <a:pt x="49" y="0"/>
                </a:moveTo>
                <a:lnTo>
                  <a:pt x="24" y="97"/>
                </a:lnTo>
                <a:lnTo>
                  <a:pt x="0" y="0"/>
                </a:lnTo>
                <a:lnTo>
                  <a:pt x="49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" name="Freeform 35"/>
          <p:cNvSpPr>
            <a:spLocks/>
          </p:cNvSpPr>
          <p:nvPr/>
        </p:nvSpPr>
        <p:spPr bwMode="auto">
          <a:xfrm>
            <a:off x="3425825" y="4664702"/>
            <a:ext cx="339725" cy="623306"/>
          </a:xfrm>
          <a:custGeom>
            <a:avLst/>
            <a:gdLst>
              <a:gd name="T0" fmla="*/ 0 w 214"/>
              <a:gd name="T1" fmla="*/ 0 h 514"/>
              <a:gd name="T2" fmla="*/ 213 w 214"/>
              <a:gd name="T3" fmla="*/ 513 h 514"/>
              <a:gd name="T4" fmla="*/ 0 w 214"/>
              <a:gd name="T5" fmla="*/ 0 h 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4" h="514">
                <a:moveTo>
                  <a:pt x="0" y="0"/>
                </a:moveTo>
                <a:lnTo>
                  <a:pt x="213" y="513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" name="Freeform 36"/>
          <p:cNvSpPr>
            <a:spLocks/>
          </p:cNvSpPr>
          <p:nvPr/>
        </p:nvSpPr>
        <p:spPr bwMode="auto">
          <a:xfrm>
            <a:off x="3670300" y="5166742"/>
            <a:ext cx="95250" cy="121266"/>
          </a:xfrm>
          <a:custGeom>
            <a:avLst/>
            <a:gdLst>
              <a:gd name="T0" fmla="*/ 45 w 60"/>
              <a:gd name="T1" fmla="*/ 0 h 100"/>
              <a:gd name="T2" fmla="*/ 59 w 60"/>
              <a:gd name="T3" fmla="*/ 99 h 100"/>
              <a:gd name="T4" fmla="*/ 0 w 60"/>
              <a:gd name="T5" fmla="*/ 18 h 100"/>
              <a:gd name="T6" fmla="*/ 45 w 60"/>
              <a:gd name="T7" fmla="*/ 0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0" h="100">
                <a:moveTo>
                  <a:pt x="45" y="0"/>
                </a:moveTo>
                <a:lnTo>
                  <a:pt x="59" y="99"/>
                </a:lnTo>
                <a:lnTo>
                  <a:pt x="0" y="18"/>
                </a:lnTo>
                <a:lnTo>
                  <a:pt x="45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" name="Freeform 37"/>
          <p:cNvSpPr>
            <a:spLocks/>
          </p:cNvSpPr>
          <p:nvPr/>
        </p:nvSpPr>
        <p:spPr bwMode="auto">
          <a:xfrm>
            <a:off x="6107113" y="4675616"/>
            <a:ext cx="403225" cy="601479"/>
          </a:xfrm>
          <a:custGeom>
            <a:avLst/>
            <a:gdLst>
              <a:gd name="T0" fmla="*/ 253 w 254"/>
              <a:gd name="T1" fmla="*/ 0 h 496"/>
              <a:gd name="T2" fmla="*/ 0 w 254"/>
              <a:gd name="T3" fmla="*/ 495 h 496"/>
              <a:gd name="T4" fmla="*/ 253 w 254"/>
              <a:gd name="T5" fmla="*/ 0 h 4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54" h="496">
                <a:moveTo>
                  <a:pt x="253" y="0"/>
                </a:moveTo>
                <a:lnTo>
                  <a:pt x="0" y="495"/>
                </a:lnTo>
                <a:lnTo>
                  <a:pt x="253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" name="Freeform 38"/>
          <p:cNvSpPr>
            <a:spLocks/>
          </p:cNvSpPr>
          <p:nvPr/>
        </p:nvSpPr>
        <p:spPr bwMode="auto">
          <a:xfrm>
            <a:off x="6107113" y="5158254"/>
            <a:ext cx="106363" cy="118841"/>
          </a:xfrm>
          <a:custGeom>
            <a:avLst/>
            <a:gdLst>
              <a:gd name="T0" fmla="*/ 66 w 67"/>
              <a:gd name="T1" fmla="*/ 21 h 98"/>
              <a:gd name="T2" fmla="*/ 0 w 67"/>
              <a:gd name="T3" fmla="*/ 97 h 98"/>
              <a:gd name="T4" fmla="*/ 23 w 67"/>
              <a:gd name="T5" fmla="*/ 0 h 98"/>
              <a:gd name="T6" fmla="*/ 66 w 67"/>
              <a:gd name="T7" fmla="*/ 21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7" h="98">
                <a:moveTo>
                  <a:pt x="66" y="21"/>
                </a:moveTo>
                <a:lnTo>
                  <a:pt x="0" y="97"/>
                </a:lnTo>
                <a:lnTo>
                  <a:pt x="23" y="0"/>
                </a:lnTo>
                <a:lnTo>
                  <a:pt x="66" y="2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1" name="Freeform 39"/>
          <p:cNvSpPr>
            <a:spLocks/>
          </p:cNvSpPr>
          <p:nvPr/>
        </p:nvSpPr>
        <p:spPr bwMode="auto">
          <a:xfrm>
            <a:off x="7000875" y="4687742"/>
            <a:ext cx="1588" cy="577225"/>
          </a:xfrm>
          <a:custGeom>
            <a:avLst/>
            <a:gdLst>
              <a:gd name="T0" fmla="*/ 0 w 1"/>
              <a:gd name="T1" fmla="*/ 0 h 476"/>
              <a:gd name="T2" fmla="*/ 0 w 1"/>
              <a:gd name="T3" fmla="*/ 475 h 476"/>
              <a:gd name="T4" fmla="*/ 0 w 1"/>
              <a:gd name="T5" fmla="*/ 0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476">
                <a:moveTo>
                  <a:pt x="0" y="0"/>
                </a:moveTo>
                <a:lnTo>
                  <a:pt x="0" y="47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2" name="Freeform 40"/>
          <p:cNvSpPr>
            <a:spLocks/>
          </p:cNvSpPr>
          <p:nvPr/>
        </p:nvSpPr>
        <p:spPr bwMode="auto">
          <a:xfrm>
            <a:off x="6962775" y="5146127"/>
            <a:ext cx="77788" cy="118841"/>
          </a:xfrm>
          <a:custGeom>
            <a:avLst/>
            <a:gdLst>
              <a:gd name="T0" fmla="*/ 48 w 49"/>
              <a:gd name="T1" fmla="*/ 0 h 98"/>
              <a:gd name="T2" fmla="*/ 24 w 49"/>
              <a:gd name="T3" fmla="*/ 97 h 98"/>
              <a:gd name="T4" fmla="*/ 0 w 49"/>
              <a:gd name="T5" fmla="*/ 0 h 98"/>
              <a:gd name="T6" fmla="*/ 48 w 49"/>
              <a:gd name="T7" fmla="*/ 0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9" h="98">
                <a:moveTo>
                  <a:pt x="48" y="0"/>
                </a:moveTo>
                <a:lnTo>
                  <a:pt x="24" y="97"/>
                </a:lnTo>
                <a:lnTo>
                  <a:pt x="0" y="0"/>
                </a:lnTo>
                <a:lnTo>
                  <a:pt x="48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" name="Freeform 41"/>
          <p:cNvSpPr>
            <a:spLocks/>
          </p:cNvSpPr>
          <p:nvPr/>
        </p:nvSpPr>
        <p:spPr bwMode="auto">
          <a:xfrm>
            <a:off x="7494588" y="4698656"/>
            <a:ext cx="401638" cy="578438"/>
          </a:xfrm>
          <a:custGeom>
            <a:avLst/>
            <a:gdLst>
              <a:gd name="T0" fmla="*/ 0 w 253"/>
              <a:gd name="T1" fmla="*/ 0 h 477"/>
              <a:gd name="T2" fmla="*/ 252 w 253"/>
              <a:gd name="T3" fmla="*/ 476 h 477"/>
              <a:gd name="T4" fmla="*/ 0 w 253"/>
              <a:gd name="T5" fmla="*/ 0 h 4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53" h="477">
                <a:moveTo>
                  <a:pt x="0" y="0"/>
                </a:moveTo>
                <a:lnTo>
                  <a:pt x="252" y="476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" name="Freeform 42"/>
          <p:cNvSpPr>
            <a:spLocks/>
          </p:cNvSpPr>
          <p:nvPr/>
        </p:nvSpPr>
        <p:spPr bwMode="auto">
          <a:xfrm>
            <a:off x="7789863" y="5158254"/>
            <a:ext cx="106363" cy="118841"/>
          </a:xfrm>
          <a:custGeom>
            <a:avLst/>
            <a:gdLst>
              <a:gd name="T0" fmla="*/ 42 w 67"/>
              <a:gd name="T1" fmla="*/ 0 h 98"/>
              <a:gd name="T2" fmla="*/ 66 w 67"/>
              <a:gd name="T3" fmla="*/ 97 h 98"/>
              <a:gd name="T4" fmla="*/ 0 w 67"/>
              <a:gd name="T5" fmla="*/ 22 h 98"/>
              <a:gd name="T6" fmla="*/ 42 w 67"/>
              <a:gd name="T7" fmla="*/ 0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7" h="98">
                <a:moveTo>
                  <a:pt x="42" y="0"/>
                </a:moveTo>
                <a:lnTo>
                  <a:pt x="66" y="97"/>
                </a:lnTo>
                <a:lnTo>
                  <a:pt x="0" y="22"/>
                </a:lnTo>
                <a:lnTo>
                  <a:pt x="42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5" name="Freeform 43"/>
          <p:cNvSpPr>
            <a:spLocks/>
          </p:cNvSpPr>
          <p:nvPr/>
        </p:nvSpPr>
        <p:spPr bwMode="auto">
          <a:xfrm>
            <a:off x="1576388" y="5345003"/>
            <a:ext cx="1588" cy="343182"/>
          </a:xfrm>
          <a:custGeom>
            <a:avLst/>
            <a:gdLst>
              <a:gd name="T0" fmla="*/ 0 w 1"/>
              <a:gd name="T1" fmla="*/ 0 h 283"/>
              <a:gd name="T2" fmla="*/ 0 w 1"/>
              <a:gd name="T3" fmla="*/ 282 h 283"/>
              <a:gd name="T4" fmla="*/ 0 w 1"/>
              <a:gd name="T5" fmla="*/ 0 h 2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83">
                <a:moveTo>
                  <a:pt x="0" y="0"/>
                </a:moveTo>
                <a:lnTo>
                  <a:pt x="0" y="28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6" name="Freeform 44"/>
          <p:cNvSpPr>
            <a:spLocks/>
          </p:cNvSpPr>
          <p:nvPr/>
        </p:nvSpPr>
        <p:spPr bwMode="auto">
          <a:xfrm>
            <a:off x="2949575" y="5332877"/>
            <a:ext cx="1588" cy="355309"/>
          </a:xfrm>
          <a:custGeom>
            <a:avLst/>
            <a:gdLst>
              <a:gd name="T0" fmla="*/ 0 w 1"/>
              <a:gd name="T1" fmla="*/ 0 h 293"/>
              <a:gd name="T2" fmla="*/ 0 w 1"/>
              <a:gd name="T3" fmla="*/ 292 h 293"/>
              <a:gd name="T4" fmla="*/ 0 w 1"/>
              <a:gd name="T5" fmla="*/ 0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3">
                <a:moveTo>
                  <a:pt x="0" y="0"/>
                </a:moveTo>
                <a:lnTo>
                  <a:pt x="0" y="29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7" name="Freeform 45"/>
          <p:cNvSpPr>
            <a:spLocks/>
          </p:cNvSpPr>
          <p:nvPr/>
        </p:nvSpPr>
        <p:spPr bwMode="auto">
          <a:xfrm>
            <a:off x="4289425" y="5332877"/>
            <a:ext cx="1588" cy="366223"/>
          </a:xfrm>
          <a:custGeom>
            <a:avLst/>
            <a:gdLst>
              <a:gd name="T0" fmla="*/ 0 w 1"/>
              <a:gd name="T1" fmla="*/ 0 h 302"/>
              <a:gd name="T2" fmla="*/ 0 w 1"/>
              <a:gd name="T3" fmla="*/ 301 h 302"/>
              <a:gd name="T4" fmla="*/ 0 w 1"/>
              <a:gd name="T5" fmla="*/ 0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02">
                <a:moveTo>
                  <a:pt x="0" y="0"/>
                </a:moveTo>
                <a:lnTo>
                  <a:pt x="0" y="30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8" name="Freeform 46"/>
          <p:cNvSpPr>
            <a:spLocks/>
          </p:cNvSpPr>
          <p:nvPr/>
        </p:nvSpPr>
        <p:spPr bwMode="auto">
          <a:xfrm>
            <a:off x="5627688" y="5345003"/>
            <a:ext cx="1588" cy="331056"/>
          </a:xfrm>
          <a:custGeom>
            <a:avLst/>
            <a:gdLst>
              <a:gd name="T0" fmla="*/ 0 w 1"/>
              <a:gd name="T1" fmla="*/ 0 h 273"/>
              <a:gd name="T2" fmla="*/ 0 w 1"/>
              <a:gd name="T3" fmla="*/ 272 h 273"/>
              <a:gd name="T4" fmla="*/ 0 w 1"/>
              <a:gd name="T5" fmla="*/ 0 h 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73">
                <a:moveTo>
                  <a:pt x="0" y="0"/>
                </a:moveTo>
                <a:lnTo>
                  <a:pt x="0" y="27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9" name="Freeform 47"/>
          <p:cNvSpPr>
            <a:spLocks/>
          </p:cNvSpPr>
          <p:nvPr/>
        </p:nvSpPr>
        <p:spPr bwMode="auto">
          <a:xfrm>
            <a:off x="6986588" y="5345003"/>
            <a:ext cx="1588" cy="354096"/>
          </a:xfrm>
          <a:custGeom>
            <a:avLst/>
            <a:gdLst>
              <a:gd name="T0" fmla="*/ 0 w 1"/>
              <a:gd name="T1" fmla="*/ 0 h 292"/>
              <a:gd name="T2" fmla="*/ 0 w 1"/>
              <a:gd name="T3" fmla="*/ 291 h 292"/>
              <a:gd name="T4" fmla="*/ 0 w 1"/>
              <a:gd name="T5" fmla="*/ 0 h 2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2">
                <a:moveTo>
                  <a:pt x="0" y="0"/>
                </a:moveTo>
                <a:lnTo>
                  <a:pt x="0" y="29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" name="Freeform 48"/>
          <p:cNvSpPr>
            <a:spLocks/>
          </p:cNvSpPr>
          <p:nvPr/>
        </p:nvSpPr>
        <p:spPr bwMode="auto">
          <a:xfrm>
            <a:off x="8326438" y="5345003"/>
            <a:ext cx="1588" cy="354096"/>
          </a:xfrm>
          <a:custGeom>
            <a:avLst/>
            <a:gdLst>
              <a:gd name="T0" fmla="*/ 0 w 1"/>
              <a:gd name="T1" fmla="*/ 0 h 292"/>
              <a:gd name="T2" fmla="*/ 0 w 1"/>
              <a:gd name="T3" fmla="*/ 291 h 292"/>
              <a:gd name="T4" fmla="*/ 0 w 1"/>
              <a:gd name="T5" fmla="*/ 0 h 2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2">
                <a:moveTo>
                  <a:pt x="0" y="0"/>
                </a:moveTo>
                <a:lnTo>
                  <a:pt x="0" y="29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" name="Freeform 49"/>
          <p:cNvSpPr>
            <a:spLocks/>
          </p:cNvSpPr>
          <p:nvPr/>
        </p:nvSpPr>
        <p:spPr bwMode="auto">
          <a:xfrm>
            <a:off x="3871913" y="3430215"/>
            <a:ext cx="403225" cy="94587"/>
          </a:xfrm>
          <a:custGeom>
            <a:avLst/>
            <a:gdLst>
              <a:gd name="T0" fmla="*/ 0 w 254"/>
              <a:gd name="T1" fmla="*/ 0 h 78"/>
              <a:gd name="T2" fmla="*/ 253 w 254"/>
              <a:gd name="T3" fmla="*/ 77 h 78"/>
              <a:gd name="T4" fmla="*/ 0 w 254"/>
              <a:gd name="T5" fmla="*/ 0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54" h="78">
                <a:moveTo>
                  <a:pt x="0" y="0"/>
                </a:moveTo>
                <a:lnTo>
                  <a:pt x="253" y="7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2" name="Freeform 50"/>
          <p:cNvSpPr>
            <a:spLocks/>
          </p:cNvSpPr>
          <p:nvPr/>
        </p:nvSpPr>
        <p:spPr bwMode="auto">
          <a:xfrm>
            <a:off x="4114800" y="3462957"/>
            <a:ext cx="160338" cy="61846"/>
          </a:xfrm>
          <a:custGeom>
            <a:avLst/>
            <a:gdLst>
              <a:gd name="T0" fmla="*/ 15 w 101"/>
              <a:gd name="T1" fmla="*/ 0 h 51"/>
              <a:gd name="T2" fmla="*/ 100 w 101"/>
              <a:gd name="T3" fmla="*/ 50 h 51"/>
              <a:gd name="T4" fmla="*/ 0 w 101"/>
              <a:gd name="T5" fmla="*/ 45 h 51"/>
              <a:gd name="T6" fmla="*/ 15 w 101"/>
              <a:gd name="T7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1" h="51">
                <a:moveTo>
                  <a:pt x="15" y="0"/>
                </a:moveTo>
                <a:lnTo>
                  <a:pt x="100" y="50"/>
                </a:lnTo>
                <a:lnTo>
                  <a:pt x="0" y="45"/>
                </a:lnTo>
                <a:lnTo>
                  <a:pt x="15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" name="Rectangle 51"/>
          <p:cNvSpPr>
            <a:spLocks noChangeArrowheads="1"/>
          </p:cNvSpPr>
          <p:nvPr/>
        </p:nvSpPr>
        <p:spPr bwMode="auto">
          <a:xfrm>
            <a:off x="1069975" y="5398360"/>
            <a:ext cx="4286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10*</a:t>
            </a:r>
          </a:p>
        </p:txBody>
      </p:sp>
      <p:sp>
        <p:nvSpPr>
          <p:cNvPr id="154" name="Rectangle 52"/>
          <p:cNvSpPr>
            <a:spLocks noChangeArrowheads="1"/>
          </p:cNvSpPr>
          <p:nvPr/>
        </p:nvSpPr>
        <p:spPr bwMode="auto">
          <a:xfrm>
            <a:off x="1609725" y="5398360"/>
            <a:ext cx="4286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15*</a:t>
            </a:r>
          </a:p>
        </p:txBody>
      </p:sp>
      <p:sp>
        <p:nvSpPr>
          <p:cNvPr id="155" name="Rectangle 53"/>
          <p:cNvSpPr>
            <a:spLocks noChangeArrowheads="1"/>
          </p:cNvSpPr>
          <p:nvPr/>
        </p:nvSpPr>
        <p:spPr bwMode="auto">
          <a:xfrm>
            <a:off x="2427288" y="5398360"/>
            <a:ext cx="4286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20*</a:t>
            </a:r>
          </a:p>
        </p:txBody>
      </p:sp>
      <p:sp>
        <p:nvSpPr>
          <p:cNvPr id="156" name="Rectangle 54"/>
          <p:cNvSpPr>
            <a:spLocks noChangeArrowheads="1"/>
          </p:cNvSpPr>
          <p:nvPr/>
        </p:nvSpPr>
        <p:spPr bwMode="auto">
          <a:xfrm>
            <a:off x="2995613" y="5398360"/>
            <a:ext cx="4286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27*</a:t>
            </a:r>
          </a:p>
        </p:txBody>
      </p:sp>
      <p:sp>
        <p:nvSpPr>
          <p:cNvPr id="157" name="Rectangle 55"/>
          <p:cNvSpPr>
            <a:spLocks noChangeArrowheads="1"/>
          </p:cNvSpPr>
          <p:nvPr/>
        </p:nvSpPr>
        <p:spPr bwMode="auto">
          <a:xfrm>
            <a:off x="3797300" y="5398360"/>
            <a:ext cx="4286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33*</a:t>
            </a:r>
          </a:p>
        </p:txBody>
      </p:sp>
      <p:sp>
        <p:nvSpPr>
          <p:cNvPr id="158" name="Rectangle 56"/>
          <p:cNvSpPr>
            <a:spLocks noChangeArrowheads="1"/>
          </p:cNvSpPr>
          <p:nvPr/>
        </p:nvSpPr>
        <p:spPr bwMode="auto">
          <a:xfrm>
            <a:off x="4321175" y="5398360"/>
            <a:ext cx="4286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37*</a:t>
            </a:r>
          </a:p>
        </p:txBody>
      </p:sp>
      <p:sp>
        <p:nvSpPr>
          <p:cNvPr id="159" name="Rectangle 57"/>
          <p:cNvSpPr>
            <a:spLocks noChangeArrowheads="1"/>
          </p:cNvSpPr>
          <p:nvPr/>
        </p:nvSpPr>
        <p:spPr bwMode="auto">
          <a:xfrm>
            <a:off x="5153025" y="5398360"/>
            <a:ext cx="4286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40*</a:t>
            </a:r>
          </a:p>
        </p:txBody>
      </p:sp>
      <p:sp>
        <p:nvSpPr>
          <p:cNvPr id="160" name="Rectangle 58"/>
          <p:cNvSpPr>
            <a:spLocks noChangeArrowheads="1"/>
          </p:cNvSpPr>
          <p:nvPr/>
        </p:nvSpPr>
        <p:spPr bwMode="auto">
          <a:xfrm>
            <a:off x="5678488" y="5386234"/>
            <a:ext cx="4286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46*</a:t>
            </a:r>
          </a:p>
        </p:txBody>
      </p:sp>
      <p:sp>
        <p:nvSpPr>
          <p:cNvPr id="161" name="Rectangle 59"/>
          <p:cNvSpPr>
            <a:spLocks noChangeArrowheads="1"/>
          </p:cNvSpPr>
          <p:nvPr/>
        </p:nvSpPr>
        <p:spPr bwMode="auto">
          <a:xfrm>
            <a:off x="6480175" y="5398360"/>
            <a:ext cx="4286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 dirty="0">
                <a:solidFill>
                  <a:srgbClr val="000000"/>
                </a:solidFill>
                <a:latin typeface="Arial" pitchFamily="34" charset="0"/>
              </a:rPr>
              <a:t>51*</a:t>
            </a:r>
          </a:p>
        </p:txBody>
      </p:sp>
      <p:sp>
        <p:nvSpPr>
          <p:cNvPr id="162" name="Rectangle 60"/>
          <p:cNvSpPr>
            <a:spLocks noChangeArrowheads="1"/>
          </p:cNvSpPr>
          <p:nvPr/>
        </p:nvSpPr>
        <p:spPr bwMode="auto">
          <a:xfrm>
            <a:off x="7065963" y="5386234"/>
            <a:ext cx="4286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55*</a:t>
            </a:r>
          </a:p>
        </p:txBody>
      </p:sp>
      <p:sp>
        <p:nvSpPr>
          <p:cNvPr id="163" name="Rectangle 61"/>
          <p:cNvSpPr>
            <a:spLocks noChangeArrowheads="1"/>
          </p:cNvSpPr>
          <p:nvPr/>
        </p:nvSpPr>
        <p:spPr bwMode="auto">
          <a:xfrm>
            <a:off x="7835900" y="5410487"/>
            <a:ext cx="4286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63*</a:t>
            </a:r>
          </a:p>
        </p:txBody>
      </p:sp>
      <p:sp>
        <p:nvSpPr>
          <p:cNvPr id="164" name="Rectangle 62"/>
          <p:cNvSpPr>
            <a:spLocks noChangeArrowheads="1"/>
          </p:cNvSpPr>
          <p:nvPr/>
        </p:nvSpPr>
        <p:spPr bwMode="auto">
          <a:xfrm>
            <a:off x="8391525" y="5398360"/>
            <a:ext cx="4286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97*</a:t>
            </a:r>
          </a:p>
        </p:txBody>
      </p:sp>
      <p:sp>
        <p:nvSpPr>
          <p:cNvPr id="165" name="Rectangle 63"/>
          <p:cNvSpPr>
            <a:spLocks noChangeArrowheads="1"/>
          </p:cNvSpPr>
          <p:nvPr/>
        </p:nvSpPr>
        <p:spPr bwMode="auto">
          <a:xfrm>
            <a:off x="2501900" y="4446423"/>
            <a:ext cx="3651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20</a:t>
            </a:r>
          </a:p>
        </p:txBody>
      </p:sp>
      <p:sp>
        <p:nvSpPr>
          <p:cNvPr id="166" name="Rectangle 64"/>
          <p:cNvSpPr>
            <a:spLocks noChangeArrowheads="1"/>
          </p:cNvSpPr>
          <p:nvPr/>
        </p:nvSpPr>
        <p:spPr bwMode="auto">
          <a:xfrm>
            <a:off x="2995613" y="4446423"/>
            <a:ext cx="3651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33</a:t>
            </a:r>
          </a:p>
        </p:txBody>
      </p:sp>
      <p:sp>
        <p:nvSpPr>
          <p:cNvPr id="167" name="Rectangle 65"/>
          <p:cNvSpPr>
            <a:spLocks noChangeArrowheads="1"/>
          </p:cNvSpPr>
          <p:nvPr/>
        </p:nvSpPr>
        <p:spPr bwMode="auto">
          <a:xfrm>
            <a:off x="6572250" y="4446423"/>
            <a:ext cx="3651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51</a:t>
            </a:r>
          </a:p>
        </p:txBody>
      </p:sp>
      <p:sp>
        <p:nvSpPr>
          <p:cNvPr id="168" name="Rectangle 66"/>
          <p:cNvSpPr>
            <a:spLocks noChangeArrowheads="1"/>
          </p:cNvSpPr>
          <p:nvPr/>
        </p:nvSpPr>
        <p:spPr bwMode="auto">
          <a:xfrm>
            <a:off x="7048500" y="4446423"/>
            <a:ext cx="3651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63</a:t>
            </a:r>
          </a:p>
        </p:txBody>
      </p:sp>
      <p:sp>
        <p:nvSpPr>
          <p:cNvPr id="169" name="Rectangle 67"/>
          <p:cNvSpPr>
            <a:spLocks noChangeArrowheads="1"/>
          </p:cNvSpPr>
          <p:nvPr/>
        </p:nvSpPr>
        <p:spPr bwMode="auto">
          <a:xfrm>
            <a:off x="4460875" y="3599988"/>
            <a:ext cx="3651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40</a:t>
            </a:r>
          </a:p>
        </p:txBody>
      </p:sp>
      <p:sp>
        <p:nvSpPr>
          <p:cNvPr id="170" name="Rectangle 68"/>
          <p:cNvSpPr>
            <a:spLocks noChangeArrowheads="1"/>
          </p:cNvSpPr>
          <p:nvPr/>
        </p:nvSpPr>
        <p:spPr bwMode="auto">
          <a:xfrm>
            <a:off x="3117850" y="3342904"/>
            <a:ext cx="585788" cy="230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cxnSp>
        <p:nvCxnSpPr>
          <p:cNvPr id="3" name="Straight Arrow Connector 2"/>
          <p:cNvCxnSpPr>
            <a:endCxn id="132" idx="1"/>
          </p:cNvCxnSpPr>
          <p:nvPr/>
        </p:nvCxnSpPr>
        <p:spPr>
          <a:xfrm>
            <a:off x="4905376" y="3819479"/>
            <a:ext cx="1525587" cy="5396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/>
          <p:cNvCxnSpPr/>
          <p:nvPr/>
        </p:nvCxnSpPr>
        <p:spPr>
          <a:xfrm>
            <a:off x="7002463" y="4710783"/>
            <a:ext cx="0" cy="57722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reeform 50"/>
          <p:cNvSpPr>
            <a:spLocks/>
          </p:cNvSpPr>
          <p:nvPr/>
        </p:nvSpPr>
        <p:spPr bwMode="auto">
          <a:xfrm>
            <a:off x="2389833" y="5835042"/>
            <a:ext cx="992188" cy="341312"/>
          </a:xfrm>
          <a:custGeom>
            <a:avLst/>
            <a:gdLst>
              <a:gd name="T0" fmla="*/ 0 w 625"/>
              <a:gd name="T1" fmla="*/ 278 h 279"/>
              <a:gd name="T2" fmla="*/ 0 w 625"/>
              <a:gd name="T3" fmla="*/ 0 h 279"/>
              <a:gd name="T4" fmla="*/ 624 w 625"/>
              <a:gd name="T5" fmla="*/ 0 h 279"/>
              <a:gd name="T6" fmla="*/ 624 w 625"/>
              <a:gd name="T7" fmla="*/ 278 h 279"/>
              <a:gd name="T8" fmla="*/ 0 w 625"/>
              <a:gd name="T9" fmla="*/ 278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5" h="279">
                <a:moveTo>
                  <a:pt x="0" y="278"/>
                </a:moveTo>
                <a:lnTo>
                  <a:pt x="0" y="0"/>
                </a:lnTo>
                <a:lnTo>
                  <a:pt x="624" y="0"/>
                </a:lnTo>
                <a:lnTo>
                  <a:pt x="624" y="278"/>
                </a:lnTo>
                <a:lnTo>
                  <a:pt x="0" y="27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Freeform 51"/>
          <p:cNvSpPr>
            <a:spLocks/>
          </p:cNvSpPr>
          <p:nvPr/>
        </p:nvSpPr>
        <p:spPr bwMode="auto">
          <a:xfrm>
            <a:off x="2885133" y="5849329"/>
            <a:ext cx="1588" cy="309506"/>
          </a:xfrm>
          <a:custGeom>
            <a:avLst/>
            <a:gdLst>
              <a:gd name="T0" fmla="*/ 0 w 1"/>
              <a:gd name="T1" fmla="*/ 0 h 253"/>
              <a:gd name="T2" fmla="*/ 0 w 1"/>
              <a:gd name="T3" fmla="*/ 252 h 253"/>
              <a:gd name="T4" fmla="*/ 0 w 1"/>
              <a:gd name="T5" fmla="*/ 0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3">
                <a:moveTo>
                  <a:pt x="0" y="0"/>
                </a:moveTo>
                <a:lnTo>
                  <a:pt x="0" y="25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Rectangle 76"/>
          <p:cNvSpPr>
            <a:spLocks noChangeArrowheads="1"/>
          </p:cNvSpPr>
          <p:nvPr/>
        </p:nvSpPr>
        <p:spPr bwMode="auto">
          <a:xfrm>
            <a:off x="2435871" y="5889017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23*</a:t>
            </a:r>
          </a:p>
        </p:txBody>
      </p:sp>
      <p:sp>
        <p:nvSpPr>
          <p:cNvPr id="75" name="Arc 87"/>
          <p:cNvSpPr>
            <a:spLocks/>
          </p:cNvSpPr>
          <p:nvPr/>
        </p:nvSpPr>
        <p:spPr bwMode="auto">
          <a:xfrm>
            <a:off x="2377603" y="5711226"/>
            <a:ext cx="152400" cy="14506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" name="Freeform 52"/>
          <p:cNvSpPr>
            <a:spLocks/>
          </p:cNvSpPr>
          <p:nvPr/>
        </p:nvSpPr>
        <p:spPr bwMode="auto">
          <a:xfrm>
            <a:off x="5103680" y="5856288"/>
            <a:ext cx="992188" cy="373856"/>
          </a:xfrm>
          <a:custGeom>
            <a:avLst/>
            <a:gdLst>
              <a:gd name="T0" fmla="*/ 0 w 625"/>
              <a:gd name="T1" fmla="*/ 278 h 279"/>
              <a:gd name="T2" fmla="*/ 0 w 625"/>
              <a:gd name="T3" fmla="*/ 0 h 279"/>
              <a:gd name="T4" fmla="*/ 624 w 625"/>
              <a:gd name="T5" fmla="*/ 0 h 279"/>
              <a:gd name="T6" fmla="*/ 624 w 625"/>
              <a:gd name="T7" fmla="*/ 278 h 279"/>
              <a:gd name="T8" fmla="*/ 0 w 625"/>
              <a:gd name="T9" fmla="*/ 278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5" h="279">
                <a:moveTo>
                  <a:pt x="0" y="278"/>
                </a:moveTo>
                <a:lnTo>
                  <a:pt x="0" y="0"/>
                </a:lnTo>
                <a:lnTo>
                  <a:pt x="624" y="0"/>
                </a:lnTo>
                <a:lnTo>
                  <a:pt x="624" y="278"/>
                </a:lnTo>
                <a:lnTo>
                  <a:pt x="0" y="27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" name="Freeform 53"/>
          <p:cNvSpPr>
            <a:spLocks/>
          </p:cNvSpPr>
          <p:nvPr/>
        </p:nvSpPr>
        <p:spPr bwMode="auto">
          <a:xfrm>
            <a:off x="5568818" y="5868988"/>
            <a:ext cx="1587" cy="351077"/>
          </a:xfrm>
          <a:custGeom>
            <a:avLst/>
            <a:gdLst>
              <a:gd name="T0" fmla="*/ 0 w 1"/>
              <a:gd name="T1" fmla="*/ 0 h 262"/>
              <a:gd name="T2" fmla="*/ 0 w 1"/>
              <a:gd name="T3" fmla="*/ 261 h 262"/>
              <a:gd name="T4" fmla="*/ 0 w 1"/>
              <a:gd name="T5" fmla="*/ 0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62">
                <a:moveTo>
                  <a:pt x="0" y="0"/>
                </a:moveTo>
                <a:lnTo>
                  <a:pt x="0" y="26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Rectangle 77"/>
          <p:cNvSpPr>
            <a:spLocks noChangeArrowheads="1"/>
          </p:cNvSpPr>
          <p:nvPr/>
        </p:nvSpPr>
        <p:spPr bwMode="auto">
          <a:xfrm>
            <a:off x="5162418" y="5897563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48*</a:t>
            </a:r>
          </a:p>
        </p:txBody>
      </p:sp>
      <p:sp>
        <p:nvSpPr>
          <p:cNvPr id="100" name="Rectangle 78"/>
          <p:cNvSpPr>
            <a:spLocks noChangeArrowheads="1"/>
          </p:cNvSpPr>
          <p:nvPr/>
        </p:nvSpPr>
        <p:spPr bwMode="auto">
          <a:xfrm>
            <a:off x="5591043" y="5881688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41*</a:t>
            </a:r>
          </a:p>
        </p:txBody>
      </p:sp>
      <p:sp>
        <p:nvSpPr>
          <p:cNvPr id="102" name="Arc 88"/>
          <p:cNvSpPr>
            <a:spLocks/>
          </p:cNvSpPr>
          <p:nvPr/>
        </p:nvSpPr>
        <p:spPr bwMode="auto">
          <a:xfrm>
            <a:off x="5071930" y="5711226"/>
            <a:ext cx="152400" cy="156174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" name="Rounded Rectangle 80"/>
          <p:cNvSpPr/>
          <p:nvPr/>
        </p:nvSpPr>
        <p:spPr>
          <a:xfrm>
            <a:off x="1284287" y="6278496"/>
            <a:ext cx="6273801" cy="42365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Note that </a:t>
            </a:r>
            <a:r>
              <a:rPr lang="en-US" i="1" dirty="0" smtClean="0"/>
              <a:t>51 still </a:t>
            </a:r>
            <a:r>
              <a:rPr lang="en-US" i="1" dirty="0"/>
              <a:t>appears in </a:t>
            </a:r>
            <a:r>
              <a:rPr lang="en-US" i="1" dirty="0" smtClean="0"/>
              <a:t>an index entry, </a:t>
            </a:r>
            <a:r>
              <a:rPr lang="en-US" i="1" dirty="0"/>
              <a:t>but  not in </a:t>
            </a:r>
            <a:r>
              <a:rPr lang="en-US" i="1" dirty="0" smtClean="0"/>
              <a:t>the leaf</a:t>
            </a:r>
            <a:r>
              <a:rPr lang="en-US" i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308652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" grpId="0"/>
      <p:bldP spid="8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ISAM: Deleting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The appropriate page is determined as for a search, and the entry is deleted (</a:t>
            </a:r>
            <a:r>
              <a:rPr lang="en-US" sz="2600" i="1" dirty="0" smtClean="0"/>
              <a:t>with ONLY overflow pages removed when becoming empty</a:t>
            </a:r>
            <a:r>
              <a:rPr lang="en-US" sz="2600" dirty="0" smtClean="0"/>
              <a:t>)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Delete </a:t>
            </a:r>
            <a:r>
              <a:rPr lang="en-US" sz="2600" dirty="0" smtClean="0">
                <a:solidFill>
                  <a:srgbClr val="FF0000"/>
                </a:solidFill>
              </a:rPr>
              <a:t>55*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108" name="Freeform 6"/>
          <p:cNvSpPr>
            <a:spLocks/>
          </p:cNvSpPr>
          <p:nvPr/>
        </p:nvSpPr>
        <p:spPr bwMode="auto">
          <a:xfrm>
            <a:off x="1022350" y="5332877"/>
            <a:ext cx="1109663" cy="378349"/>
          </a:xfrm>
          <a:custGeom>
            <a:avLst/>
            <a:gdLst>
              <a:gd name="T0" fmla="*/ 0 w 699"/>
              <a:gd name="T1" fmla="*/ 311 h 312"/>
              <a:gd name="T2" fmla="*/ 0 w 699"/>
              <a:gd name="T3" fmla="*/ 0 h 312"/>
              <a:gd name="T4" fmla="*/ 698 w 699"/>
              <a:gd name="T5" fmla="*/ 0 h 312"/>
              <a:gd name="T6" fmla="*/ 698 w 699"/>
              <a:gd name="T7" fmla="*/ 311 h 312"/>
              <a:gd name="T8" fmla="*/ 0 w 699"/>
              <a:gd name="T9" fmla="*/ 311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9" h="312">
                <a:moveTo>
                  <a:pt x="0" y="311"/>
                </a:moveTo>
                <a:lnTo>
                  <a:pt x="0" y="0"/>
                </a:lnTo>
                <a:lnTo>
                  <a:pt x="698" y="0"/>
                </a:lnTo>
                <a:lnTo>
                  <a:pt x="698" y="311"/>
                </a:lnTo>
                <a:lnTo>
                  <a:pt x="0" y="31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Freeform 7"/>
          <p:cNvSpPr>
            <a:spLocks/>
          </p:cNvSpPr>
          <p:nvPr/>
        </p:nvSpPr>
        <p:spPr bwMode="auto">
          <a:xfrm>
            <a:off x="2376488" y="5332877"/>
            <a:ext cx="1111250" cy="378349"/>
          </a:xfrm>
          <a:custGeom>
            <a:avLst/>
            <a:gdLst>
              <a:gd name="T0" fmla="*/ 0 w 700"/>
              <a:gd name="T1" fmla="*/ 311 h 312"/>
              <a:gd name="T2" fmla="*/ 0 w 700"/>
              <a:gd name="T3" fmla="*/ 0 h 312"/>
              <a:gd name="T4" fmla="*/ 699 w 700"/>
              <a:gd name="T5" fmla="*/ 0 h 312"/>
              <a:gd name="T6" fmla="*/ 699 w 700"/>
              <a:gd name="T7" fmla="*/ 311 h 312"/>
              <a:gd name="T8" fmla="*/ 0 w 700"/>
              <a:gd name="T9" fmla="*/ 311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0" h="312">
                <a:moveTo>
                  <a:pt x="0" y="311"/>
                </a:moveTo>
                <a:lnTo>
                  <a:pt x="0" y="0"/>
                </a:lnTo>
                <a:lnTo>
                  <a:pt x="699" y="0"/>
                </a:lnTo>
                <a:lnTo>
                  <a:pt x="699" y="311"/>
                </a:lnTo>
                <a:lnTo>
                  <a:pt x="0" y="31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Freeform 8"/>
          <p:cNvSpPr>
            <a:spLocks/>
          </p:cNvSpPr>
          <p:nvPr/>
        </p:nvSpPr>
        <p:spPr bwMode="auto">
          <a:xfrm>
            <a:off x="3733800" y="5332877"/>
            <a:ext cx="1111250" cy="378349"/>
          </a:xfrm>
          <a:custGeom>
            <a:avLst/>
            <a:gdLst>
              <a:gd name="T0" fmla="*/ 0 w 700"/>
              <a:gd name="T1" fmla="*/ 311 h 312"/>
              <a:gd name="T2" fmla="*/ 0 w 700"/>
              <a:gd name="T3" fmla="*/ 0 h 312"/>
              <a:gd name="T4" fmla="*/ 699 w 700"/>
              <a:gd name="T5" fmla="*/ 0 h 312"/>
              <a:gd name="T6" fmla="*/ 699 w 700"/>
              <a:gd name="T7" fmla="*/ 311 h 312"/>
              <a:gd name="T8" fmla="*/ 0 w 700"/>
              <a:gd name="T9" fmla="*/ 311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0" h="312">
                <a:moveTo>
                  <a:pt x="0" y="311"/>
                </a:moveTo>
                <a:lnTo>
                  <a:pt x="0" y="0"/>
                </a:lnTo>
                <a:lnTo>
                  <a:pt x="699" y="0"/>
                </a:lnTo>
                <a:lnTo>
                  <a:pt x="699" y="311"/>
                </a:lnTo>
                <a:lnTo>
                  <a:pt x="0" y="31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Freeform 9"/>
          <p:cNvSpPr>
            <a:spLocks/>
          </p:cNvSpPr>
          <p:nvPr/>
        </p:nvSpPr>
        <p:spPr bwMode="auto">
          <a:xfrm>
            <a:off x="5091113" y="5332877"/>
            <a:ext cx="1109663" cy="378349"/>
          </a:xfrm>
          <a:custGeom>
            <a:avLst/>
            <a:gdLst>
              <a:gd name="T0" fmla="*/ 0 w 699"/>
              <a:gd name="T1" fmla="*/ 311 h 312"/>
              <a:gd name="T2" fmla="*/ 0 w 699"/>
              <a:gd name="T3" fmla="*/ 0 h 312"/>
              <a:gd name="T4" fmla="*/ 698 w 699"/>
              <a:gd name="T5" fmla="*/ 0 h 312"/>
              <a:gd name="T6" fmla="*/ 698 w 699"/>
              <a:gd name="T7" fmla="*/ 311 h 312"/>
              <a:gd name="T8" fmla="*/ 0 w 699"/>
              <a:gd name="T9" fmla="*/ 311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9" h="312">
                <a:moveTo>
                  <a:pt x="0" y="311"/>
                </a:moveTo>
                <a:lnTo>
                  <a:pt x="0" y="0"/>
                </a:lnTo>
                <a:lnTo>
                  <a:pt x="698" y="0"/>
                </a:lnTo>
                <a:lnTo>
                  <a:pt x="698" y="311"/>
                </a:lnTo>
                <a:lnTo>
                  <a:pt x="0" y="31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Freeform 10"/>
          <p:cNvSpPr>
            <a:spLocks/>
          </p:cNvSpPr>
          <p:nvPr/>
        </p:nvSpPr>
        <p:spPr bwMode="auto">
          <a:xfrm>
            <a:off x="6445250" y="5332877"/>
            <a:ext cx="1112838" cy="378349"/>
          </a:xfrm>
          <a:custGeom>
            <a:avLst/>
            <a:gdLst>
              <a:gd name="T0" fmla="*/ 0 w 701"/>
              <a:gd name="T1" fmla="*/ 311 h 312"/>
              <a:gd name="T2" fmla="*/ 0 w 701"/>
              <a:gd name="T3" fmla="*/ 0 h 312"/>
              <a:gd name="T4" fmla="*/ 700 w 701"/>
              <a:gd name="T5" fmla="*/ 0 h 312"/>
              <a:gd name="T6" fmla="*/ 700 w 701"/>
              <a:gd name="T7" fmla="*/ 311 h 312"/>
              <a:gd name="T8" fmla="*/ 0 w 701"/>
              <a:gd name="T9" fmla="*/ 311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1" h="312">
                <a:moveTo>
                  <a:pt x="0" y="311"/>
                </a:moveTo>
                <a:lnTo>
                  <a:pt x="0" y="0"/>
                </a:lnTo>
                <a:lnTo>
                  <a:pt x="700" y="0"/>
                </a:lnTo>
                <a:lnTo>
                  <a:pt x="700" y="311"/>
                </a:lnTo>
                <a:lnTo>
                  <a:pt x="0" y="31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Freeform 11"/>
          <p:cNvSpPr>
            <a:spLocks/>
          </p:cNvSpPr>
          <p:nvPr/>
        </p:nvSpPr>
        <p:spPr bwMode="auto">
          <a:xfrm>
            <a:off x="7800975" y="5332877"/>
            <a:ext cx="1114425" cy="378349"/>
          </a:xfrm>
          <a:custGeom>
            <a:avLst/>
            <a:gdLst>
              <a:gd name="T0" fmla="*/ 0 w 702"/>
              <a:gd name="T1" fmla="*/ 311 h 312"/>
              <a:gd name="T2" fmla="*/ 0 w 702"/>
              <a:gd name="T3" fmla="*/ 0 h 312"/>
              <a:gd name="T4" fmla="*/ 701 w 702"/>
              <a:gd name="T5" fmla="*/ 0 h 312"/>
              <a:gd name="T6" fmla="*/ 701 w 702"/>
              <a:gd name="T7" fmla="*/ 311 h 312"/>
              <a:gd name="T8" fmla="*/ 0 w 702"/>
              <a:gd name="T9" fmla="*/ 311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2" h="312">
                <a:moveTo>
                  <a:pt x="0" y="311"/>
                </a:moveTo>
                <a:lnTo>
                  <a:pt x="0" y="0"/>
                </a:lnTo>
                <a:lnTo>
                  <a:pt x="701" y="0"/>
                </a:lnTo>
                <a:lnTo>
                  <a:pt x="701" y="311"/>
                </a:lnTo>
                <a:lnTo>
                  <a:pt x="0" y="31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Freeform 12"/>
          <p:cNvSpPr>
            <a:spLocks/>
          </p:cNvSpPr>
          <p:nvPr/>
        </p:nvSpPr>
        <p:spPr bwMode="auto">
          <a:xfrm>
            <a:off x="2376488" y="4394279"/>
            <a:ext cx="1111250" cy="377137"/>
          </a:xfrm>
          <a:custGeom>
            <a:avLst/>
            <a:gdLst>
              <a:gd name="T0" fmla="*/ 0 w 700"/>
              <a:gd name="T1" fmla="*/ 310 h 311"/>
              <a:gd name="T2" fmla="*/ 0 w 700"/>
              <a:gd name="T3" fmla="*/ 0 h 311"/>
              <a:gd name="T4" fmla="*/ 699 w 700"/>
              <a:gd name="T5" fmla="*/ 0 h 311"/>
              <a:gd name="T6" fmla="*/ 699 w 700"/>
              <a:gd name="T7" fmla="*/ 310 h 311"/>
              <a:gd name="T8" fmla="*/ 0 w 700"/>
              <a:gd name="T9" fmla="*/ 310 h 3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0" h="311">
                <a:moveTo>
                  <a:pt x="0" y="310"/>
                </a:moveTo>
                <a:lnTo>
                  <a:pt x="0" y="0"/>
                </a:lnTo>
                <a:lnTo>
                  <a:pt x="699" y="0"/>
                </a:lnTo>
                <a:lnTo>
                  <a:pt x="699" y="310"/>
                </a:lnTo>
                <a:lnTo>
                  <a:pt x="0" y="31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Freeform 13"/>
          <p:cNvSpPr>
            <a:spLocks/>
          </p:cNvSpPr>
          <p:nvPr/>
        </p:nvSpPr>
        <p:spPr bwMode="auto">
          <a:xfrm>
            <a:off x="2503488" y="4394279"/>
            <a:ext cx="1588" cy="377137"/>
          </a:xfrm>
          <a:custGeom>
            <a:avLst/>
            <a:gdLst>
              <a:gd name="T0" fmla="*/ 0 w 1"/>
              <a:gd name="T1" fmla="*/ 0 h 311"/>
              <a:gd name="T2" fmla="*/ 0 w 1"/>
              <a:gd name="T3" fmla="*/ 310 h 311"/>
              <a:gd name="T4" fmla="*/ 0 w 1"/>
              <a:gd name="T5" fmla="*/ 0 h 3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11">
                <a:moveTo>
                  <a:pt x="0" y="0"/>
                </a:moveTo>
                <a:lnTo>
                  <a:pt x="0" y="31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Freeform 14"/>
          <p:cNvSpPr>
            <a:spLocks/>
          </p:cNvSpPr>
          <p:nvPr/>
        </p:nvSpPr>
        <p:spPr bwMode="auto">
          <a:xfrm>
            <a:off x="2870200" y="4394279"/>
            <a:ext cx="1588" cy="377137"/>
          </a:xfrm>
          <a:custGeom>
            <a:avLst/>
            <a:gdLst>
              <a:gd name="T0" fmla="*/ 0 w 1"/>
              <a:gd name="T1" fmla="*/ 0 h 311"/>
              <a:gd name="T2" fmla="*/ 0 w 1"/>
              <a:gd name="T3" fmla="*/ 310 h 311"/>
              <a:gd name="T4" fmla="*/ 0 w 1"/>
              <a:gd name="T5" fmla="*/ 0 h 3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11">
                <a:moveTo>
                  <a:pt x="0" y="0"/>
                </a:moveTo>
                <a:lnTo>
                  <a:pt x="0" y="31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Freeform 15"/>
          <p:cNvSpPr>
            <a:spLocks/>
          </p:cNvSpPr>
          <p:nvPr/>
        </p:nvSpPr>
        <p:spPr bwMode="auto">
          <a:xfrm>
            <a:off x="2994025" y="4394279"/>
            <a:ext cx="1588" cy="377137"/>
          </a:xfrm>
          <a:custGeom>
            <a:avLst/>
            <a:gdLst>
              <a:gd name="T0" fmla="*/ 0 w 1"/>
              <a:gd name="T1" fmla="*/ 0 h 311"/>
              <a:gd name="T2" fmla="*/ 0 w 1"/>
              <a:gd name="T3" fmla="*/ 310 h 311"/>
              <a:gd name="T4" fmla="*/ 0 w 1"/>
              <a:gd name="T5" fmla="*/ 0 h 3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11">
                <a:moveTo>
                  <a:pt x="0" y="0"/>
                </a:moveTo>
                <a:lnTo>
                  <a:pt x="0" y="31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Freeform 16"/>
          <p:cNvSpPr>
            <a:spLocks/>
          </p:cNvSpPr>
          <p:nvPr/>
        </p:nvSpPr>
        <p:spPr bwMode="auto">
          <a:xfrm>
            <a:off x="3365500" y="4394279"/>
            <a:ext cx="1588" cy="377137"/>
          </a:xfrm>
          <a:custGeom>
            <a:avLst/>
            <a:gdLst>
              <a:gd name="T0" fmla="*/ 0 w 1"/>
              <a:gd name="T1" fmla="*/ 0 h 311"/>
              <a:gd name="T2" fmla="*/ 0 w 1"/>
              <a:gd name="T3" fmla="*/ 310 h 311"/>
              <a:gd name="T4" fmla="*/ 0 w 1"/>
              <a:gd name="T5" fmla="*/ 0 h 3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11">
                <a:moveTo>
                  <a:pt x="0" y="0"/>
                </a:moveTo>
                <a:lnTo>
                  <a:pt x="0" y="31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Freeform 17"/>
          <p:cNvSpPr>
            <a:spLocks/>
          </p:cNvSpPr>
          <p:nvPr/>
        </p:nvSpPr>
        <p:spPr bwMode="auto">
          <a:xfrm>
            <a:off x="6445250" y="4394279"/>
            <a:ext cx="1112838" cy="377137"/>
          </a:xfrm>
          <a:custGeom>
            <a:avLst/>
            <a:gdLst>
              <a:gd name="T0" fmla="*/ 0 w 701"/>
              <a:gd name="T1" fmla="*/ 310 h 311"/>
              <a:gd name="T2" fmla="*/ 0 w 701"/>
              <a:gd name="T3" fmla="*/ 0 h 311"/>
              <a:gd name="T4" fmla="*/ 700 w 701"/>
              <a:gd name="T5" fmla="*/ 0 h 311"/>
              <a:gd name="T6" fmla="*/ 700 w 701"/>
              <a:gd name="T7" fmla="*/ 310 h 311"/>
              <a:gd name="T8" fmla="*/ 0 w 701"/>
              <a:gd name="T9" fmla="*/ 310 h 3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1" h="311">
                <a:moveTo>
                  <a:pt x="0" y="310"/>
                </a:moveTo>
                <a:lnTo>
                  <a:pt x="0" y="0"/>
                </a:lnTo>
                <a:lnTo>
                  <a:pt x="700" y="0"/>
                </a:lnTo>
                <a:lnTo>
                  <a:pt x="700" y="310"/>
                </a:lnTo>
                <a:lnTo>
                  <a:pt x="0" y="31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Freeform 18"/>
          <p:cNvSpPr>
            <a:spLocks/>
          </p:cNvSpPr>
          <p:nvPr/>
        </p:nvSpPr>
        <p:spPr bwMode="auto">
          <a:xfrm>
            <a:off x="6570663" y="4394279"/>
            <a:ext cx="1588" cy="377137"/>
          </a:xfrm>
          <a:custGeom>
            <a:avLst/>
            <a:gdLst>
              <a:gd name="T0" fmla="*/ 0 w 1"/>
              <a:gd name="T1" fmla="*/ 0 h 311"/>
              <a:gd name="T2" fmla="*/ 0 w 1"/>
              <a:gd name="T3" fmla="*/ 310 h 311"/>
              <a:gd name="T4" fmla="*/ 0 w 1"/>
              <a:gd name="T5" fmla="*/ 0 h 3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11">
                <a:moveTo>
                  <a:pt x="0" y="0"/>
                </a:moveTo>
                <a:lnTo>
                  <a:pt x="0" y="31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" name="Freeform 19"/>
          <p:cNvSpPr>
            <a:spLocks/>
          </p:cNvSpPr>
          <p:nvPr/>
        </p:nvSpPr>
        <p:spPr bwMode="auto">
          <a:xfrm>
            <a:off x="6938963" y="4394279"/>
            <a:ext cx="1588" cy="377137"/>
          </a:xfrm>
          <a:custGeom>
            <a:avLst/>
            <a:gdLst>
              <a:gd name="T0" fmla="*/ 0 w 1"/>
              <a:gd name="T1" fmla="*/ 0 h 311"/>
              <a:gd name="T2" fmla="*/ 0 w 1"/>
              <a:gd name="T3" fmla="*/ 310 h 311"/>
              <a:gd name="T4" fmla="*/ 0 w 1"/>
              <a:gd name="T5" fmla="*/ 0 h 3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11">
                <a:moveTo>
                  <a:pt x="0" y="0"/>
                </a:moveTo>
                <a:lnTo>
                  <a:pt x="0" y="31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Freeform 20"/>
          <p:cNvSpPr>
            <a:spLocks/>
          </p:cNvSpPr>
          <p:nvPr/>
        </p:nvSpPr>
        <p:spPr bwMode="auto">
          <a:xfrm>
            <a:off x="7062788" y="4394279"/>
            <a:ext cx="1588" cy="377137"/>
          </a:xfrm>
          <a:custGeom>
            <a:avLst/>
            <a:gdLst>
              <a:gd name="T0" fmla="*/ 0 w 1"/>
              <a:gd name="T1" fmla="*/ 0 h 311"/>
              <a:gd name="T2" fmla="*/ 0 w 1"/>
              <a:gd name="T3" fmla="*/ 310 h 311"/>
              <a:gd name="T4" fmla="*/ 0 w 1"/>
              <a:gd name="T5" fmla="*/ 0 h 3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11">
                <a:moveTo>
                  <a:pt x="0" y="0"/>
                </a:moveTo>
                <a:lnTo>
                  <a:pt x="0" y="31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" name="Freeform 21"/>
          <p:cNvSpPr>
            <a:spLocks/>
          </p:cNvSpPr>
          <p:nvPr/>
        </p:nvSpPr>
        <p:spPr bwMode="auto">
          <a:xfrm>
            <a:off x="7432675" y="4394279"/>
            <a:ext cx="1588" cy="377137"/>
          </a:xfrm>
          <a:custGeom>
            <a:avLst/>
            <a:gdLst>
              <a:gd name="T0" fmla="*/ 0 w 1"/>
              <a:gd name="T1" fmla="*/ 0 h 311"/>
              <a:gd name="T2" fmla="*/ 0 w 1"/>
              <a:gd name="T3" fmla="*/ 310 h 311"/>
              <a:gd name="T4" fmla="*/ 0 w 1"/>
              <a:gd name="T5" fmla="*/ 0 h 3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11">
                <a:moveTo>
                  <a:pt x="0" y="0"/>
                </a:moveTo>
                <a:lnTo>
                  <a:pt x="0" y="31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" name="Freeform 22"/>
          <p:cNvSpPr>
            <a:spLocks/>
          </p:cNvSpPr>
          <p:nvPr/>
        </p:nvSpPr>
        <p:spPr bwMode="auto">
          <a:xfrm>
            <a:off x="4349750" y="3547843"/>
            <a:ext cx="1111250" cy="378349"/>
          </a:xfrm>
          <a:custGeom>
            <a:avLst/>
            <a:gdLst>
              <a:gd name="T0" fmla="*/ 0 w 700"/>
              <a:gd name="T1" fmla="*/ 311 h 312"/>
              <a:gd name="T2" fmla="*/ 0 w 700"/>
              <a:gd name="T3" fmla="*/ 0 h 312"/>
              <a:gd name="T4" fmla="*/ 699 w 700"/>
              <a:gd name="T5" fmla="*/ 0 h 312"/>
              <a:gd name="T6" fmla="*/ 699 w 700"/>
              <a:gd name="T7" fmla="*/ 311 h 312"/>
              <a:gd name="T8" fmla="*/ 0 w 700"/>
              <a:gd name="T9" fmla="*/ 311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0" h="312">
                <a:moveTo>
                  <a:pt x="0" y="311"/>
                </a:moveTo>
                <a:lnTo>
                  <a:pt x="0" y="0"/>
                </a:lnTo>
                <a:lnTo>
                  <a:pt x="699" y="0"/>
                </a:lnTo>
                <a:lnTo>
                  <a:pt x="699" y="311"/>
                </a:lnTo>
                <a:lnTo>
                  <a:pt x="0" y="31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" name="Freeform 23"/>
          <p:cNvSpPr>
            <a:spLocks/>
          </p:cNvSpPr>
          <p:nvPr/>
        </p:nvSpPr>
        <p:spPr bwMode="auto">
          <a:xfrm>
            <a:off x="4473575" y="3547843"/>
            <a:ext cx="1588" cy="378349"/>
          </a:xfrm>
          <a:custGeom>
            <a:avLst/>
            <a:gdLst>
              <a:gd name="T0" fmla="*/ 0 w 1"/>
              <a:gd name="T1" fmla="*/ 0 h 312"/>
              <a:gd name="T2" fmla="*/ 0 w 1"/>
              <a:gd name="T3" fmla="*/ 311 h 312"/>
              <a:gd name="T4" fmla="*/ 0 w 1"/>
              <a:gd name="T5" fmla="*/ 0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12">
                <a:moveTo>
                  <a:pt x="0" y="0"/>
                </a:moveTo>
                <a:lnTo>
                  <a:pt x="0" y="31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" name="Freeform 24"/>
          <p:cNvSpPr>
            <a:spLocks/>
          </p:cNvSpPr>
          <p:nvPr/>
        </p:nvSpPr>
        <p:spPr bwMode="auto">
          <a:xfrm>
            <a:off x="4843463" y="3547843"/>
            <a:ext cx="1588" cy="378349"/>
          </a:xfrm>
          <a:custGeom>
            <a:avLst/>
            <a:gdLst>
              <a:gd name="T0" fmla="*/ 0 w 1"/>
              <a:gd name="T1" fmla="*/ 0 h 312"/>
              <a:gd name="T2" fmla="*/ 0 w 1"/>
              <a:gd name="T3" fmla="*/ 311 h 312"/>
              <a:gd name="T4" fmla="*/ 0 w 1"/>
              <a:gd name="T5" fmla="*/ 0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12">
                <a:moveTo>
                  <a:pt x="0" y="0"/>
                </a:moveTo>
                <a:lnTo>
                  <a:pt x="0" y="31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7" name="Freeform 25"/>
          <p:cNvSpPr>
            <a:spLocks/>
          </p:cNvSpPr>
          <p:nvPr/>
        </p:nvSpPr>
        <p:spPr bwMode="auto">
          <a:xfrm>
            <a:off x="4967288" y="3547843"/>
            <a:ext cx="1588" cy="378349"/>
          </a:xfrm>
          <a:custGeom>
            <a:avLst/>
            <a:gdLst>
              <a:gd name="T0" fmla="*/ 0 w 1"/>
              <a:gd name="T1" fmla="*/ 0 h 312"/>
              <a:gd name="T2" fmla="*/ 0 w 1"/>
              <a:gd name="T3" fmla="*/ 311 h 312"/>
              <a:gd name="T4" fmla="*/ 0 w 1"/>
              <a:gd name="T5" fmla="*/ 0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12">
                <a:moveTo>
                  <a:pt x="0" y="0"/>
                </a:moveTo>
                <a:lnTo>
                  <a:pt x="0" y="31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" name="Freeform 26"/>
          <p:cNvSpPr>
            <a:spLocks/>
          </p:cNvSpPr>
          <p:nvPr/>
        </p:nvSpPr>
        <p:spPr bwMode="auto">
          <a:xfrm>
            <a:off x="5337175" y="3547843"/>
            <a:ext cx="1588" cy="378349"/>
          </a:xfrm>
          <a:custGeom>
            <a:avLst/>
            <a:gdLst>
              <a:gd name="T0" fmla="*/ 0 w 1"/>
              <a:gd name="T1" fmla="*/ 0 h 312"/>
              <a:gd name="T2" fmla="*/ 0 w 1"/>
              <a:gd name="T3" fmla="*/ 311 h 312"/>
              <a:gd name="T4" fmla="*/ 0 w 1"/>
              <a:gd name="T5" fmla="*/ 0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12">
                <a:moveTo>
                  <a:pt x="0" y="0"/>
                </a:moveTo>
                <a:lnTo>
                  <a:pt x="0" y="31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" name="Freeform 27"/>
          <p:cNvSpPr>
            <a:spLocks/>
          </p:cNvSpPr>
          <p:nvPr/>
        </p:nvSpPr>
        <p:spPr bwMode="auto">
          <a:xfrm>
            <a:off x="3486150" y="3842519"/>
            <a:ext cx="912813" cy="506891"/>
          </a:xfrm>
          <a:custGeom>
            <a:avLst/>
            <a:gdLst>
              <a:gd name="T0" fmla="*/ 574 w 575"/>
              <a:gd name="T1" fmla="*/ 0 h 418"/>
              <a:gd name="T2" fmla="*/ 0 w 575"/>
              <a:gd name="T3" fmla="*/ 417 h 418"/>
              <a:gd name="T4" fmla="*/ 574 w 575"/>
              <a:gd name="T5" fmla="*/ 0 h 4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75" h="418">
                <a:moveTo>
                  <a:pt x="574" y="0"/>
                </a:moveTo>
                <a:lnTo>
                  <a:pt x="0" y="417"/>
                </a:lnTo>
                <a:lnTo>
                  <a:pt x="574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Freeform 28"/>
          <p:cNvSpPr>
            <a:spLocks/>
          </p:cNvSpPr>
          <p:nvPr/>
        </p:nvSpPr>
        <p:spPr bwMode="auto">
          <a:xfrm>
            <a:off x="3486150" y="4254823"/>
            <a:ext cx="149225" cy="94587"/>
          </a:xfrm>
          <a:custGeom>
            <a:avLst/>
            <a:gdLst>
              <a:gd name="T0" fmla="*/ 93 w 94"/>
              <a:gd name="T1" fmla="*/ 39 h 78"/>
              <a:gd name="T2" fmla="*/ 0 w 94"/>
              <a:gd name="T3" fmla="*/ 77 h 78"/>
              <a:gd name="T4" fmla="*/ 65 w 94"/>
              <a:gd name="T5" fmla="*/ 0 h 78"/>
              <a:gd name="T6" fmla="*/ 93 w 94"/>
              <a:gd name="T7" fmla="*/ 39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4" h="78">
                <a:moveTo>
                  <a:pt x="93" y="39"/>
                </a:moveTo>
                <a:lnTo>
                  <a:pt x="0" y="77"/>
                </a:lnTo>
                <a:lnTo>
                  <a:pt x="65" y="0"/>
                </a:lnTo>
                <a:lnTo>
                  <a:pt x="93" y="3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" name="Freeform 29"/>
          <p:cNvSpPr>
            <a:spLocks/>
          </p:cNvSpPr>
          <p:nvPr/>
        </p:nvSpPr>
        <p:spPr bwMode="auto">
          <a:xfrm>
            <a:off x="4891088" y="3818266"/>
            <a:ext cx="1541463" cy="542058"/>
          </a:xfrm>
          <a:custGeom>
            <a:avLst/>
            <a:gdLst>
              <a:gd name="T0" fmla="*/ 0 w 971"/>
              <a:gd name="T1" fmla="*/ 0 h 447"/>
              <a:gd name="T2" fmla="*/ 970 w 971"/>
              <a:gd name="T3" fmla="*/ 446 h 447"/>
              <a:gd name="T4" fmla="*/ 0 w 971"/>
              <a:gd name="T5" fmla="*/ 0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71" h="447">
                <a:moveTo>
                  <a:pt x="0" y="0"/>
                </a:moveTo>
                <a:lnTo>
                  <a:pt x="970" y="446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Freeform 30"/>
          <p:cNvSpPr>
            <a:spLocks/>
          </p:cNvSpPr>
          <p:nvPr/>
        </p:nvSpPr>
        <p:spPr bwMode="auto">
          <a:xfrm>
            <a:off x="6273800" y="4283927"/>
            <a:ext cx="158750" cy="76397"/>
          </a:xfrm>
          <a:custGeom>
            <a:avLst/>
            <a:gdLst>
              <a:gd name="T0" fmla="*/ 21 w 100"/>
              <a:gd name="T1" fmla="*/ 0 h 63"/>
              <a:gd name="T2" fmla="*/ 99 w 100"/>
              <a:gd name="T3" fmla="*/ 62 h 63"/>
              <a:gd name="T4" fmla="*/ 0 w 100"/>
              <a:gd name="T5" fmla="*/ 44 h 63"/>
              <a:gd name="T6" fmla="*/ 21 w 100"/>
              <a:gd name="T7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" h="63">
                <a:moveTo>
                  <a:pt x="21" y="0"/>
                </a:moveTo>
                <a:lnTo>
                  <a:pt x="99" y="62"/>
                </a:lnTo>
                <a:lnTo>
                  <a:pt x="0" y="44"/>
                </a:lnTo>
                <a:lnTo>
                  <a:pt x="21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" name="Freeform 31"/>
          <p:cNvSpPr>
            <a:spLocks/>
          </p:cNvSpPr>
          <p:nvPr/>
        </p:nvSpPr>
        <p:spPr bwMode="auto">
          <a:xfrm>
            <a:off x="2008188" y="4710783"/>
            <a:ext cx="431800" cy="589352"/>
          </a:xfrm>
          <a:custGeom>
            <a:avLst/>
            <a:gdLst>
              <a:gd name="T0" fmla="*/ 271 w 272"/>
              <a:gd name="T1" fmla="*/ 0 h 486"/>
              <a:gd name="T2" fmla="*/ 0 w 272"/>
              <a:gd name="T3" fmla="*/ 485 h 486"/>
              <a:gd name="T4" fmla="*/ 271 w 272"/>
              <a:gd name="T5" fmla="*/ 0 h 4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2" h="486">
                <a:moveTo>
                  <a:pt x="271" y="0"/>
                </a:moveTo>
                <a:lnTo>
                  <a:pt x="0" y="485"/>
                </a:lnTo>
                <a:lnTo>
                  <a:pt x="271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" name="Freeform 32"/>
          <p:cNvSpPr>
            <a:spLocks/>
          </p:cNvSpPr>
          <p:nvPr/>
        </p:nvSpPr>
        <p:spPr bwMode="auto">
          <a:xfrm>
            <a:off x="2008188" y="5181294"/>
            <a:ext cx="109538" cy="118841"/>
          </a:xfrm>
          <a:custGeom>
            <a:avLst/>
            <a:gdLst>
              <a:gd name="T0" fmla="*/ 68 w 69"/>
              <a:gd name="T1" fmla="*/ 25 h 98"/>
              <a:gd name="T2" fmla="*/ 0 w 69"/>
              <a:gd name="T3" fmla="*/ 97 h 98"/>
              <a:gd name="T4" fmla="*/ 26 w 69"/>
              <a:gd name="T5" fmla="*/ 0 h 98"/>
              <a:gd name="T6" fmla="*/ 68 w 69"/>
              <a:gd name="T7" fmla="*/ 25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9" h="98">
                <a:moveTo>
                  <a:pt x="68" y="25"/>
                </a:moveTo>
                <a:lnTo>
                  <a:pt x="0" y="97"/>
                </a:lnTo>
                <a:lnTo>
                  <a:pt x="26" y="0"/>
                </a:lnTo>
                <a:lnTo>
                  <a:pt x="68" y="2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" name="Freeform 33"/>
          <p:cNvSpPr>
            <a:spLocks/>
          </p:cNvSpPr>
          <p:nvPr/>
        </p:nvSpPr>
        <p:spPr bwMode="auto">
          <a:xfrm>
            <a:off x="2932113" y="4687742"/>
            <a:ext cx="1588" cy="612393"/>
          </a:xfrm>
          <a:custGeom>
            <a:avLst/>
            <a:gdLst>
              <a:gd name="T0" fmla="*/ 0 w 1"/>
              <a:gd name="T1" fmla="*/ 0 h 505"/>
              <a:gd name="T2" fmla="*/ 0 w 1"/>
              <a:gd name="T3" fmla="*/ 504 h 505"/>
              <a:gd name="T4" fmla="*/ 0 w 1"/>
              <a:gd name="T5" fmla="*/ 0 h 5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505">
                <a:moveTo>
                  <a:pt x="0" y="0"/>
                </a:moveTo>
                <a:lnTo>
                  <a:pt x="0" y="504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" name="Freeform 34"/>
          <p:cNvSpPr>
            <a:spLocks/>
          </p:cNvSpPr>
          <p:nvPr/>
        </p:nvSpPr>
        <p:spPr bwMode="auto">
          <a:xfrm>
            <a:off x="2894013" y="5181294"/>
            <a:ext cx="79375" cy="118841"/>
          </a:xfrm>
          <a:custGeom>
            <a:avLst/>
            <a:gdLst>
              <a:gd name="T0" fmla="*/ 49 w 50"/>
              <a:gd name="T1" fmla="*/ 0 h 98"/>
              <a:gd name="T2" fmla="*/ 24 w 50"/>
              <a:gd name="T3" fmla="*/ 97 h 98"/>
              <a:gd name="T4" fmla="*/ 0 w 50"/>
              <a:gd name="T5" fmla="*/ 0 h 98"/>
              <a:gd name="T6" fmla="*/ 49 w 50"/>
              <a:gd name="T7" fmla="*/ 0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0" h="98">
                <a:moveTo>
                  <a:pt x="49" y="0"/>
                </a:moveTo>
                <a:lnTo>
                  <a:pt x="24" y="97"/>
                </a:lnTo>
                <a:lnTo>
                  <a:pt x="0" y="0"/>
                </a:lnTo>
                <a:lnTo>
                  <a:pt x="49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" name="Freeform 35"/>
          <p:cNvSpPr>
            <a:spLocks/>
          </p:cNvSpPr>
          <p:nvPr/>
        </p:nvSpPr>
        <p:spPr bwMode="auto">
          <a:xfrm>
            <a:off x="3425825" y="4664702"/>
            <a:ext cx="339725" cy="623306"/>
          </a:xfrm>
          <a:custGeom>
            <a:avLst/>
            <a:gdLst>
              <a:gd name="T0" fmla="*/ 0 w 214"/>
              <a:gd name="T1" fmla="*/ 0 h 514"/>
              <a:gd name="T2" fmla="*/ 213 w 214"/>
              <a:gd name="T3" fmla="*/ 513 h 514"/>
              <a:gd name="T4" fmla="*/ 0 w 214"/>
              <a:gd name="T5" fmla="*/ 0 h 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4" h="514">
                <a:moveTo>
                  <a:pt x="0" y="0"/>
                </a:moveTo>
                <a:lnTo>
                  <a:pt x="213" y="513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" name="Freeform 36"/>
          <p:cNvSpPr>
            <a:spLocks/>
          </p:cNvSpPr>
          <p:nvPr/>
        </p:nvSpPr>
        <p:spPr bwMode="auto">
          <a:xfrm>
            <a:off x="3670300" y="5166742"/>
            <a:ext cx="95250" cy="121266"/>
          </a:xfrm>
          <a:custGeom>
            <a:avLst/>
            <a:gdLst>
              <a:gd name="T0" fmla="*/ 45 w 60"/>
              <a:gd name="T1" fmla="*/ 0 h 100"/>
              <a:gd name="T2" fmla="*/ 59 w 60"/>
              <a:gd name="T3" fmla="*/ 99 h 100"/>
              <a:gd name="T4" fmla="*/ 0 w 60"/>
              <a:gd name="T5" fmla="*/ 18 h 100"/>
              <a:gd name="T6" fmla="*/ 45 w 60"/>
              <a:gd name="T7" fmla="*/ 0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0" h="100">
                <a:moveTo>
                  <a:pt x="45" y="0"/>
                </a:moveTo>
                <a:lnTo>
                  <a:pt x="59" y="99"/>
                </a:lnTo>
                <a:lnTo>
                  <a:pt x="0" y="18"/>
                </a:lnTo>
                <a:lnTo>
                  <a:pt x="45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" name="Freeform 37"/>
          <p:cNvSpPr>
            <a:spLocks/>
          </p:cNvSpPr>
          <p:nvPr/>
        </p:nvSpPr>
        <p:spPr bwMode="auto">
          <a:xfrm>
            <a:off x="6107113" y="4675616"/>
            <a:ext cx="403225" cy="601479"/>
          </a:xfrm>
          <a:custGeom>
            <a:avLst/>
            <a:gdLst>
              <a:gd name="T0" fmla="*/ 253 w 254"/>
              <a:gd name="T1" fmla="*/ 0 h 496"/>
              <a:gd name="T2" fmla="*/ 0 w 254"/>
              <a:gd name="T3" fmla="*/ 495 h 496"/>
              <a:gd name="T4" fmla="*/ 253 w 254"/>
              <a:gd name="T5" fmla="*/ 0 h 4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54" h="496">
                <a:moveTo>
                  <a:pt x="253" y="0"/>
                </a:moveTo>
                <a:lnTo>
                  <a:pt x="0" y="495"/>
                </a:lnTo>
                <a:lnTo>
                  <a:pt x="253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" name="Freeform 38"/>
          <p:cNvSpPr>
            <a:spLocks/>
          </p:cNvSpPr>
          <p:nvPr/>
        </p:nvSpPr>
        <p:spPr bwMode="auto">
          <a:xfrm>
            <a:off x="6107113" y="5158254"/>
            <a:ext cx="106363" cy="118841"/>
          </a:xfrm>
          <a:custGeom>
            <a:avLst/>
            <a:gdLst>
              <a:gd name="T0" fmla="*/ 66 w 67"/>
              <a:gd name="T1" fmla="*/ 21 h 98"/>
              <a:gd name="T2" fmla="*/ 0 w 67"/>
              <a:gd name="T3" fmla="*/ 97 h 98"/>
              <a:gd name="T4" fmla="*/ 23 w 67"/>
              <a:gd name="T5" fmla="*/ 0 h 98"/>
              <a:gd name="T6" fmla="*/ 66 w 67"/>
              <a:gd name="T7" fmla="*/ 21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7" h="98">
                <a:moveTo>
                  <a:pt x="66" y="21"/>
                </a:moveTo>
                <a:lnTo>
                  <a:pt x="0" y="97"/>
                </a:lnTo>
                <a:lnTo>
                  <a:pt x="23" y="0"/>
                </a:lnTo>
                <a:lnTo>
                  <a:pt x="66" y="2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1" name="Freeform 39"/>
          <p:cNvSpPr>
            <a:spLocks/>
          </p:cNvSpPr>
          <p:nvPr/>
        </p:nvSpPr>
        <p:spPr bwMode="auto">
          <a:xfrm>
            <a:off x="7000875" y="4687742"/>
            <a:ext cx="1588" cy="577225"/>
          </a:xfrm>
          <a:custGeom>
            <a:avLst/>
            <a:gdLst>
              <a:gd name="T0" fmla="*/ 0 w 1"/>
              <a:gd name="T1" fmla="*/ 0 h 476"/>
              <a:gd name="T2" fmla="*/ 0 w 1"/>
              <a:gd name="T3" fmla="*/ 475 h 476"/>
              <a:gd name="T4" fmla="*/ 0 w 1"/>
              <a:gd name="T5" fmla="*/ 0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476">
                <a:moveTo>
                  <a:pt x="0" y="0"/>
                </a:moveTo>
                <a:lnTo>
                  <a:pt x="0" y="47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2" name="Freeform 40"/>
          <p:cNvSpPr>
            <a:spLocks/>
          </p:cNvSpPr>
          <p:nvPr/>
        </p:nvSpPr>
        <p:spPr bwMode="auto">
          <a:xfrm>
            <a:off x="6962775" y="5146127"/>
            <a:ext cx="77788" cy="118841"/>
          </a:xfrm>
          <a:custGeom>
            <a:avLst/>
            <a:gdLst>
              <a:gd name="T0" fmla="*/ 48 w 49"/>
              <a:gd name="T1" fmla="*/ 0 h 98"/>
              <a:gd name="T2" fmla="*/ 24 w 49"/>
              <a:gd name="T3" fmla="*/ 97 h 98"/>
              <a:gd name="T4" fmla="*/ 0 w 49"/>
              <a:gd name="T5" fmla="*/ 0 h 98"/>
              <a:gd name="T6" fmla="*/ 48 w 49"/>
              <a:gd name="T7" fmla="*/ 0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9" h="98">
                <a:moveTo>
                  <a:pt x="48" y="0"/>
                </a:moveTo>
                <a:lnTo>
                  <a:pt x="24" y="97"/>
                </a:lnTo>
                <a:lnTo>
                  <a:pt x="0" y="0"/>
                </a:lnTo>
                <a:lnTo>
                  <a:pt x="48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" name="Freeform 41"/>
          <p:cNvSpPr>
            <a:spLocks/>
          </p:cNvSpPr>
          <p:nvPr/>
        </p:nvSpPr>
        <p:spPr bwMode="auto">
          <a:xfrm>
            <a:off x="7494588" y="4698656"/>
            <a:ext cx="401638" cy="578438"/>
          </a:xfrm>
          <a:custGeom>
            <a:avLst/>
            <a:gdLst>
              <a:gd name="T0" fmla="*/ 0 w 253"/>
              <a:gd name="T1" fmla="*/ 0 h 477"/>
              <a:gd name="T2" fmla="*/ 252 w 253"/>
              <a:gd name="T3" fmla="*/ 476 h 477"/>
              <a:gd name="T4" fmla="*/ 0 w 253"/>
              <a:gd name="T5" fmla="*/ 0 h 4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53" h="477">
                <a:moveTo>
                  <a:pt x="0" y="0"/>
                </a:moveTo>
                <a:lnTo>
                  <a:pt x="252" y="476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" name="Freeform 42"/>
          <p:cNvSpPr>
            <a:spLocks/>
          </p:cNvSpPr>
          <p:nvPr/>
        </p:nvSpPr>
        <p:spPr bwMode="auto">
          <a:xfrm>
            <a:off x="7789863" y="5158254"/>
            <a:ext cx="106363" cy="118841"/>
          </a:xfrm>
          <a:custGeom>
            <a:avLst/>
            <a:gdLst>
              <a:gd name="T0" fmla="*/ 42 w 67"/>
              <a:gd name="T1" fmla="*/ 0 h 98"/>
              <a:gd name="T2" fmla="*/ 66 w 67"/>
              <a:gd name="T3" fmla="*/ 97 h 98"/>
              <a:gd name="T4" fmla="*/ 0 w 67"/>
              <a:gd name="T5" fmla="*/ 22 h 98"/>
              <a:gd name="T6" fmla="*/ 42 w 67"/>
              <a:gd name="T7" fmla="*/ 0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7" h="98">
                <a:moveTo>
                  <a:pt x="42" y="0"/>
                </a:moveTo>
                <a:lnTo>
                  <a:pt x="66" y="97"/>
                </a:lnTo>
                <a:lnTo>
                  <a:pt x="0" y="22"/>
                </a:lnTo>
                <a:lnTo>
                  <a:pt x="42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5" name="Freeform 43"/>
          <p:cNvSpPr>
            <a:spLocks/>
          </p:cNvSpPr>
          <p:nvPr/>
        </p:nvSpPr>
        <p:spPr bwMode="auto">
          <a:xfrm>
            <a:off x="1576388" y="5345003"/>
            <a:ext cx="1588" cy="343182"/>
          </a:xfrm>
          <a:custGeom>
            <a:avLst/>
            <a:gdLst>
              <a:gd name="T0" fmla="*/ 0 w 1"/>
              <a:gd name="T1" fmla="*/ 0 h 283"/>
              <a:gd name="T2" fmla="*/ 0 w 1"/>
              <a:gd name="T3" fmla="*/ 282 h 283"/>
              <a:gd name="T4" fmla="*/ 0 w 1"/>
              <a:gd name="T5" fmla="*/ 0 h 2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83">
                <a:moveTo>
                  <a:pt x="0" y="0"/>
                </a:moveTo>
                <a:lnTo>
                  <a:pt x="0" y="28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6" name="Freeform 44"/>
          <p:cNvSpPr>
            <a:spLocks/>
          </p:cNvSpPr>
          <p:nvPr/>
        </p:nvSpPr>
        <p:spPr bwMode="auto">
          <a:xfrm>
            <a:off x="2949575" y="5332877"/>
            <a:ext cx="1588" cy="355309"/>
          </a:xfrm>
          <a:custGeom>
            <a:avLst/>
            <a:gdLst>
              <a:gd name="T0" fmla="*/ 0 w 1"/>
              <a:gd name="T1" fmla="*/ 0 h 293"/>
              <a:gd name="T2" fmla="*/ 0 w 1"/>
              <a:gd name="T3" fmla="*/ 292 h 293"/>
              <a:gd name="T4" fmla="*/ 0 w 1"/>
              <a:gd name="T5" fmla="*/ 0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3">
                <a:moveTo>
                  <a:pt x="0" y="0"/>
                </a:moveTo>
                <a:lnTo>
                  <a:pt x="0" y="29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7" name="Freeform 45"/>
          <p:cNvSpPr>
            <a:spLocks/>
          </p:cNvSpPr>
          <p:nvPr/>
        </p:nvSpPr>
        <p:spPr bwMode="auto">
          <a:xfrm>
            <a:off x="4289425" y="5332877"/>
            <a:ext cx="1588" cy="366223"/>
          </a:xfrm>
          <a:custGeom>
            <a:avLst/>
            <a:gdLst>
              <a:gd name="T0" fmla="*/ 0 w 1"/>
              <a:gd name="T1" fmla="*/ 0 h 302"/>
              <a:gd name="T2" fmla="*/ 0 w 1"/>
              <a:gd name="T3" fmla="*/ 301 h 302"/>
              <a:gd name="T4" fmla="*/ 0 w 1"/>
              <a:gd name="T5" fmla="*/ 0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02">
                <a:moveTo>
                  <a:pt x="0" y="0"/>
                </a:moveTo>
                <a:lnTo>
                  <a:pt x="0" y="30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8" name="Freeform 46"/>
          <p:cNvSpPr>
            <a:spLocks/>
          </p:cNvSpPr>
          <p:nvPr/>
        </p:nvSpPr>
        <p:spPr bwMode="auto">
          <a:xfrm>
            <a:off x="5627688" y="5345003"/>
            <a:ext cx="1588" cy="331056"/>
          </a:xfrm>
          <a:custGeom>
            <a:avLst/>
            <a:gdLst>
              <a:gd name="T0" fmla="*/ 0 w 1"/>
              <a:gd name="T1" fmla="*/ 0 h 273"/>
              <a:gd name="T2" fmla="*/ 0 w 1"/>
              <a:gd name="T3" fmla="*/ 272 h 273"/>
              <a:gd name="T4" fmla="*/ 0 w 1"/>
              <a:gd name="T5" fmla="*/ 0 h 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73">
                <a:moveTo>
                  <a:pt x="0" y="0"/>
                </a:moveTo>
                <a:lnTo>
                  <a:pt x="0" y="27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9" name="Freeform 47"/>
          <p:cNvSpPr>
            <a:spLocks/>
          </p:cNvSpPr>
          <p:nvPr/>
        </p:nvSpPr>
        <p:spPr bwMode="auto">
          <a:xfrm>
            <a:off x="6986588" y="5345003"/>
            <a:ext cx="1588" cy="354096"/>
          </a:xfrm>
          <a:custGeom>
            <a:avLst/>
            <a:gdLst>
              <a:gd name="T0" fmla="*/ 0 w 1"/>
              <a:gd name="T1" fmla="*/ 0 h 292"/>
              <a:gd name="T2" fmla="*/ 0 w 1"/>
              <a:gd name="T3" fmla="*/ 291 h 292"/>
              <a:gd name="T4" fmla="*/ 0 w 1"/>
              <a:gd name="T5" fmla="*/ 0 h 2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2">
                <a:moveTo>
                  <a:pt x="0" y="0"/>
                </a:moveTo>
                <a:lnTo>
                  <a:pt x="0" y="29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" name="Freeform 48"/>
          <p:cNvSpPr>
            <a:spLocks/>
          </p:cNvSpPr>
          <p:nvPr/>
        </p:nvSpPr>
        <p:spPr bwMode="auto">
          <a:xfrm>
            <a:off x="8326438" y="5345003"/>
            <a:ext cx="1588" cy="354096"/>
          </a:xfrm>
          <a:custGeom>
            <a:avLst/>
            <a:gdLst>
              <a:gd name="T0" fmla="*/ 0 w 1"/>
              <a:gd name="T1" fmla="*/ 0 h 292"/>
              <a:gd name="T2" fmla="*/ 0 w 1"/>
              <a:gd name="T3" fmla="*/ 291 h 292"/>
              <a:gd name="T4" fmla="*/ 0 w 1"/>
              <a:gd name="T5" fmla="*/ 0 h 2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2">
                <a:moveTo>
                  <a:pt x="0" y="0"/>
                </a:moveTo>
                <a:lnTo>
                  <a:pt x="0" y="29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" name="Freeform 49"/>
          <p:cNvSpPr>
            <a:spLocks/>
          </p:cNvSpPr>
          <p:nvPr/>
        </p:nvSpPr>
        <p:spPr bwMode="auto">
          <a:xfrm>
            <a:off x="3871913" y="3430215"/>
            <a:ext cx="403225" cy="94587"/>
          </a:xfrm>
          <a:custGeom>
            <a:avLst/>
            <a:gdLst>
              <a:gd name="T0" fmla="*/ 0 w 254"/>
              <a:gd name="T1" fmla="*/ 0 h 78"/>
              <a:gd name="T2" fmla="*/ 253 w 254"/>
              <a:gd name="T3" fmla="*/ 77 h 78"/>
              <a:gd name="T4" fmla="*/ 0 w 254"/>
              <a:gd name="T5" fmla="*/ 0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54" h="78">
                <a:moveTo>
                  <a:pt x="0" y="0"/>
                </a:moveTo>
                <a:lnTo>
                  <a:pt x="253" y="7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2" name="Freeform 50"/>
          <p:cNvSpPr>
            <a:spLocks/>
          </p:cNvSpPr>
          <p:nvPr/>
        </p:nvSpPr>
        <p:spPr bwMode="auto">
          <a:xfrm>
            <a:off x="4114800" y="3462957"/>
            <a:ext cx="160338" cy="61846"/>
          </a:xfrm>
          <a:custGeom>
            <a:avLst/>
            <a:gdLst>
              <a:gd name="T0" fmla="*/ 15 w 101"/>
              <a:gd name="T1" fmla="*/ 0 h 51"/>
              <a:gd name="T2" fmla="*/ 100 w 101"/>
              <a:gd name="T3" fmla="*/ 50 h 51"/>
              <a:gd name="T4" fmla="*/ 0 w 101"/>
              <a:gd name="T5" fmla="*/ 45 h 51"/>
              <a:gd name="T6" fmla="*/ 15 w 101"/>
              <a:gd name="T7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1" h="51">
                <a:moveTo>
                  <a:pt x="15" y="0"/>
                </a:moveTo>
                <a:lnTo>
                  <a:pt x="100" y="50"/>
                </a:lnTo>
                <a:lnTo>
                  <a:pt x="0" y="45"/>
                </a:lnTo>
                <a:lnTo>
                  <a:pt x="15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" name="Rectangle 51"/>
          <p:cNvSpPr>
            <a:spLocks noChangeArrowheads="1"/>
          </p:cNvSpPr>
          <p:nvPr/>
        </p:nvSpPr>
        <p:spPr bwMode="auto">
          <a:xfrm>
            <a:off x="1069975" y="5398360"/>
            <a:ext cx="4286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10*</a:t>
            </a:r>
          </a:p>
        </p:txBody>
      </p:sp>
      <p:sp>
        <p:nvSpPr>
          <p:cNvPr id="154" name="Rectangle 52"/>
          <p:cNvSpPr>
            <a:spLocks noChangeArrowheads="1"/>
          </p:cNvSpPr>
          <p:nvPr/>
        </p:nvSpPr>
        <p:spPr bwMode="auto">
          <a:xfrm>
            <a:off x="1609725" y="5398360"/>
            <a:ext cx="4286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15*</a:t>
            </a:r>
          </a:p>
        </p:txBody>
      </p:sp>
      <p:sp>
        <p:nvSpPr>
          <p:cNvPr id="155" name="Rectangle 53"/>
          <p:cNvSpPr>
            <a:spLocks noChangeArrowheads="1"/>
          </p:cNvSpPr>
          <p:nvPr/>
        </p:nvSpPr>
        <p:spPr bwMode="auto">
          <a:xfrm>
            <a:off x="2427288" y="5398360"/>
            <a:ext cx="4286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20*</a:t>
            </a:r>
          </a:p>
        </p:txBody>
      </p:sp>
      <p:sp>
        <p:nvSpPr>
          <p:cNvPr id="156" name="Rectangle 54"/>
          <p:cNvSpPr>
            <a:spLocks noChangeArrowheads="1"/>
          </p:cNvSpPr>
          <p:nvPr/>
        </p:nvSpPr>
        <p:spPr bwMode="auto">
          <a:xfrm>
            <a:off x="2995613" y="5398360"/>
            <a:ext cx="4286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27*</a:t>
            </a:r>
          </a:p>
        </p:txBody>
      </p:sp>
      <p:sp>
        <p:nvSpPr>
          <p:cNvPr id="157" name="Rectangle 55"/>
          <p:cNvSpPr>
            <a:spLocks noChangeArrowheads="1"/>
          </p:cNvSpPr>
          <p:nvPr/>
        </p:nvSpPr>
        <p:spPr bwMode="auto">
          <a:xfrm>
            <a:off x="3797300" y="5398360"/>
            <a:ext cx="4286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33*</a:t>
            </a:r>
          </a:p>
        </p:txBody>
      </p:sp>
      <p:sp>
        <p:nvSpPr>
          <p:cNvPr id="158" name="Rectangle 56"/>
          <p:cNvSpPr>
            <a:spLocks noChangeArrowheads="1"/>
          </p:cNvSpPr>
          <p:nvPr/>
        </p:nvSpPr>
        <p:spPr bwMode="auto">
          <a:xfrm>
            <a:off x="4321175" y="5398360"/>
            <a:ext cx="4286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37*</a:t>
            </a:r>
          </a:p>
        </p:txBody>
      </p:sp>
      <p:sp>
        <p:nvSpPr>
          <p:cNvPr id="159" name="Rectangle 57"/>
          <p:cNvSpPr>
            <a:spLocks noChangeArrowheads="1"/>
          </p:cNvSpPr>
          <p:nvPr/>
        </p:nvSpPr>
        <p:spPr bwMode="auto">
          <a:xfrm>
            <a:off x="5153025" y="5398360"/>
            <a:ext cx="4286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40*</a:t>
            </a:r>
          </a:p>
        </p:txBody>
      </p:sp>
      <p:sp>
        <p:nvSpPr>
          <p:cNvPr id="160" name="Rectangle 58"/>
          <p:cNvSpPr>
            <a:spLocks noChangeArrowheads="1"/>
          </p:cNvSpPr>
          <p:nvPr/>
        </p:nvSpPr>
        <p:spPr bwMode="auto">
          <a:xfrm>
            <a:off x="5678488" y="5386234"/>
            <a:ext cx="4286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46*</a:t>
            </a:r>
          </a:p>
        </p:txBody>
      </p:sp>
      <p:sp>
        <p:nvSpPr>
          <p:cNvPr id="162" name="Rectangle 60"/>
          <p:cNvSpPr>
            <a:spLocks noChangeArrowheads="1"/>
          </p:cNvSpPr>
          <p:nvPr/>
        </p:nvSpPr>
        <p:spPr bwMode="auto">
          <a:xfrm>
            <a:off x="7065963" y="5386234"/>
            <a:ext cx="4286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 dirty="0">
                <a:solidFill>
                  <a:srgbClr val="000000"/>
                </a:solidFill>
                <a:latin typeface="Arial" pitchFamily="34" charset="0"/>
              </a:rPr>
              <a:t>55*</a:t>
            </a:r>
          </a:p>
        </p:txBody>
      </p:sp>
      <p:sp>
        <p:nvSpPr>
          <p:cNvPr id="163" name="Rectangle 61"/>
          <p:cNvSpPr>
            <a:spLocks noChangeArrowheads="1"/>
          </p:cNvSpPr>
          <p:nvPr/>
        </p:nvSpPr>
        <p:spPr bwMode="auto">
          <a:xfrm>
            <a:off x="7835900" y="5410487"/>
            <a:ext cx="4286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63*</a:t>
            </a:r>
          </a:p>
        </p:txBody>
      </p:sp>
      <p:sp>
        <p:nvSpPr>
          <p:cNvPr id="164" name="Rectangle 62"/>
          <p:cNvSpPr>
            <a:spLocks noChangeArrowheads="1"/>
          </p:cNvSpPr>
          <p:nvPr/>
        </p:nvSpPr>
        <p:spPr bwMode="auto">
          <a:xfrm>
            <a:off x="8391525" y="5398360"/>
            <a:ext cx="4286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97*</a:t>
            </a:r>
          </a:p>
        </p:txBody>
      </p:sp>
      <p:sp>
        <p:nvSpPr>
          <p:cNvPr id="165" name="Rectangle 63"/>
          <p:cNvSpPr>
            <a:spLocks noChangeArrowheads="1"/>
          </p:cNvSpPr>
          <p:nvPr/>
        </p:nvSpPr>
        <p:spPr bwMode="auto">
          <a:xfrm>
            <a:off x="2501900" y="4446423"/>
            <a:ext cx="3651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20</a:t>
            </a:r>
          </a:p>
        </p:txBody>
      </p:sp>
      <p:sp>
        <p:nvSpPr>
          <p:cNvPr id="166" name="Rectangle 64"/>
          <p:cNvSpPr>
            <a:spLocks noChangeArrowheads="1"/>
          </p:cNvSpPr>
          <p:nvPr/>
        </p:nvSpPr>
        <p:spPr bwMode="auto">
          <a:xfrm>
            <a:off x="2995613" y="4446423"/>
            <a:ext cx="3651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33</a:t>
            </a:r>
          </a:p>
        </p:txBody>
      </p:sp>
      <p:sp>
        <p:nvSpPr>
          <p:cNvPr id="167" name="Rectangle 65"/>
          <p:cNvSpPr>
            <a:spLocks noChangeArrowheads="1"/>
          </p:cNvSpPr>
          <p:nvPr/>
        </p:nvSpPr>
        <p:spPr bwMode="auto">
          <a:xfrm>
            <a:off x="6572250" y="4446423"/>
            <a:ext cx="3651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51</a:t>
            </a:r>
          </a:p>
        </p:txBody>
      </p:sp>
      <p:sp>
        <p:nvSpPr>
          <p:cNvPr id="168" name="Rectangle 66"/>
          <p:cNvSpPr>
            <a:spLocks noChangeArrowheads="1"/>
          </p:cNvSpPr>
          <p:nvPr/>
        </p:nvSpPr>
        <p:spPr bwMode="auto">
          <a:xfrm>
            <a:off x="7048500" y="4446423"/>
            <a:ext cx="3651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63</a:t>
            </a:r>
          </a:p>
        </p:txBody>
      </p:sp>
      <p:sp>
        <p:nvSpPr>
          <p:cNvPr id="169" name="Rectangle 67"/>
          <p:cNvSpPr>
            <a:spLocks noChangeArrowheads="1"/>
          </p:cNvSpPr>
          <p:nvPr/>
        </p:nvSpPr>
        <p:spPr bwMode="auto">
          <a:xfrm>
            <a:off x="4460875" y="3599988"/>
            <a:ext cx="365125" cy="21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40</a:t>
            </a:r>
          </a:p>
        </p:txBody>
      </p:sp>
      <p:sp>
        <p:nvSpPr>
          <p:cNvPr id="170" name="Rectangle 68"/>
          <p:cNvSpPr>
            <a:spLocks noChangeArrowheads="1"/>
          </p:cNvSpPr>
          <p:nvPr/>
        </p:nvSpPr>
        <p:spPr bwMode="auto">
          <a:xfrm>
            <a:off x="3117850" y="3342904"/>
            <a:ext cx="585788" cy="230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cxnSp>
        <p:nvCxnSpPr>
          <p:cNvPr id="3" name="Straight Arrow Connector 2"/>
          <p:cNvCxnSpPr>
            <a:endCxn id="132" idx="1"/>
          </p:cNvCxnSpPr>
          <p:nvPr/>
        </p:nvCxnSpPr>
        <p:spPr>
          <a:xfrm>
            <a:off x="4905376" y="3819479"/>
            <a:ext cx="1525587" cy="5396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/>
          <p:cNvCxnSpPr/>
          <p:nvPr/>
        </p:nvCxnSpPr>
        <p:spPr>
          <a:xfrm>
            <a:off x="7002463" y="4710783"/>
            <a:ext cx="0" cy="57722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reeform 50"/>
          <p:cNvSpPr>
            <a:spLocks/>
          </p:cNvSpPr>
          <p:nvPr/>
        </p:nvSpPr>
        <p:spPr bwMode="auto">
          <a:xfrm>
            <a:off x="2389833" y="5835042"/>
            <a:ext cx="992188" cy="341312"/>
          </a:xfrm>
          <a:custGeom>
            <a:avLst/>
            <a:gdLst>
              <a:gd name="T0" fmla="*/ 0 w 625"/>
              <a:gd name="T1" fmla="*/ 278 h 279"/>
              <a:gd name="T2" fmla="*/ 0 w 625"/>
              <a:gd name="T3" fmla="*/ 0 h 279"/>
              <a:gd name="T4" fmla="*/ 624 w 625"/>
              <a:gd name="T5" fmla="*/ 0 h 279"/>
              <a:gd name="T6" fmla="*/ 624 w 625"/>
              <a:gd name="T7" fmla="*/ 278 h 279"/>
              <a:gd name="T8" fmla="*/ 0 w 625"/>
              <a:gd name="T9" fmla="*/ 278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5" h="279">
                <a:moveTo>
                  <a:pt x="0" y="278"/>
                </a:moveTo>
                <a:lnTo>
                  <a:pt x="0" y="0"/>
                </a:lnTo>
                <a:lnTo>
                  <a:pt x="624" y="0"/>
                </a:lnTo>
                <a:lnTo>
                  <a:pt x="624" y="278"/>
                </a:lnTo>
                <a:lnTo>
                  <a:pt x="0" y="27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Freeform 51"/>
          <p:cNvSpPr>
            <a:spLocks/>
          </p:cNvSpPr>
          <p:nvPr/>
        </p:nvSpPr>
        <p:spPr bwMode="auto">
          <a:xfrm>
            <a:off x="2885133" y="5849329"/>
            <a:ext cx="1588" cy="309506"/>
          </a:xfrm>
          <a:custGeom>
            <a:avLst/>
            <a:gdLst>
              <a:gd name="T0" fmla="*/ 0 w 1"/>
              <a:gd name="T1" fmla="*/ 0 h 253"/>
              <a:gd name="T2" fmla="*/ 0 w 1"/>
              <a:gd name="T3" fmla="*/ 252 h 253"/>
              <a:gd name="T4" fmla="*/ 0 w 1"/>
              <a:gd name="T5" fmla="*/ 0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3">
                <a:moveTo>
                  <a:pt x="0" y="0"/>
                </a:moveTo>
                <a:lnTo>
                  <a:pt x="0" y="25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Rectangle 76"/>
          <p:cNvSpPr>
            <a:spLocks noChangeArrowheads="1"/>
          </p:cNvSpPr>
          <p:nvPr/>
        </p:nvSpPr>
        <p:spPr bwMode="auto">
          <a:xfrm>
            <a:off x="2435871" y="5889017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23*</a:t>
            </a:r>
          </a:p>
        </p:txBody>
      </p:sp>
      <p:sp>
        <p:nvSpPr>
          <p:cNvPr id="75" name="Arc 87"/>
          <p:cNvSpPr>
            <a:spLocks/>
          </p:cNvSpPr>
          <p:nvPr/>
        </p:nvSpPr>
        <p:spPr bwMode="auto">
          <a:xfrm>
            <a:off x="2377603" y="5711226"/>
            <a:ext cx="152400" cy="14506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" name="Freeform 52"/>
          <p:cNvSpPr>
            <a:spLocks/>
          </p:cNvSpPr>
          <p:nvPr/>
        </p:nvSpPr>
        <p:spPr bwMode="auto">
          <a:xfrm>
            <a:off x="5103680" y="5856288"/>
            <a:ext cx="992188" cy="373856"/>
          </a:xfrm>
          <a:custGeom>
            <a:avLst/>
            <a:gdLst>
              <a:gd name="T0" fmla="*/ 0 w 625"/>
              <a:gd name="T1" fmla="*/ 278 h 279"/>
              <a:gd name="T2" fmla="*/ 0 w 625"/>
              <a:gd name="T3" fmla="*/ 0 h 279"/>
              <a:gd name="T4" fmla="*/ 624 w 625"/>
              <a:gd name="T5" fmla="*/ 0 h 279"/>
              <a:gd name="T6" fmla="*/ 624 w 625"/>
              <a:gd name="T7" fmla="*/ 278 h 279"/>
              <a:gd name="T8" fmla="*/ 0 w 625"/>
              <a:gd name="T9" fmla="*/ 278 h 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5" h="279">
                <a:moveTo>
                  <a:pt x="0" y="278"/>
                </a:moveTo>
                <a:lnTo>
                  <a:pt x="0" y="0"/>
                </a:lnTo>
                <a:lnTo>
                  <a:pt x="624" y="0"/>
                </a:lnTo>
                <a:lnTo>
                  <a:pt x="624" y="278"/>
                </a:lnTo>
                <a:lnTo>
                  <a:pt x="0" y="27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" name="Freeform 53"/>
          <p:cNvSpPr>
            <a:spLocks/>
          </p:cNvSpPr>
          <p:nvPr/>
        </p:nvSpPr>
        <p:spPr bwMode="auto">
          <a:xfrm>
            <a:off x="5568818" y="5868988"/>
            <a:ext cx="1587" cy="351077"/>
          </a:xfrm>
          <a:custGeom>
            <a:avLst/>
            <a:gdLst>
              <a:gd name="T0" fmla="*/ 0 w 1"/>
              <a:gd name="T1" fmla="*/ 0 h 262"/>
              <a:gd name="T2" fmla="*/ 0 w 1"/>
              <a:gd name="T3" fmla="*/ 261 h 262"/>
              <a:gd name="T4" fmla="*/ 0 w 1"/>
              <a:gd name="T5" fmla="*/ 0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62">
                <a:moveTo>
                  <a:pt x="0" y="0"/>
                </a:moveTo>
                <a:lnTo>
                  <a:pt x="0" y="26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Rectangle 77"/>
          <p:cNvSpPr>
            <a:spLocks noChangeArrowheads="1"/>
          </p:cNvSpPr>
          <p:nvPr/>
        </p:nvSpPr>
        <p:spPr bwMode="auto">
          <a:xfrm>
            <a:off x="5162418" y="5897563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48*</a:t>
            </a:r>
          </a:p>
        </p:txBody>
      </p:sp>
      <p:sp>
        <p:nvSpPr>
          <p:cNvPr id="100" name="Rectangle 78"/>
          <p:cNvSpPr>
            <a:spLocks noChangeArrowheads="1"/>
          </p:cNvSpPr>
          <p:nvPr/>
        </p:nvSpPr>
        <p:spPr bwMode="auto">
          <a:xfrm>
            <a:off x="5591043" y="5881688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41*</a:t>
            </a:r>
          </a:p>
        </p:txBody>
      </p:sp>
      <p:sp>
        <p:nvSpPr>
          <p:cNvPr id="102" name="Arc 88"/>
          <p:cNvSpPr>
            <a:spLocks/>
          </p:cNvSpPr>
          <p:nvPr/>
        </p:nvSpPr>
        <p:spPr bwMode="auto">
          <a:xfrm>
            <a:off x="5071930" y="5711226"/>
            <a:ext cx="152400" cy="156174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" name="Rounded Rectangle 80"/>
          <p:cNvSpPr/>
          <p:nvPr/>
        </p:nvSpPr>
        <p:spPr>
          <a:xfrm>
            <a:off x="1284287" y="6278496"/>
            <a:ext cx="6273801" cy="42365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/>
              <a:t>Primary pages are NOT removed, even if they become empty!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244783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" grpId="0"/>
      <p:bldP spid="8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ISAM: Some Issues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Once an ISAM file is created, insertions and deletions affect only the contents of leaf pages (i.e., </a:t>
            </a:r>
            <a:r>
              <a:rPr lang="en-US" sz="2600" i="1" dirty="0" smtClean="0">
                <a:solidFill>
                  <a:srgbClr val="0070C0"/>
                </a:solidFill>
              </a:rPr>
              <a:t>ISAM is a </a:t>
            </a:r>
            <a:r>
              <a:rPr lang="en-US" sz="2600" i="1" u="sng" dirty="0" smtClean="0">
                <a:solidFill>
                  <a:srgbClr val="0070C0"/>
                </a:solidFill>
              </a:rPr>
              <a:t>static</a:t>
            </a:r>
            <a:r>
              <a:rPr lang="en-US" sz="2600" i="1" dirty="0" smtClean="0">
                <a:solidFill>
                  <a:srgbClr val="0070C0"/>
                </a:solidFill>
              </a:rPr>
              <a:t> structure</a:t>
            </a:r>
            <a:r>
              <a:rPr lang="en-US" sz="2600" dirty="0" smtClean="0"/>
              <a:t>!)</a:t>
            </a:r>
          </a:p>
          <a:p>
            <a:pPr>
              <a:buFont typeface="Wingdings" pitchFamily="2" charset="2"/>
              <a:buChar char="§"/>
            </a:pPr>
            <a:endParaRPr lang="en-US" sz="2600" dirty="0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Since index-level pages are </a:t>
            </a:r>
            <a:r>
              <a:rPr lang="en-US" sz="2600" i="1" dirty="0"/>
              <a:t>never</a:t>
            </a:r>
            <a:r>
              <a:rPr lang="en-US" sz="2600" dirty="0"/>
              <a:t> modified, there is no need to </a:t>
            </a:r>
            <a:r>
              <a:rPr lang="en-US" sz="2600" i="1" dirty="0"/>
              <a:t>lock</a:t>
            </a:r>
            <a:r>
              <a:rPr lang="en-US" sz="2600" dirty="0"/>
              <a:t> them during insertions/deletions </a:t>
            </a:r>
            <a:endParaRPr lang="en-US" sz="2600" dirty="0" smtClean="0"/>
          </a:p>
          <a:p>
            <a:pPr lvl="1">
              <a:buFont typeface="Wingdings" pitchFamily="2" charset="2"/>
              <a:buChar char="§"/>
            </a:pPr>
            <a:r>
              <a:rPr lang="en-US" sz="2400" dirty="0" smtClean="0"/>
              <a:t>Critical </a:t>
            </a:r>
            <a:r>
              <a:rPr lang="en-US" sz="2400" dirty="0"/>
              <a:t>for concurrency</a:t>
            </a:r>
            <a:r>
              <a:rPr lang="en-US" sz="2400" dirty="0" smtClean="0"/>
              <a:t>!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2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Long overflow chains can develop easily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 smtClean="0"/>
              <a:t>The tree can be initially set so that ~20% of each page is free</a:t>
            </a:r>
          </a:p>
          <a:p>
            <a:pPr lvl="1">
              <a:buFont typeface="Wingdings" pitchFamily="2" charset="2"/>
              <a:buChar char="§"/>
            </a:pPr>
            <a:endParaRPr lang="en-US" sz="22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If the data distribution and size are relatively static, ISAM might be a good choice to pursue!</a:t>
            </a:r>
          </a:p>
          <a:p>
            <a:pPr lvl="1">
              <a:buFont typeface="Wingdings" pitchFamily="2" charset="2"/>
              <a:buChar char="§"/>
            </a:pPr>
            <a:endParaRPr lang="en-US" sz="2200" dirty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023498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Dynamic Trees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058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ISAM indices are static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dirty="0" smtClean="0"/>
              <a:t>Long overflow chains can develop as the file grows, leading to poor performance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This calls for more flexible, </a:t>
            </a:r>
            <a:r>
              <a:rPr lang="en-US" sz="2600" i="1" dirty="0" smtClean="0"/>
              <a:t>dynamic</a:t>
            </a:r>
            <a:r>
              <a:rPr lang="en-US" sz="2600" dirty="0" smtClean="0"/>
              <a:t> indices that adjust gracefully to insertions and deletions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 smtClean="0"/>
              <a:t>No need to allocate the leaf pages sequentially as in ISAM</a:t>
            </a:r>
          </a:p>
          <a:p>
            <a:pPr lvl="1">
              <a:buFont typeface="Wingdings" pitchFamily="2" charset="2"/>
              <a:buChar char="§"/>
            </a:pPr>
            <a:endParaRPr lang="en-US" sz="2200" dirty="0"/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Among the </a:t>
            </a:r>
            <a:r>
              <a:rPr lang="en-US" sz="2800" b="1" dirty="0"/>
              <a:t>most successful</a:t>
            </a:r>
            <a:r>
              <a:rPr lang="en-US" sz="2800" dirty="0"/>
              <a:t> </a:t>
            </a:r>
            <a:r>
              <a:rPr lang="en-US" sz="2800" dirty="0" smtClean="0"/>
              <a:t>dynamic </a:t>
            </a:r>
            <a:r>
              <a:rPr lang="en-US" sz="2800" dirty="0"/>
              <a:t>index schemes </a:t>
            </a:r>
            <a:r>
              <a:rPr lang="en-US" sz="2800" dirty="0" smtClean="0"/>
              <a:t>is the B+ tree</a:t>
            </a: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600" dirty="0" smtClean="0"/>
          </a:p>
          <a:p>
            <a:pPr lvl="1">
              <a:buFont typeface="Wingdings" pitchFamily="2" charset="2"/>
              <a:buChar char="§"/>
            </a:pPr>
            <a:endParaRPr lang="en-US" sz="2200" dirty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76369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B+ Tree Properties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3820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600" dirty="0" smtClean="0"/>
          </a:p>
          <a:p>
            <a:pPr lvl="1">
              <a:buFont typeface="Wingdings" pitchFamily="2" charset="2"/>
              <a:buChar char="§"/>
            </a:pPr>
            <a:endParaRPr lang="en-US" sz="2200" dirty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§"/>
            </a:pPr>
            <a:endParaRPr lang="en-US" sz="2600" dirty="0"/>
          </a:p>
        </p:txBody>
      </p:sp>
      <p:grpSp>
        <p:nvGrpSpPr>
          <p:cNvPr id="83" name="Group 4"/>
          <p:cNvGrpSpPr>
            <a:grpSpLocks/>
          </p:cNvGrpSpPr>
          <p:nvPr/>
        </p:nvGrpSpPr>
        <p:grpSpPr bwMode="auto">
          <a:xfrm>
            <a:off x="2702932" y="4495800"/>
            <a:ext cx="3846526" cy="1330325"/>
            <a:chOff x="3120" y="2858"/>
            <a:chExt cx="2423" cy="838"/>
          </a:xfrm>
        </p:grpSpPr>
        <p:grpSp>
          <p:nvGrpSpPr>
            <p:cNvPr id="84" name="Group 5"/>
            <p:cNvGrpSpPr>
              <a:grpSpLocks/>
            </p:cNvGrpSpPr>
            <p:nvPr/>
          </p:nvGrpSpPr>
          <p:grpSpPr bwMode="auto">
            <a:xfrm>
              <a:off x="3408" y="3168"/>
              <a:ext cx="960" cy="336"/>
              <a:chOff x="2208" y="2640"/>
              <a:chExt cx="960" cy="336"/>
            </a:xfrm>
          </p:grpSpPr>
          <p:grpSp>
            <p:nvGrpSpPr>
              <p:cNvPr id="106" name="Group 6"/>
              <p:cNvGrpSpPr>
                <a:grpSpLocks/>
              </p:cNvGrpSpPr>
              <p:nvPr/>
            </p:nvGrpSpPr>
            <p:grpSpPr bwMode="auto">
              <a:xfrm>
                <a:off x="2208" y="2640"/>
                <a:ext cx="96" cy="336"/>
                <a:chOff x="2208" y="2640"/>
                <a:chExt cx="96" cy="336"/>
              </a:xfrm>
            </p:grpSpPr>
            <p:sp>
              <p:nvSpPr>
                <p:cNvPr id="115" name="Line 7"/>
                <p:cNvSpPr>
                  <a:spLocks noChangeShapeType="1"/>
                </p:cNvSpPr>
                <p:nvPr/>
              </p:nvSpPr>
              <p:spPr bwMode="auto">
                <a:xfrm>
                  <a:off x="2208" y="2640"/>
                  <a:ext cx="0" cy="33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6" name="Line 8"/>
                <p:cNvSpPr>
                  <a:spLocks noChangeShapeType="1"/>
                </p:cNvSpPr>
                <p:nvPr/>
              </p:nvSpPr>
              <p:spPr bwMode="auto">
                <a:xfrm>
                  <a:off x="2304" y="2640"/>
                  <a:ext cx="0" cy="33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7" name="Group 9"/>
              <p:cNvGrpSpPr>
                <a:grpSpLocks/>
              </p:cNvGrpSpPr>
              <p:nvPr/>
            </p:nvGrpSpPr>
            <p:grpSpPr bwMode="auto">
              <a:xfrm>
                <a:off x="3072" y="2640"/>
                <a:ext cx="96" cy="336"/>
                <a:chOff x="2208" y="2640"/>
                <a:chExt cx="96" cy="336"/>
              </a:xfrm>
            </p:grpSpPr>
            <p:sp>
              <p:nvSpPr>
                <p:cNvPr id="113" name="Line 10"/>
                <p:cNvSpPr>
                  <a:spLocks noChangeShapeType="1"/>
                </p:cNvSpPr>
                <p:nvPr/>
              </p:nvSpPr>
              <p:spPr bwMode="auto">
                <a:xfrm>
                  <a:off x="2208" y="2640"/>
                  <a:ext cx="0" cy="33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4" name="Line 11"/>
                <p:cNvSpPr>
                  <a:spLocks noChangeShapeType="1"/>
                </p:cNvSpPr>
                <p:nvPr/>
              </p:nvSpPr>
              <p:spPr bwMode="auto">
                <a:xfrm>
                  <a:off x="2304" y="2640"/>
                  <a:ext cx="0" cy="33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8" name="Group 12"/>
              <p:cNvGrpSpPr>
                <a:grpSpLocks/>
              </p:cNvGrpSpPr>
              <p:nvPr/>
            </p:nvGrpSpPr>
            <p:grpSpPr bwMode="auto">
              <a:xfrm>
                <a:off x="2640" y="2640"/>
                <a:ext cx="96" cy="336"/>
                <a:chOff x="2208" y="2640"/>
                <a:chExt cx="96" cy="336"/>
              </a:xfrm>
            </p:grpSpPr>
            <p:sp>
              <p:nvSpPr>
                <p:cNvPr id="111" name="Line 13"/>
                <p:cNvSpPr>
                  <a:spLocks noChangeShapeType="1"/>
                </p:cNvSpPr>
                <p:nvPr/>
              </p:nvSpPr>
              <p:spPr bwMode="auto">
                <a:xfrm>
                  <a:off x="2208" y="2640"/>
                  <a:ext cx="0" cy="33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2" name="Line 14"/>
                <p:cNvSpPr>
                  <a:spLocks noChangeShapeType="1"/>
                </p:cNvSpPr>
                <p:nvPr/>
              </p:nvSpPr>
              <p:spPr bwMode="auto">
                <a:xfrm>
                  <a:off x="2304" y="2640"/>
                  <a:ext cx="0" cy="33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09" name="Line 15"/>
              <p:cNvSpPr>
                <a:spLocks noChangeShapeType="1"/>
              </p:cNvSpPr>
              <p:nvPr/>
            </p:nvSpPr>
            <p:spPr bwMode="auto">
              <a:xfrm>
                <a:off x="2208" y="2640"/>
                <a:ext cx="9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0" name="Line 16"/>
              <p:cNvSpPr>
                <a:spLocks noChangeShapeType="1"/>
              </p:cNvSpPr>
              <p:nvPr/>
            </p:nvSpPr>
            <p:spPr bwMode="auto">
              <a:xfrm>
                <a:off x="2208" y="2976"/>
                <a:ext cx="9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85" name="Line 17"/>
            <p:cNvSpPr>
              <a:spLocks noChangeShapeType="1"/>
            </p:cNvSpPr>
            <p:nvPr/>
          </p:nvSpPr>
          <p:spPr bwMode="auto">
            <a:xfrm>
              <a:off x="3456" y="3360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86" name="Line 18"/>
            <p:cNvSpPr>
              <a:spLocks noChangeShapeType="1"/>
            </p:cNvSpPr>
            <p:nvPr/>
          </p:nvSpPr>
          <p:spPr bwMode="auto">
            <a:xfrm>
              <a:off x="3888" y="3360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87" name="Text Box 19"/>
            <p:cNvSpPr txBox="1">
              <a:spLocks noChangeArrowheads="1"/>
            </p:cNvSpPr>
            <p:nvPr/>
          </p:nvSpPr>
          <p:spPr bwMode="auto">
            <a:xfrm>
              <a:off x="3514" y="3216"/>
              <a:ext cx="28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u="none" dirty="0" smtClean="0"/>
                <a:t>k</a:t>
              </a:r>
              <a:r>
                <a:rPr lang="en-US" u="none" baseline="-25000" dirty="0" smtClean="0"/>
                <a:t>1</a:t>
              </a:r>
              <a:endParaRPr lang="en-US" u="none" baseline="-25000" dirty="0"/>
            </a:p>
          </p:txBody>
        </p:sp>
        <p:grpSp>
          <p:nvGrpSpPr>
            <p:cNvPr id="88" name="Group 20"/>
            <p:cNvGrpSpPr>
              <a:grpSpLocks/>
            </p:cNvGrpSpPr>
            <p:nvPr/>
          </p:nvGrpSpPr>
          <p:grpSpPr bwMode="auto">
            <a:xfrm>
              <a:off x="4272" y="3168"/>
              <a:ext cx="960" cy="336"/>
              <a:chOff x="2208" y="2640"/>
              <a:chExt cx="960" cy="336"/>
            </a:xfrm>
          </p:grpSpPr>
          <p:grpSp>
            <p:nvGrpSpPr>
              <p:cNvPr id="95" name="Group 21"/>
              <p:cNvGrpSpPr>
                <a:grpSpLocks/>
              </p:cNvGrpSpPr>
              <p:nvPr/>
            </p:nvGrpSpPr>
            <p:grpSpPr bwMode="auto">
              <a:xfrm>
                <a:off x="2208" y="2640"/>
                <a:ext cx="96" cy="336"/>
                <a:chOff x="2208" y="2640"/>
                <a:chExt cx="96" cy="336"/>
              </a:xfrm>
            </p:grpSpPr>
            <p:sp>
              <p:nvSpPr>
                <p:cNvPr id="104" name="Line 22"/>
                <p:cNvSpPr>
                  <a:spLocks noChangeShapeType="1"/>
                </p:cNvSpPr>
                <p:nvPr/>
              </p:nvSpPr>
              <p:spPr bwMode="auto">
                <a:xfrm>
                  <a:off x="2208" y="2640"/>
                  <a:ext cx="0" cy="33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05" name="Line 23"/>
                <p:cNvSpPr>
                  <a:spLocks noChangeShapeType="1"/>
                </p:cNvSpPr>
                <p:nvPr/>
              </p:nvSpPr>
              <p:spPr bwMode="auto">
                <a:xfrm>
                  <a:off x="2304" y="2640"/>
                  <a:ext cx="0" cy="33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96" name="Group 24"/>
              <p:cNvGrpSpPr>
                <a:grpSpLocks/>
              </p:cNvGrpSpPr>
              <p:nvPr/>
            </p:nvGrpSpPr>
            <p:grpSpPr bwMode="auto">
              <a:xfrm>
                <a:off x="3072" y="2640"/>
                <a:ext cx="96" cy="336"/>
                <a:chOff x="2208" y="2640"/>
                <a:chExt cx="96" cy="336"/>
              </a:xfrm>
            </p:grpSpPr>
            <p:sp>
              <p:nvSpPr>
                <p:cNvPr id="102" name="Line 25"/>
                <p:cNvSpPr>
                  <a:spLocks noChangeShapeType="1"/>
                </p:cNvSpPr>
                <p:nvPr/>
              </p:nvSpPr>
              <p:spPr bwMode="auto">
                <a:xfrm>
                  <a:off x="2208" y="2640"/>
                  <a:ext cx="0" cy="33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03" name="Line 26"/>
                <p:cNvSpPr>
                  <a:spLocks noChangeShapeType="1"/>
                </p:cNvSpPr>
                <p:nvPr/>
              </p:nvSpPr>
              <p:spPr bwMode="auto">
                <a:xfrm>
                  <a:off x="2304" y="2640"/>
                  <a:ext cx="0" cy="33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97" name="Group 27"/>
              <p:cNvGrpSpPr>
                <a:grpSpLocks/>
              </p:cNvGrpSpPr>
              <p:nvPr/>
            </p:nvGrpSpPr>
            <p:grpSpPr bwMode="auto">
              <a:xfrm>
                <a:off x="2640" y="2640"/>
                <a:ext cx="96" cy="336"/>
                <a:chOff x="2208" y="2640"/>
                <a:chExt cx="96" cy="336"/>
              </a:xfrm>
            </p:grpSpPr>
            <p:sp>
              <p:nvSpPr>
                <p:cNvPr id="100" name="Line 28"/>
                <p:cNvSpPr>
                  <a:spLocks noChangeShapeType="1"/>
                </p:cNvSpPr>
                <p:nvPr/>
              </p:nvSpPr>
              <p:spPr bwMode="auto">
                <a:xfrm>
                  <a:off x="2208" y="2640"/>
                  <a:ext cx="0" cy="33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01" name="Line 29"/>
                <p:cNvSpPr>
                  <a:spLocks noChangeShapeType="1"/>
                </p:cNvSpPr>
                <p:nvPr/>
              </p:nvSpPr>
              <p:spPr bwMode="auto">
                <a:xfrm>
                  <a:off x="2304" y="2640"/>
                  <a:ext cx="0" cy="33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98" name="Line 30"/>
              <p:cNvSpPr>
                <a:spLocks noChangeShapeType="1"/>
              </p:cNvSpPr>
              <p:nvPr/>
            </p:nvSpPr>
            <p:spPr bwMode="auto">
              <a:xfrm>
                <a:off x="2208" y="2640"/>
                <a:ext cx="9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9" name="Line 31"/>
              <p:cNvSpPr>
                <a:spLocks noChangeShapeType="1"/>
              </p:cNvSpPr>
              <p:nvPr/>
            </p:nvSpPr>
            <p:spPr bwMode="auto">
              <a:xfrm>
                <a:off x="2208" y="2976"/>
                <a:ext cx="9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89" name="Text Box 32"/>
            <p:cNvSpPr txBox="1">
              <a:spLocks noChangeArrowheads="1"/>
            </p:cNvSpPr>
            <p:nvPr/>
          </p:nvSpPr>
          <p:spPr bwMode="auto">
            <a:xfrm>
              <a:off x="3946" y="3216"/>
              <a:ext cx="28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u="none" dirty="0" smtClean="0"/>
                <a:t>k</a:t>
              </a:r>
              <a:r>
                <a:rPr lang="en-US" u="none" baseline="-25000" dirty="0" smtClean="0"/>
                <a:t>2</a:t>
              </a:r>
              <a:endParaRPr lang="en-US" u="none" baseline="-25000" dirty="0"/>
            </a:p>
          </p:txBody>
        </p:sp>
        <p:sp>
          <p:nvSpPr>
            <p:cNvPr id="90" name="Text Box 33"/>
            <p:cNvSpPr txBox="1">
              <a:spLocks noChangeArrowheads="1"/>
            </p:cNvSpPr>
            <p:nvPr/>
          </p:nvSpPr>
          <p:spPr bwMode="auto">
            <a:xfrm>
              <a:off x="4368" y="3168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u="none"/>
                <a:t>…</a:t>
              </a:r>
            </a:p>
          </p:txBody>
        </p:sp>
        <p:sp>
          <p:nvSpPr>
            <p:cNvPr id="91" name="Text Box 34"/>
            <p:cNvSpPr txBox="1">
              <a:spLocks noChangeArrowheads="1"/>
            </p:cNvSpPr>
            <p:nvPr/>
          </p:nvSpPr>
          <p:spPr bwMode="auto">
            <a:xfrm>
              <a:off x="4846" y="3168"/>
              <a:ext cx="29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u="none" dirty="0" err="1" smtClean="0"/>
                <a:t>k</a:t>
              </a:r>
              <a:r>
                <a:rPr lang="en-US" u="none" baseline="-25000" dirty="0" err="1" smtClean="0"/>
                <a:t>n</a:t>
              </a:r>
              <a:endParaRPr lang="en-US" u="none" dirty="0"/>
            </a:p>
          </p:txBody>
        </p:sp>
        <p:sp>
          <p:nvSpPr>
            <p:cNvPr id="92" name="Text Box 35"/>
            <p:cNvSpPr txBox="1">
              <a:spLocks noChangeArrowheads="1"/>
            </p:cNvSpPr>
            <p:nvPr/>
          </p:nvSpPr>
          <p:spPr bwMode="auto">
            <a:xfrm>
              <a:off x="3120" y="2906"/>
              <a:ext cx="28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u="none" dirty="0"/>
                <a:t>p</a:t>
              </a:r>
              <a:r>
                <a:rPr lang="en-US" u="none" baseline="-25000" dirty="0"/>
                <a:t>1</a:t>
              </a:r>
            </a:p>
          </p:txBody>
        </p:sp>
        <p:sp>
          <p:nvSpPr>
            <p:cNvPr id="93" name="Text Box 36"/>
            <p:cNvSpPr txBox="1">
              <a:spLocks noChangeArrowheads="1"/>
            </p:cNvSpPr>
            <p:nvPr/>
          </p:nvSpPr>
          <p:spPr bwMode="auto">
            <a:xfrm>
              <a:off x="5098" y="2858"/>
              <a:ext cx="44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 b="1" u="sng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u="none" dirty="0"/>
                <a:t>p</a:t>
              </a:r>
              <a:r>
                <a:rPr lang="en-US" u="none" baseline="-25000" dirty="0"/>
                <a:t>n+1</a:t>
              </a:r>
            </a:p>
          </p:txBody>
        </p:sp>
        <p:sp>
          <p:nvSpPr>
            <p:cNvPr id="94" name="Line 37"/>
            <p:cNvSpPr>
              <a:spLocks noChangeShapeType="1"/>
            </p:cNvSpPr>
            <p:nvPr/>
          </p:nvSpPr>
          <p:spPr bwMode="auto">
            <a:xfrm>
              <a:off x="5184" y="3360"/>
              <a:ext cx="96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3" name="Rounded Rectangle 2"/>
          <p:cNvSpPr/>
          <p:nvPr/>
        </p:nvSpPr>
        <p:spPr>
          <a:xfrm>
            <a:off x="2702905" y="4606925"/>
            <a:ext cx="625475" cy="1219200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/>
          <p:cNvSpPr txBox="1"/>
          <p:nvPr/>
        </p:nvSpPr>
        <p:spPr>
          <a:xfrm>
            <a:off x="457200" y="4757241"/>
            <a:ext cx="2105448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Points to a sub-tree </a:t>
            </a:r>
            <a:br>
              <a:rPr lang="en-US" dirty="0" smtClean="0"/>
            </a:br>
            <a:r>
              <a:rPr lang="en-US" dirty="0" smtClean="0"/>
              <a:t>in which all keys are </a:t>
            </a:r>
          </a:p>
          <a:p>
            <a:r>
              <a:rPr lang="en-US" i="1" u="sng" dirty="0" smtClean="0"/>
              <a:t>less than</a:t>
            </a:r>
            <a:r>
              <a:rPr lang="en-US" dirty="0" smtClean="0"/>
              <a:t> k</a:t>
            </a:r>
            <a:r>
              <a:rPr lang="en-US" baseline="-25000" dirty="0" smtClean="0"/>
              <a:t>1</a:t>
            </a:r>
            <a:endParaRPr lang="en-US" dirty="0"/>
          </a:p>
        </p:txBody>
      </p:sp>
      <p:cxnSp>
        <p:nvCxnSpPr>
          <p:cNvPr id="118" name="Straight Arrow Connector 117"/>
          <p:cNvCxnSpPr>
            <a:stCxn id="3" idx="1"/>
            <a:endCxn id="82" idx="3"/>
          </p:cNvCxnSpPr>
          <p:nvPr/>
        </p:nvCxnSpPr>
        <p:spPr>
          <a:xfrm flipH="1">
            <a:off x="2562648" y="5216525"/>
            <a:ext cx="140257" cy="238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/>
          <p:cNvSpPr/>
          <p:nvPr/>
        </p:nvSpPr>
        <p:spPr>
          <a:xfrm>
            <a:off x="5867903" y="4606925"/>
            <a:ext cx="625475" cy="1219200"/>
          </a:xfrm>
          <a:prstGeom prst="roundRect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TextBox 121"/>
          <p:cNvSpPr txBox="1"/>
          <p:nvPr/>
        </p:nvSpPr>
        <p:spPr>
          <a:xfrm>
            <a:off x="6614822" y="4759325"/>
            <a:ext cx="2416431" cy="92333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Points to a sub-tree </a:t>
            </a:r>
            <a:br>
              <a:rPr lang="en-US" dirty="0" smtClean="0"/>
            </a:br>
            <a:r>
              <a:rPr lang="en-US" dirty="0" smtClean="0"/>
              <a:t>in which all keys are </a:t>
            </a:r>
          </a:p>
          <a:p>
            <a:r>
              <a:rPr lang="en-US" i="1" u="sng" dirty="0" smtClean="0"/>
              <a:t>greater than or equal</a:t>
            </a:r>
            <a:r>
              <a:rPr lang="en-US" dirty="0" smtClean="0"/>
              <a:t> </a:t>
            </a:r>
            <a:r>
              <a:rPr lang="en-US" dirty="0" err="1" smtClean="0"/>
              <a:t>k</a:t>
            </a:r>
            <a:r>
              <a:rPr lang="en-US" baseline="-25000" dirty="0" err="1" smtClean="0"/>
              <a:t>n</a:t>
            </a:r>
            <a:endParaRPr lang="en-US" dirty="0"/>
          </a:p>
        </p:txBody>
      </p:sp>
      <p:cxnSp>
        <p:nvCxnSpPr>
          <p:cNvPr id="123" name="Straight Arrow Connector 122"/>
          <p:cNvCxnSpPr/>
          <p:nvPr/>
        </p:nvCxnSpPr>
        <p:spPr>
          <a:xfrm flipH="1">
            <a:off x="6477000" y="5216525"/>
            <a:ext cx="140257" cy="2381"/>
          </a:xfrm>
          <a:prstGeom prst="straightConnector1">
            <a:avLst/>
          </a:prstGeom>
          <a:ln w="25400">
            <a:solidFill>
              <a:srgbClr val="00B05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ounded Rectangle 123"/>
          <p:cNvSpPr/>
          <p:nvPr/>
        </p:nvSpPr>
        <p:spPr>
          <a:xfrm>
            <a:off x="3810001" y="4632563"/>
            <a:ext cx="204212" cy="1219200"/>
          </a:xfrm>
          <a:prstGeom prst="roundRect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/>
          <p:cNvSpPr txBox="1"/>
          <p:nvPr/>
        </p:nvSpPr>
        <p:spPr>
          <a:xfrm>
            <a:off x="2367552" y="6017994"/>
            <a:ext cx="4795247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Points to a sub-tree in which all keys are </a:t>
            </a:r>
            <a:r>
              <a:rPr lang="en-US" dirty="0"/>
              <a:t>greater than or equal k</a:t>
            </a:r>
            <a:r>
              <a:rPr lang="en-US" baseline="-25000" dirty="0" smtClean="0"/>
              <a:t>1 </a:t>
            </a:r>
            <a:r>
              <a:rPr lang="en-US" dirty="0" smtClean="0"/>
              <a:t>and less </a:t>
            </a:r>
            <a:r>
              <a:rPr lang="en-US" dirty="0"/>
              <a:t>than </a:t>
            </a:r>
            <a:r>
              <a:rPr lang="en-US" dirty="0" smtClean="0"/>
              <a:t>to k</a:t>
            </a:r>
            <a:r>
              <a:rPr lang="en-US" baseline="-25000" dirty="0" smtClean="0"/>
              <a:t>2</a:t>
            </a:r>
            <a:endParaRPr lang="en-US" baseline="-25000" dirty="0"/>
          </a:p>
        </p:txBody>
      </p:sp>
      <p:cxnSp>
        <p:nvCxnSpPr>
          <p:cNvPr id="120" name="Straight Arrow Connector 119"/>
          <p:cNvCxnSpPr>
            <a:stCxn id="124" idx="2"/>
          </p:cNvCxnSpPr>
          <p:nvPr/>
        </p:nvCxnSpPr>
        <p:spPr>
          <a:xfrm>
            <a:off x="3912107" y="5851763"/>
            <a:ext cx="853068" cy="166231"/>
          </a:xfrm>
          <a:prstGeom prst="straightConnector1">
            <a:avLst/>
          </a:prstGeom>
          <a:ln w="2540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3">
            <a:extLst>
              <a:ext uri="{FF2B5EF4-FFF2-40B4-BE49-F238E27FC236}">
                <a16:creationId xmlns:a16="http://schemas.microsoft.com/office/drawing/2014/main" id="{FD53499C-F106-46F2-BF14-D21BEF327FB2}"/>
              </a:ext>
            </a:extLst>
          </p:cNvPr>
          <p:cNvSpPr txBox="1">
            <a:spLocks noChangeArrowheads="1"/>
          </p:cNvSpPr>
          <p:nvPr/>
        </p:nvSpPr>
        <p:spPr>
          <a:xfrm>
            <a:off x="288638" y="1061017"/>
            <a:ext cx="8398162" cy="4244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 smtClean="0"/>
              <a:t>All paths from root to leaf are of the same length</a:t>
            </a:r>
          </a:p>
          <a:p>
            <a:r>
              <a:rPr lang="en-US" altLang="en-US" sz="2400" dirty="0" smtClean="0"/>
              <a:t>Each node that is not a root or a leaf has between </a:t>
            </a:r>
            <a:r>
              <a:rPr lang="en-US" altLang="en-US" sz="2400" dirty="0" smtClean="0">
                <a:sym typeface="Symbol" panose="05050102010706020507" pitchFamily="18" charset="2"/>
              </a:rPr>
              <a:t></a:t>
            </a:r>
            <a:r>
              <a:rPr lang="en-US" altLang="en-US" sz="2400" i="1" dirty="0" smtClean="0"/>
              <a:t>n</a:t>
            </a:r>
            <a:r>
              <a:rPr lang="en-US" altLang="en-US" sz="2400" dirty="0" smtClean="0"/>
              <a:t>/2</a:t>
            </a:r>
            <a:r>
              <a:rPr lang="en-US" altLang="en-US" sz="2400" dirty="0" smtClean="0">
                <a:sym typeface="Symbol" panose="05050102010706020507" pitchFamily="18" charset="2"/>
              </a:rPr>
              <a:t></a:t>
            </a:r>
            <a:r>
              <a:rPr lang="en-US" altLang="en-US" sz="2400" dirty="0" smtClean="0"/>
              <a:t> and </a:t>
            </a:r>
            <a:r>
              <a:rPr lang="en-US" altLang="en-US" sz="2400" i="1" dirty="0" smtClean="0"/>
              <a:t>n</a:t>
            </a:r>
            <a:r>
              <a:rPr lang="en-US" altLang="en-US" sz="2400" dirty="0" smtClean="0"/>
              <a:t> children.</a:t>
            </a:r>
          </a:p>
          <a:p>
            <a:r>
              <a:rPr lang="en-US" altLang="en-US" sz="2400" dirty="0" smtClean="0"/>
              <a:t>A leaf node has between </a:t>
            </a:r>
            <a:r>
              <a:rPr lang="en-US" altLang="en-US" sz="2400" dirty="0" smtClean="0">
                <a:sym typeface="Symbol" panose="05050102010706020507" pitchFamily="18" charset="2"/>
              </a:rPr>
              <a:t></a:t>
            </a:r>
            <a:r>
              <a:rPr lang="en-US" altLang="en-US" sz="2400" dirty="0" smtClean="0"/>
              <a:t>(</a:t>
            </a:r>
            <a:r>
              <a:rPr lang="en-US" altLang="en-US" sz="2400" i="1" dirty="0" smtClean="0"/>
              <a:t>n</a:t>
            </a:r>
            <a:r>
              <a:rPr lang="en-US" altLang="en-US" sz="2400" dirty="0" smtClean="0"/>
              <a:t>–1)/2</a:t>
            </a:r>
            <a:r>
              <a:rPr lang="en-US" altLang="en-US" sz="2400" dirty="0" smtClean="0">
                <a:sym typeface="Symbol" panose="05050102010706020507" pitchFamily="18" charset="2"/>
              </a:rPr>
              <a:t></a:t>
            </a:r>
            <a:r>
              <a:rPr lang="en-US" altLang="en-US" sz="2400" dirty="0" smtClean="0"/>
              <a:t> and </a:t>
            </a:r>
            <a:r>
              <a:rPr lang="en-US" altLang="en-US" sz="2400" i="1" dirty="0" smtClean="0"/>
              <a:t>n</a:t>
            </a:r>
            <a:r>
              <a:rPr lang="en-US" altLang="en-US" sz="2400" dirty="0" smtClean="0"/>
              <a:t>–1 values</a:t>
            </a:r>
          </a:p>
          <a:p>
            <a:r>
              <a:rPr lang="en-US" altLang="en-US" sz="2400" dirty="0" smtClean="0"/>
              <a:t>Special cases: </a:t>
            </a:r>
          </a:p>
          <a:p>
            <a:pPr lvl="1"/>
            <a:r>
              <a:rPr lang="en-US" altLang="en-US" sz="2000" dirty="0" smtClean="0"/>
              <a:t>If the root is not a leaf, it has at least 2 children.</a:t>
            </a:r>
          </a:p>
          <a:p>
            <a:pPr lvl="1"/>
            <a:r>
              <a:rPr lang="en-US" altLang="en-US" sz="2000" dirty="0" smtClean="0"/>
              <a:t>If the root is a leaf (that is, there are no other nodes in the tree), it can have between 0 and (</a:t>
            </a:r>
            <a:r>
              <a:rPr lang="en-US" altLang="en-US" sz="2000" i="1" dirty="0" smtClean="0"/>
              <a:t>n</a:t>
            </a:r>
            <a:r>
              <a:rPr lang="en-US" altLang="en-US" sz="2000" dirty="0" smtClean="0"/>
              <a:t>–1) values.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6084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2" grpId="0" animBg="1"/>
      <p:bldP spid="121" grpId="0" animBg="1"/>
      <p:bldP spid="122" grpId="0" animBg="1"/>
      <p:bldP spid="124" grpId="0" animBg="1"/>
      <p:bldP spid="1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72A0A4B5-93E8-4A46-9ABB-B723A76A37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Example of B</a:t>
            </a:r>
            <a:r>
              <a:rPr lang="en-US" altLang="en-US" baseline="30000">
                <a:effectLst/>
              </a:rPr>
              <a:t>+</a:t>
            </a:r>
            <a:r>
              <a:rPr lang="en-US" altLang="en-US">
                <a:effectLst/>
              </a:rPr>
              <a:t>-Tree</a:t>
            </a:r>
          </a:p>
        </p:txBody>
      </p:sp>
      <p:cxnSp>
        <p:nvCxnSpPr>
          <p:cNvPr id="39939" name="Straight Connector 2">
            <a:extLst>
              <a:ext uri="{FF2B5EF4-FFF2-40B4-BE49-F238E27FC236}">
                <a16:creationId xmlns:a16="http://schemas.microsoft.com/office/drawing/2014/main" id="{BC2EC05F-0D0B-4482-9874-0FF50420CFF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266825" y="5692775"/>
            <a:ext cx="468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0" name="Straight Connector 4">
            <a:extLst>
              <a:ext uri="{FF2B5EF4-FFF2-40B4-BE49-F238E27FC236}">
                <a16:creationId xmlns:a16="http://schemas.microsoft.com/office/drawing/2014/main" id="{933E215A-0801-419F-B5A4-24B70097A42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270000" y="2995613"/>
            <a:ext cx="19050" cy="268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9941" name="Group 11">
            <a:extLst>
              <a:ext uri="{FF2B5EF4-FFF2-40B4-BE49-F238E27FC236}">
                <a16:creationId xmlns:a16="http://schemas.microsoft.com/office/drawing/2014/main" id="{EF92FA19-AB38-4BA7-99E1-186F98390EB1}"/>
              </a:ext>
            </a:extLst>
          </p:cNvPr>
          <p:cNvGrpSpPr>
            <a:grpSpLocks/>
          </p:cNvGrpSpPr>
          <p:nvPr/>
        </p:nvGrpSpPr>
        <p:grpSpPr bwMode="auto">
          <a:xfrm>
            <a:off x="141288" y="1176338"/>
            <a:ext cx="8891587" cy="5030787"/>
            <a:chOff x="141288" y="1176338"/>
            <a:chExt cx="8891587" cy="5030787"/>
          </a:xfrm>
        </p:grpSpPr>
        <p:pic>
          <p:nvPicPr>
            <p:cNvPr id="39942" name="Picture 5">
              <a:extLst>
                <a:ext uri="{FF2B5EF4-FFF2-40B4-BE49-F238E27FC236}">
                  <a16:creationId xmlns:a16="http://schemas.microsoft.com/office/drawing/2014/main" id="{D1B731C9-62E9-453D-8BC8-11CED13F88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288" y="1176338"/>
              <a:ext cx="8891587" cy="5030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943" name="Rectangle 10">
              <a:extLst>
                <a:ext uri="{FF2B5EF4-FFF2-40B4-BE49-F238E27FC236}">
                  <a16:creationId xmlns:a16="http://schemas.microsoft.com/office/drawing/2014/main" id="{DB162ECD-DB94-4A27-B11D-FEFC23CCB7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4609" y="3051960"/>
              <a:ext cx="64794" cy="22419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9944" name="Rectangle 13">
              <a:extLst>
                <a:ext uri="{FF2B5EF4-FFF2-40B4-BE49-F238E27FC236}">
                  <a16:creationId xmlns:a16="http://schemas.microsoft.com/office/drawing/2014/main" id="{6E563E24-5E98-4177-9D3D-31217A7F2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8717" y="5315675"/>
              <a:ext cx="100548" cy="3688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4322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B+ Tree: Searching for Entries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/>
              <a:t>Search begins at root, and key comparisons direct it to a leaf (as in ISAM)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Example 1: Search </a:t>
            </a:r>
            <a:r>
              <a:rPr lang="en-US" sz="2800" dirty="0"/>
              <a:t>for entry </a:t>
            </a:r>
            <a:r>
              <a:rPr lang="en-US" sz="2800" dirty="0">
                <a:solidFill>
                  <a:srgbClr val="FF0000"/>
                </a:solidFill>
              </a:rPr>
              <a:t>5*</a:t>
            </a:r>
          </a:p>
        </p:txBody>
      </p:sp>
      <p:grpSp>
        <p:nvGrpSpPr>
          <p:cNvPr id="40" name="Group 5"/>
          <p:cNvGrpSpPr>
            <a:grpSpLocks/>
          </p:cNvGrpSpPr>
          <p:nvPr/>
        </p:nvGrpSpPr>
        <p:grpSpPr bwMode="auto">
          <a:xfrm>
            <a:off x="431799" y="3586107"/>
            <a:ext cx="8201025" cy="2282825"/>
            <a:chOff x="218" y="2207"/>
            <a:chExt cx="5166" cy="1438"/>
          </a:xfrm>
        </p:grpSpPr>
        <p:sp>
          <p:nvSpPr>
            <p:cNvPr id="42" name="Freeform 6"/>
            <p:cNvSpPr>
              <a:spLocks/>
            </p:cNvSpPr>
            <p:nvPr/>
          </p:nvSpPr>
          <p:spPr bwMode="auto">
            <a:xfrm>
              <a:off x="2061" y="2506"/>
              <a:ext cx="351" cy="293"/>
            </a:xfrm>
            <a:custGeom>
              <a:avLst/>
              <a:gdLst>
                <a:gd name="T0" fmla="*/ 0 w 351"/>
                <a:gd name="T1" fmla="*/ 292 h 293"/>
                <a:gd name="T2" fmla="*/ 0 w 351"/>
                <a:gd name="T3" fmla="*/ 0 h 293"/>
                <a:gd name="T4" fmla="*/ 350 w 351"/>
                <a:gd name="T5" fmla="*/ 0 h 293"/>
                <a:gd name="T6" fmla="*/ 350 w 351"/>
                <a:gd name="T7" fmla="*/ 292 h 293"/>
                <a:gd name="T8" fmla="*/ 0 w 351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1"/>
                <a:gd name="T16" fmla="*/ 0 h 293"/>
                <a:gd name="T17" fmla="*/ 351 w 351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1" h="293">
                  <a:moveTo>
                    <a:pt x="0" y="292"/>
                  </a:moveTo>
                  <a:lnTo>
                    <a:pt x="0" y="0"/>
                  </a:lnTo>
                  <a:lnTo>
                    <a:pt x="350" y="0"/>
                  </a:lnTo>
                  <a:lnTo>
                    <a:pt x="350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7"/>
            <p:cNvSpPr>
              <a:spLocks/>
            </p:cNvSpPr>
            <p:nvPr/>
          </p:nvSpPr>
          <p:spPr bwMode="auto">
            <a:xfrm>
              <a:off x="2120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8"/>
            <p:cNvSpPr>
              <a:spLocks/>
            </p:cNvSpPr>
            <p:nvPr/>
          </p:nvSpPr>
          <p:spPr bwMode="auto">
            <a:xfrm>
              <a:off x="2411" y="2506"/>
              <a:ext cx="353" cy="293"/>
            </a:xfrm>
            <a:custGeom>
              <a:avLst/>
              <a:gdLst>
                <a:gd name="T0" fmla="*/ 0 w 353"/>
                <a:gd name="T1" fmla="*/ 292 h 293"/>
                <a:gd name="T2" fmla="*/ 0 w 353"/>
                <a:gd name="T3" fmla="*/ 0 h 293"/>
                <a:gd name="T4" fmla="*/ 352 w 353"/>
                <a:gd name="T5" fmla="*/ 0 h 293"/>
                <a:gd name="T6" fmla="*/ 352 w 353"/>
                <a:gd name="T7" fmla="*/ 292 h 293"/>
                <a:gd name="T8" fmla="*/ 0 w 353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3"/>
                <a:gd name="T16" fmla="*/ 0 h 293"/>
                <a:gd name="T17" fmla="*/ 353 w 353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3" h="293">
                  <a:moveTo>
                    <a:pt x="0" y="292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9"/>
            <p:cNvSpPr>
              <a:spLocks/>
            </p:cNvSpPr>
            <p:nvPr/>
          </p:nvSpPr>
          <p:spPr bwMode="auto">
            <a:xfrm>
              <a:off x="2471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10"/>
            <p:cNvSpPr>
              <a:spLocks/>
            </p:cNvSpPr>
            <p:nvPr/>
          </p:nvSpPr>
          <p:spPr bwMode="auto">
            <a:xfrm>
              <a:off x="2763" y="2506"/>
              <a:ext cx="352" cy="293"/>
            </a:xfrm>
            <a:custGeom>
              <a:avLst/>
              <a:gdLst>
                <a:gd name="T0" fmla="*/ 0 w 352"/>
                <a:gd name="T1" fmla="*/ 292 h 293"/>
                <a:gd name="T2" fmla="*/ 0 w 352"/>
                <a:gd name="T3" fmla="*/ 0 h 293"/>
                <a:gd name="T4" fmla="*/ 351 w 352"/>
                <a:gd name="T5" fmla="*/ 0 h 293"/>
                <a:gd name="T6" fmla="*/ 351 w 352"/>
                <a:gd name="T7" fmla="*/ 292 h 293"/>
                <a:gd name="T8" fmla="*/ 0 w 352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2"/>
                <a:gd name="T16" fmla="*/ 0 h 293"/>
                <a:gd name="T17" fmla="*/ 352 w 352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2" h="293">
                  <a:moveTo>
                    <a:pt x="0" y="292"/>
                  </a:moveTo>
                  <a:lnTo>
                    <a:pt x="0" y="0"/>
                  </a:lnTo>
                  <a:lnTo>
                    <a:pt x="351" y="0"/>
                  </a:lnTo>
                  <a:lnTo>
                    <a:pt x="351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1"/>
            <p:cNvSpPr>
              <a:spLocks/>
            </p:cNvSpPr>
            <p:nvPr/>
          </p:nvSpPr>
          <p:spPr bwMode="auto">
            <a:xfrm>
              <a:off x="2822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2"/>
            <p:cNvSpPr>
              <a:spLocks/>
            </p:cNvSpPr>
            <p:nvPr/>
          </p:nvSpPr>
          <p:spPr bwMode="auto">
            <a:xfrm>
              <a:off x="3114" y="2506"/>
              <a:ext cx="353" cy="293"/>
            </a:xfrm>
            <a:custGeom>
              <a:avLst/>
              <a:gdLst>
                <a:gd name="T0" fmla="*/ 0 w 353"/>
                <a:gd name="T1" fmla="*/ 292 h 293"/>
                <a:gd name="T2" fmla="*/ 0 w 353"/>
                <a:gd name="T3" fmla="*/ 0 h 293"/>
                <a:gd name="T4" fmla="*/ 352 w 353"/>
                <a:gd name="T5" fmla="*/ 0 h 293"/>
                <a:gd name="T6" fmla="*/ 352 w 353"/>
                <a:gd name="T7" fmla="*/ 292 h 293"/>
                <a:gd name="T8" fmla="*/ 0 w 353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3"/>
                <a:gd name="T16" fmla="*/ 0 h 293"/>
                <a:gd name="T17" fmla="*/ 353 w 353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3" h="293">
                  <a:moveTo>
                    <a:pt x="0" y="292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3"/>
            <p:cNvSpPr>
              <a:spLocks/>
            </p:cNvSpPr>
            <p:nvPr/>
          </p:nvSpPr>
          <p:spPr bwMode="auto">
            <a:xfrm>
              <a:off x="3172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4"/>
            <p:cNvSpPr>
              <a:spLocks/>
            </p:cNvSpPr>
            <p:nvPr/>
          </p:nvSpPr>
          <p:spPr bwMode="auto">
            <a:xfrm>
              <a:off x="3466" y="2506"/>
              <a:ext cx="59" cy="293"/>
            </a:xfrm>
            <a:custGeom>
              <a:avLst/>
              <a:gdLst>
                <a:gd name="T0" fmla="*/ 0 w 59"/>
                <a:gd name="T1" fmla="*/ 292 h 293"/>
                <a:gd name="T2" fmla="*/ 0 w 59"/>
                <a:gd name="T3" fmla="*/ 0 h 293"/>
                <a:gd name="T4" fmla="*/ 58 w 59"/>
                <a:gd name="T5" fmla="*/ 0 h 293"/>
                <a:gd name="T6" fmla="*/ 58 w 59"/>
                <a:gd name="T7" fmla="*/ 292 h 293"/>
                <a:gd name="T8" fmla="*/ 0 w 59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293"/>
                <a:gd name="T17" fmla="*/ 59 w 59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293">
                  <a:moveTo>
                    <a:pt x="0" y="292"/>
                  </a:moveTo>
                  <a:lnTo>
                    <a:pt x="0" y="0"/>
                  </a:lnTo>
                  <a:lnTo>
                    <a:pt x="58" y="0"/>
                  </a:lnTo>
                  <a:lnTo>
                    <a:pt x="58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5"/>
            <p:cNvSpPr>
              <a:spLocks/>
            </p:cNvSpPr>
            <p:nvPr/>
          </p:nvSpPr>
          <p:spPr bwMode="auto">
            <a:xfrm>
              <a:off x="4431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6"/>
            <p:cNvSpPr>
              <a:spLocks/>
            </p:cNvSpPr>
            <p:nvPr/>
          </p:nvSpPr>
          <p:spPr bwMode="auto">
            <a:xfrm>
              <a:off x="4665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17"/>
            <p:cNvSpPr>
              <a:spLocks/>
            </p:cNvSpPr>
            <p:nvPr/>
          </p:nvSpPr>
          <p:spPr bwMode="auto">
            <a:xfrm>
              <a:off x="4899" y="3410"/>
              <a:ext cx="236" cy="235"/>
            </a:xfrm>
            <a:custGeom>
              <a:avLst/>
              <a:gdLst>
                <a:gd name="T0" fmla="*/ 0 w 236"/>
                <a:gd name="T1" fmla="*/ 234 h 235"/>
                <a:gd name="T2" fmla="*/ 0 w 236"/>
                <a:gd name="T3" fmla="*/ 0 h 235"/>
                <a:gd name="T4" fmla="*/ 235 w 236"/>
                <a:gd name="T5" fmla="*/ 0 h 235"/>
                <a:gd name="T6" fmla="*/ 235 w 236"/>
                <a:gd name="T7" fmla="*/ 234 h 235"/>
                <a:gd name="T8" fmla="*/ 0 w 236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6"/>
                <a:gd name="T16" fmla="*/ 0 h 235"/>
                <a:gd name="T17" fmla="*/ 236 w 236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6" h="235">
                  <a:moveTo>
                    <a:pt x="0" y="234"/>
                  </a:moveTo>
                  <a:lnTo>
                    <a:pt x="0" y="0"/>
                  </a:lnTo>
                  <a:lnTo>
                    <a:pt x="235" y="0"/>
                  </a:lnTo>
                  <a:lnTo>
                    <a:pt x="235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18"/>
            <p:cNvSpPr>
              <a:spLocks/>
            </p:cNvSpPr>
            <p:nvPr/>
          </p:nvSpPr>
          <p:spPr bwMode="auto">
            <a:xfrm>
              <a:off x="5134" y="3410"/>
              <a:ext cx="234" cy="235"/>
            </a:xfrm>
            <a:custGeom>
              <a:avLst/>
              <a:gdLst>
                <a:gd name="T0" fmla="*/ 0 w 234"/>
                <a:gd name="T1" fmla="*/ 234 h 235"/>
                <a:gd name="T2" fmla="*/ 0 w 234"/>
                <a:gd name="T3" fmla="*/ 0 h 235"/>
                <a:gd name="T4" fmla="*/ 233 w 234"/>
                <a:gd name="T5" fmla="*/ 0 h 235"/>
                <a:gd name="T6" fmla="*/ 233 w 234"/>
                <a:gd name="T7" fmla="*/ 234 h 235"/>
                <a:gd name="T8" fmla="*/ 0 w 234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4"/>
                <a:gd name="T16" fmla="*/ 0 h 235"/>
                <a:gd name="T17" fmla="*/ 234 w 234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4" h="235">
                  <a:moveTo>
                    <a:pt x="0" y="234"/>
                  </a:moveTo>
                  <a:lnTo>
                    <a:pt x="0" y="0"/>
                  </a:lnTo>
                  <a:lnTo>
                    <a:pt x="233" y="0"/>
                  </a:lnTo>
                  <a:lnTo>
                    <a:pt x="233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19"/>
            <p:cNvSpPr>
              <a:spLocks/>
            </p:cNvSpPr>
            <p:nvPr/>
          </p:nvSpPr>
          <p:spPr bwMode="auto">
            <a:xfrm>
              <a:off x="218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20"/>
            <p:cNvSpPr>
              <a:spLocks/>
            </p:cNvSpPr>
            <p:nvPr/>
          </p:nvSpPr>
          <p:spPr bwMode="auto">
            <a:xfrm>
              <a:off x="452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21"/>
            <p:cNvSpPr>
              <a:spLocks/>
            </p:cNvSpPr>
            <p:nvPr/>
          </p:nvSpPr>
          <p:spPr bwMode="auto">
            <a:xfrm>
              <a:off x="686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22"/>
            <p:cNvSpPr>
              <a:spLocks/>
            </p:cNvSpPr>
            <p:nvPr/>
          </p:nvSpPr>
          <p:spPr bwMode="auto">
            <a:xfrm>
              <a:off x="920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23"/>
            <p:cNvSpPr>
              <a:spLocks/>
            </p:cNvSpPr>
            <p:nvPr/>
          </p:nvSpPr>
          <p:spPr bwMode="auto">
            <a:xfrm>
              <a:off x="1271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24"/>
            <p:cNvSpPr>
              <a:spLocks/>
            </p:cNvSpPr>
            <p:nvPr/>
          </p:nvSpPr>
          <p:spPr bwMode="auto">
            <a:xfrm>
              <a:off x="1505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25"/>
            <p:cNvSpPr>
              <a:spLocks/>
            </p:cNvSpPr>
            <p:nvPr/>
          </p:nvSpPr>
          <p:spPr bwMode="auto">
            <a:xfrm>
              <a:off x="1739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26"/>
            <p:cNvSpPr>
              <a:spLocks/>
            </p:cNvSpPr>
            <p:nvPr/>
          </p:nvSpPr>
          <p:spPr bwMode="auto">
            <a:xfrm>
              <a:off x="1973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27"/>
            <p:cNvSpPr>
              <a:spLocks/>
            </p:cNvSpPr>
            <p:nvPr/>
          </p:nvSpPr>
          <p:spPr bwMode="auto">
            <a:xfrm>
              <a:off x="2324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28"/>
            <p:cNvSpPr>
              <a:spLocks/>
            </p:cNvSpPr>
            <p:nvPr/>
          </p:nvSpPr>
          <p:spPr bwMode="auto">
            <a:xfrm>
              <a:off x="2558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29"/>
            <p:cNvSpPr>
              <a:spLocks/>
            </p:cNvSpPr>
            <p:nvPr/>
          </p:nvSpPr>
          <p:spPr bwMode="auto">
            <a:xfrm>
              <a:off x="2792" y="3410"/>
              <a:ext cx="236" cy="235"/>
            </a:xfrm>
            <a:custGeom>
              <a:avLst/>
              <a:gdLst>
                <a:gd name="T0" fmla="*/ 0 w 236"/>
                <a:gd name="T1" fmla="*/ 234 h 235"/>
                <a:gd name="T2" fmla="*/ 0 w 236"/>
                <a:gd name="T3" fmla="*/ 0 h 235"/>
                <a:gd name="T4" fmla="*/ 235 w 236"/>
                <a:gd name="T5" fmla="*/ 0 h 235"/>
                <a:gd name="T6" fmla="*/ 235 w 236"/>
                <a:gd name="T7" fmla="*/ 234 h 235"/>
                <a:gd name="T8" fmla="*/ 0 w 236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6"/>
                <a:gd name="T16" fmla="*/ 0 h 235"/>
                <a:gd name="T17" fmla="*/ 236 w 236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6" h="235">
                  <a:moveTo>
                    <a:pt x="0" y="234"/>
                  </a:moveTo>
                  <a:lnTo>
                    <a:pt x="0" y="0"/>
                  </a:lnTo>
                  <a:lnTo>
                    <a:pt x="235" y="0"/>
                  </a:lnTo>
                  <a:lnTo>
                    <a:pt x="235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30"/>
            <p:cNvSpPr>
              <a:spLocks/>
            </p:cNvSpPr>
            <p:nvPr/>
          </p:nvSpPr>
          <p:spPr bwMode="auto">
            <a:xfrm>
              <a:off x="3027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31"/>
            <p:cNvSpPr>
              <a:spLocks/>
            </p:cNvSpPr>
            <p:nvPr/>
          </p:nvSpPr>
          <p:spPr bwMode="auto">
            <a:xfrm>
              <a:off x="3377" y="3410"/>
              <a:ext cx="236" cy="235"/>
            </a:xfrm>
            <a:custGeom>
              <a:avLst/>
              <a:gdLst>
                <a:gd name="T0" fmla="*/ 0 w 236"/>
                <a:gd name="T1" fmla="*/ 234 h 235"/>
                <a:gd name="T2" fmla="*/ 0 w 236"/>
                <a:gd name="T3" fmla="*/ 0 h 235"/>
                <a:gd name="T4" fmla="*/ 235 w 236"/>
                <a:gd name="T5" fmla="*/ 0 h 235"/>
                <a:gd name="T6" fmla="*/ 235 w 236"/>
                <a:gd name="T7" fmla="*/ 234 h 235"/>
                <a:gd name="T8" fmla="*/ 0 w 236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6"/>
                <a:gd name="T16" fmla="*/ 0 h 235"/>
                <a:gd name="T17" fmla="*/ 236 w 236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6" h="235">
                  <a:moveTo>
                    <a:pt x="0" y="234"/>
                  </a:moveTo>
                  <a:lnTo>
                    <a:pt x="0" y="0"/>
                  </a:lnTo>
                  <a:lnTo>
                    <a:pt x="235" y="0"/>
                  </a:lnTo>
                  <a:lnTo>
                    <a:pt x="235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32"/>
            <p:cNvSpPr>
              <a:spLocks/>
            </p:cNvSpPr>
            <p:nvPr/>
          </p:nvSpPr>
          <p:spPr bwMode="auto">
            <a:xfrm>
              <a:off x="3612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33"/>
            <p:cNvSpPr>
              <a:spLocks/>
            </p:cNvSpPr>
            <p:nvPr/>
          </p:nvSpPr>
          <p:spPr bwMode="auto">
            <a:xfrm>
              <a:off x="3846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34"/>
            <p:cNvSpPr>
              <a:spLocks/>
            </p:cNvSpPr>
            <p:nvPr/>
          </p:nvSpPr>
          <p:spPr bwMode="auto">
            <a:xfrm>
              <a:off x="4080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35"/>
            <p:cNvSpPr>
              <a:spLocks/>
            </p:cNvSpPr>
            <p:nvPr/>
          </p:nvSpPr>
          <p:spPr bwMode="auto">
            <a:xfrm>
              <a:off x="693" y="2761"/>
              <a:ext cx="1398" cy="636"/>
            </a:xfrm>
            <a:custGeom>
              <a:avLst/>
              <a:gdLst>
                <a:gd name="T0" fmla="*/ 1397 w 1398"/>
                <a:gd name="T1" fmla="*/ 0 h 636"/>
                <a:gd name="T2" fmla="*/ 0 w 1398"/>
                <a:gd name="T3" fmla="*/ 635 h 636"/>
                <a:gd name="T4" fmla="*/ 1397 w 1398"/>
                <a:gd name="T5" fmla="*/ 0 h 636"/>
                <a:gd name="T6" fmla="*/ 0 60000 65536"/>
                <a:gd name="T7" fmla="*/ 0 60000 65536"/>
                <a:gd name="T8" fmla="*/ 0 60000 65536"/>
                <a:gd name="T9" fmla="*/ 0 w 1398"/>
                <a:gd name="T10" fmla="*/ 0 h 636"/>
                <a:gd name="T11" fmla="*/ 1398 w 1398"/>
                <a:gd name="T12" fmla="*/ 636 h 6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8" h="636">
                  <a:moveTo>
                    <a:pt x="1397" y="0"/>
                  </a:moveTo>
                  <a:lnTo>
                    <a:pt x="0" y="635"/>
                  </a:lnTo>
                  <a:lnTo>
                    <a:pt x="1397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36"/>
            <p:cNvSpPr>
              <a:spLocks/>
            </p:cNvSpPr>
            <p:nvPr/>
          </p:nvSpPr>
          <p:spPr bwMode="auto">
            <a:xfrm>
              <a:off x="693" y="3349"/>
              <a:ext cx="75" cy="48"/>
            </a:xfrm>
            <a:custGeom>
              <a:avLst/>
              <a:gdLst>
                <a:gd name="T0" fmla="*/ 74 w 75"/>
                <a:gd name="T1" fmla="*/ 33 h 48"/>
                <a:gd name="T2" fmla="*/ 0 w 75"/>
                <a:gd name="T3" fmla="*/ 47 h 48"/>
                <a:gd name="T4" fmla="*/ 59 w 75"/>
                <a:gd name="T5" fmla="*/ 0 h 48"/>
                <a:gd name="T6" fmla="*/ 74 w 75"/>
                <a:gd name="T7" fmla="*/ 33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48"/>
                <a:gd name="T14" fmla="*/ 75 w 75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48">
                  <a:moveTo>
                    <a:pt x="74" y="33"/>
                  </a:moveTo>
                  <a:lnTo>
                    <a:pt x="0" y="47"/>
                  </a:lnTo>
                  <a:lnTo>
                    <a:pt x="59" y="0"/>
                  </a:lnTo>
                  <a:lnTo>
                    <a:pt x="74" y="33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37"/>
            <p:cNvSpPr>
              <a:spLocks/>
            </p:cNvSpPr>
            <p:nvPr/>
          </p:nvSpPr>
          <p:spPr bwMode="auto">
            <a:xfrm>
              <a:off x="1739" y="2769"/>
              <a:ext cx="696" cy="628"/>
            </a:xfrm>
            <a:custGeom>
              <a:avLst/>
              <a:gdLst>
                <a:gd name="T0" fmla="*/ 695 w 696"/>
                <a:gd name="T1" fmla="*/ 0 h 628"/>
                <a:gd name="T2" fmla="*/ 0 w 696"/>
                <a:gd name="T3" fmla="*/ 627 h 628"/>
                <a:gd name="T4" fmla="*/ 695 w 696"/>
                <a:gd name="T5" fmla="*/ 0 h 628"/>
                <a:gd name="T6" fmla="*/ 0 60000 65536"/>
                <a:gd name="T7" fmla="*/ 0 60000 65536"/>
                <a:gd name="T8" fmla="*/ 0 60000 65536"/>
                <a:gd name="T9" fmla="*/ 0 w 696"/>
                <a:gd name="T10" fmla="*/ 0 h 628"/>
                <a:gd name="T11" fmla="*/ 696 w 696"/>
                <a:gd name="T12" fmla="*/ 628 h 6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6" h="628">
                  <a:moveTo>
                    <a:pt x="695" y="0"/>
                  </a:moveTo>
                  <a:lnTo>
                    <a:pt x="0" y="627"/>
                  </a:lnTo>
                  <a:lnTo>
                    <a:pt x="695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38"/>
            <p:cNvSpPr>
              <a:spLocks/>
            </p:cNvSpPr>
            <p:nvPr/>
          </p:nvSpPr>
          <p:spPr bwMode="auto">
            <a:xfrm>
              <a:off x="1739" y="3333"/>
              <a:ext cx="68" cy="64"/>
            </a:xfrm>
            <a:custGeom>
              <a:avLst/>
              <a:gdLst>
                <a:gd name="T0" fmla="*/ 67 w 68"/>
                <a:gd name="T1" fmla="*/ 27 h 64"/>
                <a:gd name="T2" fmla="*/ 0 w 68"/>
                <a:gd name="T3" fmla="*/ 63 h 64"/>
                <a:gd name="T4" fmla="*/ 42 w 68"/>
                <a:gd name="T5" fmla="*/ 0 h 64"/>
                <a:gd name="T6" fmla="*/ 67 w 68"/>
                <a:gd name="T7" fmla="*/ 27 h 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64"/>
                <a:gd name="T14" fmla="*/ 68 w 68"/>
                <a:gd name="T15" fmla="*/ 64 h 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64">
                  <a:moveTo>
                    <a:pt x="67" y="27"/>
                  </a:moveTo>
                  <a:lnTo>
                    <a:pt x="0" y="63"/>
                  </a:lnTo>
                  <a:lnTo>
                    <a:pt x="42" y="0"/>
                  </a:lnTo>
                  <a:lnTo>
                    <a:pt x="67" y="27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39"/>
            <p:cNvSpPr>
              <a:spLocks/>
            </p:cNvSpPr>
            <p:nvPr/>
          </p:nvSpPr>
          <p:spPr bwMode="auto">
            <a:xfrm>
              <a:off x="2785" y="2769"/>
              <a:ext cx="1" cy="621"/>
            </a:xfrm>
            <a:custGeom>
              <a:avLst/>
              <a:gdLst>
                <a:gd name="T0" fmla="*/ 0 w 1"/>
                <a:gd name="T1" fmla="*/ 0 h 621"/>
                <a:gd name="T2" fmla="*/ 0 w 1"/>
                <a:gd name="T3" fmla="*/ 620 h 621"/>
                <a:gd name="T4" fmla="*/ 0 w 1"/>
                <a:gd name="T5" fmla="*/ 0 h 621"/>
                <a:gd name="T6" fmla="*/ 0 60000 65536"/>
                <a:gd name="T7" fmla="*/ 0 60000 65536"/>
                <a:gd name="T8" fmla="*/ 0 60000 65536"/>
                <a:gd name="T9" fmla="*/ 0 w 1"/>
                <a:gd name="T10" fmla="*/ 0 h 621"/>
                <a:gd name="T11" fmla="*/ 1 w 1"/>
                <a:gd name="T12" fmla="*/ 621 h 6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21">
                  <a:moveTo>
                    <a:pt x="0" y="0"/>
                  </a:moveTo>
                  <a:lnTo>
                    <a:pt x="0" y="620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40"/>
            <p:cNvSpPr>
              <a:spLocks/>
            </p:cNvSpPr>
            <p:nvPr/>
          </p:nvSpPr>
          <p:spPr bwMode="auto">
            <a:xfrm>
              <a:off x="2766" y="3315"/>
              <a:ext cx="38" cy="75"/>
            </a:xfrm>
            <a:custGeom>
              <a:avLst/>
              <a:gdLst>
                <a:gd name="T0" fmla="*/ 37 w 38"/>
                <a:gd name="T1" fmla="*/ 0 h 75"/>
                <a:gd name="T2" fmla="*/ 19 w 38"/>
                <a:gd name="T3" fmla="*/ 74 h 75"/>
                <a:gd name="T4" fmla="*/ 0 w 38"/>
                <a:gd name="T5" fmla="*/ 0 h 75"/>
                <a:gd name="T6" fmla="*/ 37 w 38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"/>
                <a:gd name="T13" fmla="*/ 0 h 75"/>
                <a:gd name="T14" fmla="*/ 38 w 38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" h="75">
                  <a:moveTo>
                    <a:pt x="37" y="0"/>
                  </a:moveTo>
                  <a:lnTo>
                    <a:pt x="19" y="74"/>
                  </a:lnTo>
                  <a:lnTo>
                    <a:pt x="0" y="0"/>
                  </a:lnTo>
                  <a:lnTo>
                    <a:pt x="37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41"/>
            <p:cNvSpPr>
              <a:spLocks/>
            </p:cNvSpPr>
            <p:nvPr/>
          </p:nvSpPr>
          <p:spPr bwMode="auto">
            <a:xfrm>
              <a:off x="3143" y="2761"/>
              <a:ext cx="689" cy="629"/>
            </a:xfrm>
            <a:custGeom>
              <a:avLst/>
              <a:gdLst>
                <a:gd name="T0" fmla="*/ 0 w 689"/>
                <a:gd name="T1" fmla="*/ 0 h 629"/>
                <a:gd name="T2" fmla="*/ 688 w 689"/>
                <a:gd name="T3" fmla="*/ 628 h 629"/>
                <a:gd name="T4" fmla="*/ 0 w 689"/>
                <a:gd name="T5" fmla="*/ 0 h 629"/>
                <a:gd name="T6" fmla="*/ 0 60000 65536"/>
                <a:gd name="T7" fmla="*/ 0 60000 65536"/>
                <a:gd name="T8" fmla="*/ 0 60000 65536"/>
                <a:gd name="T9" fmla="*/ 0 w 689"/>
                <a:gd name="T10" fmla="*/ 0 h 629"/>
                <a:gd name="T11" fmla="*/ 689 w 689"/>
                <a:gd name="T12" fmla="*/ 629 h 6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9" h="629">
                  <a:moveTo>
                    <a:pt x="0" y="0"/>
                  </a:moveTo>
                  <a:lnTo>
                    <a:pt x="688" y="628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42"/>
            <p:cNvSpPr>
              <a:spLocks/>
            </p:cNvSpPr>
            <p:nvPr/>
          </p:nvSpPr>
          <p:spPr bwMode="auto">
            <a:xfrm>
              <a:off x="3765" y="3326"/>
              <a:ext cx="67" cy="64"/>
            </a:xfrm>
            <a:custGeom>
              <a:avLst/>
              <a:gdLst>
                <a:gd name="T0" fmla="*/ 25 w 67"/>
                <a:gd name="T1" fmla="*/ 0 h 64"/>
                <a:gd name="T2" fmla="*/ 66 w 67"/>
                <a:gd name="T3" fmla="*/ 63 h 64"/>
                <a:gd name="T4" fmla="*/ 0 w 67"/>
                <a:gd name="T5" fmla="*/ 27 h 64"/>
                <a:gd name="T6" fmla="*/ 25 w 67"/>
                <a:gd name="T7" fmla="*/ 0 h 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64"/>
                <a:gd name="T14" fmla="*/ 67 w 67"/>
                <a:gd name="T15" fmla="*/ 64 h 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64">
                  <a:moveTo>
                    <a:pt x="25" y="0"/>
                  </a:moveTo>
                  <a:lnTo>
                    <a:pt x="66" y="63"/>
                  </a:lnTo>
                  <a:lnTo>
                    <a:pt x="0" y="27"/>
                  </a:lnTo>
                  <a:lnTo>
                    <a:pt x="25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43"/>
            <p:cNvSpPr>
              <a:spLocks/>
            </p:cNvSpPr>
            <p:nvPr/>
          </p:nvSpPr>
          <p:spPr bwMode="auto">
            <a:xfrm>
              <a:off x="3495" y="2753"/>
              <a:ext cx="1398" cy="637"/>
            </a:xfrm>
            <a:custGeom>
              <a:avLst/>
              <a:gdLst>
                <a:gd name="T0" fmla="*/ 0 w 1398"/>
                <a:gd name="T1" fmla="*/ 0 h 637"/>
                <a:gd name="T2" fmla="*/ 1397 w 1398"/>
                <a:gd name="T3" fmla="*/ 636 h 637"/>
                <a:gd name="T4" fmla="*/ 0 w 1398"/>
                <a:gd name="T5" fmla="*/ 0 h 637"/>
                <a:gd name="T6" fmla="*/ 0 60000 65536"/>
                <a:gd name="T7" fmla="*/ 0 60000 65536"/>
                <a:gd name="T8" fmla="*/ 0 60000 65536"/>
                <a:gd name="T9" fmla="*/ 0 w 1398"/>
                <a:gd name="T10" fmla="*/ 0 h 637"/>
                <a:gd name="T11" fmla="*/ 1398 w 1398"/>
                <a:gd name="T12" fmla="*/ 637 h 6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8" h="637">
                  <a:moveTo>
                    <a:pt x="0" y="0"/>
                  </a:moveTo>
                  <a:lnTo>
                    <a:pt x="1397" y="636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44"/>
            <p:cNvSpPr>
              <a:spLocks/>
            </p:cNvSpPr>
            <p:nvPr/>
          </p:nvSpPr>
          <p:spPr bwMode="auto">
            <a:xfrm>
              <a:off x="4818" y="3341"/>
              <a:ext cx="75" cy="49"/>
            </a:xfrm>
            <a:custGeom>
              <a:avLst/>
              <a:gdLst>
                <a:gd name="T0" fmla="*/ 15 w 75"/>
                <a:gd name="T1" fmla="*/ 0 h 49"/>
                <a:gd name="T2" fmla="*/ 74 w 75"/>
                <a:gd name="T3" fmla="*/ 48 h 49"/>
                <a:gd name="T4" fmla="*/ 0 w 75"/>
                <a:gd name="T5" fmla="*/ 34 h 49"/>
                <a:gd name="T6" fmla="*/ 15 w 75"/>
                <a:gd name="T7" fmla="*/ 0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49"/>
                <a:gd name="T14" fmla="*/ 75 w 75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49">
                  <a:moveTo>
                    <a:pt x="15" y="0"/>
                  </a:moveTo>
                  <a:lnTo>
                    <a:pt x="74" y="48"/>
                  </a:lnTo>
                  <a:lnTo>
                    <a:pt x="0" y="34"/>
                  </a:lnTo>
                  <a:lnTo>
                    <a:pt x="15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Rectangle 45"/>
            <p:cNvSpPr>
              <a:spLocks noChangeArrowheads="1"/>
            </p:cNvSpPr>
            <p:nvPr/>
          </p:nvSpPr>
          <p:spPr bwMode="auto">
            <a:xfrm>
              <a:off x="1762" y="2207"/>
              <a:ext cx="37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400" u="none">
                  <a:solidFill>
                    <a:srgbClr val="000000"/>
                  </a:solidFill>
                  <a:latin typeface="Arial" pitchFamily="34" charset="0"/>
                </a:rPr>
                <a:t>Root</a:t>
              </a:r>
            </a:p>
          </p:txBody>
        </p:sp>
        <p:sp>
          <p:nvSpPr>
            <p:cNvPr id="82" name="Rectangle 46"/>
            <p:cNvSpPr>
              <a:spLocks noChangeArrowheads="1"/>
            </p:cNvSpPr>
            <p:nvPr/>
          </p:nvSpPr>
          <p:spPr bwMode="auto">
            <a:xfrm>
              <a:off x="2493" y="2551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17</a:t>
              </a:r>
            </a:p>
          </p:txBody>
        </p:sp>
        <p:sp>
          <p:nvSpPr>
            <p:cNvPr id="83" name="Rectangle 47"/>
            <p:cNvSpPr>
              <a:spLocks noChangeArrowheads="1"/>
            </p:cNvSpPr>
            <p:nvPr/>
          </p:nvSpPr>
          <p:spPr bwMode="auto">
            <a:xfrm>
              <a:off x="2844" y="2550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24</a:t>
              </a:r>
            </a:p>
          </p:txBody>
        </p:sp>
        <p:sp>
          <p:nvSpPr>
            <p:cNvPr id="84" name="Rectangle 48"/>
            <p:cNvSpPr>
              <a:spLocks noChangeArrowheads="1"/>
            </p:cNvSpPr>
            <p:nvPr/>
          </p:nvSpPr>
          <p:spPr bwMode="auto">
            <a:xfrm>
              <a:off x="3203" y="2543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30</a:t>
              </a:r>
            </a:p>
          </p:txBody>
        </p:sp>
        <p:sp>
          <p:nvSpPr>
            <p:cNvPr id="85" name="Rectangle 49"/>
            <p:cNvSpPr>
              <a:spLocks noChangeArrowheads="1"/>
            </p:cNvSpPr>
            <p:nvPr/>
          </p:nvSpPr>
          <p:spPr bwMode="auto">
            <a:xfrm>
              <a:off x="218" y="3419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2*</a:t>
              </a:r>
            </a:p>
          </p:txBody>
        </p:sp>
        <p:sp>
          <p:nvSpPr>
            <p:cNvPr id="86" name="Rectangle 50"/>
            <p:cNvSpPr>
              <a:spLocks noChangeArrowheads="1"/>
            </p:cNvSpPr>
            <p:nvPr/>
          </p:nvSpPr>
          <p:spPr bwMode="auto">
            <a:xfrm>
              <a:off x="458" y="3412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3*</a:t>
              </a:r>
            </a:p>
          </p:txBody>
        </p:sp>
        <p:sp>
          <p:nvSpPr>
            <p:cNvPr id="87" name="Rectangle 51"/>
            <p:cNvSpPr>
              <a:spLocks noChangeArrowheads="1"/>
            </p:cNvSpPr>
            <p:nvPr/>
          </p:nvSpPr>
          <p:spPr bwMode="auto">
            <a:xfrm>
              <a:off x="693" y="3412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5*</a:t>
              </a:r>
            </a:p>
          </p:txBody>
        </p:sp>
        <p:sp>
          <p:nvSpPr>
            <p:cNvPr id="88" name="Rectangle 52"/>
            <p:cNvSpPr>
              <a:spLocks noChangeArrowheads="1"/>
            </p:cNvSpPr>
            <p:nvPr/>
          </p:nvSpPr>
          <p:spPr bwMode="auto">
            <a:xfrm>
              <a:off x="927" y="3419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7*</a:t>
              </a:r>
            </a:p>
          </p:txBody>
        </p:sp>
        <p:sp>
          <p:nvSpPr>
            <p:cNvPr id="89" name="Rectangle 53"/>
            <p:cNvSpPr>
              <a:spLocks noChangeArrowheads="1"/>
            </p:cNvSpPr>
            <p:nvPr/>
          </p:nvSpPr>
          <p:spPr bwMode="auto">
            <a:xfrm>
              <a:off x="1264" y="3419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14*</a:t>
              </a:r>
            </a:p>
          </p:txBody>
        </p:sp>
        <p:sp>
          <p:nvSpPr>
            <p:cNvPr id="90" name="Rectangle 54"/>
            <p:cNvSpPr>
              <a:spLocks noChangeArrowheads="1"/>
            </p:cNvSpPr>
            <p:nvPr/>
          </p:nvSpPr>
          <p:spPr bwMode="auto">
            <a:xfrm>
              <a:off x="1491" y="3419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16*</a:t>
              </a:r>
            </a:p>
          </p:txBody>
        </p:sp>
        <p:sp>
          <p:nvSpPr>
            <p:cNvPr id="91" name="Rectangle 55"/>
            <p:cNvSpPr>
              <a:spLocks noChangeArrowheads="1"/>
            </p:cNvSpPr>
            <p:nvPr/>
          </p:nvSpPr>
          <p:spPr bwMode="auto">
            <a:xfrm>
              <a:off x="2332" y="3412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19*</a:t>
              </a:r>
            </a:p>
          </p:txBody>
        </p:sp>
        <p:sp>
          <p:nvSpPr>
            <p:cNvPr id="92" name="Rectangle 56"/>
            <p:cNvSpPr>
              <a:spLocks noChangeArrowheads="1"/>
            </p:cNvSpPr>
            <p:nvPr/>
          </p:nvSpPr>
          <p:spPr bwMode="auto">
            <a:xfrm>
              <a:off x="2551" y="3412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20*</a:t>
              </a:r>
            </a:p>
          </p:txBody>
        </p:sp>
        <p:sp>
          <p:nvSpPr>
            <p:cNvPr id="93" name="Rectangle 57"/>
            <p:cNvSpPr>
              <a:spLocks noChangeArrowheads="1"/>
            </p:cNvSpPr>
            <p:nvPr/>
          </p:nvSpPr>
          <p:spPr bwMode="auto">
            <a:xfrm>
              <a:off x="2779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22*</a:t>
              </a:r>
            </a:p>
          </p:txBody>
        </p:sp>
        <p:sp>
          <p:nvSpPr>
            <p:cNvPr id="94" name="Rectangle 58"/>
            <p:cNvSpPr>
              <a:spLocks noChangeArrowheads="1"/>
            </p:cNvSpPr>
            <p:nvPr/>
          </p:nvSpPr>
          <p:spPr bwMode="auto">
            <a:xfrm>
              <a:off x="3363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24*</a:t>
              </a:r>
            </a:p>
          </p:txBody>
        </p:sp>
        <p:sp>
          <p:nvSpPr>
            <p:cNvPr id="95" name="Rectangle 59"/>
            <p:cNvSpPr>
              <a:spLocks noChangeArrowheads="1"/>
            </p:cNvSpPr>
            <p:nvPr/>
          </p:nvSpPr>
          <p:spPr bwMode="auto">
            <a:xfrm>
              <a:off x="3605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27*</a:t>
              </a:r>
            </a:p>
          </p:txBody>
        </p:sp>
        <p:sp>
          <p:nvSpPr>
            <p:cNvPr id="96" name="Rectangle 60"/>
            <p:cNvSpPr>
              <a:spLocks noChangeArrowheads="1"/>
            </p:cNvSpPr>
            <p:nvPr/>
          </p:nvSpPr>
          <p:spPr bwMode="auto">
            <a:xfrm>
              <a:off x="3824" y="3418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29*</a:t>
              </a:r>
            </a:p>
          </p:txBody>
        </p:sp>
        <p:sp>
          <p:nvSpPr>
            <p:cNvPr id="97" name="Rectangle 61"/>
            <p:cNvSpPr>
              <a:spLocks noChangeArrowheads="1"/>
            </p:cNvSpPr>
            <p:nvPr/>
          </p:nvSpPr>
          <p:spPr bwMode="auto">
            <a:xfrm>
              <a:off x="4417" y="3418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33*</a:t>
              </a:r>
            </a:p>
          </p:txBody>
        </p:sp>
        <p:sp>
          <p:nvSpPr>
            <p:cNvPr id="98" name="Rectangle 62"/>
            <p:cNvSpPr>
              <a:spLocks noChangeArrowheads="1"/>
            </p:cNvSpPr>
            <p:nvPr/>
          </p:nvSpPr>
          <p:spPr bwMode="auto">
            <a:xfrm>
              <a:off x="4652" y="3418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34*</a:t>
              </a:r>
            </a:p>
          </p:txBody>
        </p:sp>
        <p:sp>
          <p:nvSpPr>
            <p:cNvPr id="99" name="Rectangle 63"/>
            <p:cNvSpPr>
              <a:spLocks noChangeArrowheads="1"/>
            </p:cNvSpPr>
            <p:nvPr/>
          </p:nvSpPr>
          <p:spPr bwMode="auto">
            <a:xfrm>
              <a:off x="4878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38*</a:t>
              </a:r>
            </a:p>
          </p:txBody>
        </p:sp>
        <p:sp>
          <p:nvSpPr>
            <p:cNvPr id="100" name="Rectangle 64"/>
            <p:cNvSpPr>
              <a:spLocks noChangeArrowheads="1"/>
            </p:cNvSpPr>
            <p:nvPr/>
          </p:nvSpPr>
          <p:spPr bwMode="auto">
            <a:xfrm>
              <a:off x="5112" y="3404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39*</a:t>
              </a:r>
            </a:p>
          </p:txBody>
        </p:sp>
        <p:sp>
          <p:nvSpPr>
            <p:cNvPr id="101" name="Rectangle 65"/>
            <p:cNvSpPr>
              <a:spLocks noChangeArrowheads="1"/>
            </p:cNvSpPr>
            <p:nvPr/>
          </p:nvSpPr>
          <p:spPr bwMode="auto">
            <a:xfrm>
              <a:off x="2157" y="2551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13</a:t>
              </a:r>
            </a:p>
          </p:txBody>
        </p:sp>
        <p:sp>
          <p:nvSpPr>
            <p:cNvPr id="102" name="Line 66"/>
            <p:cNvSpPr>
              <a:spLocks noChangeShapeType="1"/>
            </p:cNvSpPr>
            <p:nvPr/>
          </p:nvSpPr>
          <p:spPr bwMode="auto">
            <a:xfrm>
              <a:off x="2304" y="2208"/>
              <a:ext cx="24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" name="Arc 67"/>
            <p:cNvSpPr>
              <a:spLocks/>
            </p:cNvSpPr>
            <p:nvPr/>
          </p:nvSpPr>
          <p:spPr bwMode="auto">
            <a:xfrm rot="-2580000">
              <a:off x="2160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" name="Arc 68"/>
            <p:cNvSpPr>
              <a:spLocks/>
            </p:cNvSpPr>
            <p:nvPr/>
          </p:nvSpPr>
          <p:spPr bwMode="auto">
            <a:xfrm rot="-2580000">
              <a:off x="1056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" name="Arc 69"/>
            <p:cNvSpPr>
              <a:spLocks/>
            </p:cNvSpPr>
            <p:nvPr/>
          </p:nvSpPr>
          <p:spPr bwMode="auto">
            <a:xfrm rot="-2580000">
              <a:off x="3168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" name="Arc 70"/>
            <p:cNvSpPr>
              <a:spLocks/>
            </p:cNvSpPr>
            <p:nvPr/>
          </p:nvSpPr>
          <p:spPr bwMode="auto">
            <a:xfrm rot="-2580000">
              <a:off x="4224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25" name="Straight Arrow Connector 24"/>
          <p:cNvCxnSpPr>
            <a:stCxn id="71" idx="0"/>
            <a:endCxn id="72" idx="1"/>
          </p:cNvCxnSpPr>
          <p:nvPr/>
        </p:nvCxnSpPr>
        <p:spPr>
          <a:xfrm flipH="1">
            <a:off x="1185862" y="4465582"/>
            <a:ext cx="2217738" cy="100806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176337" y="5495870"/>
            <a:ext cx="369887" cy="3730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1050425" y="5834854"/>
            <a:ext cx="75693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4400" dirty="0" smtClean="0">
                <a:solidFill>
                  <a:srgbClr val="FF0000"/>
                </a:solidFill>
              </a:rPr>
              <a:t> </a:t>
            </a:r>
            <a:endParaRPr lang="en-US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768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B+ Tree: Searching for Entries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/>
              <a:t>Search begins at root, and key comparisons direct it to a leaf (as in ISAM</a:t>
            </a:r>
            <a:r>
              <a:rPr lang="en-US" sz="2800" dirty="0" smtClean="0"/>
              <a:t>)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Example 2: Search </a:t>
            </a:r>
            <a:r>
              <a:rPr lang="en-US" sz="2800" dirty="0"/>
              <a:t>for entry </a:t>
            </a:r>
            <a:r>
              <a:rPr lang="en-US" sz="2800" dirty="0" smtClean="0">
                <a:solidFill>
                  <a:srgbClr val="FF0000"/>
                </a:solidFill>
              </a:rPr>
              <a:t>15</a:t>
            </a:r>
            <a:r>
              <a:rPr lang="en-US" sz="2800" dirty="0">
                <a:solidFill>
                  <a:srgbClr val="FF0000"/>
                </a:solidFill>
              </a:rPr>
              <a:t>*</a:t>
            </a:r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endParaRPr lang="en-US" sz="2400" dirty="0"/>
          </a:p>
        </p:txBody>
      </p:sp>
      <p:grpSp>
        <p:nvGrpSpPr>
          <p:cNvPr id="40" name="Group 5"/>
          <p:cNvGrpSpPr>
            <a:grpSpLocks/>
          </p:cNvGrpSpPr>
          <p:nvPr/>
        </p:nvGrpSpPr>
        <p:grpSpPr bwMode="auto">
          <a:xfrm>
            <a:off x="431799" y="3586107"/>
            <a:ext cx="8201025" cy="2282825"/>
            <a:chOff x="218" y="2207"/>
            <a:chExt cx="5166" cy="1438"/>
          </a:xfrm>
        </p:grpSpPr>
        <p:sp>
          <p:nvSpPr>
            <p:cNvPr id="42" name="Freeform 6"/>
            <p:cNvSpPr>
              <a:spLocks/>
            </p:cNvSpPr>
            <p:nvPr/>
          </p:nvSpPr>
          <p:spPr bwMode="auto">
            <a:xfrm>
              <a:off x="2061" y="2506"/>
              <a:ext cx="351" cy="293"/>
            </a:xfrm>
            <a:custGeom>
              <a:avLst/>
              <a:gdLst>
                <a:gd name="T0" fmla="*/ 0 w 351"/>
                <a:gd name="T1" fmla="*/ 292 h 293"/>
                <a:gd name="T2" fmla="*/ 0 w 351"/>
                <a:gd name="T3" fmla="*/ 0 h 293"/>
                <a:gd name="T4" fmla="*/ 350 w 351"/>
                <a:gd name="T5" fmla="*/ 0 h 293"/>
                <a:gd name="T6" fmla="*/ 350 w 351"/>
                <a:gd name="T7" fmla="*/ 292 h 293"/>
                <a:gd name="T8" fmla="*/ 0 w 351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1"/>
                <a:gd name="T16" fmla="*/ 0 h 293"/>
                <a:gd name="T17" fmla="*/ 351 w 351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1" h="293">
                  <a:moveTo>
                    <a:pt x="0" y="292"/>
                  </a:moveTo>
                  <a:lnTo>
                    <a:pt x="0" y="0"/>
                  </a:lnTo>
                  <a:lnTo>
                    <a:pt x="350" y="0"/>
                  </a:lnTo>
                  <a:lnTo>
                    <a:pt x="350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7"/>
            <p:cNvSpPr>
              <a:spLocks/>
            </p:cNvSpPr>
            <p:nvPr/>
          </p:nvSpPr>
          <p:spPr bwMode="auto">
            <a:xfrm>
              <a:off x="2120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8"/>
            <p:cNvSpPr>
              <a:spLocks/>
            </p:cNvSpPr>
            <p:nvPr/>
          </p:nvSpPr>
          <p:spPr bwMode="auto">
            <a:xfrm>
              <a:off x="2411" y="2506"/>
              <a:ext cx="353" cy="293"/>
            </a:xfrm>
            <a:custGeom>
              <a:avLst/>
              <a:gdLst>
                <a:gd name="T0" fmla="*/ 0 w 353"/>
                <a:gd name="T1" fmla="*/ 292 h 293"/>
                <a:gd name="T2" fmla="*/ 0 w 353"/>
                <a:gd name="T3" fmla="*/ 0 h 293"/>
                <a:gd name="T4" fmla="*/ 352 w 353"/>
                <a:gd name="T5" fmla="*/ 0 h 293"/>
                <a:gd name="T6" fmla="*/ 352 w 353"/>
                <a:gd name="T7" fmla="*/ 292 h 293"/>
                <a:gd name="T8" fmla="*/ 0 w 353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3"/>
                <a:gd name="T16" fmla="*/ 0 h 293"/>
                <a:gd name="T17" fmla="*/ 353 w 353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3" h="293">
                  <a:moveTo>
                    <a:pt x="0" y="292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9"/>
            <p:cNvSpPr>
              <a:spLocks/>
            </p:cNvSpPr>
            <p:nvPr/>
          </p:nvSpPr>
          <p:spPr bwMode="auto">
            <a:xfrm>
              <a:off x="2471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10"/>
            <p:cNvSpPr>
              <a:spLocks/>
            </p:cNvSpPr>
            <p:nvPr/>
          </p:nvSpPr>
          <p:spPr bwMode="auto">
            <a:xfrm>
              <a:off x="2763" y="2506"/>
              <a:ext cx="352" cy="293"/>
            </a:xfrm>
            <a:custGeom>
              <a:avLst/>
              <a:gdLst>
                <a:gd name="T0" fmla="*/ 0 w 352"/>
                <a:gd name="T1" fmla="*/ 292 h 293"/>
                <a:gd name="T2" fmla="*/ 0 w 352"/>
                <a:gd name="T3" fmla="*/ 0 h 293"/>
                <a:gd name="T4" fmla="*/ 351 w 352"/>
                <a:gd name="T5" fmla="*/ 0 h 293"/>
                <a:gd name="T6" fmla="*/ 351 w 352"/>
                <a:gd name="T7" fmla="*/ 292 h 293"/>
                <a:gd name="T8" fmla="*/ 0 w 352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2"/>
                <a:gd name="T16" fmla="*/ 0 h 293"/>
                <a:gd name="T17" fmla="*/ 352 w 352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2" h="293">
                  <a:moveTo>
                    <a:pt x="0" y="292"/>
                  </a:moveTo>
                  <a:lnTo>
                    <a:pt x="0" y="0"/>
                  </a:lnTo>
                  <a:lnTo>
                    <a:pt x="351" y="0"/>
                  </a:lnTo>
                  <a:lnTo>
                    <a:pt x="351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1"/>
            <p:cNvSpPr>
              <a:spLocks/>
            </p:cNvSpPr>
            <p:nvPr/>
          </p:nvSpPr>
          <p:spPr bwMode="auto">
            <a:xfrm>
              <a:off x="2822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2"/>
            <p:cNvSpPr>
              <a:spLocks/>
            </p:cNvSpPr>
            <p:nvPr/>
          </p:nvSpPr>
          <p:spPr bwMode="auto">
            <a:xfrm>
              <a:off x="3114" y="2506"/>
              <a:ext cx="353" cy="293"/>
            </a:xfrm>
            <a:custGeom>
              <a:avLst/>
              <a:gdLst>
                <a:gd name="T0" fmla="*/ 0 w 353"/>
                <a:gd name="T1" fmla="*/ 292 h 293"/>
                <a:gd name="T2" fmla="*/ 0 w 353"/>
                <a:gd name="T3" fmla="*/ 0 h 293"/>
                <a:gd name="T4" fmla="*/ 352 w 353"/>
                <a:gd name="T5" fmla="*/ 0 h 293"/>
                <a:gd name="T6" fmla="*/ 352 w 353"/>
                <a:gd name="T7" fmla="*/ 292 h 293"/>
                <a:gd name="T8" fmla="*/ 0 w 353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3"/>
                <a:gd name="T16" fmla="*/ 0 h 293"/>
                <a:gd name="T17" fmla="*/ 353 w 353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3" h="293">
                  <a:moveTo>
                    <a:pt x="0" y="292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3"/>
            <p:cNvSpPr>
              <a:spLocks/>
            </p:cNvSpPr>
            <p:nvPr/>
          </p:nvSpPr>
          <p:spPr bwMode="auto">
            <a:xfrm>
              <a:off x="3172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4"/>
            <p:cNvSpPr>
              <a:spLocks/>
            </p:cNvSpPr>
            <p:nvPr/>
          </p:nvSpPr>
          <p:spPr bwMode="auto">
            <a:xfrm>
              <a:off x="3466" y="2506"/>
              <a:ext cx="59" cy="293"/>
            </a:xfrm>
            <a:custGeom>
              <a:avLst/>
              <a:gdLst>
                <a:gd name="T0" fmla="*/ 0 w 59"/>
                <a:gd name="T1" fmla="*/ 292 h 293"/>
                <a:gd name="T2" fmla="*/ 0 w 59"/>
                <a:gd name="T3" fmla="*/ 0 h 293"/>
                <a:gd name="T4" fmla="*/ 58 w 59"/>
                <a:gd name="T5" fmla="*/ 0 h 293"/>
                <a:gd name="T6" fmla="*/ 58 w 59"/>
                <a:gd name="T7" fmla="*/ 292 h 293"/>
                <a:gd name="T8" fmla="*/ 0 w 59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293"/>
                <a:gd name="T17" fmla="*/ 59 w 59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293">
                  <a:moveTo>
                    <a:pt x="0" y="292"/>
                  </a:moveTo>
                  <a:lnTo>
                    <a:pt x="0" y="0"/>
                  </a:lnTo>
                  <a:lnTo>
                    <a:pt x="58" y="0"/>
                  </a:lnTo>
                  <a:lnTo>
                    <a:pt x="58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5"/>
            <p:cNvSpPr>
              <a:spLocks/>
            </p:cNvSpPr>
            <p:nvPr/>
          </p:nvSpPr>
          <p:spPr bwMode="auto">
            <a:xfrm>
              <a:off x="4431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6"/>
            <p:cNvSpPr>
              <a:spLocks/>
            </p:cNvSpPr>
            <p:nvPr/>
          </p:nvSpPr>
          <p:spPr bwMode="auto">
            <a:xfrm>
              <a:off x="4665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17"/>
            <p:cNvSpPr>
              <a:spLocks/>
            </p:cNvSpPr>
            <p:nvPr/>
          </p:nvSpPr>
          <p:spPr bwMode="auto">
            <a:xfrm>
              <a:off x="4899" y="3410"/>
              <a:ext cx="236" cy="235"/>
            </a:xfrm>
            <a:custGeom>
              <a:avLst/>
              <a:gdLst>
                <a:gd name="T0" fmla="*/ 0 w 236"/>
                <a:gd name="T1" fmla="*/ 234 h 235"/>
                <a:gd name="T2" fmla="*/ 0 w 236"/>
                <a:gd name="T3" fmla="*/ 0 h 235"/>
                <a:gd name="T4" fmla="*/ 235 w 236"/>
                <a:gd name="T5" fmla="*/ 0 h 235"/>
                <a:gd name="T6" fmla="*/ 235 w 236"/>
                <a:gd name="T7" fmla="*/ 234 h 235"/>
                <a:gd name="T8" fmla="*/ 0 w 236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6"/>
                <a:gd name="T16" fmla="*/ 0 h 235"/>
                <a:gd name="T17" fmla="*/ 236 w 236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6" h="235">
                  <a:moveTo>
                    <a:pt x="0" y="234"/>
                  </a:moveTo>
                  <a:lnTo>
                    <a:pt x="0" y="0"/>
                  </a:lnTo>
                  <a:lnTo>
                    <a:pt x="235" y="0"/>
                  </a:lnTo>
                  <a:lnTo>
                    <a:pt x="235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18"/>
            <p:cNvSpPr>
              <a:spLocks/>
            </p:cNvSpPr>
            <p:nvPr/>
          </p:nvSpPr>
          <p:spPr bwMode="auto">
            <a:xfrm>
              <a:off x="5134" y="3410"/>
              <a:ext cx="234" cy="235"/>
            </a:xfrm>
            <a:custGeom>
              <a:avLst/>
              <a:gdLst>
                <a:gd name="T0" fmla="*/ 0 w 234"/>
                <a:gd name="T1" fmla="*/ 234 h 235"/>
                <a:gd name="T2" fmla="*/ 0 w 234"/>
                <a:gd name="T3" fmla="*/ 0 h 235"/>
                <a:gd name="T4" fmla="*/ 233 w 234"/>
                <a:gd name="T5" fmla="*/ 0 h 235"/>
                <a:gd name="T6" fmla="*/ 233 w 234"/>
                <a:gd name="T7" fmla="*/ 234 h 235"/>
                <a:gd name="T8" fmla="*/ 0 w 234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4"/>
                <a:gd name="T16" fmla="*/ 0 h 235"/>
                <a:gd name="T17" fmla="*/ 234 w 234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4" h="235">
                  <a:moveTo>
                    <a:pt x="0" y="234"/>
                  </a:moveTo>
                  <a:lnTo>
                    <a:pt x="0" y="0"/>
                  </a:lnTo>
                  <a:lnTo>
                    <a:pt x="233" y="0"/>
                  </a:lnTo>
                  <a:lnTo>
                    <a:pt x="233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19"/>
            <p:cNvSpPr>
              <a:spLocks/>
            </p:cNvSpPr>
            <p:nvPr/>
          </p:nvSpPr>
          <p:spPr bwMode="auto">
            <a:xfrm>
              <a:off x="218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20"/>
            <p:cNvSpPr>
              <a:spLocks/>
            </p:cNvSpPr>
            <p:nvPr/>
          </p:nvSpPr>
          <p:spPr bwMode="auto">
            <a:xfrm>
              <a:off x="452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21"/>
            <p:cNvSpPr>
              <a:spLocks/>
            </p:cNvSpPr>
            <p:nvPr/>
          </p:nvSpPr>
          <p:spPr bwMode="auto">
            <a:xfrm>
              <a:off x="686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22"/>
            <p:cNvSpPr>
              <a:spLocks/>
            </p:cNvSpPr>
            <p:nvPr/>
          </p:nvSpPr>
          <p:spPr bwMode="auto">
            <a:xfrm>
              <a:off x="920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23"/>
            <p:cNvSpPr>
              <a:spLocks/>
            </p:cNvSpPr>
            <p:nvPr/>
          </p:nvSpPr>
          <p:spPr bwMode="auto">
            <a:xfrm>
              <a:off x="1271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24"/>
            <p:cNvSpPr>
              <a:spLocks/>
            </p:cNvSpPr>
            <p:nvPr/>
          </p:nvSpPr>
          <p:spPr bwMode="auto">
            <a:xfrm>
              <a:off x="1505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25"/>
            <p:cNvSpPr>
              <a:spLocks/>
            </p:cNvSpPr>
            <p:nvPr/>
          </p:nvSpPr>
          <p:spPr bwMode="auto">
            <a:xfrm>
              <a:off x="1739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26"/>
            <p:cNvSpPr>
              <a:spLocks/>
            </p:cNvSpPr>
            <p:nvPr/>
          </p:nvSpPr>
          <p:spPr bwMode="auto">
            <a:xfrm>
              <a:off x="1973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27"/>
            <p:cNvSpPr>
              <a:spLocks/>
            </p:cNvSpPr>
            <p:nvPr/>
          </p:nvSpPr>
          <p:spPr bwMode="auto">
            <a:xfrm>
              <a:off x="2324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28"/>
            <p:cNvSpPr>
              <a:spLocks/>
            </p:cNvSpPr>
            <p:nvPr/>
          </p:nvSpPr>
          <p:spPr bwMode="auto">
            <a:xfrm>
              <a:off x="2558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29"/>
            <p:cNvSpPr>
              <a:spLocks/>
            </p:cNvSpPr>
            <p:nvPr/>
          </p:nvSpPr>
          <p:spPr bwMode="auto">
            <a:xfrm>
              <a:off x="2792" y="3410"/>
              <a:ext cx="236" cy="235"/>
            </a:xfrm>
            <a:custGeom>
              <a:avLst/>
              <a:gdLst>
                <a:gd name="T0" fmla="*/ 0 w 236"/>
                <a:gd name="T1" fmla="*/ 234 h 235"/>
                <a:gd name="T2" fmla="*/ 0 w 236"/>
                <a:gd name="T3" fmla="*/ 0 h 235"/>
                <a:gd name="T4" fmla="*/ 235 w 236"/>
                <a:gd name="T5" fmla="*/ 0 h 235"/>
                <a:gd name="T6" fmla="*/ 235 w 236"/>
                <a:gd name="T7" fmla="*/ 234 h 235"/>
                <a:gd name="T8" fmla="*/ 0 w 236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6"/>
                <a:gd name="T16" fmla="*/ 0 h 235"/>
                <a:gd name="T17" fmla="*/ 236 w 236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6" h="235">
                  <a:moveTo>
                    <a:pt x="0" y="234"/>
                  </a:moveTo>
                  <a:lnTo>
                    <a:pt x="0" y="0"/>
                  </a:lnTo>
                  <a:lnTo>
                    <a:pt x="235" y="0"/>
                  </a:lnTo>
                  <a:lnTo>
                    <a:pt x="235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30"/>
            <p:cNvSpPr>
              <a:spLocks/>
            </p:cNvSpPr>
            <p:nvPr/>
          </p:nvSpPr>
          <p:spPr bwMode="auto">
            <a:xfrm>
              <a:off x="3027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31"/>
            <p:cNvSpPr>
              <a:spLocks/>
            </p:cNvSpPr>
            <p:nvPr/>
          </p:nvSpPr>
          <p:spPr bwMode="auto">
            <a:xfrm>
              <a:off x="3377" y="3410"/>
              <a:ext cx="236" cy="235"/>
            </a:xfrm>
            <a:custGeom>
              <a:avLst/>
              <a:gdLst>
                <a:gd name="T0" fmla="*/ 0 w 236"/>
                <a:gd name="T1" fmla="*/ 234 h 235"/>
                <a:gd name="T2" fmla="*/ 0 w 236"/>
                <a:gd name="T3" fmla="*/ 0 h 235"/>
                <a:gd name="T4" fmla="*/ 235 w 236"/>
                <a:gd name="T5" fmla="*/ 0 h 235"/>
                <a:gd name="T6" fmla="*/ 235 w 236"/>
                <a:gd name="T7" fmla="*/ 234 h 235"/>
                <a:gd name="T8" fmla="*/ 0 w 236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6"/>
                <a:gd name="T16" fmla="*/ 0 h 235"/>
                <a:gd name="T17" fmla="*/ 236 w 236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6" h="235">
                  <a:moveTo>
                    <a:pt x="0" y="234"/>
                  </a:moveTo>
                  <a:lnTo>
                    <a:pt x="0" y="0"/>
                  </a:lnTo>
                  <a:lnTo>
                    <a:pt x="235" y="0"/>
                  </a:lnTo>
                  <a:lnTo>
                    <a:pt x="235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32"/>
            <p:cNvSpPr>
              <a:spLocks/>
            </p:cNvSpPr>
            <p:nvPr/>
          </p:nvSpPr>
          <p:spPr bwMode="auto">
            <a:xfrm>
              <a:off x="3612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33"/>
            <p:cNvSpPr>
              <a:spLocks/>
            </p:cNvSpPr>
            <p:nvPr/>
          </p:nvSpPr>
          <p:spPr bwMode="auto">
            <a:xfrm>
              <a:off x="3846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34"/>
            <p:cNvSpPr>
              <a:spLocks/>
            </p:cNvSpPr>
            <p:nvPr/>
          </p:nvSpPr>
          <p:spPr bwMode="auto">
            <a:xfrm>
              <a:off x="4080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35"/>
            <p:cNvSpPr>
              <a:spLocks/>
            </p:cNvSpPr>
            <p:nvPr/>
          </p:nvSpPr>
          <p:spPr bwMode="auto">
            <a:xfrm>
              <a:off x="693" y="2761"/>
              <a:ext cx="1398" cy="636"/>
            </a:xfrm>
            <a:custGeom>
              <a:avLst/>
              <a:gdLst>
                <a:gd name="T0" fmla="*/ 1397 w 1398"/>
                <a:gd name="T1" fmla="*/ 0 h 636"/>
                <a:gd name="T2" fmla="*/ 0 w 1398"/>
                <a:gd name="T3" fmla="*/ 635 h 636"/>
                <a:gd name="T4" fmla="*/ 1397 w 1398"/>
                <a:gd name="T5" fmla="*/ 0 h 636"/>
                <a:gd name="T6" fmla="*/ 0 60000 65536"/>
                <a:gd name="T7" fmla="*/ 0 60000 65536"/>
                <a:gd name="T8" fmla="*/ 0 60000 65536"/>
                <a:gd name="T9" fmla="*/ 0 w 1398"/>
                <a:gd name="T10" fmla="*/ 0 h 636"/>
                <a:gd name="T11" fmla="*/ 1398 w 1398"/>
                <a:gd name="T12" fmla="*/ 636 h 6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8" h="636">
                  <a:moveTo>
                    <a:pt x="1397" y="0"/>
                  </a:moveTo>
                  <a:lnTo>
                    <a:pt x="0" y="635"/>
                  </a:lnTo>
                  <a:lnTo>
                    <a:pt x="1397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36"/>
            <p:cNvSpPr>
              <a:spLocks/>
            </p:cNvSpPr>
            <p:nvPr/>
          </p:nvSpPr>
          <p:spPr bwMode="auto">
            <a:xfrm>
              <a:off x="693" y="3349"/>
              <a:ext cx="75" cy="48"/>
            </a:xfrm>
            <a:custGeom>
              <a:avLst/>
              <a:gdLst>
                <a:gd name="T0" fmla="*/ 74 w 75"/>
                <a:gd name="T1" fmla="*/ 33 h 48"/>
                <a:gd name="T2" fmla="*/ 0 w 75"/>
                <a:gd name="T3" fmla="*/ 47 h 48"/>
                <a:gd name="T4" fmla="*/ 59 w 75"/>
                <a:gd name="T5" fmla="*/ 0 h 48"/>
                <a:gd name="T6" fmla="*/ 74 w 75"/>
                <a:gd name="T7" fmla="*/ 33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48"/>
                <a:gd name="T14" fmla="*/ 75 w 75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48">
                  <a:moveTo>
                    <a:pt x="74" y="33"/>
                  </a:moveTo>
                  <a:lnTo>
                    <a:pt x="0" y="47"/>
                  </a:lnTo>
                  <a:lnTo>
                    <a:pt x="59" y="0"/>
                  </a:lnTo>
                  <a:lnTo>
                    <a:pt x="74" y="33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37"/>
            <p:cNvSpPr>
              <a:spLocks/>
            </p:cNvSpPr>
            <p:nvPr/>
          </p:nvSpPr>
          <p:spPr bwMode="auto">
            <a:xfrm>
              <a:off x="1739" y="2769"/>
              <a:ext cx="696" cy="628"/>
            </a:xfrm>
            <a:custGeom>
              <a:avLst/>
              <a:gdLst>
                <a:gd name="T0" fmla="*/ 695 w 696"/>
                <a:gd name="T1" fmla="*/ 0 h 628"/>
                <a:gd name="T2" fmla="*/ 0 w 696"/>
                <a:gd name="T3" fmla="*/ 627 h 628"/>
                <a:gd name="T4" fmla="*/ 695 w 696"/>
                <a:gd name="T5" fmla="*/ 0 h 628"/>
                <a:gd name="T6" fmla="*/ 0 60000 65536"/>
                <a:gd name="T7" fmla="*/ 0 60000 65536"/>
                <a:gd name="T8" fmla="*/ 0 60000 65536"/>
                <a:gd name="T9" fmla="*/ 0 w 696"/>
                <a:gd name="T10" fmla="*/ 0 h 628"/>
                <a:gd name="T11" fmla="*/ 696 w 696"/>
                <a:gd name="T12" fmla="*/ 628 h 6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6" h="628">
                  <a:moveTo>
                    <a:pt x="695" y="0"/>
                  </a:moveTo>
                  <a:lnTo>
                    <a:pt x="0" y="627"/>
                  </a:lnTo>
                  <a:lnTo>
                    <a:pt x="695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38"/>
            <p:cNvSpPr>
              <a:spLocks/>
            </p:cNvSpPr>
            <p:nvPr/>
          </p:nvSpPr>
          <p:spPr bwMode="auto">
            <a:xfrm>
              <a:off x="1739" y="3333"/>
              <a:ext cx="68" cy="64"/>
            </a:xfrm>
            <a:custGeom>
              <a:avLst/>
              <a:gdLst>
                <a:gd name="T0" fmla="*/ 67 w 68"/>
                <a:gd name="T1" fmla="*/ 27 h 64"/>
                <a:gd name="T2" fmla="*/ 0 w 68"/>
                <a:gd name="T3" fmla="*/ 63 h 64"/>
                <a:gd name="T4" fmla="*/ 42 w 68"/>
                <a:gd name="T5" fmla="*/ 0 h 64"/>
                <a:gd name="T6" fmla="*/ 67 w 68"/>
                <a:gd name="T7" fmla="*/ 27 h 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64"/>
                <a:gd name="T14" fmla="*/ 68 w 68"/>
                <a:gd name="T15" fmla="*/ 64 h 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64">
                  <a:moveTo>
                    <a:pt x="67" y="27"/>
                  </a:moveTo>
                  <a:lnTo>
                    <a:pt x="0" y="63"/>
                  </a:lnTo>
                  <a:lnTo>
                    <a:pt x="42" y="0"/>
                  </a:lnTo>
                  <a:lnTo>
                    <a:pt x="67" y="27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39"/>
            <p:cNvSpPr>
              <a:spLocks/>
            </p:cNvSpPr>
            <p:nvPr/>
          </p:nvSpPr>
          <p:spPr bwMode="auto">
            <a:xfrm>
              <a:off x="2785" y="2769"/>
              <a:ext cx="1" cy="621"/>
            </a:xfrm>
            <a:custGeom>
              <a:avLst/>
              <a:gdLst>
                <a:gd name="T0" fmla="*/ 0 w 1"/>
                <a:gd name="T1" fmla="*/ 0 h 621"/>
                <a:gd name="T2" fmla="*/ 0 w 1"/>
                <a:gd name="T3" fmla="*/ 620 h 621"/>
                <a:gd name="T4" fmla="*/ 0 w 1"/>
                <a:gd name="T5" fmla="*/ 0 h 621"/>
                <a:gd name="T6" fmla="*/ 0 60000 65536"/>
                <a:gd name="T7" fmla="*/ 0 60000 65536"/>
                <a:gd name="T8" fmla="*/ 0 60000 65536"/>
                <a:gd name="T9" fmla="*/ 0 w 1"/>
                <a:gd name="T10" fmla="*/ 0 h 621"/>
                <a:gd name="T11" fmla="*/ 1 w 1"/>
                <a:gd name="T12" fmla="*/ 621 h 6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21">
                  <a:moveTo>
                    <a:pt x="0" y="0"/>
                  </a:moveTo>
                  <a:lnTo>
                    <a:pt x="0" y="620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40"/>
            <p:cNvSpPr>
              <a:spLocks/>
            </p:cNvSpPr>
            <p:nvPr/>
          </p:nvSpPr>
          <p:spPr bwMode="auto">
            <a:xfrm>
              <a:off x="2766" y="3315"/>
              <a:ext cx="38" cy="75"/>
            </a:xfrm>
            <a:custGeom>
              <a:avLst/>
              <a:gdLst>
                <a:gd name="T0" fmla="*/ 37 w 38"/>
                <a:gd name="T1" fmla="*/ 0 h 75"/>
                <a:gd name="T2" fmla="*/ 19 w 38"/>
                <a:gd name="T3" fmla="*/ 74 h 75"/>
                <a:gd name="T4" fmla="*/ 0 w 38"/>
                <a:gd name="T5" fmla="*/ 0 h 75"/>
                <a:gd name="T6" fmla="*/ 37 w 38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"/>
                <a:gd name="T13" fmla="*/ 0 h 75"/>
                <a:gd name="T14" fmla="*/ 38 w 38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" h="75">
                  <a:moveTo>
                    <a:pt x="37" y="0"/>
                  </a:moveTo>
                  <a:lnTo>
                    <a:pt x="19" y="74"/>
                  </a:lnTo>
                  <a:lnTo>
                    <a:pt x="0" y="0"/>
                  </a:lnTo>
                  <a:lnTo>
                    <a:pt x="37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41"/>
            <p:cNvSpPr>
              <a:spLocks/>
            </p:cNvSpPr>
            <p:nvPr/>
          </p:nvSpPr>
          <p:spPr bwMode="auto">
            <a:xfrm>
              <a:off x="3143" y="2761"/>
              <a:ext cx="689" cy="629"/>
            </a:xfrm>
            <a:custGeom>
              <a:avLst/>
              <a:gdLst>
                <a:gd name="T0" fmla="*/ 0 w 689"/>
                <a:gd name="T1" fmla="*/ 0 h 629"/>
                <a:gd name="T2" fmla="*/ 688 w 689"/>
                <a:gd name="T3" fmla="*/ 628 h 629"/>
                <a:gd name="T4" fmla="*/ 0 w 689"/>
                <a:gd name="T5" fmla="*/ 0 h 629"/>
                <a:gd name="T6" fmla="*/ 0 60000 65536"/>
                <a:gd name="T7" fmla="*/ 0 60000 65536"/>
                <a:gd name="T8" fmla="*/ 0 60000 65536"/>
                <a:gd name="T9" fmla="*/ 0 w 689"/>
                <a:gd name="T10" fmla="*/ 0 h 629"/>
                <a:gd name="T11" fmla="*/ 689 w 689"/>
                <a:gd name="T12" fmla="*/ 629 h 6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9" h="629">
                  <a:moveTo>
                    <a:pt x="0" y="0"/>
                  </a:moveTo>
                  <a:lnTo>
                    <a:pt x="688" y="628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42"/>
            <p:cNvSpPr>
              <a:spLocks/>
            </p:cNvSpPr>
            <p:nvPr/>
          </p:nvSpPr>
          <p:spPr bwMode="auto">
            <a:xfrm>
              <a:off x="3765" y="3326"/>
              <a:ext cx="67" cy="64"/>
            </a:xfrm>
            <a:custGeom>
              <a:avLst/>
              <a:gdLst>
                <a:gd name="T0" fmla="*/ 25 w 67"/>
                <a:gd name="T1" fmla="*/ 0 h 64"/>
                <a:gd name="T2" fmla="*/ 66 w 67"/>
                <a:gd name="T3" fmla="*/ 63 h 64"/>
                <a:gd name="T4" fmla="*/ 0 w 67"/>
                <a:gd name="T5" fmla="*/ 27 h 64"/>
                <a:gd name="T6" fmla="*/ 25 w 67"/>
                <a:gd name="T7" fmla="*/ 0 h 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64"/>
                <a:gd name="T14" fmla="*/ 67 w 67"/>
                <a:gd name="T15" fmla="*/ 64 h 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64">
                  <a:moveTo>
                    <a:pt x="25" y="0"/>
                  </a:moveTo>
                  <a:lnTo>
                    <a:pt x="66" y="63"/>
                  </a:lnTo>
                  <a:lnTo>
                    <a:pt x="0" y="27"/>
                  </a:lnTo>
                  <a:lnTo>
                    <a:pt x="25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43"/>
            <p:cNvSpPr>
              <a:spLocks/>
            </p:cNvSpPr>
            <p:nvPr/>
          </p:nvSpPr>
          <p:spPr bwMode="auto">
            <a:xfrm>
              <a:off x="3495" y="2753"/>
              <a:ext cx="1398" cy="637"/>
            </a:xfrm>
            <a:custGeom>
              <a:avLst/>
              <a:gdLst>
                <a:gd name="T0" fmla="*/ 0 w 1398"/>
                <a:gd name="T1" fmla="*/ 0 h 637"/>
                <a:gd name="T2" fmla="*/ 1397 w 1398"/>
                <a:gd name="T3" fmla="*/ 636 h 637"/>
                <a:gd name="T4" fmla="*/ 0 w 1398"/>
                <a:gd name="T5" fmla="*/ 0 h 637"/>
                <a:gd name="T6" fmla="*/ 0 60000 65536"/>
                <a:gd name="T7" fmla="*/ 0 60000 65536"/>
                <a:gd name="T8" fmla="*/ 0 60000 65536"/>
                <a:gd name="T9" fmla="*/ 0 w 1398"/>
                <a:gd name="T10" fmla="*/ 0 h 637"/>
                <a:gd name="T11" fmla="*/ 1398 w 1398"/>
                <a:gd name="T12" fmla="*/ 637 h 6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8" h="637">
                  <a:moveTo>
                    <a:pt x="0" y="0"/>
                  </a:moveTo>
                  <a:lnTo>
                    <a:pt x="1397" y="636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44"/>
            <p:cNvSpPr>
              <a:spLocks/>
            </p:cNvSpPr>
            <p:nvPr/>
          </p:nvSpPr>
          <p:spPr bwMode="auto">
            <a:xfrm>
              <a:off x="4818" y="3341"/>
              <a:ext cx="75" cy="49"/>
            </a:xfrm>
            <a:custGeom>
              <a:avLst/>
              <a:gdLst>
                <a:gd name="T0" fmla="*/ 15 w 75"/>
                <a:gd name="T1" fmla="*/ 0 h 49"/>
                <a:gd name="T2" fmla="*/ 74 w 75"/>
                <a:gd name="T3" fmla="*/ 48 h 49"/>
                <a:gd name="T4" fmla="*/ 0 w 75"/>
                <a:gd name="T5" fmla="*/ 34 h 49"/>
                <a:gd name="T6" fmla="*/ 15 w 75"/>
                <a:gd name="T7" fmla="*/ 0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49"/>
                <a:gd name="T14" fmla="*/ 75 w 75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49">
                  <a:moveTo>
                    <a:pt x="15" y="0"/>
                  </a:moveTo>
                  <a:lnTo>
                    <a:pt x="74" y="48"/>
                  </a:lnTo>
                  <a:lnTo>
                    <a:pt x="0" y="34"/>
                  </a:lnTo>
                  <a:lnTo>
                    <a:pt x="15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Rectangle 45"/>
            <p:cNvSpPr>
              <a:spLocks noChangeArrowheads="1"/>
            </p:cNvSpPr>
            <p:nvPr/>
          </p:nvSpPr>
          <p:spPr bwMode="auto">
            <a:xfrm>
              <a:off x="1762" y="2207"/>
              <a:ext cx="37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400" u="none">
                  <a:solidFill>
                    <a:srgbClr val="000000"/>
                  </a:solidFill>
                  <a:latin typeface="Arial" pitchFamily="34" charset="0"/>
                </a:rPr>
                <a:t>Root</a:t>
              </a:r>
            </a:p>
          </p:txBody>
        </p:sp>
        <p:sp>
          <p:nvSpPr>
            <p:cNvPr id="82" name="Rectangle 46"/>
            <p:cNvSpPr>
              <a:spLocks noChangeArrowheads="1"/>
            </p:cNvSpPr>
            <p:nvPr/>
          </p:nvSpPr>
          <p:spPr bwMode="auto">
            <a:xfrm>
              <a:off x="2493" y="2551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17</a:t>
              </a:r>
            </a:p>
          </p:txBody>
        </p:sp>
        <p:sp>
          <p:nvSpPr>
            <p:cNvPr id="83" name="Rectangle 47"/>
            <p:cNvSpPr>
              <a:spLocks noChangeArrowheads="1"/>
            </p:cNvSpPr>
            <p:nvPr/>
          </p:nvSpPr>
          <p:spPr bwMode="auto">
            <a:xfrm>
              <a:off x="2844" y="2550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24</a:t>
              </a:r>
            </a:p>
          </p:txBody>
        </p:sp>
        <p:sp>
          <p:nvSpPr>
            <p:cNvPr id="84" name="Rectangle 48"/>
            <p:cNvSpPr>
              <a:spLocks noChangeArrowheads="1"/>
            </p:cNvSpPr>
            <p:nvPr/>
          </p:nvSpPr>
          <p:spPr bwMode="auto">
            <a:xfrm>
              <a:off x="3203" y="2543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30</a:t>
              </a:r>
            </a:p>
          </p:txBody>
        </p:sp>
        <p:sp>
          <p:nvSpPr>
            <p:cNvPr id="85" name="Rectangle 49"/>
            <p:cNvSpPr>
              <a:spLocks noChangeArrowheads="1"/>
            </p:cNvSpPr>
            <p:nvPr/>
          </p:nvSpPr>
          <p:spPr bwMode="auto">
            <a:xfrm>
              <a:off x="218" y="3419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2*</a:t>
              </a:r>
            </a:p>
          </p:txBody>
        </p:sp>
        <p:sp>
          <p:nvSpPr>
            <p:cNvPr id="86" name="Rectangle 50"/>
            <p:cNvSpPr>
              <a:spLocks noChangeArrowheads="1"/>
            </p:cNvSpPr>
            <p:nvPr/>
          </p:nvSpPr>
          <p:spPr bwMode="auto">
            <a:xfrm>
              <a:off x="458" y="3412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3*</a:t>
              </a:r>
            </a:p>
          </p:txBody>
        </p:sp>
        <p:sp>
          <p:nvSpPr>
            <p:cNvPr id="87" name="Rectangle 51"/>
            <p:cNvSpPr>
              <a:spLocks noChangeArrowheads="1"/>
            </p:cNvSpPr>
            <p:nvPr/>
          </p:nvSpPr>
          <p:spPr bwMode="auto">
            <a:xfrm>
              <a:off x="693" y="3412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5*</a:t>
              </a:r>
            </a:p>
          </p:txBody>
        </p:sp>
        <p:sp>
          <p:nvSpPr>
            <p:cNvPr id="88" name="Rectangle 52"/>
            <p:cNvSpPr>
              <a:spLocks noChangeArrowheads="1"/>
            </p:cNvSpPr>
            <p:nvPr/>
          </p:nvSpPr>
          <p:spPr bwMode="auto">
            <a:xfrm>
              <a:off x="927" y="3419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7*</a:t>
              </a:r>
            </a:p>
          </p:txBody>
        </p:sp>
        <p:sp>
          <p:nvSpPr>
            <p:cNvPr id="89" name="Rectangle 53"/>
            <p:cNvSpPr>
              <a:spLocks noChangeArrowheads="1"/>
            </p:cNvSpPr>
            <p:nvPr/>
          </p:nvSpPr>
          <p:spPr bwMode="auto">
            <a:xfrm>
              <a:off x="1264" y="3419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14*</a:t>
              </a:r>
            </a:p>
          </p:txBody>
        </p:sp>
        <p:sp>
          <p:nvSpPr>
            <p:cNvPr id="90" name="Rectangle 54"/>
            <p:cNvSpPr>
              <a:spLocks noChangeArrowheads="1"/>
            </p:cNvSpPr>
            <p:nvPr/>
          </p:nvSpPr>
          <p:spPr bwMode="auto">
            <a:xfrm>
              <a:off x="1491" y="3419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16*</a:t>
              </a:r>
            </a:p>
          </p:txBody>
        </p:sp>
        <p:sp>
          <p:nvSpPr>
            <p:cNvPr id="91" name="Rectangle 55"/>
            <p:cNvSpPr>
              <a:spLocks noChangeArrowheads="1"/>
            </p:cNvSpPr>
            <p:nvPr/>
          </p:nvSpPr>
          <p:spPr bwMode="auto">
            <a:xfrm>
              <a:off x="2332" y="3412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19*</a:t>
              </a:r>
            </a:p>
          </p:txBody>
        </p:sp>
        <p:sp>
          <p:nvSpPr>
            <p:cNvPr id="92" name="Rectangle 56"/>
            <p:cNvSpPr>
              <a:spLocks noChangeArrowheads="1"/>
            </p:cNvSpPr>
            <p:nvPr/>
          </p:nvSpPr>
          <p:spPr bwMode="auto">
            <a:xfrm>
              <a:off x="2551" y="3412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20*</a:t>
              </a:r>
            </a:p>
          </p:txBody>
        </p:sp>
        <p:sp>
          <p:nvSpPr>
            <p:cNvPr id="93" name="Rectangle 57"/>
            <p:cNvSpPr>
              <a:spLocks noChangeArrowheads="1"/>
            </p:cNvSpPr>
            <p:nvPr/>
          </p:nvSpPr>
          <p:spPr bwMode="auto">
            <a:xfrm>
              <a:off x="2779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22*</a:t>
              </a:r>
            </a:p>
          </p:txBody>
        </p:sp>
        <p:sp>
          <p:nvSpPr>
            <p:cNvPr id="94" name="Rectangle 58"/>
            <p:cNvSpPr>
              <a:spLocks noChangeArrowheads="1"/>
            </p:cNvSpPr>
            <p:nvPr/>
          </p:nvSpPr>
          <p:spPr bwMode="auto">
            <a:xfrm>
              <a:off x="3363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24*</a:t>
              </a:r>
            </a:p>
          </p:txBody>
        </p:sp>
        <p:sp>
          <p:nvSpPr>
            <p:cNvPr id="95" name="Rectangle 59"/>
            <p:cNvSpPr>
              <a:spLocks noChangeArrowheads="1"/>
            </p:cNvSpPr>
            <p:nvPr/>
          </p:nvSpPr>
          <p:spPr bwMode="auto">
            <a:xfrm>
              <a:off x="3605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27*</a:t>
              </a:r>
            </a:p>
          </p:txBody>
        </p:sp>
        <p:sp>
          <p:nvSpPr>
            <p:cNvPr id="96" name="Rectangle 60"/>
            <p:cNvSpPr>
              <a:spLocks noChangeArrowheads="1"/>
            </p:cNvSpPr>
            <p:nvPr/>
          </p:nvSpPr>
          <p:spPr bwMode="auto">
            <a:xfrm>
              <a:off x="3824" y="3418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29*</a:t>
              </a:r>
            </a:p>
          </p:txBody>
        </p:sp>
        <p:sp>
          <p:nvSpPr>
            <p:cNvPr id="97" name="Rectangle 61"/>
            <p:cNvSpPr>
              <a:spLocks noChangeArrowheads="1"/>
            </p:cNvSpPr>
            <p:nvPr/>
          </p:nvSpPr>
          <p:spPr bwMode="auto">
            <a:xfrm>
              <a:off x="4417" y="3418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33*</a:t>
              </a:r>
            </a:p>
          </p:txBody>
        </p:sp>
        <p:sp>
          <p:nvSpPr>
            <p:cNvPr id="98" name="Rectangle 62"/>
            <p:cNvSpPr>
              <a:spLocks noChangeArrowheads="1"/>
            </p:cNvSpPr>
            <p:nvPr/>
          </p:nvSpPr>
          <p:spPr bwMode="auto">
            <a:xfrm>
              <a:off x="4652" y="3418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34*</a:t>
              </a:r>
            </a:p>
          </p:txBody>
        </p:sp>
        <p:sp>
          <p:nvSpPr>
            <p:cNvPr id="99" name="Rectangle 63"/>
            <p:cNvSpPr>
              <a:spLocks noChangeArrowheads="1"/>
            </p:cNvSpPr>
            <p:nvPr/>
          </p:nvSpPr>
          <p:spPr bwMode="auto">
            <a:xfrm>
              <a:off x="4878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38*</a:t>
              </a:r>
            </a:p>
          </p:txBody>
        </p:sp>
        <p:sp>
          <p:nvSpPr>
            <p:cNvPr id="100" name="Rectangle 64"/>
            <p:cNvSpPr>
              <a:spLocks noChangeArrowheads="1"/>
            </p:cNvSpPr>
            <p:nvPr/>
          </p:nvSpPr>
          <p:spPr bwMode="auto">
            <a:xfrm>
              <a:off x="5112" y="3404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39*</a:t>
              </a:r>
            </a:p>
          </p:txBody>
        </p:sp>
        <p:sp>
          <p:nvSpPr>
            <p:cNvPr id="101" name="Rectangle 65"/>
            <p:cNvSpPr>
              <a:spLocks noChangeArrowheads="1"/>
            </p:cNvSpPr>
            <p:nvPr/>
          </p:nvSpPr>
          <p:spPr bwMode="auto">
            <a:xfrm>
              <a:off x="2157" y="2551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13</a:t>
              </a:r>
            </a:p>
          </p:txBody>
        </p:sp>
        <p:sp>
          <p:nvSpPr>
            <p:cNvPr id="102" name="Line 66"/>
            <p:cNvSpPr>
              <a:spLocks noChangeShapeType="1"/>
            </p:cNvSpPr>
            <p:nvPr/>
          </p:nvSpPr>
          <p:spPr bwMode="auto">
            <a:xfrm>
              <a:off x="2304" y="2208"/>
              <a:ext cx="24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" name="Arc 67"/>
            <p:cNvSpPr>
              <a:spLocks/>
            </p:cNvSpPr>
            <p:nvPr/>
          </p:nvSpPr>
          <p:spPr bwMode="auto">
            <a:xfrm rot="-2580000">
              <a:off x="2160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" name="Arc 68"/>
            <p:cNvSpPr>
              <a:spLocks/>
            </p:cNvSpPr>
            <p:nvPr/>
          </p:nvSpPr>
          <p:spPr bwMode="auto">
            <a:xfrm rot="-2580000">
              <a:off x="1056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" name="Arc 69"/>
            <p:cNvSpPr>
              <a:spLocks/>
            </p:cNvSpPr>
            <p:nvPr/>
          </p:nvSpPr>
          <p:spPr bwMode="auto">
            <a:xfrm rot="-2580000">
              <a:off x="3168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" name="Arc 70"/>
            <p:cNvSpPr>
              <a:spLocks/>
            </p:cNvSpPr>
            <p:nvPr/>
          </p:nvSpPr>
          <p:spPr bwMode="auto">
            <a:xfrm rot="-2580000">
              <a:off x="4224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107" name="Straight Arrow Connector 106"/>
          <p:cNvCxnSpPr>
            <a:endCxn id="60" idx="2"/>
          </p:cNvCxnSpPr>
          <p:nvPr/>
        </p:nvCxnSpPr>
        <p:spPr>
          <a:xfrm flipH="1">
            <a:off x="2846387" y="4478282"/>
            <a:ext cx="1110457" cy="10175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ultiply 4"/>
          <p:cNvSpPr/>
          <p:nvPr/>
        </p:nvSpPr>
        <p:spPr>
          <a:xfrm>
            <a:off x="2452687" y="5893858"/>
            <a:ext cx="696119" cy="68580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255937" y="6052092"/>
            <a:ext cx="2310184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15*</a:t>
            </a:r>
            <a:r>
              <a:rPr lang="en-US" sz="2400" dirty="0" smtClean="0"/>
              <a:t> is not found!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99207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B+ Trees: Inserting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/>
              <a:t>Find correct leaf </a:t>
            </a:r>
            <a:r>
              <a:rPr lang="en-US" sz="2800" b="1" i="1" dirty="0" smtClean="0"/>
              <a:t>L</a:t>
            </a:r>
            <a:r>
              <a:rPr lang="en-US" sz="2800" dirty="0" smtClean="0"/>
              <a:t> 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r>
              <a:rPr lang="en-US" sz="2800" dirty="0"/>
              <a:t>Put data entry onto </a:t>
            </a:r>
            <a:r>
              <a:rPr lang="en-US" sz="2800" b="1" i="1" dirty="0" smtClean="0"/>
              <a:t>L</a:t>
            </a:r>
            <a:endParaRPr lang="en-US" sz="2800" b="1" dirty="0"/>
          </a:p>
          <a:p>
            <a:pPr lvl="1">
              <a:buFont typeface="Wingdings" pitchFamily="2" charset="2"/>
              <a:buChar char="§"/>
            </a:pPr>
            <a:r>
              <a:rPr lang="en-US" sz="2400" dirty="0"/>
              <a:t>If </a:t>
            </a:r>
            <a:r>
              <a:rPr lang="en-US" sz="2400" b="1" i="1" dirty="0"/>
              <a:t>L</a:t>
            </a:r>
            <a:r>
              <a:rPr lang="en-US" sz="2400" i="1" dirty="0"/>
              <a:t> </a:t>
            </a:r>
            <a:r>
              <a:rPr lang="en-US" sz="2400" dirty="0"/>
              <a:t>has enough space, </a:t>
            </a:r>
            <a:r>
              <a:rPr lang="en-US" sz="2400" i="1" dirty="0"/>
              <a:t>done</a:t>
            </a:r>
            <a:r>
              <a:rPr lang="en-US" sz="2400" dirty="0"/>
              <a:t>!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/>
              <a:t>Else, </a:t>
            </a:r>
            <a:r>
              <a:rPr lang="en-US" sz="2400" i="1" u="sng" dirty="0" smtClean="0">
                <a:solidFill>
                  <a:srgbClr val="0070C0"/>
                </a:solidFill>
              </a:rPr>
              <a:t>split</a:t>
            </a:r>
            <a:r>
              <a:rPr lang="en-US" sz="2400" dirty="0" smtClean="0">
                <a:solidFill>
                  <a:schemeClr val="accent2"/>
                </a:solidFill>
              </a:rPr>
              <a:t>  </a:t>
            </a:r>
            <a:r>
              <a:rPr lang="en-US" sz="2400" b="1" i="1" dirty="0"/>
              <a:t>L</a:t>
            </a:r>
            <a:r>
              <a:rPr lang="en-US" sz="2400" i="1" dirty="0"/>
              <a:t> </a:t>
            </a:r>
            <a:r>
              <a:rPr lang="en-US" sz="2400" i="1" dirty="0" smtClean="0"/>
              <a:t>into </a:t>
            </a:r>
            <a:r>
              <a:rPr lang="en-US" sz="2400" b="1" i="1" dirty="0"/>
              <a:t>L</a:t>
            </a:r>
            <a:r>
              <a:rPr lang="en-US" sz="2400" i="1" dirty="0"/>
              <a:t> and a new node </a:t>
            </a:r>
            <a:r>
              <a:rPr lang="en-US" sz="2400" b="1" i="1" dirty="0" smtClean="0"/>
              <a:t>L</a:t>
            </a:r>
            <a:r>
              <a:rPr lang="en-US" sz="2400" b="1" i="1" baseline="-25000" dirty="0" smtClean="0"/>
              <a:t>2</a:t>
            </a:r>
            <a:endParaRPr lang="en-US" sz="2400" dirty="0"/>
          </a:p>
          <a:p>
            <a:pPr lvl="2">
              <a:buFont typeface="Wingdings" pitchFamily="2" charset="2"/>
              <a:buChar char="§"/>
            </a:pPr>
            <a:r>
              <a:rPr lang="en-US" dirty="0" smtClean="0"/>
              <a:t>Re-partition </a:t>
            </a:r>
            <a:r>
              <a:rPr lang="en-US" dirty="0"/>
              <a:t>entries </a:t>
            </a:r>
            <a:r>
              <a:rPr lang="en-US" i="1" dirty="0"/>
              <a:t>evenly</a:t>
            </a:r>
            <a:r>
              <a:rPr lang="en-US" dirty="0"/>
              <a:t>, </a:t>
            </a:r>
            <a:r>
              <a:rPr lang="en-US" i="1" u="sng" dirty="0" smtClean="0">
                <a:solidFill>
                  <a:srgbClr val="0070C0"/>
                </a:solidFill>
              </a:rPr>
              <a:t>copying </a:t>
            </a:r>
            <a:r>
              <a:rPr lang="en-US" i="1" u="sng" dirty="0">
                <a:solidFill>
                  <a:srgbClr val="0070C0"/>
                </a:solidFill>
              </a:rPr>
              <a:t>up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dirty="0" smtClean="0"/>
              <a:t>the middle key</a:t>
            </a:r>
          </a:p>
          <a:p>
            <a:pPr lvl="2"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Parent </a:t>
            </a:r>
            <a:r>
              <a:rPr lang="en-US" sz="2800" dirty="0"/>
              <a:t>node may </a:t>
            </a:r>
            <a:r>
              <a:rPr lang="en-US" sz="2800" i="1" dirty="0"/>
              <a:t>overflow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i="1" u="sng" dirty="0" smtClean="0">
                <a:solidFill>
                  <a:srgbClr val="0070C0"/>
                </a:solidFill>
              </a:rPr>
              <a:t>Push </a:t>
            </a:r>
            <a:r>
              <a:rPr lang="en-US" sz="2400" i="1" u="sng" dirty="0">
                <a:solidFill>
                  <a:srgbClr val="0070C0"/>
                </a:solidFill>
              </a:rPr>
              <a:t>up</a:t>
            </a:r>
            <a:r>
              <a:rPr lang="en-US" sz="2400" b="1" dirty="0">
                <a:solidFill>
                  <a:schemeClr val="accent2"/>
                </a:solidFill>
              </a:rPr>
              <a:t> </a:t>
            </a:r>
            <a:r>
              <a:rPr lang="en-US" sz="2400" dirty="0"/>
              <a:t>middle </a:t>
            </a:r>
            <a:r>
              <a:rPr lang="en-US" sz="2400" dirty="0" smtClean="0"/>
              <a:t>key (splits </a:t>
            </a:r>
            <a:r>
              <a:rPr lang="ja-JP" altLang="en-US" sz="2400" dirty="0"/>
              <a:t>“</a:t>
            </a:r>
            <a:r>
              <a:rPr lang="en-US" altLang="ja-JP" sz="2400" dirty="0"/>
              <a:t>grow</a:t>
            </a:r>
            <a:r>
              <a:rPr lang="ja-JP" altLang="en-US" sz="2400" dirty="0"/>
              <a:t>”</a:t>
            </a:r>
            <a:r>
              <a:rPr lang="en-US" altLang="ja-JP" sz="2400" dirty="0"/>
              <a:t> </a:t>
            </a:r>
            <a:r>
              <a:rPr lang="en-US" altLang="ja-JP" sz="2400" dirty="0" smtClean="0"/>
              <a:t>trees; a root </a:t>
            </a:r>
            <a:r>
              <a:rPr lang="en-US" altLang="ja-JP" sz="2400" dirty="0"/>
              <a:t>split increases </a:t>
            </a:r>
            <a:r>
              <a:rPr lang="en-US" altLang="ja-JP" sz="2400" dirty="0" smtClean="0"/>
              <a:t>the height of the tree)  </a:t>
            </a:r>
            <a:endParaRPr lang="en-US" sz="2400" dirty="0"/>
          </a:p>
          <a:p>
            <a:pPr>
              <a:buFont typeface="Wingdings" pitchFamily="2" charset="2"/>
              <a:buChar char="§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6490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B+ Tree: Examples </a:t>
            </a:r>
            <a:r>
              <a:rPr lang="en-US" dirty="0" smtClean="0">
                <a:ea typeface="ＭＳ Ｐゴシック" pitchFamily="34" charset="-128"/>
              </a:rPr>
              <a:t>of Insertions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Insert entry </a:t>
            </a:r>
            <a:r>
              <a:rPr lang="en-US" sz="2800" dirty="0" smtClean="0">
                <a:solidFill>
                  <a:srgbClr val="FF0000"/>
                </a:solidFill>
              </a:rPr>
              <a:t>8*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400" dirty="0"/>
          </a:p>
        </p:txBody>
      </p:sp>
      <p:grpSp>
        <p:nvGrpSpPr>
          <p:cNvPr id="4" name="Group 5"/>
          <p:cNvGrpSpPr>
            <a:grpSpLocks/>
          </p:cNvGrpSpPr>
          <p:nvPr/>
        </p:nvGrpSpPr>
        <p:grpSpPr bwMode="auto">
          <a:xfrm>
            <a:off x="500061" y="2888446"/>
            <a:ext cx="8201025" cy="2282825"/>
            <a:chOff x="218" y="2207"/>
            <a:chExt cx="5166" cy="1438"/>
          </a:xfrm>
        </p:grpSpPr>
        <p:sp>
          <p:nvSpPr>
            <p:cNvPr id="5" name="Freeform 6"/>
            <p:cNvSpPr>
              <a:spLocks/>
            </p:cNvSpPr>
            <p:nvPr/>
          </p:nvSpPr>
          <p:spPr bwMode="auto">
            <a:xfrm>
              <a:off x="2061" y="2506"/>
              <a:ext cx="351" cy="293"/>
            </a:xfrm>
            <a:custGeom>
              <a:avLst/>
              <a:gdLst>
                <a:gd name="T0" fmla="*/ 0 w 351"/>
                <a:gd name="T1" fmla="*/ 292 h 293"/>
                <a:gd name="T2" fmla="*/ 0 w 351"/>
                <a:gd name="T3" fmla="*/ 0 h 293"/>
                <a:gd name="T4" fmla="*/ 350 w 351"/>
                <a:gd name="T5" fmla="*/ 0 h 293"/>
                <a:gd name="T6" fmla="*/ 350 w 351"/>
                <a:gd name="T7" fmla="*/ 292 h 293"/>
                <a:gd name="T8" fmla="*/ 0 w 351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1"/>
                <a:gd name="T16" fmla="*/ 0 h 293"/>
                <a:gd name="T17" fmla="*/ 351 w 351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1" h="293">
                  <a:moveTo>
                    <a:pt x="0" y="292"/>
                  </a:moveTo>
                  <a:lnTo>
                    <a:pt x="0" y="0"/>
                  </a:lnTo>
                  <a:lnTo>
                    <a:pt x="350" y="0"/>
                  </a:lnTo>
                  <a:lnTo>
                    <a:pt x="350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7"/>
            <p:cNvSpPr>
              <a:spLocks/>
            </p:cNvSpPr>
            <p:nvPr/>
          </p:nvSpPr>
          <p:spPr bwMode="auto">
            <a:xfrm>
              <a:off x="2120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8"/>
            <p:cNvSpPr>
              <a:spLocks/>
            </p:cNvSpPr>
            <p:nvPr/>
          </p:nvSpPr>
          <p:spPr bwMode="auto">
            <a:xfrm>
              <a:off x="2411" y="2506"/>
              <a:ext cx="353" cy="293"/>
            </a:xfrm>
            <a:custGeom>
              <a:avLst/>
              <a:gdLst>
                <a:gd name="T0" fmla="*/ 0 w 353"/>
                <a:gd name="T1" fmla="*/ 292 h 293"/>
                <a:gd name="T2" fmla="*/ 0 w 353"/>
                <a:gd name="T3" fmla="*/ 0 h 293"/>
                <a:gd name="T4" fmla="*/ 352 w 353"/>
                <a:gd name="T5" fmla="*/ 0 h 293"/>
                <a:gd name="T6" fmla="*/ 352 w 353"/>
                <a:gd name="T7" fmla="*/ 292 h 293"/>
                <a:gd name="T8" fmla="*/ 0 w 353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3"/>
                <a:gd name="T16" fmla="*/ 0 h 293"/>
                <a:gd name="T17" fmla="*/ 353 w 353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3" h="293">
                  <a:moveTo>
                    <a:pt x="0" y="292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9"/>
            <p:cNvSpPr>
              <a:spLocks/>
            </p:cNvSpPr>
            <p:nvPr/>
          </p:nvSpPr>
          <p:spPr bwMode="auto">
            <a:xfrm>
              <a:off x="2471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10"/>
            <p:cNvSpPr>
              <a:spLocks/>
            </p:cNvSpPr>
            <p:nvPr/>
          </p:nvSpPr>
          <p:spPr bwMode="auto">
            <a:xfrm>
              <a:off x="2763" y="2506"/>
              <a:ext cx="352" cy="293"/>
            </a:xfrm>
            <a:custGeom>
              <a:avLst/>
              <a:gdLst>
                <a:gd name="T0" fmla="*/ 0 w 352"/>
                <a:gd name="T1" fmla="*/ 292 h 293"/>
                <a:gd name="T2" fmla="*/ 0 w 352"/>
                <a:gd name="T3" fmla="*/ 0 h 293"/>
                <a:gd name="T4" fmla="*/ 351 w 352"/>
                <a:gd name="T5" fmla="*/ 0 h 293"/>
                <a:gd name="T6" fmla="*/ 351 w 352"/>
                <a:gd name="T7" fmla="*/ 292 h 293"/>
                <a:gd name="T8" fmla="*/ 0 w 352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2"/>
                <a:gd name="T16" fmla="*/ 0 h 293"/>
                <a:gd name="T17" fmla="*/ 352 w 352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2" h="293">
                  <a:moveTo>
                    <a:pt x="0" y="292"/>
                  </a:moveTo>
                  <a:lnTo>
                    <a:pt x="0" y="0"/>
                  </a:lnTo>
                  <a:lnTo>
                    <a:pt x="351" y="0"/>
                  </a:lnTo>
                  <a:lnTo>
                    <a:pt x="351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1"/>
            <p:cNvSpPr>
              <a:spLocks/>
            </p:cNvSpPr>
            <p:nvPr/>
          </p:nvSpPr>
          <p:spPr bwMode="auto">
            <a:xfrm>
              <a:off x="2822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2"/>
            <p:cNvSpPr>
              <a:spLocks/>
            </p:cNvSpPr>
            <p:nvPr/>
          </p:nvSpPr>
          <p:spPr bwMode="auto">
            <a:xfrm>
              <a:off x="3114" y="2506"/>
              <a:ext cx="353" cy="293"/>
            </a:xfrm>
            <a:custGeom>
              <a:avLst/>
              <a:gdLst>
                <a:gd name="T0" fmla="*/ 0 w 353"/>
                <a:gd name="T1" fmla="*/ 292 h 293"/>
                <a:gd name="T2" fmla="*/ 0 w 353"/>
                <a:gd name="T3" fmla="*/ 0 h 293"/>
                <a:gd name="T4" fmla="*/ 352 w 353"/>
                <a:gd name="T5" fmla="*/ 0 h 293"/>
                <a:gd name="T6" fmla="*/ 352 w 353"/>
                <a:gd name="T7" fmla="*/ 292 h 293"/>
                <a:gd name="T8" fmla="*/ 0 w 353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3"/>
                <a:gd name="T16" fmla="*/ 0 h 293"/>
                <a:gd name="T17" fmla="*/ 353 w 353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3" h="293">
                  <a:moveTo>
                    <a:pt x="0" y="292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3"/>
            <p:cNvSpPr>
              <a:spLocks/>
            </p:cNvSpPr>
            <p:nvPr/>
          </p:nvSpPr>
          <p:spPr bwMode="auto">
            <a:xfrm>
              <a:off x="3172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4"/>
            <p:cNvSpPr>
              <a:spLocks/>
            </p:cNvSpPr>
            <p:nvPr/>
          </p:nvSpPr>
          <p:spPr bwMode="auto">
            <a:xfrm>
              <a:off x="3466" y="2506"/>
              <a:ext cx="59" cy="293"/>
            </a:xfrm>
            <a:custGeom>
              <a:avLst/>
              <a:gdLst>
                <a:gd name="T0" fmla="*/ 0 w 59"/>
                <a:gd name="T1" fmla="*/ 292 h 293"/>
                <a:gd name="T2" fmla="*/ 0 w 59"/>
                <a:gd name="T3" fmla="*/ 0 h 293"/>
                <a:gd name="T4" fmla="*/ 58 w 59"/>
                <a:gd name="T5" fmla="*/ 0 h 293"/>
                <a:gd name="T6" fmla="*/ 58 w 59"/>
                <a:gd name="T7" fmla="*/ 292 h 293"/>
                <a:gd name="T8" fmla="*/ 0 w 59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293"/>
                <a:gd name="T17" fmla="*/ 59 w 59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293">
                  <a:moveTo>
                    <a:pt x="0" y="292"/>
                  </a:moveTo>
                  <a:lnTo>
                    <a:pt x="0" y="0"/>
                  </a:lnTo>
                  <a:lnTo>
                    <a:pt x="58" y="0"/>
                  </a:lnTo>
                  <a:lnTo>
                    <a:pt x="58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5"/>
            <p:cNvSpPr>
              <a:spLocks/>
            </p:cNvSpPr>
            <p:nvPr/>
          </p:nvSpPr>
          <p:spPr bwMode="auto">
            <a:xfrm>
              <a:off x="4431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6"/>
            <p:cNvSpPr>
              <a:spLocks/>
            </p:cNvSpPr>
            <p:nvPr/>
          </p:nvSpPr>
          <p:spPr bwMode="auto">
            <a:xfrm>
              <a:off x="4665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7"/>
            <p:cNvSpPr>
              <a:spLocks/>
            </p:cNvSpPr>
            <p:nvPr/>
          </p:nvSpPr>
          <p:spPr bwMode="auto">
            <a:xfrm>
              <a:off x="4899" y="3410"/>
              <a:ext cx="236" cy="235"/>
            </a:xfrm>
            <a:custGeom>
              <a:avLst/>
              <a:gdLst>
                <a:gd name="T0" fmla="*/ 0 w 236"/>
                <a:gd name="T1" fmla="*/ 234 h 235"/>
                <a:gd name="T2" fmla="*/ 0 w 236"/>
                <a:gd name="T3" fmla="*/ 0 h 235"/>
                <a:gd name="T4" fmla="*/ 235 w 236"/>
                <a:gd name="T5" fmla="*/ 0 h 235"/>
                <a:gd name="T6" fmla="*/ 235 w 236"/>
                <a:gd name="T7" fmla="*/ 234 h 235"/>
                <a:gd name="T8" fmla="*/ 0 w 236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6"/>
                <a:gd name="T16" fmla="*/ 0 h 235"/>
                <a:gd name="T17" fmla="*/ 236 w 236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6" h="235">
                  <a:moveTo>
                    <a:pt x="0" y="234"/>
                  </a:moveTo>
                  <a:lnTo>
                    <a:pt x="0" y="0"/>
                  </a:lnTo>
                  <a:lnTo>
                    <a:pt x="235" y="0"/>
                  </a:lnTo>
                  <a:lnTo>
                    <a:pt x="235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auto">
            <a:xfrm>
              <a:off x="5134" y="3410"/>
              <a:ext cx="234" cy="235"/>
            </a:xfrm>
            <a:custGeom>
              <a:avLst/>
              <a:gdLst>
                <a:gd name="T0" fmla="*/ 0 w 234"/>
                <a:gd name="T1" fmla="*/ 234 h 235"/>
                <a:gd name="T2" fmla="*/ 0 w 234"/>
                <a:gd name="T3" fmla="*/ 0 h 235"/>
                <a:gd name="T4" fmla="*/ 233 w 234"/>
                <a:gd name="T5" fmla="*/ 0 h 235"/>
                <a:gd name="T6" fmla="*/ 233 w 234"/>
                <a:gd name="T7" fmla="*/ 234 h 235"/>
                <a:gd name="T8" fmla="*/ 0 w 234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4"/>
                <a:gd name="T16" fmla="*/ 0 h 235"/>
                <a:gd name="T17" fmla="*/ 234 w 234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4" h="235">
                  <a:moveTo>
                    <a:pt x="0" y="234"/>
                  </a:moveTo>
                  <a:lnTo>
                    <a:pt x="0" y="0"/>
                  </a:lnTo>
                  <a:lnTo>
                    <a:pt x="233" y="0"/>
                  </a:lnTo>
                  <a:lnTo>
                    <a:pt x="233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9"/>
            <p:cNvSpPr>
              <a:spLocks/>
            </p:cNvSpPr>
            <p:nvPr/>
          </p:nvSpPr>
          <p:spPr bwMode="auto">
            <a:xfrm>
              <a:off x="218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20"/>
            <p:cNvSpPr>
              <a:spLocks/>
            </p:cNvSpPr>
            <p:nvPr/>
          </p:nvSpPr>
          <p:spPr bwMode="auto">
            <a:xfrm>
              <a:off x="452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1"/>
            <p:cNvSpPr>
              <a:spLocks/>
            </p:cNvSpPr>
            <p:nvPr/>
          </p:nvSpPr>
          <p:spPr bwMode="auto">
            <a:xfrm>
              <a:off x="686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2"/>
            <p:cNvSpPr>
              <a:spLocks/>
            </p:cNvSpPr>
            <p:nvPr/>
          </p:nvSpPr>
          <p:spPr bwMode="auto">
            <a:xfrm>
              <a:off x="920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3"/>
            <p:cNvSpPr>
              <a:spLocks/>
            </p:cNvSpPr>
            <p:nvPr/>
          </p:nvSpPr>
          <p:spPr bwMode="auto">
            <a:xfrm>
              <a:off x="1271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4"/>
            <p:cNvSpPr>
              <a:spLocks/>
            </p:cNvSpPr>
            <p:nvPr/>
          </p:nvSpPr>
          <p:spPr bwMode="auto">
            <a:xfrm>
              <a:off x="1505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5"/>
            <p:cNvSpPr>
              <a:spLocks/>
            </p:cNvSpPr>
            <p:nvPr/>
          </p:nvSpPr>
          <p:spPr bwMode="auto">
            <a:xfrm>
              <a:off x="1739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6"/>
            <p:cNvSpPr>
              <a:spLocks/>
            </p:cNvSpPr>
            <p:nvPr/>
          </p:nvSpPr>
          <p:spPr bwMode="auto">
            <a:xfrm>
              <a:off x="1973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7"/>
            <p:cNvSpPr>
              <a:spLocks/>
            </p:cNvSpPr>
            <p:nvPr/>
          </p:nvSpPr>
          <p:spPr bwMode="auto">
            <a:xfrm>
              <a:off x="2324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8"/>
            <p:cNvSpPr>
              <a:spLocks/>
            </p:cNvSpPr>
            <p:nvPr/>
          </p:nvSpPr>
          <p:spPr bwMode="auto">
            <a:xfrm>
              <a:off x="2558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9"/>
            <p:cNvSpPr>
              <a:spLocks/>
            </p:cNvSpPr>
            <p:nvPr/>
          </p:nvSpPr>
          <p:spPr bwMode="auto">
            <a:xfrm>
              <a:off x="2792" y="3410"/>
              <a:ext cx="236" cy="235"/>
            </a:xfrm>
            <a:custGeom>
              <a:avLst/>
              <a:gdLst>
                <a:gd name="T0" fmla="*/ 0 w 236"/>
                <a:gd name="T1" fmla="*/ 234 h 235"/>
                <a:gd name="T2" fmla="*/ 0 w 236"/>
                <a:gd name="T3" fmla="*/ 0 h 235"/>
                <a:gd name="T4" fmla="*/ 235 w 236"/>
                <a:gd name="T5" fmla="*/ 0 h 235"/>
                <a:gd name="T6" fmla="*/ 235 w 236"/>
                <a:gd name="T7" fmla="*/ 234 h 235"/>
                <a:gd name="T8" fmla="*/ 0 w 236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6"/>
                <a:gd name="T16" fmla="*/ 0 h 235"/>
                <a:gd name="T17" fmla="*/ 236 w 236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6" h="235">
                  <a:moveTo>
                    <a:pt x="0" y="234"/>
                  </a:moveTo>
                  <a:lnTo>
                    <a:pt x="0" y="0"/>
                  </a:lnTo>
                  <a:lnTo>
                    <a:pt x="235" y="0"/>
                  </a:lnTo>
                  <a:lnTo>
                    <a:pt x="235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0"/>
            <p:cNvSpPr>
              <a:spLocks/>
            </p:cNvSpPr>
            <p:nvPr/>
          </p:nvSpPr>
          <p:spPr bwMode="auto">
            <a:xfrm>
              <a:off x="3027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1"/>
            <p:cNvSpPr>
              <a:spLocks/>
            </p:cNvSpPr>
            <p:nvPr/>
          </p:nvSpPr>
          <p:spPr bwMode="auto">
            <a:xfrm>
              <a:off x="3377" y="3410"/>
              <a:ext cx="236" cy="235"/>
            </a:xfrm>
            <a:custGeom>
              <a:avLst/>
              <a:gdLst>
                <a:gd name="T0" fmla="*/ 0 w 236"/>
                <a:gd name="T1" fmla="*/ 234 h 235"/>
                <a:gd name="T2" fmla="*/ 0 w 236"/>
                <a:gd name="T3" fmla="*/ 0 h 235"/>
                <a:gd name="T4" fmla="*/ 235 w 236"/>
                <a:gd name="T5" fmla="*/ 0 h 235"/>
                <a:gd name="T6" fmla="*/ 235 w 236"/>
                <a:gd name="T7" fmla="*/ 234 h 235"/>
                <a:gd name="T8" fmla="*/ 0 w 236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6"/>
                <a:gd name="T16" fmla="*/ 0 h 235"/>
                <a:gd name="T17" fmla="*/ 236 w 236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6" h="235">
                  <a:moveTo>
                    <a:pt x="0" y="234"/>
                  </a:moveTo>
                  <a:lnTo>
                    <a:pt x="0" y="0"/>
                  </a:lnTo>
                  <a:lnTo>
                    <a:pt x="235" y="0"/>
                  </a:lnTo>
                  <a:lnTo>
                    <a:pt x="235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2"/>
            <p:cNvSpPr>
              <a:spLocks/>
            </p:cNvSpPr>
            <p:nvPr/>
          </p:nvSpPr>
          <p:spPr bwMode="auto">
            <a:xfrm>
              <a:off x="3612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3"/>
            <p:cNvSpPr>
              <a:spLocks/>
            </p:cNvSpPr>
            <p:nvPr/>
          </p:nvSpPr>
          <p:spPr bwMode="auto">
            <a:xfrm>
              <a:off x="3846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4"/>
            <p:cNvSpPr>
              <a:spLocks/>
            </p:cNvSpPr>
            <p:nvPr/>
          </p:nvSpPr>
          <p:spPr bwMode="auto">
            <a:xfrm>
              <a:off x="4080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5"/>
            <p:cNvSpPr>
              <a:spLocks/>
            </p:cNvSpPr>
            <p:nvPr/>
          </p:nvSpPr>
          <p:spPr bwMode="auto">
            <a:xfrm>
              <a:off x="693" y="2761"/>
              <a:ext cx="1398" cy="636"/>
            </a:xfrm>
            <a:custGeom>
              <a:avLst/>
              <a:gdLst>
                <a:gd name="T0" fmla="*/ 1397 w 1398"/>
                <a:gd name="T1" fmla="*/ 0 h 636"/>
                <a:gd name="T2" fmla="*/ 0 w 1398"/>
                <a:gd name="T3" fmla="*/ 635 h 636"/>
                <a:gd name="T4" fmla="*/ 1397 w 1398"/>
                <a:gd name="T5" fmla="*/ 0 h 636"/>
                <a:gd name="T6" fmla="*/ 0 60000 65536"/>
                <a:gd name="T7" fmla="*/ 0 60000 65536"/>
                <a:gd name="T8" fmla="*/ 0 60000 65536"/>
                <a:gd name="T9" fmla="*/ 0 w 1398"/>
                <a:gd name="T10" fmla="*/ 0 h 636"/>
                <a:gd name="T11" fmla="*/ 1398 w 1398"/>
                <a:gd name="T12" fmla="*/ 636 h 6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8" h="636">
                  <a:moveTo>
                    <a:pt x="1397" y="0"/>
                  </a:moveTo>
                  <a:lnTo>
                    <a:pt x="0" y="635"/>
                  </a:lnTo>
                  <a:lnTo>
                    <a:pt x="1397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6"/>
            <p:cNvSpPr>
              <a:spLocks/>
            </p:cNvSpPr>
            <p:nvPr/>
          </p:nvSpPr>
          <p:spPr bwMode="auto">
            <a:xfrm>
              <a:off x="693" y="3349"/>
              <a:ext cx="75" cy="48"/>
            </a:xfrm>
            <a:custGeom>
              <a:avLst/>
              <a:gdLst>
                <a:gd name="T0" fmla="*/ 74 w 75"/>
                <a:gd name="T1" fmla="*/ 33 h 48"/>
                <a:gd name="T2" fmla="*/ 0 w 75"/>
                <a:gd name="T3" fmla="*/ 47 h 48"/>
                <a:gd name="T4" fmla="*/ 59 w 75"/>
                <a:gd name="T5" fmla="*/ 0 h 48"/>
                <a:gd name="T6" fmla="*/ 74 w 75"/>
                <a:gd name="T7" fmla="*/ 33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48"/>
                <a:gd name="T14" fmla="*/ 75 w 75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48">
                  <a:moveTo>
                    <a:pt x="74" y="33"/>
                  </a:moveTo>
                  <a:lnTo>
                    <a:pt x="0" y="47"/>
                  </a:lnTo>
                  <a:lnTo>
                    <a:pt x="59" y="0"/>
                  </a:lnTo>
                  <a:lnTo>
                    <a:pt x="74" y="33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7"/>
            <p:cNvSpPr>
              <a:spLocks/>
            </p:cNvSpPr>
            <p:nvPr/>
          </p:nvSpPr>
          <p:spPr bwMode="auto">
            <a:xfrm>
              <a:off x="1739" y="2769"/>
              <a:ext cx="696" cy="628"/>
            </a:xfrm>
            <a:custGeom>
              <a:avLst/>
              <a:gdLst>
                <a:gd name="T0" fmla="*/ 695 w 696"/>
                <a:gd name="T1" fmla="*/ 0 h 628"/>
                <a:gd name="T2" fmla="*/ 0 w 696"/>
                <a:gd name="T3" fmla="*/ 627 h 628"/>
                <a:gd name="T4" fmla="*/ 695 w 696"/>
                <a:gd name="T5" fmla="*/ 0 h 628"/>
                <a:gd name="T6" fmla="*/ 0 60000 65536"/>
                <a:gd name="T7" fmla="*/ 0 60000 65536"/>
                <a:gd name="T8" fmla="*/ 0 60000 65536"/>
                <a:gd name="T9" fmla="*/ 0 w 696"/>
                <a:gd name="T10" fmla="*/ 0 h 628"/>
                <a:gd name="T11" fmla="*/ 696 w 696"/>
                <a:gd name="T12" fmla="*/ 628 h 6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6" h="628">
                  <a:moveTo>
                    <a:pt x="695" y="0"/>
                  </a:moveTo>
                  <a:lnTo>
                    <a:pt x="0" y="627"/>
                  </a:lnTo>
                  <a:lnTo>
                    <a:pt x="695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8"/>
            <p:cNvSpPr>
              <a:spLocks/>
            </p:cNvSpPr>
            <p:nvPr/>
          </p:nvSpPr>
          <p:spPr bwMode="auto">
            <a:xfrm>
              <a:off x="1739" y="3333"/>
              <a:ext cx="68" cy="64"/>
            </a:xfrm>
            <a:custGeom>
              <a:avLst/>
              <a:gdLst>
                <a:gd name="T0" fmla="*/ 67 w 68"/>
                <a:gd name="T1" fmla="*/ 27 h 64"/>
                <a:gd name="T2" fmla="*/ 0 w 68"/>
                <a:gd name="T3" fmla="*/ 63 h 64"/>
                <a:gd name="T4" fmla="*/ 42 w 68"/>
                <a:gd name="T5" fmla="*/ 0 h 64"/>
                <a:gd name="T6" fmla="*/ 67 w 68"/>
                <a:gd name="T7" fmla="*/ 27 h 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64"/>
                <a:gd name="T14" fmla="*/ 68 w 68"/>
                <a:gd name="T15" fmla="*/ 64 h 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64">
                  <a:moveTo>
                    <a:pt x="67" y="27"/>
                  </a:moveTo>
                  <a:lnTo>
                    <a:pt x="0" y="63"/>
                  </a:lnTo>
                  <a:lnTo>
                    <a:pt x="42" y="0"/>
                  </a:lnTo>
                  <a:lnTo>
                    <a:pt x="67" y="27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9"/>
            <p:cNvSpPr>
              <a:spLocks/>
            </p:cNvSpPr>
            <p:nvPr/>
          </p:nvSpPr>
          <p:spPr bwMode="auto">
            <a:xfrm>
              <a:off x="2785" y="2769"/>
              <a:ext cx="1" cy="621"/>
            </a:xfrm>
            <a:custGeom>
              <a:avLst/>
              <a:gdLst>
                <a:gd name="T0" fmla="*/ 0 w 1"/>
                <a:gd name="T1" fmla="*/ 0 h 621"/>
                <a:gd name="T2" fmla="*/ 0 w 1"/>
                <a:gd name="T3" fmla="*/ 620 h 621"/>
                <a:gd name="T4" fmla="*/ 0 w 1"/>
                <a:gd name="T5" fmla="*/ 0 h 621"/>
                <a:gd name="T6" fmla="*/ 0 60000 65536"/>
                <a:gd name="T7" fmla="*/ 0 60000 65536"/>
                <a:gd name="T8" fmla="*/ 0 60000 65536"/>
                <a:gd name="T9" fmla="*/ 0 w 1"/>
                <a:gd name="T10" fmla="*/ 0 h 621"/>
                <a:gd name="T11" fmla="*/ 1 w 1"/>
                <a:gd name="T12" fmla="*/ 621 h 6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21">
                  <a:moveTo>
                    <a:pt x="0" y="0"/>
                  </a:moveTo>
                  <a:lnTo>
                    <a:pt x="0" y="620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40"/>
            <p:cNvSpPr>
              <a:spLocks/>
            </p:cNvSpPr>
            <p:nvPr/>
          </p:nvSpPr>
          <p:spPr bwMode="auto">
            <a:xfrm>
              <a:off x="2766" y="3315"/>
              <a:ext cx="38" cy="75"/>
            </a:xfrm>
            <a:custGeom>
              <a:avLst/>
              <a:gdLst>
                <a:gd name="T0" fmla="*/ 37 w 38"/>
                <a:gd name="T1" fmla="*/ 0 h 75"/>
                <a:gd name="T2" fmla="*/ 19 w 38"/>
                <a:gd name="T3" fmla="*/ 74 h 75"/>
                <a:gd name="T4" fmla="*/ 0 w 38"/>
                <a:gd name="T5" fmla="*/ 0 h 75"/>
                <a:gd name="T6" fmla="*/ 37 w 38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"/>
                <a:gd name="T13" fmla="*/ 0 h 75"/>
                <a:gd name="T14" fmla="*/ 38 w 38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" h="75">
                  <a:moveTo>
                    <a:pt x="37" y="0"/>
                  </a:moveTo>
                  <a:lnTo>
                    <a:pt x="19" y="74"/>
                  </a:lnTo>
                  <a:lnTo>
                    <a:pt x="0" y="0"/>
                  </a:lnTo>
                  <a:lnTo>
                    <a:pt x="37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41"/>
            <p:cNvSpPr>
              <a:spLocks/>
            </p:cNvSpPr>
            <p:nvPr/>
          </p:nvSpPr>
          <p:spPr bwMode="auto">
            <a:xfrm>
              <a:off x="3143" y="2761"/>
              <a:ext cx="689" cy="629"/>
            </a:xfrm>
            <a:custGeom>
              <a:avLst/>
              <a:gdLst>
                <a:gd name="T0" fmla="*/ 0 w 689"/>
                <a:gd name="T1" fmla="*/ 0 h 629"/>
                <a:gd name="T2" fmla="*/ 688 w 689"/>
                <a:gd name="T3" fmla="*/ 628 h 629"/>
                <a:gd name="T4" fmla="*/ 0 w 689"/>
                <a:gd name="T5" fmla="*/ 0 h 629"/>
                <a:gd name="T6" fmla="*/ 0 60000 65536"/>
                <a:gd name="T7" fmla="*/ 0 60000 65536"/>
                <a:gd name="T8" fmla="*/ 0 60000 65536"/>
                <a:gd name="T9" fmla="*/ 0 w 689"/>
                <a:gd name="T10" fmla="*/ 0 h 629"/>
                <a:gd name="T11" fmla="*/ 689 w 689"/>
                <a:gd name="T12" fmla="*/ 629 h 6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9" h="629">
                  <a:moveTo>
                    <a:pt x="0" y="0"/>
                  </a:moveTo>
                  <a:lnTo>
                    <a:pt x="688" y="628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2"/>
            <p:cNvSpPr>
              <a:spLocks/>
            </p:cNvSpPr>
            <p:nvPr/>
          </p:nvSpPr>
          <p:spPr bwMode="auto">
            <a:xfrm>
              <a:off x="3765" y="3326"/>
              <a:ext cx="67" cy="64"/>
            </a:xfrm>
            <a:custGeom>
              <a:avLst/>
              <a:gdLst>
                <a:gd name="T0" fmla="*/ 25 w 67"/>
                <a:gd name="T1" fmla="*/ 0 h 64"/>
                <a:gd name="T2" fmla="*/ 66 w 67"/>
                <a:gd name="T3" fmla="*/ 63 h 64"/>
                <a:gd name="T4" fmla="*/ 0 w 67"/>
                <a:gd name="T5" fmla="*/ 27 h 64"/>
                <a:gd name="T6" fmla="*/ 25 w 67"/>
                <a:gd name="T7" fmla="*/ 0 h 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64"/>
                <a:gd name="T14" fmla="*/ 67 w 67"/>
                <a:gd name="T15" fmla="*/ 64 h 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64">
                  <a:moveTo>
                    <a:pt x="25" y="0"/>
                  </a:moveTo>
                  <a:lnTo>
                    <a:pt x="66" y="63"/>
                  </a:lnTo>
                  <a:lnTo>
                    <a:pt x="0" y="27"/>
                  </a:lnTo>
                  <a:lnTo>
                    <a:pt x="25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3"/>
            <p:cNvSpPr>
              <a:spLocks/>
            </p:cNvSpPr>
            <p:nvPr/>
          </p:nvSpPr>
          <p:spPr bwMode="auto">
            <a:xfrm>
              <a:off x="3495" y="2753"/>
              <a:ext cx="1398" cy="637"/>
            </a:xfrm>
            <a:custGeom>
              <a:avLst/>
              <a:gdLst>
                <a:gd name="T0" fmla="*/ 0 w 1398"/>
                <a:gd name="T1" fmla="*/ 0 h 637"/>
                <a:gd name="T2" fmla="*/ 1397 w 1398"/>
                <a:gd name="T3" fmla="*/ 636 h 637"/>
                <a:gd name="T4" fmla="*/ 0 w 1398"/>
                <a:gd name="T5" fmla="*/ 0 h 637"/>
                <a:gd name="T6" fmla="*/ 0 60000 65536"/>
                <a:gd name="T7" fmla="*/ 0 60000 65536"/>
                <a:gd name="T8" fmla="*/ 0 60000 65536"/>
                <a:gd name="T9" fmla="*/ 0 w 1398"/>
                <a:gd name="T10" fmla="*/ 0 h 637"/>
                <a:gd name="T11" fmla="*/ 1398 w 1398"/>
                <a:gd name="T12" fmla="*/ 637 h 6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8" h="637">
                  <a:moveTo>
                    <a:pt x="0" y="0"/>
                  </a:moveTo>
                  <a:lnTo>
                    <a:pt x="1397" y="636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4"/>
            <p:cNvSpPr>
              <a:spLocks/>
            </p:cNvSpPr>
            <p:nvPr/>
          </p:nvSpPr>
          <p:spPr bwMode="auto">
            <a:xfrm>
              <a:off x="4818" y="3341"/>
              <a:ext cx="75" cy="49"/>
            </a:xfrm>
            <a:custGeom>
              <a:avLst/>
              <a:gdLst>
                <a:gd name="T0" fmla="*/ 15 w 75"/>
                <a:gd name="T1" fmla="*/ 0 h 49"/>
                <a:gd name="T2" fmla="*/ 74 w 75"/>
                <a:gd name="T3" fmla="*/ 48 h 49"/>
                <a:gd name="T4" fmla="*/ 0 w 75"/>
                <a:gd name="T5" fmla="*/ 34 h 49"/>
                <a:gd name="T6" fmla="*/ 15 w 75"/>
                <a:gd name="T7" fmla="*/ 0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49"/>
                <a:gd name="T14" fmla="*/ 75 w 75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49">
                  <a:moveTo>
                    <a:pt x="15" y="0"/>
                  </a:moveTo>
                  <a:lnTo>
                    <a:pt x="74" y="48"/>
                  </a:lnTo>
                  <a:lnTo>
                    <a:pt x="0" y="34"/>
                  </a:lnTo>
                  <a:lnTo>
                    <a:pt x="15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Rectangle 45"/>
            <p:cNvSpPr>
              <a:spLocks noChangeArrowheads="1"/>
            </p:cNvSpPr>
            <p:nvPr/>
          </p:nvSpPr>
          <p:spPr bwMode="auto">
            <a:xfrm>
              <a:off x="1762" y="2207"/>
              <a:ext cx="37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400" u="none">
                  <a:solidFill>
                    <a:srgbClr val="000000"/>
                  </a:solidFill>
                  <a:latin typeface="Arial" pitchFamily="34" charset="0"/>
                </a:rPr>
                <a:t>Root</a:t>
              </a:r>
            </a:p>
          </p:txBody>
        </p:sp>
        <p:sp>
          <p:nvSpPr>
            <p:cNvPr id="45" name="Rectangle 46"/>
            <p:cNvSpPr>
              <a:spLocks noChangeArrowheads="1"/>
            </p:cNvSpPr>
            <p:nvPr/>
          </p:nvSpPr>
          <p:spPr bwMode="auto">
            <a:xfrm>
              <a:off x="2493" y="2551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17</a:t>
              </a:r>
            </a:p>
          </p:txBody>
        </p:sp>
        <p:sp>
          <p:nvSpPr>
            <p:cNvPr id="46" name="Rectangle 47"/>
            <p:cNvSpPr>
              <a:spLocks noChangeArrowheads="1"/>
            </p:cNvSpPr>
            <p:nvPr/>
          </p:nvSpPr>
          <p:spPr bwMode="auto">
            <a:xfrm>
              <a:off x="2844" y="2550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24</a:t>
              </a:r>
            </a:p>
          </p:txBody>
        </p:sp>
        <p:sp>
          <p:nvSpPr>
            <p:cNvPr id="47" name="Rectangle 48"/>
            <p:cNvSpPr>
              <a:spLocks noChangeArrowheads="1"/>
            </p:cNvSpPr>
            <p:nvPr/>
          </p:nvSpPr>
          <p:spPr bwMode="auto">
            <a:xfrm>
              <a:off x="3203" y="2543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30</a:t>
              </a:r>
            </a:p>
          </p:txBody>
        </p:sp>
        <p:sp>
          <p:nvSpPr>
            <p:cNvPr id="48" name="Rectangle 49"/>
            <p:cNvSpPr>
              <a:spLocks noChangeArrowheads="1"/>
            </p:cNvSpPr>
            <p:nvPr/>
          </p:nvSpPr>
          <p:spPr bwMode="auto">
            <a:xfrm>
              <a:off x="218" y="3419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2*</a:t>
              </a:r>
            </a:p>
          </p:txBody>
        </p:sp>
        <p:sp>
          <p:nvSpPr>
            <p:cNvPr id="49" name="Rectangle 50"/>
            <p:cNvSpPr>
              <a:spLocks noChangeArrowheads="1"/>
            </p:cNvSpPr>
            <p:nvPr/>
          </p:nvSpPr>
          <p:spPr bwMode="auto">
            <a:xfrm>
              <a:off x="458" y="3412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3*</a:t>
              </a:r>
            </a:p>
          </p:txBody>
        </p:sp>
        <p:sp>
          <p:nvSpPr>
            <p:cNvPr id="50" name="Rectangle 51"/>
            <p:cNvSpPr>
              <a:spLocks noChangeArrowheads="1"/>
            </p:cNvSpPr>
            <p:nvPr/>
          </p:nvSpPr>
          <p:spPr bwMode="auto">
            <a:xfrm>
              <a:off x="693" y="3412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5*</a:t>
              </a:r>
            </a:p>
          </p:txBody>
        </p:sp>
        <p:sp>
          <p:nvSpPr>
            <p:cNvPr id="51" name="Rectangle 52"/>
            <p:cNvSpPr>
              <a:spLocks noChangeArrowheads="1"/>
            </p:cNvSpPr>
            <p:nvPr/>
          </p:nvSpPr>
          <p:spPr bwMode="auto">
            <a:xfrm>
              <a:off x="927" y="3419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7*</a:t>
              </a:r>
            </a:p>
          </p:txBody>
        </p:sp>
        <p:sp>
          <p:nvSpPr>
            <p:cNvPr id="52" name="Rectangle 53"/>
            <p:cNvSpPr>
              <a:spLocks noChangeArrowheads="1"/>
            </p:cNvSpPr>
            <p:nvPr/>
          </p:nvSpPr>
          <p:spPr bwMode="auto">
            <a:xfrm>
              <a:off x="1264" y="3419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14*</a:t>
              </a:r>
            </a:p>
          </p:txBody>
        </p:sp>
        <p:sp>
          <p:nvSpPr>
            <p:cNvPr id="53" name="Rectangle 54"/>
            <p:cNvSpPr>
              <a:spLocks noChangeArrowheads="1"/>
            </p:cNvSpPr>
            <p:nvPr/>
          </p:nvSpPr>
          <p:spPr bwMode="auto">
            <a:xfrm>
              <a:off x="1491" y="3419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16*</a:t>
              </a:r>
            </a:p>
          </p:txBody>
        </p:sp>
        <p:sp>
          <p:nvSpPr>
            <p:cNvPr id="54" name="Rectangle 55"/>
            <p:cNvSpPr>
              <a:spLocks noChangeArrowheads="1"/>
            </p:cNvSpPr>
            <p:nvPr/>
          </p:nvSpPr>
          <p:spPr bwMode="auto">
            <a:xfrm>
              <a:off x="2332" y="3412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19*</a:t>
              </a:r>
            </a:p>
          </p:txBody>
        </p:sp>
        <p:sp>
          <p:nvSpPr>
            <p:cNvPr id="55" name="Rectangle 56"/>
            <p:cNvSpPr>
              <a:spLocks noChangeArrowheads="1"/>
            </p:cNvSpPr>
            <p:nvPr/>
          </p:nvSpPr>
          <p:spPr bwMode="auto">
            <a:xfrm>
              <a:off x="2551" y="3412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20*</a:t>
              </a:r>
            </a:p>
          </p:txBody>
        </p:sp>
        <p:sp>
          <p:nvSpPr>
            <p:cNvPr id="56" name="Rectangle 57"/>
            <p:cNvSpPr>
              <a:spLocks noChangeArrowheads="1"/>
            </p:cNvSpPr>
            <p:nvPr/>
          </p:nvSpPr>
          <p:spPr bwMode="auto">
            <a:xfrm>
              <a:off x="2779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22*</a:t>
              </a:r>
            </a:p>
          </p:txBody>
        </p:sp>
        <p:sp>
          <p:nvSpPr>
            <p:cNvPr id="57" name="Rectangle 58"/>
            <p:cNvSpPr>
              <a:spLocks noChangeArrowheads="1"/>
            </p:cNvSpPr>
            <p:nvPr/>
          </p:nvSpPr>
          <p:spPr bwMode="auto">
            <a:xfrm>
              <a:off x="3363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24*</a:t>
              </a:r>
            </a:p>
          </p:txBody>
        </p:sp>
        <p:sp>
          <p:nvSpPr>
            <p:cNvPr id="58" name="Rectangle 59"/>
            <p:cNvSpPr>
              <a:spLocks noChangeArrowheads="1"/>
            </p:cNvSpPr>
            <p:nvPr/>
          </p:nvSpPr>
          <p:spPr bwMode="auto">
            <a:xfrm>
              <a:off x="3605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27*</a:t>
              </a:r>
            </a:p>
          </p:txBody>
        </p:sp>
        <p:sp>
          <p:nvSpPr>
            <p:cNvPr id="59" name="Rectangle 60"/>
            <p:cNvSpPr>
              <a:spLocks noChangeArrowheads="1"/>
            </p:cNvSpPr>
            <p:nvPr/>
          </p:nvSpPr>
          <p:spPr bwMode="auto">
            <a:xfrm>
              <a:off x="3824" y="3418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29*</a:t>
              </a:r>
            </a:p>
          </p:txBody>
        </p:sp>
        <p:sp>
          <p:nvSpPr>
            <p:cNvPr id="60" name="Rectangle 61"/>
            <p:cNvSpPr>
              <a:spLocks noChangeArrowheads="1"/>
            </p:cNvSpPr>
            <p:nvPr/>
          </p:nvSpPr>
          <p:spPr bwMode="auto">
            <a:xfrm>
              <a:off x="4417" y="3418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33*</a:t>
              </a:r>
            </a:p>
          </p:txBody>
        </p:sp>
        <p:sp>
          <p:nvSpPr>
            <p:cNvPr id="61" name="Rectangle 62"/>
            <p:cNvSpPr>
              <a:spLocks noChangeArrowheads="1"/>
            </p:cNvSpPr>
            <p:nvPr/>
          </p:nvSpPr>
          <p:spPr bwMode="auto">
            <a:xfrm>
              <a:off x="4652" y="3418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34*</a:t>
              </a:r>
            </a:p>
          </p:txBody>
        </p:sp>
        <p:sp>
          <p:nvSpPr>
            <p:cNvPr id="62" name="Rectangle 63"/>
            <p:cNvSpPr>
              <a:spLocks noChangeArrowheads="1"/>
            </p:cNvSpPr>
            <p:nvPr/>
          </p:nvSpPr>
          <p:spPr bwMode="auto">
            <a:xfrm>
              <a:off x="4878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38*</a:t>
              </a:r>
            </a:p>
          </p:txBody>
        </p:sp>
        <p:sp>
          <p:nvSpPr>
            <p:cNvPr id="63" name="Rectangle 64"/>
            <p:cNvSpPr>
              <a:spLocks noChangeArrowheads="1"/>
            </p:cNvSpPr>
            <p:nvPr/>
          </p:nvSpPr>
          <p:spPr bwMode="auto">
            <a:xfrm>
              <a:off x="5112" y="3404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39*</a:t>
              </a:r>
            </a:p>
          </p:txBody>
        </p:sp>
        <p:sp>
          <p:nvSpPr>
            <p:cNvPr id="64" name="Rectangle 65"/>
            <p:cNvSpPr>
              <a:spLocks noChangeArrowheads="1"/>
            </p:cNvSpPr>
            <p:nvPr/>
          </p:nvSpPr>
          <p:spPr bwMode="auto">
            <a:xfrm>
              <a:off x="2157" y="2551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13</a:t>
              </a:r>
            </a:p>
          </p:txBody>
        </p:sp>
        <p:sp>
          <p:nvSpPr>
            <p:cNvPr id="65" name="Line 66"/>
            <p:cNvSpPr>
              <a:spLocks noChangeShapeType="1"/>
            </p:cNvSpPr>
            <p:nvPr/>
          </p:nvSpPr>
          <p:spPr bwMode="auto">
            <a:xfrm>
              <a:off x="2304" y="2208"/>
              <a:ext cx="24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Arc 67"/>
            <p:cNvSpPr>
              <a:spLocks/>
            </p:cNvSpPr>
            <p:nvPr/>
          </p:nvSpPr>
          <p:spPr bwMode="auto">
            <a:xfrm rot="-2580000">
              <a:off x="2160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Arc 68"/>
            <p:cNvSpPr>
              <a:spLocks/>
            </p:cNvSpPr>
            <p:nvPr/>
          </p:nvSpPr>
          <p:spPr bwMode="auto">
            <a:xfrm rot="-2580000">
              <a:off x="1056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Arc 69"/>
            <p:cNvSpPr>
              <a:spLocks/>
            </p:cNvSpPr>
            <p:nvPr/>
          </p:nvSpPr>
          <p:spPr bwMode="auto">
            <a:xfrm rot="-2580000">
              <a:off x="3168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Arc 70"/>
            <p:cNvSpPr>
              <a:spLocks/>
            </p:cNvSpPr>
            <p:nvPr/>
          </p:nvSpPr>
          <p:spPr bwMode="auto">
            <a:xfrm rot="-2580000">
              <a:off x="4224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3" name="Straight Arrow Connector 2"/>
          <p:cNvCxnSpPr>
            <a:stCxn id="34" idx="0"/>
            <a:endCxn id="35" idx="1"/>
          </p:cNvCxnSpPr>
          <p:nvPr/>
        </p:nvCxnSpPr>
        <p:spPr>
          <a:xfrm flipH="1">
            <a:off x="1254124" y="3767921"/>
            <a:ext cx="2217738" cy="100806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29470" y="5494507"/>
            <a:ext cx="3119572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smtClean="0"/>
              <a:t>Leaf is </a:t>
            </a:r>
            <a:r>
              <a:rPr lang="en-US" sz="2400" b="1" i="1" dirty="0" smtClean="0"/>
              <a:t>full</a:t>
            </a:r>
            <a:r>
              <a:rPr lang="en-US" sz="2400" dirty="0" smtClean="0"/>
              <a:t>; hence, split!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69629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B+ Tree: Examples </a:t>
            </a:r>
            <a:r>
              <a:rPr lang="en-US" dirty="0" smtClean="0">
                <a:ea typeface="ＭＳ Ｐゴシック" pitchFamily="34" charset="-128"/>
              </a:rPr>
              <a:t>of Insertions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Insert entry </a:t>
            </a:r>
            <a:r>
              <a:rPr lang="en-US" sz="2800" dirty="0" smtClean="0">
                <a:solidFill>
                  <a:srgbClr val="FF0000"/>
                </a:solidFill>
              </a:rPr>
              <a:t>8*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400" dirty="0"/>
          </a:p>
        </p:txBody>
      </p:sp>
      <p:grpSp>
        <p:nvGrpSpPr>
          <p:cNvPr id="4" name="Group 5"/>
          <p:cNvGrpSpPr>
            <a:grpSpLocks/>
          </p:cNvGrpSpPr>
          <p:nvPr/>
        </p:nvGrpSpPr>
        <p:grpSpPr bwMode="auto">
          <a:xfrm>
            <a:off x="500061" y="2133600"/>
            <a:ext cx="8201025" cy="2282825"/>
            <a:chOff x="218" y="2207"/>
            <a:chExt cx="5166" cy="1438"/>
          </a:xfrm>
        </p:grpSpPr>
        <p:sp>
          <p:nvSpPr>
            <p:cNvPr id="5" name="Freeform 6"/>
            <p:cNvSpPr>
              <a:spLocks/>
            </p:cNvSpPr>
            <p:nvPr/>
          </p:nvSpPr>
          <p:spPr bwMode="auto">
            <a:xfrm>
              <a:off x="2061" y="2506"/>
              <a:ext cx="351" cy="293"/>
            </a:xfrm>
            <a:custGeom>
              <a:avLst/>
              <a:gdLst>
                <a:gd name="T0" fmla="*/ 0 w 351"/>
                <a:gd name="T1" fmla="*/ 292 h 293"/>
                <a:gd name="T2" fmla="*/ 0 w 351"/>
                <a:gd name="T3" fmla="*/ 0 h 293"/>
                <a:gd name="T4" fmla="*/ 350 w 351"/>
                <a:gd name="T5" fmla="*/ 0 h 293"/>
                <a:gd name="T6" fmla="*/ 350 w 351"/>
                <a:gd name="T7" fmla="*/ 292 h 293"/>
                <a:gd name="T8" fmla="*/ 0 w 351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1"/>
                <a:gd name="T16" fmla="*/ 0 h 293"/>
                <a:gd name="T17" fmla="*/ 351 w 351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1" h="293">
                  <a:moveTo>
                    <a:pt x="0" y="292"/>
                  </a:moveTo>
                  <a:lnTo>
                    <a:pt x="0" y="0"/>
                  </a:lnTo>
                  <a:lnTo>
                    <a:pt x="350" y="0"/>
                  </a:lnTo>
                  <a:lnTo>
                    <a:pt x="350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7"/>
            <p:cNvSpPr>
              <a:spLocks/>
            </p:cNvSpPr>
            <p:nvPr/>
          </p:nvSpPr>
          <p:spPr bwMode="auto">
            <a:xfrm>
              <a:off x="2120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8"/>
            <p:cNvSpPr>
              <a:spLocks/>
            </p:cNvSpPr>
            <p:nvPr/>
          </p:nvSpPr>
          <p:spPr bwMode="auto">
            <a:xfrm>
              <a:off x="2411" y="2506"/>
              <a:ext cx="353" cy="293"/>
            </a:xfrm>
            <a:custGeom>
              <a:avLst/>
              <a:gdLst>
                <a:gd name="T0" fmla="*/ 0 w 353"/>
                <a:gd name="T1" fmla="*/ 292 h 293"/>
                <a:gd name="T2" fmla="*/ 0 w 353"/>
                <a:gd name="T3" fmla="*/ 0 h 293"/>
                <a:gd name="T4" fmla="*/ 352 w 353"/>
                <a:gd name="T5" fmla="*/ 0 h 293"/>
                <a:gd name="T6" fmla="*/ 352 w 353"/>
                <a:gd name="T7" fmla="*/ 292 h 293"/>
                <a:gd name="T8" fmla="*/ 0 w 353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3"/>
                <a:gd name="T16" fmla="*/ 0 h 293"/>
                <a:gd name="T17" fmla="*/ 353 w 353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3" h="293">
                  <a:moveTo>
                    <a:pt x="0" y="292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9"/>
            <p:cNvSpPr>
              <a:spLocks/>
            </p:cNvSpPr>
            <p:nvPr/>
          </p:nvSpPr>
          <p:spPr bwMode="auto">
            <a:xfrm>
              <a:off x="2471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10"/>
            <p:cNvSpPr>
              <a:spLocks/>
            </p:cNvSpPr>
            <p:nvPr/>
          </p:nvSpPr>
          <p:spPr bwMode="auto">
            <a:xfrm>
              <a:off x="2763" y="2506"/>
              <a:ext cx="352" cy="293"/>
            </a:xfrm>
            <a:custGeom>
              <a:avLst/>
              <a:gdLst>
                <a:gd name="T0" fmla="*/ 0 w 352"/>
                <a:gd name="T1" fmla="*/ 292 h 293"/>
                <a:gd name="T2" fmla="*/ 0 w 352"/>
                <a:gd name="T3" fmla="*/ 0 h 293"/>
                <a:gd name="T4" fmla="*/ 351 w 352"/>
                <a:gd name="T5" fmla="*/ 0 h 293"/>
                <a:gd name="T6" fmla="*/ 351 w 352"/>
                <a:gd name="T7" fmla="*/ 292 h 293"/>
                <a:gd name="T8" fmla="*/ 0 w 352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2"/>
                <a:gd name="T16" fmla="*/ 0 h 293"/>
                <a:gd name="T17" fmla="*/ 352 w 352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2" h="293">
                  <a:moveTo>
                    <a:pt x="0" y="292"/>
                  </a:moveTo>
                  <a:lnTo>
                    <a:pt x="0" y="0"/>
                  </a:lnTo>
                  <a:lnTo>
                    <a:pt x="351" y="0"/>
                  </a:lnTo>
                  <a:lnTo>
                    <a:pt x="351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1"/>
            <p:cNvSpPr>
              <a:spLocks/>
            </p:cNvSpPr>
            <p:nvPr/>
          </p:nvSpPr>
          <p:spPr bwMode="auto">
            <a:xfrm>
              <a:off x="2822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2"/>
            <p:cNvSpPr>
              <a:spLocks/>
            </p:cNvSpPr>
            <p:nvPr/>
          </p:nvSpPr>
          <p:spPr bwMode="auto">
            <a:xfrm>
              <a:off x="3114" y="2506"/>
              <a:ext cx="353" cy="293"/>
            </a:xfrm>
            <a:custGeom>
              <a:avLst/>
              <a:gdLst>
                <a:gd name="T0" fmla="*/ 0 w 353"/>
                <a:gd name="T1" fmla="*/ 292 h 293"/>
                <a:gd name="T2" fmla="*/ 0 w 353"/>
                <a:gd name="T3" fmla="*/ 0 h 293"/>
                <a:gd name="T4" fmla="*/ 352 w 353"/>
                <a:gd name="T5" fmla="*/ 0 h 293"/>
                <a:gd name="T6" fmla="*/ 352 w 353"/>
                <a:gd name="T7" fmla="*/ 292 h 293"/>
                <a:gd name="T8" fmla="*/ 0 w 353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3"/>
                <a:gd name="T16" fmla="*/ 0 h 293"/>
                <a:gd name="T17" fmla="*/ 353 w 353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3" h="293">
                  <a:moveTo>
                    <a:pt x="0" y="292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3"/>
            <p:cNvSpPr>
              <a:spLocks/>
            </p:cNvSpPr>
            <p:nvPr/>
          </p:nvSpPr>
          <p:spPr bwMode="auto">
            <a:xfrm>
              <a:off x="3172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4"/>
            <p:cNvSpPr>
              <a:spLocks/>
            </p:cNvSpPr>
            <p:nvPr/>
          </p:nvSpPr>
          <p:spPr bwMode="auto">
            <a:xfrm>
              <a:off x="3466" y="2506"/>
              <a:ext cx="59" cy="293"/>
            </a:xfrm>
            <a:custGeom>
              <a:avLst/>
              <a:gdLst>
                <a:gd name="T0" fmla="*/ 0 w 59"/>
                <a:gd name="T1" fmla="*/ 292 h 293"/>
                <a:gd name="T2" fmla="*/ 0 w 59"/>
                <a:gd name="T3" fmla="*/ 0 h 293"/>
                <a:gd name="T4" fmla="*/ 58 w 59"/>
                <a:gd name="T5" fmla="*/ 0 h 293"/>
                <a:gd name="T6" fmla="*/ 58 w 59"/>
                <a:gd name="T7" fmla="*/ 292 h 293"/>
                <a:gd name="T8" fmla="*/ 0 w 59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293"/>
                <a:gd name="T17" fmla="*/ 59 w 59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293">
                  <a:moveTo>
                    <a:pt x="0" y="292"/>
                  </a:moveTo>
                  <a:lnTo>
                    <a:pt x="0" y="0"/>
                  </a:lnTo>
                  <a:lnTo>
                    <a:pt x="58" y="0"/>
                  </a:lnTo>
                  <a:lnTo>
                    <a:pt x="58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5"/>
            <p:cNvSpPr>
              <a:spLocks/>
            </p:cNvSpPr>
            <p:nvPr/>
          </p:nvSpPr>
          <p:spPr bwMode="auto">
            <a:xfrm>
              <a:off x="4431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6"/>
            <p:cNvSpPr>
              <a:spLocks/>
            </p:cNvSpPr>
            <p:nvPr/>
          </p:nvSpPr>
          <p:spPr bwMode="auto">
            <a:xfrm>
              <a:off x="4665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7"/>
            <p:cNvSpPr>
              <a:spLocks/>
            </p:cNvSpPr>
            <p:nvPr/>
          </p:nvSpPr>
          <p:spPr bwMode="auto">
            <a:xfrm>
              <a:off x="4899" y="3410"/>
              <a:ext cx="236" cy="235"/>
            </a:xfrm>
            <a:custGeom>
              <a:avLst/>
              <a:gdLst>
                <a:gd name="T0" fmla="*/ 0 w 236"/>
                <a:gd name="T1" fmla="*/ 234 h 235"/>
                <a:gd name="T2" fmla="*/ 0 w 236"/>
                <a:gd name="T3" fmla="*/ 0 h 235"/>
                <a:gd name="T4" fmla="*/ 235 w 236"/>
                <a:gd name="T5" fmla="*/ 0 h 235"/>
                <a:gd name="T6" fmla="*/ 235 w 236"/>
                <a:gd name="T7" fmla="*/ 234 h 235"/>
                <a:gd name="T8" fmla="*/ 0 w 236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6"/>
                <a:gd name="T16" fmla="*/ 0 h 235"/>
                <a:gd name="T17" fmla="*/ 236 w 236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6" h="235">
                  <a:moveTo>
                    <a:pt x="0" y="234"/>
                  </a:moveTo>
                  <a:lnTo>
                    <a:pt x="0" y="0"/>
                  </a:lnTo>
                  <a:lnTo>
                    <a:pt x="235" y="0"/>
                  </a:lnTo>
                  <a:lnTo>
                    <a:pt x="235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auto">
            <a:xfrm>
              <a:off x="5134" y="3410"/>
              <a:ext cx="234" cy="235"/>
            </a:xfrm>
            <a:custGeom>
              <a:avLst/>
              <a:gdLst>
                <a:gd name="T0" fmla="*/ 0 w 234"/>
                <a:gd name="T1" fmla="*/ 234 h 235"/>
                <a:gd name="T2" fmla="*/ 0 w 234"/>
                <a:gd name="T3" fmla="*/ 0 h 235"/>
                <a:gd name="T4" fmla="*/ 233 w 234"/>
                <a:gd name="T5" fmla="*/ 0 h 235"/>
                <a:gd name="T6" fmla="*/ 233 w 234"/>
                <a:gd name="T7" fmla="*/ 234 h 235"/>
                <a:gd name="T8" fmla="*/ 0 w 234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4"/>
                <a:gd name="T16" fmla="*/ 0 h 235"/>
                <a:gd name="T17" fmla="*/ 234 w 234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4" h="235">
                  <a:moveTo>
                    <a:pt x="0" y="234"/>
                  </a:moveTo>
                  <a:lnTo>
                    <a:pt x="0" y="0"/>
                  </a:lnTo>
                  <a:lnTo>
                    <a:pt x="233" y="0"/>
                  </a:lnTo>
                  <a:lnTo>
                    <a:pt x="233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9"/>
            <p:cNvSpPr>
              <a:spLocks/>
            </p:cNvSpPr>
            <p:nvPr/>
          </p:nvSpPr>
          <p:spPr bwMode="auto">
            <a:xfrm>
              <a:off x="218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20"/>
            <p:cNvSpPr>
              <a:spLocks/>
            </p:cNvSpPr>
            <p:nvPr/>
          </p:nvSpPr>
          <p:spPr bwMode="auto">
            <a:xfrm>
              <a:off x="452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1"/>
            <p:cNvSpPr>
              <a:spLocks/>
            </p:cNvSpPr>
            <p:nvPr/>
          </p:nvSpPr>
          <p:spPr bwMode="auto">
            <a:xfrm>
              <a:off x="686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2"/>
            <p:cNvSpPr>
              <a:spLocks/>
            </p:cNvSpPr>
            <p:nvPr/>
          </p:nvSpPr>
          <p:spPr bwMode="auto">
            <a:xfrm>
              <a:off x="920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3"/>
            <p:cNvSpPr>
              <a:spLocks/>
            </p:cNvSpPr>
            <p:nvPr/>
          </p:nvSpPr>
          <p:spPr bwMode="auto">
            <a:xfrm>
              <a:off x="1271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4"/>
            <p:cNvSpPr>
              <a:spLocks/>
            </p:cNvSpPr>
            <p:nvPr/>
          </p:nvSpPr>
          <p:spPr bwMode="auto">
            <a:xfrm>
              <a:off x="1505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5"/>
            <p:cNvSpPr>
              <a:spLocks/>
            </p:cNvSpPr>
            <p:nvPr/>
          </p:nvSpPr>
          <p:spPr bwMode="auto">
            <a:xfrm>
              <a:off x="1739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6"/>
            <p:cNvSpPr>
              <a:spLocks/>
            </p:cNvSpPr>
            <p:nvPr/>
          </p:nvSpPr>
          <p:spPr bwMode="auto">
            <a:xfrm>
              <a:off x="1973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7"/>
            <p:cNvSpPr>
              <a:spLocks/>
            </p:cNvSpPr>
            <p:nvPr/>
          </p:nvSpPr>
          <p:spPr bwMode="auto">
            <a:xfrm>
              <a:off x="2324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8"/>
            <p:cNvSpPr>
              <a:spLocks/>
            </p:cNvSpPr>
            <p:nvPr/>
          </p:nvSpPr>
          <p:spPr bwMode="auto">
            <a:xfrm>
              <a:off x="2558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9"/>
            <p:cNvSpPr>
              <a:spLocks/>
            </p:cNvSpPr>
            <p:nvPr/>
          </p:nvSpPr>
          <p:spPr bwMode="auto">
            <a:xfrm>
              <a:off x="2792" y="3410"/>
              <a:ext cx="236" cy="235"/>
            </a:xfrm>
            <a:custGeom>
              <a:avLst/>
              <a:gdLst>
                <a:gd name="T0" fmla="*/ 0 w 236"/>
                <a:gd name="T1" fmla="*/ 234 h 235"/>
                <a:gd name="T2" fmla="*/ 0 w 236"/>
                <a:gd name="T3" fmla="*/ 0 h 235"/>
                <a:gd name="T4" fmla="*/ 235 w 236"/>
                <a:gd name="T5" fmla="*/ 0 h 235"/>
                <a:gd name="T6" fmla="*/ 235 w 236"/>
                <a:gd name="T7" fmla="*/ 234 h 235"/>
                <a:gd name="T8" fmla="*/ 0 w 236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6"/>
                <a:gd name="T16" fmla="*/ 0 h 235"/>
                <a:gd name="T17" fmla="*/ 236 w 236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6" h="235">
                  <a:moveTo>
                    <a:pt x="0" y="234"/>
                  </a:moveTo>
                  <a:lnTo>
                    <a:pt x="0" y="0"/>
                  </a:lnTo>
                  <a:lnTo>
                    <a:pt x="235" y="0"/>
                  </a:lnTo>
                  <a:lnTo>
                    <a:pt x="235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0"/>
            <p:cNvSpPr>
              <a:spLocks/>
            </p:cNvSpPr>
            <p:nvPr/>
          </p:nvSpPr>
          <p:spPr bwMode="auto">
            <a:xfrm>
              <a:off x="3027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1"/>
            <p:cNvSpPr>
              <a:spLocks/>
            </p:cNvSpPr>
            <p:nvPr/>
          </p:nvSpPr>
          <p:spPr bwMode="auto">
            <a:xfrm>
              <a:off x="3377" y="3410"/>
              <a:ext cx="236" cy="235"/>
            </a:xfrm>
            <a:custGeom>
              <a:avLst/>
              <a:gdLst>
                <a:gd name="T0" fmla="*/ 0 w 236"/>
                <a:gd name="T1" fmla="*/ 234 h 235"/>
                <a:gd name="T2" fmla="*/ 0 w 236"/>
                <a:gd name="T3" fmla="*/ 0 h 235"/>
                <a:gd name="T4" fmla="*/ 235 w 236"/>
                <a:gd name="T5" fmla="*/ 0 h 235"/>
                <a:gd name="T6" fmla="*/ 235 w 236"/>
                <a:gd name="T7" fmla="*/ 234 h 235"/>
                <a:gd name="T8" fmla="*/ 0 w 236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6"/>
                <a:gd name="T16" fmla="*/ 0 h 235"/>
                <a:gd name="T17" fmla="*/ 236 w 236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6" h="235">
                  <a:moveTo>
                    <a:pt x="0" y="234"/>
                  </a:moveTo>
                  <a:lnTo>
                    <a:pt x="0" y="0"/>
                  </a:lnTo>
                  <a:lnTo>
                    <a:pt x="235" y="0"/>
                  </a:lnTo>
                  <a:lnTo>
                    <a:pt x="235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2"/>
            <p:cNvSpPr>
              <a:spLocks/>
            </p:cNvSpPr>
            <p:nvPr/>
          </p:nvSpPr>
          <p:spPr bwMode="auto">
            <a:xfrm>
              <a:off x="3612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3"/>
            <p:cNvSpPr>
              <a:spLocks/>
            </p:cNvSpPr>
            <p:nvPr/>
          </p:nvSpPr>
          <p:spPr bwMode="auto">
            <a:xfrm>
              <a:off x="3846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4"/>
            <p:cNvSpPr>
              <a:spLocks/>
            </p:cNvSpPr>
            <p:nvPr/>
          </p:nvSpPr>
          <p:spPr bwMode="auto">
            <a:xfrm>
              <a:off x="4080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5"/>
            <p:cNvSpPr>
              <a:spLocks/>
            </p:cNvSpPr>
            <p:nvPr/>
          </p:nvSpPr>
          <p:spPr bwMode="auto">
            <a:xfrm>
              <a:off x="693" y="2761"/>
              <a:ext cx="1398" cy="636"/>
            </a:xfrm>
            <a:custGeom>
              <a:avLst/>
              <a:gdLst>
                <a:gd name="T0" fmla="*/ 1397 w 1398"/>
                <a:gd name="T1" fmla="*/ 0 h 636"/>
                <a:gd name="T2" fmla="*/ 0 w 1398"/>
                <a:gd name="T3" fmla="*/ 635 h 636"/>
                <a:gd name="T4" fmla="*/ 1397 w 1398"/>
                <a:gd name="T5" fmla="*/ 0 h 636"/>
                <a:gd name="T6" fmla="*/ 0 60000 65536"/>
                <a:gd name="T7" fmla="*/ 0 60000 65536"/>
                <a:gd name="T8" fmla="*/ 0 60000 65536"/>
                <a:gd name="T9" fmla="*/ 0 w 1398"/>
                <a:gd name="T10" fmla="*/ 0 h 636"/>
                <a:gd name="T11" fmla="*/ 1398 w 1398"/>
                <a:gd name="T12" fmla="*/ 636 h 6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8" h="636">
                  <a:moveTo>
                    <a:pt x="1397" y="0"/>
                  </a:moveTo>
                  <a:lnTo>
                    <a:pt x="0" y="635"/>
                  </a:lnTo>
                  <a:lnTo>
                    <a:pt x="1397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6"/>
            <p:cNvSpPr>
              <a:spLocks/>
            </p:cNvSpPr>
            <p:nvPr/>
          </p:nvSpPr>
          <p:spPr bwMode="auto">
            <a:xfrm>
              <a:off x="693" y="3349"/>
              <a:ext cx="75" cy="48"/>
            </a:xfrm>
            <a:custGeom>
              <a:avLst/>
              <a:gdLst>
                <a:gd name="T0" fmla="*/ 74 w 75"/>
                <a:gd name="T1" fmla="*/ 33 h 48"/>
                <a:gd name="T2" fmla="*/ 0 w 75"/>
                <a:gd name="T3" fmla="*/ 47 h 48"/>
                <a:gd name="T4" fmla="*/ 59 w 75"/>
                <a:gd name="T5" fmla="*/ 0 h 48"/>
                <a:gd name="T6" fmla="*/ 74 w 75"/>
                <a:gd name="T7" fmla="*/ 33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48"/>
                <a:gd name="T14" fmla="*/ 75 w 75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48">
                  <a:moveTo>
                    <a:pt x="74" y="33"/>
                  </a:moveTo>
                  <a:lnTo>
                    <a:pt x="0" y="47"/>
                  </a:lnTo>
                  <a:lnTo>
                    <a:pt x="59" y="0"/>
                  </a:lnTo>
                  <a:lnTo>
                    <a:pt x="74" y="33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7"/>
            <p:cNvSpPr>
              <a:spLocks/>
            </p:cNvSpPr>
            <p:nvPr/>
          </p:nvSpPr>
          <p:spPr bwMode="auto">
            <a:xfrm>
              <a:off x="1739" y="2769"/>
              <a:ext cx="696" cy="628"/>
            </a:xfrm>
            <a:custGeom>
              <a:avLst/>
              <a:gdLst>
                <a:gd name="T0" fmla="*/ 695 w 696"/>
                <a:gd name="T1" fmla="*/ 0 h 628"/>
                <a:gd name="T2" fmla="*/ 0 w 696"/>
                <a:gd name="T3" fmla="*/ 627 h 628"/>
                <a:gd name="T4" fmla="*/ 695 w 696"/>
                <a:gd name="T5" fmla="*/ 0 h 628"/>
                <a:gd name="T6" fmla="*/ 0 60000 65536"/>
                <a:gd name="T7" fmla="*/ 0 60000 65536"/>
                <a:gd name="T8" fmla="*/ 0 60000 65536"/>
                <a:gd name="T9" fmla="*/ 0 w 696"/>
                <a:gd name="T10" fmla="*/ 0 h 628"/>
                <a:gd name="T11" fmla="*/ 696 w 696"/>
                <a:gd name="T12" fmla="*/ 628 h 6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6" h="628">
                  <a:moveTo>
                    <a:pt x="695" y="0"/>
                  </a:moveTo>
                  <a:lnTo>
                    <a:pt x="0" y="627"/>
                  </a:lnTo>
                  <a:lnTo>
                    <a:pt x="695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8"/>
            <p:cNvSpPr>
              <a:spLocks/>
            </p:cNvSpPr>
            <p:nvPr/>
          </p:nvSpPr>
          <p:spPr bwMode="auto">
            <a:xfrm>
              <a:off x="1739" y="3333"/>
              <a:ext cx="68" cy="64"/>
            </a:xfrm>
            <a:custGeom>
              <a:avLst/>
              <a:gdLst>
                <a:gd name="T0" fmla="*/ 67 w 68"/>
                <a:gd name="T1" fmla="*/ 27 h 64"/>
                <a:gd name="T2" fmla="*/ 0 w 68"/>
                <a:gd name="T3" fmla="*/ 63 h 64"/>
                <a:gd name="T4" fmla="*/ 42 w 68"/>
                <a:gd name="T5" fmla="*/ 0 h 64"/>
                <a:gd name="T6" fmla="*/ 67 w 68"/>
                <a:gd name="T7" fmla="*/ 27 h 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64"/>
                <a:gd name="T14" fmla="*/ 68 w 68"/>
                <a:gd name="T15" fmla="*/ 64 h 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64">
                  <a:moveTo>
                    <a:pt x="67" y="27"/>
                  </a:moveTo>
                  <a:lnTo>
                    <a:pt x="0" y="63"/>
                  </a:lnTo>
                  <a:lnTo>
                    <a:pt x="42" y="0"/>
                  </a:lnTo>
                  <a:lnTo>
                    <a:pt x="67" y="27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9"/>
            <p:cNvSpPr>
              <a:spLocks/>
            </p:cNvSpPr>
            <p:nvPr/>
          </p:nvSpPr>
          <p:spPr bwMode="auto">
            <a:xfrm>
              <a:off x="2785" y="2769"/>
              <a:ext cx="1" cy="621"/>
            </a:xfrm>
            <a:custGeom>
              <a:avLst/>
              <a:gdLst>
                <a:gd name="T0" fmla="*/ 0 w 1"/>
                <a:gd name="T1" fmla="*/ 0 h 621"/>
                <a:gd name="T2" fmla="*/ 0 w 1"/>
                <a:gd name="T3" fmla="*/ 620 h 621"/>
                <a:gd name="T4" fmla="*/ 0 w 1"/>
                <a:gd name="T5" fmla="*/ 0 h 621"/>
                <a:gd name="T6" fmla="*/ 0 60000 65536"/>
                <a:gd name="T7" fmla="*/ 0 60000 65536"/>
                <a:gd name="T8" fmla="*/ 0 60000 65536"/>
                <a:gd name="T9" fmla="*/ 0 w 1"/>
                <a:gd name="T10" fmla="*/ 0 h 621"/>
                <a:gd name="T11" fmla="*/ 1 w 1"/>
                <a:gd name="T12" fmla="*/ 621 h 6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21">
                  <a:moveTo>
                    <a:pt x="0" y="0"/>
                  </a:moveTo>
                  <a:lnTo>
                    <a:pt x="0" y="620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40"/>
            <p:cNvSpPr>
              <a:spLocks/>
            </p:cNvSpPr>
            <p:nvPr/>
          </p:nvSpPr>
          <p:spPr bwMode="auto">
            <a:xfrm>
              <a:off x="2766" y="3315"/>
              <a:ext cx="38" cy="75"/>
            </a:xfrm>
            <a:custGeom>
              <a:avLst/>
              <a:gdLst>
                <a:gd name="T0" fmla="*/ 37 w 38"/>
                <a:gd name="T1" fmla="*/ 0 h 75"/>
                <a:gd name="T2" fmla="*/ 19 w 38"/>
                <a:gd name="T3" fmla="*/ 74 h 75"/>
                <a:gd name="T4" fmla="*/ 0 w 38"/>
                <a:gd name="T5" fmla="*/ 0 h 75"/>
                <a:gd name="T6" fmla="*/ 37 w 38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"/>
                <a:gd name="T13" fmla="*/ 0 h 75"/>
                <a:gd name="T14" fmla="*/ 38 w 38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" h="75">
                  <a:moveTo>
                    <a:pt x="37" y="0"/>
                  </a:moveTo>
                  <a:lnTo>
                    <a:pt x="19" y="74"/>
                  </a:lnTo>
                  <a:lnTo>
                    <a:pt x="0" y="0"/>
                  </a:lnTo>
                  <a:lnTo>
                    <a:pt x="37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41"/>
            <p:cNvSpPr>
              <a:spLocks/>
            </p:cNvSpPr>
            <p:nvPr/>
          </p:nvSpPr>
          <p:spPr bwMode="auto">
            <a:xfrm>
              <a:off x="3143" y="2761"/>
              <a:ext cx="689" cy="629"/>
            </a:xfrm>
            <a:custGeom>
              <a:avLst/>
              <a:gdLst>
                <a:gd name="T0" fmla="*/ 0 w 689"/>
                <a:gd name="T1" fmla="*/ 0 h 629"/>
                <a:gd name="T2" fmla="*/ 688 w 689"/>
                <a:gd name="T3" fmla="*/ 628 h 629"/>
                <a:gd name="T4" fmla="*/ 0 w 689"/>
                <a:gd name="T5" fmla="*/ 0 h 629"/>
                <a:gd name="T6" fmla="*/ 0 60000 65536"/>
                <a:gd name="T7" fmla="*/ 0 60000 65536"/>
                <a:gd name="T8" fmla="*/ 0 60000 65536"/>
                <a:gd name="T9" fmla="*/ 0 w 689"/>
                <a:gd name="T10" fmla="*/ 0 h 629"/>
                <a:gd name="T11" fmla="*/ 689 w 689"/>
                <a:gd name="T12" fmla="*/ 629 h 6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9" h="629">
                  <a:moveTo>
                    <a:pt x="0" y="0"/>
                  </a:moveTo>
                  <a:lnTo>
                    <a:pt x="688" y="628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2"/>
            <p:cNvSpPr>
              <a:spLocks/>
            </p:cNvSpPr>
            <p:nvPr/>
          </p:nvSpPr>
          <p:spPr bwMode="auto">
            <a:xfrm>
              <a:off x="3765" y="3326"/>
              <a:ext cx="67" cy="64"/>
            </a:xfrm>
            <a:custGeom>
              <a:avLst/>
              <a:gdLst>
                <a:gd name="T0" fmla="*/ 25 w 67"/>
                <a:gd name="T1" fmla="*/ 0 h 64"/>
                <a:gd name="T2" fmla="*/ 66 w 67"/>
                <a:gd name="T3" fmla="*/ 63 h 64"/>
                <a:gd name="T4" fmla="*/ 0 w 67"/>
                <a:gd name="T5" fmla="*/ 27 h 64"/>
                <a:gd name="T6" fmla="*/ 25 w 67"/>
                <a:gd name="T7" fmla="*/ 0 h 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64"/>
                <a:gd name="T14" fmla="*/ 67 w 67"/>
                <a:gd name="T15" fmla="*/ 64 h 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64">
                  <a:moveTo>
                    <a:pt x="25" y="0"/>
                  </a:moveTo>
                  <a:lnTo>
                    <a:pt x="66" y="63"/>
                  </a:lnTo>
                  <a:lnTo>
                    <a:pt x="0" y="27"/>
                  </a:lnTo>
                  <a:lnTo>
                    <a:pt x="25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3"/>
            <p:cNvSpPr>
              <a:spLocks/>
            </p:cNvSpPr>
            <p:nvPr/>
          </p:nvSpPr>
          <p:spPr bwMode="auto">
            <a:xfrm>
              <a:off x="3495" y="2753"/>
              <a:ext cx="1398" cy="637"/>
            </a:xfrm>
            <a:custGeom>
              <a:avLst/>
              <a:gdLst>
                <a:gd name="T0" fmla="*/ 0 w 1398"/>
                <a:gd name="T1" fmla="*/ 0 h 637"/>
                <a:gd name="T2" fmla="*/ 1397 w 1398"/>
                <a:gd name="T3" fmla="*/ 636 h 637"/>
                <a:gd name="T4" fmla="*/ 0 w 1398"/>
                <a:gd name="T5" fmla="*/ 0 h 637"/>
                <a:gd name="T6" fmla="*/ 0 60000 65536"/>
                <a:gd name="T7" fmla="*/ 0 60000 65536"/>
                <a:gd name="T8" fmla="*/ 0 60000 65536"/>
                <a:gd name="T9" fmla="*/ 0 w 1398"/>
                <a:gd name="T10" fmla="*/ 0 h 637"/>
                <a:gd name="T11" fmla="*/ 1398 w 1398"/>
                <a:gd name="T12" fmla="*/ 637 h 6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8" h="637">
                  <a:moveTo>
                    <a:pt x="0" y="0"/>
                  </a:moveTo>
                  <a:lnTo>
                    <a:pt x="1397" y="636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4"/>
            <p:cNvSpPr>
              <a:spLocks/>
            </p:cNvSpPr>
            <p:nvPr/>
          </p:nvSpPr>
          <p:spPr bwMode="auto">
            <a:xfrm>
              <a:off x="4818" y="3341"/>
              <a:ext cx="75" cy="49"/>
            </a:xfrm>
            <a:custGeom>
              <a:avLst/>
              <a:gdLst>
                <a:gd name="T0" fmla="*/ 15 w 75"/>
                <a:gd name="T1" fmla="*/ 0 h 49"/>
                <a:gd name="T2" fmla="*/ 74 w 75"/>
                <a:gd name="T3" fmla="*/ 48 h 49"/>
                <a:gd name="T4" fmla="*/ 0 w 75"/>
                <a:gd name="T5" fmla="*/ 34 h 49"/>
                <a:gd name="T6" fmla="*/ 15 w 75"/>
                <a:gd name="T7" fmla="*/ 0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49"/>
                <a:gd name="T14" fmla="*/ 75 w 75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49">
                  <a:moveTo>
                    <a:pt x="15" y="0"/>
                  </a:moveTo>
                  <a:lnTo>
                    <a:pt x="74" y="48"/>
                  </a:lnTo>
                  <a:lnTo>
                    <a:pt x="0" y="34"/>
                  </a:lnTo>
                  <a:lnTo>
                    <a:pt x="15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Rectangle 45"/>
            <p:cNvSpPr>
              <a:spLocks noChangeArrowheads="1"/>
            </p:cNvSpPr>
            <p:nvPr/>
          </p:nvSpPr>
          <p:spPr bwMode="auto">
            <a:xfrm>
              <a:off x="1762" y="2207"/>
              <a:ext cx="37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400" u="none">
                  <a:solidFill>
                    <a:srgbClr val="000000"/>
                  </a:solidFill>
                  <a:latin typeface="Arial" pitchFamily="34" charset="0"/>
                </a:rPr>
                <a:t>Root</a:t>
              </a:r>
            </a:p>
          </p:txBody>
        </p:sp>
        <p:sp>
          <p:nvSpPr>
            <p:cNvPr id="45" name="Rectangle 46"/>
            <p:cNvSpPr>
              <a:spLocks noChangeArrowheads="1"/>
            </p:cNvSpPr>
            <p:nvPr/>
          </p:nvSpPr>
          <p:spPr bwMode="auto">
            <a:xfrm>
              <a:off x="2493" y="2551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17</a:t>
              </a:r>
            </a:p>
          </p:txBody>
        </p:sp>
        <p:sp>
          <p:nvSpPr>
            <p:cNvPr id="46" name="Rectangle 47"/>
            <p:cNvSpPr>
              <a:spLocks noChangeArrowheads="1"/>
            </p:cNvSpPr>
            <p:nvPr/>
          </p:nvSpPr>
          <p:spPr bwMode="auto">
            <a:xfrm>
              <a:off x="2844" y="2550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24</a:t>
              </a:r>
            </a:p>
          </p:txBody>
        </p:sp>
        <p:sp>
          <p:nvSpPr>
            <p:cNvPr id="47" name="Rectangle 48"/>
            <p:cNvSpPr>
              <a:spLocks noChangeArrowheads="1"/>
            </p:cNvSpPr>
            <p:nvPr/>
          </p:nvSpPr>
          <p:spPr bwMode="auto">
            <a:xfrm>
              <a:off x="3203" y="2543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30</a:t>
              </a:r>
            </a:p>
          </p:txBody>
        </p:sp>
        <p:sp>
          <p:nvSpPr>
            <p:cNvPr id="48" name="Rectangle 49"/>
            <p:cNvSpPr>
              <a:spLocks noChangeArrowheads="1"/>
            </p:cNvSpPr>
            <p:nvPr/>
          </p:nvSpPr>
          <p:spPr bwMode="auto">
            <a:xfrm>
              <a:off x="218" y="3419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2*</a:t>
              </a:r>
            </a:p>
          </p:txBody>
        </p:sp>
        <p:sp>
          <p:nvSpPr>
            <p:cNvPr id="49" name="Rectangle 50"/>
            <p:cNvSpPr>
              <a:spLocks noChangeArrowheads="1"/>
            </p:cNvSpPr>
            <p:nvPr/>
          </p:nvSpPr>
          <p:spPr bwMode="auto">
            <a:xfrm>
              <a:off x="458" y="3412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3*</a:t>
              </a:r>
            </a:p>
          </p:txBody>
        </p:sp>
        <p:sp>
          <p:nvSpPr>
            <p:cNvPr id="50" name="Rectangle 51"/>
            <p:cNvSpPr>
              <a:spLocks noChangeArrowheads="1"/>
            </p:cNvSpPr>
            <p:nvPr/>
          </p:nvSpPr>
          <p:spPr bwMode="auto">
            <a:xfrm>
              <a:off x="693" y="3412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5*</a:t>
              </a:r>
            </a:p>
          </p:txBody>
        </p:sp>
        <p:sp>
          <p:nvSpPr>
            <p:cNvPr id="51" name="Rectangle 52"/>
            <p:cNvSpPr>
              <a:spLocks noChangeArrowheads="1"/>
            </p:cNvSpPr>
            <p:nvPr/>
          </p:nvSpPr>
          <p:spPr bwMode="auto">
            <a:xfrm>
              <a:off x="927" y="3419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7*</a:t>
              </a:r>
            </a:p>
          </p:txBody>
        </p:sp>
        <p:sp>
          <p:nvSpPr>
            <p:cNvPr id="52" name="Rectangle 53"/>
            <p:cNvSpPr>
              <a:spLocks noChangeArrowheads="1"/>
            </p:cNvSpPr>
            <p:nvPr/>
          </p:nvSpPr>
          <p:spPr bwMode="auto">
            <a:xfrm>
              <a:off x="1264" y="3419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14*</a:t>
              </a:r>
            </a:p>
          </p:txBody>
        </p:sp>
        <p:sp>
          <p:nvSpPr>
            <p:cNvPr id="53" name="Rectangle 54"/>
            <p:cNvSpPr>
              <a:spLocks noChangeArrowheads="1"/>
            </p:cNvSpPr>
            <p:nvPr/>
          </p:nvSpPr>
          <p:spPr bwMode="auto">
            <a:xfrm>
              <a:off x="1491" y="3419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16*</a:t>
              </a:r>
            </a:p>
          </p:txBody>
        </p:sp>
        <p:sp>
          <p:nvSpPr>
            <p:cNvPr id="54" name="Rectangle 55"/>
            <p:cNvSpPr>
              <a:spLocks noChangeArrowheads="1"/>
            </p:cNvSpPr>
            <p:nvPr/>
          </p:nvSpPr>
          <p:spPr bwMode="auto">
            <a:xfrm>
              <a:off x="2332" y="3412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19*</a:t>
              </a:r>
            </a:p>
          </p:txBody>
        </p:sp>
        <p:sp>
          <p:nvSpPr>
            <p:cNvPr id="55" name="Rectangle 56"/>
            <p:cNvSpPr>
              <a:spLocks noChangeArrowheads="1"/>
            </p:cNvSpPr>
            <p:nvPr/>
          </p:nvSpPr>
          <p:spPr bwMode="auto">
            <a:xfrm>
              <a:off x="2551" y="3412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20*</a:t>
              </a:r>
            </a:p>
          </p:txBody>
        </p:sp>
        <p:sp>
          <p:nvSpPr>
            <p:cNvPr id="56" name="Rectangle 57"/>
            <p:cNvSpPr>
              <a:spLocks noChangeArrowheads="1"/>
            </p:cNvSpPr>
            <p:nvPr/>
          </p:nvSpPr>
          <p:spPr bwMode="auto">
            <a:xfrm>
              <a:off x="2779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22*</a:t>
              </a:r>
            </a:p>
          </p:txBody>
        </p:sp>
        <p:sp>
          <p:nvSpPr>
            <p:cNvPr id="57" name="Rectangle 58"/>
            <p:cNvSpPr>
              <a:spLocks noChangeArrowheads="1"/>
            </p:cNvSpPr>
            <p:nvPr/>
          </p:nvSpPr>
          <p:spPr bwMode="auto">
            <a:xfrm>
              <a:off x="3363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24*</a:t>
              </a:r>
            </a:p>
          </p:txBody>
        </p:sp>
        <p:sp>
          <p:nvSpPr>
            <p:cNvPr id="58" name="Rectangle 59"/>
            <p:cNvSpPr>
              <a:spLocks noChangeArrowheads="1"/>
            </p:cNvSpPr>
            <p:nvPr/>
          </p:nvSpPr>
          <p:spPr bwMode="auto">
            <a:xfrm>
              <a:off x="3605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27*</a:t>
              </a:r>
            </a:p>
          </p:txBody>
        </p:sp>
        <p:sp>
          <p:nvSpPr>
            <p:cNvPr id="59" name="Rectangle 60"/>
            <p:cNvSpPr>
              <a:spLocks noChangeArrowheads="1"/>
            </p:cNvSpPr>
            <p:nvPr/>
          </p:nvSpPr>
          <p:spPr bwMode="auto">
            <a:xfrm>
              <a:off x="3824" y="3418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29*</a:t>
              </a:r>
            </a:p>
          </p:txBody>
        </p:sp>
        <p:sp>
          <p:nvSpPr>
            <p:cNvPr id="60" name="Rectangle 61"/>
            <p:cNvSpPr>
              <a:spLocks noChangeArrowheads="1"/>
            </p:cNvSpPr>
            <p:nvPr/>
          </p:nvSpPr>
          <p:spPr bwMode="auto">
            <a:xfrm>
              <a:off x="4417" y="3418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33*</a:t>
              </a:r>
            </a:p>
          </p:txBody>
        </p:sp>
        <p:sp>
          <p:nvSpPr>
            <p:cNvPr id="61" name="Rectangle 62"/>
            <p:cNvSpPr>
              <a:spLocks noChangeArrowheads="1"/>
            </p:cNvSpPr>
            <p:nvPr/>
          </p:nvSpPr>
          <p:spPr bwMode="auto">
            <a:xfrm>
              <a:off x="4652" y="3418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34*</a:t>
              </a:r>
            </a:p>
          </p:txBody>
        </p:sp>
        <p:sp>
          <p:nvSpPr>
            <p:cNvPr id="62" name="Rectangle 63"/>
            <p:cNvSpPr>
              <a:spLocks noChangeArrowheads="1"/>
            </p:cNvSpPr>
            <p:nvPr/>
          </p:nvSpPr>
          <p:spPr bwMode="auto">
            <a:xfrm>
              <a:off x="4878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38*</a:t>
              </a:r>
            </a:p>
          </p:txBody>
        </p:sp>
        <p:sp>
          <p:nvSpPr>
            <p:cNvPr id="63" name="Rectangle 64"/>
            <p:cNvSpPr>
              <a:spLocks noChangeArrowheads="1"/>
            </p:cNvSpPr>
            <p:nvPr/>
          </p:nvSpPr>
          <p:spPr bwMode="auto">
            <a:xfrm>
              <a:off x="5112" y="3404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39*</a:t>
              </a:r>
            </a:p>
          </p:txBody>
        </p:sp>
        <p:sp>
          <p:nvSpPr>
            <p:cNvPr id="64" name="Rectangle 65"/>
            <p:cNvSpPr>
              <a:spLocks noChangeArrowheads="1"/>
            </p:cNvSpPr>
            <p:nvPr/>
          </p:nvSpPr>
          <p:spPr bwMode="auto">
            <a:xfrm>
              <a:off x="2157" y="2551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13</a:t>
              </a:r>
            </a:p>
          </p:txBody>
        </p:sp>
        <p:sp>
          <p:nvSpPr>
            <p:cNvPr id="65" name="Line 66"/>
            <p:cNvSpPr>
              <a:spLocks noChangeShapeType="1"/>
            </p:cNvSpPr>
            <p:nvPr/>
          </p:nvSpPr>
          <p:spPr bwMode="auto">
            <a:xfrm>
              <a:off x="2304" y="2208"/>
              <a:ext cx="24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Arc 67"/>
            <p:cNvSpPr>
              <a:spLocks/>
            </p:cNvSpPr>
            <p:nvPr/>
          </p:nvSpPr>
          <p:spPr bwMode="auto">
            <a:xfrm rot="-2580000">
              <a:off x="2160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Arc 68"/>
            <p:cNvSpPr>
              <a:spLocks/>
            </p:cNvSpPr>
            <p:nvPr/>
          </p:nvSpPr>
          <p:spPr bwMode="auto">
            <a:xfrm rot="-2580000">
              <a:off x="1056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Arc 69"/>
            <p:cNvSpPr>
              <a:spLocks/>
            </p:cNvSpPr>
            <p:nvPr/>
          </p:nvSpPr>
          <p:spPr bwMode="auto">
            <a:xfrm rot="-2580000">
              <a:off x="3168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Arc 70"/>
            <p:cNvSpPr>
              <a:spLocks/>
            </p:cNvSpPr>
            <p:nvPr/>
          </p:nvSpPr>
          <p:spPr bwMode="auto">
            <a:xfrm rot="-2580000">
              <a:off x="4224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3" name="Straight Arrow Connector 2"/>
          <p:cNvCxnSpPr>
            <a:stCxn id="34" idx="0"/>
            <a:endCxn id="35" idx="1"/>
          </p:cNvCxnSpPr>
          <p:nvPr/>
        </p:nvCxnSpPr>
        <p:spPr>
          <a:xfrm flipH="1">
            <a:off x="1254124" y="3013075"/>
            <a:ext cx="2217738" cy="100806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reeform 6"/>
          <p:cNvSpPr>
            <a:spLocks/>
          </p:cNvSpPr>
          <p:nvPr/>
        </p:nvSpPr>
        <p:spPr bwMode="auto">
          <a:xfrm>
            <a:off x="1093786" y="6008688"/>
            <a:ext cx="360363" cy="360362"/>
          </a:xfrm>
          <a:custGeom>
            <a:avLst/>
            <a:gdLst>
              <a:gd name="T0" fmla="*/ 0 w 227"/>
              <a:gd name="T1" fmla="*/ 226 h 227"/>
              <a:gd name="T2" fmla="*/ 0 w 227"/>
              <a:gd name="T3" fmla="*/ 0 h 227"/>
              <a:gd name="T4" fmla="*/ 226 w 227"/>
              <a:gd name="T5" fmla="*/ 0 h 227"/>
              <a:gd name="T6" fmla="*/ 226 w 227"/>
              <a:gd name="T7" fmla="*/ 226 h 227"/>
              <a:gd name="T8" fmla="*/ 0 w 227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Freeform 7"/>
          <p:cNvSpPr>
            <a:spLocks/>
          </p:cNvSpPr>
          <p:nvPr/>
        </p:nvSpPr>
        <p:spPr bwMode="auto">
          <a:xfrm>
            <a:off x="1452561" y="6008688"/>
            <a:ext cx="361950" cy="360362"/>
          </a:xfrm>
          <a:custGeom>
            <a:avLst/>
            <a:gdLst>
              <a:gd name="T0" fmla="*/ 0 w 228"/>
              <a:gd name="T1" fmla="*/ 226 h 227"/>
              <a:gd name="T2" fmla="*/ 0 w 228"/>
              <a:gd name="T3" fmla="*/ 0 h 227"/>
              <a:gd name="T4" fmla="*/ 227 w 228"/>
              <a:gd name="T5" fmla="*/ 0 h 227"/>
              <a:gd name="T6" fmla="*/ 227 w 228"/>
              <a:gd name="T7" fmla="*/ 226 h 227"/>
              <a:gd name="T8" fmla="*/ 0 w 228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8" h="227">
                <a:moveTo>
                  <a:pt x="0" y="226"/>
                </a:moveTo>
                <a:lnTo>
                  <a:pt x="0" y="0"/>
                </a:lnTo>
                <a:lnTo>
                  <a:pt x="227" y="0"/>
                </a:lnTo>
                <a:lnTo>
                  <a:pt x="227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Freeform 8"/>
          <p:cNvSpPr>
            <a:spLocks/>
          </p:cNvSpPr>
          <p:nvPr/>
        </p:nvSpPr>
        <p:spPr bwMode="auto">
          <a:xfrm>
            <a:off x="1812924" y="6008688"/>
            <a:ext cx="360362" cy="360362"/>
          </a:xfrm>
          <a:custGeom>
            <a:avLst/>
            <a:gdLst>
              <a:gd name="T0" fmla="*/ 0 w 227"/>
              <a:gd name="T1" fmla="*/ 226 h 227"/>
              <a:gd name="T2" fmla="*/ 0 w 227"/>
              <a:gd name="T3" fmla="*/ 0 h 227"/>
              <a:gd name="T4" fmla="*/ 226 w 227"/>
              <a:gd name="T5" fmla="*/ 0 h 227"/>
              <a:gd name="T6" fmla="*/ 226 w 227"/>
              <a:gd name="T7" fmla="*/ 226 h 227"/>
              <a:gd name="T8" fmla="*/ 0 w 227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" name="Freeform 9"/>
          <p:cNvSpPr>
            <a:spLocks/>
          </p:cNvSpPr>
          <p:nvPr/>
        </p:nvSpPr>
        <p:spPr bwMode="auto">
          <a:xfrm>
            <a:off x="2171699" y="6008688"/>
            <a:ext cx="360362" cy="360362"/>
          </a:xfrm>
          <a:custGeom>
            <a:avLst/>
            <a:gdLst>
              <a:gd name="T0" fmla="*/ 0 w 227"/>
              <a:gd name="T1" fmla="*/ 226 h 227"/>
              <a:gd name="T2" fmla="*/ 0 w 227"/>
              <a:gd name="T3" fmla="*/ 0 h 227"/>
              <a:gd name="T4" fmla="*/ 226 w 227"/>
              <a:gd name="T5" fmla="*/ 0 h 227"/>
              <a:gd name="T6" fmla="*/ 226 w 227"/>
              <a:gd name="T7" fmla="*/ 226 h 227"/>
              <a:gd name="T8" fmla="*/ 0 w 227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" name="Freeform 10"/>
          <p:cNvSpPr>
            <a:spLocks/>
          </p:cNvSpPr>
          <p:nvPr/>
        </p:nvSpPr>
        <p:spPr bwMode="auto">
          <a:xfrm>
            <a:off x="2901949" y="6019800"/>
            <a:ext cx="360362" cy="360363"/>
          </a:xfrm>
          <a:custGeom>
            <a:avLst/>
            <a:gdLst>
              <a:gd name="T0" fmla="*/ 0 w 227"/>
              <a:gd name="T1" fmla="*/ 226 h 227"/>
              <a:gd name="T2" fmla="*/ 0 w 227"/>
              <a:gd name="T3" fmla="*/ 0 h 227"/>
              <a:gd name="T4" fmla="*/ 226 w 227"/>
              <a:gd name="T5" fmla="*/ 0 h 227"/>
              <a:gd name="T6" fmla="*/ 226 w 227"/>
              <a:gd name="T7" fmla="*/ 226 h 227"/>
              <a:gd name="T8" fmla="*/ 0 w 227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" name="Freeform 11"/>
          <p:cNvSpPr>
            <a:spLocks/>
          </p:cNvSpPr>
          <p:nvPr/>
        </p:nvSpPr>
        <p:spPr bwMode="auto">
          <a:xfrm>
            <a:off x="3260724" y="6019800"/>
            <a:ext cx="361950" cy="360363"/>
          </a:xfrm>
          <a:custGeom>
            <a:avLst/>
            <a:gdLst>
              <a:gd name="T0" fmla="*/ 0 w 228"/>
              <a:gd name="T1" fmla="*/ 226 h 227"/>
              <a:gd name="T2" fmla="*/ 0 w 228"/>
              <a:gd name="T3" fmla="*/ 0 h 227"/>
              <a:gd name="T4" fmla="*/ 227 w 228"/>
              <a:gd name="T5" fmla="*/ 0 h 227"/>
              <a:gd name="T6" fmla="*/ 227 w 228"/>
              <a:gd name="T7" fmla="*/ 226 h 227"/>
              <a:gd name="T8" fmla="*/ 0 w 228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8" h="227">
                <a:moveTo>
                  <a:pt x="0" y="226"/>
                </a:moveTo>
                <a:lnTo>
                  <a:pt x="0" y="0"/>
                </a:lnTo>
                <a:lnTo>
                  <a:pt x="227" y="0"/>
                </a:lnTo>
                <a:lnTo>
                  <a:pt x="227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" name="Freeform 12"/>
          <p:cNvSpPr>
            <a:spLocks/>
          </p:cNvSpPr>
          <p:nvPr/>
        </p:nvSpPr>
        <p:spPr bwMode="auto">
          <a:xfrm>
            <a:off x="3621086" y="6019800"/>
            <a:ext cx="360363" cy="360363"/>
          </a:xfrm>
          <a:custGeom>
            <a:avLst/>
            <a:gdLst>
              <a:gd name="T0" fmla="*/ 0 w 227"/>
              <a:gd name="T1" fmla="*/ 226 h 227"/>
              <a:gd name="T2" fmla="*/ 0 w 227"/>
              <a:gd name="T3" fmla="*/ 0 h 227"/>
              <a:gd name="T4" fmla="*/ 226 w 227"/>
              <a:gd name="T5" fmla="*/ 0 h 227"/>
              <a:gd name="T6" fmla="*/ 226 w 227"/>
              <a:gd name="T7" fmla="*/ 226 h 227"/>
              <a:gd name="T8" fmla="*/ 0 w 227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" name="Freeform 13"/>
          <p:cNvSpPr>
            <a:spLocks/>
          </p:cNvSpPr>
          <p:nvPr/>
        </p:nvSpPr>
        <p:spPr bwMode="auto">
          <a:xfrm>
            <a:off x="3979861" y="6019800"/>
            <a:ext cx="360363" cy="360363"/>
          </a:xfrm>
          <a:custGeom>
            <a:avLst/>
            <a:gdLst>
              <a:gd name="T0" fmla="*/ 0 w 227"/>
              <a:gd name="T1" fmla="*/ 226 h 227"/>
              <a:gd name="T2" fmla="*/ 0 w 227"/>
              <a:gd name="T3" fmla="*/ 0 h 227"/>
              <a:gd name="T4" fmla="*/ 226 w 227"/>
              <a:gd name="T5" fmla="*/ 0 h 227"/>
              <a:gd name="T6" fmla="*/ 226 w 227"/>
              <a:gd name="T7" fmla="*/ 226 h 227"/>
              <a:gd name="T8" fmla="*/ 0 w 227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" name="Freeform 14"/>
          <p:cNvSpPr>
            <a:spLocks/>
          </p:cNvSpPr>
          <p:nvPr/>
        </p:nvSpPr>
        <p:spPr bwMode="auto">
          <a:xfrm>
            <a:off x="1812924" y="5038725"/>
            <a:ext cx="506412" cy="928688"/>
          </a:xfrm>
          <a:custGeom>
            <a:avLst/>
            <a:gdLst>
              <a:gd name="T0" fmla="*/ 318 w 319"/>
              <a:gd name="T1" fmla="*/ 0 h 585"/>
              <a:gd name="T2" fmla="*/ 0 w 319"/>
              <a:gd name="T3" fmla="*/ 584 h 585"/>
              <a:gd name="T4" fmla="*/ 318 w 319"/>
              <a:gd name="T5" fmla="*/ 0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19" h="585">
                <a:moveTo>
                  <a:pt x="318" y="0"/>
                </a:moveTo>
                <a:lnTo>
                  <a:pt x="0" y="584"/>
                </a:lnTo>
                <a:lnTo>
                  <a:pt x="318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" name="Freeform 15"/>
          <p:cNvSpPr>
            <a:spLocks/>
          </p:cNvSpPr>
          <p:nvPr/>
        </p:nvSpPr>
        <p:spPr bwMode="auto">
          <a:xfrm>
            <a:off x="1812924" y="5853113"/>
            <a:ext cx="79375" cy="114300"/>
          </a:xfrm>
          <a:custGeom>
            <a:avLst/>
            <a:gdLst>
              <a:gd name="T0" fmla="*/ 49 w 50"/>
              <a:gd name="T1" fmla="*/ 17 h 72"/>
              <a:gd name="T2" fmla="*/ 0 w 50"/>
              <a:gd name="T3" fmla="*/ 71 h 72"/>
              <a:gd name="T4" fmla="*/ 17 w 50"/>
              <a:gd name="T5" fmla="*/ 0 h 72"/>
              <a:gd name="T6" fmla="*/ 49 w 50"/>
              <a:gd name="T7" fmla="*/ 17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0" h="72">
                <a:moveTo>
                  <a:pt x="49" y="17"/>
                </a:moveTo>
                <a:lnTo>
                  <a:pt x="0" y="71"/>
                </a:lnTo>
                <a:lnTo>
                  <a:pt x="17" y="0"/>
                </a:lnTo>
                <a:lnTo>
                  <a:pt x="49" y="1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" name="Freeform 16"/>
          <p:cNvSpPr>
            <a:spLocks/>
          </p:cNvSpPr>
          <p:nvPr/>
        </p:nvSpPr>
        <p:spPr bwMode="auto">
          <a:xfrm>
            <a:off x="2733674" y="5094288"/>
            <a:ext cx="449262" cy="403225"/>
          </a:xfrm>
          <a:custGeom>
            <a:avLst/>
            <a:gdLst>
              <a:gd name="T0" fmla="*/ 0 w 283"/>
              <a:gd name="T1" fmla="*/ 253 h 254"/>
              <a:gd name="T2" fmla="*/ 0 w 283"/>
              <a:gd name="T3" fmla="*/ 0 h 254"/>
              <a:gd name="T4" fmla="*/ 282 w 283"/>
              <a:gd name="T5" fmla="*/ 0 h 254"/>
              <a:gd name="T6" fmla="*/ 282 w 283"/>
              <a:gd name="T7" fmla="*/ 253 h 254"/>
              <a:gd name="T8" fmla="*/ 0 w 283"/>
              <a:gd name="T9" fmla="*/ 253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3" h="254">
                <a:moveTo>
                  <a:pt x="0" y="253"/>
                </a:moveTo>
                <a:lnTo>
                  <a:pt x="0" y="0"/>
                </a:lnTo>
                <a:lnTo>
                  <a:pt x="282" y="0"/>
                </a:lnTo>
                <a:lnTo>
                  <a:pt x="282" y="253"/>
                </a:lnTo>
                <a:lnTo>
                  <a:pt x="0" y="253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" name="Freeform 17"/>
          <p:cNvSpPr>
            <a:spLocks/>
          </p:cNvSpPr>
          <p:nvPr/>
        </p:nvSpPr>
        <p:spPr bwMode="auto">
          <a:xfrm>
            <a:off x="3070224" y="5103813"/>
            <a:ext cx="1587" cy="371475"/>
          </a:xfrm>
          <a:custGeom>
            <a:avLst/>
            <a:gdLst>
              <a:gd name="T0" fmla="*/ 0 w 1"/>
              <a:gd name="T1" fmla="*/ 0 h 234"/>
              <a:gd name="T2" fmla="*/ 0 w 1"/>
              <a:gd name="T3" fmla="*/ 233 h 234"/>
              <a:gd name="T4" fmla="*/ 0 w 1"/>
              <a:gd name="T5" fmla="*/ 0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4">
                <a:moveTo>
                  <a:pt x="0" y="0"/>
                </a:moveTo>
                <a:lnTo>
                  <a:pt x="0" y="233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" name="Line 18"/>
          <p:cNvSpPr>
            <a:spLocks noChangeShapeType="1"/>
          </p:cNvSpPr>
          <p:nvPr/>
        </p:nvSpPr>
        <p:spPr bwMode="auto">
          <a:xfrm flipH="1">
            <a:off x="3681411" y="5038725"/>
            <a:ext cx="173038" cy="23813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" name="Line 19"/>
          <p:cNvSpPr>
            <a:spLocks noChangeShapeType="1"/>
          </p:cNvSpPr>
          <p:nvPr/>
        </p:nvSpPr>
        <p:spPr bwMode="auto">
          <a:xfrm flipH="1">
            <a:off x="3643311" y="5062538"/>
            <a:ext cx="38100" cy="7937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" name="Line 20"/>
          <p:cNvSpPr>
            <a:spLocks noChangeShapeType="1"/>
          </p:cNvSpPr>
          <p:nvPr/>
        </p:nvSpPr>
        <p:spPr bwMode="auto">
          <a:xfrm flipH="1">
            <a:off x="3611561" y="5070475"/>
            <a:ext cx="31750" cy="63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" name="Line 21"/>
          <p:cNvSpPr>
            <a:spLocks noChangeShapeType="1"/>
          </p:cNvSpPr>
          <p:nvPr/>
        </p:nvSpPr>
        <p:spPr bwMode="auto">
          <a:xfrm flipH="1">
            <a:off x="3575049" y="5076825"/>
            <a:ext cx="36512" cy="17463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" name="Line 22"/>
          <p:cNvSpPr>
            <a:spLocks noChangeShapeType="1"/>
          </p:cNvSpPr>
          <p:nvPr/>
        </p:nvSpPr>
        <p:spPr bwMode="auto">
          <a:xfrm>
            <a:off x="3575049" y="5094288"/>
            <a:ext cx="19050" cy="444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" name="Line 23"/>
          <p:cNvSpPr>
            <a:spLocks noChangeShapeType="1"/>
          </p:cNvSpPr>
          <p:nvPr/>
        </p:nvSpPr>
        <p:spPr bwMode="auto">
          <a:xfrm>
            <a:off x="3594099" y="5138738"/>
            <a:ext cx="12700" cy="39687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" name="Line 24"/>
          <p:cNvSpPr>
            <a:spLocks noChangeShapeType="1"/>
          </p:cNvSpPr>
          <p:nvPr/>
        </p:nvSpPr>
        <p:spPr bwMode="auto">
          <a:xfrm flipH="1">
            <a:off x="3560761" y="5178425"/>
            <a:ext cx="46038" cy="14288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1" name="Line 25"/>
          <p:cNvSpPr>
            <a:spLocks noChangeShapeType="1"/>
          </p:cNvSpPr>
          <p:nvPr/>
        </p:nvSpPr>
        <p:spPr bwMode="auto">
          <a:xfrm flipH="1">
            <a:off x="3524249" y="5192713"/>
            <a:ext cx="36512" cy="476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" name="Line 26"/>
          <p:cNvSpPr>
            <a:spLocks noChangeShapeType="1"/>
          </p:cNvSpPr>
          <p:nvPr/>
        </p:nvSpPr>
        <p:spPr bwMode="auto">
          <a:xfrm flipH="1">
            <a:off x="3479799" y="5197475"/>
            <a:ext cx="44450" cy="4763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" name="Line 27"/>
          <p:cNvSpPr>
            <a:spLocks noChangeShapeType="1"/>
          </p:cNvSpPr>
          <p:nvPr/>
        </p:nvSpPr>
        <p:spPr bwMode="auto">
          <a:xfrm flipH="1">
            <a:off x="3282949" y="5202238"/>
            <a:ext cx="196850" cy="127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" name="Freeform 28"/>
          <p:cNvSpPr>
            <a:spLocks/>
          </p:cNvSpPr>
          <p:nvPr/>
        </p:nvSpPr>
        <p:spPr bwMode="auto">
          <a:xfrm>
            <a:off x="3282949" y="5181600"/>
            <a:ext cx="104775" cy="53975"/>
          </a:xfrm>
          <a:custGeom>
            <a:avLst/>
            <a:gdLst>
              <a:gd name="T0" fmla="*/ 65 w 66"/>
              <a:gd name="T1" fmla="*/ 33 h 34"/>
              <a:gd name="T2" fmla="*/ 0 w 66"/>
              <a:gd name="T3" fmla="*/ 21 h 34"/>
              <a:gd name="T4" fmla="*/ 63 w 66"/>
              <a:gd name="T5" fmla="*/ 0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6" h="34">
                <a:moveTo>
                  <a:pt x="65" y="33"/>
                </a:moveTo>
                <a:lnTo>
                  <a:pt x="0" y="21"/>
                </a:lnTo>
                <a:lnTo>
                  <a:pt x="63" y="0"/>
                </a:lnTo>
              </a:path>
            </a:pathLst>
          </a:custGeom>
          <a:noFill/>
          <a:ln w="12700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" name="Rectangle 29"/>
          <p:cNvSpPr>
            <a:spLocks noChangeArrowheads="1"/>
          </p:cNvSpPr>
          <p:nvPr/>
        </p:nvSpPr>
        <p:spPr bwMode="auto">
          <a:xfrm>
            <a:off x="1093786" y="6016625"/>
            <a:ext cx="336550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2*</a:t>
            </a:r>
          </a:p>
        </p:txBody>
      </p:sp>
      <p:sp>
        <p:nvSpPr>
          <p:cNvPr id="96" name="Rectangle 30"/>
          <p:cNvSpPr>
            <a:spLocks noChangeArrowheads="1"/>
          </p:cNvSpPr>
          <p:nvPr/>
        </p:nvSpPr>
        <p:spPr bwMode="auto">
          <a:xfrm>
            <a:off x="1463674" y="6005513"/>
            <a:ext cx="33655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3*</a:t>
            </a:r>
          </a:p>
        </p:txBody>
      </p:sp>
      <p:sp>
        <p:nvSpPr>
          <p:cNvPr id="97" name="Rectangle 31"/>
          <p:cNvSpPr>
            <a:spLocks noChangeArrowheads="1"/>
          </p:cNvSpPr>
          <p:nvPr/>
        </p:nvSpPr>
        <p:spPr bwMode="auto">
          <a:xfrm>
            <a:off x="2900361" y="6005513"/>
            <a:ext cx="33655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5*</a:t>
            </a:r>
          </a:p>
        </p:txBody>
      </p:sp>
      <p:sp>
        <p:nvSpPr>
          <p:cNvPr id="98" name="Rectangle 32"/>
          <p:cNvSpPr>
            <a:spLocks noChangeArrowheads="1"/>
          </p:cNvSpPr>
          <p:nvPr/>
        </p:nvSpPr>
        <p:spPr bwMode="auto">
          <a:xfrm>
            <a:off x="3260724" y="6016625"/>
            <a:ext cx="336550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7*</a:t>
            </a:r>
          </a:p>
        </p:txBody>
      </p:sp>
      <p:sp>
        <p:nvSpPr>
          <p:cNvPr id="99" name="Rectangle 33"/>
          <p:cNvSpPr>
            <a:spLocks noChangeArrowheads="1"/>
          </p:cNvSpPr>
          <p:nvPr/>
        </p:nvSpPr>
        <p:spPr bwMode="auto">
          <a:xfrm>
            <a:off x="3630611" y="6027738"/>
            <a:ext cx="33655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8*</a:t>
            </a:r>
          </a:p>
        </p:txBody>
      </p:sp>
      <p:sp>
        <p:nvSpPr>
          <p:cNvPr id="100" name="Rectangle 34"/>
          <p:cNvSpPr>
            <a:spLocks noChangeArrowheads="1"/>
          </p:cNvSpPr>
          <p:nvPr/>
        </p:nvSpPr>
        <p:spPr bwMode="auto">
          <a:xfrm>
            <a:off x="2765424" y="5133975"/>
            <a:ext cx="2794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104" name="Rectangle 38"/>
          <p:cNvSpPr>
            <a:spLocks noChangeArrowheads="1"/>
          </p:cNvSpPr>
          <p:nvPr/>
        </p:nvSpPr>
        <p:spPr bwMode="auto">
          <a:xfrm>
            <a:off x="5930899" y="5084763"/>
            <a:ext cx="5000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" name="Arc 40"/>
          <p:cNvSpPr>
            <a:spLocks/>
          </p:cNvSpPr>
          <p:nvPr/>
        </p:nvSpPr>
        <p:spPr bwMode="auto">
          <a:xfrm rot="19020000">
            <a:off x="2513011" y="5789613"/>
            <a:ext cx="381000" cy="381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" name="Arc 41"/>
          <p:cNvSpPr>
            <a:spLocks/>
          </p:cNvSpPr>
          <p:nvPr/>
        </p:nvSpPr>
        <p:spPr bwMode="auto">
          <a:xfrm>
            <a:off x="3122611" y="5403850"/>
            <a:ext cx="304800" cy="609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3979861" y="4769705"/>
            <a:ext cx="3964740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 pitchFamily="34" charset="0"/>
              </a:rPr>
              <a:t>The </a:t>
            </a:r>
            <a:r>
              <a:rPr lang="en-US" u="sng" dirty="0" smtClean="0">
                <a:latin typeface="Arial" pitchFamily="34" charset="0"/>
              </a:rPr>
              <a:t>middle key</a:t>
            </a:r>
            <a:r>
              <a:rPr lang="en-US" b="1" dirty="0" smtClean="0">
                <a:solidFill>
                  <a:srgbClr val="FF0000"/>
                </a:solidFill>
                <a:latin typeface="Arial" pitchFamily="34" charset="0"/>
              </a:rPr>
              <a:t> </a:t>
            </a:r>
            <a:r>
              <a:rPr lang="en-US" dirty="0" smtClean="0">
                <a:latin typeface="Arial" pitchFamily="34" charset="0"/>
              </a:rPr>
              <a:t>(i.e.,</a:t>
            </a:r>
            <a:r>
              <a:rPr lang="en-US" b="1" dirty="0" smtClean="0">
                <a:solidFill>
                  <a:srgbClr val="FF0000"/>
                </a:solidFill>
                <a:latin typeface="Arial" pitchFamily="34" charset="0"/>
              </a:rPr>
              <a:t> 5</a:t>
            </a:r>
            <a:r>
              <a:rPr lang="en-US" dirty="0" smtClean="0">
                <a:latin typeface="Arial" pitchFamily="34" charset="0"/>
              </a:rPr>
              <a:t>)</a:t>
            </a:r>
            <a:r>
              <a:rPr lang="en-US" b="1" dirty="0" smtClean="0">
                <a:latin typeface="Arial" pitchFamily="34" charset="0"/>
              </a:rPr>
              <a:t> </a:t>
            </a:r>
            <a:r>
              <a:rPr lang="en-US" dirty="0" smtClean="0"/>
              <a:t>is “copied up” </a:t>
            </a:r>
            <a:br>
              <a:rPr lang="en-US" dirty="0" smtClean="0"/>
            </a:br>
            <a:r>
              <a:rPr lang="en-US" dirty="0" smtClean="0"/>
              <a:t>and continues to </a:t>
            </a:r>
            <a:r>
              <a:rPr lang="en-US" dirty="0"/>
              <a:t>appear in the </a:t>
            </a:r>
            <a:r>
              <a:rPr lang="en-US" dirty="0" smtClean="0"/>
              <a:t>leaf</a:t>
            </a:r>
            <a:endParaRPr lang="en-US" dirty="0"/>
          </a:p>
        </p:txBody>
      </p:sp>
      <p:sp>
        <p:nvSpPr>
          <p:cNvPr id="108" name="Oval 107"/>
          <p:cNvSpPr/>
          <p:nvPr/>
        </p:nvSpPr>
        <p:spPr>
          <a:xfrm>
            <a:off x="247803" y="3810794"/>
            <a:ext cx="2020886" cy="838200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Bent-Up Arrow 145"/>
          <p:cNvSpPr/>
          <p:nvPr/>
        </p:nvSpPr>
        <p:spPr>
          <a:xfrm rot="5400000">
            <a:off x="1097756" y="4871641"/>
            <a:ext cx="550862" cy="464344"/>
          </a:xfrm>
          <a:prstGeom prst="bentUp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29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2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/>
      <p:bldP spid="96" grpId="0"/>
      <p:bldP spid="97" grpId="0"/>
      <p:bldP spid="98" grpId="0"/>
      <p:bldP spid="99" grpId="0"/>
      <p:bldP spid="100" grpId="0"/>
      <p:bldP spid="104" grpId="0"/>
      <p:bldP spid="106" grpId="0" animBg="1"/>
      <p:bldP spid="107" grpId="0" animBg="1"/>
      <p:bldP spid="71" grpId="0" animBg="1"/>
      <p:bldP spid="108" grpId="0" animBg="1"/>
      <p:bldP spid="14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B+ Tree: Examples </a:t>
            </a:r>
            <a:r>
              <a:rPr lang="en-US" dirty="0" smtClean="0">
                <a:ea typeface="ＭＳ Ｐゴシック" pitchFamily="34" charset="-128"/>
              </a:rPr>
              <a:t>of Insertions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Insert entry </a:t>
            </a:r>
            <a:r>
              <a:rPr lang="en-US" sz="2800" dirty="0" smtClean="0">
                <a:solidFill>
                  <a:srgbClr val="FF0000"/>
                </a:solidFill>
              </a:rPr>
              <a:t>8*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400" dirty="0"/>
          </a:p>
        </p:txBody>
      </p:sp>
      <p:grpSp>
        <p:nvGrpSpPr>
          <p:cNvPr id="4" name="Group 5"/>
          <p:cNvGrpSpPr>
            <a:grpSpLocks/>
          </p:cNvGrpSpPr>
          <p:nvPr/>
        </p:nvGrpSpPr>
        <p:grpSpPr bwMode="auto">
          <a:xfrm>
            <a:off x="500061" y="2133600"/>
            <a:ext cx="8201025" cy="2282825"/>
            <a:chOff x="218" y="2207"/>
            <a:chExt cx="5166" cy="1438"/>
          </a:xfrm>
        </p:grpSpPr>
        <p:sp>
          <p:nvSpPr>
            <p:cNvPr id="5" name="Freeform 6"/>
            <p:cNvSpPr>
              <a:spLocks/>
            </p:cNvSpPr>
            <p:nvPr/>
          </p:nvSpPr>
          <p:spPr bwMode="auto">
            <a:xfrm>
              <a:off x="2061" y="2506"/>
              <a:ext cx="351" cy="293"/>
            </a:xfrm>
            <a:custGeom>
              <a:avLst/>
              <a:gdLst>
                <a:gd name="T0" fmla="*/ 0 w 351"/>
                <a:gd name="T1" fmla="*/ 292 h 293"/>
                <a:gd name="T2" fmla="*/ 0 w 351"/>
                <a:gd name="T3" fmla="*/ 0 h 293"/>
                <a:gd name="T4" fmla="*/ 350 w 351"/>
                <a:gd name="T5" fmla="*/ 0 h 293"/>
                <a:gd name="T6" fmla="*/ 350 w 351"/>
                <a:gd name="T7" fmla="*/ 292 h 293"/>
                <a:gd name="T8" fmla="*/ 0 w 351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1"/>
                <a:gd name="T16" fmla="*/ 0 h 293"/>
                <a:gd name="T17" fmla="*/ 351 w 351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1" h="293">
                  <a:moveTo>
                    <a:pt x="0" y="292"/>
                  </a:moveTo>
                  <a:lnTo>
                    <a:pt x="0" y="0"/>
                  </a:lnTo>
                  <a:lnTo>
                    <a:pt x="350" y="0"/>
                  </a:lnTo>
                  <a:lnTo>
                    <a:pt x="350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7"/>
            <p:cNvSpPr>
              <a:spLocks/>
            </p:cNvSpPr>
            <p:nvPr/>
          </p:nvSpPr>
          <p:spPr bwMode="auto">
            <a:xfrm>
              <a:off x="2120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8"/>
            <p:cNvSpPr>
              <a:spLocks/>
            </p:cNvSpPr>
            <p:nvPr/>
          </p:nvSpPr>
          <p:spPr bwMode="auto">
            <a:xfrm>
              <a:off x="2411" y="2506"/>
              <a:ext cx="353" cy="293"/>
            </a:xfrm>
            <a:custGeom>
              <a:avLst/>
              <a:gdLst>
                <a:gd name="T0" fmla="*/ 0 w 353"/>
                <a:gd name="T1" fmla="*/ 292 h 293"/>
                <a:gd name="T2" fmla="*/ 0 w 353"/>
                <a:gd name="T3" fmla="*/ 0 h 293"/>
                <a:gd name="T4" fmla="*/ 352 w 353"/>
                <a:gd name="T5" fmla="*/ 0 h 293"/>
                <a:gd name="T6" fmla="*/ 352 w 353"/>
                <a:gd name="T7" fmla="*/ 292 h 293"/>
                <a:gd name="T8" fmla="*/ 0 w 353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3"/>
                <a:gd name="T16" fmla="*/ 0 h 293"/>
                <a:gd name="T17" fmla="*/ 353 w 353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3" h="293">
                  <a:moveTo>
                    <a:pt x="0" y="292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9"/>
            <p:cNvSpPr>
              <a:spLocks/>
            </p:cNvSpPr>
            <p:nvPr/>
          </p:nvSpPr>
          <p:spPr bwMode="auto">
            <a:xfrm>
              <a:off x="2471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10"/>
            <p:cNvSpPr>
              <a:spLocks/>
            </p:cNvSpPr>
            <p:nvPr/>
          </p:nvSpPr>
          <p:spPr bwMode="auto">
            <a:xfrm>
              <a:off x="2763" y="2506"/>
              <a:ext cx="352" cy="293"/>
            </a:xfrm>
            <a:custGeom>
              <a:avLst/>
              <a:gdLst>
                <a:gd name="T0" fmla="*/ 0 w 352"/>
                <a:gd name="T1" fmla="*/ 292 h 293"/>
                <a:gd name="T2" fmla="*/ 0 w 352"/>
                <a:gd name="T3" fmla="*/ 0 h 293"/>
                <a:gd name="T4" fmla="*/ 351 w 352"/>
                <a:gd name="T5" fmla="*/ 0 h 293"/>
                <a:gd name="T6" fmla="*/ 351 w 352"/>
                <a:gd name="T7" fmla="*/ 292 h 293"/>
                <a:gd name="T8" fmla="*/ 0 w 352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2"/>
                <a:gd name="T16" fmla="*/ 0 h 293"/>
                <a:gd name="T17" fmla="*/ 352 w 352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2" h="293">
                  <a:moveTo>
                    <a:pt x="0" y="292"/>
                  </a:moveTo>
                  <a:lnTo>
                    <a:pt x="0" y="0"/>
                  </a:lnTo>
                  <a:lnTo>
                    <a:pt x="351" y="0"/>
                  </a:lnTo>
                  <a:lnTo>
                    <a:pt x="351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1"/>
            <p:cNvSpPr>
              <a:spLocks/>
            </p:cNvSpPr>
            <p:nvPr/>
          </p:nvSpPr>
          <p:spPr bwMode="auto">
            <a:xfrm>
              <a:off x="2822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2"/>
            <p:cNvSpPr>
              <a:spLocks/>
            </p:cNvSpPr>
            <p:nvPr/>
          </p:nvSpPr>
          <p:spPr bwMode="auto">
            <a:xfrm>
              <a:off x="3114" y="2506"/>
              <a:ext cx="353" cy="293"/>
            </a:xfrm>
            <a:custGeom>
              <a:avLst/>
              <a:gdLst>
                <a:gd name="T0" fmla="*/ 0 w 353"/>
                <a:gd name="T1" fmla="*/ 292 h 293"/>
                <a:gd name="T2" fmla="*/ 0 w 353"/>
                <a:gd name="T3" fmla="*/ 0 h 293"/>
                <a:gd name="T4" fmla="*/ 352 w 353"/>
                <a:gd name="T5" fmla="*/ 0 h 293"/>
                <a:gd name="T6" fmla="*/ 352 w 353"/>
                <a:gd name="T7" fmla="*/ 292 h 293"/>
                <a:gd name="T8" fmla="*/ 0 w 353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3"/>
                <a:gd name="T16" fmla="*/ 0 h 293"/>
                <a:gd name="T17" fmla="*/ 353 w 353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3" h="293">
                  <a:moveTo>
                    <a:pt x="0" y="292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3"/>
            <p:cNvSpPr>
              <a:spLocks/>
            </p:cNvSpPr>
            <p:nvPr/>
          </p:nvSpPr>
          <p:spPr bwMode="auto">
            <a:xfrm>
              <a:off x="3172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4"/>
            <p:cNvSpPr>
              <a:spLocks/>
            </p:cNvSpPr>
            <p:nvPr/>
          </p:nvSpPr>
          <p:spPr bwMode="auto">
            <a:xfrm>
              <a:off x="3466" y="2506"/>
              <a:ext cx="59" cy="293"/>
            </a:xfrm>
            <a:custGeom>
              <a:avLst/>
              <a:gdLst>
                <a:gd name="T0" fmla="*/ 0 w 59"/>
                <a:gd name="T1" fmla="*/ 292 h 293"/>
                <a:gd name="T2" fmla="*/ 0 w 59"/>
                <a:gd name="T3" fmla="*/ 0 h 293"/>
                <a:gd name="T4" fmla="*/ 58 w 59"/>
                <a:gd name="T5" fmla="*/ 0 h 293"/>
                <a:gd name="T6" fmla="*/ 58 w 59"/>
                <a:gd name="T7" fmla="*/ 292 h 293"/>
                <a:gd name="T8" fmla="*/ 0 w 59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293"/>
                <a:gd name="T17" fmla="*/ 59 w 59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293">
                  <a:moveTo>
                    <a:pt x="0" y="292"/>
                  </a:moveTo>
                  <a:lnTo>
                    <a:pt x="0" y="0"/>
                  </a:lnTo>
                  <a:lnTo>
                    <a:pt x="58" y="0"/>
                  </a:lnTo>
                  <a:lnTo>
                    <a:pt x="58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5"/>
            <p:cNvSpPr>
              <a:spLocks/>
            </p:cNvSpPr>
            <p:nvPr/>
          </p:nvSpPr>
          <p:spPr bwMode="auto">
            <a:xfrm>
              <a:off x="4431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6"/>
            <p:cNvSpPr>
              <a:spLocks/>
            </p:cNvSpPr>
            <p:nvPr/>
          </p:nvSpPr>
          <p:spPr bwMode="auto">
            <a:xfrm>
              <a:off x="4665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7"/>
            <p:cNvSpPr>
              <a:spLocks/>
            </p:cNvSpPr>
            <p:nvPr/>
          </p:nvSpPr>
          <p:spPr bwMode="auto">
            <a:xfrm>
              <a:off x="4899" y="3410"/>
              <a:ext cx="236" cy="235"/>
            </a:xfrm>
            <a:custGeom>
              <a:avLst/>
              <a:gdLst>
                <a:gd name="T0" fmla="*/ 0 w 236"/>
                <a:gd name="T1" fmla="*/ 234 h 235"/>
                <a:gd name="T2" fmla="*/ 0 w 236"/>
                <a:gd name="T3" fmla="*/ 0 h 235"/>
                <a:gd name="T4" fmla="*/ 235 w 236"/>
                <a:gd name="T5" fmla="*/ 0 h 235"/>
                <a:gd name="T6" fmla="*/ 235 w 236"/>
                <a:gd name="T7" fmla="*/ 234 h 235"/>
                <a:gd name="T8" fmla="*/ 0 w 236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6"/>
                <a:gd name="T16" fmla="*/ 0 h 235"/>
                <a:gd name="T17" fmla="*/ 236 w 236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6" h="235">
                  <a:moveTo>
                    <a:pt x="0" y="234"/>
                  </a:moveTo>
                  <a:lnTo>
                    <a:pt x="0" y="0"/>
                  </a:lnTo>
                  <a:lnTo>
                    <a:pt x="235" y="0"/>
                  </a:lnTo>
                  <a:lnTo>
                    <a:pt x="235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auto">
            <a:xfrm>
              <a:off x="5134" y="3410"/>
              <a:ext cx="234" cy="235"/>
            </a:xfrm>
            <a:custGeom>
              <a:avLst/>
              <a:gdLst>
                <a:gd name="T0" fmla="*/ 0 w 234"/>
                <a:gd name="T1" fmla="*/ 234 h 235"/>
                <a:gd name="T2" fmla="*/ 0 w 234"/>
                <a:gd name="T3" fmla="*/ 0 h 235"/>
                <a:gd name="T4" fmla="*/ 233 w 234"/>
                <a:gd name="T5" fmla="*/ 0 h 235"/>
                <a:gd name="T6" fmla="*/ 233 w 234"/>
                <a:gd name="T7" fmla="*/ 234 h 235"/>
                <a:gd name="T8" fmla="*/ 0 w 234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4"/>
                <a:gd name="T16" fmla="*/ 0 h 235"/>
                <a:gd name="T17" fmla="*/ 234 w 234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4" h="235">
                  <a:moveTo>
                    <a:pt x="0" y="234"/>
                  </a:moveTo>
                  <a:lnTo>
                    <a:pt x="0" y="0"/>
                  </a:lnTo>
                  <a:lnTo>
                    <a:pt x="233" y="0"/>
                  </a:lnTo>
                  <a:lnTo>
                    <a:pt x="233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9"/>
            <p:cNvSpPr>
              <a:spLocks/>
            </p:cNvSpPr>
            <p:nvPr/>
          </p:nvSpPr>
          <p:spPr bwMode="auto">
            <a:xfrm>
              <a:off x="218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20"/>
            <p:cNvSpPr>
              <a:spLocks/>
            </p:cNvSpPr>
            <p:nvPr/>
          </p:nvSpPr>
          <p:spPr bwMode="auto">
            <a:xfrm>
              <a:off x="452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1"/>
            <p:cNvSpPr>
              <a:spLocks/>
            </p:cNvSpPr>
            <p:nvPr/>
          </p:nvSpPr>
          <p:spPr bwMode="auto">
            <a:xfrm>
              <a:off x="686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2"/>
            <p:cNvSpPr>
              <a:spLocks/>
            </p:cNvSpPr>
            <p:nvPr/>
          </p:nvSpPr>
          <p:spPr bwMode="auto">
            <a:xfrm>
              <a:off x="920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3"/>
            <p:cNvSpPr>
              <a:spLocks/>
            </p:cNvSpPr>
            <p:nvPr/>
          </p:nvSpPr>
          <p:spPr bwMode="auto">
            <a:xfrm>
              <a:off x="1271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4"/>
            <p:cNvSpPr>
              <a:spLocks/>
            </p:cNvSpPr>
            <p:nvPr/>
          </p:nvSpPr>
          <p:spPr bwMode="auto">
            <a:xfrm>
              <a:off x="1505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5"/>
            <p:cNvSpPr>
              <a:spLocks/>
            </p:cNvSpPr>
            <p:nvPr/>
          </p:nvSpPr>
          <p:spPr bwMode="auto">
            <a:xfrm>
              <a:off x="1739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6"/>
            <p:cNvSpPr>
              <a:spLocks/>
            </p:cNvSpPr>
            <p:nvPr/>
          </p:nvSpPr>
          <p:spPr bwMode="auto">
            <a:xfrm>
              <a:off x="1973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7"/>
            <p:cNvSpPr>
              <a:spLocks/>
            </p:cNvSpPr>
            <p:nvPr/>
          </p:nvSpPr>
          <p:spPr bwMode="auto">
            <a:xfrm>
              <a:off x="2324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8"/>
            <p:cNvSpPr>
              <a:spLocks/>
            </p:cNvSpPr>
            <p:nvPr/>
          </p:nvSpPr>
          <p:spPr bwMode="auto">
            <a:xfrm>
              <a:off x="2558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9"/>
            <p:cNvSpPr>
              <a:spLocks/>
            </p:cNvSpPr>
            <p:nvPr/>
          </p:nvSpPr>
          <p:spPr bwMode="auto">
            <a:xfrm>
              <a:off x="2792" y="3410"/>
              <a:ext cx="236" cy="235"/>
            </a:xfrm>
            <a:custGeom>
              <a:avLst/>
              <a:gdLst>
                <a:gd name="T0" fmla="*/ 0 w 236"/>
                <a:gd name="T1" fmla="*/ 234 h 235"/>
                <a:gd name="T2" fmla="*/ 0 w 236"/>
                <a:gd name="T3" fmla="*/ 0 h 235"/>
                <a:gd name="T4" fmla="*/ 235 w 236"/>
                <a:gd name="T5" fmla="*/ 0 h 235"/>
                <a:gd name="T6" fmla="*/ 235 w 236"/>
                <a:gd name="T7" fmla="*/ 234 h 235"/>
                <a:gd name="T8" fmla="*/ 0 w 236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6"/>
                <a:gd name="T16" fmla="*/ 0 h 235"/>
                <a:gd name="T17" fmla="*/ 236 w 236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6" h="235">
                  <a:moveTo>
                    <a:pt x="0" y="234"/>
                  </a:moveTo>
                  <a:lnTo>
                    <a:pt x="0" y="0"/>
                  </a:lnTo>
                  <a:lnTo>
                    <a:pt x="235" y="0"/>
                  </a:lnTo>
                  <a:lnTo>
                    <a:pt x="235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0"/>
            <p:cNvSpPr>
              <a:spLocks/>
            </p:cNvSpPr>
            <p:nvPr/>
          </p:nvSpPr>
          <p:spPr bwMode="auto">
            <a:xfrm>
              <a:off x="3027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1"/>
            <p:cNvSpPr>
              <a:spLocks/>
            </p:cNvSpPr>
            <p:nvPr/>
          </p:nvSpPr>
          <p:spPr bwMode="auto">
            <a:xfrm>
              <a:off x="3377" y="3410"/>
              <a:ext cx="236" cy="235"/>
            </a:xfrm>
            <a:custGeom>
              <a:avLst/>
              <a:gdLst>
                <a:gd name="T0" fmla="*/ 0 w 236"/>
                <a:gd name="T1" fmla="*/ 234 h 235"/>
                <a:gd name="T2" fmla="*/ 0 w 236"/>
                <a:gd name="T3" fmla="*/ 0 h 235"/>
                <a:gd name="T4" fmla="*/ 235 w 236"/>
                <a:gd name="T5" fmla="*/ 0 h 235"/>
                <a:gd name="T6" fmla="*/ 235 w 236"/>
                <a:gd name="T7" fmla="*/ 234 h 235"/>
                <a:gd name="T8" fmla="*/ 0 w 236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6"/>
                <a:gd name="T16" fmla="*/ 0 h 235"/>
                <a:gd name="T17" fmla="*/ 236 w 236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6" h="235">
                  <a:moveTo>
                    <a:pt x="0" y="234"/>
                  </a:moveTo>
                  <a:lnTo>
                    <a:pt x="0" y="0"/>
                  </a:lnTo>
                  <a:lnTo>
                    <a:pt x="235" y="0"/>
                  </a:lnTo>
                  <a:lnTo>
                    <a:pt x="235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2"/>
            <p:cNvSpPr>
              <a:spLocks/>
            </p:cNvSpPr>
            <p:nvPr/>
          </p:nvSpPr>
          <p:spPr bwMode="auto">
            <a:xfrm>
              <a:off x="3612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3"/>
            <p:cNvSpPr>
              <a:spLocks/>
            </p:cNvSpPr>
            <p:nvPr/>
          </p:nvSpPr>
          <p:spPr bwMode="auto">
            <a:xfrm>
              <a:off x="3846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4"/>
            <p:cNvSpPr>
              <a:spLocks/>
            </p:cNvSpPr>
            <p:nvPr/>
          </p:nvSpPr>
          <p:spPr bwMode="auto">
            <a:xfrm>
              <a:off x="4080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5"/>
            <p:cNvSpPr>
              <a:spLocks/>
            </p:cNvSpPr>
            <p:nvPr/>
          </p:nvSpPr>
          <p:spPr bwMode="auto">
            <a:xfrm>
              <a:off x="693" y="2761"/>
              <a:ext cx="1398" cy="636"/>
            </a:xfrm>
            <a:custGeom>
              <a:avLst/>
              <a:gdLst>
                <a:gd name="T0" fmla="*/ 1397 w 1398"/>
                <a:gd name="T1" fmla="*/ 0 h 636"/>
                <a:gd name="T2" fmla="*/ 0 w 1398"/>
                <a:gd name="T3" fmla="*/ 635 h 636"/>
                <a:gd name="T4" fmla="*/ 1397 w 1398"/>
                <a:gd name="T5" fmla="*/ 0 h 636"/>
                <a:gd name="T6" fmla="*/ 0 60000 65536"/>
                <a:gd name="T7" fmla="*/ 0 60000 65536"/>
                <a:gd name="T8" fmla="*/ 0 60000 65536"/>
                <a:gd name="T9" fmla="*/ 0 w 1398"/>
                <a:gd name="T10" fmla="*/ 0 h 636"/>
                <a:gd name="T11" fmla="*/ 1398 w 1398"/>
                <a:gd name="T12" fmla="*/ 636 h 6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8" h="636">
                  <a:moveTo>
                    <a:pt x="1397" y="0"/>
                  </a:moveTo>
                  <a:lnTo>
                    <a:pt x="0" y="635"/>
                  </a:lnTo>
                  <a:lnTo>
                    <a:pt x="1397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6"/>
            <p:cNvSpPr>
              <a:spLocks/>
            </p:cNvSpPr>
            <p:nvPr/>
          </p:nvSpPr>
          <p:spPr bwMode="auto">
            <a:xfrm>
              <a:off x="693" y="3349"/>
              <a:ext cx="75" cy="48"/>
            </a:xfrm>
            <a:custGeom>
              <a:avLst/>
              <a:gdLst>
                <a:gd name="T0" fmla="*/ 74 w 75"/>
                <a:gd name="T1" fmla="*/ 33 h 48"/>
                <a:gd name="T2" fmla="*/ 0 w 75"/>
                <a:gd name="T3" fmla="*/ 47 h 48"/>
                <a:gd name="T4" fmla="*/ 59 w 75"/>
                <a:gd name="T5" fmla="*/ 0 h 48"/>
                <a:gd name="T6" fmla="*/ 74 w 75"/>
                <a:gd name="T7" fmla="*/ 33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48"/>
                <a:gd name="T14" fmla="*/ 75 w 75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48">
                  <a:moveTo>
                    <a:pt x="74" y="33"/>
                  </a:moveTo>
                  <a:lnTo>
                    <a:pt x="0" y="47"/>
                  </a:lnTo>
                  <a:lnTo>
                    <a:pt x="59" y="0"/>
                  </a:lnTo>
                  <a:lnTo>
                    <a:pt x="74" y="33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7"/>
            <p:cNvSpPr>
              <a:spLocks/>
            </p:cNvSpPr>
            <p:nvPr/>
          </p:nvSpPr>
          <p:spPr bwMode="auto">
            <a:xfrm>
              <a:off x="1739" y="2769"/>
              <a:ext cx="696" cy="628"/>
            </a:xfrm>
            <a:custGeom>
              <a:avLst/>
              <a:gdLst>
                <a:gd name="T0" fmla="*/ 695 w 696"/>
                <a:gd name="T1" fmla="*/ 0 h 628"/>
                <a:gd name="T2" fmla="*/ 0 w 696"/>
                <a:gd name="T3" fmla="*/ 627 h 628"/>
                <a:gd name="T4" fmla="*/ 695 w 696"/>
                <a:gd name="T5" fmla="*/ 0 h 628"/>
                <a:gd name="T6" fmla="*/ 0 60000 65536"/>
                <a:gd name="T7" fmla="*/ 0 60000 65536"/>
                <a:gd name="T8" fmla="*/ 0 60000 65536"/>
                <a:gd name="T9" fmla="*/ 0 w 696"/>
                <a:gd name="T10" fmla="*/ 0 h 628"/>
                <a:gd name="T11" fmla="*/ 696 w 696"/>
                <a:gd name="T12" fmla="*/ 628 h 6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6" h="628">
                  <a:moveTo>
                    <a:pt x="695" y="0"/>
                  </a:moveTo>
                  <a:lnTo>
                    <a:pt x="0" y="627"/>
                  </a:lnTo>
                  <a:lnTo>
                    <a:pt x="695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8"/>
            <p:cNvSpPr>
              <a:spLocks/>
            </p:cNvSpPr>
            <p:nvPr/>
          </p:nvSpPr>
          <p:spPr bwMode="auto">
            <a:xfrm>
              <a:off x="1739" y="3333"/>
              <a:ext cx="68" cy="64"/>
            </a:xfrm>
            <a:custGeom>
              <a:avLst/>
              <a:gdLst>
                <a:gd name="T0" fmla="*/ 67 w 68"/>
                <a:gd name="T1" fmla="*/ 27 h 64"/>
                <a:gd name="T2" fmla="*/ 0 w 68"/>
                <a:gd name="T3" fmla="*/ 63 h 64"/>
                <a:gd name="T4" fmla="*/ 42 w 68"/>
                <a:gd name="T5" fmla="*/ 0 h 64"/>
                <a:gd name="T6" fmla="*/ 67 w 68"/>
                <a:gd name="T7" fmla="*/ 27 h 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64"/>
                <a:gd name="T14" fmla="*/ 68 w 68"/>
                <a:gd name="T15" fmla="*/ 64 h 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64">
                  <a:moveTo>
                    <a:pt x="67" y="27"/>
                  </a:moveTo>
                  <a:lnTo>
                    <a:pt x="0" y="63"/>
                  </a:lnTo>
                  <a:lnTo>
                    <a:pt x="42" y="0"/>
                  </a:lnTo>
                  <a:lnTo>
                    <a:pt x="67" y="27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9"/>
            <p:cNvSpPr>
              <a:spLocks/>
            </p:cNvSpPr>
            <p:nvPr/>
          </p:nvSpPr>
          <p:spPr bwMode="auto">
            <a:xfrm>
              <a:off x="2785" y="2769"/>
              <a:ext cx="1" cy="621"/>
            </a:xfrm>
            <a:custGeom>
              <a:avLst/>
              <a:gdLst>
                <a:gd name="T0" fmla="*/ 0 w 1"/>
                <a:gd name="T1" fmla="*/ 0 h 621"/>
                <a:gd name="T2" fmla="*/ 0 w 1"/>
                <a:gd name="T3" fmla="*/ 620 h 621"/>
                <a:gd name="T4" fmla="*/ 0 w 1"/>
                <a:gd name="T5" fmla="*/ 0 h 621"/>
                <a:gd name="T6" fmla="*/ 0 60000 65536"/>
                <a:gd name="T7" fmla="*/ 0 60000 65536"/>
                <a:gd name="T8" fmla="*/ 0 60000 65536"/>
                <a:gd name="T9" fmla="*/ 0 w 1"/>
                <a:gd name="T10" fmla="*/ 0 h 621"/>
                <a:gd name="T11" fmla="*/ 1 w 1"/>
                <a:gd name="T12" fmla="*/ 621 h 6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21">
                  <a:moveTo>
                    <a:pt x="0" y="0"/>
                  </a:moveTo>
                  <a:lnTo>
                    <a:pt x="0" y="620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40"/>
            <p:cNvSpPr>
              <a:spLocks/>
            </p:cNvSpPr>
            <p:nvPr/>
          </p:nvSpPr>
          <p:spPr bwMode="auto">
            <a:xfrm>
              <a:off x="2766" y="3315"/>
              <a:ext cx="38" cy="75"/>
            </a:xfrm>
            <a:custGeom>
              <a:avLst/>
              <a:gdLst>
                <a:gd name="T0" fmla="*/ 37 w 38"/>
                <a:gd name="T1" fmla="*/ 0 h 75"/>
                <a:gd name="T2" fmla="*/ 19 w 38"/>
                <a:gd name="T3" fmla="*/ 74 h 75"/>
                <a:gd name="T4" fmla="*/ 0 w 38"/>
                <a:gd name="T5" fmla="*/ 0 h 75"/>
                <a:gd name="T6" fmla="*/ 37 w 38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"/>
                <a:gd name="T13" fmla="*/ 0 h 75"/>
                <a:gd name="T14" fmla="*/ 38 w 38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" h="75">
                  <a:moveTo>
                    <a:pt x="37" y="0"/>
                  </a:moveTo>
                  <a:lnTo>
                    <a:pt x="19" y="74"/>
                  </a:lnTo>
                  <a:lnTo>
                    <a:pt x="0" y="0"/>
                  </a:lnTo>
                  <a:lnTo>
                    <a:pt x="37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41"/>
            <p:cNvSpPr>
              <a:spLocks/>
            </p:cNvSpPr>
            <p:nvPr/>
          </p:nvSpPr>
          <p:spPr bwMode="auto">
            <a:xfrm>
              <a:off x="3143" y="2761"/>
              <a:ext cx="689" cy="629"/>
            </a:xfrm>
            <a:custGeom>
              <a:avLst/>
              <a:gdLst>
                <a:gd name="T0" fmla="*/ 0 w 689"/>
                <a:gd name="T1" fmla="*/ 0 h 629"/>
                <a:gd name="T2" fmla="*/ 688 w 689"/>
                <a:gd name="T3" fmla="*/ 628 h 629"/>
                <a:gd name="T4" fmla="*/ 0 w 689"/>
                <a:gd name="T5" fmla="*/ 0 h 629"/>
                <a:gd name="T6" fmla="*/ 0 60000 65536"/>
                <a:gd name="T7" fmla="*/ 0 60000 65536"/>
                <a:gd name="T8" fmla="*/ 0 60000 65536"/>
                <a:gd name="T9" fmla="*/ 0 w 689"/>
                <a:gd name="T10" fmla="*/ 0 h 629"/>
                <a:gd name="T11" fmla="*/ 689 w 689"/>
                <a:gd name="T12" fmla="*/ 629 h 6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9" h="629">
                  <a:moveTo>
                    <a:pt x="0" y="0"/>
                  </a:moveTo>
                  <a:lnTo>
                    <a:pt x="688" y="628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2"/>
            <p:cNvSpPr>
              <a:spLocks/>
            </p:cNvSpPr>
            <p:nvPr/>
          </p:nvSpPr>
          <p:spPr bwMode="auto">
            <a:xfrm>
              <a:off x="3765" y="3326"/>
              <a:ext cx="67" cy="64"/>
            </a:xfrm>
            <a:custGeom>
              <a:avLst/>
              <a:gdLst>
                <a:gd name="T0" fmla="*/ 25 w 67"/>
                <a:gd name="T1" fmla="*/ 0 h 64"/>
                <a:gd name="T2" fmla="*/ 66 w 67"/>
                <a:gd name="T3" fmla="*/ 63 h 64"/>
                <a:gd name="T4" fmla="*/ 0 w 67"/>
                <a:gd name="T5" fmla="*/ 27 h 64"/>
                <a:gd name="T6" fmla="*/ 25 w 67"/>
                <a:gd name="T7" fmla="*/ 0 h 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64"/>
                <a:gd name="T14" fmla="*/ 67 w 67"/>
                <a:gd name="T15" fmla="*/ 64 h 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64">
                  <a:moveTo>
                    <a:pt x="25" y="0"/>
                  </a:moveTo>
                  <a:lnTo>
                    <a:pt x="66" y="63"/>
                  </a:lnTo>
                  <a:lnTo>
                    <a:pt x="0" y="27"/>
                  </a:lnTo>
                  <a:lnTo>
                    <a:pt x="25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3"/>
            <p:cNvSpPr>
              <a:spLocks/>
            </p:cNvSpPr>
            <p:nvPr/>
          </p:nvSpPr>
          <p:spPr bwMode="auto">
            <a:xfrm>
              <a:off x="3495" y="2753"/>
              <a:ext cx="1398" cy="637"/>
            </a:xfrm>
            <a:custGeom>
              <a:avLst/>
              <a:gdLst>
                <a:gd name="T0" fmla="*/ 0 w 1398"/>
                <a:gd name="T1" fmla="*/ 0 h 637"/>
                <a:gd name="T2" fmla="*/ 1397 w 1398"/>
                <a:gd name="T3" fmla="*/ 636 h 637"/>
                <a:gd name="T4" fmla="*/ 0 w 1398"/>
                <a:gd name="T5" fmla="*/ 0 h 637"/>
                <a:gd name="T6" fmla="*/ 0 60000 65536"/>
                <a:gd name="T7" fmla="*/ 0 60000 65536"/>
                <a:gd name="T8" fmla="*/ 0 60000 65536"/>
                <a:gd name="T9" fmla="*/ 0 w 1398"/>
                <a:gd name="T10" fmla="*/ 0 h 637"/>
                <a:gd name="T11" fmla="*/ 1398 w 1398"/>
                <a:gd name="T12" fmla="*/ 637 h 6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8" h="637">
                  <a:moveTo>
                    <a:pt x="0" y="0"/>
                  </a:moveTo>
                  <a:lnTo>
                    <a:pt x="1397" y="636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4"/>
            <p:cNvSpPr>
              <a:spLocks/>
            </p:cNvSpPr>
            <p:nvPr/>
          </p:nvSpPr>
          <p:spPr bwMode="auto">
            <a:xfrm>
              <a:off x="4818" y="3341"/>
              <a:ext cx="75" cy="49"/>
            </a:xfrm>
            <a:custGeom>
              <a:avLst/>
              <a:gdLst>
                <a:gd name="T0" fmla="*/ 15 w 75"/>
                <a:gd name="T1" fmla="*/ 0 h 49"/>
                <a:gd name="T2" fmla="*/ 74 w 75"/>
                <a:gd name="T3" fmla="*/ 48 h 49"/>
                <a:gd name="T4" fmla="*/ 0 w 75"/>
                <a:gd name="T5" fmla="*/ 34 h 49"/>
                <a:gd name="T6" fmla="*/ 15 w 75"/>
                <a:gd name="T7" fmla="*/ 0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49"/>
                <a:gd name="T14" fmla="*/ 75 w 75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49">
                  <a:moveTo>
                    <a:pt x="15" y="0"/>
                  </a:moveTo>
                  <a:lnTo>
                    <a:pt x="74" y="48"/>
                  </a:lnTo>
                  <a:lnTo>
                    <a:pt x="0" y="34"/>
                  </a:lnTo>
                  <a:lnTo>
                    <a:pt x="15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Rectangle 45"/>
            <p:cNvSpPr>
              <a:spLocks noChangeArrowheads="1"/>
            </p:cNvSpPr>
            <p:nvPr/>
          </p:nvSpPr>
          <p:spPr bwMode="auto">
            <a:xfrm>
              <a:off x="1762" y="2207"/>
              <a:ext cx="37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400" u="none">
                  <a:solidFill>
                    <a:srgbClr val="000000"/>
                  </a:solidFill>
                  <a:latin typeface="Arial" pitchFamily="34" charset="0"/>
                </a:rPr>
                <a:t>Root</a:t>
              </a:r>
            </a:p>
          </p:txBody>
        </p:sp>
        <p:sp>
          <p:nvSpPr>
            <p:cNvPr id="45" name="Rectangle 46"/>
            <p:cNvSpPr>
              <a:spLocks noChangeArrowheads="1"/>
            </p:cNvSpPr>
            <p:nvPr/>
          </p:nvSpPr>
          <p:spPr bwMode="auto">
            <a:xfrm>
              <a:off x="2493" y="2551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17</a:t>
              </a:r>
            </a:p>
          </p:txBody>
        </p:sp>
        <p:sp>
          <p:nvSpPr>
            <p:cNvPr id="46" name="Rectangle 47"/>
            <p:cNvSpPr>
              <a:spLocks noChangeArrowheads="1"/>
            </p:cNvSpPr>
            <p:nvPr/>
          </p:nvSpPr>
          <p:spPr bwMode="auto">
            <a:xfrm>
              <a:off x="2844" y="2550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24</a:t>
              </a:r>
            </a:p>
          </p:txBody>
        </p:sp>
        <p:sp>
          <p:nvSpPr>
            <p:cNvPr id="47" name="Rectangle 48"/>
            <p:cNvSpPr>
              <a:spLocks noChangeArrowheads="1"/>
            </p:cNvSpPr>
            <p:nvPr/>
          </p:nvSpPr>
          <p:spPr bwMode="auto">
            <a:xfrm>
              <a:off x="3203" y="2543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30</a:t>
              </a:r>
            </a:p>
          </p:txBody>
        </p:sp>
        <p:sp>
          <p:nvSpPr>
            <p:cNvPr id="48" name="Rectangle 49"/>
            <p:cNvSpPr>
              <a:spLocks noChangeArrowheads="1"/>
            </p:cNvSpPr>
            <p:nvPr/>
          </p:nvSpPr>
          <p:spPr bwMode="auto">
            <a:xfrm>
              <a:off x="218" y="3419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2*</a:t>
              </a:r>
            </a:p>
          </p:txBody>
        </p:sp>
        <p:sp>
          <p:nvSpPr>
            <p:cNvPr id="49" name="Rectangle 50"/>
            <p:cNvSpPr>
              <a:spLocks noChangeArrowheads="1"/>
            </p:cNvSpPr>
            <p:nvPr/>
          </p:nvSpPr>
          <p:spPr bwMode="auto">
            <a:xfrm>
              <a:off x="458" y="3412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3*</a:t>
              </a:r>
            </a:p>
          </p:txBody>
        </p:sp>
        <p:sp>
          <p:nvSpPr>
            <p:cNvPr id="50" name="Rectangle 51"/>
            <p:cNvSpPr>
              <a:spLocks noChangeArrowheads="1"/>
            </p:cNvSpPr>
            <p:nvPr/>
          </p:nvSpPr>
          <p:spPr bwMode="auto">
            <a:xfrm>
              <a:off x="693" y="3412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5*</a:t>
              </a:r>
            </a:p>
          </p:txBody>
        </p:sp>
        <p:sp>
          <p:nvSpPr>
            <p:cNvPr id="51" name="Rectangle 52"/>
            <p:cNvSpPr>
              <a:spLocks noChangeArrowheads="1"/>
            </p:cNvSpPr>
            <p:nvPr/>
          </p:nvSpPr>
          <p:spPr bwMode="auto">
            <a:xfrm>
              <a:off x="927" y="3419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7*</a:t>
              </a:r>
            </a:p>
          </p:txBody>
        </p:sp>
        <p:sp>
          <p:nvSpPr>
            <p:cNvPr id="52" name="Rectangle 53"/>
            <p:cNvSpPr>
              <a:spLocks noChangeArrowheads="1"/>
            </p:cNvSpPr>
            <p:nvPr/>
          </p:nvSpPr>
          <p:spPr bwMode="auto">
            <a:xfrm>
              <a:off x="1264" y="3419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14*</a:t>
              </a:r>
            </a:p>
          </p:txBody>
        </p:sp>
        <p:sp>
          <p:nvSpPr>
            <p:cNvPr id="53" name="Rectangle 54"/>
            <p:cNvSpPr>
              <a:spLocks noChangeArrowheads="1"/>
            </p:cNvSpPr>
            <p:nvPr/>
          </p:nvSpPr>
          <p:spPr bwMode="auto">
            <a:xfrm>
              <a:off x="1491" y="3419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16*</a:t>
              </a:r>
            </a:p>
          </p:txBody>
        </p:sp>
        <p:sp>
          <p:nvSpPr>
            <p:cNvPr id="54" name="Rectangle 55"/>
            <p:cNvSpPr>
              <a:spLocks noChangeArrowheads="1"/>
            </p:cNvSpPr>
            <p:nvPr/>
          </p:nvSpPr>
          <p:spPr bwMode="auto">
            <a:xfrm>
              <a:off x="2332" y="3412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19*</a:t>
              </a:r>
            </a:p>
          </p:txBody>
        </p:sp>
        <p:sp>
          <p:nvSpPr>
            <p:cNvPr id="55" name="Rectangle 56"/>
            <p:cNvSpPr>
              <a:spLocks noChangeArrowheads="1"/>
            </p:cNvSpPr>
            <p:nvPr/>
          </p:nvSpPr>
          <p:spPr bwMode="auto">
            <a:xfrm>
              <a:off x="2551" y="3412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20*</a:t>
              </a:r>
            </a:p>
          </p:txBody>
        </p:sp>
        <p:sp>
          <p:nvSpPr>
            <p:cNvPr id="56" name="Rectangle 57"/>
            <p:cNvSpPr>
              <a:spLocks noChangeArrowheads="1"/>
            </p:cNvSpPr>
            <p:nvPr/>
          </p:nvSpPr>
          <p:spPr bwMode="auto">
            <a:xfrm>
              <a:off x="2779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22*</a:t>
              </a:r>
            </a:p>
          </p:txBody>
        </p:sp>
        <p:sp>
          <p:nvSpPr>
            <p:cNvPr id="57" name="Rectangle 58"/>
            <p:cNvSpPr>
              <a:spLocks noChangeArrowheads="1"/>
            </p:cNvSpPr>
            <p:nvPr/>
          </p:nvSpPr>
          <p:spPr bwMode="auto">
            <a:xfrm>
              <a:off x="3363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24*</a:t>
              </a:r>
            </a:p>
          </p:txBody>
        </p:sp>
        <p:sp>
          <p:nvSpPr>
            <p:cNvPr id="58" name="Rectangle 59"/>
            <p:cNvSpPr>
              <a:spLocks noChangeArrowheads="1"/>
            </p:cNvSpPr>
            <p:nvPr/>
          </p:nvSpPr>
          <p:spPr bwMode="auto">
            <a:xfrm>
              <a:off x="3605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27*</a:t>
              </a:r>
            </a:p>
          </p:txBody>
        </p:sp>
        <p:sp>
          <p:nvSpPr>
            <p:cNvPr id="59" name="Rectangle 60"/>
            <p:cNvSpPr>
              <a:spLocks noChangeArrowheads="1"/>
            </p:cNvSpPr>
            <p:nvPr/>
          </p:nvSpPr>
          <p:spPr bwMode="auto">
            <a:xfrm>
              <a:off x="3824" y="3418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29*</a:t>
              </a:r>
            </a:p>
          </p:txBody>
        </p:sp>
        <p:sp>
          <p:nvSpPr>
            <p:cNvPr id="60" name="Rectangle 61"/>
            <p:cNvSpPr>
              <a:spLocks noChangeArrowheads="1"/>
            </p:cNvSpPr>
            <p:nvPr/>
          </p:nvSpPr>
          <p:spPr bwMode="auto">
            <a:xfrm>
              <a:off x="4417" y="3418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33*</a:t>
              </a:r>
            </a:p>
          </p:txBody>
        </p:sp>
        <p:sp>
          <p:nvSpPr>
            <p:cNvPr id="61" name="Rectangle 62"/>
            <p:cNvSpPr>
              <a:spLocks noChangeArrowheads="1"/>
            </p:cNvSpPr>
            <p:nvPr/>
          </p:nvSpPr>
          <p:spPr bwMode="auto">
            <a:xfrm>
              <a:off x="4652" y="3418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34*</a:t>
              </a:r>
            </a:p>
          </p:txBody>
        </p:sp>
        <p:sp>
          <p:nvSpPr>
            <p:cNvPr id="62" name="Rectangle 63"/>
            <p:cNvSpPr>
              <a:spLocks noChangeArrowheads="1"/>
            </p:cNvSpPr>
            <p:nvPr/>
          </p:nvSpPr>
          <p:spPr bwMode="auto">
            <a:xfrm>
              <a:off x="4878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38*</a:t>
              </a:r>
            </a:p>
          </p:txBody>
        </p:sp>
        <p:sp>
          <p:nvSpPr>
            <p:cNvPr id="63" name="Rectangle 64"/>
            <p:cNvSpPr>
              <a:spLocks noChangeArrowheads="1"/>
            </p:cNvSpPr>
            <p:nvPr/>
          </p:nvSpPr>
          <p:spPr bwMode="auto">
            <a:xfrm>
              <a:off x="5112" y="3404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39*</a:t>
              </a:r>
            </a:p>
          </p:txBody>
        </p:sp>
        <p:sp>
          <p:nvSpPr>
            <p:cNvPr id="64" name="Rectangle 65"/>
            <p:cNvSpPr>
              <a:spLocks noChangeArrowheads="1"/>
            </p:cNvSpPr>
            <p:nvPr/>
          </p:nvSpPr>
          <p:spPr bwMode="auto">
            <a:xfrm>
              <a:off x="2157" y="2551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13</a:t>
              </a:r>
            </a:p>
          </p:txBody>
        </p:sp>
        <p:sp>
          <p:nvSpPr>
            <p:cNvPr id="65" name="Line 66"/>
            <p:cNvSpPr>
              <a:spLocks noChangeShapeType="1"/>
            </p:cNvSpPr>
            <p:nvPr/>
          </p:nvSpPr>
          <p:spPr bwMode="auto">
            <a:xfrm>
              <a:off x="2304" y="2208"/>
              <a:ext cx="24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Arc 67"/>
            <p:cNvSpPr>
              <a:spLocks/>
            </p:cNvSpPr>
            <p:nvPr/>
          </p:nvSpPr>
          <p:spPr bwMode="auto">
            <a:xfrm rot="-2580000">
              <a:off x="2160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Arc 68"/>
            <p:cNvSpPr>
              <a:spLocks/>
            </p:cNvSpPr>
            <p:nvPr/>
          </p:nvSpPr>
          <p:spPr bwMode="auto">
            <a:xfrm rot="-2580000">
              <a:off x="1056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Arc 69"/>
            <p:cNvSpPr>
              <a:spLocks/>
            </p:cNvSpPr>
            <p:nvPr/>
          </p:nvSpPr>
          <p:spPr bwMode="auto">
            <a:xfrm rot="-2580000">
              <a:off x="3168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Arc 70"/>
            <p:cNvSpPr>
              <a:spLocks/>
            </p:cNvSpPr>
            <p:nvPr/>
          </p:nvSpPr>
          <p:spPr bwMode="auto">
            <a:xfrm rot="-2580000">
              <a:off x="4224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3" name="Straight Arrow Connector 2"/>
          <p:cNvCxnSpPr>
            <a:stCxn id="34" idx="0"/>
            <a:endCxn id="35" idx="1"/>
          </p:cNvCxnSpPr>
          <p:nvPr/>
        </p:nvCxnSpPr>
        <p:spPr>
          <a:xfrm flipH="1">
            <a:off x="1254124" y="3013075"/>
            <a:ext cx="2217738" cy="100806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reeform 6"/>
          <p:cNvSpPr>
            <a:spLocks/>
          </p:cNvSpPr>
          <p:nvPr/>
        </p:nvSpPr>
        <p:spPr bwMode="auto">
          <a:xfrm>
            <a:off x="1093786" y="6008688"/>
            <a:ext cx="360363" cy="360362"/>
          </a:xfrm>
          <a:custGeom>
            <a:avLst/>
            <a:gdLst>
              <a:gd name="T0" fmla="*/ 0 w 227"/>
              <a:gd name="T1" fmla="*/ 226 h 227"/>
              <a:gd name="T2" fmla="*/ 0 w 227"/>
              <a:gd name="T3" fmla="*/ 0 h 227"/>
              <a:gd name="T4" fmla="*/ 226 w 227"/>
              <a:gd name="T5" fmla="*/ 0 h 227"/>
              <a:gd name="T6" fmla="*/ 226 w 227"/>
              <a:gd name="T7" fmla="*/ 226 h 227"/>
              <a:gd name="T8" fmla="*/ 0 w 227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Freeform 7"/>
          <p:cNvSpPr>
            <a:spLocks/>
          </p:cNvSpPr>
          <p:nvPr/>
        </p:nvSpPr>
        <p:spPr bwMode="auto">
          <a:xfrm>
            <a:off x="1452561" y="6008688"/>
            <a:ext cx="361950" cy="360362"/>
          </a:xfrm>
          <a:custGeom>
            <a:avLst/>
            <a:gdLst>
              <a:gd name="T0" fmla="*/ 0 w 228"/>
              <a:gd name="T1" fmla="*/ 226 h 227"/>
              <a:gd name="T2" fmla="*/ 0 w 228"/>
              <a:gd name="T3" fmla="*/ 0 h 227"/>
              <a:gd name="T4" fmla="*/ 227 w 228"/>
              <a:gd name="T5" fmla="*/ 0 h 227"/>
              <a:gd name="T6" fmla="*/ 227 w 228"/>
              <a:gd name="T7" fmla="*/ 226 h 227"/>
              <a:gd name="T8" fmla="*/ 0 w 228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8" h="227">
                <a:moveTo>
                  <a:pt x="0" y="226"/>
                </a:moveTo>
                <a:lnTo>
                  <a:pt x="0" y="0"/>
                </a:lnTo>
                <a:lnTo>
                  <a:pt x="227" y="0"/>
                </a:lnTo>
                <a:lnTo>
                  <a:pt x="227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Freeform 8"/>
          <p:cNvSpPr>
            <a:spLocks/>
          </p:cNvSpPr>
          <p:nvPr/>
        </p:nvSpPr>
        <p:spPr bwMode="auto">
          <a:xfrm>
            <a:off x="1812924" y="6008688"/>
            <a:ext cx="360362" cy="360362"/>
          </a:xfrm>
          <a:custGeom>
            <a:avLst/>
            <a:gdLst>
              <a:gd name="T0" fmla="*/ 0 w 227"/>
              <a:gd name="T1" fmla="*/ 226 h 227"/>
              <a:gd name="T2" fmla="*/ 0 w 227"/>
              <a:gd name="T3" fmla="*/ 0 h 227"/>
              <a:gd name="T4" fmla="*/ 226 w 227"/>
              <a:gd name="T5" fmla="*/ 0 h 227"/>
              <a:gd name="T6" fmla="*/ 226 w 227"/>
              <a:gd name="T7" fmla="*/ 226 h 227"/>
              <a:gd name="T8" fmla="*/ 0 w 227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" name="Freeform 9"/>
          <p:cNvSpPr>
            <a:spLocks/>
          </p:cNvSpPr>
          <p:nvPr/>
        </p:nvSpPr>
        <p:spPr bwMode="auto">
          <a:xfrm>
            <a:off x="2171699" y="6008688"/>
            <a:ext cx="360362" cy="360362"/>
          </a:xfrm>
          <a:custGeom>
            <a:avLst/>
            <a:gdLst>
              <a:gd name="T0" fmla="*/ 0 w 227"/>
              <a:gd name="T1" fmla="*/ 226 h 227"/>
              <a:gd name="T2" fmla="*/ 0 w 227"/>
              <a:gd name="T3" fmla="*/ 0 h 227"/>
              <a:gd name="T4" fmla="*/ 226 w 227"/>
              <a:gd name="T5" fmla="*/ 0 h 227"/>
              <a:gd name="T6" fmla="*/ 226 w 227"/>
              <a:gd name="T7" fmla="*/ 226 h 227"/>
              <a:gd name="T8" fmla="*/ 0 w 227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" name="Freeform 10"/>
          <p:cNvSpPr>
            <a:spLocks/>
          </p:cNvSpPr>
          <p:nvPr/>
        </p:nvSpPr>
        <p:spPr bwMode="auto">
          <a:xfrm>
            <a:off x="2901949" y="6019800"/>
            <a:ext cx="360362" cy="360363"/>
          </a:xfrm>
          <a:custGeom>
            <a:avLst/>
            <a:gdLst>
              <a:gd name="T0" fmla="*/ 0 w 227"/>
              <a:gd name="T1" fmla="*/ 226 h 227"/>
              <a:gd name="T2" fmla="*/ 0 w 227"/>
              <a:gd name="T3" fmla="*/ 0 h 227"/>
              <a:gd name="T4" fmla="*/ 226 w 227"/>
              <a:gd name="T5" fmla="*/ 0 h 227"/>
              <a:gd name="T6" fmla="*/ 226 w 227"/>
              <a:gd name="T7" fmla="*/ 226 h 227"/>
              <a:gd name="T8" fmla="*/ 0 w 227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" name="Freeform 11"/>
          <p:cNvSpPr>
            <a:spLocks/>
          </p:cNvSpPr>
          <p:nvPr/>
        </p:nvSpPr>
        <p:spPr bwMode="auto">
          <a:xfrm>
            <a:off x="3260724" y="6019800"/>
            <a:ext cx="361950" cy="360363"/>
          </a:xfrm>
          <a:custGeom>
            <a:avLst/>
            <a:gdLst>
              <a:gd name="T0" fmla="*/ 0 w 228"/>
              <a:gd name="T1" fmla="*/ 226 h 227"/>
              <a:gd name="T2" fmla="*/ 0 w 228"/>
              <a:gd name="T3" fmla="*/ 0 h 227"/>
              <a:gd name="T4" fmla="*/ 227 w 228"/>
              <a:gd name="T5" fmla="*/ 0 h 227"/>
              <a:gd name="T6" fmla="*/ 227 w 228"/>
              <a:gd name="T7" fmla="*/ 226 h 227"/>
              <a:gd name="T8" fmla="*/ 0 w 228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8" h="227">
                <a:moveTo>
                  <a:pt x="0" y="226"/>
                </a:moveTo>
                <a:lnTo>
                  <a:pt x="0" y="0"/>
                </a:lnTo>
                <a:lnTo>
                  <a:pt x="227" y="0"/>
                </a:lnTo>
                <a:lnTo>
                  <a:pt x="227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" name="Freeform 12"/>
          <p:cNvSpPr>
            <a:spLocks/>
          </p:cNvSpPr>
          <p:nvPr/>
        </p:nvSpPr>
        <p:spPr bwMode="auto">
          <a:xfrm>
            <a:off x="3621086" y="6019800"/>
            <a:ext cx="360363" cy="360363"/>
          </a:xfrm>
          <a:custGeom>
            <a:avLst/>
            <a:gdLst>
              <a:gd name="T0" fmla="*/ 0 w 227"/>
              <a:gd name="T1" fmla="*/ 226 h 227"/>
              <a:gd name="T2" fmla="*/ 0 w 227"/>
              <a:gd name="T3" fmla="*/ 0 h 227"/>
              <a:gd name="T4" fmla="*/ 226 w 227"/>
              <a:gd name="T5" fmla="*/ 0 h 227"/>
              <a:gd name="T6" fmla="*/ 226 w 227"/>
              <a:gd name="T7" fmla="*/ 226 h 227"/>
              <a:gd name="T8" fmla="*/ 0 w 227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" name="Freeform 13"/>
          <p:cNvSpPr>
            <a:spLocks/>
          </p:cNvSpPr>
          <p:nvPr/>
        </p:nvSpPr>
        <p:spPr bwMode="auto">
          <a:xfrm>
            <a:off x="3979861" y="6019800"/>
            <a:ext cx="360363" cy="360363"/>
          </a:xfrm>
          <a:custGeom>
            <a:avLst/>
            <a:gdLst>
              <a:gd name="T0" fmla="*/ 0 w 227"/>
              <a:gd name="T1" fmla="*/ 226 h 227"/>
              <a:gd name="T2" fmla="*/ 0 w 227"/>
              <a:gd name="T3" fmla="*/ 0 h 227"/>
              <a:gd name="T4" fmla="*/ 226 w 227"/>
              <a:gd name="T5" fmla="*/ 0 h 227"/>
              <a:gd name="T6" fmla="*/ 226 w 227"/>
              <a:gd name="T7" fmla="*/ 226 h 227"/>
              <a:gd name="T8" fmla="*/ 0 w 227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" name="Freeform 14"/>
          <p:cNvSpPr>
            <a:spLocks/>
          </p:cNvSpPr>
          <p:nvPr/>
        </p:nvSpPr>
        <p:spPr bwMode="auto">
          <a:xfrm>
            <a:off x="1812924" y="5038725"/>
            <a:ext cx="506412" cy="928688"/>
          </a:xfrm>
          <a:custGeom>
            <a:avLst/>
            <a:gdLst>
              <a:gd name="T0" fmla="*/ 318 w 319"/>
              <a:gd name="T1" fmla="*/ 0 h 585"/>
              <a:gd name="T2" fmla="*/ 0 w 319"/>
              <a:gd name="T3" fmla="*/ 584 h 585"/>
              <a:gd name="T4" fmla="*/ 318 w 319"/>
              <a:gd name="T5" fmla="*/ 0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19" h="585">
                <a:moveTo>
                  <a:pt x="318" y="0"/>
                </a:moveTo>
                <a:lnTo>
                  <a:pt x="0" y="584"/>
                </a:lnTo>
                <a:lnTo>
                  <a:pt x="318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" name="Freeform 15"/>
          <p:cNvSpPr>
            <a:spLocks/>
          </p:cNvSpPr>
          <p:nvPr/>
        </p:nvSpPr>
        <p:spPr bwMode="auto">
          <a:xfrm>
            <a:off x="1812924" y="5853113"/>
            <a:ext cx="79375" cy="114300"/>
          </a:xfrm>
          <a:custGeom>
            <a:avLst/>
            <a:gdLst>
              <a:gd name="T0" fmla="*/ 49 w 50"/>
              <a:gd name="T1" fmla="*/ 17 h 72"/>
              <a:gd name="T2" fmla="*/ 0 w 50"/>
              <a:gd name="T3" fmla="*/ 71 h 72"/>
              <a:gd name="T4" fmla="*/ 17 w 50"/>
              <a:gd name="T5" fmla="*/ 0 h 72"/>
              <a:gd name="T6" fmla="*/ 49 w 50"/>
              <a:gd name="T7" fmla="*/ 17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0" h="72">
                <a:moveTo>
                  <a:pt x="49" y="17"/>
                </a:moveTo>
                <a:lnTo>
                  <a:pt x="0" y="71"/>
                </a:lnTo>
                <a:lnTo>
                  <a:pt x="17" y="0"/>
                </a:lnTo>
                <a:lnTo>
                  <a:pt x="49" y="1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" name="Freeform 16"/>
          <p:cNvSpPr>
            <a:spLocks/>
          </p:cNvSpPr>
          <p:nvPr/>
        </p:nvSpPr>
        <p:spPr bwMode="auto">
          <a:xfrm>
            <a:off x="2733674" y="5094288"/>
            <a:ext cx="449262" cy="403225"/>
          </a:xfrm>
          <a:custGeom>
            <a:avLst/>
            <a:gdLst>
              <a:gd name="T0" fmla="*/ 0 w 283"/>
              <a:gd name="T1" fmla="*/ 253 h 254"/>
              <a:gd name="T2" fmla="*/ 0 w 283"/>
              <a:gd name="T3" fmla="*/ 0 h 254"/>
              <a:gd name="T4" fmla="*/ 282 w 283"/>
              <a:gd name="T5" fmla="*/ 0 h 254"/>
              <a:gd name="T6" fmla="*/ 282 w 283"/>
              <a:gd name="T7" fmla="*/ 253 h 254"/>
              <a:gd name="T8" fmla="*/ 0 w 283"/>
              <a:gd name="T9" fmla="*/ 253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3" h="254">
                <a:moveTo>
                  <a:pt x="0" y="253"/>
                </a:moveTo>
                <a:lnTo>
                  <a:pt x="0" y="0"/>
                </a:lnTo>
                <a:lnTo>
                  <a:pt x="282" y="0"/>
                </a:lnTo>
                <a:lnTo>
                  <a:pt x="282" y="253"/>
                </a:lnTo>
                <a:lnTo>
                  <a:pt x="0" y="253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" name="Freeform 17"/>
          <p:cNvSpPr>
            <a:spLocks/>
          </p:cNvSpPr>
          <p:nvPr/>
        </p:nvSpPr>
        <p:spPr bwMode="auto">
          <a:xfrm>
            <a:off x="3070224" y="5103813"/>
            <a:ext cx="1587" cy="371475"/>
          </a:xfrm>
          <a:custGeom>
            <a:avLst/>
            <a:gdLst>
              <a:gd name="T0" fmla="*/ 0 w 1"/>
              <a:gd name="T1" fmla="*/ 0 h 234"/>
              <a:gd name="T2" fmla="*/ 0 w 1"/>
              <a:gd name="T3" fmla="*/ 233 h 234"/>
              <a:gd name="T4" fmla="*/ 0 w 1"/>
              <a:gd name="T5" fmla="*/ 0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4">
                <a:moveTo>
                  <a:pt x="0" y="0"/>
                </a:moveTo>
                <a:lnTo>
                  <a:pt x="0" y="233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" name="Rectangle 29"/>
          <p:cNvSpPr>
            <a:spLocks noChangeArrowheads="1"/>
          </p:cNvSpPr>
          <p:nvPr/>
        </p:nvSpPr>
        <p:spPr bwMode="auto">
          <a:xfrm>
            <a:off x="1093786" y="6016625"/>
            <a:ext cx="336550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2*</a:t>
            </a:r>
          </a:p>
        </p:txBody>
      </p:sp>
      <p:sp>
        <p:nvSpPr>
          <p:cNvPr id="96" name="Rectangle 30"/>
          <p:cNvSpPr>
            <a:spLocks noChangeArrowheads="1"/>
          </p:cNvSpPr>
          <p:nvPr/>
        </p:nvSpPr>
        <p:spPr bwMode="auto">
          <a:xfrm>
            <a:off x="1463674" y="6005513"/>
            <a:ext cx="33655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3*</a:t>
            </a:r>
          </a:p>
        </p:txBody>
      </p:sp>
      <p:sp>
        <p:nvSpPr>
          <p:cNvPr id="97" name="Rectangle 31"/>
          <p:cNvSpPr>
            <a:spLocks noChangeArrowheads="1"/>
          </p:cNvSpPr>
          <p:nvPr/>
        </p:nvSpPr>
        <p:spPr bwMode="auto">
          <a:xfrm>
            <a:off x="2900361" y="6005513"/>
            <a:ext cx="33655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5*</a:t>
            </a:r>
          </a:p>
        </p:txBody>
      </p:sp>
      <p:sp>
        <p:nvSpPr>
          <p:cNvPr id="98" name="Rectangle 32"/>
          <p:cNvSpPr>
            <a:spLocks noChangeArrowheads="1"/>
          </p:cNvSpPr>
          <p:nvPr/>
        </p:nvSpPr>
        <p:spPr bwMode="auto">
          <a:xfrm>
            <a:off x="3260724" y="6016625"/>
            <a:ext cx="336550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7*</a:t>
            </a:r>
          </a:p>
        </p:txBody>
      </p:sp>
      <p:sp>
        <p:nvSpPr>
          <p:cNvPr id="99" name="Rectangle 33"/>
          <p:cNvSpPr>
            <a:spLocks noChangeArrowheads="1"/>
          </p:cNvSpPr>
          <p:nvPr/>
        </p:nvSpPr>
        <p:spPr bwMode="auto">
          <a:xfrm>
            <a:off x="3630611" y="6027738"/>
            <a:ext cx="33655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8*</a:t>
            </a:r>
          </a:p>
        </p:txBody>
      </p:sp>
      <p:sp>
        <p:nvSpPr>
          <p:cNvPr id="100" name="Rectangle 34"/>
          <p:cNvSpPr>
            <a:spLocks noChangeArrowheads="1"/>
          </p:cNvSpPr>
          <p:nvPr/>
        </p:nvSpPr>
        <p:spPr bwMode="auto">
          <a:xfrm>
            <a:off x="2765424" y="5133975"/>
            <a:ext cx="2794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106" name="Arc 40"/>
          <p:cNvSpPr>
            <a:spLocks/>
          </p:cNvSpPr>
          <p:nvPr/>
        </p:nvSpPr>
        <p:spPr bwMode="auto">
          <a:xfrm rot="19020000">
            <a:off x="2513011" y="5789613"/>
            <a:ext cx="381000" cy="381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" name="Arc 41"/>
          <p:cNvSpPr>
            <a:spLocks/>
          </p:cNvSpPr>
          <p:nvPr/>
        </p:nvSpPr>
        <p:spPr bwMode="auto">
          <a:xfrm>
            <a:off x="3122611" y="5403850"/>
            <a:ext cx="304800" cy="609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Oval 107"/>
          <p:cNvSpPr/>
          <p:nvPr/>
        </p:nvSpPr>
        <p:spPr>
          <a:xfrm>
            <a:off x="247803" y="3810794"/>
            <a:ext cx="2020886" cy="838200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Bent-Up Arrow 145"/>
          <p:cNvSpPr/>
          <p:nvPr/>
        </p:nvSpPr>
        <p:spPr>
          <a:xfrm rot="5400000">
            <a:off x="1097756" y="4871641"/>
            <a:ext cx="550862" cy="464344"/>
          </a:xfrm>
          <a:prstGeom prst="bentUp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ight Arrow 1"/>
          <p:cNvSpPr/>
          <p:nvPr/>
        </p:nvSpPr>
        <p:spPr>
          <a:xfrm>
            <a:off x="3506274" y="5123783"/>
            <a:ext cx="1065212" cy="354991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Freeform 6"/>
          <p:cNvSpPr>
            <a:spLocks/>
          </p:cNvSpPr>
          <p:nvPr/>
        </p:nvSpPr>
        <p:spPr bwMode="auto">
          <a:xfrm>
            <a:off x="5571619" y="5094288"/>
            <a:ext cx="557213" cy="465138"/>
          </a:xfrm>
          <a:custGeom>
            <a:avLst/>
            <a:gdLst>
              <a:gd name="T0" fmla="*/ 0 w 351"/>
              <a:gd name="T1" fmla="*/ 292 h 293"/>
              <a:gd name="T2" fmla="*/ 0 w 351"/>
              <a:gd name="T3" fmla="*/ 0 h 293"/>
              <a:gd name="T4" fmla="*/ 350 w 351"/>
              <a:gd name="T5" fmla="*/ 0 h 293"/>
              <a:gd name="T6" fmla="*/ 350 w 351"/>
              <a:gd name="T7" fmla="*/ 292 h 293"/>
              <a:gd name="T8" fmla="*/ 0 w 351"/>
              <a:gd name="T9" fmla="*/ 292 h 2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1"/>
              <a:gd name="T16" fmla="*/ 0 h 293"/>
              <a:gd name="T17" fmla="*/ 351 w 351"/>
              <a:gd name="T18" fmla="*/ 293 h 2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1" h="293">
                <a:moveTo>
                  <a:pt x="0" y="292"/>
                </a:moveTo>
                <a:lnTo>
                  <a:pt x="0" y="0"/>
                </a:lnTo>
                <a:lnTo>
                  <a:pt x="350" y="0"/>
                </a:lnTo>
                <a:lnTo>
                  <a:pt x="350" y="292"/>
                </a:lnTo>
                <a:lnTo>
                  <a:pt x="0" y="292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Freeform 7"/>
          <p:cNvSpPr>
            <a:spLocks/>
          </p:cNvSpPr>
          <p:nvPr/>
        </p:nvSpPr>
        <p:spPr bwMode="auto">
          <a:xfrm>
            <a:off x="5665281" y="5094288"/>
            <a:ext cx="1588" cy="465138"/>
          </a:xfrm>
          <a:custGeom>
            <a:avLst/>
            <a:gdLst>
              <a:gd name="T0" fmla="*/ 0 w 1"/>
              <a:gd name="T1" fmla="*/ 0 h 293"/>
              <a:gd name="T2" fmla="*/ 0 w 1"/>
              <a:gd name="T3" fmla="*/ 292 h 293"/>
              <a:gd name="T4" fmla="*/ 0 w 1"/>
              <a:gd name="T5" fmla="*/ 0 h 293"/>
              <a:gd name="T6" fmla="*/ 0 60000 65536"/>
              <a:gd name="T7" fmla="*/ 0 60000 65536"/>
              <a:gd name="T8" fmla="*/ 0 60000 65536"/>
              <a:gd name="T9" fmla="*/ 0 w 1"/>
              <a:gd name="T10" fmla="*/ 0 h 293"/>
              <a:gd name="T11" fmla="*/ 1 w 1"/>
              <a:gd name="T12" fmla="*/ 293 h 2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3">
                <a:moveTo>
                  <a:pt x="0" y="0"/>
                </a:moveTo>
                <a:lnTo>
                  <a:pt x="0" y="292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Freeform 8"/>
          <p:cNvSpPr>
            <a:spLocks/>
          </p:cNvSpPr>
          <p:nvPr/>
        </p:nvSpPr>
        <p:spPr bwMode="auto">
          <a:xfrm>
            <a:off x="6127244" y="5094288"/>
            <a:ext cx="560388" cy="465138"/>
          </a:xfrm>
          <a:custGeom>
            <a:avLst/>
            <a:gdLst>
              <a:gd name="T0" fmla="*/ 0 w 353"/>
              <a:gd name="T1" fmla="*/ 292 h 293"/>
              <a:gd name="T2" fmla="*/ 0 w 353"/>
              <a:gd name="T3" fmla="*/ 0 h 293"/>
              <a:gd name="T4" fmla="*/ 352 w 353"/>
              <a:gd name="T5" fmla="*/ 0 h 293"/>
              <a:gd name="T6" fmla="*/ 352 w 353"/>
              <a:gd name="T7" fmla="*/ 292 h 293"/>
              <a:gd name="T8" fmla="*/ 0 w 353"/>
              <a:gd name="T9" fmla="*/ 292 h 2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3"/>
              <a:gd name="T16" fmla="*/ 0 h 293"/>
              <a:gd name="T17" fmla="*/ 353 w 353"/>
              <a:gd name="T18" fmla="*/ 293 h 2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3" h="293">
                <a:moveTo>
                  <a:pt x="0" y="292"/>
                </a:moveTo>
                <a:lnTo>
                  <a:pt x="0" y="0"/>
                </a:lnTo>
                <a:lnTo>
                  <a:pt x="352" y="0"/>
                </a:lnTo>
                <a:lnTo>
                  <a:pt x="352" y="292"/>
                </a:lnTo>
                <a:lnTo>
                  <a:pt x="0" y="292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Freeform 9"/>
          <p:cNvSpPr>
            <a:spLocks/>
          </p:cNvSpPr>
          <p:nvPr/>
        </p:nvSpPr>
        <p:spPr bwMode="auto">
          <a:xfrm>
            <a:off x="6222494" y="5094288"/>
            <a:ext cx="1588" cy="465138"/>
          </a:xfrm>
          <a:custGeom>
            <a:avLst/>
            <a:gdLst>
              <a:gd name="T0" fmla="*/ 0 w 1"/>
              <a:gd name="T1" fmla="*/ 0 h 293"/>
              <a:gd name="T2" fmla="*/ 0 w 1"/>
              <a:gd name="T3" fmla="*/ 292 h 293"/>
              <a:gd name="T4" fmla="*/ 0 w 1"/>
              <a:gd name="T5" fmla="*/ 0 h 293"/>
              <a:gd name="T6" fmla="*/ 0 60000 65536"/>
              <a:gd name="T7" fmla="*/ 0 60000 65536"/>
              <a:gd name="T8" fmla="*/ 0 60000 65536"/>
              <a:gd name="T9" fmla="*/ 0 w 1"/>
              <a:gd name="T10" fmla="*/ 0 h 293"/>
              <a:gd name="T11" fmla="*/ 1 w 1"/>
              <a:gd name="T12" fmla="*/ 293 h 2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3">
                <a:moveTo>
                  <a:pt x="0" y="0"/>
                </a:moveTo>
                <a:lnTo>
                  <a:pt x="0" y="292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Freeform 10"/>
          <p:cNvSpPr>
            <a:spLocks/>
          </p:cNvSpPr>
          <p:nvPr/>
        </p:nvSpPr>
        <p:spPr bwMode="auto">
          <a:xfrm>
            <a:off x="6686044" y="5094288"/>
            <a:ext cx="558800" cy="465138"/>
          </a:xfrm>
          <a:custGeom>
            <a:avLst/>
            <a:gdLst>
              <a:gd name="T0" fmla="*/ 0 w 352"/>
              <a:gd name="T1" fmla="*/ 292 h 293"/>
              <a:gd name="T2" fmla="*/ 0 w 352"/>
              <a:gd name="T3" fmla="*/ 0 h 293"/>
              <a:gd name="T4" fmla="*/ 351 w 352"/>
              <a:gd name="T5" fmla="*/ 0 h 293"/>
              <a:gd name="T6" fmla="*/ 351 w 352"/>
              <a:gd name="T7" fmla="*/ 292 h 293"/>
              <a:gd name="T8" fmla="*/ 0 w 352"/>
              <a:gd name="T9" fmla="*/ 292 h 2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2"/>
              <a:gd name="T16" fmla="*/ 0 h 293"/>
              <a:gd name="T17" fmla="*/ 352 w 352"/>
              <a:gd name="T18" fmla="*/ 293 h 2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2" h="293">
                <a:moveTo>
                  <a:pt x="0" y="292"/>
                </a:moveTo>
                <a:lnTo>
                  <a:pt x="0" y="0"/>
                </a:lnTo>
                <a:lnTo>
                  <a:pt x="351" y="0"/>
                </a:lnTo>
                <a:lnTo>
                  <a:pt x="351" y="292"/>
                </a:lnTo>
                <a:lnTo>
                  <a:pt x="0" y="292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Freeform 11"/>
          <p:cNvSpPr>
            <a:spLocks/>
          </p:cNvSpPr>
          <p:nvPr/>
        </p:nvSpPr>
        <p:spPr bwMode="auto">
          <a:xfrm>
            <a:off x="6779706" y="5094288"/>
            <a:ext cx="1588" cy="465138"/>
          </a:xfrm>
          <a:custGeom>
            <a:avLst/>
            <a:gdLst>
              <a:gd name="T0" fmla="*/ 0 w 1"/>
              <a:gd name="T1" fmla="*/ 0 h 293"/>
              <a:gd name="T2" fmla="*/ 0 w 1"/>
              <a:gd name="T3" fmla="*/ 292 h 293"/>
              <a:gd name="T4" fmla="*/ 0 w 1"/>
              <a:gd name="T5" fmla="*/ 0 h 293"/>
              <a:gd name="T6" fmla="*/ 0 60000 65536"/>
              <a:gd name="T7" fmla="*/ 0 60000 65536"/>
              <a:gd name="T8" fmla="*/ 0 60000 65536"/>
              <a:gd name="T9" fmla="*/ 0 w 1"/>
              <a:gd name="T10" fmla="*/ 0 h 293"/>
              <a:gd name="T11" fmla="*/ 1 w 1"/>
              <a:gd name="T12" fmla="*/ 293 h 2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3">
                <a:moveTo>
                  <a:pt x="0" y="0"/>
                </a:moveTo>
                <a:lnTo>
                  <a:pt x="0" y="292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Freeform 12"/>
          <p:cNvSpPr>
            <a:spLocks/>
          </p:cNvSpPr>
          <p:nvPr/>
        </p:nvSpPr>
        <p:spPr bwMode="auto">
          <a:xfrm>
            <a:off x="7243256" y="5094288"/>
            <a:ext cx="560388" cy="465138"/>
          </a:xfrm>
          <a:custGeom>
            <a:avLst/>
            <a:gdLst>
              <a:gd name="T0" fmla="*/ 0 w 353"/>
              <a:gd name="T1" fmla="*/ 292 h 293"/>
              <a:gd name="T2" fmla="*/ 0 w 353"/>
              <a:gd name="T3" fmla="*/ 0 h 293"/>
              <a:gd name="T4" fmla="*/ 352 w 353"/>
              <a:gd name="T5" fmla="*/ 0 h 293"/>
              <a:gd name="T6" fmla="*/ 352 w 353"/>
              <a:gd name="T7" fmla="*/ 292 h 293"/>
              <a:gd name="T8" fmla="*/ 0 w 353"/>
              <a:gd name="T9" fmla="*/ 292 h 2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3"/>
              <a:gd name="T16" fmla="*/ 0 h 293"/>
              <a:gd name="T17" fmla="*/ 353 w 353"/>
              <a:gd name="T18" fmla="*/ 293 h 2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3" h="293">
                <a:moveTo>
                  <a:pt x="0" y="292"/>
                </a:moveTo>
                <a:lnTo>
                  <a:pt x="0" y="0"/>
                </a:lnTo>
                <a:lnTo>
                  <a:pt x="352" y="0"/>
                </a:lnTo>
                <a:lnTo>
                  <a:pt x="352" y="292"/>
                </a:lnTo>
                <a:lnTo>
                  <a:pt x="0" y="292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Freeform 13"/>
          <p:cNvSpPr>
            <a:spLocks/>
          </p:cNvSpPr>
          <p:nvPr/>
        </p:nvSpPr>
        <p:spPr bwMode="auto">
          <a:xfrm>
            <a:off x="7335331" y="5094288"/>
            <a:ext cx="1588" cy="465138"/>
          </a:xfrm>
          <a:custGeom>
            <a:avLst/>
            <a:gdLst>
              <a:gd name="T0" fmla="*/ 0 w 1"/>
              <a:gd name="T1" fmla="*/ 0 h 293"/>
              <a:gd name="T2" fmla="*/ 0 w 1"/>
              <a:gd name="T3" fmla="*/ 292 h 293"/>
              <a:gd name="T4" fmla="*/ 0 w 1"/>
              <a:gd name="T5" fmla="*/ 0 h 293"/>
              <a:gd name="T6" fmla="*/ 0 60000 65536"/>
              <a:gd name="T7" fmla="*/ 0 60000 65536"/>
              <a:gd name="T8" fmla="*/ 0 60000 65536"/>
              <a:gd name="T9" fmla="*/ 0 w 1"/>
              <a:gd name="T10" fmla="*/ 0 h 293"/>
              <a:gd name="T11" fmla="*/ 1 w 1"/>
              <a:gd name="T12" fmla="*/ 293 h 2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3">
                <a:moveTo>
                  <a:pt x="0" y="0"/>
                </a:moveTo>
                <a:lnTo>
                  <a:pt x="0" y="292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Freeform 14"/>
          <p:cNvSpPr>
            <a:spLocks/>
          </p:cNvSpPr>
          <p:nvPr/>
        </p:nvSpPr>
        <p:spPr bwMode="auto">
          <a:xfrm>
            <a:off x="7802056" y="5094288"/>
            <a:ext cx="93663" cy="465138"/>
          </a:xfrm>
          <a:custGeom>
            <a:avLst/>
            <a:gdLst>
              <a:gd name="T0" fmla="*/ 0 w 59"/>
              <a:gd name="T1" fmla="*/ 292 h 293"/>
              <a:gd name="T2" fmla="*/ 0 w 59"/>
              <a:gd name="T3" fmla="*/ 0 h 293"/>
              <a:gd name="T4" fmla="*/ 58 w 59"/>
              <a:gd name="T5" fmla="*/ 0 h 293"/>
              <a:gd name="T6" fmla="*/ 58 w 59"/>
              <a:gd name="T7" fmla="*/ 292 h 293"/>
              <a:gd name="T8" fmla="*/ 0 w 59"/>
              <a:gd name="T9" fmla="*/ 292 h 2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9"/>
              <a:gd name="T16" fmla="*/ 0 h 293"/>
              <a:gd name="T17" fmla="*/ 59 w 59"/>
              <a:gd name="T18" fmla="*/ 293 h 2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9" h="293">
                <a:moveTo>
                  <a:pt x="0" y="292"/>
                </a:moveTo>
                <a:lnTo>
                  <a:pt x="0" y="0"/>
                </a:lnTo>
                <a:lnTo>
                  <a:pt x="58" y="0"/>
                </a:lnTo>
                <a:lnTo>
                  <a:pt x="58" y="292"/>
                </a:lnTo>
                <a:lnTo>
                  <a:pt x="0" y="292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Rectangle 46"/>
          <p:cNvSpPr>
            <a:spLocks noChangeArrowheads="1"/>
          </p:cNvSpPr>
          <p:nvPr/>
        </p:nvSpPr>
        <p:spPr bwMode="auto">
          <a:xfrm>
            <a:off x="6257419" y="5165725"/>
            <a:ext cx="3683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17</a:t>
            </a:r>
          </a:p>
        </p:txBody>
      </p:sp>
      <p:sp>
        <p:nvSpPr>
          <p:cNvPr id="119" name="Rectangle 47"/>
          <p:cNvSpPr>
            <a:spLocks noChangeArrowheads="1"/>
          </p:cNvSpPr>
          <p:nvPr/>
        </p:nvSpPr>
        <p:spPr bwMode="auto">
          <a:xfrm>
            <a:off x="6814631" y="5164138"/>
            <a:ext cx="3683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24</a:t>
            </a:r>
          </a:p>
        </p:txBody>
      </p:sp>
      <p:sp>
        <p:nvSpPr>
          <p:cNvPr id="120" name="Rectangle 48"/>
          <p:cNvSpPr>
            <a:spLocks noChangeArrowheads="1"/>
          </p:cNvSpPr>
          <p:nvPr/>
        </p:nvSpPr>
        <p:spPr bwMode="auto">
          <a:xfrm>
            <a:off x="7384544" y="5153025"/>
            <a:ext cx="3683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30</a:t>
            </a:r>
          </a:p>
        </p:txBody>
      </p:sp>
      <p:sp>
        <p:nvSpPr>
          <p:cNvPr id="121" name="Rectangle 65"/>
          <p:cNvSpPr>
            <a:spLocks noChangeArrowheads="1"/>
          </p:cNvSpPr>
          <p:nvPr/>
        </p:nvSpPr>
        <p:spPr bwMode="auto">
          <a:xfrm>
            <a:off x="5724019" y="5165725"/>
            <a:ext cx="3683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13</a:t>
            </a:r>
          </a:p>
        </p:txBody>
      </p:sp>
      <p:sp>
        <p:nvSpPr>
          <p:cNvPr id="122" name="Freeform 16"/>
          <p:cNvSpPr>
            <a:spLocks/>
          </p:cNvSpPr>
          <p:nvPr/>
        </p:nvSpPr>
        <p:spPr bwMode="auto">
          <a:xfrm>
            <a:off x="5124833" y="5094287"/>
            <a:ext cx="449262" cy="465139"/>
          </a:xfrm>
          <a:custGeom>
            <a:avLst/>
            <a:gdLst>
              <a:gd name="T0" fmla="*/ 0 w 283"/>
              <a:gd name="T1" fmla="*/ 253 h 254"/>
              <a:gd name="T2" fmla="*/ 0 w 283"/>
              <a:gd name="T3" fmla="*/ 0 h 254"/>
              <a:gd name="T4" fmla="*/ 282 w 283"/>
              <a:gd name="T5" fmla="*/ 0 h 254"/>
              <a:gd name="T6" fmla="*/ 282 w 283"/>
              <a:gd name="T7" fmla="*/ 253 h 254"/>
              <a:gd name="T8" fmla="*/ 0 w 283"/>
              <a:gd name="T9" fmla="*/ 253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3" h="254">
                <a:moveTo>
                  <a:pt x="0" y="253"/>
                </a:moveTo>
                <a:lnTo>
                  <a:pt x="0" y="0"/>
                </a:lnTo>
                <a:lnTo>
                  <a:pt x="282" y="0"/>
                </a:lnTo>
                <a:lnTo>
                  <a:pt x="282" y="253"/>
                </a:lnTo>
                <a:lnTo>
                  <a:pt x="0" y="253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" name="Freeform 17"/>
          <p:cNvSpPr>
            <a:spLocks/>
          </p:cNvSpPr>
          <p:nvPr/>
        </p:nvSpPr>
        <p:spPr bwMode="auto">
          <a:xfrm>
            <a:off x="5215889" y="5102834"/>
            <a:ext cx="45719" cy="455614"/>
          </a:xfrm>
          <a:custGeom>
            <a:avLst/>
            <a:gdLst>
              <a:gd name="T0" fmla="*/ 0 w 1"/>
              <a:gd name="T1" fmla="*/ 0 h 234"/>
              <a:gd name="T2" fmla="*/ 0 w 1"/>
              <a:gd name="T3" fmla="*/ 233 h 234"/>
              <a:gd name="T4" fmla="*/ 0 w 1"/>
              <a:gd name="T5" fmla="*/ 0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4">
                <a:moveTo>
                  <a:pt x="0" y="0"/>
                </a:moveTo>
                <a:lnTo>
                  <a:pt x="0" y="233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" name="Rectangle 34"/>
          <p:cNvSpPr>
            <a:spLocks noChangeArrowheads="1"/>
          </p:cNvSpPr>
          <p:nvPr/>
        </p:nvSpPr>
        <p:spPr bwMode="auto">
          <a:xfrm>
            <a:off x="5240708" y="5184775"/>
            <a:ext cx="2794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61204" y="6199981"/>
            <a:ext cx="3426836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smtClean="0"/>
              <a:t>Parent is </a:t>
            </a:r>
            <a:r>
              <a:rPr lang="en-US" sz="2400" b="1" i="1" dirty="0" smtClean="0"/>
              <a:t>full</a:t>
            </a:r>
            <a:r>
              <a:rPr lang="en-US" sz="2400" dirty="0" smtClean="0"/>
              <a:t>; hence, split!</a:t>
            </a:r>
            <a:endParaRPr lang="en-US" sz="2400" dirty="0"/>
          </a:p>
        </p:txBody>
      </p:sp>
      <p:sp>
        <p:nvSpPr>
          <p:cNvPr id="70" name="TextBox 69"/>
          <p:cNvSpPr txBox="1"/>
          <p:nvPr/>
        </p:nvSpPr>
        <p:spPr>
          <a:xfrm>
            <a:off x="4634705" y="5648043"/>
            <a:ext cx="1633589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&gt;</a:t>
            </a:r>
            <a:r>
              <a:rPr lang="en-US" sz="2400" dirty="0" smtClean="0"/>
              <a:t> </a:t>
            </a:r>
            <a:r>
              <a:rPr lang="en-US" sz="2400" b="1" i="1" dirty="0" smtClean="0"/>
              <a:t>(n-1) keys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13481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/>
      <p:bldP spid="119" grpId="0"/>
      <p:bldP spid="120" grpId="0"/>
      <p:bldP spid="121" grpId="0"/>
      <p:bldP spid="122" grpId="0" animBg="1"/>
      <p:bldP spid="123" grpId="0" animBg="1"/>
      <p:bldP spid="124" grpId="0"/>
      <p:bldP spid="125" grpId="0" animBg="1"/>
      <p:bldP spid="7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B+ Tree: Examples </a:t>
            </a:r>
            <a:r>
              <a:rPr lang="en-US" dirty="0" smtClean="0">
                <a:ea typeface="ＭＳ Ｐゴシック" pitchFamily="34" charset="-128"/>
              </a:rPr>
              <a:t>of Insertions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Insert entry </a:t>
            </a:r>
            <a:r>
              <a:rPr lang="en-US" sz="2800" dirty="0" smtClean="0">
                <a:solidFill>
                  <a:srgbClr val="FF0000"/>
                </a:solidFill>
              </a:rPr>
              <a:t>8*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400" dirty="0"/>
          </a:p>
        </p:txBody>
      </p:sp>
      <p:grpSp>
        <p:nvGrpSpPr>
          <p:cNvPr id="4" name="Group 5"/>
          <p:cNvGrpSpPr>
            <a:grpSpLocks/>
          </p:cNvGrpSpPr>
          <p:nvPr/>
        </p:nvGrpSpPr>
        <p:grpSpPr bwMode="auto">
          <a:xfrm>
            <a:off x="500061" y="2133600"/>
            <a:ext cx="8201025" cy="2282825"/>
            <a:chOff x="218" y="2207"/>
            <a:chExt cx="5166" cy="1438"/>
          </a:xfrm>
        </p:grpSpPr>
        <p:sp>
          <p:nvSpPr>
            <p:cNvPr id="5" name="Freeform 6"/>
            <p:cNvSpPr>
              <a:spLocks/>
            </p:cNvSpPr>
            <p:nvPr/>
          </p:nvSpPr>
          <p:spPr bwMode="auto">
            <a:xfrm>
              <a:off x="2061" y="2506"/>
              <a:ext cx="351" cy="293"/>
            </a:xfrm>
            <a:custGeom>
              <a:avLst/>
              <a:gdLst>
                <a:gd name="T0" fmla="*/ 0 w 351"/>
                <a:gd name="T1" fmla="*/ 292 h 293"/>
                <a:gd name="T2" fmla="*/ 0 w 351"/>
                <a:gd name="T3" fmla="*/ 0 h 293"/>
                <a:gd name="T4" fmla="*/ 350 w 351"/>
                <a:gd name="T5" fmla="*/ 0 h 293"/>
                <a:gd name="T6" fmla="*/ 350 w 351"/>
                <a:gd name="T7" fmla="*/ 292 h 293"/>
                <a:gd name="T8" fmla="*/ 0 w 351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1"/>
                <a:gd name="T16" fmla="*/ 0 h 293"/>
                <a:gd name="T17" fmla="*/ 351 w 351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1" h="293">
                  <a:moveTo>
                    <a:pt x="0" y="292"/>
                  </a:moveTo>
                  <a:lnTo>
                    <a:pt x="0" y="0"/>
                  </a:lnTo>
                  <a:lnTo>
                    <a:pt x="350" y="0"/>
                  </a:lnTo>
                  <a:lnTo>
                    <a:pt x="350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7"/>
            <p:cNvSpPr>
              <a:spLocks/>
            </p:cNvSpPr>
            <p:nvPr/>
          </p:nvSpPr>
          <p:spPr bwMode="auto">
            <a:xfrm>
              <a:off x="2120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8"/>
            <p:cNvSpPr>
              <a:spLocks/>
            </p:cNvSpPr>
            <p:nvPr/>
          </p:nvSpPr>
          <p:spPr bwMode="auto">
            <a:xfrm>
              <a:off x="2411" y="2506"/>
              <a:ext cx="353" cy="293"/>
            </a:xfrm>
            <a:custGeom>
              <a:avLst/>
              <a:gdLst>
                <a:gd name="T0" fmla="*/ 0 w 353"/>
                <a:gd name="T1" fmla="*/ 292 h 293"/>
                <a:gd name="T2" fmla="*/ 0 w 353"/>
                <a:gd name="T3" fmla="*/ 0 h 293"/>
                <a:gd name="T4" fmla="*/ 352 w 353"/>
                <a:gd name="T5" fmla="*/ 0 h 293"/>
                <a:gd name="T6" fmla="*/ 352 w 353"/>
                <a:gd name="T7" fmla="*/ 292 h 293"/>
                <a:gd name="T8" fmla="*/ 0 w 353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3"/>
                <a:gd name="T16" fmla="*/ 0 h 293"/>
                <a:gd name="T17" fmla="*/ 353 w 353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3" h="293">
                  <a:moveTo>
                    <a:pt x="0" y="292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9"/>
            <p:cNvSpPr>
              <a:spLocks/>
            </p:cNvSpPr>
            <p:nvPr/>
          </p:nvSpPr>
          <p:spPr bwMode="auto">
            <a:xfrm>
              <a:off x="2471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10"/>
            <p:cNvSpPr>
              <a:spLocks/>
            </p:cNvSpPr>
            <p:nvPr/>
          </p:nvSpPr>
          <p:spPr bwMode="auto">
            <a:xfrm>
              <a:off x="2763" y="2506"/>
              <a:ext cx="352" cy="293"/>
            </a:xfrm>
            <a:custGeom>
              <a:avLst/>
              <a:gdLst>
                <a:gd name="T0" fmla="*/ 0 w 352"/>
                <a:gd name="T1" fmla="*/ 292 h 293"/>
                <a:gd name="T2" fmla="*/ 0 w 352"/>
                <a:gd name="T3" fmla="*/ 0 h 293"/>
                <a:gd name="T4" fmla="*/ 351 w 352"/>
                <a:gd name="T5" fmla="*/ 0 h 293"/>
                <a:gd name="T6" fmla="*/ 351 w 352"/>
                <a:gd name="T7" fmla="*/ 292 h 293"/>
                <a:gd name="T8" fmla="*/ 0 w 352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2"/>
                <a:gd name="T16" fmla="*/ 0 h 293"/>
                <a:gd name="T17" fmla="*/ 352 w 352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2" h="293">
                  <a:moveTo>
                    <a:pt x="0" y="292"/>
                  </a:moveTo>
                  <a:lnTo>
                    <a:pt x="0" y="0"/>
                  </a:lnTo>
                  <a:lnTo>
                    <a:pt x="351" y="0"/>
                  </a:lnTo>
                  <a:lnTo>
                    <a:pt x="351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1"/>
            <p:cNvSpPr>
              <a:spLocks/>
            </p:cNvSpPr>
            <p:nvPr/>
          </p:nvSpPr>
          <p:spPr bwMode="auto">
            <a:xfrm>
              <a:off x="2822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2"/>
            <p:cNvSpPr>
              <a:spLocks/>
            </p:cNvSpPr>
            <p:nvPr/>
          </p:nvSpPr>
          <p:spPr bwMode="auto">
            <a:xfrm>
              <a:off x="3114" y="2506"/>
              <a:ext cx="353" cy="293"/>
            </a:xfrm>
            <a:custGeom>
              <a:avLst/>
              <a:gdLst>
                <a:gd name="T0" fmla="*/ 0 w 353"/>
                <a:gd name="T1" fmla="*/ 292 h 293"/>
                <a:gd name="T2" fmla="*/ 0 w 353"/>
                <a:gd name="T3" fmla="*/ 0 h 293"/>
                <a:gd name="T4" fmla="*/ 352 w 353"/>
                <a:gd name="T5" fmla="*/ 0 h 293"/>
                <a:gd name="T6" fmla="*/ 352 w 353"/>
                <a:gd name="T7" fmla="*/ 292 h 293"/>
                <a:gd name="T8" fmla="*/ 0 w 353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3"/>
                <a:gd name="T16" fmla="*/ 0 h 293"/>
                <a:gd name="T17" fmla="*/ 353 w 353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3" h="293">
                  <a:moveTo>
                    <a:pt x="0" y="292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3"/>
            <p:cNvSpPr>
              <a:spLocks/>
            </p:cNvSpPr>
            <p:nvPr/>
          </p:nvSpPr>
          <p:spPr bwMode="auto">
            <a:xfrm>
              <a:off x="3172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4"/>
            <p:cNvSpPr>
              <a:spLocks/>
            </p:cNvSpPr>
            <p:nvPr/>
          </p:nvSpPr>
          <p:spPr bwMode="auto">
            <a:xfrm>
              <a:off x="3466" y="2506"/>
              <a:ext cx="59" cy="293"/>
            </a:xfrm>
            <a:custGeom>
              <a:avLst/>
              <a:gdLst>
                <a:gd name="T0" fmla="*/ 0 w 59"/>
                <a:gd name="T1" fmla="*/ 292 h 293"/>
                <a:gd name="T2" fmla="*/ 0 w 59"/>
                <a:gd name="T3" fmla="*/ 0 h 293"/>
                <a:gd name="T4" fmla="*/ 58 w 59"/>
                <a:gd name="T5" fmla="*/ 0 h 293"/>
                <a:gd name="T6" fmla="*/ 58 w 59"/>
                <a:gd name="T7" fmla="*/ 292 h 293"/>
                <a:gd name="T8" fmla="*/ 0 w 59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293"/>
                <a:gd name="T17" fmla="*/ 59 w 59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293">
                  <a:moveTo>
                    <a:pt x="0" y="292"/>
                  </a:moveTo>
                  <a:lnTo>
                    <a:pt x="0" y="0"/>
                  </a:lnTo>
                  <a:lnTo>
                    <a:pt x="58" y="0"/>
                  </a:lnTo>
                  <a:lnTo>
                    <a:pt x="58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5"/>
            <p:cNvSpPr>
              <a:spLocks/>
            </p:cNvSpPr>
            <p:nvPr/>
          </p:nvSpPr>
          <p:spPr bwMode="auto">
            <a:xfrm>
              <a:off x="4431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6"/>
            <p:cNvSpPr>
              <a:spLocks/>
            </p:cNvSpPr>
            <p:nvPr/>
          </p:nvSpPr>
          <p:spPr bwMode="auto">
            <a:xfrm>
              <a:off x="4665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7"/>
            <p:cNvSpPr>
              <a:spLocks/>
            </p:cNvSpPr>
            <p:nvPr/>
          </p:nvSpPr>
          <p:spPr bwMode="auto">
            <a:xfrm>
              <a:off x="4899" y="3410"/>
              <a:ext cx="236" cy="235"/>
            </a:xfrm>
            <a:custGeom>
              <a:avLst/>
              <a:gdLst>
                <a:gd name="T0" fmla="*/ 0 w 236"/>
                <a:gd name="T1" fmla="*/ 234 h 235"/>
                <a:gd name="T2" fmla="*/ 0 w 236"/>
                <a:gd name="T3" fmla="*/ 0 h 235"/>
                <a:gd name="T4" fmla="*/ 235 w 236"/>
                <a:gd name="T5" fmla="*/ 0 h 235"/>
                <a:gd name="T6" fmla="*/ 235 w 236"/>
                <a:gd name="T7" fmla="*/ 234 h 235"/>
                <a:gd name="T8" fmla="*/ 0 w 236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6"/>
                <a:gd name="T16" fmla="*/ 0 h 235"/>
                <a:gd name="T17" fmla="*/ 236 w 236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6" h="235">
                  <a:moveTo>
                    <a:pt x="0" y="234"/>
                  </a:moveTo>
                  <a:lnTo>
                    <a:pt x="0" y="0"/>
                  </a:lnTo>
                  <a:lnTo>
                    <a:pt x="235" y="0"/>
                  </a:lnTo>
                  <a:lnTo>
                    <a:pt x="235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auto">
            <a:xfrm>
              <a:off x="5134" y="3410"/>
              <a:ext cx="234" cy="235"/>
            </a:xfrm>
            <a:custGeom>
              <a:avLst/>
              <a:gdLst>
                <a:gd name="T0" fmla="*/ 0 w 234"/>
                <a:gd name="T1" fmla="*/ 234 h 235"/>
                <a:gd name="T2" fmla="*/ 0 w 234"/>
                <a:gd name="T3" fmla="*/ 0 h 235"/>
                <a:gd name="T4" fmla="*/ 233 w 234"/>
                <a:gd name="T5" fmla="*/ 0 h 235"/>
                <a:gd name="T6" fmla="*/ 233 w 234"/>
                <a:gd name="T7" fmla="*/ 234 h 235"/>
                <a:gd name="T8" fmla="*/ 0 w 234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4"/>
                <a:gd name="T16" fmla="*/ 0 h 235"/>
                <a:gd name="T17" fmla="*/ 234 w 234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4" h="235">
                  <a:moveTo>
                    <a:pt x="0" y="234"/>
                  </a:moveTo>
                  <a:lnTo>
                    <a:pt x="0" y="0"/>
                  </a:lnTo>
                  <a:lnTo>
                    <a:pt x="233" y="0"/>
                  </a:lnTo>
                  <a:lnTo>
                    <a:pt x="233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9"/>
            <p:cNvSpPr>
              <a:spLocks/>
            </p:cNvSpPr>
            <p:nvPr/>
          </p:nvSpPr>
          <p:spPr bwMode="auto">
            <a:xfrm>
              <a:off x="218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20"/>
            <p:cNvSpPr>
              <a:spLocks/>
            </p:cNvSpPr>
            <p:nvPr/>
          </p:nvSpPr>
          <p:spPr bwMode="auto">
            <a:xfrm>
              <a:off x="452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1"/>
            <p:cNvSpPr>
              <a:spLocks/>
            </p:cNvSpPr>
            <p:nvPr/>
          </p:nvSpPr>
          <p:spPr bwMode="auto">
            <a:xfrm>
              <a:off x="686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2"/>
            <p:cNvSpPr>
              <a:spLocks/>
            </p:cNvSpPr>
            <p:nvPr/>
          </p:nvSpPr>
          <p:spPr bwMode="auto">
            <a:xfrm>
              <a:off x="920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3"/>
            <p:cNvSpPr>
              <a:spLocks/>
            </p:cNvSpPr>
            <p:nvPr/>
          </p:nvSpPr>
          <p:spPr bwMode="auto">
            <a:xfrm>
              <a:off x="1271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4"/>
            <p:cNvSpPr>
              <a:spLocks/>
            </p:cNvSpPr>
            <p:nvPr/>
          </p:nvSpPr>
          <p:spPr bwMode="auto">
            <a:xfrm>
              <a:off x="1505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5"/>
            <p:cNvSpPr>
              <a:spLocks/>
            </p:cNvSpPr>
            <p:nvPr/>
          </p:nvSpPr>
          <p:spPr bwMode="auto">
            <a:xfrm>
              <a:off x="1739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6"/>
            <p:cNvSpPr>
              <a:spLocks/>
            </p:cNvSpPr>
            <p:nvPr/>
          </p:nvSpPr>
          <p:spPr bwMode="auto">
            <a:xfrm>
              <a:off x="1973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7"/>
            <p:cNvSpPr>
              <a:spLocks/>
            </p:cNvSpPr>
            <p:nvPr/>
          </p:nvSpPr>
          <p:spPr bwMode="auto">
            <a:xfrm>
              <a:off x="2324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8"/>
            <p:cNvSpPr>
              <a:spLocks/>
            </p:cNvSpPr>
            <p:nvPr/>
          </p:nvSpPr>
          <p:spPr bwMode="auto">
            <a:xfrm>
              <a:off x="2558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9"/>
            <p:cNvSpPr>
              <a:spLocks/>
            </p:cNvSpPr>
            <p:nvPr/>
          </p:nvSpPr>
          <p:spPr bwMode="auto">
            <a:xfrm>
              <a:off x="2792" y="3410"/>
              <a:ext cx="236" cy="235"/>
            </a:xfrm>
            <a:custGeom>
              <a:avLst/>
              <a:gdLst>
                <a:gd name="T0" fmla="*/ 0 w 236"/>
                <a:gd name="T1" fmla="*/ 234 h 235"/>
                <a:gd name="T2" fmla="*/ 0 w 236"/>
                <a:gd name="T3" fmla="*/ 0 h 235"/>
                <a:gd name="T4" fmla="*/ 235 w 236"/>
                <a:gd name="T5" fmla="*/ 0 h 235"/>
                <a:gd name="T6" fmla="*/ 235 w 236"/>
                <a:gd name="T7" fmla="*/ 234 h 235"/>
                <a:gd name="T8" fmla="*/ 0 w 236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6"/>
                <a:gd name="T16" fmla="*/ 0 h 235"/>
                <a:gd name="T17" fmla="*/ 236 w 236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6" h="235">
                  <a:moveTo>
                    <a:pt x="0" y="234"/>
                  </a:moveTo>
                  <a:lnTo>
                    <a:pt x="0" y="0"/>
                  </a:lnTo>
                  <a:lnTo>
                    <a:pt x="235" y="0"/>
                  </a:lnTo>
                  <a:lnTo>
                    <a:pt x="235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0"/>
            <p:cNvSpPr>
              <a:spLocks/>
            </p:cNvSpPr>
            <p:nvPr/>
          </p:nvSpPr>
          <p:spPr bwMode="auto">
            <a:xfrm>
              <a:off x="3027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1"/>
            <p:cNvSpPr>
              <a:spLocks/>
            </p:cNvSpPr>
            <p:nvPr/>
          </p:nvSpPr>
          <p:spPr bwMode="auto">
            <a:xfrm>
              <a:off x="3377" y="3410"/>
              <a:ext cx="236" cy="235"/>
            </a:xfrm>
            <a:custGeom>
              <a:avLst/>
              <a:gdLst>
                <a:gd name="T0" fmla="*/ 0 w 236"/>
                <a:gd name="T1" fmla="*/ 234 h 235"/>
                <a:gd name="T2" fmla="*/ 0 w 236"/>
                <a:gd name="T3" fmla="*/ 0 h 235"/>
                <a:gd name="T4" fmla="*/ 235 w 236"/>
                <a:gd name="T5" fmla="*/ 0 h 235"/>
                <a:gd name="T6" fmla="*/ 235 w 236"/>
                <a:gd name="T7" fmla="*/ 234 h 235"/>
                <a:gd name="T8" fmla="*/ 0 w 236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6"/>
                <a:gd name="T16" fmla="*/ 0 h 235"/>
                <a:gd name="T17" fmla="*/ 236 w 236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6" h="235">
                  <a:moveTo>
                    <a:pt x="0" y="234"/>
                  </a:moveTo>
                  <a:lnTo>
                    <a:pt x="0" y="0"/>
                  </a:lnTo>
                  <a:lnTo>
                    <a:pt x="235" y="0"/>
                  </a:lnTo>
                  <a:lnTo>
                    <a:pt x="235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2"/>
            <p:cNvSpPr>
              <a:spLocks/>
            </p:cNvSpPr>
            <p:nvPr/>
          </p:nvSpPr>
          <p:spPr bwMode="auto">
            <a:xfrm>
              <a:off x="3612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3"/>
            <p:cNvSpPr>
              <a:spLocks/>
            </p:cNvSpPr>
            <p:nvPr/>
          </p:nvSpPr>
          <p:spPr bwMode="auto">
            <a:xfrm>
              <a:off x="3846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4"/>
            <p:cNvSpPr>
              <a:spLocks/>
            </p:cNvSpPr>
            <p:nvPr/>
          </p:nvSpPr>
          <p:spPr bwMode="auto">
            <a:xfrm>
              <a:off x="4080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5"/>
            <p:cNvSpPr>
              <a:spLocks/>
            </p:cNvSpPr>
            <p:nvPr/>
          </p:nvSpPr>
          <p:spPr bwMode="auto">
            <a:xfrm>
              <a:off x="693" y="2761"/>
              <a:ext cx="1398" cy="636"/>
            </a:xfrm>
            <a:custGeom>
              <a:avLst/>
              <a:gdLst>
                <a:gd name="T0" fmla="*/ 1397 w 1398"/>
                <a:gd name="T1" fmla="*/ 0 h 636"/>
                <a:gd name="T2" fmla="*/ 0 w 1398"/>
                <a:gd name="T3" fmla="*/ 635 h 636"/>
                <a:gd name="T4" fmla="*/ 1397 w 1398"/>
                <a:gd name="T5" fmla="*/ 0 h 636"/>
                <a:gd name="T6" fmla="*/ 0 60000 65536"/>
                <a:gd name="T7" fmla="*/ 0 60000 65536"/>
                <a:gd name="T8" fmla="*/ 0 60000 65536"/>
                <a:gd name="T9" fmla="*/ 0 w 1398"/>
                <a:gd name="T10" fmla="*/ 0 h 636"/>
                <a:gd name="T11" fmla="*/ 1398 w 1398"/>
                <a:gd name="T12" fmla="*/ 636 h 6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8" h="636">
                  <a:moveTo>
                    <a:pt x="1397" y="0"/>
                  </a:moveTo>
                  <a:lnTo>
                    <a:pt x="0" y="635"/>
                  </a:lnTo>
                  <a:lnTo>
                    <a:pt x="1397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6"/>
            <p:cNvSpPr>
              <a:spLocks/>
            </p:cNvSpPr>
            <p:nvPr/>
          </p:nvSpPr>
          <p:spPr bwMode="auto">
            <a:xfrm>
              <a:off x="693" y="3349"/>
              <a:ext cx="75" cy="48"/>
            </a:xfrm>
            <a:custGeom>
              <a:avLst/>
              <a:gdLst>
                <a:gd name="T0" fmla="*/ 74 w 75"/>
                <a:gd name="T1" fmla="*/ 33 h 48"/>
                <a:gd name="T2" fmla="*/ 0 w 75"/>
                <a:gd name="T3" fmla="*/ 47 h 48"/>
                <a:gd name="T4" fmla="*/ 59 w 75"/>
                <a:gd name="T5" fmla="*/ 0 h 48"/>
                <a:gd name="T6" fmla="*/ 74 w 75"/>
                <a:gd name="T7" fmla="*/ 33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48"/>
                <a:gd name="T14" fmla="*/ 75 w 75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48">
                  <a:moveTo>
                    <a:pt x="74" y="33"/>
                  </a:moveTo>
                  <a:lnTo>
                    <a:pt x="0" y="47"/>
                  </a:lnTo>
                  <a:lnTo>
                    <a:pt x="59" y="0"/>
                  </a:lnTo>
                  <a:lnTo>
                    <a:pt x="74" y="33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7"/>
            <p:cNvSpPr>
              <a:spLocks/>
            </p:cNvSpPr>
            <p:nvPr/>
          </p:nvSpPr>
          <p:spPr bwMode="auto">
            <a:xfrm>
              <a:off x="1739" y="2769"/>
              <a:ext cx="696" cy="628"/>
            </a:xfrm>
            <a:custGeom>
              <a:avLst/>
              <a:gdLst>
                <a:gd name="T0" fmla="*/ 695 w 696"/>
                <a:gd name="T1" fmla="*/ 0 h 628"/>
                <a:gd name="T2" fmla="*/ 0 w 696"/>
                <a:gd name="T3" fmla="*/ 627 h 628"/>
                <a:gd name="T4" fmla="*/ 695 w 696"/>
                <a:gd name="T5" fmla="*/ 0 h 628"/>
                <a:gd name="T6" fmla="*/ 0 60000 65536"/>
                <a:gd name="T7" fmla="*/ 0 60000 65536"/>
                <a:gd name="T8" fmla="*/ 0 60000 65536"/>
                <a:gd name="T9" fmla="*/ 0 w 696"/>
                <a:gd name="T10" fmla="*/ 0 h 628"/>
                <a:gd name="T11" fmla="*/ 696 w 696"/>
                <a:gd name="T12" fmla="*/ 628 h 6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6" h="628">
                  <a:moveTo>
                    <a:pt x="695" y="0"/>
                  </a:moveTo>
                  <a:lnTo>
                    <a:pt x="0" y="627"/>
                  </a:lnTo>
                  <a:lnTo>
                    <a:pt x="695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8"/>
            <p:cNvSpPr>
              <a:spLocks/>
            </p:cNvSpPr>
            <p:nvPr/>
          </p:nvSpPr>
          <p:spPr bwMode="auto">
            <a:xfrm>
              <a:off x="1739" y="3333"/>
              <a:ext cx="68" cy="64"/>
            </a:xfrm>
            <a:custGeom>
              <a:avLst/>
              <a:gdLst>
                <a:gd name="T0" fmla="*/ 67 w 68"/>
                <a:gd name="T1" fmla="*/ 27 h 64"/>
                <a:gd name="T2" fmla="*/ 0 w 68"/>
                <a:gd name="T3" fmla="*/ 63 h 64"/>
                <a:gd name="T4" fmla="*/ 42 w 68"/>
                <a:gd name="T5" fmla="*/ 0 h 64"/>
                <a:gd name="T6" fmla="*/ 67 w 68"/>
                <a:gd name="T7" fmla="*/ 27 h 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64"/>
                <a:gd name="T14" fmla="*/ 68 w 68"/>
                <a:gd name="T15" fmla="*/ 64 h 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64">
                  <a:moveTo>
                    <a:pt x="67" y="27"/>
                  </a:moveTo>
                  <a:lnTo>
                    <a:pt x="0" y="63"/>
                  </a:lnTo>
                  <a:lnTo>
                    <a:pt x="42" y="0"/>
                  </a:lnTo>
                  <a:lnTo>
                    <a:pt x="67" y="27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9"/>
            <p:cNvSpPr>
              <a:spLocks/>
            </p:cNvSpPr>
            <p:nvPr/>
          </p:nvSpPr>
          <p:spPr bwMode="auto">
            <a:xfrm>
              <a:off x="2785" y="2769"/>
              <a:ext cx="1" cy="621"/>
            </a:xfrm>
            <a:custGeom>
              <a:avLst/>
              <a:gdLst>
                <a:gd name="T0" fmla="*/ 0 w 1"/>
                <a:gd name="T1" fmla="*/ 0 h 621"/>
                <a:gd name="T2" fmla="*/ 0 w 1"/>
                <a:gd name="T3" fmla="*/ 620 h 621"/>
                <a:gd name="T4" fmla="*/ 0 w 1"/>
                <a:gd name="T5" fmla="*/ 0 h 621"/>
                <a:gd name="T6" fmla="*/ 0 60000 65536"/>
                <a:gd name="T7" fmla="*/ 0 60000 65536"/>
                <a:gd name="T8" fmla="*/ 0 60000 65536"/>
                <a:gd name="T9" fmla="*/ 0 w 1"/>
                <a:gd name="T10" fmla="*/ 0 h 621"/>
                <a:gd name="T11" fmla="*/ 1 w 1"/>
                <a:gd name="T12" fmla="*/ 621 h 6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21">
                  <a:moveTo>
                    <a:pt x="0" y="0"/>
                  </a:moveTo>
                  <a:lnTo>
                    <a:pt x="0" y="620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40"/>
            <p:cNvSpPr>
              <a:spLocks/>
            </p:cNvSpPr>
            <p:nvPr/>
          </p:nvSpPr>
          <p:spPr bwMode="auto">
            <a:xfrm>
              <a:off x="2766" y="3315"/>
              <a:ext cx="38" cy="75"/>
            </a:xfrm>
            <a:custGeom>
              <a:avLst/>
              <a:gdLst>
                <a:gd name="T0" fmla="*/ 37 w 38"/>
                <a:gd name="T1" fmla="*/ 0 h 75"/>
                <a:gd name="T2" fmla="*/ 19 w 38"/>
                <a:gd name="T3" fmla="*/ 74 h 75"/>
                <a:gd name="T4" fmla="*/ 0 w 38"/>
                <a:gd name="T5" fmla="*/ 0 h 75"/>
                <a:gd name="T6" fmla="*/ 37 w 38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"/>
                <a:gd name="T13" fmla="*/ 0 h 75"/>
                <a:gd name="T14" fmla="*/ 38 w 38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" h="75">
                  <a:moveTo>
                    <a:pt x="37" y="0"/>
                  </a:moveTo>
                  <a:lnTo>
                    <a:pt x="19" y="74"/>
                  </a:lnTo>
                  <a:lnTo>
                    <a:pt x="0" y="0"/>
                  </a:lnTo>
                  <a:lnTo>
                    <a:pt x="37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41"/>
            <p:cNvSpPr>
              <a:spLocks/>
            </p:cNvSpPr>
            <p:nvPr/>
          </p:nvSpPr>
          <p:spPr bwMode="auto">
            <a:xfrm>
              <a:off x="3143" y="2761"/>
              <a:ext cx="689" cy="629"/>
            </a:xfrm>
            <a:custGeom>
              <a:avLst/>
              <a:gdLst>
                <a:gd name="T0" fmla="*/ 0 w 689"/>
                <a:gd name="T1" fmla="*/ 0 h 629"/>
                <a:gd name="T2" fmla="*/ 688 w 689"/>
                <a:gd name="T3" fmla="*/ 628 h 629"/>
                <a:gd name="T4" fmla="*/ 0 w 689"/>
                <a:gd name="T5" fmla="*/ 0 h 629"/>
                <a:gd name="T6" fmla="*/ 0 60000 65536"/>
                <a:gd name="T7" fmla="*/ 0 60000 65536"/>
                <a:gd name="T8" fmla="*/ 0 60000 65536"/>
                <a:gd name="T9" fmla="*/ 0 w 689"/>
                <a:gd name="T10" fmla="*/ 0 h 629"/>
                <a:gd name="T11" fmla="*/ 689 w 689"/>
                <a:gd name="T12" fmla="*/ 629 h 6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9" h="629">
                  <a:moveTo>
                    <a:pt x="0" y="0"/>
                  </a:moveTo>
                  <a:lnTo>
                    <a:pt x="688" y="628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2"/>
            <p:cNvSpPr>
              <a:spLocks/>
            </p:cNvSpPr>
            <p:nvPr/>
          </p:nvSpPr>
          <p:spPr bwMode="auto">
            <a:xfrm>
              <a:off x="3765" y="3326"/>
              <a:ext cx="67" cy="64"/>
            </a:xfrm>
            <a:custGeom>
              <a:avLst/>
              <a:gdLst>
                <a:gd name="T0" fmla="*/ 25 w 67"/>
                <a:gd name="T1" fmla="*/ 0 h 64"/>
                <a:gd name="T2" fmla="*/ 66 w 67"/>
                <a:gd name="T3" fmla="*/ 63 h 64"/>
                <a:gd name="T4" fmla="*/ 0 w 67"/>
                <a:gd name="T5" fmla="*/ 27 h 64"/>
                <a:gd name="T6" fmla="*/ 25 w 67"/>
                <a:gd name="T7" fmla="*/ 0 h 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64"/>
                <a:gd name="T14" fmla="*/ 67 w 67"/>
                <a:gd name="T15" fmla="*/ 64 h 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64">
                  <a:moveTo>
                    <a:pt x="25" y="0"/>
                  </a:moveTo>
                  <a:lnTo>
                    <a:pt x="66" y="63"/>
                  </a:lnTo>
                  <a:lnTo>
                    <a:pt x="0" y="27"/>
                  </a:lnTo>
                  <a:lnTo>
                    <a:pt x="25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3"/>
            <p:cNvSpPr>
              <a:spLocks/>
            </p:cNvSpPr>
            <p:nvPr/>
          </p:nvSpPr>
          <p:spPr bwMode="auto">
            <a:xfrm>
              <a:off x="3495" y="2753"/>
              <a:ext cx="1398" cy="637"/>
            </a:xfrm>
            <a:custGeom>
              <a:avLst/>
              <a:gdLst>
                <a:gd name="T0" fmla="*/ 0 w 1398"/>
                <a:gd name="T1" fmla="*/ 0 h 637"/>
                <a:gd name="T2" fmla="*/ 1397 w 1398"/>
                <a:gd name="T3" fmla="*/ 636 h 637"/>
                <a:gd name="T4" fmla="*/ 0 w 1398"/>
                <a:gd name="T5" fmla="*/ 0 h 637"/>
                <a:gd name="T6" fmla="*/ 0 60000 65536"/>
                <a:gd name="T7" fmla="*/ 0 60000 65536"/>
                <a:gd name="T8" fmla="*/ 0 60000 65536"/>
                <a:gd name="T9" fmla="*/ 0 w 1398"/>
                <a:gd name="T10" fmla="*/ 0 h 637"/>
                <a:gd name="T11" fmla="*/ 1398 w 1398"/>
                <a:gd name="T12" fmla="*/ 637 h 6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8" h="637">
                  <a:moveTo>
                    <a:pt x="0" y="0"/>
                  </a:moveTo>
                  <a:lnTo>
                    <a:pt x="1397" y="636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4"/>
            <p:cNvSpPr>
              <a:spLocks/>
            </p:cNvSpPr>
            <p:nvPr/>
          </p:nvSpPr>
          <p:spPr bwMode="auto">
            <a:xfrm>
              <a:off x="4818" y="3341"/>
              <a:ext cx="75" cy="49"/>
            </a:xfrm>
            <a:custGeom>
              <a:avLst/>
              <a:gdLst>
                <a:gd name="T0" fmla="*/ 15 w 75"/>
                <a:gd name="T1" fmla="*/ 0 h 49"/>
                <a:gd name="T2" fmla="*/ 74 w 75"/>
                <a:gd name="T3" fmla="*/ 48 h 49"/>
                <a:gd name="T4" fmla="*/ 0 w 75"/>
                <a:gd name="T5" fmla="*/ 34 h 49"/>
                <a:gd name="T6" fmla="*/ 15 w 75"/>
                <a:gd name="T7" fmla="*/ 0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49"/>
                <a:gd name="T14" fmla="*/ 75 w 75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49">
                  <a:moveTo>
                    <a:pt x="15" y="0"/>
                  </a:moveTo>
                  <a:lnTo>
                    <a:pt x="74" y="48"/>
                  </a:lnTo>
                  <a:lnTo>
                    <a:pt x="0" y="34"/>
                  </a:lnTo>
                  <a:lnTo>
                    <a:pt x="15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Rectangle 45"/>
            <p:cNvSpPr>
              <a:spLocks noChangeArrowheads="1"/>
            </p:cNvSpPr>
            <p:nvPr/>
          </p:nvSpPr>
          <p:spPr bwMode="auto">
            <a:xfrm>
              <a:off x="1762" y="2207"/>
              <a:ext cx="37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400" u="none">
                  <a:solidFill>
                    <a:srgbClr val="000000"/>
                  </a:solidFill>
                  <a:latin typeface="Arial" pitchFamily="34" charset="0"/>
                </a:rPr>
                <a:t>Root</a:t>
              </a:r>
            </a:p>
          </p:txBody>
        </p:sp>
        <p:sp>
          <p:nvSpPr>
            <p:cNvPr id="45" name="Rectangle 46"/>
            <p:cNvSpPr>
              <a:spLocks noChangeArrowheads="1"/>
            </p:cNvSpPr>
            <p:nvPr/>
          </p:nvSpPr>
          <p:spPr bwMode="auto">
            <a:xfrm>
              <a:off x="2493" y="2551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17</a:t>
              </a:r>
            </a:p>
          </p:txBody>
        </p:sp>
        <p:sp>
          <p:nvSpPr>
            <p:cNvPr id="46" name="Rectangle 47"/>
            <p:cNvSpPr>
              <a:spLocks noChangeArrowheads="1"/>
            </p:cNvSpPr>
            <p:nvPr/>
          </p:nvSpPr>
          <p:spPr bwMode="auto">
            <a:xfrm>
              <a:off x="2844" y="2550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24</a:t>
              </a:r>
            </a:p>
          </p:txBody>
        </p:sp>
        <p:sp>
          <p:nvSpPr>
            <p:cNvPr id="47" name="Rectangle 48"/>
            <p:cNvSpPr>
              <a:spLocks noChangeArrowheads="1"/>
            </p:cNvSpPr>
            <p:nvPr/>
          </p:nvSpPr>
          <p:spPr bwMode="auto">
            <a:xfrm>
              <a:off x="3203" y="2543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30</a:t>
              </a:r>
            </a:p>
          </p:txBody>
        </p:sp>
        <p:sp>
          <p:nvSpPr>
            <p:cNvPr id="48" name="Rectangle 49"/>
            <p:cNvSpPr>
              <a:spLocks noChangeArrowheads="1"/>
            </p:cNvSpPr>
            <p:nvPr/>
          </p:nvSpPr>
          <p:spPr bwMode="auto">
            <a:xfrm>
              <a:off x="218" y="3419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2*</a:t>
              </a:r>
            </a:p>
          </p:txBody>
        </p:sp>
        <p:sp>
          <p:nvSpPr>
            <p:cNvPr id="49" name="Rectangle 50"/>
            <p:cNvSpPr>
              <a:spLocks noChangeArrowheads="1"/>
            </p:cNvSpPr>
            <p:nvPr/>
          </p:nvSpPr>
          <p:spPr bwMode="auto">
            <a:xfrm>
              <a:off x="458" y="3412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3*</a:t>
              </a:r>
            </a:p>
          </p:txBody>
        </p:sp>
        <p:sp>
          <p:nvSpPr>
            <p:cNvPr id="50" name="Rectangle 51"/>
            <p:cNvSpPr>
              <a:spLocks noChangeArrowheads="1"/>
            </p:cNvSpPr>
            <p:nvPr/>
          </p:nvSpPr>
          <p:spPr bwMode="auto">
            <a:xfrm>
              <a:off x="693" y="3412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5*</a:t>
              </a:r>
            </a:p>
          </p:txBody>
        </p:sp>
        <p:sp>
          <p:nvSpPr>
            <p:cNvPr id="51" name="Rectangle 52"/>
            <p:cNvSpPr>
              <a:spLocks noChangeArrowheads="1"/>
            </p:cNvSpPr>
            <p:nvPr/>
          </p:nvSpPr>
          <p:spPr bwMode="auto">
            <a:xfrm>
              <a:off x="927" y="3419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7*</a:t>
              </a:r>
            </a:p>
          </p:txBody>
        </p:sp>
        <p:sp>
          <p:nvSpPr>
            <p:cNvPr id="52" name="Rectangle 53"/>
            <p:cNvSpPr>
              <a:spLocks noChangeArrowheads="1"/>
            </p:cNvSpPr>
            <p:nvPr/>
          </p:nvSpPr>
          <p:spPr bwMode="auto">
            <a:xfrm>
              <a:off x="1264" y="3419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14*</a:t>
              </a:r>
            </a:p>
          </p:txBody>
        </p:sp>
        <p:sp>
          <p:nvSpPr>
            <p:cNvPr id="53" name="Rectangle 54"/>
            <p:cNvSpPr>
              <a:spLocks noChangeArrowheads="1"/>
            </p:cNvSpPr>
            <p:nvPr/>
          </p:nvSpPr>
          <p:spPr bwMode="auto">
            <a:xfrm>
              <a:off x="1491" y="3419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16*</a:t>
              </a:r>
            </a:p>
          </p:txBody>
        </p:sp>
        <p:sp>
          <p:nvSpPr>
            <p:cNvPr id="54" name="Rectangle 55"/>
            <p:cNvSpPr>
              <a:spLocks noChangeArrowheads="1"/>
            </p:cNvSpPr>
            <p:nvPr/>
          </p:nvSpPr>
          <p:spPr bwMode="auto">
            <a:xfrm>
              <a:off x="2332" y="3412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19*</a:t>
              </a:r>
            </a:p>
          </p:txBody>
        </p:sp>
        <p:sp>
          <p:nvSpPr>
            <p:cNvPr id="55" name="Rectangle 56"/>
            <p:cNvSpPr>
              <a:spLocks noChangeArrowheads="1"/>
            </p:cNvSpPr>
            <p:nvPr/>
          </p:nvSpPr>
          <p:spPr bwMode="auto">
            <a:xfrm>
              <a:off x="2551" y="3412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20*</a:t>
              </a:r>
            </a:p>
          </p:txBody>
        </p:sp>
        <p:sp>
          <p:nvSpPr>
            <p:cNvPr id="56" name="Rectangle 57"/>
            <p:cNvSpPr>
              <a:spLocks noChangeArrowheads="1"/>
            </p:cNvSpPr>
            <p:nvPr/>
          </p:nvSpPr>
          <p:spPr bwMode="auto">
            <a:xfrm>
              <a:off x="2779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22*</a:t>
              </a:r>
            </a:p>
          </p:txBody>
        </p:sp>
        <p:sp>
          <p:nvSpPr>
            <p:cNvPr id="57" name="Rectangle 58"/>
            <p:cNvSpPr>
              <a:spLocks noChangeArrowheads="1"/>
            </p:cNvSpPr>
            <p:nvPr/>
          </p:nvSpPr>
          <p:spPr bwMode="auto">
            <a:xfrm>
              <a:off x="3363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24*</a:t>
              </a:r>
            </a:p>
          </p:txBody>
        </p:sp>
        <p:sp>
          <p:nvSpPr>
            <p:cNvPr id="58" name="Rectangle 59"/>
            <p:cNvSpPr>
              <a:spLocks noChangeArrowheads="1"/>
            </p:cNvSpPr>
            <p:nvPr/>
          </p:nvSpPr>
          <p:spPr bwMode="auto">
            <a:xfrm>
              <a:off x="3605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27*</a:t>
              </a:r>
            </a:p>
          </p:txBody>
        </p:sp>
        <p:sp>
          <p:nvSpPr>
            <p:cNvPr id="59" name="Rectangle 60"/>
            <p:cNvSpPr>
              <a:spLocks noChangeArrowheads="1"/>
            </p:cNvSpPr>
            <p:nvPr/>
          </p:nvSpPr>
          <p:spPr bwMode="auto">
            <a:xfrm>
              <a:off x="3824" y="3418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29*</a:t>
              </a:r>
            </a:p>
          </p:txBody>
        </p:sp>
        <p:sp>
          <p:nvSpPr>
            <p:cNvPr id="60" name="Rectangle 61"/>
            <p:cNvSpPr>
              <a:spLocks noChangeArrowheads="1"/>
            </p:cNvSpPr>
            <p:nvPr/>
          </p:nvSpPr>
          <p:spPr bwMode="auto">
            <a:xfrm>
              <a:off x="4417" y="3418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33*</a:t>
              </a:r>
            </a:p>
          </p:txBody>
        </p:sp>
        <p:sp>
          <p:nvSpPr>
            <p:cNvPr id="61" name="Rectangle 62"/>
            <p:cNvSpPr>
              <a:spLocks noChangeArrowheads="1"/>
            </p:cNvSpPr>
            <p:nvPr/>
          </p:nvSpPr>
          <p:spPr bwMode="auto">
            <a:xfrm>
              <a:off x="4652" y="3418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34*</a:t>
              </a:r>
            </a:p>
          </p:txBody>
        </p:sp>
        <p:sp>
          <p:nvSpPr>
            <p:cNvPr id="62" name="Rectangle 63"/>
            <p:cNvSpPr>
              <a:spLocks noChangeArrowheads="1"/>
            </p:cNvSpPr>
            <p:nvPr/>
          </p:nvSpPr>
          <p:spPr bwMode="auto">
            <a:xfrm>
              <a:off x="4878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38*</a:t>
              </a:r>
            </a:p>
          </p:txBody>
        </p:sp>
        <p:sp>
          <p:nvSpPr>
            <p:cNvPr id="63" name="Rectangle 64"/>
            <p:cNvSpPr>
              <a:spLocks noChangeArrowheads="1"/>
            </p:cNvSpPr>
            <p:nvPr/>
          </p:nvSpPr>
          <p:spPr bwMode="auto">
            <a:xfrm>
              <a:off x="5112" y="3404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39*</a:t>
              </a:r>
            </a:p>
          </p:txBody>
        </p:sp>
        <p:sp>
          <p:nvSpPr>
            <p:cNvPr id="64" name="Rectangle 65"/>
            <p:cNvSpPr>
              <a:spLocks noChangeArrowheads="1"/>
            </p:cNvSpPr>
            <p:nvPr/>
          </p:nvSpPr>
          <p:spPr bwMode="auto">
            <a:xfrm>
              <a:off x="2157" y="2551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13</a:t>
              </a:r>
            </a:p>
          </p:txBody>
        </p:sp>
        <p:sp>
          <p:nvSpPr>
            <p:cNvPr id="65" name="Line 66"/>
            <p:cNvSpPr>
              <a:spLocks noChangeShapeType="1"/>
            </p:cNvSpPr>
            <p:nvPr/>
          </p:nvSpPr>
          <p:spPr bwMode="auto">
            <a:xfrm>
              <a:off x="2304" y="2208"/>
              <a:ext cx="24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Arc 67"/>
            <p:cNvSpPr>
              <a:spLocks/>
            </p:cNvSpPr>
            <p:nvPr/>
          </p:nvSpPr>
          <p:spPr bwMode="auto">
            <a:xfrm rot="-2580000">
              <a:off x="2160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Arc 68"/>
            <p:cNvSpPr>
              <a:spLocks/>
            </p:cNvSpPr>
            <p:nvPr/>
          </p:nvSpPr>
          <p:spPr bwMode="auto">
            <a:xfrm rot="-2580000">
              <a:off x="1056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Arc 69"/>
            <p:cNvSpPr>
              <a:spLocks/>
            </p:cNvSpPr>
            <p:nvPr/>
          </p:nvSpPr>
          <p:spPr bwMode="auto">
            <a:xfrm rot="-2580000">
              <a:off x="3168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Arc 70"/>
            <p:cNvSpPr>
              <a:spLocks/>
            </p:cNvSpPr>
            <p:nvPr/>
          </p:nvSpPr>
          <p:spPr bwMode="auto">
            <a:xfrm rot="-2580000">
              <a:off x="4224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3" name="Straight Arrow Connector 2"/>
          <p:cNvCxnSpPr>
            <a:stCxn id="34" idx="0"/>
            <a:endCxn id="35" idx="1"/>
          </p:cNvCxnSpPr>
          <p:nvPr/>
        </p:nvCxnSpPr>
        <p:spPr>
          <a:xfrm flipH="1">
            <a:off x="1254124" y="3013075"/>
            <a:ext cx="2217738" cy="100806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reeform 6"/>
          <p:cNvSpPr>
            <a:spLocks/>
          </p:cNvSpPr>
          <p:nvPr/>
        </p:nvSpPr>
        <p:spPr bwMode="auto">
          <a:xfrm>
            <a:off x="1093786" y="6008688"/>
            <a:ext cx="360363" cy="360362"/>
          </a:xfrm>
          <a:custGeom>
            <a:avLst/>
            <a:gdLst>
              <a:gd name="T0" fmla="*/ 0 w 227"/>
              <a:gd name="T1" fmla="*/ 226 h 227"/>
              <a:gd name="T2" fmla="*/ 0 w 227"/>
              <a:gd name="T3" fmla="*/ 0 h 227"/>
              <a:gd name="T4" fmla="*/ 226 w 227"/>
              <a:gd name="T5" fmla="*/ 0 h 227"/>
              <a:gd name="T6" fmla="*/ 226 w 227"/>
              <a:gd name="T7" fmla="*/ 226 h 227"/>
              <a:gd name="T8" fmla="*/ 0 w 227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Freeform 7"/>
          <p:cNvSpPr>
            <a:spLocks/>
          </p:cNvSpPr>
          <p:nvPr/>
        </p:nvSpPr>
        <p:spPr bwMode="auto">
          <a:xfrm>
            <a:off x="1452561" y="6008688"/>
            <a:ext cx="361950" cy="360362"/>
          </a:xfrm>
          <a:custGeom>
            <a:avLst/>
            <a:gdLst>
              <a:gd name="T0" fmla="*/ 0 w 228"/>
              <a:gd name="T1" fmla="*/ 226 h 227"/>
              <a:gd name="T2" fmla="*/ 0 w 228"/>
              <a:gd name="T3" fmla="*/ 0 h 227"/>
              <a:gd name="T4" fmla="*/ 227 w 228"/>
              <a:gd name="T5" fmla="*/ 0 h 227"/>
              <a:gd name="T6" fmla="*/ 227 w 228"/>
              <a:gd name="T7" fmla="*/ 226 h 227"/>
              <a:gd name="T8" fmla="*/ 0 w 228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8" h="227">
                <a:moveTo>
                  <a:pt x="0" y="226"/>
                </a:moveTo>
                <a:lnTo>
                  <a:pt x="0" y="0"/>
                </a:lnTo>
                <a:lnTo>
                  <a:pt x="227" y="0"/>
                </a:lnTo>
                <a:lnTo>
                  <a:pt x="227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Freeform 8"/>
          <p:cNvSpPr>
            <a:spLocks/>
          </p:cNvSpPr>
          <p:nvPr/>
        </p:nvSpPr>
        <p:spPr bwMode="auto">
          <a:xfrm>
            <a:off x="1812924" y="6008688"/>
            <a:ext cx="360362" cy="360362"/>
          </a:xfrm>
          <a:custGeom>
            <a:avLst/>
            <a:gdLst>
              <a:gd name="T0" fmla="*/ 0 w 227"/>
              <a:gd name="T1" fmla="*/ 226 h 227"/>
              <a:gd name="T2" fmla="*/ 0 w 227"/>
              <a:gd name="T3" fmla="*/ 0 h 227"/>
              <a:gd name="T4" fmla="*/ 226 w 227"/>
              <a:gd name="T5" fmla="*/ 0 h 227"/>
              <a:gd name="T6" fmla="*/ 226 w 227"/>
              <a:gd name="T7" fmla="*/ 226 h 227"/>
              <a:gd name="T8" fmla="*/ 0 w 227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" name="Freeform 9"/>
          <p:cNvSpPr>
            <a:spLocks/>
          </p:cNvSpPr>
          <p:nvPr/>
        </p:nvSpPr>
        <p:spPr bwMode="auto">
          <a:xfrm>
            <a:off x="2171699" y="6008688"/>
            <a:ext cx="360362" cy="360362"/>
          </a:xfrm>
          <a:custGeom>
            <a:avLst/>
            <a:gdLst>
              <a:gd name="T0" fmla="*/ 0 w 227"/>
              <a:gd name="T1" fmla="*/ 226 h 227"/>
              <a:gd name="T2" fmla="*/ 0 w 227"/>
              <a:gd name="T3" fmla="*/ 0 h 227"/>
              <a:gd name="T4" fmla="*/ 226 w 227"/>
              <a:gd name="T5" fmla="*/ 0 h 227"/>
              <a:gd name="T6" fmla="*/ 226 w 227"/>
              <a:gd name="T7" fmla="*/ 226 h 227"/>
              <a:gd name="T8" fmla="*/ 0 w 227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" name="Freeform 10"/>
          <p:cNvSpPr>
            <a:spLocks/>
          </p:cNvSpPr>
          <p:nvPr/>
        </p:nvSpPr>
        <p:spPr bwMode="auto">
          <a:xfrm>
            <a:off x="2901949" y="6019800"/>
            <a:ext cx="360362" cy="360363"/>
          </a:xfrm>
          <a:custGeom>
            <a:avLst/>
            <a:gdLst>
              <a:gd name="T0" fmla="*/ 0 w 227"/>
              <a:gd name="T1" fmla="*/ 226 h 227"/>
              <a:gd name="T2" fmla="*/ 0 w 227"/>
              <a:gd name="T3" fmla="*/ 0 h 227"/>
              <a:gd name="T4" fmla="*/ 226 w 227"/>
              <a:gd name="T5" fmla="*/ 0 h 227"/>
              <a:gd name="T6" fmla="*/ 226 w 227"/>
              <a:gd name="T7" fmla="*/ 226 h 227"/>
              <a:gd name="T8" fmla="*/ 0 w 227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" name="Freeform 11"/>
          <p:cNvSpPr>
            <a:spLocks/>
          </p:cNvSpPr>
          <p:nvPr/>
        </p:nvSpPr>
        <p:spPr bwMode="auto">
          <a:xfrm>
            <a:off x="3260724" y="6019800"/>
            <a:ext cx="361950" cy="360363"/>
          </a:xfrm>
          <a:custGeom>
            <a:avLst/>
            <a:gdLst>
              <a:gd name="T0" fmla="*/ 0 w 228"/>
              <a:gd name="T1" fmla="*/ 226 h 227"/>
              <a:gd name="T2" fmla="*/ 0 w 228"/>
              <a:gd name="T3" fmla="*/ 0 h 227"/>
              <a:gd name="T4" fmla="*/ 227 w 228"/>
              <a:gd name="T5" fmla="*/ 0 h 227"/>
              <a:gd name="T6" fmla="*/ 227 w 228"/>
              <a:gd name="T7" fmla="*/ 226 h 227"/>
              <a:gd name="T8" fmla="*/ 0 w 228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8" h="227">
                <a:moveTo>
                  <a:pt x="0" y="226"/>
                </a:moveTo>
                <a:lnTo>
                  <a:pt x="0" y="0"/>
                </a:lnTo>
                <a:lnTo>
                  <a:pt x="227" y="0"/>
                </a:lnTo>
                <a:lnTo>
                  <a:pt x="227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" name="Freeform 12"/>
          <p:cNvSpPr>
            <a:spLocks/>
          </p:cNvSpPr>
          <p:nvPr/>
        </p:nvSpPr>
        <p:spPr bwMode="auto">
          <a:xfrm>
            <a:off x="3621086" y="6019800"/>
            <a:ext cx="360363" cy="360363"/>
          </a:xfrm>
          <a:custGeom>
            <a:avLst/>
            <a:gdLst>
              <a:gd name="T0" fmla="*/ 0 w 227"/>
              <a:gd name="T1" fmla="*/ 226 h 227"/>
              <a:gd name="T2" fmla="*/ 0 w 227"/>
              <a:gd name="T3" fmla="*/ 0 h 227"/>
              <a:gd name="T4" fmla="*/ 226 w 227"/>
              <a:gd name="T5" fmla="*/ 0 h 227"/>
              <a:gd name="T6" fmla="*/ 226 w 227"/>
              <a:gd name="T7" fmla="*/ 226 h 227"/>
              <a:gd name="T8" fmla="*/ 0 w 227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" name="Freeform 13"/>
          <p:cNvSpPr>
            <a:spLocks/>
          </p:cNvSpPr>
          <p:nvPr/>
        </p:nvSpPr>
        <p:spPr bwMode="auto">
          <a:xfrm>
            <a:off x="3979861" y="6019800"/>
            <a:ext cx="360363" cy="360363"/>
          </a:xfrm>
          <a:custGeom>
            <a:avLst/>
            <a:gdLst>
              <a:gd name="T0" fmla="*/ 0 w 227"/>
              <a:gd name="T1" fmla="*/ 226 h 227"/>
              <a:gd name="T2" fmla="*/ 0 w 227"/>
              <a:gd name="T3" fmla="*/ 0 h 227"/>
              <a:gd name="T4" fmla="*/ 226 w 227"/>
              <a:gd name="T5" fmla="*/ 0 h 227"/>
              <a:gd name="T6" fmla="*/ 226 w 227"/>
              <a:gd name="T7" fmla="*/ 226 h 227"/>
              <a:gd name="T8" fmla="*/ 0 w 227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" name="Freeform 14"/>
          <p:cNvSpPr>
            <a:spLocks/>
          </p:cNvSpPr>
          <p:nvPr/>
        </p:nvSpPr>
        <p:spPr bwMode="auto">
          <a:xfrm>
            <a:off x="1812924" y="5038725"/>
            <a:ext cx="506412" cy="928688"/>
          </a:xfrm>
          <a:custGeom>
            <a:avLst/>
            <a:gdLst>
              <a:gd name="T0" fmla="*/ 318 w 319"/>
              <a:gd name="T1" fmla="*/ 0 h 585"/>
              <a:gd name="T2" fmla="*/ 0 w 319"/>
              <a:gd name="T3" fmla="*/ 584 h 585"/>
              <a:gd name="T4" fmla="*/ 318 w 319"/>
              <a:gd name="T5" fmla="*/ 0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19" h="585">
                <a:moveTo>
                  <a:pt x="318" y="0"/>
                </a:moveTo>
                <a:lnTo>
                  <a:pt x="0" y="584"/>
                </a:lnTo>
                <a:lnTo>
                  <a:pt x="318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" name="Freeform 15"/>
          <p:cNvSpPr>
            <a:spLocks/>
          </p:cNvSpPr>
          <p:nvPr/>
        </p:nvSpPr>
        <p:spPr bwMode="auto">
          <a:xfrm>
            <a:off x="1812924" y="5853113"/>
            <a:ext cx="79375" cy="114300"/>
          </a:xfrm>
          <a:custGeom>
            <a:avLst/>
            <a:gdLst>
              <a:gd name="T0" fmla="*/ 49 w 50"/>
              <a:gd name="T1" fmla="*/ 17 h 72"/>
              <a:gd name="T2" fmla="*/ 0 w 50"/>
              <a:gd name="T3" fmla="*/ 71 h 72"/>
              <a:gd name="T4" fmla="*/ 17 w 50"/>
              <a:gd name="T5" fmla="*/ 0 h 72"/>
              <a:gd name="T6" fmla="*/ 49 w 50"/>
              <a:gd name="T7" fmla="*/ 17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0" h="72">
                <a:moveTo>
                  <a:pt x="49" y="17"/>
                </a:moveTo>
                <a:lnTo>
                  <a:pt x="0" y="71"/>
                </a:lnTo>
                <a:lnTo>
                  <a:pt x="17" y="0"/>
                </a:lnTo>
                <a:lnTo>
                  <a:pt x="49" y="1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" name="Freeform 16"/>
          <p:cNvSpPr>
            <a:spLocks/>
          </p:cNvSpPr>
          <p:nvPr/>
        </p:nvSpPr>
        <p:spPr bwMode="auto">
          <a:xfrm>
            <a:off x="2733674" y="5094288"/>
            <a:ext cx="449262" cy="403225"/>
          </a:xfrm>
          <a:custGeom>
            <a:avLst/>
            <a:gdLst>
              <a:gd name="T0" fmla="*/ 0 w 283"/>
              <a:gd name="T1" fmla="*/ 253 h 254"/>
              <a:gd name="T2" fmla="*/ 0 w 283"/>
              <a:gd name="T3" fmla="*/ 0 h 254"/>
              <a:gd name="T4" fmla="*/ 282 w 283"/>
              <a:gd name="T5" fmla="*/ 0 h 254"/>
              <a:gd name="T6" fmla="*/ 282 w 283"/>
              <a:gd name="T7" fmla="*/ 253 h 254"/>
              <a:gd name="T8" fmla="*/ 0 w 283"/>
              <a:gd name="T9" fmla="*/ 253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3" h="254">
                <a:moveTo>
                  <a:pt x="0" y="253"/>
                </a:moveTo>
                <a:lnTo>
                  <a:pt x="0" y="0"/>
                </a:lnTo>
                <a:lnTo>
                  <a:pt x="282" y="0"/>
                </a:lnTo>
                <a:lnTo>
                  <a:pt x="282" y="253"/>
                </a:lnTo>
                <a:lnTo>
                  <a:pt x="0" y="253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" name="Freeform 17"/>
          <p:cNvSpPr>
            <a:spLocks/>
          </p:cNvSpPr>
          <p:nvPr/>
        </p:nvSpPr>
        <p:spPr bwMode="auto">
          <a:xfrm>
            <a:off x="3070224" y="5103813"/>
            <a:ext cx="1587" cy="371475"/>
          </a:xfrm>
          <a:custGeom>
            <a:avLst/>
            <a:gdLst>
              <a:gd name="T0" fmla="*/ 0 w 1"/>
              <a:gd name="T1" fmla="*/ 0 h 234"/>
              <a:gd name="T2" fmla="*/ 0 w 1"/>
              <a:gd name="T3" fmla="*/ 233 h 234"/>
              <a:gd name="T4" fmla="*/ 0 w 1"/>
              <a:gd name="T5" fmla="*/ 0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4">
                <a:moveTo>
                  <a:pt x="0" y="0"/>
                </a:moveTo>
                <a:lnTo>
                  <a:pt x="0" y="233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" name="Rectangle 29"/>
          <p:cNvSpPr>
            <a:spLocks noChangeArrowheads="1"/>
          </p:cNvSpPr>
          <p:nvPr/>
        </p:nvSpPr>
        <p:spPr bwMode="auto">
          <a:xfrm>
            <a:off x="1093786" y="6016625"/>
            <a:ext cx="336550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2*</a:t>
            </a:r>
          </a:p>
        </p:txBody>
      </p:sp>
      <p:sp>
        <p:nvSpPr>
          <p:cNvPr id="96" name="Rectangle 30"/>
          <p:cNvSpPr>
            <a:spLocks noChangeArrowheads="1"/>
          </p:cNvSpPr>
          <p:nvPr/>
        </p:nvSpPr>
        <p:spPr bwMode="auto">
          <a:xfrm>
            <a:off x="1463674" y="6005513"/>
            <a:ext cx="33655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3*</a:t>
            </a:r>
          </a:p>
        </p:txBody>
      </p:sp>
      <p:sp>
        <p:nvSpPr>
          <p:cNvPr id="97" name="Rectangle 31"/>
          <p:cNvSpPr>
            <a:spLocks noChangeArrowheads="1"/>
          </p:cNvSpPr>
          <p:nvPr/>
        </p:nvSpPr>
        <p:spPr bwMode="auto">
          <a:xfrm>
            <a:off x="2900361" y="6005513"/>
            <a:ext cx="33655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5*</a:t>
            </a:r>
          </a:p>
        </p:txBody>
      </p:sp>
      <p:sp>
        <p:nvSpPr>
          <p:cNvPr id="98" name="Rectangle 32"/>
          <p:cNvSpPr>
            <a:spLocks noChangeArrowheads="1"/>
          </p:cNvSpPr>
          <p:nvPr/>
        </p:nvSpPr>
        <p:spPr bwMode="auto">
          <a:xfrm>
            <a:off x="3260724" y="6016625"/>
            <a:ext cx="336550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7*</a:t>
            </a:r>
          </a:p>
        </p:txBody>
      </p:sp>
      <p:sp>
        <p:nvSpPr>
          <p:cNvPr id="99" name="Rectangle 33"/>
          <p:cNvSpPr>
            <a:spLocks noChangeArrowheads="1"/>
          </p:cNvSpPr>
          <p:nvPr/>
        </p:nvSpPr>
        <p:spPr bwMode="auto">
          <a:xfrm>
            <a:off x="3630611" y="6027738"/>
            <a:ext cx="33655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8*</a:t>
            </a:r>
          </a:p>
        </p:txBody>
      </p:sp>
      <p:sp>
        <p:nvSpPr>
          <p:cNvPr id="100" name="Rectangle 34"/>
          <p:cNvSpPr>
            <a:spLocks noChangeArrowheads="1"/>
          </p:cNvSpPr>
          <p:nvPr/>
        </p:nvSpPr>
        <p:spPr bwMode="auto">
          <a:xfrm>
            <a:off x="2765424" y="5133975"/>
            <a:ext cx="2794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106" name="Arc 40"/>
          <p:cNvSpPr>
            <a:spLocks/>
          </p:cNvSpPr>
          <p:nvPr/>
        </p:nvSpPr>
        <p:spPr bwMode="auto">
          <a:xfrm rot="19020000">
            <a:off x="2513011" y="5789613"/>
            <a:ext cx="381000" cy="381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" name="Arc 41"/>
          <p:cNvSpPr>
            <a:spLocks/>
          </p:cNvSpPr>
          <p:nvPr/>
        </p:nvSpPr>
        <p:spPr bwMode="auto">
          <a:xfrm>
            <a:off x="3122611" y="5403850"/>
            <a:ext cx="304800" cy="609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Oval 107"/>
          <p:cNvSpPr/>
          <p:nvPr/>
        </p:nvSpPr>
        <p:spPr>
          <a:xfrm>
            <a:off x="247803" y="3810794"/>
            <a:ext cx="2020886" cy="838200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Bent-Up Arrow 145"/>
          <p:cNvSpPr/>
          <p:nvPr/>
        </p:nvSpPr>
        <p:spPr>
          <a:xfrm rot="5400000">
            <a:off x="1097756" y="4871641"/>
            <a:ext cx="550862" cy="464344"/>
          </a:xfrm>
          <a:prstGeom prst="bentUp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ight Arrow 1"/>
          <p:cNvSpPr/>
          <p:nvPr/>
        </p:nvSpPr>
        <p:spPr>
          <a:xfrm>
            <a:off x="3506274" y="5123783"/>
            <a:ext cx="1065212" cy="354991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reeform 43"/>
          <p:cNvSpPr>
            <a:spLocks/>
          </p:cNvSpPr>
          <p:nvPr/>
        </p:nvSpPr>
        <p:spPr bwMode="auto">
          <a:xfrm>
            <a:off x="4702175" y="5993063"/>
            <a:ext cx="404813" cy="401638"/>
          </a:xfrm>
          <a:custGeom>
            <a:avLst/>
            <a:gdLst>
              <a:gd name="T0" fmla="*/ 0 w 255"/>
              <a:gd name="T1" fmla="*/ 252 h 253"/>
              <a:gd name="T2" fmla="*/ 0 w 255"/>
              <a:gd name="T3" fmla="*/ 0 h 253"/>
              <a:gd name="T4" fmla="*/ 254 w 255"/>
              <a:gd name="T5" fmla="*/ 0 h 253"/>
              <a:gd name="T6" fmla="*/ 254 w 255"/>
              <a:gd name="T7" fmla="*/ 252 h 253"/>
              <a:gd name="T8" fmla="*/ 0 w 255"/>
              <a:gd name="T9" fmla="*/ 252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5" h="253">
                <a:moveTo>
                  <a:pt x="0" y="252"/>
                </a:moveTo>
                <a:lnTo>
                  <a:pt x="0" y="0"/>
                </a:lnTo>
                <a:lnTo>
                  <a:pt x="254" y="0"/>
                </a:lnTo>
                <a:lnTo>
                  <a:pt x="254" y="252"/>
                </a:lnTo>
                <a:lnTo>
                  <a:pt x="0" y="25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" name="Freeform 44"/>
          <p:cNvSpPr>
            <a:spLocks/>
          </p:cNvSpPr>
          <p:nvPr/>
        </p:nvSpPr>
        <p:spPr bwMode="auto">
          <a:xfrm>
            <a:off x="4783138" y="5993063"/>
            <a:ext cx="1588" cy="401638"/>
          </a:xfrm>
          <a:custGeom>
            <a:avLst/>
            <a:gdLst>
              <a:gd name="T0" fmla="*/ 0 w 1"/>
              <a:gd name="T1" fmla="*/ 0 h 253"/>
              <a:gd name="T2" fmla="*/ 0 w 1"/>
              <a:gd name="T3" fmla="*/ 252 h 253"/>
              <a:gd name="T4" fmla="*/ 0 w 1"/>
              <a:gd name="T5" fmla="*/ 0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3">
                <a:moveTo>
                  <a:pt x="0" y="0"/>
                </a:moveTo>
                <a:lnTo>
                  <a:pt x="0" y="25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Freeform 45"/>
          <p:cNvSpPr>
            <a:spLocks/>
          </p:cNvSpPr>
          <p:nvPr/>
        </p:nvSpPr>
        <p:spPr bwMode="auto">
          <a:xfrm>
            <a:off x="5105401" y="5993063"/>
            <a:ext cx="401638" cy="401638"/>
          </a:xfrm>
          <a:custGeom>
            <a:avLst/>
            <a:gdLst>
              <a:gd name="T0" fmla="*/ 0 w 253"/>
              <a:gd name="T1" fmla="*/ 252 h 253"/>
              <a:gd name="T2" fmla="*/ 0 w 253"/>
              <a:gd name="T3" fmla="*/ 0 h 253"/>
              <a:gd name="T4" fmla="*/ 252 w 253"/>
              <a:gd name="T5" fmla="*/ 0 h 253"/>
              <a:gd name="T6" fmla="*/ 252 w 253"/>
              <a:gd name="T7" fmla="*/ 252 h 253"/>
              <a:gd name="T8" fmla="*/ 0 w 253"/>
              <a:gd name="T9" fmla="*/ 252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3" h="253">
                <a:moveTo>
                  <a:pt x="0" y="252"/>
                </a:moveTo>
                <a:lnTo>
                  <a:pt x="0" y="0"/>
                </a:lnTo>
                <a:lnTo>
                  <a:pt x="252" y="0"/>
                </a:lnTo>
                <a:lnTo>
                  <a:pt x="252" y="252"/>
                </a:lnTo>
                <a:lnTo>
                  <a:pt x="0" y="25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" name="Freeform 46"/>
          <p:cNvSpPr>
            <a:spLocks/>
          </p:cNvSpPr>
          <p:nvPr/>
        </p:nvSpPr>
        <p:spPr bwMode="auto">
          <a:xfrm>
            <a:off x="5184776" y="5993063"/>
            <a:ext cx="1588" cy="401638"/>
          </a:xfrm>
          <a:custGeom>
            <a:avLst/>
            <a:gdLst>
              <a:gd name="T0" fmla="*/ 0 w 1"/>
              <a:gd name="T1" fmla="*/ 0 h 253"/>
              <a:gd name="T2" fmla="*/ 0 w 1"/>
              <a:gd name="T3" fmla="*/ 252 h 253"/>
              <a:gd name="T4" fmla="*/ 0 w 1"/>
              <a:gd name="T5" fmla="*/ 0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3">
                <a:moveTo>
                  <a:pt x="0" y="0"/>
                </a:moveTo>
                <a:lnTo>
                  <a:pt x="0" y="25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Freeform 47"/>
          <p:cNvSpPr>
            <a:spLocks/>
          </p:cNvSpPr>
          <p:nvPr/>
        </p:nvSpPr>
        <p:spPr bwMode="auto">
          <a:xfrm>
            <a:off x="5505451" y="5993063"/>
            <a:ext cx="403225" cy="401638"/>
          </a:xfrm>
          <a:custGeom>
            <a:avLst/>
            <a:gdLst>
              <a:gd name="T0" fmla="*/ 0 w 254"/>
              <a:gd name="T1" fmla="*/ 252 h 253"/>
              <a:gd name="T2" fmla="*/ 0 w 254"/>
              <a:gd name="T3" fmla="*/ 0 h 253"/>
              <a:gd name="T4" fmla="*/ 253 w 254"/>
              <a:gd name="T5" fmla="*/ 0 h 253"/>
              <a:gd name="T6" fmla="*/ 253 w 254"/>
              <a:gd name="T7" fmla="*/ 252 h 253"/>
              <a:gd name="T8" fmla="*/ 0 w 254"/>
              <a:gd name="T9" fmla="*/ 252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253">
                <a:moveTo>
                  <a:pt x="0" y="252"/>
                </a:moveTo>
                <a:lnTo>
                  <a:pt x="0" y="0"/>
                </a:lnTo>
                <a:lnTo>
                  <a:pt x="253" y="0"/>
                </a:lnTo>
                <a:lnTo>
                  <a:pt x="253" y="252"/>
                </a:lnTo>
                <a:lnTo>
                  <a:pt x="0" y="25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" name="Freeform 48"/>
          <p:cNvSpPr>
            <a:spLocks/>
          </p:cNvSpPr>
          <p:nvPr/>
        </p:nvSpPr>
        <p:spPr bwMode="auto">
          <a:xfrm>
            <a:off x="5586414" y="5993063"/>
            <a:ext cx="1588" cy="401638"/>
          </a:xfrm>
          <a:custGeom>
            <a:avLst/>
            <a:gdLst>
              <a:gd name="T0" fmla="*/ 0 w 1"/>
              <a:gd name="T1" fmla="*/ 0 h 253"/>
              <a:gd name="T2" fmla="*/ 0 w 1"/>
              <a:gd name="T3" fmla="*/ 252 h 253"/>
              <a:gd name="T4" fmla="*/ 0 w 1"/>
              <a:gd name="T5" fmla="*/ 0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3">
                <a:moveTo>
                  <a:pt x="0" y="0"/>
                </a:moveTo>
                <a:lnTo>
                  <a:pt x="0" y="25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" name="Freeform 49"/>
          <p:cNvSpPr>
            <a:spLocks/>
          </p:cNvSpPr>
          <p:nvPr/>
        </p:nvSpPr>
        <p:spPr bwMode="auto">
          <a:xfrm>
            <a:off x="5907089" y="5993063"/>
            <a:ext cx="403225" cy="401638"/>
          </a:xfrm>
          <a:custGeom>
            <a:avLst/>
            <a:gdLst>
              <a:gd name="T0" fmla="*/ 0 w 254"/>
              <a:gd name="T1" fmla="*/ 252 h 253"/>
              <a:gd name="T2" fmla="*/ 0 w 254"/>
              <a:gd name="T3" fmla="*/ 0 h 253"/>
              <a:gd name="T4" fmla="*/ 253 w 254"/>
              <a:gd name="T5" fmla="*/ 0 h 253"/>
              <a:gd name="T6" fmla="*/ 253 w 254"/>
              <a:gd name="T7" fmla="*/ 252 h 253"/>
              <a:gd name="T8" fmla="*/ 0 w 254"/>
              <a:gd name="T9" fmla="*/ 252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253">
                <a:moveTo>
                  <a:pt x="0" y="252"/>
                </a:moveTo>
                <a:lnTo>
                  <a:pt x="0" y="0"/>
                </a:lnTo>
                <a:lnTo>
                  <a:pt x="253" y="0"/>
                </a:lnTo>
                <a:lnTo>
                  <a:pt x="253" y="252"/>
                </a:lnTo>
                <a:lnTo>
                  <a:pt x="0" y="25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" name="Freeform 50"/>
          <p:cNvSpPr>
            <a:spLocks/>
          </p:cNvSpPr>
          <p:nvPr/>
        </p:nvSpPr>
        <p:spPr bwMode="auto">
          <a:xfrm>
            <a:off x="5988052" y="5993063"/>
            <a:ext cx="1588" cy="401638"/>
          </a:xfrm>
          <a:custGeom>
            <a:avLst/>
            <a:gdLst>
              <a:gd name="T0" fmla="*/ 0 w 1"/>
              <a:gd name="T1" fmla="*/ 0 h 253"/>
              <a:gd name="T2" fmla="*/ 0 w 1"/>
              <a:gd name="T3" fmla="*/ 252 h 253"/>
              <a:gd name="T4" fmla="*/ 0 w 1"/>
              <a:gd name="T5" fmla="*/ 0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3">
                <a:moveTo>
                  <a:pt x="0" y="0"/>
                </a:moveTo>
                <a:lnTo>
                  <a:pt x="0" y="25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" name="Freeform 51"/>
          <p:cNvSpPr>
            <a:spLocks/>
          </p:cNvSpPr>
          <p:nvPr/>
        </p:nvSpPr>
        <p:spPr bwMode="auto">
          <a:xfrm>
            <a:off x="6310314" y="5993063"/>
            <a:ext cx="80963" cy="401638"/>
          </a:xfrm>
          <a:custGeom>
            <a:avLst/>
            <a:gdLst>
              <a:gd name="T0" fmla="*/ 0 w 51"/>
              <a:gd name="T1" fmla="*/ 252 h 253"/>
              <a:gd name="T2" fmla="*/ 0 w 51"/>
              <a:gd name="T3" fmla="*/ 0 h 253"/>
              <a:gd name="T4" fmla="*/ 50 w 51"/>
              <a:gd name="T5" fmla="*/ 0 h 253"/>
              <a:gd name="T6" fmla="*/ 50 w 51"/>
              <a:gd name="T7" fmla="*/ 252 h 253"/>
              <a:gd name="T8" fmla="*/ 0 w 51"/>
              <a:gd name="T9" fmla="*/ 252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" h="253">
                <a:moveTo>
                  <a:pt x="0" y="252"/>
                </a:moveTo>
                <a:lnTo>
                  <a:pt x="0" y="0"/>
                </a:lnTo>
                <a:lnTo>
                  <a:pt x="50" y="0"/>
                </a:lnTo>
                <a:lnTo>
                  <a:pt x="50" y="252"/>
                </a:lnTo>
                <a:lnTo>
                  <a:pt x="0" y="25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" name="Freeform 52"/>
          <p:cNvSpPr>
            <a:spLocks/>
          </p:cNvSpPr>
          <p:nvPr/>
        </p:nvSpPr>
        <p:spPr bwMode="auto">
          <a:xfrm>
            <a:off x="6711952" y="5993063"/>
            <a:ext cx="403225" cy="401638"/>
          </a:xfrm>
          <a:custGeom>
            <a:avLst/>
            <a:gdLst>
              <a:gd name="T0" fmla="*/ 0 w 254"/>
              <a:gd name="T1" fmla="*/ 252 h 253"/>
              <a:gd name="T2" fmla="*/ 0 w 254"/>
              <a:gd name="T3" fmla="*/ 0 h 253"/>
              <a:gd name="T4" fmla="*/ 253 w 254"/>
              <a:gd name="T5" fmla="*/ 0 h 253"/>
              <a:gd name="T6" fmla="*/ 253 w 254"/>
              <a:gd name="T7" fmla="*/ 252 h 253"/>
              <a:gd name="T8" fmla="*/ 0 w 254"/>
              <a:gd name="T9" fmla="*/ 252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253">
                <a:moveTo>
                  <a:pt x="0" y="252"/>
                </a:moveTo>
                <a:lnTo>
                  <a:pt x="0" y="0"/>
                </a:lnTo>
                <a:lnTo>
                  <a:pt x="253" y="0"/>
                </a:lnTo>
                <a:lnTo>
                  <a:pt x="253" y="252"/>
                </a:lnTo>
                <a:lnTo>
                  <a:pt x="0" y="25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" name="Freeform 53"/>
          <p:cNvSpPr>
            <a:spLocks/>
          </p:cNvSpPr>
          <p:nvPr/>
        </p:nvSpPr>
        <p:spPr bwMode="auto">
          <a:xfrm>
            <a:off x="6792915" y="5993063"/>
            <a:ext cx="1588" cy="401638"/>
          </a:xfrm>
          <a:custGeom>
            <a:avLst/>
            <a:gdLst>
              <a:gd name="T0" fmla="*/ 0 w 1"/>
              <a:gd name="T1" fmla="*/ 0 h 253"/>
              <a:gd name="T2" fmla="*/ 0 w 1"/>
              <a:gd name="T3" fmla="*/ 252 h 253"/>
              <a:gd name="T4" fmla="*/ 0 w 1"/>
              <a:gd name="T5" fmla="*/ 0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3">
                <a:moveTo>
                  <a:pt x="0" y="0"/>
                </a:moveTo>
                <a:lnTo>
                  <a:pt x="0" y="25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" name="Freeform 54"/>
          <p:cNvSpPr>
            <a:spLocks/>
          </p:cNvSpPr>
          <p:nvPr/>
        </p:nvSpPr>
        <p:spPr bwMode="auto">
          <a:xfrm>
            <a:off x="7113590" y="5993063"/>
            <a:ext cx="404813" cy="401638"/>
          </a:xfrm>
          <a:custGeom>
            <a:avLst/>
            <a:gdLst>
              <a:gd name="T0" fmla="*/ 0 w 255"/>
              <a:gd name="T1" fmla="*/ 252 h 253"/>
              <a:gd name="T2" fmla="*/ 0 w 255"/>
              <a:gd name="T3" fmla="*/ 0 h 253"/>
              <a:gd name="T4" fmla="*/ 254 w 255"/>
              <a:gd name="T5" fmla="*/ 0 h 253"/>
              <a:gd name="T6" fmla="*/ 254 w 255"/>
              <a:gd name="T7" fmla="*/ 252 h 253"/>
              <a:gd name="T8" fmla="*/ 0 w 255"/>
              <a:gd name="T9" fmla="*/ 252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5" h="253">
                <a:moveTo>
                  <a:pt x="0" y="252"/>
                </a:moveTo>
                <a:lnTo>
                  <a:pt x="0" y="0"/>
                </a:lnTo>
                <a:lnTo>
                  <a:pt x="254" y="0"/>
                </a:lnTo>
                <a:lnTo>
                  <a:pt x="254" y="252"/>
                </a:lnTo>
                <a:lnTo>
                  <a:pt x="0" y="25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" name="Freeform 55"/>
          <p:cNvSpPr>
            <a:spLocks/>
          </p:cNvSpPr>
          <p:nvPr/>
        </p:nvSpPr>
        <p:spPr bwMode="auto">
          <a:xfrm>
            <a:off x="7194553" y="5993063"/>
            <a:ext cx="1588" cy="401638"/>
          </a:xfrm>
          <a:custGeom>
            <a:avLst/>
            <a:gdLst>
              <a:gd name="T0" fmla="*/ 0 w 1"/>
              <a:gd name="T1" fmla="*/ 0 h 253"/>
              <a:gd name="T2" fmla="*/ 0 w 1"/>
              <a:gd name="T3" fmla="*/ 252 h 253"/>
              <a:gd name="T4" fmla="*/ 0 w 1"/>
              <a:gd name="T5" fmla="*/ 0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3">
                <a:moveTo>
                  <a:pt x="0" y="0"/>
                </a:moveTo>
                <a:lnTo>
                  <a:pt x="0" y="25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1" name="Freeform 56"/>
          <p:cNvSpPr>
            <a:spLocks/>
          </p:cNvSpPr>
          <p:nvPr/>
        </p:nvSpPr>
        <p:spPr bwMode="auto">
          <a:xfrm>
            <a:off x="7516816" y="5993063"/>
            <a:ext cx="403225" cy="401638"/>
          </a:xfrm>
          <a:custGeom>
            <a:avLst/>
            <a:gdLst>
              <a:gd name="T0" fmla="*/ 0 w 254"/>
              <a:gd name="T1" fmla="*/ 252 h 253"/>
              <a:gd name="T2" fmla="*/ 0 w 254"/>
              <a:gd name="T3" fmla="*/ 0 h 253"/>
              <a:gd name="T4" fmla="*/ 253 w 254"/>
              <a:gd name="T5" fmla="*/ 0 h 253"/>
              <a:gd name="T6" fmla="*/ 253 w 254"/>
              <a:gd name="T7" fmla="*/ 252 h 253"/>
              <a:gd name="T8" fmla="*/ 0 w 254"/>
              <a:gd name="T9" fmla="*/ 252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253">
                <a:moveTo>
                  <a:pt x="0" y="252"/>
                </a:moveTo>
                <a:lnTo>
                  <a:pt x="0" y="0"/>
                </a:lnTo>
                <a:lnTo>
                  <a:pt x="253" y="0"/>
                </a:lnTo>
                <a:lnTo>
                  <a:pt x="253" y="252"/>
                </a:lnTo>
                <a:lnTo>
                  <a:pt x="0" y="25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2" name="Freeform 57"/>
          <p:cNvSpPr>
            <a:spLocks/>
          </p:cNvSpPr>
          <p:nvPr/>
        </p:nvSpPr>
        <p:spPr bwMode="auto">
          <a:xfrm>
            <a:off x="7596191" y="5993063"/>
            <a:ext cx="1588" cy="401638"/>
          </a:xfrm>
          <a:custGeom>
            <a:avLst/>
            <a:gdLst>
              <a:gd name="T0" fmla="*/ 0 w 1"/>
              <a:gd name="T1" fmla="*/ 0 h 253"/>
              <a:gd name="T2" fmla="*/ 0 w 1"/>
              <a:gd name="T3" fmla="*/ 252 h 253"/>
              <a:gd name="T4" fmla="*/ 0 w 1"/>
              <a:gd name="T5" fmla="*/ 0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3">
                <a:moveTo>
                  <a:pt x="0" y="0"/>
                </a:moveTo>
                <a:lnTo>
                  <a:pt x="0" y="25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" name="Freeform 58"/>
          <p:cNvSpPr>
            <a:spLocks/>
          </p:cNvSpPr>
          <p:nvPr/>
        </p:nvSpPr>
        <p:spPr bwMode="auto">
          <a:xfrm>
            <a:off x="7918454" y="5993063"/>
            <a:ext cx="403225" cy="401638"/>
          </a:xfrm>
          <a:custGeom>
            <a:avLst/>
            <a:gdLst>
              <a:gd name="T0" fmla="*/ 0 w 254"/>
              <a:gd name="T1" fmla="*/ 252 h 253"/>
              <a:gd name="T2" fmla="*/ 0 w 254"/>
              <a:gd name="T3" fmla="*/ 0 h 253"/>
              <a:gd name="T4" fmla="*/ 253 w 254"/>
              <a:gd name="T5" fmla="*/ 0 h 253"/>
              <a:gd name="T6" fmla="*/ 253 w 254"/>
              <a:gd name="T7" fmla="*/ 252 h 253"/>
              <a:gd name="T8" fmla="*/ 0 w 254"/>
              <a:gd name="T9" fmla="*/ 252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253">
                <a:moveTo>
                  <a:pt x="0" y="252"/>
                </a:moveTo>
                <a:lnTo>
                  <a:pt x="0" y="0"/>
                </a:lnTo>
                <a:lnTo>
                  <a:pt x="253" y="0"/>
                </a:lnTo>
                <a:lnTo>
                  <a:pt x="253" y="252"/>
                </a:lnTo>
                <a:lnTo>
                  <a:pt x="0" y="25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" name="Freeform 59"/>
          <p:cNvSpPr>
            <a:spLocks/>
          </p:cNvSpPr>
          <p:nvPr/>
        </p:nvSpPr>
        <p:spPr bwMode="auto">
          <a:xfrm>
            <a:off x="7997829" y="5993063"/>
            <a:ext cx="1588" cy="401638"/>
          </a:xfrm>
          <a:custGeom>
            <a:avLst/>
            <a:gdLst>
              <a:gd name="T0" fmla="*/ 0 w 1"/>
              <a:gd name="T1" fmla="*/ 0 h 253"/>
              <a:gd name="T2" fmla="*/ 0 w 1"/>
              <a:gd name="T3" fmla="*/ 252 h 253"/>
              <a:gd name="T4" fmla="*/ 0 w 1"/>
              <a:gd name="T5" fmla="*/ 0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3">
                <a:moveTo>
                  <a:pt x="0" y="0"/>
                </a:moveTo>
                <a:lnTo>
                  <a:pt x="0" y="25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5" name="Freeform 60"/>
          <p:cNvSpPr>
            <a:spLocks/>
          </p:cNvSpPr>
          <p:nvPr/>
        </p:nvSpPr>
        <p:spPr bwMode="auto">
          <a:xfrm>
            <a:off x="8320092" y="5993063"/>
            <a:ext cx="80963" cy="401638"/>
          </a:xfrm>
          <a:custGeom>
            <a:avLst/>
            <a:gdLst>
              <a:gd name="T0" fmla="*/ 0 w 51"/>
              <a:gd name="T1" fmla="*/ 252 h 253"/>
              <a:gd name="T2" fmla="*/ 0 w 51"/>
              <a:gd name="T3" fmla="*/ 0 h 253"/>
              <a:gd name="T4" fmla="*/ 50 w 51"/>
              <a:gd name="T5" fmla="*/ 0 h 253"/>
              <a:gd name="T6" fmla="*/ 50 w 51"/>
              <a:gd name="T7" fmla="*/ 252 h 253"/>
              <a:gd name="T8" fmla="*/ 0 w 51"/>
              <a:gd name="T9" fmla="*/ 252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" h="253">
                <a:moveTo>
                  <a:pt x="0" y="252"/>
                </a:moveTo>
                <a:lnTo>
                  <a:pt x="0" y="0"/>
                </a:lnTo>
                <a:lnTo>
                  <a:pt x="50" y="0"/>
                </a:lnTo>
                <a:lnTo>
                  <a:pt x="50" y="252"/>
                </a:lnTo>
                <a:lnTo>
                  <a:pt x="0" y="25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7" name="Freeform 61"/>
          <p:cNvSpPr>
            <a:spLocks/>
          </p:cNvSpPr>
          <p:nvPr/>
        </p:nvSpPr>
        <p:spPr bwMode="auto">
          <a:xfrm>
            <a:off x="4572000" y="6323264"/>
            <a:ext cx="161925" cy="331788"/>
          </a:xfrm>
          <a:custGeom>
            <a:avLst/>
            <a:gdLst>
              <a:gd name="T0" fmla="*/ 101 w 102"/>
              <a:gd name="T1" fmla="*/ 0 h 209"/>
              <a:gd name="T2" fmla="*/ 0 w 102"/>
              <a:gd name="T3" fmla="*/ 208 h 209"/>
              <a:gd name="T4" fmla="*/ 101 w 102"/>
              <a:gd name="T5" fmla="*/ 0 h 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2" h="209">
                <a:moveTo>
                  <a:pt x="101" y="0"/>
                </a:moveTo>
                <a:lnTo>
                  <a:pt x="0" y="208"/>
                </a:lnTo>
                <a:lnTo>
                  <a:pt x="101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8" name="Freeform 62"/>
          <p:cNvSpPr>
            <a:spLocks/>
          </p:cNvSpPr>
          <p:nvPr/>
        </p:nvSpPr>
        <p:spPr bwMode="auto">
          <a:xfrm>
            <a:off x="4572000" y="6551864"/>
            <a:ext cx="68263" cy="103188"/>
          </a:xfrm>
          <a:custGeom>
            <a:avLst/>
            <a:gdLst>
              <a:gd name="T0" fmla="*/ 42 w 43"/>
              <a:gd name="T1" fmla="*/ 13 h 65"/>
              <a:gd name="T2" fmla="*/ 0 w 43"/>
              <a:gd name="T3" fmla="*/ 64 h 65"/>
              <a:gd name="T4" fmla="*/ 13 w 43"/>
              <a:gd name="T5" fmla="*/ 0 h 65"/>
              <a:gd name="T6" fmla="*/ 42 w 43"/>
              <a:gd name="T7" fmla="*/ 13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3" h="65">
                <a:moveTo>
                  <a:pt x="42" y="13"/>
                </a:moveTo>
                <a:lnTo>
                  <a:pt x="0" y="64"/>
                </a:lnTo>
                <a:lnTo>
                  <a:pt x="13" y="0"/>
                </a:lnTo>
                <a:lnTo>
                  <a:pt x="42" y="13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9" name="Freeform 63"/>
          <p:cNvSpPr>
            <a:spLocks/>
          </p:cNvSpPr>
          <p:nvPr/>
        </p:nvSpPr>
        <p:spPr bwMode="auto">
          <a:xfrm>
            <a:off x="5033963" y="6313739"/>
            <a:ext cx="112713" cy="290513"/>
          </a:xfrm>
          <a:custGeom>
            <a:avLst/>
            <a:gdLst>
              <a:gd name="T0" fmla="*/ 70 w 71"/>
              <a:gd name="T1" fmla="*/ 0 h 183"/>
              <a:gd name="T2" fmla="*/ 0 w 71"/>
              <a:gd name="T3" fmla="*/ 182 h 183"/>
              <a:gd name="T4" fmla="*/ 70 w 71"/>
              <a:gd name="T5" fmla="*/ 0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1" h="183">
                <a:moveTo>
                  <a:pt x="70" y="0"/>
                </a:moveTo>
                <a:lnTo>
                  <a:pt x="0" y="182"/>
                </a:lnTo>
                <a:lnTo>
                  <a:pt x="7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" name="Freeform 64"/>
          <p:cNvSpPr>
            <a:spLocks/>
          </p:cNvSpPr>
          <p:nvPr/>
        </p:nvSpPr>
        <p:spPr bwMode="auto">
          <a:xfrm>
            <a:off x="5033963" y="6501064"/>
            <a:ext cx="60325" cy="103188"/>
          </a:xfrm>
          <a:custGeom>
            <a:avLst/>
            <a:gdLst>
              <a:gd name="T0" fmla="*/ 37 w 38"/>
              <a:gd name="T1" fmla="*/ 11 h 65"/>
              <a:gd name="T2" fmla="*/ 0 w 38"/>
              <a:gd name="T3" fmla="*/ 64 h 65"/>
              <a:gd name="T4" fmla="*/ 7 w 38"/>
              <a:gd name="T5" fmla="*/ 0 h 65"/>
              <a:gd name="T6" fmla="*/ 37 w 38"/>
              <a:gd name="T7" fmla="*/ 11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8" h="65">
                <a:moveTo>
                  <a:pt x="37" y="11"/>
                </a:moveTo>
                <a:lnTo>
                  <a:pt x="0" y="64"/>
                </a:lnTo>
                <a:lnTo>
                  <a:pt x="7" y="0"/>
                </a:lnTo>
                <a:lnTo>
                  <a:pt x="37" y="1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" name="Freeform 65"/>
          <p:cNvSpPr>
            <a:spLocks/>
          </p:cNvSpPr>
          <p:nvPr/>
        </p:nvSpPr>
        <p:spPr bwMode="auto">
          <a:xfrm>
            <a:off x="5414963" y="6323264"/>
            <a:ext cx="123825" cy="292101"/>
          </a:xfrm>
          <a:custGeom>
            <a:avLst/>
            <a:gdLst>
              <a:gd name="T0" fmla="*/ 77 w 78"/>
              <a:gd name="T1" fmla="*/ 0 h 184"/>
              <a:gd name="T2" fmla="*/ 0 w 78"/>
              <a:gd name="T3" fmla="*/ 183 h 184"/>
              <a:gd name="T4" fmla="*/ 77 w 78"/>
              <a:gd name="T5" fmla="*/ 0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8" h="184">
                <a:moveTo>
                  <a:pt x="77" y="0"/>
                </a:moveTo>
                <a:lnTo>
                  <a:pt x="0" y="183"/>
                </a:lnTo>
                <a:lnTo>
                  <a:pt x="77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2" name="Freeform 66"/>
          <p:cNvSpPr>
            <a:spLocks/>
          </p:cNvSpPr>
          <p:nvPr/>
        </p:nvSpPr>
        <p:spPr bwMode="auto">
          <a:xfrm>
            <a:off x="5414963" y="6510589"/>
            <a:ext cx="63500" cy="104775"/>
          </a:xfrm>
          <a:custGeom>
            <a:avLst/>
            <a:gdLst>
              <a:gd name="T0" fmla="*/ 39 w 40"/>
              <a:gd name="T1" fmla="*/ 12 h 66"/>
              <a:gd name="T2" fmla="*/ 0 w 40"/>
              <a:gd name="T3" fmla="*/ 65 h 66"/>
              <a:gd name="T4" fmla="*/ 10 w 40"/>
              <a:gd name="T5" fmla="*/ 0 h 66"/>
              <a:gd name="T6" fmla="*/ 39 w 40"/>
              <a:gd name="T7" fmla="*/ 12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0" h="66">
                <a:moveTo>
                  <a:pt x="39" y="12"/>
                </a:moveTo>
                <a:lnTo>
                  <a:pt x="0" y="65"/>
                </a:lnTo>
                <a:lnTo>
                  <a:pt x="10" y="0"/>
                </a:lnTo>
                <a:lnTo>
                  <a:pt x="39" y="1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" name="Freeform 67"/>
          <p:cNvSpPr>
            <a:spLocks/>
          </p:cNvSpPr>
          <p:nvPr/>
        </p:nvSpPr>
        <p:spPr bwMode="auto">
          <a:xfrm>
            <a:off x="6611940" y="6332789"/>
            <a:ext cx="122238" cy="282576"/>
          </a:xfrm>
          <a:custGeom>
            <a:avLst/>
            <a:gdLst>
              <a:gd name="T0" fmla="*/ 76 w 77"/>
              <a:gd name="T1" fmla="*/ 0 h 178"/>
              <a:gd name="T2" fmla="*/ 0 w 77"/>
              <a:gd name="T3" fmla="*/ 177 h 178"/>
              <a:gd name="T4" fmla="*/ 76 w 77"/>
              <a:gd name="T5" fmla="*/ 0 h 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7" h="178">
                <a:moveTo>
                  <a:pt x="76" y="0"/>
                </a:moveTo>
                <a:lnTo>
                  <a:pt x="0" y="177"/>
                </a:lnTo>
                <a:lnTo>
                  <a:pt x="76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" name="Freeform 68"/>
          <p:cNvSpPr>
            <a:spLocks/>
          </p:cNvSpPr>
          <p:nvPr/>
        </p:nvSpPr>
        <p:spPr bwMode="auto">
          <a:xfrm>
            <a:off x="6611940" y="6510589"/>
            <a:ext cx="65088" cy="104775"/>
          </a:xfrm>
          <a:custGeom>
            <a:avLst/>
            <a:gdLst>
              <a:gd name="T0" fmla="*/ 40 w 41"/>
              <a:gd name="T1" fmla="*/ 13 h 66"/>
              <a:gd name="T2" fmla="*/ 0 w 41"/>
              <a:gd name="T3" fmla="*/ 65 h 66"/>
              <a:gd name="T4" fmla="*/ 10 w 41"/>
              <a:gd name="T5" fmla="*/ 0 h 66"/>
              <a:gd name="T6" fmla="*/ 40 w 41"/>
              <a:gd name="T7" fmla="*/ 13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" h="66">
                <a:moveTo>
                  <a:pt x="40" y="13"/>
                </a:moveTo>
                <a:lnTo>
                  <a:pt x="0" y="65"/>
                </a:lnTo>
                <a:lnTo>
                  <a:pt x="10" y="0"/>
                </a:lnTo>
                <a:lnTo>
                  <a:pt x="40" y="13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" name="Freeform 69"/>
          <p:cNvSpPr>
            <a:spLocks/>
          </p:cNvSpPr>
          <p:nvPr/>
        </p:nvSpPr>
        <p:spPr bwMode="auto">
          <a:xfrm>
            <a:off x="7023103" y="6323264"/>
            <a:ext cx="133350" cy="280988"/>
          </a:xfrm>
          <a:custGeom>
            <a:avLst/>
            <a:gdLst>
              <a:gd name="T0" fmla="*/ 83 w 84"/>
              <a:gd name="T1" fmla="*/ 0 h 177"/>
              <a:gd name="T2" fmla="*/ 0 w 84"/>
              <a:gd name="T3" fmla="*/ 176 h 177"/>
              <a:gd name="T4" fmla="*/ 83 w 84"/>
              <a:gd name="T5" fmla="*/ 0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4" h="177">
                <a:moveTo>
                  <a:pt x="83" y="0"/>
                </a:moveTo>
                <a:lnTo>
                  <a:pt x="0" y="176"/>
                </a:lnTo>
                <a:lnTo>
                  <a:pt x="83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" name="Freeform 70"/>
          <p:cNvSpPr>
            <a:spLocks/>
          </p:cNvSpPr>
          <p:nvPr/>
        </p:nvSpPr>
        <p:spPr bwMode="auto">
          <a:xfrm>
            <a:off x="7023103" y="6501064"/>
            <a:ext cx="66675" cy="103188"/>
          </a:xfrm>
          <a:custGeom>
            <a:avLst/>
            <a:gdLst>
              <a:gd name="T0" fmla="*/ 41 w 42"/>
              <a:gd name="T1" fmla="*/ 14 h 65"/>
              <a:gd name="T2" fmla="*/ 0 w 42"/>
              <a:gd name="T3" fmla="*/ 64 h 65"/>
              <a:gd name="T4" fmla="*/ 13 w 42"/>
              <a:gd name="T5" fmla="*/ 0 h 65"/>
              <a:gd name="T6" fmla="*/ 41 w 42"/>
              <a:gd name="T7" fmla="*/ 14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2" h="65">
                <a:moveTo>
                  <a:pt x="41" y="14"/>
                </a:moveTo>
                <a:lnTo>
                  <a:pt x="0" y="64"/>
                </a:lnTo>
                <a:lnTo>
                  <a:pt x="13" y="0"/>
                </a:lnTo>
                <a:lnTo>
                  <a:pt x="41" y="1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" name="Freeform 71"/>
          <p:cNvSpPr>
            <a:spLocks/>
          </p:cNvSpPr>
          <p:nvPr/>
        </p:nvSpPr>
        <p:spPr bwMode="auto">
          <a:xfrm>
            <a:off x="7415216" y="6332789"/>
            <a:ext cx="142875" cy="271463"/>
          </a:xfrm>
          <a:custGeom>
            <a:avLst/>
            <a:gdLst>
              <a:gd name="T0" fmla="*/ 89 w 90"/>
              <a:gd name="T1" fmla="*/ 0 h 171"/>
              <a:gd name="T2" fmla="*/ 0 w 90"/>
              <a:gd name="T3" fmla="*/ 170 h 171"/>
              <a:gd name="T4" fmla="*/ 89 w 90"/>
              <a:gd name="T5" fmla="*/ 0 h 1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0" h="171">
                <a:moveTo>
                  <a:pt x="89" y="0"/>
                </a:moveTo>
                <a:lnTo>
                  <a:pt x="0" y="170"/>
                </a:lnTo>
                <a:lnTo>
                  <a:pt x="89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" name="Freeform 72"/>
          <p:cNvSpPr>
            <a:spLocks/>
          </p:cNvSpPr>
          <p:nvPr/>
        </p:nvSpPr>
        <p:spPr bwMode="auto">
          <a:xfrm>
            <a:off x="7415216" y="6502652"/>
            <a:ext cx="69850" cy="101600"/>
          </a:xfrm>
          <a:custGeom>
            <a:avLst/>
            <a:gdLst>
              <a:gd name="T0" fmla="*/ 43 w 44"/>
              <a:gd name="T1" fmla="*/ 14 h 64"/>
              <a:gd name="T2" fmla="*/ 0 w 44"/>
              <a:gd name="T3" fmla="*/ 63 h 64"/>
              <a:gd name="T4" fmla="*/ 15 w 44"/>
              <a:gd name="T5" fmla="*/ 0 h 64"/>
              <a:gd name="T6" fmla="*/ 43 w 44"/>
              <a:gd name="T7" fmla="*/ 1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4" h="64">
                <a:moveTo>
                  <a:pt x="43" y="14"/>
                </a:moveTo>
                <a:lnTo>
                  <a:pt x="0" y="63"/>
                </a:lnTo>
                <a:lnTo>
                  <a:pt x="15" y="0"/>
                </a:lnTo>
                <a:lnTo>
                  <a:pt x="43" y="1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" name="Freeform 73"/>
          <p:cNvSpPr>
            <a:spLocks/>
          </p:cNvSpPr>
          <p:nvPr/>
        </p:nvSpPr>
        <p:spPr bwMode="auto">
          <a:xfrm>
            <a:off x="5505451" y="4900861"/>
            <a:ext cx="314325" cy="1073152"/>
          </a:xfrm>
          <a:custGeom>
            <a:avLst/>
            <a:gdLst>
              <a:gd name="T0" fmla="*/ 197 w 198"/>
              <a:gd name="T1" fmla="*/ 0 h 676"/>
              <a:gd name="T2" fmla="*/ 0 w 198"/>
              <a:gd name="T3" fmla="*/ 675 h 676"/>
              <a:gd name="T4" fmla="*/ 197 w 198"/>
              <a:gd name="T5" fmla="*/ 0 h 6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8" h="676">
                <a:moveTo>
                  <a:pt x="197" y="0"/>
                </a:moveTo>
                <a:lnTo>
                  <a:pt x="0" y="675"/>
                </a:lnTo>
                <a:lnTo>
                  <a:pt x="197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" name="Freeform 74"/>
          <p:cNvSpPr>
            <a:spLocks/>
          </p:cNvSpPr>
          <p:nvPr/>
        </p:nvSpPr>
        <p:spPr bwMode="auto">
          <a:xfrm>
            <a:off x="5505451" y="5869238"/>
            <a:ext cx="55563" cy="104775"/>
          </a:xfrm>
          <a:custGeom>
            <a:avLst/>
            <a:gdLst>
              <a:gd name="T0" fmla="*/ 34 w 35"/>
              <a:gd name="T1" fmla="*/ 9 h 66"/>
              <a:gd name="T2" fmla="*/ 0 w 35"/>
              <a:gd name="T3" fmla="*/ 65 h 66"/>
              <a:gd name="T4" fmla="*/ 3 w 35"/>
              <a:gd name="T5" fmla="*/ 0 h 66"/>
              <a:gd name="T6" fmla="*/ 34 w 35"/>
              <a:gd name="T7" fmla="*/ 9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" h="66">
                <a:moveTo>
                  <a:pt x="34" y="9"/>
                </a:moveTo>
                <a:lnTo>
                  <a:pt x="0" y="65"/>
                </a:lnTo>
                <a:lnTo>
                  <a:pt x="3" y="0"/>
                </a:lnTo>
                <a:lnTo>
                  <a:pt x="34" y="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1" name="Freeform 75"/>
          <p:cNvSpPr>
            <a:spLocks/>
          </p:cNvSpPr>
          <p:nvPr/>
        </p:nvSpPr>
        <p:spPr bwMode="auto">
          <a:xfrm>
            <a:off x="6561140" y="5092949"/>
            <a:ext cx="484188" cy="401638"/>
          </a:xfrm>
          <a:custGeom>
            <a:avLst/>
            <a:gdLst>
              <a:gd name="T0" fmla="*/ 0 w 305"/>
              <a:gd name="T1" fmla="*/ 252 h 253"/>
              <a:gd name="T2" fmla="*/ 0 w 305"/>
              <a:gd name="T3" fmla="*/ 0 h 253"/>
              <a:gd name="T4" fmla="*/ 304 w 305"/>
              <a:gd name="T5" fmla="*/ 0 h 253"/>
              <a:gd name="T6" fmla="*/ 304 w 305"/>
              <a:gd name="T7" fmla="*/ 252 h 253"/>
              <a:gd name="T8" fmla="*/ 0 w 305"/>
              <a:gd name="T9" fmla="*/ 252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5" h="253">
                <a:moveTo>
                  <a:pt x="0" y="252"/>
                </a:moveTo>
                <a:lnTo>
                  <a:pt x="0" y="0"/>
                </a:lnTo>
                <a:lnTo>
                  <a:pt x="304" y="0"/>
                </a:lnTo>
                <a:lnTo>
                  <a:pt x="304" y="252"/>
                </a:lnTo>
                <a:lnTo>
                  <a:pt x="0" y="25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" name="Freeform 76"/>
          <p:cNvSpPr>
            <a:spLocks/>
          </p:cNvSpPr>
          <p:nvPr/>
        </p:nvSpPr>
        <p:spPr bwMode="auto">
          <a:xfrm>
            <a:off x="6962778" y="5092949"/>
            <a:ext cx="1588" cy="401638"/>
          </a:xfrm>
          <a:custGeom>
            <a:avLst/>
            <a:gdLst>
              <a:gd name="T0" fmla="*/ 0 w 1"/>
              <a:gd name="T1" fmla="*/ 0 h 253"/>
              <a:gd name="T2" fmla="*/ 0 w 1"/>
              <a:gd name="T3" fmla="*/ 252 h 253"/>
              <a:gd name="T4" fmla="*/ 0 w 1"/>
              <a:gd name="T5" fmla="*/ 0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3">
                <a:moveTo>
                  <a:pt x="0" y="0"/>
                </a:moveTo>
                <a:lnTo>
                  <a:pt x="0" y="25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" name="Line 77"/>
          <p:cNvSpPr>
            <a:spLocks noChangeShapeType="1"/>
          </p:cNvSpPr>
          <p:nvPr/>
        </p:nvSpPr>
        <p:spPr bwMode="auto">
          <a:xfrm flipH="1">
            <a:off x="7446966" y="5073899"/>
            <a:ext cx="147638" cy="17463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" name="Line 78"/>
          <p:cNvSpPr>
            <a:spLocks noChangeShapeType="1"/>
          </p:cNvSpPr>
          <p:nvPr/>
        </p:nvSpPr>
        <p:spPr bwMode="auto">
          <a:xfrm flipH="1">
            <a:off x="7413628" y="5091362"/>
            <a:ext cx="33338" cy="4763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" name="Line 79"/>
          <p:cNvSpPr>
            <a:spLocks noChangeShapeType="1"/>
          </p:cNvSpPr>
          <p:nvPr/>
        </p:nvSpPr>
        <p:spPr bwMode="auto">
          <a:xfrm flipH="1">
            <a:off x="7388228" y="5096124"/>
            <a:ext cx="25400" cy="63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" name="Line 80"/>
          <p:cNvSpPr>
            <a:spLocks noChangeShapeType="1"/>
          </p:cNvSpPr>
          <p:nvPr/>
        </p:nvSpPr>
        <p:spPr bwMode="auto">
          <a:xfrm flipH="1">
            <a:off x="7358066" y="5102474"/>
            <a:ext cx="30163" cy="15875"/>
          </a:xfrm>
          <a:prstGeom prst="line">
            <a:avLst/>
          </a:prstGeom>
          <a:noFill/>
          <a:ln w="12700">
            <a:solidFill>
              <a:srgbClr val="FF82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" name="Line 81"/>
          <p:cNvSpPr>
            <a:spLocks noChangeShapeType="1"/>
          </p:cNvSpPr>
          <p:nvPr/>
        </p:nvSpPr>
        <p:spPr bwMode="auto">
          <a:xfrm flipH="1">
            <a:off x="7356478" y="5118349"/>
            <a:ext cx="1588" cy="20638"/>
          </a:xfrm>
          <a:prstGeom prst="line">
            <a:avLst/>
          </a:prstGeom>
          <a:noFill/>
          <a:ln w="12700">
            <a:solidFill>
              <a:srgbClr val="FF82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" name="Line 82"/>
          <p:cNvSpPr>
            <a:spLocks noChangeShapeType="1"/>
          </p:cNvSpPr>
          <p:nvPr/>
        </p:nvSpPr>
        <p:spPr bwMode="auto">
          <a:xfrm>
            <a:off x="7356478" y="5138987"/>
            <a:ext cx="28575" cy="254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" name="Line 83"/>
          <p:cNvSpPr>
            <a:spLocks noChangeShapeType="1"/>
          </p:cNvSpPr>
          <p:nvPr/>
        </p:nvSpPr>
        <p:spPr bwMode="auto">
          <a:xfrm>
            <a:off x="7385053" y="5164387"/>
            <a:ext cx="25400" cy="26988"/>
          </a:xfrm>
          <a:prstGeom prst="line">
            <a:avLst/>
          </a:prstGeom>
          <a:noFill/>
          <a:ln w="12700">
            <a:solidFill>
              <a:srgbClr val="FF82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0" name="Line 84"/>
          <p:cNvSpPr>
            <a:spLocks noChangeShapeType="1"/>
          </p:cNvSpPr>
          <p:nvPr/>
        </p:nvSpPr>
        <p:spPr bwMode="auto">
          <a:xfrm flipH="1">
            <a:off x="7400928" y="5191374"/>
            <a:ext cx="9525" cy="22225"/>
          </a:xfrm>
          <a:prstGeom prst="line">
            <a:avLst/>
          </a:prstGeom>
          <a:noFill/>
          <a:ln w="12700">
            <a:solidFill>
              <a:srgbClr val="FF82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1" name="Line 85"/>
          <p:cNvSpPr>
            <a:spLocks noChangeShapeType="1"/>
          </p:cNvSpPr>
          <p:nvPr/>
        </p:nvSpPr>
        <p:spPr bwMode="auto">
          <a:xfrm flipH="1">
            <a:off x="7358066" y="5213599"/>
            <a:ext cx="42863" cy="20638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2" name="Line 86"/>
          <p:cNvSpPr>
            <a:spLocks noChangeShapeType="1"/>
          </p:cNvSpPr>
          <p:nvPr/>
        </p:nvSpPr>
        <p:spPr bwMode="auto">
          <a:xfrm flipH="1">
            <a:off x="7324728" y="5234237"/>
            <a:ext cx="33338" cy="7938"/>
          </a:xfrm>
          <a:prstGeom prst="line">
            <a:avLst/>
          </a:prstGeom>
          <a:noFill/>
          <a:ln w="12700">
            <a:solidFill>
              <a:srgbClr val="FF82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3" name="Line 87"/>
          <p:cNvSpPr>
            <a:spLocks noChangeShapeType="1"/>
          </p:cNvSpPr>
          <p:nvPr/>
        </p:nvSpPr>
        <p:spPr bwMode="auto">
          <a:xfrm flipH="1">
            <a:off x="7281865" y="5242174"/>
            <a:ext cx="42863" cy="6350"/>
          </a:xfrm>
          <a:prstGeom prst="line">
            <a:avLst/>
          </a:prstGeom>
          <a:noFill/>
          <a:ln w="12700">
            <a:solidFill>
              <a:srgbClr val="FF82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" name="Line 88"/>
          <p:cNvSpPr>
            <a:spLocks noChangeShapeType="1"/>
          </p:cNvSpPr>
          <p:nvPr/>
        </p:nvSpPr>
        <p:spPr bwMode="auto">
          <a:xfrm flipH="1">
            <a:off x="7094540" y="5248524"/>
            <a:ext cx="187325" cy="2857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" name="Freeform 89"/>
          <p:cNvSpPr>
            <a:spLocks/>
          </p:cNvSpPr>
          <p:nvPr/>
        </p:nvSpPr>
        <p:spPr bwMode="auto">
          <a:xfrm>
            <a:off x="7094540" y="5242174"/>
            <a:ext cx="95250" cy="46038"/>
          </a:xfrm>
          <a:custGeom>
            <a:avLst/>
            <a:gdLst>
              <a:gd name="T0" fmla="*/ 59 w 60"/>
              <a:gd name="T1" fmla="*/ 28 h 29"/>
              <a:gd name="T2" fmla="*/ 0 w 60"/>
              <a:gd name="T3" fmla="*/ 22 h 29"/>
              <a:gd name="T4" fmla="*/ 55 w 60"/>
              <a:gd name="T5" fmla="*/ 0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0" h="29">
                <a:moveTo>
                  <a:pt x="59" y="28"/>
                </a:moveTo>
                <a:lnTo>
                  <a:pt x="0" y="22"/>
                </a:lnTo>
                <a:lnTo>
                  <a:pt x="55" y="0"/>
                </a:lnTo>
              </a:path>
            </a:pathLst>
          </a:custGeom>
          <a:noFill/>
          <a:ln w="12700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" name="Rectangle 90"/>
          <p:cNvSpPr>
            <a:spLocks noChangeArrowheads="1"/>
          </p:cNvSpPr>
          <p:nvPr/>
        </p:nvSpPr>
        <p:spPr bwMode="auto">
          <a:xfrm>
            <a:off x="4792663" y="6010526"/>
            <a:ext cx="273050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177" name="Rectangle 91"/>
          <p:cNvSpPr>
            <a:spLocks noChangeArrowheads="1"/>
          </p:cNvSpPr>
          <p:nvPr/>
        </p:nvSpPr>
        <p:spPr bwMode="auto">
          <a:xfrm>
            <a:off x="6791327" y="6010526"/>
            <a:ext cx="3651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24</a:t>
            </a:r>
          </a:p>
        </p:txBody>
      </p:sp>
      <p:sp>
        <p:nvSpPr>
          <p:cNvPr id="178" name="Rectangle 92"/>
          <p:cNvSpPr>
            <a:spLocks noChangeArrowheads="1"/>
          </p:cNvSpPr>
          <p:nvPr/>
        </p:nvSpPr>
        <p:spPr bwMode="auto">
          <a:xfrm>
            <a:off x="7194553" y="6010526"/>
            <a:ext cx="3651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30</a:t>
            </a:r>
          </a:p>
        </p:txBody>
      </p:sp>
      <p:sp>
        <p:nvSpPr>
          <p:cNvPr id="179" name="Rectangle 93"/>
          <p:cNvSpPr>
            <a:spLocks noChangeArrowheads="1"/>
          </p:cNvSpPr>
          <p:nvPr/>
        </p:nvSpPr>
        <p:spPr bwMode="auto">
          <a:xfrm>
            <a:off x="6611940" y="5097712"/>
            <a:ext cx="3651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17</a:t>
            </a:r>
          </a:p>
        </p:txBody>
      </p:sp>
      <p:sp>
        <p:nvSpPr>
          <p:cNvPr id="180" name="Rectangle 94"/>
          <p:cNvSpPr>
            <a:spLocks noChangeArrowheads="1"/>
          </p:cNvSpPr>
          <p:nvPr/>
        </p:nvSpPr>
        <p:spPr bwMode="auto">
          <a:xfrm>
            <a:off x="5194301" y="6010526"/>
            <a:ext cx="3651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13</a:t>
            </a:r>
          </a:p>
        </p:txBody>
      </p:sp>
      <p:sp>
        <p:nvSpPr>
          <p:cNvPr id="182" name="Rectangle 96"/>
          <p:cNvSpPr>
            <a:spLocks noChangeArrowheads="1"/>
          </p:cNvSpPr>
          <p:nvPr/>
        </p:nvSpPr>
        <p:spPr bwMode="auto">
          <a:xfrm>
            <a:off x="6604002" y="4470648"/>
            <a:ext cx="2443165" cy="582614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600" dirty="0" smtClean="0">
                <a:latin typeface="Arial" pitchFamily="34" charset="0"/>
              </a:rPr>
              <a:t>The </a:t>
            </a:r>
            <a:r>
              <a:rPr lang="en-US" sz="1600" u="sng" dirty="0" smtClean="0">
                <a:latin typeface="Arial" pitchFamily="34" charset="0"/>
              </a:rPr>
              <a:t>middle key</a:t>
            </a:r>
            <a:r>
              <a:rPr lang="en-US" sz="1600" dirty="0" smtClean="0">
                <a:latin typeface="Arial" pitchFamily="34" charset="0"/>
              </a:rPr>
              <a:t> (i.e., </a:t>
            </a:r>
            <a:r>
              <a:rPr lang="en-US" sz="1600" b="1" dirty="0" smtClean="0">
                <a:solidFill>
                  <a:srgbClr val="FF0000"/>
                </a:solidFill>
                <a:latin typeface="Arial" pitchFamily="34" charset="0"/>
              </a:rPr>
              <a:t>17</a:t>
            </a:r>
            <a:r>
              <a:rPr lang="en-US" sz="1600" dirty="0" smtClean="0">
                <a:latin typeface="Arial" pitchFamily="34" charset="0"/>
              </a:rPr>
              <a:t>) </a:t>
            </a:r>
          </a:p>
          <a:p>
            <a:r>
              <a:rPr lang="en-US" sz="1600" dirty="0" smtClean="0">
                <a:latin typeface="Arial" pitchFamily="34" charset="0"/>
              </a:rPr>
              <a:t>is “pushed up”</a:t>
            </a:r>
            <a:endParaRPr lang="en-US" sz="1600" dirty="0">
              <a:latin typeface="Arial" pitchFamily="34" charset="0"/>
            </a:endParaRPr>
          </a:p>
        </p:txBody>
      </p:sp>
      <p:sp>
        <p:nvSpPr>
          <p:cNvPr id="184" name="Rectangle 98"/>
          <p:cNvSpPr>
            <a:spLocks noChangeArrowheads="1"/>
          </p:cNvSpPr>
          <p:nvPr/>
        </p:nvSpPr>
        <p:spPr bwMode="auto">
          <a:xfrm>
            <a:off x="8691567" y="5024687"/>
            <a:ext cx="1082676" cy="304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5" name="Rectangle 99"/>
          <p:cNvSpPr>
            <a:spLocks noChangeArrowheads="1"/>
          </p:cNvSpPr>
          <p:nvPr/>
        </p:nvSpPr>
        <p:spPr bwMode="auto">
          <a:xfrm>
            <a:off x="9523418" y="5024687"/>
            <a:ext cx="500063" cy="304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6" name="Arc 100"/>
          <p:cNvSpPr>
            <a:spLocks/>
          </p:cNvSpPr>
          <p:nvPr/>
        </p:nvSpPr>
        <p:spPr bwMode="auto">
          <a:xfrm>
            <a:off x="7024690" y="5399337"/>
            <a:ext cx="304800" cy="609601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661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2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1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6" grpId="0" animBg="1"/>
      <p:bldP spid="167" grpId="0" animBg="1"/>
      <p:bldP spid="168" grpId="0" animBg="1"/>
      <p:bldP spid="169" grpId="0" animBg="1"/>
      <p:bldP spid="170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76" grpId="0"/>
      <p:bldP spid="177" grpId="0"/>
      <p:bldP spid="178" grpId="0"/>
      <p:bldP spid="179" grpId="0"/>
      <p:bldP spid="180" grpId="0"/>
      <p:bldP spid="182" grpId="0" animBg="1"/>
      <p:bldP spid="184" grpId="0"/>
      <p:bldP spid="18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B+ Tree: Examples </a:t>
            </a:r>
            <a:r>
              <a:rPr lang="en-US" dirty="0" smtClean="0">
                <a:ea typeface="ＭＳ Ｐゴシック" pitchFamily="34" charset="-128"/>
              </a:rPr>
              <a:t>of Insertions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Insert entry </a:t>
            </a:r>
            <a:r>
              <a:rPr lang="en-US" sz="2800" dirty="0" smtClean="0">
                <a:solidFill>
                  <a:srgbClr val="FF0000"/>
                </a:solidFill>
              </a:rPr>
              <a:t>8*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400" dirty="0"/>
          </a:p>
        </p:txBody>
      </p:sp>
      <p:grpSp>
        <p:nvGrpSpPr>
          <p:cNvPr id="4" name="Group 5"/>
          <p:cNvGrpSpPr>
            <a:grpSpLocks/>
          </p:cNvGrpSpPr>
          <p:nvPr/>
        </p:nvGrpSpPr>
        <p:grpSpPr bwMode="auto">
          <a:xfrm>
            <a:off x="500061" y="2133600"/>
            <a:ext cx="8201025" cy="2282825"/>
            <a:chOff x="218" y="2207"/>
            <a:chExt cx="5166" cy="1438"/>
          </a:xfrm>
        </p:grpSpPr>
        <p:sp>
          <p:nvSpPr>
            <p:cNvPr id="5" name="Freeform 6"/>
            <p:cNvSpPr>
              <a:spLocks/>
            </p:cNvSpPr>
            <p:nvPr/>
          </p:nvSpPr>
          <p:spPr bwMode="auto">
            <a:xfrm>
              <a:off x="2061" y="2506"/>
              <a:ext cx="351" cy="293"/>
            </a:xfrm>
            <a:custGeom>
              <a:avLst/>
              <a:gdLst>
                <a:gd name="T0" fmla="*/ 0 w 351"/>
                <a:gd name="T1" fmla="*/ 292 h 293"/>
                <a:gd name="T2" fmla="*/ 0 w 351"/>
                <a:gd name="T3" fmla="*/ 0 h 293"/>
                <a:gd name="T4" fmla="*/ 350 w 351"/>
                <a:gd name="T5" fmla="*/ 0 h 293"/>
                <a:gd name="T6" fmla="*/ 350 w 351"/>
                <a:gd name="T7" fmla="*/ 292 h 293"/>
                <a:gd name="T8" fmla="*/ 0 w 351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1"/>
                <a:gd name="T16" fmla="*/ 0 h 293"/>
                <a:gd name="T17" fmla="*/ 351 w 351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1" h="293">
                  <a:moveTo>
                    <a:pt x="0" y="292"/>
                  </a:moveTo>
                  <a:lnTo>
                    <a:pt x="0" y="0"/>
                  </a:lnTo>
                  <a:lnTo>
                    <a:pt x="350" y="0"/>
                  </a:lnTo>
                  <a:lnTo>
                    <a:pt x="350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7"/>
            <p:cNvSpPr>
              <a:spLocks/>
            </p:cNvSpPr>
            <p:nvPr/>
          </p:nvSpPr>
          <p:spPr bwMode="auto">
            <a:xfrm>
              <a:off x="2120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8"/>
            <p:cNvSpPr>
              <a:spLocks/>
            </p:cNvSpPr>
            <p:nvPr/>
          </p:nvSpPr>
          <p:spPr bwMode="auto">
            <a:xfrm>
              <a:off x="2411" y="2506"/>
              <a:ext cx="353" cy="293"/>
            </a:xfrm>
            <a:custGeom>
              <a:avLst/>
              <a:gdLst>
                <a:gd name="T0" fmla="*/ 0 w 353"/>
                <a:gd name="T1" fmla="*/ 292 h 293"/>
                <a:gd name="T2" fmla="*/ 0 w 353"/>
                <a:gd name="T3" fmla="*/ 0 h 293"/>
                <a:gd name="T4" fmla="*/ 352 w 353"/>
                <a:gd name="T5" fmla="*/ 0 h 293"/>
                <a:gd name="T6" fmla="*/ 352 w 353"/>
                <a:gd name="T7" fmla="*/ 292 h 293"/>
                <a:gd name="T8" fmla="*/ 0 w 353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3"/>
                <a:gd name="T16" fmla="*/ 0 h 293"/>
                <a:gd name="T17" fmla="*/ 353 w 353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3" h="293">
                  <a:moveTo>
                    <a:pt x="0" y="292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9"/>
            <p:cNvSpPr>
              <a:spLocks/>
            </p:cNvSpPr>
            <p:nvPr/>
          </p:nvSpPr>
          <p:spPr bwMode="auto">
            <a:xfrm>
              <a:off x="2471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10"/>
            <p:cNvSpPr>
              <a:spLocks/>
            </p:cNvSpPr>
            <p:nvPr/>
          </p:nvSpPr>
          <p:spPr bwMode="auto">
            <a:xfrm>
              <a:off x="2763" y="2506"/>
              <a:ext cx="352" cy="293"/>
            </a:xfrm>
            <a:custGeom>
              <a:avLst/>
              <a:gdLst>
                <a:gd name="T0" fmla="*/ 0 w 352"/>
                <a:gd name="T1" fmla="*/ 292 h 293"/>
                <a:gd name="T2" fmla="*/ 0 w 352"/>
                <a:gd name="T3" fmla="*/ 0 h 293"/>
                <a:gd name="T4" fmla="*/ 351 w 352"/>
                <a:gd name="T5" fmla="*/ 0 h 293"/>
                <a:gd name="T6" fmla="*/ 351 w 352"/>
                <a:gd name="T7" fmla="*/ 292 h 293"/>
                <a:gd name="T8" fmla="*/ 0 w 352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2"/>
                <a:gd name="T16" fmla="*/ 0 h 293"/>
                <a:gd name="T17" fmla="*/ 352 w 352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2" h="293">
                  <a:moveTo>
                    <a:pt x="0" y="292"/>
                  </a:moveTo>
                  <a:lnTo>
                    <a:pt x="0" y="0"/>
                  </a:lnTo>
                  <a:lnTo>
                    <a:pt x="351" y="0"/>
                  </a:lnTo>
                  <a:lnTo>
                    <a:pt x="351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1"/>
            <p:cNvSpPr>
              <a:spLocks/>
            </p:cNvSpPr>
            <p:nvPr/>
          </p:nvSpPr>
          <p:spPr bwMode="auto">
            <a:xfrm>
              <a:off x="2822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2"/>
            <p:cNvSpPr>
              <a:spLocks/>
            </p:cNvSpPr>
            <p:nvPr/>
          </p:nvSpPr>
          <p:spPr bwMode="auto">
            <a:xfrm>
              <a:off x="3114" y="2506"/>
              <a:ext cx="353" cy="293"/>
            </a:xfrm>
            <a:custGeom>
              <a:avLst/>
              <a:gdLst>
                <a:gd name="T0" fmla="*/ 0 w 353"/>
                <a:gd name="T1" fmla="*/ 292 h 293"/>
                <a:gd name="T2" fmla="*/ 0 w 353"/>
                <a:gd name="T3" fmla="*/ 0 h 293"/>
                <a:gd name="T4" fmla="*/ 352 w 353"/>
                <a:gd name="T5" fmla="*/ 0 h 293"/>
                <a:gd name="T6" fmla="*/ 352 w 353"/>
                <a:gd name="T7" fmla="*/ 292 h 293"/>
                <a:gd name="T8" fmla="*/ 0 w 353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3"/>
                <a:gd name="T16" fmla="*/ 0 h 293"/>
                <a:gd name="T17" fmla="*/ 353 w 353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3" h="293">
                  <a:moveTo>
                    <a:pt x="0" y="292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3"/>
            <p:cNvSpPr>
              <a:spLocks/>
            </p:cNvSpPr>
            <p:nvPr/>
          </p:nvSpPr>
          <p:spPr bwMode="auto">
            <a:xfrm>
              <a:off x="3172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4"/>
            <p:cNvSpPr>
              <a:spLocks/>
            </p:cNvSpPr>
            <p:nvPr/>
          </p:nvSpPr>
          <p:spPr bwMode="auto">
            <a:xfrm>
              <a:off x="3466" y="2506"/>
              <a:ext cx="59" cy="293"/>
            </a:xfrm>
            <a:custGeom>
              <a:avLst/>
              <a:gdLst>
                <a:gd name="T0" fmla="*/ 0 w 59"/>
                <a:gd name="T1" fmla="*/ 292 h 293"/>
                <a:gd name="T2" fmla="*/ 0 w 59"/>
                <a:gd name="T3" fmla="*/ 0 h 293"/>
                <a:gd name="T4" fmla="*/ 58 w 59"/>
                <a:gd name="T5" fmla="*/ 0 h 293"/>
                <a:gd name="T6" fmla="*/ 58 w 59"/>
                <a:gd name="T7" fmla="*/ 292 h 293"/>
                <a:gd name="T8" fmla="*/ 0 w 59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293"/>
                <a:gd name="T17" fmla="*/ 59 w 59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293">
                  <a:moveTo>
                    <a:pt x="0" y="292"/>
                  </a:moveTo>
                  <a:lnTo>
                    <a:pt x="0" y="0"/>
                  </a:lnTo>
                  <a:lnTo>
                    <a:pt x="58" y="0"/>
                  </a:lnTo>
                  <a:lnTo>
                    <a:pt x="58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5"/>
            <p:cNvSpPr>
              <a:spLocks/>
            </p:cNvSpPr>
            <p:nvPr/>
          </p:nvSpPr>
          <p:spPr bwMode="auto">
            <a:xfrm>
              <a:off x="4431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6"/>
            <p:cNvSpPr>
              <a:spLocks/>
            </p:cNvSpPr>
            <p:nvPr/>
          </p:nvSpPr>
          <p:spPr bwMode="auto">
            <a:xfrm>
              <a:off x="4665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7"/>
            <p:cNvSpPr>
              <a:spLocks/>
            </p:cNvSpPr>
            <p:nvPr/>
          </p:nvSpPr>
          <p:spPr bwMode="auto">
            <a:xfrm>
              <a:off x="4899" y="3410"/>
              <a:ext cx="236" cy="235"/>
            </a:xfrm>
            <a:custGeom>
              <a:avLst/>
              <a:gdLst>
                <a:gd name="T0" fmla="*/ 0 w 236"/>
                <a:gd name="T1" fmla="*/ 234 h 235"/>
                <a:gd name="T2" fmla="*/ 0 w 236"/>
                <a:gd name="T3" fmla="*/ 0 h 235"/>
                <a:gd name="T4" fmla="*/ 235 w 236"/>
                <a:gd name="T5" fmla="*/ 0 h 235"/>
                <a:gd name="T6" fmla="*/ 235 w 236"/>
                <a:gd name="T7" fmla="*/ 234 h 235"/>
                <a:gd name="T8" fmla="*/ 0 w 236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6"/>
                <a:gd name="T16" fmla="*/ 0 h 235"/>
                <a:gd name="T17" fmla="*/ 236 w 236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6" h="235">
                  <a:moveTo>
                    <a:pt x="0" y="234"/>
                  </a:moveTo>
                  <a:lnTo>
                    <a:pt x="0" y="0"/>
                  </a:lnTo>
                  <a:lnTo>
                    <a:pt x="235" y="0"/>
                  </a:lnTo>
                  <a:lnTo>
                    <a:pt x="235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auto">
            <a:xfrm>
              <a:off x="5134" y="3410"/>
              <a:ext cx="234" cy="235"/>
            </a:xfrm>
            <a:custGeom>
              <a:avLst/>
              <a:gdLst>
                <a:gd name="T0" fmla="*/ 0 w 234"/>
                <a:gd name="T1" fmla="*/ 234 h 235"/>
                <a:gd name="T2" fmla="*/ 0 w 234"/>
                <a:gd name="T3" fmla="*/ 0 h 235"/>
                <a:gd name="T4" fmla="*/ 233 w 234"/>
                <a:gd name="T5" fmla="*/ 0 h 235"/>
                <a:gd name="T6" fmla="*/ 233 w 234"/>
                <a:gd name="T7" fmla="*/ 234 h 235"/>
                <a:gd name="T8" fmla="*/ 0 w 234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4"/>
                <a:gd name="T16" fmla="*/ 0 h 235"/>
                <a:gd name="T17" fmla="*/ 234 w 234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4" h="235">
                  <a:moveTo>
                    <a:pt x="0" y="234"/>
                  </a:moveTo>
                  <a:lnTo>
                    <a:pt x="0" y="0"/>
                  </a:lnTo>
                  <a:lnTo>
                    <a:pt x="233" y="0"/>
                  </a:lnTo>
                  <a:lnTo>
                    <a:pt x="233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9"/>
            <p:cNvSpPr>
              <a:spLocks/>
            </p:cNvSpPr>
            <p:nvPr/>
          </p:nvSpPr>
          <p:spPr bwMode="auto">
            <a:xfrm>
              <a:off x="218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20"/>
            <p:cNvSpPr>
              <a:spLocks/>
            </p:cNvSpPr>
            <p:nvPr/>
          </p:nvSpPr>
          <p:spPr bwMode="auto">
            <a:xfrm>
              <a:off x="452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1"/>
            <p:cNvSpPr>
              <a:spLocks/>
            </p:cNvSpPr>
            <p:nvPr/>
          </p:nvSpPr>
          <p:spPr bwMode="auto">
            <a:xfrm>
              <a:off x="686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2"/>
            <p:cNvSpPr>
              <a:spLocks/>
            </p:cNvSpPr>
            <p:nvPr/>
          </p:nvSpPr>
          <p:spPr bwMode="auto">
            <a:xfrm>
              <a:off x="920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3"/>
            <p:cNvSpPr>
              <a:spLocks/>
            </p:cNvSpPr>
            <p:nvPr/>
          </p:nvSpPr>
          <p:spPr bwMode="auto">
            <a:xfrm>
              <a:off x="1271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4"/>
            <p:cNvSpPr>
              <a:spLocks/>
            </p:cNvSpPr>
            <p:nvPr/>
          </p:nvSpPr>
          <p:spPr bwMode="auto">
            <a:xfrm>
              <a:off x="1505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5"/>
            <p:cNvSpPr>
              <a:spLocks/>
            </p:cNvSpPr>
            <p:nvPr/>
          </p:nvSpPr>
          <p:spPr bwMode="auto">
            <a:xfrm>
              <a:off x="1739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6"/>
            <p:cNvSpPr>
              <a:spLocks/>
            </p:cNvSpPr>
            <p:nvPr/>
          </p:nvSpPr>
          <p:spPr bwMode="auto">
            <a:xfrm>
              <a:off x="1973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7"/>
            <p:cNvSpPr>
              <a:spLocks/>
            </p:cNvSpPr>
            <p:nvPr/>
          </p:nvSpPr>
          <p:spPr bwMode="auto">
            <a:xfrm>
              <a:off x="2324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8"/>
            <p:cNvSpPr>
              <a:spLocks/>
            </p:cNvSpPr>
            <p:nvPr/>
          </p:nvSpPr>
          <p:spPr bwMode="auto">
            <a:xfrm>
              <a:off x="2558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9"/>
            <p:cNvSpPr>
              <a:spLocks/>
            </p:cNvSpPr>
            <p:nvPr/>
          </p:nvSpPr>
          <p:spPr bwMode="auto">
            <a:xfrm>
              <a:off x="2792" y="3410"/>
              <a:ext cx="236" cy="235"/>
            </a:xfrm>
            <a:custGeom>
              <a:avLst/>
              <a:gdLst>
                <a:gd name="T0" fmla="*/ 0 w 236"/>
                <a:gd name="T1" fmla="*/ 234 h 235"/>
                <a:gd name="T2" fmla="*/ 0 w 236"/>
                <a:gd name="T3" fmla="*/ 0 h 235"/>
                <a:gd name="T4" fmla="*/ 235 w 236"/>
                <a:gd name="T5" fmla="*/ 0 h 235"/>
                <a:gd name="T6" fmla="*/ 235 w 236"/>
                <a:gd name="T7" fmla="*/ 234 h 235"/>
                <a:gd name="T8" fmla="*/ 0 w 236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6"/>
                <a:gd name="T16" fmla="*/ 0 h 235"/>
                <a:gd name="T17" fmla="*/ 236 w 236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6" h="235">
                  <a:moveTo>
                    <a:pt x="0" y="234"/>
                  </a:moveTo>
                  <a:lnTo>
                    <a:pt x="0" y="0"/>
                  </a:lnTo>
                  <a:lnTo>
                    <a:pt x="235" y="0"/>
                  </a:lnTo>
                  <a:lnTo>
                    <a:pt x="235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0"/>
            <p:cNvSpPr>
              <a:spLocks/>
            </p:cNvSpPr>
            <p:nvPr/>
          </p:nvSpPr>
          <p:spPr bwMode="auto">
            <a:xfrm>
              <a:off x="3027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1"/>
            <p:cNvSpPr>
              <a:spLocks/>
            </p:cNvSpPr>
            <p:nvPr/>
          </p:nvSpPr>
          <p:spPr bwMode="auto">
            <a:xfrm>
              <a:off x="3377" y="3410"/>
              <a:ext cx="236" cy="235"/>
            </a:xfrm>
            <a:custGeom>
              <a:avLst/>
              <a:gdLst>
                <a:gd name="T0" fmla="*/ 0 w 236"/>
                <a:gd name="T1" fmla="*/ 234 h 235"/>
                <a:gd name="T2" fmla="*/ 0 w 236"/>
                <a:gd name="T3" fmla="*/ 0 h 235"/>
                <a:gd name="T4" fmla="*/ 235 w 236"/>
                <a:gd name="T5" fmla="*/ 0 h 235"/>
                <a:gd name="T6" fmla="*/ 235 w 236"/>
                <a:gd name="T7" fmla="*/ 234 h 235"/>
                <a:gd name="T8" fmla="*/ 0 w 236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6"/>
                <a:gd name="T16" fmla="*/ 0 h 235"/>
                <a:gd name="T17" fmla="*/ 236 w 236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6" h="235">
                  <a:moveTo>
                    <a:pt x="0" y="234"/>
                  </a:moveTo>
                  <a:lnTo>
                    <a:pt x="0" y="0"/>
                  </a:lnTo>
                  <a:lnTo>
                    <a:pt x="235" y="0"/>
                  </a:lnTo>
                  <a:lnTo>
                    <a:pt x="235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2"/>
            <p:cNvSpPr>
              <a:spLocks/>
            </p:cNvSpPr>
            <p:nvPr/>
          </p:nvSpPr>
          <p:spPr bwMode="auto">
            <a:xfrm>
              <a:off x="3612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3"/>
            <p:cNvSpPr>
              <a:spLocks/>
            </p:cNvSpPr>
            <p:nvPr/>
          </p:nvSpPr>
          <p:spPr bwMode="auto">
            <a:xfrm>
              <a:off x="3846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4"/>
            <p:cNvSpPr>
              <a:spLocks/>
            </p:cNvSpPr>
            <p:nvPr/>
          </p:nvSpPr>
          <p:spPr bwMode="auto">
            <a:xfrm>
              <a:off x="4080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5"/>
            <p:cNvSpPr>
              <a:spLocks/>
            </p:cNvSpPr>
            <p:nvPr/>
          </p:nvSpPr>
          <p:spPr bwMode="auto">
            <a:xfrm>
              <a:off x="693" y="2761"/>
              <a:ext cx="1398" cy="636"/>
            </a:xfrm>
            <a:custGeom>
              <a:avLst/>
              <a:gdLst>
                <a:gd name="T0" fmla="*/ 1397 w 1398"/>
                <a:gd name="T1" fmla="*/ 0 h 636"/>
                <a:gd name="T2" fmla="*/ 0 w 1398"/>
                <a:gd name="T3" fmla="*/ 635 h 636"/>
                <a:gd name="T4" fmla="*/ 1397 w 1398"/>
                <a:gd name="T5" fmla="*/ 0 h 636"/>
                <a:gd name="T6" fmla="*/ 0 60000 65536"/>
                <a:gd name="T7" fmla="*/ 0 60000 65536"/>
                <a:gd name="T8" fmla="*/ 0 60000 65536"/>
                <a:gd name="T9" fmla="*/ 0 w 1398"/>
                <a:gd name="T10" fmla="*/ 0 h 636"/>
                <a:gd name="T11" fmla="*/ 1398 w 1398"/>
                <a:gd name="T12" fmla="*/ 636 h 6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8" h="636">
                  <a:moveTo>
                    <a:pt x="1397" y="0"/>
                  </a:moveTo>
                  <a:lnTo>
                    <a:pt x="0" y="635"/>
                  </a:lnTo>
                  <a:lnTo>
                    <a:pt x="1397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6"/>
            <p:cNvSpPr>
              <a:spLocks/>
            </p:cNvSpPr>
            <p:nvPr/>
          </p:nvSpPr>
          <p:spPr bwMode="auto">
            <a:xfrm>
              <a:off x="693" y="3349"/>
              <a:ext cx="75" cy="48"/>
            </a:xfrm>
            <a:custGeom>
              <a:avLst/>
              <a:gdLst>
                <a:gd name="T0" fmla="*/ 74 w 75"/>
                <a:gd name="T1" fmla="*/ 33 h 48"/>
                <a:gd name="T2" fmla="*/ 0 w 75"/>
                <a:gd name="T3" fmla="*/ 47 h 48"/>
                <a:gd name="T4" fmla="*/ 59 w 75"/>
                <a:gd name="T5" fmla="*/ 0 h 48"/>
                <a:gd name="T6" fmla="*/ 74 w 75"/>
                <a:gd name="T7" fmla="*/ 33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48"/>
                <a:gd name="T14" fmla="*/ 75 w 75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48">
                  <a:moveTo>
                    <a:pt x="74" y="33"/>
                  </a:moveTo>
                  <a:lnTo>
                    <a:pt x="0" y="47"/>
                  </a:lnTo>
                  <a:lnTo>
                    <a:pt x="59" y="0"/>
                  </a:lnTo>
                  <a:lnTo>
                    <a:pt x="74" y="33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7"/>
            <p:cNvSpPr>
              <a:spLocks/>
            </p:cNvSpPr>
            <p:nvPr/>
          </p:nvSpPr>
          <p:spPr bwMode="auto">
            <a:xfrm>
              <a:off x="1739" y="2769"/>
              <a:ext cx="696" cy="628"/>
            </a:xfrm>
            <a:custGeom>
              <a:avLst/>
              <a:gdLst>
                <a:gd name="T0" fmla="*/ 695 w 696"/>
                <a:gd name="T1" fmla="*/ 0 h 628"/>
                <a:gd name="T2" fmla="*/ 0 w 696"/>
                <a:gd name="T3" fmla="*/ 627 h 628"/>
                <a:gd name="T4" fmla="*/ 695 w 696"/>
                <a:gd name="T5" fmla="*/ 0 h 628"/>
                <a:gd name="T6" fmla="*/ 0 60000 65536"/>
                <a:gd name="T7" fmla="*/ 0 60000 65536"/>
                <a:gd name="T8" fmla="*/ 0 60000 65536"/>
                <a:gd name="T9" fmla="*/ 0 w 696"/>
                <a:gd name="T10" fmla="*/ 0 h 628"/>
                <a:gd name="T11" fmla="*/ 696 w 696"/>
                <a:gd name="T12" fmla="*/ 628 h 6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6" h="628">
                  <a:moveTo>
                    <a:pt x="695" y="0"/>
                  </a:moveTo>
                  <a:lnTo>
                    <a:pt x="0" y="627"/>
                  </a:lnTo>
                  <a:lnTo>
                    <a:pt x="695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8"/>
            <p:cNvSpPr>
              <a:spLocks/>
            </p:cNvSpPr>
            <p:nvPr/>
          </p:nvSpPr>
          <p:spPr bwMode="auto">
            <a:xfrm>
              <a:off x="1739" y="3333"/>
              <a:ext cx="68" cy="64"/>
            </a:xfrm>
            <a:custGeom>
              <a:avLst/>
              <a:gdLst>
                <a:gd name="T0" fmla="*/ 67 w 68"/>
                <a:gd name="T1" fmla="*/ 27 h 64"/>
                <a:gd name="T2" fmla="*/ 0 w 68"/>
                <a:gd name="T3" fmla="*/ 63 h 64"/>
                <a:gd name="T4" fmla="*/ 42 w 68"/>
                <a:gd name="T5" fmla="*/ 0 h 64"/>
                <a:gd name="T6" fmla="*/ 67 w 68"/>
                <a:gd name="T7" fmla="*/ 27 h 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64"/>
                <a:gd name="T14" fmla="*/ 68 w 68"/>
                <a:gd name="T15" fmla="*/ 64 h 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64">
                  <a:moveTo>
                    <a:pt x="67" y="27"/>
                  </a:moveTo>
                  <a:lnTo>
                    <a:pt x="0" y="63"/>
                  </a:lnTo>
                  <a:lnTo>
                    <a:pt x="42" y="0"/>
                  </a:lnTo>
                  <a:lnTo>
                    <a:pt x="67" y="27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9"/>
            <p:cNvSpPr>
              <a:spLocks/>
            </p:cNvSpPr>
            <p:nvPr/>
          </p:nvSpPr>
          <p:spPr bwMode="auto">
            <a:xfrm>
              <a:off x="2785" y="2769"/>
              <a:ext cx="1" cy="621"/>
            </a:xfrm>
            <a:custGeom>
              <a:avLst/>
              <a:gdLst>
                <a:gd name="T0" fmla="*/ 0 w 1"/>
                <a:gd name="T1" fmla="*/ 0 h 621"/>
                <a:gd name="T2" fmla="*/ 0 w 1"/>
                <a:gd name="T3" fmla="*/ 620 h 621"/>
                <a:gd name="T4" fmla="*/ 0 w 1"/>
                <a:gd name="T5" fmla="*/ 0 h 621"/>
                <a:gd name="T6" fmla="*/ 0 60000 65536"/>
                <a:gd name="T7" fmla="*/ 0 60000 65536"/>
                <a:gd name="T8" fmla="*/ 0 60000 65536"/>
                <a:gd name="T9" fmla="*/ 0 w 1"/>
                <a:gd name="T10" fmla="*/ 0 h 621"/>
                <a:gd name="T11" fmla="*/ 1 w 1"/>
                <a:gd name="T12" fmla="*/ 621 h 6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21">
                  <a:moveTo>
                    <a:pt x="0" y="0"/>
                  </a:moveTo>
                  <a:lnTo>
                    <a:pt x="0" y="620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40"/>
            <p:cNvSpPr>
              <a:spLocks/>
            </p:cNvSpPr>
            <p:nvPr/>
          </p:nvSpPr>
          <p:spPr bwMode="auto">
            <a:xfrm>
              <a:off x="2766" y="3315"/>
              <a:ext cx="38" cy="75"/>
            </a:xfrm>
            <a:custGeom>
              <a:avLst/>
              <a:gdLst>
                <a:gd name="T0" fmla="*/ 37 w 38"/>
                <a:gd name="T1" fmla="*/ 0 h 75"/>
                <a:gd name="T2" fmla="*/ 19 w 38"/>
                <a:gd name="T3" fmla="*/ 74 h 75"/>
                <a:gd name="T4" fmla="*/ 0 w 38"/>
                <a:gd name="T5" fmla="*/ 0 h 75"/>
                <a:gd name="T6" fmla="*/ 37 w 38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"/>
                <a:gd name="T13" fmla="*/ 0 h 75"/>
                <a:gd name="T14" fmla="*/ 38 w 38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" h="75">
                  <a:moveTo>
                    <a:pt x="37" y="0"/>
                  </a:moveTo>
                  <a:lnTo>
                    <a:pt x="19" y="74"/>
                  </a:lnTo>
                  <a:lnTo>
                    <a:pt x="0" y="0"/>
                  </a:lnTo>
                  <a:lnTo>
                    <a:pt x="37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41"/>
            <p:cNvSpPr>
              <a:spLocks/>
            </p:cNvSpPr>
            <p:nvPr/>
          </p:nvSpPr>
          <p:spPr bwMode="auto">
            <a:xfrm>
              <a:off x="3143" y="2761"/>
              <a:ext cx="689" cy="629"/>
            </a:xfrm>
            <a:custGeom>
              <a:avLst/>
              <a:gdLst>
                <a:gd name="T0" fmla="*/ 0 w 689"/>
                <a:gd name="T1" fmla="*/ 0 h 629"/>
                <a:gd name="T2" fmla="*/ 688 w 689"/>
                <a:gd name="T3" fmla="*/ 628 h 629"/>
                <a:gd name="T4" fmla="*/ 0 w 689"/>
                <a:gd name="T5" fmla="*/ 0 h 629"/>
                <a:gd name="T6" fmla="*/ 0 60000 65536"/>
                <a:gd name="T7" fmla="*/ 0 60000 65536"/>
                <a:gd name="T8" fmla="*/ 0 60000 65536"/>
                <a:gd name="T9" fmla="*/ 0 w 689"/>
                <a:gd name="T10" fmla="*/ 0 h 629"/>
                <a:gd name="T11" fmla="*/ 689 w 689"/>
                <a:gd name="T12" fmla="*/ 629 h 6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9" h="629">
                  <a:moveTo>
                    <a:pt x="0" y="0"/>
                  </a:moveTo>
                  <a:lnTo>
                    <a:pt x="688" y="628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2"/>
            <p:cNvSpPr>
              <a:spLocks/>
            </p:cNvSpPr>
            <p:nvPr/>
          </p:nvSpPr>
          <p:spPr bwMode="auto">
            <a:xfrm>
              <a:off x="3765" y="3326"/>
              <a:ext cx="67" cy="64"/>
            </a:xfrm>
            <a:custGeom>
              <a:avLst/>
              <a:gdLst>
                <a:gd name="T0" fmla="*/ 25 w 67"/>
                <a:gd name="T1" fmla="*/ 0 h 64"/>
                <a:gd name="T2" fmla="*/ 66 w 67"/>
                <a:gd name="T3" fmla="*/ 63 h 64"/>
                <a:gd name="T4" fmla="*/ 0 w 67"/>
                <a:gd name="T5" fmla="*/ 27 h 64"/>
                <a:gd name="T6" fmla="*/ 25 w 67"/>
                <a:gd name="T7" fmla="*/ 0 h 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64"/>
                <a:gd name="T14" fmla="*/ 67 w 67"/>
                <a:gd name="T15" fmla="*/ 64 h 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64">
                  <a:moveTo>
                    <a:pt x="25" y="0"/>
                  </a:moveTo>
                  <a:lnTo>
                    <a:pt x="66" y="63"/>
                  </a:lnTo>
                  <a:lnTo>
                    <a:pt x="0" y="27"/>
                  </a:lnTo>
                  <a:lnTo>
                    <a:pt x="25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3"/>
            <p:cNvSpPr>
              <a:spLocks/>
            </p:cNvSpPr>
            <p:nvPr/>
          </p:nvSpPr>
          <p:spPr bwMode="auto">
            <a:xfrm>
              <a:off x="3495" y="2753"/>
              <a:ext cx="1398" cy="637"/>
            </a:xfrm>
            <a:custGeom>
              <a:avLst/>
              <a:gdLst>
                <a:gd name="T0" fmla="*/ 0 w 1398"/>
                <a:gd name="T1" fmla="*/ 0 h 637"/>
                <a:gd name="T2" fmla="*/ 1397 w 1398"/>
                <a:gd name="T3" fmla="*/ 636 h 637"/>
                <a:gd name="T4" fmla="*/ 0 w 1398"/>
                <a:gd name="T5" fmla="*/ 0 h 637"/>
                <a:gd name="T6" fmla="*/ 0 60000 65536"/>
                <a:gd name="T7" fmla="*/ 0 60000 65536"/>
                <a:gd name="T8" fmla="*/ 0 60000 65536"/>
                <a:gd name="T9" fmla="*/ 0 w 1398"/>
                <a:gd name="T10" fmla="*/ 0 h 637"/>
                <a:gd name="T11" fmla="*/ 1398 w 1398"/>
                <a:gd name="T12" fmla="*/ 637 h 6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8" h="637">
                  <a:moveTo>
                    <a:pt x="0" y="0"/>
                  </a:moveTo>
                  <a:lnTo>
                    <a:pt x="1397" y="636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4"/>
            <p:cNvSpPr>
              <a:spLocks/>
            </p:cNvSpPr>
            <p:nvPr/>
          </p:nvSpPr>
          <p:spPr bwMode="auto">
            <a:xfrm>
              <a:off x="4818" y="3341"/>
              <a:ext cx="75" cy="49"/>
            </a:xfrm>
            <a:custGeom>
              <a:avLst/>
              <a:gdLst>
                <a:gd name="T0" fmla="*/ 15 w 75"/>
                <a:gd name="T1" fmla="*/ 0 h 49"/>
                <a:gd name="T2" fmla="*/ 74 w 75"/>
                <a:gd name="T3" fmla="*/ 48 h 49"/>
                <a:gd name="T4" fmla="*/ 0 w 75"/>
                <a:gd name="T5" fmla="*/ 34 h 49"/>
                <a:gd name="T6" fmla="*/ 15 w 75"/>
                <a:gd name="T7" fmla="*/ 0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49"/>
                <a:gd name="T14" fmla="*/ 75 w 75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49">
                  <a:moveTo>
                    <a:pt x="15" y="0"/>
                  </a:moveTo>
                  <a:lnTo>
                    <a:pt x="74" y="48"/>
                  </a:lnTo>
                  <a:lnTo>
                    <a:pt x="0" y="34"/>
                  </a:lnTo>
                  <a:lnTo>
                    <a:pt x="15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Rectangle 45"/>
            <p:cNvSpPr>
              <a:spLocks noChangeArrowheads="1"/>
            </p:cNvSpPr>
            <p:nvPr/>
          </p:nvSpPr>
          <p:spPr bwMode="auto">
            <a:xfrm>
              <a:off x="1762" y="2207"/>
              <a:ext cx="37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400" u="none">
                  <a:solidFill>
                    <a:srgbClr val="000000"/>
                  </a:solidFill>
                  <a:latin typeface="Arial" pitchFamily="34" charset="0"/>
                </a:rPr>
                <a:t>Root</a:t>
              </a:r>
            </a:p>
          </p:txBody>
        </p:sp>
        <p:sp>
          <p:nvSpPr>
            <p:cNvPr id="45" name="Rectangle 46"/>
            <p:cNvSpPr>
              <a:spLocks noChangeArrowheads="1"/>
            </p:cNvSpPr>
            <p:nvPr/>
          </p:nvSpPr>
          <p:spPr bwMode="auto">
            <a:xfrm>
              <a:off x="2493" y="2551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17</a:t>
              </a:r>
            </a:p>
          </p:txBody>
        </p:sp>
        <p:sp>
          <p:nvSpPr>
            <p:cNvPr id="46" name="Rectangle 47"/>
            <p:cNvSpPr>
              <a:spLocks noChangeArrowheads="1"/>
            </p:cNvSpPr>
            <p:nvPr/>
          </p:nvSpPr>
          <p:spPr bwMode="auto">
            <a:xfrm>
              <a:off x="2844" y="2550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24</a:t>
              </a:r>
            </a:p>
          </p:txBody>
        </p:sp>
        <p:sp>
          <p:nvSpPr>
            <p:cNvPr id="47" name="Rectangle 48"/>
            <p:cNvSpPr>
              <a:spLocks noChangeArrowheads="1"/>
            </p:cNvSpPr>
            <p:nvPr/>
          </p:nvSpPr>
          <p:spPr bwMode="auto">
            <a:xfrm>
              <a:off x="3203" y="2543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30</a:t>
              </a:r>
            </a:p>
          </p:txBody>
        </p:sp>
        <p:sp>
          <p:nvSpPr>
            <p:cNvPr id="48" name="Rectangle 49"/>
            <p:cNvSpPr>
              <a:spLocks noChangeArrowheads="1"/>
            </p:cNvSpPr>
            <p:nvPr/>
          </p:nvSpPr>
          <p:spPr bwMode="auto">
            <a:xfrm>
              <a:off x="218" y="3419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2*</a:t>
              </a:r>
            </a:p>
          </p:txBody>
        </p:sp>
        <p:sp>
          <p:nvSpPr>
            <p:cNvPr id="49" name="Rectangle 50"/>
            <p:cNvSpPr>
              <a:spLocks noChangeArrowheads="1"/>
            </p:cNvSpPr>
            <p:nvPr/>
          </p:nvSpPr>
          <p:spPr bwMode="auto">
            <a:xfrm>
              <a:off x="458" y="3412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3*</a:t>
              </a:r>
            </a:p>
          </p:txBody>
        </p:sp>
        <p:sp>
          <p:nvSpPr>
            <p:cNvPr id="50" name="Rectangle 51"/>
            <p:cNvSpPr>
              <a:spLocks noChangeArrowheads="1"/>
            </p:cNvSpPr>
            <p:nvPr/>
          </p:nvSpPr>
          <p:spPr bwMode="auto">
            <a:xfrm>
              <a:off x="693" y="3412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5*</a:t>
              </a:r>
            </a:p>
          </p:txBody>
        </p:sp>
        <p:sp>
          <p:nvSpPr>
            <p:cNvPr id="51" name="Rectangle 52"/>
            <p:cNvSpPr>
              <a:spLocks noChangeArrowheads="1"/>
            </p:cNvSpPr>
            <p:nvPr/>
          </p:nvSpPr>
          <p:spPr bwMode="auto">
            <a:xfrm>
              <a:off x="927" y="3419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7*</a:t>
              </a:r>
            </a:p>
          </p:txBody>
        </p:sp>
        <p:sp>
          <p:nvSpPr>
            <p:cNvPr id="52" name="Rectangle 53"/>
            <p:cNvSpPr>
              <a:spLocks noChangeArrowheads="1"/>
            </p:cNvSpPr>
            <p:nvPr/>
          </p:nvSpPr>
          <p:spPr bwMode="auto">
            <a:xfrm>
              <a:off x="1264" y="3419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14*</a:t>
              </a:r>
            </a:p>
          </p:txBody>
        </p:sp>
        <p:sp>
          <p:nvSpPr>
            <p:cNvPr id="53" name="Rectangle 54"/>
            <p:cNvSpPr>
              <a:spLocks noChangeArrowheads="1"/>
            </p:cNvSpPr>
            <p:nvPr/>
          </p:nvSpPr>
          <p:spPr bwMode="auto">
            <a:xfrm>
              <a:off x="1491" y="3419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16*</a:t>
              </a:r>
            </a:p>
          </p:txBody>
        </p:sp>
        <p:sp>
          <p:nvSpPr>
            <p:cNvPr id="54" name="Rectangle 55"/>
            <p:cNvSpPr>
              <a:spLocks noChangeArrowheads="1"/>
            </p:cNvSpPr>
            <p:nvPr/>
          </p:nvSpPr>
          <p:spPr bwMode="auto">
            <a:xfrm>
              <a:off x="2332" y="3412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19*</a:t>
              </a:r>
            </a:p>
          </p:txBody>
        </p:sp>
        <p:sp>
          <p:nvSpPr>
            <p:cNvPr id="55" name="Rectangle 56"/>
            <p:cNvSpPr>
              <a:spLocks noChangeArrowheads="1"/>
            </p:cNvSpPr>
            <p:nvPr/>
          </p:nvSpPr>
          <p:spPr bwMode="auto">
            <a:xfrm>
              <a:off x="2551" y="3412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20*</a:t>
              </a:r>
            </a:p>
          </p:txBody>
        </p:sp>
        <p:sp>
          <p:nvSpPr>
            <p:cNvPr id="56" name="Rectangle 57"/>
            <p:cNvSpPr>
              <a:spLocks noChangeArrowheads="1"/>
            </p:cNvSpPr>
            <p:nvPr/>
          </p:nvSpPr>
          <p:spPr bwMode="auto">
            <a:xfrm>
              <a:off x="2779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22*</a:t>
              </a:r>
            </a:p>
          </p:txBody>
        </p:sp>
        <p:sp>
          <p:nvSpPr>
            <p:cNvPr id="57" name="Rectangle 58"/>
            <p:cNvSpPr>
              <a:spLocks noChangeArrowheads="1"/>
            </p:cNvSpPr>
            <p:nvPr/>
          </p:nvSpPr>
          <p:spPr bwMode="auto">
            <a:xfrm>
              <a:off x="3363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24*</a:t>
              </a:r>
            </a:p>
          </p:txBody>
        </p:sp>
        <p:sp>
          <p:nvSpPr>
            <p:cNvPr id="58" name="Rectangle 59"/>
            <p:cNvSpPr>
              <a:spLocks noChangeArrowheads="1"/>
            </p:cNvSpPr>
            <p:nvPr/>
          </p:nvSpPr>
          <p:spPr bwMode="auto">
            <a:xfrm>
              <a:off x="3605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27*</a:t>
              </a:r>
            </a:p>
          </p:txBody>
        </p:sp>
        <p:sp>
          <p:nvSpPr>
            <p:cNvPr id="59" name="Rectangle 60"/>
            <p:cNvSpPr>
              <a:spLocks noChangeArrowheads="1"/>
            </p:cNvSpPr>
            <p:nvPr/>
          </p:nvSpPr>
          <p:spPr bwMode="auto">
            <a:xfrm>
              <a:off x="3824" y="3418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29*</a:t>
              </a:r>
            </a:p>
          </p:txBody>
        </p:sp>
        <p:sp>
          <p:nvSpPr>
            <p:cNvPr id="60" name="Rectangle 61"/>
            <p:cNvSpPr>
              <a:spLocks noChangeArrowheads="1"/>
            </p:cNvSpPr>
            <p:nvPr/>
          </p:nvSpPr>
          <p:spPr bwMode="auto">
            <a:xfrm>
              <a:off x="4417" y="3418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33*</a:t>
              </a:r>
            </a:p>
          </p:txBody>
        </p:sp>
        <p:sp>
          <p:nvSpPr>
            <p:cNvPr id="61" name="Rectangle 62"/>
            <p:cNvSpPr>
              <a:spLocks noChangeArrowheads="1"/>
            </p:cNvSpPr>
            <p:nvPr/>
          </p:nvSpPr>
          <p:spPr bwMode="auto">
            <a:xfrm>
              <a:off x="4652" y="3418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34*</a:t>
              </a:r>
            </a:p>
          </p:txBody>
        </p:sp>
        <p:sp>
          <p:nvSpPr>
            <p:cNvPr id="62" name="Rectangle 63"/>
            <p:cNvSpPr>
              <a:spLocks noChangeArrowheads="1"/>
            </p:cNvSpPr>
            <p:nvPr/>
          </p:nvSpPr>
          <p:spPr bwMode="auto">
            <a:xfrm>
              <a:off x="4878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38*</a:t>
              </a:r>
            </a:p>
          </p:txBody>
        </p:sp>
        <p:sp>
          <p:nvSpPr>
            <p:cNvPr id="63" name="Rectangle 64"/>
            <p:cNvSpPr>
              <a:spLocks noChangeArrowheads="1"/>
            </p:cNvSpPr>
            <p:nvPr/>
          </p:nvSpPr>
          <p:spPr bwMode="auto">
            <a:xfrm>
              <a:off x="5112" y="3404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39*</a:t>
              </a:r>
            </a:p>
          </p:txBody>
        </p:sp>
        <p:sp>
          <p:nvSpPr>
            <p:cNvPr id="64" name="Rectangle 65"/>
            <p:cNvSpPr>
              <a:spLocks noChangeArrowheads="1"/>
            </p:cNvSpPr>
            <p:nvPr/>
          </p:nvSpPr>
          <p:spPr bwMode="auto">
            <a:xfrm>
              <a:off x="2157" y="2551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13</a:t>
              </a:r>
            </a:p>
          </p:txBody>
        </p:sp>
        <p:sp>
          <p:nvSpPr>
            <p:cNvPr id="66" name="Arc 67"/>
            <p:cNvSpPr>
              <a:spLocks/>
            </p:cNvSpPr>
            <p:nvPr/>
          </p:nvSpPr>
          <p:spPr bwMode="auto">
            <a:xfrm rot="-2580000">
              <a:off x="2160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Arc 68"/>
            <p:cNvSpPr>
              <a:spLocks/>
            </p:cNvSpPr>
            <p:nvPr/>
          </p:nvSpPr>
          <p:spPr bwMode="auto">
            <a:xfrm rot="-2580000">
              <a:off x="1056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Arc 69"/>
            <p:cNvSpPr>
              <a:spLocks/>
            </p:cNvSpPr>
            <p:nvPr/>
          </p:nvSpPr>
          <p:spPr bwMode="auto">
            <a:xfrm rot="-2580000">
              <a:off x="3168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Arc 70"/>
            <p:cNvSpPr>
              <a:spLocks/>
            </p:cNvSpPr>
            <p:nvPr/>
          </p:nvSpPr>
          <p:spPr bwMode="auto">
            <a:xfrm rot="-2580000">
              <a:off x="4224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2" name="Freeform 6"/>
          <p:cNvSpPr>
            <a:spLocks/>
          </p:cNvSpPr>
          <p:nvPr/>
        </p:nvSpPr>
        <p:spPr bwMode="auto">
          <a:xfrm>
            <a:off x="374649" y="5495925"/>
            <a:ext cx="360363" cy="360362"/>
          </a:xfrm>
          <a:custGeom>
            <a:avLst/>
            <a:gdLst>
              <a:gd name="T0" fmla="*/ 0 w 227"/>
              <a:gd name="T1" fmla="*/ 226 h 227"/>
              <a:gd name="T2" fmla="*/ 0 w 227"/>
              <a:gd name="T3" fmla="*/ 0 h 227"/>
              <a:gd name="T4" fmla="*/ 226 w 227"/>
              <a:gd name="T5" fmla="*/ 0 h 227"/>
              <a:gd name="T6" fmla="*/ 226 w 227"/>
              <a:gd name="T7" fmla="*/ 226 h 227"/>
              <a:gd name="T8" fmla="*/ 0 w 227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Freeform 7"/>
          <p:cNvSpPr>
            <a:spLocks/>
          </p:cNvSpPr>
          <p:nvPr/>
        </p:nvSpPr>
        <p:spPr bwMode="auto">
          <a:xfrm>
            <a:off x="733424" y="5495925"/>
            <a:ext cx="361950" cy="360362"/>
          </a:xfrm>
          <a:custGeom>
            <a:avLst/>
            <a:gdLst>
              <a:gd name="T0" fmla="*/ 0 w 228"/>
              <a:gd name="T1" fmla="*/ 226 h 227"/>
              <a:gd name="T2" fmla="*/ 0 w 228"/>
              <a:gd name="T3" fmla="*/ 0 h 227"/>
              <a:gd name="T4" fmla="*/ 227 w 228"/>
              <a:gd name="T5" fmla="*/ 0 h 227"/>
              <a:gd name="T6" fmla="*/ 227 w 228"/>
              <a:gd name="T7" fmla="*/ 226 h 227"/>
              <a:gd name="T8" fmla="*/ 0 w 228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8" h="227">
                <a:moveTo>
                  <a:pt x="0" y="226"/>
                </a:moveTo>
                <a:lnTo>
                  <a:pt x="0" y="0"/>
                </a:lnTo>
                <a:lnTo>
                  <a:pt x="227" y="0"/>
                </a:lnTo>
                <a:lnTo>
                  <a:pt x="227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Freeform 8"/>
          <p:cNvSpPr>
            <a:spLocks/>
          </p:cNvSpPr>
          <p:nvPr/>
        </p:nvSpPr>
        <p:spPr bwMode="auto">
          <a:xfrm>
            <a:off x="1093787" y="5495925"/>
            <a:ext cx="360362" cy="360362"/>
          </a:xfrm>
          <a:custGeom>
            <a:avLst/>
            <a:gdLst>
              <a:gd name="T0" fmla="*/ 0 w 227"/>
              <a:gd name="T1" fmla="*/ 226 h 227"/>
              <a:gd name="T2" fmla="*/ 0 w 227"/>
              <a:gd name="T3" fmla="*/ 0 h 227"/>
              <a:gd name="T4" fmla="*/ 226 w 227"/>
              <a:gd name="T5" fmla="*/ 0 h 227"/>
              <a:gd name="T6" fmla="*/ 226 w 227"/>
              <a:gd name="T7" fmla="*/ 226 h 227"/>
              <a:gd name="T8" fmla="*/ 0 w 227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" name="Freeform 9"/>
          <p:cNvSpPr>
            <a:spLocks/>
          </p:cNvSpPr>
          <p:nvPr/>
        </p:nvSpPr>
        <p:spPr bwMode="auto">
          <a:xfrm>
            <a:off x="1452562" y="5495925"/>
            <a:ext cx="360362" cy="360362"/>
          </a:xfrm>
          <a:custGeom>
            <a:avLst/>
            <a:gdLst>
              <a:gd name="T0" fmla="*/ 0 w 227"/>
              <a:gd name="T1" fmla="*/ 226 h 227"/>
              <a:gd name="T2" fmla="*/ 0 w 227"/>
              <a:gd name="T3" fmla="*/ 0 h 227"/>
              <a:gd name="T4" fmla="*/ 226 w 227"/>
              <a:gd name="T5" fmla="*/ 0 h 227"/>
              <a:gd name="T6" fmla="*/ 226 w 227"/>
              <a:gd name="T7" fmla="*/ 226 h 227"/>
              <a:gd name="T8" fmla="*/ 0 w 227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" name="Freeform 10"/>
          <p:cNvSpPr>
            <a:spLocks/>
          </p:cNvSpPr>
          <p:nvPr/>
        </p:nvSpPr>
        <p:spPr bwMode="auto">
          <a:xfrm>
            <a:off x="2182812" y="5507037"/>
            <a:ext cx="360362" cy="360363"/>
          </a:xfrm>
          <a:custGeom>
            <a:avLst/>
            <a:gdLst>
              <a:gd name="T0" fmla="*/ 0 w 227"/>
              <a:gd name="T1" fmla="*/ 226 h 227"/>
              <a:gd name="T2" fmla="*/ 0 w 227"/>
              <a:gd name="T3" fmla="*/ 0 h 227"/>
              <a:gd name="T4" fmla="*/ 226 w 227"/>
              <a:gd name="T5" fmla="*/ 0 h 227"/>
              <a:gd name="T6" fmla="*/ 226 w 227"/>
              <a:gd name="T7" fmla="*/ 226 h 227"/>
              <a:gd name="T8" fmla="*/ 0 w 227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" name="Freeform 11"/>
          <p:cNvSpPr>
            <a:spLocks/>
          </p:cNvSpPr>
          <p:nvPr/>
        </p:nvSpPr>
        <p:spPr bwMode="auto">
          <a:xfrm>
            <a:off x="2541587" y="5507037"/>
            <a:ext cx="361950" cy="360363"/>
          </a:xfrm>
          <a:custGeom>
            <a:avLst/>
            <a:gdLst>
              <a:gd name="T0" fmla="*/ 0 w 228"/>
              <a:gd name="T1" fmla="*/ 226 h 227"/>
              <a:gd name="T2" fmla="*/ 0 w 228"/>
              <a:gd name="T3" fmla="*/ 0 h 227"/>
              <a:gd name="T4" fmla="*/ 227 w 228"/>
              <a:gd name="T5" fmla="*/ 0 h 227"/>
              <a:gd name="T6" fmla="*/ 227 w 228"/>
              <a:gd name="T7" fmla="*/ 226 h 227"/>
              <a:gd name="T8" fmla="*/ 0 w 228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8" h="227">
                <a:moveTo>
                  <a:pt x="0" y="226"/>
                </a:moveTo>
                <a:lnTo>
                  <a:pt x="0" y="0"/>
                </a:lnTo>
                <a:lnTo>
                  <a:pt x="227" y="0"/>
                </a:lnTo>
                <a:lnTo>
                  <a:pt x="227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" name="Freeform 12"/>
          <p:cNvSpPr>
            <a:spLocks/>
          </p:cNvSpPr>
          <p:nvPr/>
        </p:nvSpPr>
        <p:spPr bwMode="auto">
          <a:xfrm>
            <a:off x="2901949" y="5507037"/>
            <a:ext cx="360363" cy="360363"/>
          </a:xfrm>
          <a:custGeom>
            <a:avLst/>
            <a:gdLst>
              <a:gd name="T0" fmla="*/ 0 w 227"/>
              <a:gd name="T1" fmla="*/ 226 h 227"/>
              <a:gd name="T2" fmla="*/ 0 w 227"/>
              <a:gd name="T3" fmla="*/ 0 h 227"/>
              <a:gd name="T4" fmla="*/ 226 w 227"/>
              <a:gd name="T5" fmla="*/ 0 h 227"/>
              <a:gd name="T6" fmla="*/ 226 w 227"/>
              <a:gd name="T7" fmla="*/ 226 h 227"/>
              <a:gd name="T8" fmla="*/ 0 w 227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" name="Freeform 13"/>
          <p:cNvSpPr>
            <a:spLocks/>
          </p:cNvSpPr>
          <p:nvPr/>
        </p:nvSpPr>
        <p:spPr bwMode="auto">
          <a:xfrm>
            <a:off x="3260724" y="5507037"/>
            <a:ext cx="360363" cy="360363"/>
          </a:xfrm>
          <a:custGeom>
            <a:avLst/>
            <a:gdLst>
              <a:gd name="T0" fmla="*/ 0 w 227"/>
              <a:gd name="T1" fmla="*/ 226 h 227"/>
              <a:gd name="T2" fmla="*/ 0 w 227"/>
              <a:gd name="T3" fmla="*/ 0 h 227"/>
              <a:gd name="T4" fmla="*/ 226 w 227"/>
              <a:gd name="T5" fmla="*/ 0 h 227"/>
              <a:gd name="T6" fmla="*/ 226 w 227"/>
              <a:gd name="T7" fmla="*/ 226 h 227"/>
              <a:gd name="T8" fmla="*/ 0 w 227"/>
              <a:gd name="T9" fmla="*/ 226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7" h="227">
                <a:moveTo>
                  <a:pt x="0" y="226"/>
                </a:moveTo>
                <a:lnTo>
                  <a:pt x="0" y="0"/>
                </a:lnTo>
                <a:lnTo>
                  <a:pt x="226" y="0"/>
                </a:lnTo>
                <a:lnTo>
                  <a:pt x="226" y="226"/>
                </a:lnTo>
                <a:lnTo>
                  <a:pt x="0" y="22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" name="Rectangle 29"/>
          <p:cNvSpPr>
            <a:spLocks noChangeArrowheads="1"/>
          </p:cNvSpPr>
          <p:nvPr/>
        </p:nvSpPr>
        <p:spPr bwMode="auto">
          <a:xfrm>
            <a:off x="374649" y="5503862"/>
            <a:ext cx="336550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2*</a:t>
            </a:r>
          </a:p>
        </p:txBody>
      </p:sp>
      <p:sp>
        <p:nvSpPr>
          <p:cNvPr id="96" name="Rectangle 30"/>
          <p:cNvSpPr>
            <a:spLocks noChangeArrowheads="1"/>
          </p:cNvSpPr>
          <p:nvPr/>
        </p:nvSpPr>
        <p:spPr bwMode="auto">
          <a:xfrm>
            <a:off x="744537" y="5492750"/>
            <a:ext cx="33655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3*</a:t>
            </a:r>
          </a:p>
        </p:txBody>
      </p:sp>
      <p:sp>
        <p:nvSpPr>
          <p:cNvPr id="97" name="Rectangle 31"/>
          <p:cNvSpPr>
            <a:spLocks noChangeArrowheads="1"/>
          </p:cNvSpPr>
          <p:nvPr/>
        </p:nvSpPr>
        <p:spPr bwMode="auto">
          <a:xfrm>
            <a:off x="2181224" y="5492750"/>
            <a:ext cx="33655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5*</a:t>
            </a:r>
          </a:p>
        </p:txBody>
      </p:sp>
      <p:sp>
        <p:nvSpPr>
          <p:cNvPr id="98" name="Rectangle 32"/>
          <p:cNvSpPr>
            <a:spLocks noChangeArrowheads="1"/>
          </p:cNvSpPr>
          <p:nvPr/>
        </p:nvSpPr>
        <p:spPr bwMode="auto">
          <a:xfrm>
            <a:off x="2541587" y="5503862"/>
            <a:ext cx="336550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7*</a:t>
            </a:r>
          </a:p>
        </p:txBody>
      </p:sp>
      <p:sp>
        <p:nvSpPr>
          <p:cNvPr id="99" name="Rectangle 33"/>
          <p:cNvSpPr>
            <a:spLocks noChangeArrowheads="1"/>
          </p:cNvSpPr>
          <p:nvPr/>
        </p:nvSpPr>
        <p:spPr bwMode="auto">
          <a:xfrm>
            <a:off x="2911474" y="5514975"/>
            <a:ext cx="33655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8*</a:t>
            </a:r>
          </a:p>
        </p:txBody>
      </p:sp>
      <p:sp>
        <p:nvSpPr>
          <p:cNvPr id="106" name="Arc 40"/>
          <p:cNvSpPr>
            <a:spLocks/>
          </p:cNvSpPr>
          <p:nvPr/>
        </p:nvSpPr>
        <p:spPr bwMode="auto">
          <a:xfrm rot="19020000">
            <a:off x="1793874" y="5276850"/>
            <a:ext cx="381000" cy="381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Oval 107"/>
          <p:cNvSpPr/>
          <p:nvPr/>
        </p:nvSpPr>
        <p:spPr>
          <a:xfrm>
            <a:off x="247803" y="3810794"/>
            <a:ext cx="2020886" cy="838200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7" name="Group 101"/>
          <p:cNvGrpSpPr>
            <a:grpSpLocks/>
          </p:cNvGrpSpPr>
          <p:nvPr/>
        </p:nvGrpSpPr>
        <p:grpSpPr bwMode="auto">
          <a:xfrm>
            <a:off x="5383212" y="1245818"/>
            <a:ext cx="3698879" cy="1018076"/>
            <a:chOff x="1897" y="2833"/>
            <a:chExt cx="2330" cy="820"/>
          </a:xfrm>
        </p:grpSpPr>
        <p:sp>
          <p:nvSpPr>
            <p:cNvPr id="128" name="Freeform 43"/>
            <p:cNvSpPr>
              <a:spLocks/>
            </p:cNvSpPr>
            <p:nvPr/>
          </p:nvSpPr>
          <p:spPr bwMode="auto">
            <a:xfrm>
              <a:off x="1897" y="3400"/>
              <a:ext cx="255" cy="253"/>
            </a:xfrm>
            <a:custGeom>
              <a:avLst/>
              <a:gdLst>
                <a:gd name="T0" fmla="*/ 0 w 255"/>
                <a:gd name="T1" fmla="*/ 252 h 253"/>
                <a:gd name="T2" fmla="*/ 0 w 255"/>
                <a:gd name="T3" fmla="*/ 0 h 253"/>
                <a:gd name="T4" fmla="*/ 254 w 255"/>
                <a:gd name="T5" fmla="*/ 0 h 253"/>
                <a:gd name="T6" fmla="*/ 254 w 255"/>
                <a:gd name="T7" fmla="*/ 252 h 253"/>
                <a:gd name="T8" fmla="*/ 0 w 255"/>
                <a:gd name="T9" fmla="*/ 252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53">
                  <a:moveTo>
                    <a:pt x="0" y="252"/>
                  </a:moveTo>
                  <a:lnTo>
                    <a:pt x="0" y="0"/>
                  </a:lnTo>
                  <a:lnTo>
                    <a:pt x="254" y="0"/>
                  </a:lnTo>
                  <a:lnTo>
                    <a:pt x="254" y="252"/>
                  </a:lnTo>
                  <a:lnTo>
                    <a:pt x="0" y="25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44"/>
            <p:cNvSpPr>
              <a:spLocks/>
            </p:cNvSpPr>
            <p:nvPr/>
          </p:nvSpPr>
          <p:spPr bwMode="auto">
            <a:xfrm>
              <a:off x="1948" y="3400"/>
              <a:ext cx="1" cy="253"/>
            </a:xfrm>
            <a:custGeom>
              <a:avLst/>
              <a:gdLst>
                <a:gd name="T0" fmla="*/ 0 w 1"/>
                <a:gd name="T1" fmla="*/ 0 h 253"/>
                <a:gd name="T2" fmla="*/ 0 w 1"/>
                <a:gd name="T3" fmla="*/ 252 h 253"/>
                <a:gd name="T4" fmla="*/ 0 w 1"/>
                <a:gd name="T5" fmla="*/ 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53">
                  <a:moveTo>
                    <a:pt x="0" y="0"/>
                  </a:moveTo>
                  <a:lnTo>
                    <a:pt x="0" y="25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45"/>
            <p:cNvSpPr>
              <a:spLocks/>
            </p:cNvSpPr>
            <p:nvPr/>
          </p:nvSpPr>
          <p:spPr bwMode="auto">
            <a:xfrm>
              <a:off x="2151" y="3400"/>
              <a:ext cx="253" cy="253"/>
            </a:xfrm>
            <a:custGeom>
              <a:avLst/>
              <a:gdLst>
                <a:gd name="T0" fmla="*/ 0 w 253"/>
                <a:gd name="T1" fmla="*/ 252 h 253"/>
                <a:gd name="T2" fmla="*/ 0 w 253"/>
                <a:gd name="T3" fmla="*/ 0 h 253"/>
                <a:gd name="T4" fmla="*/ 252 w 253"/>
                <a:gd name="T5" fmla="*/ 0 h 253"/>
                <a:gd name="T6" fmla="*/ 252 w 253"/>
                <a:gd name="T7" fmla="*/ 252 h 253"/>
                <a:gd name="T8" fmla="*/ 0 w 253"/>
                <a:gd name="T9" fmla="*/ 252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3" h="253">
                  <a:moveTo>
                    <a:pt x="0" y="252"/>
                  </a:moveTo>
                  <a:lnTo>
                    <a:pt x="0" y="0"/>
                  </a:lnTo>
                  <a:lnTo>
                    <a:pt x="252" y="0"/>
                  </a:lnTo>
                  <a:lnTo>
                    <a:pt x="252" y="252"/>
                  </a:lnTo>
                  <a:lnTo>
                    <a:pt x="0" y="25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46"/>
            <p:cNvSpPr>
              <a:spLocks/>
            </p:cNvSpPr>
            <p:nvPr/>
          </p:nvSpPr>
          <p:spPr bwMode="auto">
            <a:xfrm>
              <a:off x="2201" y="3400"/>
              <a:ext cx="1" cy="253"/>
            </a:xfrm>
            <a:custGeom>
              <a:avLst/>
              <a:gdLst>
                <a:gd name="T0" fmla="*/ 0 w 1"/>
                <a:gd name="T1" fmla="*/ 0 h 253"/>
                <a:gd name="T2" fmla="*/ 0 w 1"/>
                <a:gd name="T3" fmla="*/ 252 h 253"/>
                <a:gd name="T4" fmla="*/ 0 w 1"/>
                <a:gd name="T5" fmla="*/ 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53">
                  <a:moveTo>
                    <a:pt x="0" y="0"/>
                  </a:moveTo>
                  <a:lnTo>
                    <a:pt x="0" y="25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47"/>
            <p:cNvSpPr>
              <a:spLocks/>
            </p:cNvSpPr>
            <p:nvPr/>
          </p:nvSpPr>
          <p:spPr bwMode="auto">
            <a:xfrm>
              <a:off x="2403" y="3400"/>
              <a:ext cx="254" cy="253"/>
            </a:xfrm>
            <a:custGeom>
              <a:avLst/>
              <a:gdLst>
                <a:gd name="T0" fmla="*/ 0 w 254"/>
                <a:gd name="T1" fmla="*/ 252 h 253"/>
                <a:gd name="T2" fmla="*/ 0 w 254"/>
                <a:gd name="T3" fmla="*/ 0 h 253"/>
                <a:gd name="T4" fmla="*/ 253 w 254"/>
                <a:gd name="T5" fmla="*/ 0 h 253"/>
                <a:gd name="T6" fmla="*/ 253 w 254"/>
                <a:gd name="T7" fmla="*/ 252 h 253"/>
                <a:gd name="T8" fmla="*/ 0 w 254"/>
                <a:gd name="T9" fmla="*/ 252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53">
                  <a:moveTo>
                    <a:pt x="0" y="252"/>
                  </a:moveTo>
                  <a:lnTo>
                    <a:pt x="0" y="0"/>
                  </a:lnTo>
                  <a:lnTo>
                    <a:pt x="253" y="0"/>
                  </a:lnTo>
                  <a:lnTo>
                    <a:pt x="253" y="252"/>
                  </a:lnTo>
                  <a:lnTo>
                    <a:pt x="0" y="25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48"/>
            <p:cNvSpPr>
              <a:spLocks/>
            </p:cNvSpPr>
            <p:nvPr/>
          </p:nvSpPr>
          <p:spPr bwMode="auto">
            <a:xfrm>
              <a:off x="2454" y="3400"/>
              <a:ext cx="1" cy="253"/>
            </a:xfrm>
            <a:custGeom>
              <a:avLst/>
              <a:gdLst>
                <a:gd name="T0" fmla="*/ 0 w 1"/>
                <a:gd name="T1" fmla="*/ 0 h 253"/>
                <a:gd name="T2" fmla="*/ 0 w 1"/>
                <a:gd name="T3" fmla="*/ 252 h 253"/>
                <a:gd name="T4" fmla="*/ 0 w 1"/>
                <a:gd name="T5" fmla="*/ 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53">
                  <a:moveTo>
                    <a:pt x="0" y="0"/>
                  </a:moveTo>
                  <a:lnTo>
                    <a:pt x="0" y="25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49"/>
            <p:cNvSpPr>
              <a:spLocks/>
            </p:cNvSpPr>
            <p:nvPr/>
          </p:nvSpPr>
          <p:spPr bwMode="auto">
            <a:xfrm>
              <a:off x="2656" y="3400"/>
              <a:ext cx="254" cy="253"/>
            </a:xfrm>
            <a:custGeom>
              <a:avLst/>
              <a:gdLst>
                <a:gd name="T0" fmla="*/ 0 w 254"/>
                <a:gd name="T1" fmla="*/ 252 h 253"/>
                <a:gd name="T2" fmla="*/ 0 w 254"/>
                <a:gd name="T3" fmla="*/ 0 h 253"/>
                <a:gd name="T4" fmla="*/ 253 w 254"/>
                <a:gd name="T5" fmla="*/ 0 h 253"/>
                <a:gd name="T6" fmla="*/ 253 w 254"/>
                <a:gd name="T7" fmla="*/ 252 h 253"/>
                <a:gd name="T8" fmla="*/ 0 w 254"/>
                <a:gd name="T9" fmla="*/ 252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53">
                  <a:moveTo>
                    <a:pt x="0" y="252"/>
                  </a:moveTo>
                  <a:lnTo>
                    <a:pt x="0" y="0"/>
                  </a:lnTo>
                  <a:lnTo>
                    <a:pt x="253" y="0"/>
                  </a:lnTo>
                  <a:lnTo>
                    <a:pt x="253" y="252"/>
                  </a:lnTo>
                  <a:lnTo>
                    <a:pt x="0" y="25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50"/>
            <p:cNvSpPr>
              <a:spLocks/>
            </p:cNvSpPr>
            <p:nvPr/>
          </p:nvSpPr>
          <p:spPr bwMode="auto">
            <a:xfrm>
              <a:off x="2707" y="3400"/>
              <a:ext cx="1" cy="253"/>
            </a:xfrm>
            <a:custGeom>
              <a:avLst/>
              <a:gdLst>
                <a:gd name="T0" fmla="*/ 0 w 1"/>
                <a:gd name="T1" fmla="*/ 0 h 253"/>
                <a:gd name="T2" fmla="*/ 0 w 1"/>
                <a:gd name="T3" fmla="*/ 252 h 253"/>
                <a:gd name="T4" fmla="*/ 0 w 1"/>
                <a:gd name="T5" fmla="*/ 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53">
                  <a:moveTo>
                    <a:pt x="0" y="0"/>
                  </a:moveTo>
                  <a:lnTo>
                    <a:pt x="0" y="25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51"/>
            <p:cNvSpPr>
              <a:spLocks/>
            </p:cNvSpPr>
            <p:nvPr/>
          </p:nvSpPr>
          <p:spPr bwMode="auto">
            <a:xfrm>
              <a:off x="2910" y="3400"/>
              <a:ext cx="51" cy="253"/>
            </a:xfrm>
            <a:custGeom>
              <a:avLst/>
              <a:gdLst>
                <a:gd name="T0" fmla="*/ 0 w 51"/>
                <a:gd name="T1" fmla="*/ 252 h 253"/>
                <a:gd name="T2" fmla="*/ 0 w 51"/>
                <a:gd name="T3" fmla="*/ 0 h 253"/>
                <a:gd name="T4" fmla="*/ 50 w 51"/>
                <a:gd name="T5" fmla="*/ 0 h 253"/>
                <a:gd name="T6" fmla="*/ 50 w 51"/>
                <a:gd name="T7" fmla="*/ 252 h 253"/>
                <a:gd name="T8" fmla="*/ 0 w 51"/>
                <a:gd name="T9" fmla="*/ 252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53">
                  <a:moveTo>
                    <a:pt x="0" y="252"/>
                  </a:moveTo>
                  <a:lnTo>
                    <a:pt x="0" y="0"/>
                  </a:lnTo>
                  <a:lnTo>
                    <a:pt x="50" y="0"/>
                  </a:lnTo>
                  <a:lnTo>
                    <a:pt x="50" y="252"/>
                  </a:lnTo>
                  <a:lnTo>
                    <a:pt x="0" y="25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52"/>
            <p:cNvSpPr>
              <a:spLocks/>
            </p:cNvSpPr>
            <p:nvPr/>
          </p:nvSpPr>
          <p:spPr bwMode="auto">
            <a:xfrm>
              <a:off x="3163" y="3400"/>
              <a:ext cx="254" cy="253"/>
            </a:xfrm>
            <a:custGeom>
              <a:avLst/>
              <a:gdLst>
                <a:gd name="T0" fmla="*/ 0 w 254"/>
                <a:gd name="T1" fmla="*/ 252 h 253"/>
                <a:gd name="T2" fmla="*/ 0 w 254"/>
                <a:gd name="T3" fmla="*/ 0 h 253"/>
                <a:gd name="T4" fmla="*/ 253 w 254"/>
                <a:gd name="T5" fmla="*/ 0 h 253"/>
                <a:gd name="T6" fmla="*/ 253 w 254"/>
                <a:gd name="T7" fmla="*/ 252 h 253"/>
                <a:gd name="T8" fmla="*/ 0 w 254"/>
                <a:gd name="T9" fmla="*/ 252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53">
                  <a:moveTo>
                    <a:pt x="0" y="252"/>
                  </a:moveTo>
                  <a:lnTo>
                    <a:pt x="0" y="0"/>
                  </a:lnTo>
                  <a:lnTo>
                    <a:pt x="253" y="0"/>
                  </a:lnTo>
                  <a:lnTo>
                    <a:pt x="253" y="252"/>
                  </a:lnTo>
                  <a:lnTo>
                    <a:pt x="0" y="25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53"/>
            <p:cNvSpPr>
              <a:spLocks/>
            </p:cNvSpPr>
            <p:nvPr/>
          </p:nvSpPr>
          <p:spPr bwMode="auto">
            <a:xfrm>
              <a:off x="3214" y="3400"/>
              <a:ext cx="1" cy="253"/>
            </a:xfrm>
            <a:custGeom>
              <a:avLst/>
              <a:gdLst>
                <a:gd name="T0" fmla="*/ 0 w 1"/>
                <a:gd name="T1" fmla="*/ 0 h 253"/>
                <a:gd name="T2" fmla="*/ 0 w 1"/>
                <a:gd name="T3" fmla="*/ 252 h 253"/>
                <a:gd name="T4" fmla="*/ 0 w 1"/>
                <a:gd name="T5" fmla="*/ 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53">
                  <a:moveTo>
                    <a:pt x="0" y="0"/>
                  </a:moveTo>
                  <a:lnTo>
                    <a:pt x="0" y="25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54"/>
            <p:cNvSpPr>
              <a:spLocks/>
            </p:cNvSpPr>
            <p:nvPr/>
          </p:nvSpPr>
          <p:spPr bwMode="auto">
            <a:xfrm>
              <a:off x="3416" y="3400"/>
              <a:ext cx="255" cy="253"/>
            </a:xfrm>
            <a:custGeom>
              <a:avLst/>
              <a:gdLst>
                <a:gd name="T0" fmla="*/ 0 w 255"/>
                <a:gd name="T1" fmla="*/ 252 h 253"/>
                <a:gd name="T2" fmla="*/ 0 w 255"/>
                <a:gd name="T3" fmla="*/ 0 h 253"/>
                <a:gd name="T4" fmla="*/ 254 w 255"/>
                <a:gd name="T5" fmla="*/ 0 h 253"/>
                <a:gd name="T6" fmla="*/ 254 w 255"/>
                <a:gd name="T7" fmla="*/ 252 h 253"/>
                <a:gd name="T8" fmla="*/ 0 w 255"/>
                <a:gd name="T9" fmla="*/ 252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253">
                  <a:moveTo>
                    <a:pt x="0" y="252"/>
                  </a:moveTo>
                  <a:lnTo>
                    <a:pt x="0" y="0"/>
                  </a:lnTo>
                  <a:lnTo>
                    <a:pt x="254" y="0"/>
                  </a:lnTo>
                  <a:lnTo>
                    <a:pt x="254" y="252"/>
                  </a:lnTo>
                  <a:lnTo>
                    <a:pt x="0" y="25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55"/>
            <p:cNvSpPr>
              <a:spLocks/>
            </p:cNvSpPr>
            <p:nvPr/>
          </p:nvSpPr>
          <p:spPr bwMode="auto">
            <a:xfrm>
              <a:off x="3467" y="3400"/>
              <a:ext cx="1" cy="253"/>
            </a:xfrm>
            <a:custGeom>
              <a:avLst/>
              <a:gdLst>
                <a:gd name="T0" fmla="*/ 0 w 1"/>
                <a:gd name="T1" fmla="*/ 0 h 253"/>
                <a:gd name="T2" fmla="*/ 0 w 1"/>
                <a:gd name="T3" fmla="*/ 252 h 253"/>
                <a:gd name="T4" fmla="*/ 0 w 1"/>
                <a:gd name="T5" fmla="*/ 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53">
                  <a:moveTo>
                    <a:pt x="0" y="0"/>
                  </a:moveTo>
                  <a:lnTo>
                    <a:pt x="0" y="25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56"/>
            <p:cNvSpPr>
              <a:spLocks/>
            </p:cNvSpPr>
            <p:nvPr/>
          </p:nvSpPr>
          <p:spPr bwMode="auto">
            <a:xfrm>
              <a:off x="3670" y="3400"/>
              <a:ext cx="254" cy="253"/>
            </a:xfrm>
            <a:custGeom>
              <a:avLst/>
              <a:gdLst>
                <a:gd name="T0" fmla="*/ 0 w 254"/>
                <a:gd name="T1" fmla="*/ 252 h 253"/>
                <a:gd name="T2" fmla="*/ 0 w 254"/>
                <a:gd name="T3" fmla="*/ 0 h 253"/>
                <a:gd name="T4" fmla="*/ 253 w 254"/>
                <a:gd name="T5" fmla="*/ 0 h 253"/>
                <a:gd name="T6" fmla="*/ 253 w 254"/>
                <a:gd name="T7" fmla="*/ 252 h 253"/>
                <a:gd name="T8" fmla="*/ 0 w 254"/>
                <a:gd name="T9" fmla="*/ 252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53">
                  <a:moveTo>
                    <a:pt x="0" y="252"/>
                  </a:moveTo>
                  <a:lnTo>
                    <a:pt x="0" y="0"/>
                  </a:lnTo>
                  <a:lnTo>
                    <a:pt x="253" y="0"/>
                  </a:lnTo>
                  <a:lnTo>
                    <a:pt x="253" y="252"/>
                  </a:lnTo>
                  <a:lnTo>
                    <a:pt x="0" y="25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57"/>
            <p:cNvSpPr>
              <a:spLocks/>
            </p:cNvSpPr>
            <p:nvPr/>
          </p:nvSpPr>
          <p:spPr bwMode="auto">
            <a:xfrm>
              <a:off x="3720" y="3400"/>
              <a:ext cx="1" cy="253"/>
            </a:xfrm>
            <a:custGeom>
              <a:avLst/>
              <a:gdLst>
                <a:gd name="T0" fmla="*/ 0 w 1"/>
                <a:gd name="T1" fmla="*/ 0 h 253"/>
                <a:gd name="T2" fmla="*/ 0 w 1"/>
                <a:gd name="T3" fmla="*/ 252 h 253"/>
                <a:gd name="T4" fmla="*/ 0 w 1"/>
                <a:gd name="T5" fmla="*/ 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53">
                  <a:moveTo>
                    <a:pt x="0" y="0"/>
                  </a:moveTo>
                  <a:lnTo>
                    <a:pt x="0" y="25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58"/>
            <p:cNvSpPr>
              <a:spLocks/>
            </p:cNvSpPr>
            <p:nvPr/>
          </p:nvSpPr>
          <p:spPr bwMode="auto">
            <a:xfrm>
              <a:off x="3923" y="3400"/>
              <a:ext cx="254" cy="253"/>
            </a:xfrm>
            <a:custGeom>
              <a:avLst/>
              <a:gdLst>
                <a:gd name="T0" fmla="*/ 0 w 254"/>
                <a:gd name="T1" fmla="*/ 252 h 253"/>
                <a:gd name="T2" fmla="*/ 0 w 254"/>
                <a:gd name="T3" fmla="*/ 0 h 253"/>
                <a:gd name="T4" fmla="*/ 253 w 254"/>
                <a:gd name="T5" fmla="*/ 0 h 253"/>
                <a:gd name="T6" fmla="*/ 253 w 254"/>
                <a:gd name="T7" fmla="*/ 252 h 253"/>
                <a:gd name="T8" fmla="*/ 0 w 254"/>
                <a:gd name="T9" fmla="*/ 252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53">
                  <a:moveTo>
                    <a:pt x="0" y="252"/>
                  </a:moveTo>
                  <a:lnTo>
                    <a:pt x="0" y="0"/>
                  </a:lnTo>
                  <a:lnTo>
                    <a:pt x="253" y="0"/>
                  </a:lnTo>
                  <a:lnTo>
                    <a:pt x="253" y="252"/>
                  </a:lnTo>
                  <a:lnTo>
                    <a:pt x="0" y="25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59"/>
            <p:cNvSpPr>
              <a:spLocks/>
            </p:cNvSpPr>
            <p:nvPr/>
          </p:nvSpPr>
          <p:spPr bwMode="auto">
            <a:xfrm>
              <a:off x="3973" y="3400"/>
              <a:ext cx="1" cy="253"/>
            </a:xfrm>
            <a:custGeom>
              <a:avLst/>
              <a:gdLst>
                <a:gd name="T0" fmla="*/ 0 w 1"/>
                <a:gd name="T1" fmla="*/ 0 h 253"/>
                <a:gd name="T2" fmla="*/ 0 w 1"/>
                <a:gd name="T3" fmla="*/ 252 h 253"/>
                <a:gd name="T4" fmla="*/ 0 w 1"/>
                <a:gd name="T5" fmla="*/ 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53">
                  <a:moveTo>
                    <a:pt x="0" y="0"/>
                  </a:moveTo>
                  <a:lnTo>
                    <a:pt x="0" y="25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60"/>
            <p:cNvSpPr>
              <a:spLocks/>
            </p:cNvSpPr>
            <p:nvPr/>
          </p:nvSpPr>
          <p:spPr bwMode="auto">
            <a:xfrm>
              <a:off x="4176" y="3400"/>
              <a:ext cx="51" cy="253"/>
            </a:xfrm>
            <a:custGeom>
              <a:avLst/>
              <a:gdLst>
                <a:gd name="T0" fmla="*/ 0 w 51"/>
                <a:gd name="T1" fmla="*/ 252 h 253"/>
                <a:gd name="T2" fmla="*/ 0 w 51"/>
                <a:gd name="T3" fmla="*/ 0 h 253"/>
                <a:gd name="T4" fmla="*/ 50 w 51"/>
                <a:gd name="T5" fmla="*/ 0 h 253"/>
                <a:gd name="T6" fmla="*/ 50 w 51"/>
                <a:gd name="T7" fmla="*/ 252 h 253"/>
                <a:gd name="T8" fmla="*/ 0 w 51"/>
                <a:gd name="T9" fmla="*/ 252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53">
                  <a:moveTo>
                    <a:pt x="0" y="252"/>
                  </a:moveTo>
                  <a:lnTo>
                    <a:pt x="0" y="0"/>
                  </a:lnTo>
                  <a:lnTo>
                    <a:pt x="50" y="0"/>
                  </a:lnTo>
                  <a:lnTo>
                    <a:pt x="50" y="252"/>
                  </a:lnTo>
                  <a:lnTo>
                    <a:pt x="0" y="25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Freeform 75"/>
            <p:cNvSpPr>
              <a:spLocks/>
            </p:cNvSpPr>
            <p:nvPr/>
          </p:nvSpPr>
          <p:spPr bwMode="auto">
            <a:xfrm>
              <a:off x="3068" y="2833"/>
              <a:ext cx="305" cy="253"/>
            </a:xfrm>
            <a:custGeom>
              <a:avLst/>
              <a:gdLst>
                <a:gd name="T0" fmla="*/ 0 w 305"/>
                <a:gd name="T1" fmla="*/ 252 h 253"/>
                <a:gd name="T2" fmla="*/ 0 w 305"/>
                <a:gd name="T3" fmla="*/ 0 h 253"/>
                <a:gd name="T4" fmla="*/ 304 w 305"/>
                <a:gd name="T5" fmla="*/ 0 h 253"/>
                <a:gd name="T6" fmla="*/ 304 w 305"/>
                <a:gd name="T7" fmla="*/ 252 h 253"/>
                <a:gd name="T8" fmla="*/ 0 w 305"/>
                <a:gd name="T9" fmla="*/ 252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5" h="253">
                  <a:moveTo>
                    <a:pt x="0" y="252"/>
                  </a:moveTo>
                  <a:lnTo>
                    <a:pt x="0" y="0"/>
                  </a:lnTo>
                  <a:lnTo>
                    <a:pt x="304" y="0"/>
                  </a:lnTo>
                  <a:lnTo>
                    <a:pt x="304" y="252"/>
                  </a:lnTo>
                  <a:lnTo>
                    <a:pt x="0" y="25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Freeform 76"/>
            <p:cNvSpPr>
              <a:spLocks/>
            </p:cNvSpPr>
            <p:nvPr/>
          </p:nvSpPr>
          <p:spPr bwMode="auto">
            <a:xfrm>
              <a:off x="3321" y="2833"/>
              <a:ext cx="1" cy="253"/>
            </a:xfrm>
            <a:custGeom>
              <a:avLst/>
              <a:gdLst>
                <a:gd name="T0" fmla="*/ 0 w 1"/>
                <a:gd name="T1" fmla="*/ 0 h 253"/>
                <a:gd name="T2" fmla="*/ 0 w 1"/>
                <a:gd name="T3" fmla="*/ 252 h 253"/>
                <a:gd name="T4" fmla="*/ 0 w 1"/>
                <a:gd name="T5" fmla="*/ 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53">
                  <a:moveTo>
                    <a:pt x="0" y="0"/>
                  </a:moveTo>
                  <a:lnTo>
                    <a:pt x="0" y="25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Rectangle 90"/>
            <p:cNvSpPr>
              <a:spLocks noChangeArrowheads="1"/>
            </p:cNvSpPr>
            <p:nvPr/>
          </p:nvSpPr>
          <p:spPr bwMode="auto">
            <a:xfrm>
              <a:off x="1954" y="3411"/>
              <a:ext cx="17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5</a:t>
              </a:r>
            </a:p>
          </p:txBody>
        </p:sp>
        <p:sp>
          <p:nvSpPr>
            <p:cNvPr id="177" name="Rectangle 91"/>
            <p:cNvSpPr>
              <a:spLocks noChangeArrowheads="1"/>
            </p:cNvSpPr>
            <p:nvPr/>
          </p:nvSpPr>
          <p:spPr bwMode="auto">
            <a:xfrm>
              <a:off x="3213" y="3411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24</a:t>
              </a:r>
            </a:p>
          </p:txBody>
        </p:sp>
        <p:sp>
          <p:nvSpPr>
            <p:cNvPr id="178" name="Rectangle 92"/>
            <p:cNvSpPr>
              <a:spLocks noChangeArrowheads="1"/>
            </p:cNvSpPr>
            <p:nvPr/>
          </p:nvSpPr>
          <p:spPr bwMode="auto">
            <a:xfrm>
              <a:off x="3467" y="3411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30</a:t>
              </a:r>
            </a:p>
          </p:txBody>
        </p:sp>
        <p:sp>
          <p:nvSpPr>
            <p:cNvPr id="179" name="Rectangle 93"/>
            <p:cNvSpPr>
              <a:spLocks noChangeArrowheads="1"/>
            </p:cNvSpPr>
            <p:nvPr/>
          </p:nvSpPr>
          <p:spPr bwMode="auto">
            <a:xfrm>
              <a:off x="3100" y="2836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17</a:t>
              </a:r>
            </a:p>
          </p:txBody>
        </p:sp>
        <p:sp>
          <p:nvSpPr>
            <p:cNvPr id="180" name="Rectangle 94"/>
            <p:cNvSpPr>
              <a:spLocks noChangeArrowheads="1"/>
            </p:cNvSpPr>
            <p:nvPr/>
          </p:nvSpPr>
          <p:spPr bwMode="auto">
            <a:xfrm>
              <a:off x="2207" y="3411"/>
              <a:ext cx="23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13</a:t>
              </a:r>
            </a:p>
          </p:txBody>
        </p:sp>
        <p:sp>
          <p:nvSpPr>
            <p:cNvPr id="186" name="Arc 100"/>
            <p:cNvSpPr>
              <a:spLocks/>
            </p:cNvSpPr>
            <p:nvPr/>
          </p:nvSpPr>
          <p:spPr bwMode="auto">
            <a:xfrm>
              <a:off x="3360" y="3026"/>
              <a:ext cx="192" cy="3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2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0" name="Curved Right Arrow 69"/>
          <p:cNvSpPr/>
          <p:nvPr/>
        </p:nvSpPr>
        <p:spPr>
          <a:xfrm>
            <a:off x="122391" y="4686425"/>
            <a:ext cx="252258" cy="676524"/>
          </a:xfrm>
          <a:prstGeom prst="curved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1" name="Oval 180"/>
          <p:cNvSpPr/>
          <p:nvPr/>
        </p:nvSpPr>
        <p:spPr>
          <a:xfrm>
            <a:off x="3189900" y="2421732"/>
            <a:ext cx="2902924" cy="838200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Curved Down Arrow 70"/>
          <p:cNvSpPr/>
          <p:nvPr/>
        </p:nvSpPr>
        <p:spPr>
          <a:xfrm rot="16200000">
            <a:off x="4564061" y="1878925"/>
            <a:ext cx="577850" cy="288926"/>
          </a:xfrm>
          <a:prstGeom prst="curved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801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95" grpId="0"/>
      <p:bldP spid="96" grpId="0"/>
      <p:bldP spid="97" grpId="0"/>
      <p:bldP spid="98" grpId="0"/>
      <p:bldP spid="99" grpId="0"/>
      <p:bldP spid="106" grpId="0" animBg="1"/>
      <p:bldP spid="108" grpId="0" animBg="1"/>
      <p:bldP spid="70" grpId="0" animBg="1"/>
      <p:bldP spid="181" grpId="0" animBg="1"/>
      <p:bldP spid="7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B+ Tree: Examples </a:t>
            </a:r>
            <a:r>
              <a:rPr lang="en-US" dirty="0" smtClean="0">
                <a:ea typeface="ＭＳ Ｐゴシック" pitchFamily="34" charset="-128"/>
              </a:rPr>
              <a:t>of Insertions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Insert entry </a:t>
            </a:r>
            <a:r>
              <a:rPr lang="en-US" sz="2800" dirty="0" smtClean="0">
                <a:solidFill>
                  <a:srgbClr val="FF0000"/>
                </a:solidFill>
              </a:rPr>
              <a:t>8*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400" dirty="0"/>
          </a:p>
        </p:txBody>
      </p:sp>
      <p:sp>
        <p:nvSpPr>
          <p:cNvPr id="114" name="Freeform 7"/>
          <p:cNvSpPr>
            <a:spLocks/>
          </p:cNvSpPr>
          <p:nvPr/>
        </p:nvSpPr>
        <p:spPr bwMode="auto">
          <a:xfrm>
            <a:off x="412750" y="4259262"/>
            <a:ext cx="327025" cy="325438"/>
          </a:xfrm>
          <a:custGeom>
            <a:avLst/>
            <a:gdLst>
              <a:gd name="T0" fmla="*/ 0 w 206"/>
              <a:gd name="T1" fmla="*/ 204 h 205"/>
              <a:gd name="T2" fmla="*/ 0 w 206"/>
              <a:gd name="T3" fmla="*/ 0 h 205"/>
              <a:gd name="T4" fmla="*/ 205 w 206"/>
              <a:gd name="T5" fmla="*/ 0 h 205"/>
              <a:gd name="T6" fmla="*/ 205 w 206"/>
              <a:gd name="T7" fmla="*/ 204 h 205"/>
              <a:gd name="T8" fmla="*/ 0 w 206"/>
              <a:gd name="T9" fmla="*/ 20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Freeform 8"/>
          <p:cNvSpPr>
            <a:spLocks/>
          </p:cNvSpPr>
          <p:nvPr/>
        </p:nvSpPr>
        <p:spPr bwMode="auto">
          <a:xfrm>
            <a:off x="738187" y="4259262"/>
            <a:ext cx="325438" cy="325438"/>
          </a:xfrm>
          <a:custGeom>
            <a:avLst/>
            <a:gdLst>
              <a:gd name="T0" fmla="*/ 0 w 205"/>
              <a:gd name="T1" fmla="*/ 204 h 205"/>
              <a:gd name="T2" fmla="*/ 0 w 205"/>
              <a:gd name="T3" fmla="*/ 0 h 205"/>
              <a:gd name="T4" fmla="*/ 204 w 205"/>
              <a:gd name="T5" fmla="*/ 0 h 205"/>
              <a:gd name="T6" fmla="*/ 204 w 205"/>
              <a:gd name="T7" fmla="*/ 204 h 205"/>
              <a:gd name="T8" fmla="*/ 0 w 205"/>
              <a:gd name="T9" fmla="*/ 20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Freeform 9"/>
          <p:cNvSpPr>
            <a:spLocks/>
          </p:cNvSpPr>
          <p:nvPr/>
        </p:nvSpPr>
        <p:spPr bwMode="auto">
          <a:xfrm>
            <a:off x="1062037" y="4259262"/>
            <a:ext cx="327025" cy="325438"/>
          </a:xfrm>
          <a:custGeom>
            <a:avLst/>
            <a:gdLst>
              <a:gd name="T0" fmla="*/ 0 w 206"/>
              <a:gd name="T1" fmla="*/ 204 h 205"/>
              <a:gd name="T2" fmla="*/ 0 w 206"/>
              <a:gd name="T3" fmla="*/ 0 h 205"/>
              <a:gd name="T4" fmla="*/ 205 w 206"/>
              <a:gd name="T5" fmla="*/ 0 h 205"/>
              <a:gd name="T6" fmla="*/ 205 w 206"/>
              <a:gd name="T7" fmla="*/ 204 h 205"/>
              <a:gd name="T8" fmla="*/ 0 w 206"/>
              <a:gd name="T9" fmla="*/ 20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Freeform 10"/>
          <p:cNvSpPr>
            <a:spLocks/>
          </p:cNvSpPr>
          <p:nvPr/>
        </p:nvSpPr>
        <p:spPr bwMode="auto">
          <a:xfrm>
            <a:off x="1387475" y="4259262"/>
            <a:ext cx="325437" cy="325438"/>
          </a:xfrm>
          <a:custGeom>
            <a:avLst/>
            <a:gdLst>
              <a:gd name="T0" fmla="*/ 0 w 205"/>
              <a:gd name="T1" fmla="*/ 204 h 205"/>
              <a:gd name="T2" fmla="*/ 0 w 205"/>
              <a:gd name="T3" fmla="*/ 0 h 205"/>
              <a:gd name="T4" fmla="*/ 204 w 205"/>
              <a:gd name="T5" fmla="*/ 0 h 205"/>
              <a:gd name="T6" fmla="*/ 204 w 205"/>
              <a:gd name="T7" fmla="*/ 204 h 205"/>
              <a:gd name="T8" fmla="*/ 0 w 205"/>
              <a:gd name="T9" fmla="*/ 20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Rectangle 11"/>
          <p:cNvSpPr>
            <a:spLocks noChangeArrowheads="1"/>
          </p:cNvSpPr>
          <p:nvPr/>
        </p:nvSpPr>
        <p:spPr bwMode="auto">
          <a:xfrm>
            <a:off x="423862" y="4238625"/>
            <a:ext cx="33655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2*</a:t>
            </a:r>
          </a:p>
        </p:txBody>
      </p:sp>
      <p:sp>
        <p:nvSpPr>
          <p:cNvPr id="119" name="Rectangle 12"/>
          <p:cNvSpPr>
            <a:spLocks noChangeArrowheads="1"/>
          </p:cNvSpPr>
          <p:nvPr/>
        </p:nvSpPr>
        <p:spPr bwMode="auto">
          <a:xfrm>
            <a:off x="749300" y="4238625"/>
            <a:ext cx="33655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3*</a:t>
            </a:r>
          </a:p>
        </p:txBody>
      </p:sp>
      <p:sp>
        <p:nvSpPr>
          <p:cNvPr id="120" name="Freeform 13"/>
          <p:cNvSpPr>
            <a:spLocks/>
          </p:cNvSpPr>
          <p:nvPr/>
        </p:nvSpPr>
        <p:spPr bwMode="auto">
          <a:xfrm>
            <a:off x="3581400" y="2641600"/>
            <a:ext cx="487362" cy="404812"/>
          </a:xfrm>
          <a:custGeom>
            <a:avLst/>
            <a:gdLst>
              <a:gd name="T0" fmla="*/ 0 w 307"/>
              <a:gd name="T1" fmla="*/ 254 h 255"/>
              <a:gd name="T2" fmla="*/ 0 w 307"/>
              <a:gd name="T3" fmla="*/ 0 h 255"/>
              <a:gd name="T4" fmla="*/ 306 w 307"/>
              <a:gd name="T5" fmla="*/ 0 h 255"/>
              <a:gd name="T6" fmla="*/ 306 w 307"/>
              <a:gd name="T7" fmla="*/ 254 h 255"/>
              <a:gd name="T8" fmla="*/ 0 w 307"/>
              <a:gd name="T9" fmla="*/ 254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" name="Freeform 14"/>
          <p:cNvSpPr>
            <a:spLocks/>
          </p:cNvSpPr>
          <p:nvPr/>
        </p:nvSpPr>
        <p:spPr bwMode="auto">
          <a:xfrm>
            <a:off x="3660775" y="2641600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254 h 255"/>
              <a:gd name="T4" fmla="*/ 0 w 1"/>
              <a:gd name="T5" fmla="*/ 0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Freeform 15"/>
          <p:cNvSpPr>
            <a:spLocks/>
          </p:cNvSpPr>
          <p:nvPr/>
        </p:nvSpPr>
        <p:spPr bwMode="auto">
          <a:xfrm>
            <a:off x="4067175" y="2641600"/>
            <a:ext cx="488950" cy="404812"/>
          </a:xfrm>
          <a:custGeom>
            <a:avLst/>
            <a:gdLst>
              <a:gd name="T0" fmla="*/ 0 w 308"/>
              <a:gd name="T1" fmla="*/ 254 h 255"/>
              <a:gd name="T2" fmla="*/ 0 w 308"/>
              <a:gd name="T3" fmla="*/ 0 h 255"/>
              <a:gd name="T4" fmla="*/ 307 w 308"/>
              <a:gd name="T5" fmla="*/ 0 h 255"/>
              <a:gd name="T6" fmla="*/ 307 w 308"/>
              <a:gd name="T7" fmla="*/ 254 h 255"/>
              <a:gd name="T8" fmla="*/ 0 w 308"/>
              <a:gd name="T9" fmla="*/ 254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" name="Freeform 16"/>
          <p:cNvSpPr>
            <a:spLocks/>
          </p:cNvSpPr>
          <p:nvPr/>
        </p:nvSpPr>
        <p:spPr bwMode="auto">
          <a:xfrm>
            <a:off x="4148137" y="2641600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254 h 255"/>
              <a:gd name="T4" fmla="*/ 0 w 1"/>
              <a:gd name="T5" fmla="*/ 0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" name="Freeform 17"/>
          <p:cNvSpPr>
            <a:spLocks/>
          </p:cNvSpPr>
          <p:nvPr/>
        </p:nvSpPr>
        <p:spPr bwMode="auto">
          <a:xfrm>
            <a:off x="4554537" y="2641600"/>
            <a:ext cx="488950" cy="404812"/>
          </a:xfrm>
          <a:custGeom>
            <a:avLst/>
            <a:gdLst>
              <a:gd name="T0" fmla="*/ 0 w 308"/>
              <a:gd name="T1" fmla="*/ 254 h 255"/>
              <a:gd name="T2" fmla="*/ 0 w 308"/>
              <a:gd name="T3" fmla="*/ 0 h 255"/>
              <a:gd name="T4" fmla="*/ 307 w 308"/>
              <a:gd name="T5" fmla="*/ 0 h 255"/>
              <a:gd name="T6" fmla="*/ 307 w 308"/>
              <a:gd name="T7" fmla="*/ 254 h 255"/>
              <a:gd name="T8" fmla="*/ 0 w 308"/>
              <a:gd name="T9" fmla="*/ 254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" name="Freeform 18"/>
          <p:cNvSpPr>
            <a:spLocks/>
          </p:cNvSpPr>
          <p:nvPr/>
        </p:nvSpPr>
        <p:spPr bwMode="auto">
          <a:xfrm>
            <a:off x="4635500" y="2641600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254 h 255"/>
              <a:gd name="T4" fmla="*/ 0 w 1"/>
              <a:gd name="T5" fmla="*/ 0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" name="Freeform 19"/>
          <p:cNvSpPr>
            <a:spLocks/>
          </p:cNvSpPr>
          <p:nvPr/>
        </p:nvSpPr>
        <p:spPr bwMode="auto">
          <a:xfrm>
            <a:off x="5041900" y="2641600"/>
            <a:ext cx="488950" cy="404812"/>
          </a:xfrm>
          <a:custGeom>
            <a:avLst/>
            <a:gdLst>
              <a:gd name="T0" fmla="*/ 0 w 308"/>
              <a:gd name="T1" fmla="*/ 254 h 255"/>
              <a:gd name="T2" fmla="*/ 0 w 308"/>
              <a:gd name="T3" fmla="*/ 0 h 255"/>
              <a:gd name="T4" fmla="*/ 307 w 308"/>
              <a:gd name="T5" fmla="*/ 0 h 255"/>
              <a:gd name="T6" fmla="*/ 307 w 308"/>
              <a:gd name="T7" fmla="*/ 254 h 255"/>
              <a:gd name="T8" fmla="*/ 0 w 308"/>
              <a:gd name="T9" fmla="*/ 254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6" name="Freeform 20"/>
          <p:cNvSpPr>
            <a:spLocks/>
          </p:cNvSpPr>
          <p:nvPr/>
        </p:nvSpPr>
        <p:spPr bwMode="auto">
          <a:xfrm>
            <a:off x="5122862" y="2641600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254 h 255"/>
              <a:gd name="T4" fmla="*/ 0 w 1"/>
              <a:gd name="T5" fmla="*/ 0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7" name="Freeform 21"/>
          <p:cNvSpPr>
            <a:spLocks/>
          </p:cNvSpPr>
          <p:nvPr/>
        </p:nvSpPr>
        <p:spPr bwMode="auto">
          <a:xfrm>
            <a:off x="5529262" y="2641600"/>
            <a:ext cx="82550" cy="404812"/>
          </a:xfrm>
          <a:custGeom>
            <a:avLst/>
            <a:gdLst>
              <a:gd name="T0" fmla="*/ 0 w 52"/>
              <a:gd name="T1" fmla="*/ 254 h 255"/>
              <a:gd name="T2" fmla="*/ 0 w 52"/>
              <a:gd name="T3" fmla="*/ 0 h 255"/>
              <a:gd name="T4" fmla="*/ 51 w 52"/>
              <a:gd name="T5" fmla="*/ 0 h 255"/>
              <a:gd name="T6" fmla="*/ 51 w 52"/>
              <a:gd name="T7" fmla="*/ 254 h 255"/>
              <a:gd name="T8" fmla="*/ 0 w 52"/>
              <a:gd name="T9" fmla="*/ 254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8" name="Freeform 22"/>
          <p:cNvSpPr>
            <a:spLocks/>
          </p:cNvSpPr>
          <p:nvPr/>
        </p:nvSpPr>
        <p:spPr bwMode="auto">
          <a:xfrm>
            <a:off x="3194050" y="4267200"/>
            <a:ext cx="327025" cy="325437"/>
          </a:xfrm>
          <a:custGeom>
            <a:avLst/>
            <a:gdLst>
              <a:gd name="T0" fmla="*/ 0 w 206"/>
              <a:gd name="T1" fmla="*/ 204 h 205"/>
              <a:gd name="T2" fmla="*/ 0 w 206"/>
              <a:gd name="T3" fmla="*/ 0 h 205"/>
              <a:gd name="T4" fmla="*/ 205 w 206"/>
              <a:gd name="T5" fmla="*/ 0 h 205"/>
              <a:gd name="T6" fmla="*/ 205 w 206"/>
              <a:gd name="T7" fmla="*/ 204 h 205"/>
              <a:gd name="T8" fmla="*/ 0 w 206"/>
              <a:gd name="T9" fmla="*/ 20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9" name="Freeform 23"/>
          <p:cNvSpPr>
            <a:spLocks/>
          </p:cNvSpPr>
          <p:nvPr/>
        </p:nvSpPr>
        <p:spPr bwMode="auto">
          <a:xfrm>
            <a:off x="3519487" y="4267200"/>
            <a:ext cx="327025" cy="325437"/>
          </a:xfrm>
          <a:custGeom>
            <a:avLst/>
            <a:gdLst>
              <a:gd name="T0" fmla="*/ 0 w 206"/>
              <a:gd name="T1" fmla="*/ 204 h 205"/>
              <a:gd name="T2" fmla="*/ 0 w 206"/>
              <a:gd name="T3" fmla="*/ 0 h 205"/>
              <a:gd name="T4" fmla="*/ 205 w 206"/>
              <a:gd name="T5" fmla="*/ 0 h 205"/>
              <a:gd name="T6" fmla="*/ 205 w 206"/>
              <a:gd name="T7" fmla="*/ 204 h 205"/>
              <a:gd name="T8" fmla="*/ 0 w 206"/>
              <a:gd name="T9" fmla="*/ 20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" name="Freeform 24"/>
          <p:cNvSpPr>
            <a:spLocks/>
          </p:cNvSpPr>
          <p:nvPr/>
        </p:nvSpPr>
        <p:spPr bwMode="auto">
          <a:xfrm>
            <a:off x="3844925" y="4267200"/>
            <a:ext cx="325437" cy="325437"/>
          </a:xfrm>
          <a:custGeom>
            <a:avLst/>
            <a:gdLst>
              <a:gd name="T0" fmla="*/ 0 w 205"/>
              <a:gd name="T1" fmla="*/ 204 h 205"/>
              <a:gd name="T2" fmla="*/ 0 w 205"/>
              <a:gd name="T3" fmla="*/ 0 h 205"/>
              <a:gd name="T4" fmla="*/ 204 w 205"/>
              <a:gd name="T5" fmla="*/ 0 h 205"/>
              <a:gd name="T6" fmla="*/ 204 w 205"/>
              <a:gd name="T7" fmla="*/ 204 h 205"/>
              <a:gd name="T8" fmla="*/ 0 w 205"/>
              <a:gd name="T9" fmla="*/ 20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" name="Freeform 25"/>
          <p:cNvSpPr>
            <a:spLocks/>
          </p:cNvSpPr>
          <p:nvPr/>
        </p:nvSpPr>
        <p:spPr bwMode="auto">
          <a:xfrm>
            <a:off x="4168775" y="4267200"/>
            <a:ext cx="327025" cy="325437"/>
          </a:xfrm>
          <a:custGeom>
            <a:avLst/>
            <a:gdLst>
              <a:gd name="T0" fmla="*/ 0 w 206"/>
              <a:gd name="T1" fmla="*/ 204 h 205"/>
              <a:gd name="T2" fmla="*/ 0 w 206"/>
              <a:gd name="T3" fmla="*/ 0 h 205"/>
              <a:gd name="T4" fmla="*/ 205 w 206"/>
              <a:gd name="T5" fmla="*/ 0 h 205"/>
              <a:gd name="T6" fmla="*/ 205 w 206"/>
              <a:gd name="T7" fmla="*/ 204 h 205"/>
              <a:gd name="T8" fmla="*/ 0 w 206"/>
              <a:gd name="T9" fmla="*/ 20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2" name="Freeform 26"/>
          <p:cNvSpPr>
            <a:spLocks/>
          </p:cNvSpPr>
          <p:nvPr/>
        </p:nvSpPr>
        <p:spPr bwMode="auto">
          <a:xfrm>
            <a:off x="4605337" y="4267200"/>
            <a:ext cx="327025" cy="325437"/>
          </a:xfrm>
          <a:custGeom>
            <a:avLst/>
            <a:gdLst>
              <a:gd name="T0" fmla="*/ 0 w 206"/>
              <a:gd name="T1" fmla="*/ 204 h 205"/>
              <a:gd name="T2" fmla="*/ 0 w 206"/>
              <a:gd name="T3" fmla="*/ 0 h 205"/>
              <a:gd name="T4" fmla="*/ 205 w 206"/>
              <a:gd name="T5" fmla="*/ 0 h 205"/>
              <a:gd name="T6" fmla="*/ 205 w 206"/>
              <a:gd name="T7" fmla="*/ 204 h 205"/>
              <a:gd name="T8" fmla="*/ 0 w 206"/>
              <a:gd name="T9" fmla="*/ 20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" name="Freeform 27"/>
          <p:cNvSpPr>
            <a:spLocks/>
          </p:cNvSpPr>
          <p:nvPr/>
        </p:nvSpPr>
        <p:spPr bwMode="auto">
          <a:xfrm>
            <a:off x="4930775" y="4267200"/>
            <a:ext cx="327025" cy="325437"/>
          </a:xfrm>
          <a:custGeom>
            <a:avLst/>
            <a:gdLst>
              <a:gd name="T0" fmla="*/ 0 w 206"/>
              <a:gd name="T1" fmla="*/ 204 h 205"/>
              <a:gd name="T2" fmla="*/ 0 w 206"/>
              <a:gd name="T3" fmla="*/ 0 h 205"/>
              <a:gd name="T4" fmla="*/ 205 w 206"/>
              <a:gd name="T5" fmla="*/ 0 h 205"/>
              <a:gd name="T6" fmla="*/ 205 w 206"/>
              <a:gd name="T7" fmla="*/ 204 h 205"/>
              <a:gd name="T8" fmla="*/ 0 w 206"/>
              <a:gd name="T9" fmla="*/ 20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" name="Freeform 28"/>
          <p:cNvSpPr>
            <a:spLocks/>
          </p:cNvSpPr>
          <p:nvPr/>
        </p:nvSpPr>
        <p:spPr bwMode="auto">
          <a:xfrm>
            <a:off x="5256212" y="4267200"/>
            <a:ext cx="323850" cy="325437"/>
          </a:xfrm>
          <a:custGeom>
            <a:avLst/>
            <a:gdLst>
              <a:gd name="T0" fmla="*/ 0 w 204"/>
              <a:gd name="T1" fmla="*/ 204 h 205"/>
              <a:gd name="T2" fmla="*/ 0 w 204"/>
              <a:gd name="T3" fmla="*/ 0 h 205"/>
              <a:gd name="T4" fmla="*/ 203 w 204"/>
              <a:gd name="T5" fmla="*/ 0 h 205"/>
              <a:gd name="T6" fmla="*/ 203 w 204"/>
              <a:gd name="T7" fmla="*/ 204 h 205"/>
              <a:gd name="T8" fmla="*/ 0 w 204"/>
              <a:gd name="T9" fmla="*/ 20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4" h="205">
                <a:moveTo>
                  <a:pt x="0" y="204"/>
                </a:moveTo>
                <a:lnTo>
                  <a:pt x="0" y="0"/>
                </a:lnTo>
                <a:lnTo>
                  <a:pt x="203" y="0"/>
                </a:lnTo>
                <a:lnTo>
                  <a:pt x="203" y="204"/>
                </a:lnTo>
                <a:lnTo>
                  <a:pt x="0" y="20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" name="Freeform 29"/>
          <p:cNvSpPr>
            <a:spLocks/>
          </p:cNvSpPr>
          <p:nvPr/>
        </p:nvSpPr>
        <p:spPr bwMode="auto">
          <a:xfrm>
            <a:off x="5578475" y="4267200"/>
            <a:ext cx="327025" cy="325437"/>
          </a:xfrm>
          <a:custGeom>
            <a:avLst/>
            <a:gdLst>
              <a:gd name="T0" fmla="*/ 0 w 206"/>
              <a:gd name="T1" fmla="*/ 204 h 205"/>
              <a:gd name="T2" fmla="*/ 0 w 206"/>
              <a:gd name="T3" fmla="*/ 0 h 205"/>
              <a:gd name="T4" fmla="*/ 205 w 206"/>
              <a:gd name="T5" fmla="*/ 0 h 205"/>
              <a:gd name="T6" fmla="*/ 205 w 206"/>
              <a:gd name="T7" fmla="*/ 204 h 205"/>
              <a:gd name="T8" fmla="*/ 0 w 206"/>
              <a:gd name="T9" fmla="*/ 20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" name="Freeform 30"/>
          <p:cNvSpPr>
            <a:spLocks/>
          </p:cNvSpPr>
          <p:nvPr/>
        </p:nvSpPr>
        <p:spPr bwMode="auto">
          <a:xfrm>
            <a:off x="6016625" y="4267200"/>
            <a:ext cx="327025" cy="325437"/>
          </a:xfrm>
          <a:custGeom>
            <a:avLst/>
            <a:gdLst>
              <a:gd name="T0" fmla="*/ 0 w 206"/>
              <a:gd name="T1" fmla="*/ 204 h 205"/>
              <a:gd name="T2" fmla="*/ 0 w 206"/>
              <a:gd name="T3" fmla="*/ 0 h 205"/>
              <a:gd name="T4" fmla="*/ 205 w 206"/>
              <a:gd name="T5" fmla="*/ 0 h 205"/>
              <a:gd name="T6" fmla="*/ 205 w 206"/>
              <a:gd name="T7" fmla="*/ 204 h 205"/>
              <a:gd name="T8" fmla="*/ 0 w 206"/>
              <a:gd name="T9" fmla="*/ 20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" name="Freeform 31"/>
          <p:cNvSpPr>
            <a:spLocks/>
          </p:cNvSpPr>
          <p:nvPr/>
        </p:nvSpPr>
        <p:spPr bwMode="auto">
          <a:xfrm>
            <a:off x="6342062" y="4267200"/>
            <a:ext cx="325438" cy="325437"/>
          </a:xfrm>
          <a:custGeom>
            <a:avLst/>
            <a:gdLst>
              <a:gd name="T0" fmla="*/ 0 w 205"/>
              <a:gd name="T1" fmla="*/ 204 h 205"/>
              <a:gd name="T2" fmla="*/ 0 w 205"/>
              <a:gd name="T3" fmla="*/ 0 h 205"/>
              <a:gd name="T4" fmla="*/ 204 w 205"/>
              <a:gd name="T5" fmla="*/ 0 h 205"/>
              <a:gd name="T6" fmla="*/ 204 w 205"/>
              <a:gd name="T7" fmla="*/ 204 h 205"/>
              <a:gd name="T8" fmla="*/ 0 w 205"/>
              <a:gd name="T9" fmla="*/ 20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" name="Freeform 32"/>
          <p:cNvSpPr>
            <a:spLocks/>
          </p:cNvSpPr>
          <p:nvPr/>
        </p:nvSpPr>
        <p:spPr bwMode="auto">
          <a:xfrm>
            <a:off x="6665912" y="4267200"/>
            <a:ext cx="325438" cy="325437"/>
          </a:xfrm>
          <a:custGeom>
            <a:avLst/>
            <a:gdLst>
              <a:gd name="T0" fmla="*/ 0 w 205"/>
              <a:gd name="T1" fmla="*/ 204 h 205"/>
              <a:gd name="T2" fmla="*/ 0 w 205"/>
              <a:gd name="T3" fmla="*/ 0 h 205"/>
              <a:gd name="T4" fmla="*/ 204 w 205"/>
              <a:gd name="T5" fmla="*/ 0 h 205"/>
              <a:gd name="T6" fmla="*/ 204 w 205"/>
              <a:gd name="T7" fmla="*/ 204 h 205"/>
              <a:gd name="T8" fmla="*/ 0 w 205"/>
              <a:gd name="T9" fmla="*/ 20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" name="Freeform 33"/>
          <p:cNvSpPr>
            <a:spLocks/>
          </p:cNvSpPr>
          <p:nvPr/>
        </p:nvSpPr>
        <p:spPr bwMode="auto">
          <a:xfrm>
            <a:off x="6989762" y="4267200"/>
            <a:ext cx="327025" cy="325437"/>
          </a:xfrm>
          <a:custGeom>
            <a:avLst/>
            <a:gdLst>
              <a:gd name="T0" fmla="*/ 0 w 206"/>
              <a:gd name="T1" fmla="*/ 204 h 205"/>
              <a:gd name="T2" fmla="*/ 0 w 206"/>
              <a:gd name="T3" fmla="*/ 0 h 205"/>
              <a:gd name="T4" fmla="*/ 205 w 206"/>
              <a:gd name="T5" fmla="*/ 0 h 205"/>
              <a:gd name="T6" fmla="*/ 205 w 206"/>
              <a:gd name="T7" fmla="*/ 204 h 205"/>
              <a:gd name="T8" fmla="*/ 0 w 206"/>
              <a:gd name="T9" fmla="*/ 20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" name="Freeform 34"/>
          <p:cNvSpPr>
            <a:spLocks/>
          </p:cNvSpPr>
          <p:nvPr/>
        </p:nvSpPr>
        <p:spPr bwMode="auto">
          <a:xfrm>
            <a:off x="7416800" y="4267200"/>
            <a:ext cx="327025" cy="325437"/>
          </a:xfrm>
          <a:custGeom>
            <a:avLst/>
            <a:gdLst>
              <a:gd name="T0" fmla="*/ 0 w 206"/>
              <a:gd name="T1" fmla="*/ 204 h 205"/>
              <a:gd name="T2" fmla="*/ 0 w 206"/>
              <a:gd name="T3" fmla="*/ 0 h 205"/>
              <a:gd name="T4" fmla="*/ 205 w 206"/>
              <a:gd name="T5" fmla="*/ 0 h 205"/>
              <a:gd name="T6" fmla="*/ 205 w 206"/>
              <a:gd name="T7" fmla="*/ 204 h 205"/>
              <a:gd name="T8" fmla="*/ 0 w 206"/>
              <a:gd name="T9" fmla="*/ 20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" name="Freeform 35"/>
          <p:cNvSpPr>
            <a:spLocks/>
          </p:cNvSpPr>
          <p:nvPr/>
        </p:nvSpPr>
        <p:spPr bwMode="auto">
          <a:xfrm>
            <a:off x="7742237" y="4267200"/>
            <a:ext cx="325438" cy="325437"/>
          </a:xfrm>
          <a:custGeom>
            <a:avLst/>
            <a:gdLst>
              <a:gd name="T0" fmla="*/ 0 w 205"/>
              <a:gd name="T1" fmla="*/ 204 h 205"/>
              <a:gd name="T2" fmla="*/ 0 w 205"/>
              <a:gd name="T3" fmla="*/ 0 h 205"/>
              <a:gd name="T4" fmla="*/ 204 w 205"/>
              <a:gd name="T5" fmla="*/ 0 h 205"/>
              <a:gd name="T6" fmla="*/ 204 w 205"/>
              <a:gd name="T7" fmla="*/ 204 h 205"/>
              <a:gd name="T8" fmla="*/ 0 w 205"/>
              <a:gd name="T9" fmla="*/ 20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" name="Freeform 36"/>
          <p:cNvSpPr>
            <a:spLocks/>
          </p:cNvSpPr>
          <p:nvPr/>
        </p:nvSpPr>
        <p:spPr bwMode="auto">
          <a:xfrm>
            <a:off x="8066087" y="4267200"/>
            <a:ext cx="325438" cy="325437"/>
          </a:xfrm>
          <a:custGeom>
            <a:avLst/>
            <a:gdLst>
              <a:gd name="T0" fmla="*/ 0 w 205"/>
              <a:gd name="T1" fmla="*/ 204 h 205"/>
              <a:gd name="T2" fmla="*/ 0 w 205"/>
              <a:gd name="T3" fmla="*/ 0 h 205"/>
              <a:gd name="T4" fmla="*/ 204 w 205"/>
              <a:gd name="T5" fmla="*/ 0 h 205"/>
              <a:gd name="T6" fmla="*/ 204 w 205"/>
              <a:gd name="T7" fmla="*/ 204 h 205"/>
              <a:gd name="T8" fmla="*/ 0 w 205"/>
              <a:gd name="T9" fmla="*/ 20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" name="Freeform 37"/>
          <p:cNvSpPr>
            <a:spLocks/>
          </p:cNvSpPr>
          <p:nvPr/>
        </p:nvSpPr>
        <p:spPr bwMode="auto">
          <a:xfrm>
            <a:off x="8389937" y="4267200"/>
            <a:ext cx="327025" cy="325437"/>
          </a:xfrm>
          <a:custGeom>
            <a:avLst/>
            <a:gdLst>
              <a:gd name="T0" fmla="*/ 0 w 206"/>
              <a:gd name="T1" fmla="*/ 204 h 205"/>
              <a:gd name="T2" fmla="*/ 0 w 206"/>
              <a:gd name="T3" fmla="*/ 0 h 205"/>
              <a:gd name="T4" fmla="*/ 205 w 206"/>
              <a:gd name="T5" fmla="*/ 0 h 205"/>
              <a:gd name="T6" fmla="*/ 205 w 206"/>
              <a:gd name="T7" fmla="*/ 204 h 205"/>
              <a:gd name="T8" fmla="*/ 0 w 206"/>
              <a:gd name="T9" fmla="*/ 20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" name="Freeform 38"/>
          <p:cNvSpPr>
            <a:spLocks/>
          </p:cNvSpPr>
          <p:nvPr/>
        </p:nvSpPr>
        <p:spPr bwMode="auto">
          <a:xfrm>
            <a:off x="1460500" y="3409950"/>
            <a:ext cx="487362" cy="404812"/>
          </a:xfrm>
          <a:custGeom>
            <a:avLst/>
            <a:gdLst>
              <a:gd name="T0" fmla="*/ 0 w 307"/>
              <a:gd name="T1" fmla="*/ 254 h 255"/>
              <a:gd name="T2" fmla="*/ 0 w 307"/>
              <a:gd name="T3" fmla="*/ 0 h 255"/>
              <a:gd name="T4" fmla="*/ 306 w 307"/>
              <a:gd name="T5" fmla="*/ 0 h 255"/>
              <a:gd name="T6" fmla="*/ 306 w 307"/>
              <a:gd name="T7" fmla="*/ 254 h 255"/>
              <a:gd name="T8" fmla="*/ 0 w 307"/>
              <a:gd name="T9" fmla="*/ 254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" name="Freeform 39"/>
          <p:cNvSpPr>
            <a:spLocks/>
          </p:cNvSpPr>
          <p:nvPr/>
        </p:nvSpPr>
        <p:spPr bwMode="auto">
          <a:xfrm>
            <a:off x="1541462" y="3409950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254 h 255"/>
              <a:gd name="T4" fmla="*/ 0 w 1"/>
              <a:gd name="T5" fmla="*/ 0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" name="Freeform 40"/>
          <p:cNvSpPr>
            <a:spLocks/>
          </p:cNvSpPr>
          <p:nvPr/>
        </p:nvSpPr>
        <p:spPr bwMode="auto">
          <a:xfrm>
            <a:off x="1946275" y="3409950"/>
            <a:ext cx="488950" cy="404812"/>
          </a:xfrm>
          <a:custGeom>
            <a:avLst/>
            <a:gdLst>
              <a:gd name="T0" fmla="*/ 0 w 308"/>
              <a:gd name="T1" fmla="*/ 254 h 255"/>
              <a:gd name="T2" fmla="*/ 0 w 308"/>
              <a:gd name="T3" fmla="*/ 0 h 255"/>
              <a:gd name="T4" fmla="*/ 307 w 308"/>
              <a:gd name="T5" fmla="*/ 0 h 255"/>
              <a:gd name="T6" fmla="*/ 307 w 308"/>
              <a:gd name="T7" fmla="*/ 254 h 255"/>
              <a:gd name="T8" fmla="*/ 0 w 308"/>
              <a:gd name="T9" fmla="*/ 254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" name="Freeform 41"/>
          <p:cNvSpPr>
            <a:spLocks/>
          </p:cNvSpPr>
          <p:nvPr/>
        </p:nvSpPr>
        <p:spPr bwMode="auto">
          <a:xfrm>
            <a:off x="2027237" y="3409950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254 h 255"/>
              <a:gd name="T4" fmla="*/ 0 w 1"/>
              <a:gd name="T5" fmla="*/ 0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0" name="Freeform 42"/>
          <p:cNvSpPr>
            <a:spLocks/>
          </p:cNvSpPr>
          <p:nvPr/>
        </p:nvSpPr>
        <p:spPr bwMode="auto">
          <a:xfrm>
            <a:off x="2433637" y="3409950"/>
            <a:ext cx="488950" cy="404812"/>
          </a:xfrm>
          <a:custGeom>
            <a:avLst/>
            <a:gdLst>
              <a:gd name="T0" fmla="*/ 0 w 308"/>
              <a:gd name="T1" fmla="*/ 254 h 255"/>
              <a:gd name="T2" fmla="*/ 0 w 308"/>
              <a:gd name="T3" fmla="*/ 0 h 255"/>
              <a:gd name="T4" fmla="*/ 307 w 308"/>
              <a:gd name="T5" fmla="*/ 0 h 255"/>
              <a:gd name="T6" fmla="*/ 307 w 308"/>
              <a:gd name="T7" fmla="*/ 254 h 255"/>
              <a:gd name="T8" fmla="*/ 0 w 308"/>
              <a:gd name="T9" fmla="*/ 254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1" name="Freeform 43"/>
          <p:cNvSpPr>
            <a:spLocks/>
          </p:cNvSpPr>
          <p:nvPr/>
        </p:nvSpPr>
        <p:spPr bwMode="auto">
          <a:xfrm>
            <a:off x="2514600" y="3409950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254 h 255"/>
              <a:gd name="T4" fmla="*/ 0 w 1"/>
              <a:gd name="T5" fmla="*/ 0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2" name="Freeform 44"/>
          <p:cNvSpPr>
            <a:spLocks/>
          </p:cNvSpPr>
          <p:nvPr/>
        </p:nvSpPr>
        <p:spPr bwMode="auto">
          <a:xfrm>
            <a:off x="2921000" y="3409950"/>
            <a:ext cx="488950" cy="404812"/>
          </a:xfrm>
          <a:custGeom>
            <a:avLst/>
            <a:gdLst>
              <a:gd name="T0" fmla="*/ 0 w 308"/>
              <a:gd name="T1" fmla="*/ 254 h 255"/>
              <a:gd name="T2" fmla="*/ 0 w 308"/>
              <a:gd name="T3" fmla="*/ 0 h 255"/>
              <a:gd name="T4" fmla="*/ 307 w 308"/>
              <a:gd name="T5" fmla="*/ 0 h 255"/>
              <a:gd name="T6" fmla="*/ 307 w 308"/>
              <a:gd name="T7" fmla="*/ 254 h 255"/>
              <a:gd name="T8" fmla="*/ 0 w 308"/>
              <a:gd name="T9" fmla="*/ 254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3" name="Freeform 45"/>
          <p:cNvSpPr>
            <a:spLocks/>
          </p:cNvSpPr>
          <p:nvPr/>
        </p:nvSpPr>
        <p:spPr bwMode="auto">
          <a:xfrm>
            <a:off x="3001962" y="3409950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254 h 255"/>
              <a:gd name="T4" fmla="*/ 0 w 1"/>
              <a:gd name="T5" fmla="*/ 0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" name="Freeform 46"/>
          <p:cNvSpPr>
            <a:spLocks/>
          </p:cNvSpPr>
          <p:nvPr/>
        </p:nvSpPr>
        <p:spPr bwMode="auto">
          <a:xfrm>
            <a:off x="3408362" y="3409950"/>
            <a:ext cx="82550" cy="404812"/>
          </a:xfrm>
          <a:custGeom>
            <a:avLst/>
            <a:gdLst>
              <a:gd name="T0" fmla="*/ 0 w 52"/>
              <a:gd name="T1" fmla="*/ 254 h 255"/>
              <a:gd name="T2" fmla="*/ 0 w 52"/>
              <a:gd name="T3" fmla="*/ 0 h 255"/>
              <a:gd name="T4" fmla="*/ 51 w 52"/>
              <a:gd name="T5" fmla="*/ 0 h 255"/>
              <a:gd name="T6" fmla="*/ 51 w 52"/>
              <a:gd name="T7" fmla="*/ 254 h 255"/>
              <a:gd name="T8" fmla="*/ 0 w 52"/>
              <a:gd name="T9" fmla="*/ 254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" name="Freeform 47"/>
          <p:cNvSpPr>
            <a:spLocks/>
          </p:cNvSpPr>
          <p:nvPr/>
        </p:nvSpPr>
        <p:spPr bwMode="auto">
          <a:xfrm>
            <a:off x="5670550" y="3409950"/>
            <a:ext cx="488950" cy="404812"/>
          </a:xfrm>
          <a:custGeom>
            <a:avLst/>
            <a:gdLst>
              <a:gd name="T0" fmla="*/ 0 w 308"/>
              <a:gd name="T1" fmla="*/ 254 h 255"/>
              <a:gd name="T2" fmla="*/ 0 w 308"/>
              <a:gd name="T3" fmla="*/ 0 h 255"/>
              <a:gd name="T4" fmla="*/ 307 w 308"/>
              <a:gd name="T5" fmla="*/ 0 h 255"/>
              <a:gd name="T6" fmla="*/ 307 w 308"/>
              <a:gd name="T7" fmla="*/ 254 h 255"/>
              <a:gd name="T8" fmla="*/ 0 w 308"/>
              <a:gd name="T9" fmla="*/ 254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2" name="Freeform 48"/>
          <p:cNvSpPr>
            <a:spLocks/>
          </p:cNvSpPr>
          <p:nvPr/>
        </p:nvSpPr>
        <p:spPr bwMode="auto">
          <a:xfrm>
            <a:off x="5751512" y="3409950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254 h 255"/>
              <a:gd name="T4" fmla="*/ 0 w 1"/>
              <a:gd name="T5" fmla="*/ 0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3" name="Freeform 49"/>
          <p:cNvSpPr>
            <a:spLocks/>
          </p:cNvSpPr>
          <p:nvPr/>
        </p:nvSpPr>
        <p:spPr bwMode="auto">
          <a:xfrm>
            <a:off x="6157912" y="3409950"/>
            <a:ext cx="488950" cy="404812"/>
          </a:xfrm>
          <a:custGeom>
            <a:avLst/>
            <a:gdLst>
              <a:gd name="T0" fmla="*/ 0 w 308"/>
              <a:gd name="T1" fmla="*/ 254 h 255"/>
              <a:gd name="T2" fmla="*/ 0 w 308"/>
              <a:gd name="T3" fmla="*/ 0 h 255"/>
              <a:gd name="T4" fmla="*/ 307 w 308"/>
              <a:gd name="T5" fmla="*/ 0 h 255"/>
              <a:gd name="T6" fmla="*/ 307 w 308"/>
              <a:gd name="T7" fmla="*/ 254 h 255"/>
              <a:gd name="T8" fmla="*/ 0 w 308"/>
              <a:gd name="T9" fmla="*/ 254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" name="Freeform 50"/>
          <p:cNvSpPr>
            <a:spLocks/>
          </p:cNvSpPr>
          <p:nvPr/>
        </p:nvSpPr>
        <p:spPr bwMode="auto">
          <a:xfrm>
            <a:off x="6238875" y="3409950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254 h 255"/>
              <a:gd name="T4" fmla="*/ 0 w 1"/>
              <a:gd name="T5" fmla="*/ 0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" name="Freeform 51"/>
          <p:cNvSpPr>
            <a:spLocks/>
          </p:cNvSpPr>
          <p:nvPr/>
        </p:nvSpPr>
        <p:spPr bwMode="auto">
          <a:xfrm>
            <a:off x="6645275" y="3409950"/>
            <a:ext cx="487362" cy="404812"/>
          </a:xfrm>
          <a:custGeom>
            <a:avLst/>
            <a:gdLst>
              <a:gd name="T0" fmla="*/ 0 w 307"/>
              <a:gd name="T1" fmla="*/ 254 h 255"/>
              <a:gd name="T2" fmla="*/ 0 w 307"/>
              <a:gd name="T3" fmla="*/ 0 h 255"/>
              <a:gd name="T4" fmla="*/ 306 w 307"/>
              <a:gd name="T5" fmla="*/ 0 h 255"/>
              <a:gd name="T6" fmla="*/ 306 w 307"/>
              <a:gd name="T7" fmla="*/ 254 h 255"/>
              <a:gd name="T8" fmla="*/ 0 w 307"/>
              <a:gd name="T9" fmla="*/ 254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7" name="Freeform 52"/>
          <p:cNvSpPr>
            <a:spLocks/>
          </p:cNvSpPr>
          <p:nvPr/>
        </p:nvSpPr>
        <p:spPr bwMode="auto">
          <a:xfrm>
            <a:off x="6726237" y="3409950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254 h 255"/>
              <a:gd name="T4" fmla="*/ 0 w 1"/>
              <a:gd name="T5" fmla="*/ 0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8" name="Freeform 53"/>
          <p:cNvSpPr>
            <a:spLocks/>
          </p:cNvSpPr>
          <p:nvPr/>
        </p:nvSpPr>
        <p:spPr bwMode="auto">
          <a:xfrm>
            <a:off x="7131050" y="3409950"/>
            <a:ext cx="488950" cy="404812"/>
          </a:xfrm>
          <a:custGeom>
            <a:avLst/>
            <a:gdLst>
              <a:gd name="T0" fmla="*/ 0 w 308"/>
              <a:gd name="T1" fmla="*/ 254 h 255"/>
              <a:gd name="T2" fmla="*/ 0 w 308"/>
              <a:gd name="T3" fmla="*/ 0 h 255"/>
              <a:gd name="T4" fmla="*/ 307 w 308"/>
              <a:gd name="T5" fmla="*/ 0 h 255"/>
              <a:gd name="T6" fmla="*/ 307 w 308"/>
              <a:gd name="T7" fmla="*/ 254 h 255"/>
              <a:gd name="T8" fmla="*/ 0 w 308"/>
              <a:gd name="T9" fmla="*/ 254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9" name="Freeform 54"/>
          <p:cNvSpPr>
            <a:spLocks/>
          </p:cNvSpPr>
          <p:nvPr/>
        </p:nvSpPr>
        <p:spPr bwMode="auto">
          <a:xfrm>
            <a:off x="7215187" y="3409950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254 h 255"/>
              <a:gd name="T4" fmla="*/ 0 w 1"/>
              <a:gd name="T5" fmla="*/ 0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0" name="Freeform 55"/>
          <p:cNvSpPr>
            <a:spLocks/>
          </p:cNvSpPr>
          <p:nvPr/>
        </p:nvSpPr>
        <p:spPr bwMode="auto">
          <a:xfrm>
            <a:off x="7618412" y="3409950"/>
            <a:ext cx="84138" cy="404812"/>
          </a:xfrm>
          <a:custGeom>
            <a:avLst/>
            <a:gdLst>
              <a:gd name="T0" fmla="*/ 0 w 53"/>
              <a:gd name="T1" fmla="*/ 254 h 255"/>
              <a:gd name="T2" fmla="*/ 0 w 53"/>
              <a:gd name="T3" fmla="*/ 0 h 255"/>
              <a:gd name="T4" fmla="*/ 52 w 53"/>
              <a:gd name="T5" fmla="*/ 0 h 255"/>
              <a:gd name="T6" fmla="*/ 52 w 53"/>
              <a:gd name="T7" fmla="*/ 254 h 255"/>
              <a:gd name="T8" fmla="*/ 0 w 53"/>
              <a:gd name="T9" fmla="*/ 254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" h="255">
                <a:moveTo>
                  <a:pt x="0" y="254"/>
                </a:moveTo>
                <a:lnTo>
                  <a:pt x="0" y="0"/>
                </a:lnTo>
                <a:lnTo>
                  <a:pt x="52" y="0"/>
                </a:lnTo>
                <a:lnTo>
                  <a:pt x="52" y="254"/>
                </a:lnTo>
                <a:lnTo>
                  <a:pt x="0" y="25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1" name="Freeform 56"/>
          <p:cNvSpPr>
            <a:spLocks/>
          </p:cNvSpPr>
          <p:nvPr/>
        </p:nvSpPr>
        <p:spPr bwMode="auto">
          <a:xfrm>
            <a:off x="1044575" y="3732212"/>
            <a:ext cx="446087" cy="496888"/>
          </a:xfrm>
          <a:custGeom>
            <a:avLst/>
            <a:gdLst>
              <a:gd name="T0" fmla="*/ 280 w 281"/>
              <a:gd name="T1" fmla="*/ 0 h 313"/>
              <a:gd name="T2" fmla="*/ 0 w 281"/>
              <a:gd name="T3" fmla="*/ 312 h 313"/>
              <a:gd name="T4" fmla="*/ 280 w 281"/>
              <a:gd name="T5" fmla="*/ 0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2" name="Freeform 57"/>
          <p:cNvSpPr>
            <a:spLocks/>
          </p:cNvSpPr>
          <p:nvPr/>
        </p:nvSpPr>
        <p:spPr bwMode="auto">
          <a:xfrm>
            <a:off x="1044575" y="4135437"/>
            <a:ext cx="87312" cy="93663"/>
          </a:xfrm>
          <a:custGeom>
            <a:avLst/>
            <a:gdLst>
              <a:gd name="T0" fmla="*/ 54 w 55"/>
              <a:gd name="T1" fmla="*/ 21 h 59"/>
              <a:gd name="T2" fmla="*/ 0 w 55"/>
              <a:gd name="T3" fmla="*/ 58 h 59"/>
              <a:gd name="T4" fmla="*/ 30 w 55"/>
              <a:gd name="T5" fmla="*/ 0 h 59"/>
              <a:gd name="T6" fmla="*/ 54 w 55"/>
              <a:gd name="T7" fmla="*/ 21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" name="Freeform 58"/>
          <p:cNvSpPr>
            <a:spLocks/>
          </p:cNvSpPr>
          <p:nvPr/>
        </p:nvSpPr>
        <p:spPr bwMode="auto">
          <a:xfrm>
            <a:off x="1976437" y="3732212"/>
            <a:ext cx="449263" cy="506413"/>
          </a:xfrm>
          <a:custGeom>
            <a:avLst/>
            <a:gdLst>
              <a:gd name="T0" fmla="*/ 0 w 283"/>
              <a:gd name="T1" fmla="*/ 0 h 319"/>
              <a:gd name="T2" fmla="*/ 282 w 283"/>
              <a:gd name="T3" fmla="*/ 318 h 319"/>
              <a:gd name="T4" fmla="*/ 0 w 283"/>
              <a:gd name="T5" fmla="*/ 0 h 3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3" h="319">
                <a:moveTo>
                  <a:pt x="0" y="0"/>
                </a:moveTo>
                <a:lnTo>
                  <a:pt x="282" y="31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" name="Freeform 59"/>
          <p:cNvSpPr>
            <a:spLocks/>
          </p:cNvSpPr>
          <p:nvPr/>
        </p:nvSpPr>
        <p:spPr bwMode="auto">
          <a:xfrm>
            <a:off x="2336800" y="4146550"/>
            <a:ext cx="88900" cy="92075"/>
          </a:xfrm>
          <a:custGeom>
            <a:avLst/>
            <a:gdLst>
              <a:gd name="T0" fmla="*/ 24 w 56"/>
              <a:gd name="T1" fmla="*/ 0 h 58"/>
              <a:gd name="T2" fmla="*/ 55 w 56"/>
              <a:gd name="T3" fmla="*/ 57 h 58"/>
              <a:gd name="T4" fmla="*/ 0 w 56"/>
              <a:gd name="T5" fmla="*/ 21 h 58"/>
              <a:gd name="T6" fmla="*/ 24 w 56"/>
              <a:gd name="T7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6" h="58">
                <a:moveTo>
                  <a:pt x="24" y="0"/>
                </a:moveTo>
                <a:lnTo>
                  <a:pt x="55" y="57"/>
                </a:lnTo>
                <a:lnTo>
                  <a:pt x="0" y="21"/>
                </a:lnTo>
                <a:lnTo>
                  <a:pt x="24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" name="Freeform 60"/>
          <p:cNvSpPr>
            <a:spLocks/>
          </p:cNvSpPr>
          <p:nvPr/>
        </p:nvSpPr>
        <p:spPr bwMode="auto">
          <a:xfrm>
            <a:off x="2474912" y="3732212"/>
            <a:ext cx="1330325" cy="517525"/>
          </a:xfrm>
          <a:custGeom>
            <a:avLst/>
            <a:gdLst>
              <a:gd name="T0" fmla="*/ 0 w 838"/>
              <a:gd name="T1" fmla="*/ 0 h 326"/>
              <a:gd name="T2" fmla="*/ 837 w 838"/>
              <a:gd name="T3" fmla="*/ 325 h 326"/>
              <a:gd name="T4" fmla="*/ 0 w 838"/>
              <a:gd name="T5" fmla="*/ 0 h 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38" h="326">
                <a:moveTo>
                  <a:pt x="0" y="0"/>
                </a:moveTo>
                <a:lnTo>
                  <a:pt x="837" y="32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" name="Freeform 61"/>
          <p:cNvSpPr>
            <a:spLocks/>
          </p:cNvSpPr>
          <p:nvPr/>
        </p:nvSpPr>
        <p:spPr bwMode="auto">
          <a:xfrm>
            <a:off x="3700462" y="4187825"/>
            <a:ext cx="104775" cy="61912"/>
          </a:xfrm>
          <a:custGeom>
            <a:avLst/>
            <a:gdLst>
              <a:gd name="T0" fmla="*/ 11 w 66"/>
              <a:gd name="T1" fmla="*/ 0 h 39"/>
              <a:gd name="T2" fmla="*/ 65 w 66"/>
              <a:gd name="T3" fmla="*/ 38 h 39"/>
              <a:gd name="T4" fmla="*/ 0 w 66"/>
              <a:gd name="T5" fmla="*/ 30 h 39"/>
              <a:gd name="T6" fmla="*/ 11 w 66"/>
              <a:gd name="T7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6" h="39">
                <a:moveTo>
                  <a:pt x="11" y="0"/>
                </a:moveTo>
                <a:lnTo>
                  <a:pt x="65" y="38"/>
                </a:lnTo>
                <a:lnTo>
                  <a:pt x="0" y="30"/>
                </a:lnTo>
                <a:lnTo>
                  <a:pt x="11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" name="Freeform 62"/>
          <p:cNvSpPr>
            <a:spLocks/>
          </p:cNvSpPr>
          <p:nvPr/>
        </p:nvSpPr>
        <p:spPr bwMode="auto">
          <a:xfrm>
            <a:off x="5256212" y="3752850"/>
            <a:ext cx="446088" cy="496887"/>
          </a:xfrm>
          <a:custGeom>
            <a:avLst/>
            <a:gdLst>
              <a:gd name="T0" fmla="*/ 280 w 281"/>
              <a:gd name="T1" fmla="*/ 0 h 313"/>
              <a:gd name="T2" fmla="*/ 0 w 281"/>
              <a:gd name="T3" fmla="*/ 312 h 313"/>
              <a:gd name="T4" fmla="*/ 280 w 281"/>
              <a:gd name="T5" fmla="*/ 0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" name="Freeform 63"/>
          <p:cNvSpPr>
            <a:spLocks/>
          </p:cNvSpPr>
          <p:nvPr/>
        </p:nvSpPr>
        <p:spPr bwMode="auto">
          <a:xfrm>
            <a:off x="5256212" y="4156075"/>
            <a:ext cx="87313" cy="93662"/>
          </a:xfrm>
          <a:custGeom>
            <a:avLst/>
            <a:gdLst>
              <a:gd name="T0" fmla="*/ 54 w 55"/>
              <a:gd name="T1" fmla="*/ 21 h 59"/>
              <a:gd name="T2" fmla="*/ 0 w 55"/>
              <a:gd name="T3" fmla="*/ 58 h 59"/>
              <a:gd name="T4" fmla="*/ 30 w 55"/>
              <a:gd name="T5" fmla="*/ 0 h 59"/>
              <a:gd name="T6" fmla="*/ 54 w 55"/>
              <a:gd name="T7" fmla="*/ 21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9" name="Freeform 64"/>
          <p:cNvSpPr>
            <a:spLocks/>
          </p:cNvSpPr>
          <p:nvPr/>
        </p:nvSpPr>
        <p:spPr bwMode="auto">
          <a:xfrm>
            <a:off x="6188075" y="3752850"/>
            <a:ext cx="458787" cy="476250"/>
          </a:xfrm>
          <a:custGeom>
            <a:avLst/>
            <a:gdLst>
              <a:gd name="T0" fmla="*/ 0 w 289"/>
              <a:gd name="T1" fmla="*/ 0 h 300"/>
              <a:gd name="T2" fmla="*/ 288 w 289"/>
              <a:gd name="T3" fmla="*/ 299 h 300"/>
              <a:gd name="T4" fmla="*/ 0 w 289"/>
              <a:gd name="T5" fmla="*/ 0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9" h="300">
                <a:moveTo>
                  <a:pt x="0" y="0"/>
                </a:moveTo>
                <a:lnTo>
                  <a:pt x="288" y="299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0" name="Freeform 65"/>
          <p:cNvSpPr>
            <a:spLocks/>
          </p:cNvSpPr>
          <p:nvPr/>
        </p:nvSpPr>
        <p:spPr bwMode="auto">
          <a:xfrm>
            <a:off x="6556375" y="4137025"/>
            <a:ext cx="90487" cy="92075"/>
          </a:xfrm>
          <a:custGeom>
            <a:avLst/>
            <a:gdLst>
              <a:gd name="T0" fmla="*/ 23 w 57"/>
              <a:gd name="T1" fmla="*/ 0 h 58"/>
              <a:gd name="T2" fmla="*/ 56 w 57"/>
              <a:gd name="T3" fmla="*/ 57 h 58"/>
              <a:gd name="T4" fmla="*/ 0 w 57"/>
              <a:gd name="T5" fmla="*/ 22 h 58"/>
              <a:gd name="T6" fmla="*/ 23 w 57"/>
              <a:gd name="T7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7" h="58">
                <a:moveTo>
                  <a:pt x="23" y="0"/>
                </a:moveTo>
                <a:lnTo>
                  <a:pt x="56" y="57"/>
                </a:lnTo>
                <a:lnTo>
                  <a:pt x="0" y="22"/>
                </a:lnTo>
                <a:lnTo>
                  <a:pt x="23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1" name="Freeform 66"/>
          <p:cNvSpPr>
            <a:spLocks/>
          </p:cNvSpPr>
          <p:nvPr/>
        </p:nvSpPr>
        <p:spPr bwMode="auto">
          <a:xfrm>
            <a:off x="6675437" y="3762375"/>
            <a:ext cx="1362075" cy="476250"/>
          </a:xfrm>
          <a:custGeom>
            <a:avLst/>
            <a:gdLst>
              <a:gd name="T0" fmla="*/ 0 w 858"/>
              <a:gd name="T1" fmla="*/ 0 h 300"/>
              <a:gd name="T2" fmla="*/ 857 w 858"/>
              <a:gd name="T3" fmla="*/ 299 h 300"/>
              <a:gd name="T4" fmla="*/ 0 w 858"/>
              <a:gd name="T5" fmla="*/ 0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58" h="300">
                <a:moveTo>
                  <a:pt x="0" y="0"/>
                </a:moveTo>
                <a:lnTo>
                  <a:pt x="857" y="299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2" name="Freeform 67"/>
          <p:cNvSpPr>
            <a:spLocks/>
          </p:cNvSpPr>
          <p:nvPr/>
        </p:nvSpPr>
        <p:spPr bwMode="auto">
          <a:xfrm>
            <a:off x="7931150" y="4179887"/>
            <a:ext cx="106362" cy="58738"/>
          </a:xfrm>
          <a:custGeom>
            <a:avLst/>
            <a:gdLst>
              <a:gd name="T0" fmla="*/ 11 w 67"/>
              <a:gd name="T1" fmla="*/ 0 h 37"/>
              <a:gd name="T2" fmla="*/ 66 w 67"/>
              <a:gd name="T3" fmla="*/ 36 h 37"/>
              <a:gd name="T4" fmla="*/ 0 w 67"/>
              <a:gd name="T5" fmla="*/ 31 h 37"/>
              <a:gd name="T6" fmla="*/ 11 w 67"/>
              <a:gd name="T7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7" h="37">
                <a:moveTo>
                  <a:pt x="11" y="0"/>
                </a:moveTo>
                <a:lnTo>
                  <a:pt x="66" y="36"/>
                </a:lnTo>
                <a:lnTo>
                  <a:pt x="0" y="31"/>
                </a:lnTo>
                <a:lnTo>
                  <a:pt x="11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3" name="Freeform 68"/>
          <p:cNvSpPr>
            <a:spLocks/>
          </p:cNvSpPr>
          <p:nvPr/>
        </p:nvSpPr>
        <p:spPr bwMode="auto">
          <a:xfrm>
            <a:off x="2433637" y="2994025"/>
            <a:ext cx="1177925" cy="396875"/>
          </a:xfrm>
          <a:custGeom>
            <a:avLst/>
            <a:gdLst>
              <a:gd name="T0" fmla="*/ 741 w 742"/>
              <a:gd name="T1" fmla="*/ 0 h 250"/>
              <a:gd name="T2" fmla="*/ 0 w 742"/>
              <a:gd name="T3" fmla="*/ 249 h 250"/>
              <a:gd name="T4" fmla="*/ 741 w 742"/>
              <a:gd name="T5" fmla="*/ 0 h 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42" h="250">
                <a:moveTo>
                  <a:pt x="741" y="0"/>
                </a:moveTo>
                <a:lnTo>
                  <a:pt x="0" y="249"/>
                </a:lnTo>
                <a:lnTo>
                  <a:pt x="741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" name="Freeform 69"/>
          <p:cNvSpPr>
            <a:spLocks/>
          </p:cNvSpPr>
          <p:nvPr/>
        </p:nvSpPr>
        <p:spPr bwMode="auto">
          <a:xfrm>
            <a:off x="2433637" y="3332162"/>
            <a:ext cx="106363" cy="58738"/>
          </a:xfrm>
          <a:custGeom>
            <a:avLst/>
            <a:gdLst>
              <a:gd name="T0" fmla="*/ 66 w 67"/>
              <a:gd name="T1" fmla="*/ 31 h 37"/>
              <a:gd name="T2" fmla="*/ 0 w 67"/>
              <a:gd name="T3" fmla="*/ 36 h 37"/>
              <a:gd name="T4" fmla="*/ 56 w 67"/>
              <a:gd name="T5" fmla="*/ 0 h 37"/>
              <a:gd name="T6" fmla="*/ 66 w 67"/>
              <a:gd name="T7" fmla="*/ 31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7" h="37">
                <a:moveTo>
                  <a:pt x="66" y="31"/>
                </a:moveTo>
                <a:lnTo>
                  <a:pt x="0" y="36"/>
                </a:lnTo>
                <a:lnTo>
                  <a:pt x="56" y="0"/>
                </a:lnTo>
                <a:lnTo>
                  <a:pt x="66" y="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" name="Freeform 70"/>
          <p:cNvSpPr>
            <a:spLocks/>
          </p:cNvSpPr>
          <p:nvPr/>
        </p:nvSpPr>
        <p:spPr bwMode="auto">
          <a:xfrm>
            <a:off x="4097337" y="3003550"/>
            <a:ext cx="1992313" cy="387350"/>
          </a:xfrm>
          <a:custGeom>
            <a:avLst/>
            <a:gdLst>
              <a:gd name="T0" fmla="*/ 0 w 1255"/>
              <a:gd name="T1" fmla="*/ 0 h 244"/>
              <a:gd name="T2" fmla="*/ 1254 w 1255"/>
              <a:gd name="T3" fmla="*/ 243 h 244"/>
              <a:gd name="T4" fmla="*/ 0 w 1255"/>
              <a:gd name="T5" fmla="*/ 0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55" h="244">
                <a:moveTo>
                  <a:pt x="0" y="0"/>
                </a:moveTo>
                <a:lnTo>
                  <a:pt x="1254" y="243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" name="Freeform 71"/>
          <p:cNvSpPr>
            <a:spLocks/>
          </p:cNvSpPr>
          <p:nvPr/>
        </p:nvSpPr>
        <p:spPr bwMode="auto">
          <a:xfrm>
            <a:off x="5983287" y="3344862"/>
            <a:ext cx="106363" cy="50800"/>
          </a:xfrm>
          <a:custGeom>
            <a:avLst/>
            <a:gdLst>
              <a:gd name="T0" fmla="*/ 6 w 67"/>
              <a:gd name="T1" fmla="*/ 0 h 32"/>
              <a:gd name="T2" fmla="*/ 66 w 67"/>
              <a:gd name="T3" fmla="*/ 28 h 32"/>
              <a:gd name="T4" fmla="*/ 0 w 67"/>
              <a:gd name="T5" fmla="*/ 31 h 32"/>
              <a:gd name="T6" fmla="*/ 6 w 67"/>
              <a:gd name="T7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7" h="32">
                <a:moveTo>
                  <a:pt x="6" y="0"/>
                </a:moveTo>
                <a:lnTo>
                  <a:pt x="66" y="28"/>
                </a:lnTo>
                <a:lnTo>
                  <a:pt x="0" y="31"/>
                </a:lnTo>
                <a:lnTo>
                  <a:pt x="6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7" name="Freeform 72"/>
          <p:cNvSpPr>
            <a:spLocks/>
          </p:cNvSpPr>
          <p:nvPr/>
        </p:nvSpPr>
        <p:spPr bwMode="auto">
          <a:xfrm>
            <a:off x="1795462" y="4267200"/>
            <a:ext cx="325438" cy="325437"/>
          </a:xfrm>
          <a:custGeom>
            <a:avLst/>
            <a:gdLst>
              <a:gd name="T0" fmla="*/ 0 w 205"/>
              <a:gd name="T1" fmla="*/ 204 h 205"/>
              <a:gd name="T2" fmla="*/ 0 w 205"/>
              <a:gd name="T3" fmla="*/ 0 h 205"/>
              <a:gd name="T4" fmla="*/ 204 w 205"/>
              <a:gd name="T5" fmla="*/ 0 h 205"/>
              <a:gd name="T6" fmla="*/ 204 w 205"/>
              <a:gd name="T7" fmla="*/ 204 h 205"/>
              <a:gd name="T8" fmla="*/ 0 w 205"/>
              <a:gd name="T9" fmla="*/ 20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8" name="Freeform 73"/>
          <p:cNvSpPr>
            <a:spLocks/>
          </p:cNvSpPr>
          <p:nvPr/>
        </p:nvSpPr>
        <p:spPr bwMode="auto">
          <a:xfrm>
            <a:off x="2119312" y="4267200"/>
            <a:ext cx="327025" cy="325437"/>
          </a:xfrm>
          <a:custGeom>
            <a:avLst/>
            <a:gdLst>
              <a:gd name="T0" fmla="*/ 0 w 206"/>
              <a:gd name="T1" fmla="*/ 204 h 205"/>
              <a:gd name="T2" fmla="*/ 0 w 206"/>
              <a:gd name="T3" fmla="*/ 0 h 205"/>
              <a:gd name="T4" fmla="*/ 205 w 206"/>
              <a:gd name="T5" fmla="*/ 0 h 205"/>
              <a:gd name="T6" fmla="*/ 205 w 206"/>
              <a:gd name="T7" fmla="*/ 204 h 205"/>
              <a:gd name="T8" fmla="*/ 0 w 206"/>
              <a:gd name="T9" fmla="*/ 20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9" name="Freeform 74"/>
          <p:cNvSpPr>
            <a:spLocks/>
          </p:cNvSpPr>
          <p:nvPr/>
        </p:nvSpPr>
        <p:spPr bwMode="auto">
          <a:xfrm>
            <a:off x="2444750" y="4267200"/>
            <a:ext cx="325437" cy="325437"/>
          </a:xfrm>
          <a:custGeom>
            <a:avLst/>
            <a:gdLst>
              <a:gd name="T0" fmla="*/ 0 w 205"/>
              <a:gd name="T1" fmla="*/ 204 h 205"/>
              <a:gd name="T2" fmla="*/ 0 w 205"/>
              <a:gd name="T3" fmla="*/ 0 h 205"/>
              <a:gd name="T4" fmla="*/ 204 w 205"/>
              <a:gd name="T5" fmla="*/ 0 h 205"/>
              <a:gd name="T6" fmla="*/ 204 w 205"/>
              <a:gd name="T7" fmla="*/ 204 h 205"/>
              <a:gd name="T8" fmla="*/ 0 w 205"/>
              <a:gd name="T9" fmla="*/ 20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0" name="Freeform 75"/>
          <p:cNvSpPr>
            <a:spLocks/>
          </p:cNvSpPr>
          <p:nvPr/>
        </p:nvSpPr>
        <p:spPr bwMode="auto">
          <a:xfrm>
            <a:off x="2768600" y="4267200"/>
            <a:ext cx="325437" cy="325437"/>
          </a:xfrm>
          <a:custGeom>
            <a:avLst/>
            <a:gdLst>
              <a:gd name="T0" fmla="*/ 0 w 205"/>
              <a:gd name="T1" fmla="*/ 204 h 205"/>
              <a:gd name="T2" fmla="*/ 0 w 205"/>
              <a:gd name="T3" fmla="*/ 0 h 205"/>
              <a:gd name="T4" fmla="*/ 204 w 205"/>
              <a:gd name="T5" fmla="*/ 0 h 205"/>
              <a:gd name="T6" fmla="*/ 204 w 205"/>
              <a:gd name="T7" fmla="*/ 204 h 205"/>
              <a:gd name="T8" fmla="*/ 0 w 205"/>
              <a:gd name="T9" fmla="*/ 20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1" name="Rectangle 76"/>
          <p:cNvSpPr>
            <a:spLocks noChangeArrowheads="1"/>
          </p:cNvSpPr>
          <p:nvPr/>
        </p:nvSpPr>
        <p:spPr bwMode="auto">
          <a:xfrm>
            <a:off x="2759075" y="2347912"/>
            <a:ext cx="5857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212" name="Rectangle 77"/>
          <p:cNvSpPr>
            <a:spLocks noChangeArrowheads="1"/>
          </p:cNvSpPr>
          <p:nvPr/>
        </p:nvSpPr>
        <p:spPr bwMode="auto">
          <a:xfrm>
            <a:off x="3713162" y="2670175"/>
            <a:ext cx="3651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17</a:t>
            </a:r>
          </a:p>
        </p:txBody>
      </p:sp>
      <p:sp>
        <p:nvSpPr>
          <p:cNvPr id="213" name="Rectangle 78"/>
          <p:cNvSpPr>
            <a:spLocks noChangeArrowheads="1"/>
          </p:cNvSpPr>
          <p:nvPr/>
        </p:nvSpPr>
        <p:spPr bwMode="auto">
          <a:xfrm>
            <a:off x="5783262" y="3427412"/>
            <a:ext cx="3651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24</a:t>
            </a:r>
          </a:p>
        </p:txBody>
      </p:sp>
      <p:sp>
        <p:nvSpPr>
          <p:cNvPr id="214" name="Rectangle 79"/>
          <p:cNvSpPr>
            <a:spLocks noChangeArrowheads="1"/>
          </p:cNvSpPr>
          <p:nvPr/>
        </p:nvSpPr>
        <p:spPr bwMode="auto">
          <a:xfrm>
            <a:off x="6280150" y="3438525"/>
            <a:ext cx="3651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30</a:t>
            </a:r>
          </a:p>
        </p:txBody>
      </p:sp>
      <p:sp>
        <p:nvSpPr>
          <p:cNvPr id="215" name="Rectangle 80"/>
          <p:cNvSpPr>
            <a:spLocks noChangeArrowheads="1"/>
          </p:cNvSpPr>
          <p:nvPr/>
        </p:nvSpPr>
        <p:spPr bwMode="auto">
          <a:xfrm>
            <a:off x="3155950" y="426561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14*</a:t>
            </a:r>
          </a:p>
        </p:txBody>
      </p:sp>
      <p:sp>
        <p:nvSpPr>
          <p:cNvPr id="216" name="Rectangle 81"/>
          <p:cNvSpPr>
            <a:spLocks noChangeArrowheads="1"/>
          </p:cNvSpPr>
          <p:nvPr/>
        </p:nvSpPr>
        <p:spPr bwMode="auto">
          <a:xfrm>
            <a:off x="3479800" y="426561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16*</a:t>
            </a:r>
          </a:p>
        </p:txBody>
      </p:sp>
      <p:sp>
        <p:nvSpPr>
          <p:cNvPr id="217" name="Rectangle 82"/>
          <p:cNvSpPr>
            <a:spLocks noChangeArrowheads="1"/>
          </p:cNvSpPr>
          <p:nvPr/>
        </p:nvSpPr>
        <p:spPr bwMode="auto">
          <a:xfrm>
            <a:off x="4605337" y="4244975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19*</a:t>
            </a:r>
          </a:p>
        </p:txBody>
      </p:sp>
      <p:sp>
        <p:nvSpPr>
          <p:cNvPr id="218" name="Rectangle 83"/>
          <p:cNvSpPr>
            <a:spLocks noChangeArrowheads="1"/>
          </p:cNvSpPr>
          <p:nvPr/>
        </p:nvSpPr>
        <p:spPr bwMode="auto">
          <a:xfrm>
            <a:off x="4911725" y="4244975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20*</a:t>
            </a:r>
          </a:p>
        </p:txBody>
      </p:sp>
      <p:sp>
        <p:nvSpPr>
          <p:cNvPr id="219" name="Rectangle 84"/>
          <p:cNvSpPr>
            <a:spLocks noChangeArrowheads="1"/>
          </p:cNvSpPr>
          <p:nvPr/>
        </p:nvSpPr>
        <p:spPr bwMode="auto">
          <a:xfrm>
            <a:off x="5226050" y="4244975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22*</a:t>
            </a:r>
          </a:p>
        </p:txBody>
      </p:sp>
      <p:sp>
        <p:nvSpPr>
          <p:cNvPr id="220" name="Rectangle 85"/>
          <p:cNvSpPr>
            <a:spLocks noChangeArrowheads="1"/>
          </p:cNvSpPr>
          <p:nvPr/>
        </p:nvSpPr>
        <p:spPr bwMode="auto">
          <a:xfrm>
            <a:off x="5976937" y="4244975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24*</a:t>
            </a:r>
          </a:p>
        </p:txBody>
      </p:sp>
      <p:sp>
        <p:nvSpPr>
          <p:cNvPr id="221" name="Rectangle 86"/>
          <p:cNvSpPr>
            <a:spLocks noChangeArrowheads="1"/>
          </p:cNvSpPr>
          <p:nvPr/>
        </p:nvSpPr>
        <p:spPr bwMode="auto">
          <a:xfrm>
            <a:off x="6311900" y="4244975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27*</a:t>
            </a:r>
          </a:p>
        </p:txBody>
      </p:sp>
      <p:sp>
        <p:nvSpPr>
          <p:cNvPr id="222" name="Rectangle 87"/>
          <p:cNvSpPr>
            <a:spLocks noChangeArrowheads="1"/>
          </p:cNvSpPr>
          <p:nvPr/>
        </p:nvSpPr>
        <p:spPr bwMode="auto">
          <a:xfrm>
            <a:off x="6615112" y="4256087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29*</a:t>
            </a:r>
          </a:p>
        </p:txBody>
      </p:sp>
      <p:sp>
        <p:nvSpPr>
          <p:cNvPr id="223" name="Rectangle 88"/>
          <p:cNvSpPr>
            <a:spLocks noChangeArrowheads="1"/>
          </p:cNvSpPr>
          <p:nvPr/>
        </p:nvSpPr>
        <p:spPr bwMode="auto">
          <a:xfrm>
            <a:off x="7386637" y="4256087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33*</a:t>
            </a:r>
          </a:p>
        </p:txBody>
      </p:sp>
      <p:sp>
        <p:nvSpPr>
          <p:cNvPr id="224" name="Rectangle 89"/>
          <p:cNvSpPr>
            <a:spLocks noChangeArrowheads="1"/>
          </p:cNvSpPr>
          <p:nvPr/>
        </p:nvSpPr>
        <p:spPr bwMode="auto">
          <a:xfrm>
            <a:off x="7712075" y="4256087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34*</a:t>
            </a:r>
          </a:p>
        </p:txBody>
      </p:sp>
      <p:sp>
        <p:nvSpPr>
          <p:cNvPr id="225" name="Rectangle 90"/>
          <p:cNvSpPr>
            <a:spLocks noChangeArrowheads="1"/>
          </p:cNvSpPr>
          <p:nvPr/>
        </p:nvSpPr>
        <p:spPr bwMode="auto">
          <a:xfrm>
            <a:off x="8026400" y="4244975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38*</a:t>
            </a:r>
          </a:p>
        </p:txBody>
      </p:sp>
      <p:sp>
        <p:nvSpPr>
          <p:cNvPr id="226" name="Rectangle 91"/>
          <p:cNvSpPr>
            <a:spLocks noChangeArrowheads="1"/>
          </p:cNvSpPr>
          <p:nvPr/>
        </p:nvSpPr>
        <p:spPr bwMode="auto">
          <a:xfrm>
            <a:off x="8350250" y="4235450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39*</a:t>
            </a:r>
          </a:p>
        </p:txBody>
      </p:sp>
      <p:sp>
        <p:nvSpPr>
          <p:cNvPr id="227" name="Rectangle 92"/>
          <p:cNvSpPr>
            <a:spLocks noChangeArrowheads="1"/>
          </p:cNvSpPr>
          <p:nvPr/>
        </p:nvSpPr>
        <p:spPr bwMode="auto">
          <a:xfrm>
            <a:off x="2058987" y="3438525"/>
            <a:ext cx="3651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13</a:t>
            </a:r>
          </a:p>
        </p:txBody>
      </p:sp>
      <p:sp>
        <p:nvSpPr>
          <p:cNvPr id="228" name="Rectangle 93"/>
          <p:cNvSpPr>
            <a:spLocks noChangeArrowheads="1"/>
          </p:cNvSpPr>
          <p:nvPr/>
        </p:nvSpPr>
        <p:spPr bwMode="auto">
          <a:xfrm>
            <a:off x="1592262" y="3438525"/>
            <a:ext cx="27305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229" name="Rectangle 94"/>
          <p:cNvSpPr>
            <a:spLocks noChangeArrowheads="1"/>
          </p:cNvSpPr>
          <p:nvPr/>
        </p:nvSpPr>
        <p:spPr bwMode="auto">
          <a:xfrm>
            <a:off x="2128837" y="4244975"/>
            <a:ext cx="33655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7*</a:t>
            </a:r>
          </a:p>
        </p:txBody>
      </p:sp>
      <p:sp>
        <p:nvSpPr>
          <p:cNvPr id="230" name="Rectangle 95"/>
          <p:cNvSpPr>
            <a:spLocks noChangeArrowheads="1"/>
          </p:cNvSpPr>
          <p:nvPr/>
        </p:nvSpPr>
        <p:spPr bwMode="auto">
          <a:xfrm>
            <a:off x="1806575" y="4244975"/>
            <a:ext cx="33655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5*</a:t>
            </a:r>
          </a:p>
        </p:txBody>
      </p:sp>
      <p:sp>
        <p:nvSpPr>
          <p:cNvPr id="231" name="Rectangle 96"/>
          <p:cNvSpPr>
            <a:spLocks noChangeArrowheads="1"/>
          </p:cNvSpPr>
          <p:nvPr/>
        </p:nvSpPr>
        <p:spPr bwMode="auto">
          <a:xfrm>
            <a:off x="2444750" y="4244975"/>
            <a:ext cx="33655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8*</a:t>
            </a:r>
          </a:p>
        </p:txBody>
      </p:sp>
      <p:sp>
        <p:nvSpPr>
          <p:cNvPr id="232" name="Line 97"/>
          <p:cNvSpPr>
            <a:spLocks noChangeShapeType="1"/>
          </p:cNvSpPr>
          <p:nvPr/>
        </p:nvSpPr>
        <p:spPr bwMode="auto">
          <a:xfrm>
            <a:off x="3167062" y="2224087"/>
            <a:ext cx="5334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3" name="Arc 98"/>
          <p:cNvSpPr>
            <a:spLocks/>
          </p:cNvSpPr>
          <p:nvPr/>
        </p:nvSpPr>
        <p:spPr bwMode="auto">
          <a:xfrm rot="13440000">
            <a:off x="7129462" y="4052887"/>
            <a:ext cx="304800" cy="304800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4" name="Arc 99"/>
          <p:cNvSpPr>
            <a:spLocks/>
          </p:cNvSpPr>
          <p:nvPr/>
        </p:nvSpPr>
        <p:spPr bwMode="auto">
          <a:xfrm rot="13440000">
            <a:off x="1566862" y="4052887"/>
            <a:ext cx="304800" cy="304800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" name="Arc 100"/>
          <p:cNvSpPr>
            <a:spLocks/>
          </p:cNvSpPr>
          <p:nvPr/>
        </p:nvSpPr>
        <p:spPr bwMode="auto">
          <a:xfrm rot="13440000">
            <a:off x="2938462" y="4052887"/>
            <a:ext cx="304800" cy="304800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" name="Arc 101"/>
          <p:cNvSpPr>
            <a:spLocks/>
          </p:cNvSpPr>
          <p:nvPr/>
        </p:nvSpPr>
        <p:spPr bwMode="auto">
          <a:xfrm rot="13440000">
            <a:off x="4386262" y="4052887"/>
            <a:ext cx="304800" cy="304800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7" name="Arc 102"/>
          <p:cNvSpPr>
            <a:spLocks/>
          </p:cNvSpPr>
          <p:nvPr/>
        </p:nvSpPr>
        <p:spPr bwMode="auto">
          <a:xfrm rot="13440000">
            <a:off x="5757862" y="4052887"/>
            <a:ext cx="304800" cy="304800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917575" y="5105400"/>
            <a:ext cx="7066755" cy="457200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Splitting the root lead to an increase of height by </a:t>
            </a:r>
            <a:r>
              <a:rPr lang="en-US" sz="2000" dirty="0" smtClean="0">
                <a:solidFill>
                  <a:schemeClr val="tx1"/>
                </a:solidFill>
              </a:rPr>
              <a:t>1!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38" name="Rounded Rectangle 237"/>
          <p:cNvSpPr/>
          <p:nvPr/>
        </p:nvSpPr>
        <p:spPr>
          <a:xfrm>
            <a:off x="931113" y="5729955"/>
            <a:ext cx="7066755" cy="518446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What about </a:t>
            </a:r>
            <a:r>
              <a:rPr lang="en-US" sz="2000" i="1" u="sng" dirty="0" smtClean="0">
                <a:solidFill>
                  <a:schemeClr val="tx1"/>
                </a:solidFill>
              </a:rPr>
              <a:t>re-distributing</a:t>
            </a:r>
            <a:r>
              <a:rPr lang="en-US" sz="2000" dirty="0" smtClean="0">
                <a:solidFill>
                  <a:schemeClr val="tx1"/>
                </a:solidFill>
              </a:rPr>
              <a:t> entries instead of </a:t>
            </a:r>
            <a:r>
              <a:rPr lang="en-US" sz="2000" i="1" u="sng" dirty="0" smtClean="0">
                <a:solidFill>
                  <a:schemeClr val="tx1"/>
                </a:solidFill>
              </a:rPr>
              <a:t>splitting</a:t>
            </a:r>
            <a:r>
              <a:rPr lang="en-US" sz="2000" dirty="0" smtClean="0">
                <a:solidFill>
                  <a:schemeClr val="tx1"/>
                </a:solidFill>
              </a:rPr>
              <a:t> nodes?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02" name="Text Box 63"/>
          <p:cNvSpPr txBox="1">
            <a:spLocks noChangeArrowheads="1"/>
          </p:cNvSpPr>
          <p:nvPr/>
        </p:nvSpPr>
        <p:spPr bwMode="auto">
          <a:xfrm>
            <a:off x="470019" y="2399010"/>
            <a:ext cx="2171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u="none" dirty="0">
                <a:solidFill>
                  <a:srgbClr val="00B050"/>
                </a:solidFill>
              </a:rPr>
              <a:t>FINAL </a:t>
            </a:r>
            <a:r>
              <a:rPr lang="en-US" u="none" dirty="0" smtClean="0">
                <a:solidFill>
                  <a:srgbClr val="00B050"/>
                </a:solidFill>
              </a:rPr>
              <a:t>TREE!</a:t>
            </a:r>
            <a:endParaRPr lang="en-US" u="none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11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3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B+ Tree: Examples </a:t>
            </a:r>
            <a:r>
              <a:rPr lang="en-US" dirty="0" smtClean="0">
                <a:ea typeface="ＭＳ Ｐゴシック" pitchFamily="34" charset="-128"/>
              </a:rPr>
              <a:t>of Insertions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Insert entry </a:t>
            </a:r>
            <a:r>
              <a:rPr lang="en-US" sz="2800" dirty="0" smtClean="0">
                <a:solidFill>
                  <a:srgbClr val="FF0000"/>
                </a:solidFill>
              </a:rPr>
              <a:t>8*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400" dirty="0"/>
          </a:p>
        </p:txBody>
      </p:sp>
      <p:grpSp>
        <p:nvGrpSpPr>
          <p:cNvPr id="102" name="Group 5"/>
          <p:cNvGrpSpPr>
            <a:grpSpLocks/>
          </p:cNvGrpSpPr>
          <p:nvPr/>
        </p:nvGrpSpPr>
        <p:grpSpPr bwMode="auto">
          <a:xfrm>
            <a:off x="511854" y="2454265"/>
            <a:ext cx="8201025" cy="2282825"/>
            <a:chOff x="218" y="2207"/>
            <a:chExt cx="5166" cy="1438"/>
          </a:xfrm>
        </p:grpSpPr>
        <p:sp>
          <p:nvSpPr>
            <p:cNvPr id="103" name="Freeform 6"/>
            <p:cNvSpPr>
              <a:spLocks/>
            </p:cNvSpPr>
            <p:nvPr/>
          </p:nvSpPr>
          <p:spPr bwMode="auto">
            <a:xfrm>
              <a:off x="2061" y="2506"/>
              <a:ext cx="351" cy="293"/>
            </a:xfrm>
            <a:custGeom>
              <a:avLst/>
              <a:gdLst>
                <a:gd name="T0" fmla="*/ 0 w 351"/>
                <a:gd name="T1" fmla="*/ 292 h 293"/>
                <a:gd name="T2" fmla="*/ 0 w 351"/>
                <a:gd name="T3" fmla="*/ 0 h 293"/>
                <a:gd name="T4" fmla="*/ 350 w 351"/>
                <a:gd name="T5" fmla="*/ 0 h 293"/>
                <a:gd name="T6" fmla="*/ 350 w 351"/>
                <a:gd name="T7" fmla="*/ 292 h 293"/>
                <a:gd name="T8" fmla="*/ 0 w 351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1"/>
                <a:gd name="T16" fmla="*/ 0 h 293"/>
                <a:gd name="T17" fmla="*/ 351 w 351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1" h="293">
                  <a:moveTo>
                    <a:pt x="0" y="292"/>
                  </a:moveTo>
                  <a:lnTo>
                    <a:pt x="0" y="0"/>
                  </a:lnTo>
                  <a:lnTo>
                    <a:pt x="350" y="0"/>
                  </a:lnTo>
                  <a:lnTo>
                    <a:pt x="350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7"/>
            <p:cNvSpPr>
              <a:spLocks/>
            </p:cNvSpPr>
            <p:nvPr/>
          </p:nvSpPr>
          <p:spPr bwMode="auto">
            <a:xfrm>
              <a:off x="2120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8"/>
            <p:cNvSpPr>
              <a:spLocks/>
            </p:cNvSpPr>
            <p:nvPr/>
          </p:nvSpPr>
          <p:spPr bwMode="auto">
            <a:xfrm>
              <a:off x="2411" y="2506"/>
              <a:ext cx="353" cy="293"/>
            </a:xfrm>
            <a:custGeom>
              <a:avLst/>
              <a:gdLst>
                <a:gd name="T0" fmla="*/ 0 w 353"/>
                <a:gd name="T1" fmla="*/ 292 h 293"/>
                <a:gd name="T2" fmla="*/ 0 w 353"/>
                <a:gd name="T3" fmla="*/ 0 h 293"/>
                <a:gd name="T4" fmla="*/ 352 w 353"/>
                <a:gd name="T5" fmla="*/ 0 h 293"/>
                <a:gd name="T6" fmla="*/ 352 w 353"/>
                <a:gd name="T7" fmla="*/ 292 h 293"/>
                <a:gd name="T8" fmla="*/ 0 w 353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3"/>
                <a:gd name="T16" fmla="*/ 0 h 293"/>
                <a:gd name="T17" fmla="*/ 353 w 353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3" h="293">
                  <a:moveTo>
                    <a:pt x="0" y="292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9"/>
            <p:cNvSpPr>
              <a:spLocks/>
            </p:cNvSpPr>
            <p:nvPr/>
          </p:nvSpPr>
          <p:spPr bwMode="auto">
            <a:xfrm>
              <a:off x="2471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10"/>
            <p:cNvSpPr>
              <a:spLocks/>
            </p:cNvSpPr>
            <p:nvPr/>
          </p:nvSpPr>
          <p:spPr bwMode="auto">
            <a:xfrm>
              <a:off x="2763" y="2506"/>
              <a:ext cx="352" cy="293"/>
            </a:xfrm>
            <a:custGeom>
              <a:avLst/>
              <a:gdLst>
                <a:gd name="T0" fmla="*/ 0 w 352"/>
                <a:gd name="T1" fmla="*/ 292 h 293"/>
                <a:gd name="T2" fmla="*/ 0 w 352"/>
                <a:gd name="T3" fmla="*/ 0 h 293"/>
                <a:gd name="T4" fmla="*/ 351 w 352"/>
                <a:gd name="T5" fmla="*/ 0 h 293"/>
                <a:gd name="T6" fmla="*/ 351 w 352"/>
                <a:gd name="T7" fmla="*/ 292 h 293"/>
                <a:gd name="T8" fmla="*/ 0 w 352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2"/>
                <a:gd name="T16" fmla="*/ 0 h 293"/>
                <a:gd name="T17" fmla="*/ 352 w 352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2" h="293">
                  <a:moveTo>
                    <a:pt x="0" y="292"/>
                  </a:moveTo>
                  <a:lnTo>
                    <a:pt x="0" y="0"/>
                  </a:lnTo>
                  <a:lnTo>
                    <a:pt x="351" y="0"/>
                  </a:lnTo>
                  <a:lnTo>
                    <a:pt x="351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11"/>
            <p:cNvSpPr>
              <a:spLocks/>
            </p:cNvSpPr>
            <p:nvPr/>
          </p:nvSpPr>
          <p:spPr bwMode="auto">
            <a:xfrm>
              <a:off x="2822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12"/>
            <p:cNvSpPr>
              <a:spLocks/>
            </p:cNvSpPr>
            <p:nvPr/>
          </p:nvSpPr>
          <p:spPr bwMode="auto">
            <a:xfrm>
              <a:off x="3114" y="2506"/>
              <a:ext cx="353" cy="293"/>
            </a:xfrm>
            <a:custGeom>
              <a:avLst/>
              <a:gdLst>
                <a:gd name="T0" fmla="*/ 0 w 353"/>
                <a:gd name="T1" fmla="*/ 292 h 293"/>
                <a:gd name="T2" fmla="*/ 0 w 353"/>
                <a:gd name="T3" fmla="*/ 0 h 293"/>
                <a:gd name="T4" fmla="*/ 352 w 353"/>
                <a:gd name="T5" fmla="*/ 0 h 293"/>
                <a:gd name="T6" fmla="*/ 352 w 353"/>
                <a:gd name="T7" fmla="*/ 292 h 293"/>
                <a:gd name="T8" fmla="*/ 0 w 353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3"/>
                <a:gd name="T16" fmla="*/ 0 h 293"/>
                <a:gd name="T17" fmla="*/ 353 w 353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3" h="293">
                  <a:moveTo>
                    <a:pt x="0" y="292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13"/>
            <p:cNvSpPr>
              <a:spLocks/>
            </p:cNvSpPr>
            <p:nvPr/>
          </p:nvSpPr>
          <p:spPr bwMode="auto">
            <a:xfrm>
              <a:off x="3172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14"/>
            <p:cNvSpPr>
              <a:spLocks/>
            </p:cNvSpPr>
            <p:nvPr/>
          </p:nvSpPr>
          <p:spPr bwMode="auto">
            <a:xfrm>
              <a:off x="3466" y="2506"/>
              <a:ext cx="59" cy="293"/>
            </a:xfrm>
            <a:custGeom>
              <a:avLst/>
              <a:gdLst>
                <a:gd name="T0" fmla="*/ 0 w 59"/>
                <a:gd name="T1" fmla="*/ 292 h 293"/>
                <a:gd name="T2" fmla="*/ 0 w 59"/>
                <a:gd name="T3" fmla="*/ 0 h 293"/>
                <a:gd name="T4" fmla="*/ 58 w 59"/>
                <a:gd name="T5" fmla="*/ 0 h 293"/>
                <a:gd name="T6" fmla="*/ 58 w 59"/>
                <a:gd name="T7" fmla="*/ 292 h 293"/>
                <a:gd name="T8" fmla="*/ 0 w 59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293"/>
                <a:gd name="T17" fmla="*/ 59 w 59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293">
                  <a:moveTo>
                    <a:pt x="0" y="292"/>
                  </a:moveTo>
                  <a:lnTo>
                    <a:pt x="0" y="0"/>
                  </a:lnTo>
                  <a:lnTo>
                    <a:pt x="58" y="0"/>
                  </a:lnTo>
                  <a:lnTo>
                    <a:pt x="58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5"/>
            <p:cNvSpPr>
              <a:spLocks/>
            </p:cNvSpPr>
            <p:nvPr/>
          </p:nvSpPr>
          <p:spPr bwMode="auto">
            <a:xfrm>
              <a:off x="4431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6"/>
            <p:cNvSpPr>
              <a:spLocks/>
            </p:cNvSpPr>
            <p:nvPr/>
          </p:nvSpPr>
          <p:spPr bwMode="auto">
            <a:xfrm>
              <a:off x="4665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17"/>
            <p:cNvSpPr>
              <a:spLocks/>
            </p:cNvSpPr>
            <p:nvPr/>
          </p:nvSpPr>
          <p:spPr bwMode="auto">
            <a:xfrm>
              <a:off x="4899" y="3410"/>
              <a:ext cx="236" cy="235"/>
            </a:xfrm>
            <a:custGeom>
              <a:avLst/>
              <a:gdLst>
                <a:gd name="T0" fmla="*/ 0 w 236"/>
                <a:gd name="T1" fmla="*/ 234 h 235"/>
                <a:gd name="T2" fmla="*/ 0 w 236"/>
                <a:gd name="T3" fmla="*/ 0 h 235"/>
                <a:gd name="T4" fmla="*/ 235 w 236"/>
                <a:gd name="T5" fmla="*/ 0 h 235"/>
                <a:gd name="T6" fmla="*/ 235 w 236"/>
                <a:gd name="T7" fmla="*/ 234 h 235"/>
                <a:gd name="T8" fmla="*/ 0 w 236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6"/>
                <a:gd name="T16" fmla="*/ 0 h 235"/>
                <a:gd name="T17" fmla="*/ 236 w 236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6" h="235">
                  <a:moveTo>
                    <a:pt x="0" y="234"/>
                  </a:moveTo>
                  <a:lnTo>
                    <a:pt x="0" y="0"/>
                  </a:lnTo>
                  <a:lnTo>
                    <a:pt x="235" y="0"/>
                  </a:lnTo>
                  <a:lnTo>
                    <a:pt x="235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18"/>
            <p:cNvSpPr>
              <a:spLocks/>
            </p:cNvSpPr>
            <p:nvPr/>
          </p:nvSpPr>
          <p:spPr bwMode="auto">
            <a:xfrm>
              <a:off x="5134" y="3410"/>
              <a:ext cx="234" cy="235"/>
            </a:xfrm>
            <a:custGeom>
              <a:avLst/>
              <a:gdLst>
                <a:gd name="T0" fmla="*/ 0 w 234"/>
                <a:gd name="T1" fmla="*/ 234 h 235"/>
                <a:gd name="T2" fmla="*/ 0 w 234"/>
                <a:gd name="T3" fmla="*/ 0 h 235"/>
                <a:gd name="T4" fmla="*/ 233 w 234"/>
                <a:gd name="T5" fmla="*/ 0 h 235"/>
                <a:gd name="T6" fmla="*/ 233 w 234"/>
                <a:gd name="T7" fmla="*/ 234 h 235"/>
                <a:gd name="T8" fmla="*/ 0 w 234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4"/>
                <a:gd name="T16" fmla="*/ 0 h 235"/>
                <a:gd name="T17" fmla="*/ 234 w 234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4" h="235">
                  <a:moveTo>
                    <a:pt x="0" y="234"/>
                  </a:moveTo>
                  <a:lnTo>
                    <a:pt x="0" y="0"/>
                  </a:lnTo>
                  <a:lnTo>
                    <a:pt x="233" y="0"/>
                  </a:lnTo>
                  <a:lnTo>
                    <a:pt x="233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19"/>
            <p:cNvSpPr>
              <a:spLocks/>
            </p:cNvSpPr>
            <p:nvPr/>
          </p:nvSpPr>
          <p:spPr bwMode="auto">
            <a:xfrm>
              <a:off x="218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20"/>
            <p:cNvSpPr>
              <a:spLocks/>
            </p:cNvSpPr>
            <p:nvPr/>
          </p:nvSpPr>
          <p:spPr bwMode="auto">
            <a:xfrm>
              <a:off x="452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21"/>
            <p:cNvSpPr>
              <a:spLocks/>
            </p:cNvSpPr>
            <p:nvPr/>
          </p:nvSpPr>
          <p:spPr bwMode="auto">
            <a:xfrm>
              <a:off x="686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22"/>
            <p:cNvSpPr>
              <a:spLocks/>
            </p:cNvSpPr>
            <p:nvPr/>
          </p:nvSpPr>
          <p:spPr bwMode="auto">
            <a:xfrm>
              <a:off x="920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23"/>
            <p:cNvSpPr>
              <a:spLocks/>
            </p:cNvSpPr>
            <p:nvPr/>
          </p:nvSpPr>
          <p:spPr bwMode="auto">
            <a:xfrm>
              <a:off x="1271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24"/>
            <p:cNvSpPr>
              <a:spLocks/>
            </p:cNvSpPr>
            <p:nvPr/>
          </p:nvSpPr>
          <p:spPr bwMode="auto">
            <a:xfrm>
              <a:off x="1505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25"/>
            <p:cNvSpPr>
              <a:spLocks/>
            </p:cNvSpPr>
            <p:nvPr/>
          </p:nvSpPr>
          <p:spPr bwMode="auto">
            <a:xfrm>
              <a:off x="1739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26"/>
            <p:cNvSpPr>
              <a:spLocks/>
            </p:cNvSpPr>
            <p:nvPr/>
          </p:nvSpPr>
          <p:spPr bwMode="auto">
            <a:xfrm>
              <a:off x="1973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27"/>
            <p:cNvSpPr>
              <a:spLocks/>
            </p:cNvSpPr>
            <p:nvPr/>
          </p:nvSpPr>
          <p:spPr bwMode="auto">
            <a:xfrm>
              <a:off x="2324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28"/>
            <p:cNvSpPr>
              <a:spLocks/>
            </p:cNvSpPr>
            <p:nvPr/>
          </p:nvSpPr>
          <p:spPr bwMode="auto">
            <a:xfrm>
              <a:off x="2558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29"/>
            <p:cNvSpPr>
              <a:spLocks/>
            </p:cNvSpPr>
            <p:nvPr/>
          </p:nvSpPr>
          <p:spPr bwMode="auto">
            <a:xfrm>
              <a:off x="2792" y="3410"/>
              <a:ext cx="236" cy="235"/>
            </a:xfrm>
            <a:custGeom>
              <a:avLst/>
              <a:gdLst>
                <a:gd name="T0" fmla="*/ 0 w 236"/>
                <a:gd name="T1" fmla="*/ 234 h 235"/>
                <a:gd name="T2" fmla="*/ 0 w 236"/>
                <a:gd name="T3" fmla="*/ 0 h 235"/>
                <a:gd name="T4" fmla="*/ 235 w 236"/>
                <a:gd name="T5" fmla="*/ 0 h 235"/>
                <a:gd name="T6" fmla="*/ 235 w 236"/>
                <a:gd name="T7" fmla="*/ 234 h 235"/>
                <a:gd name="T8" fmla="*/ 0 w 236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6"/>
                <a:gd name="T16" fmla="*/ 0 h 235"/>
                <a:gd name="T17" fmla="*/ 236 w 236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6" h="235">
                  <a:moveTo>
                    <a:pt x="0" y="234"/>
                  </a:moveTo>
                  <a:lnTo>
                    <a:pt x="0" y="0"/>
                  </a:lnTo>
                  <a:lnTo>
                    <a:pt x="235" y="0"/>
                  </a:lnTo>
                  <a:lnTo>
                    <a:pt x="235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30"/>
            <p:cNvSpPr>
              <a:spLocks/>
            </p:cNvSpPr>
            <p:nvPr/>
          </p:nvSpPr>
          <p:spPr bwMode="auto">
            <a:xfrm>
              <a:off x="3027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31"/>
            <p:cNvSpPr>
              <a:spLocks/>
            </p:cNvSpPr>
            <p:nvPr/>
          </p:nvSpPr>
          <p:spPr bwMode="auto">
            <a:xfrm>
              <a:off x="3377" y="3410"/>
              <a:ext cx="236" cy="235"/>
            </a:xfrm>
            <a:custGeom>
              <a:avLst/>
              <a:gdLst>
                <a:gd name="T0" fmla="*/ 0 w 236"/>
                <a:gd name="T1" fmla="*/ 234 h 235"/>
                <a:gd name="T2" fmla="*/ 0 w 236"/>
                <a:gd name="T3" fmla="*/ 0 h 235"/>
                <a:gd name="T4" fmla="*/ 235 w 236"/>
                <a:gd name="T5" fmla="*/ 0 h 235"/>
                <a:gd name="T6" fmla="*/ 235 w 236"/>
                <a:gd name="T7" fmla="*/ 234 h 235"/>
                <a:gd name="T8" fmla="*/ 0 w 236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6"/>
                <a:gd name="T16" fmla="*/ 0 h 235"/>
                <a:gd name="T17" fmla="*/ 236 w 236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6" h="235">
                  <a:moveTo>
                    <a:pt x="0" y="234"/>
                  </a:moveTo>
                  <a:lnTo>
                    <a:pt x="0" y="0"/>
                  </a:lnTo>
                  <a:lnTo>
                    <a:pt x="235" y="0"/>
                  </a:lnTo>
                  <a:lnTo>
                    <a:pt x="235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32"/>
            <p:cNvSpPr>
              <a:spLocks/>
            </p:cNvSpPr>
            <p:nvPr/>
          </p:nvSpPr>
          <p:spPr bwMode="auto">
            <a:xfrm>
              <a:off x="3612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33"/>
            <p:cNvSpPr>
              <a:spLocks/>
            </p:cNvSpPr>
            <p:nvPr/>
          </p:nvSpPr>
          <p:spPr bwMode="auto">
            <a:xfrm>
              <a:off x="3846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34"/>
            <p:cNvSpPr>
              <a:spLocks/>
            </p:cNvSpPr>
            <p:nvPr/>
          </p:nvSpPr>
          <p:spPr bwMode="auto">
            <a:xfrm>
              <a:off x="4080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35"/>
            <p:cNvSpPr>
              <a:spLocks/>
            </p:cNvSpPr>
            <p:nvPr/>
          </p:nvSpPr>
          <p:spPr bwMode="auto">
            <a:xfrm>
              <a:off x="693" y="2761"/>
              <a:ext cx="1398" cy="636"/>
            </a:xfrm>
            <a:custGeom>
              <a:avLst/>
              <a:gdLst>
                <a:gd name="T0" fmla="*/ 1397 w 1398"/>
                <a:gd name="T1" fmla="*/ 0 h 636"/>
                <a:gd name="T2" fmla="*/ 0 w 1398"/>
                <a:gd name="T3" fmla="*/ 635 h 636"/>
                <a:gd name="T4" fmla="*/ 1397 w 1398"/>
                <a:gd name="T5" fmla="*/ 0 h 636"/>
                <a:gd name="T6" fmla="*/ 0 60000 65536"/>
                <a:gd name="T7" fmla="*/ 0 60000 65536"/>
                <a:gd name="T8" fmla="*/ 0 60000 65536"/>
                <a:gd name="T9" fmla="*/ 0 w 1398"/>
                <a:gd name="T10" fmla="*/ 0 h 636"/>
                <a:gd name="T11" fmla="*/ 1398 w 1398"/>
                <a:gd name="T12" fmla="*/ 636 h 6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8" h="636">
                  <a:moveTo>
                    <a:pt x="1397" y="0"/>
                  </a:moveTo>
                  <a:lnTo>
                    <a:pt x="0" y="635"/>
                  </a:lnTo>
                  <a:lnTo>
                    <a:pt x="1397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Freeform 36"/>
            <p:cNvSpPr>
              <a:spLocks/>
            </p:cNvSpPr>
            <p:nvPr/>
          </p:nvSpPr>
          <p:spPr bwMode="auto">
            <a:xfrm>
              <a:off x="693" y="3349"/>
              <a:ext cx="75" cy="48"/>
            </a:xfrm>
            <a:custGeom>
              <a:avLst/>
              <a:gdLst>
                <a:gd name="T0" fmla="*/ 74 w 75"/>
                <a:gd name="T1" fmla="*/ 33 h 48"/>
                <a:gd name="T2" fmla="*/ 0 w 75"/>
                <a:gd name="T3" fmla="*/ 47 h 48"/>
                <a:gd name="T4" fmla="*/ 59 w 75"/>
                <a:gd name="T5" fmla="*/ 0 h 48"/>
                <a:gd name="T6" fmla="*/ 74 w 75"/>
                <a:gd name="T7" fmla="*/ 33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48"/>
                <a:gd name="T14" fmla="*/ 75 w 75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48">
                  <a:moveTo>
                    <a:pt x="74" y="33"/>
                  </a:moveTo>
                  <a:lnTo>
                    <a:pt x="0" y="47"/>
                  </a:lnTo>
                  <a:lnTo>
                    <a:pt x="59" y="0"/>
                  </a:lnTo>
                  <a:lnTo>
                    <a:pt x="74" y="33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Freeform 37"/>
            <p:cNvSpPr>
              <a:spLocks/>
            </p:cNvSpPr>
            <p:nvPr/>
          </p:nvSpPr>
          <p:spPr bwMode="auto">
            <a:xfrm>
              <a:off x="1739" y="2769"/>
              <a:ext cx="696" cy="628"/>
            </a:xfrm>
            <a:custGeom>
              <a:avLst/>
              <a:gdLst>
                <a:gd name="T0" fmla="*/ 695 w 696"/>
                <a:gd name="T1" fmla="*/ 0 h 628"/>
                <a:gd name="T2" fmla="*/ 0 w 696"/>
                <a:gd name="T3" fmla="*/ 627 h 628"/>
                <a:gd name="T4" fmla="*/ 695 w 696"/>
                <a:gd name="T5" fmla="*/ 0 h 628"/>
                <a:gd name="T6" fmla="*/ 0 60000 65536"/>
                <a:gd name="T7" fmla="*/ 0 60000 65536"/>
                <a:gd name="T8" fmla="*/ 0 60000 65536"/>
                <a:gd name="T9" fmla="*/ 0 w 696"/>
                <a:gd name="T10" fmla="*/ 0 h 628"/>
                <a:gd name="T11" fmla="*/ 696 w 696"/>
                <a:gd name="T12" fmla="*/ 628 h 6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6" h="628">
                  <a:moveTo>
                    <a:pt x="695" y="0"/>
                  </a:moveTo>
                  <a:lnTo>
                    <a:pt x="0" y="627"/>
                  </a:lnTo>
                  <a:lnTo>
                    <a:pt x="695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Freeform 38"/>
            <p:cNvSpPr>
              <a:spLocks/>
            </p:cNvSpPr>
            <p:nvPr/>
          </p:nvSpPr>
          <p:spPr bwMode="auto">
            <a:xfrm>
              <a:off x="1739" y="3333"/>
              <a:ext cx="68" cy="64"/>
            </a:xfrm>
            <a:custGeom>
              <a:avLst/>
              <a:gdLst>
                <a:gd name="T0" fmla="*/ 67 w 68"/>
                <a:gd name="T1" fmla="*/ 27 h 64"/>
                <a:gd name="T2" fmla="*/ 0 w 68"/>
                <a:gd name="T3" fmla="*/ 63 h 64"/>
                <a:gd name="T4" fmla="*/ 42 w 68"/>
                <a:gd name="T5" fmla="*/ 0 h 64"/>
                <a:gd name="T6" fmla="*/ 67 w 68"/>
                <a:gd name="T7" fmla="*/ 27 h 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64"/>
                <a:gd name="T14" fmla="*/ 68 w 68"/>
                <a:gd name="T15" fmla="*/ 64 h 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64">
                  <a:moveTo>
                    <a:pt x="67" y="27"/>
                  </a:moveTo>
                  <a:lnTo>
                    <a:pt x="0" y="63"/>
                  </a:lnTo>
                  <a:lnTo>
                    <a:pt x="42" y="0"/>
                  </a:lnTo>
                  <a:lnTo>
                    <a:pt x="67" y="27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" name="Freeform 39"/>
            <p:cNvSpPr>
              <a:spLocks/>
            </p:cNvSpPr>
            <p:nvPr/>
          </p:nvSpPr>
          <p:spPr bwMode="auto">
            <a:xfrm>
              <a:off x="2785" y="2769"/>
              <a:ext cx="1" cy="621"/>
            </a:xfrm>
            <a:custGeom>
              <a:avLst/>
              <a:gdLst>
                <a:gd name="T0" fmla="*/ 0 w 1"/>
                <a:gd name="T1" fmla="*/ 0 h 621"/>
                <a:gd name="T2" fmla="*/ 0 w 1"/>
                <a:gd name="T3" fmla="*/ 620 h 621"/>
                <a:gd name="T4" fmla="*/ 0 w 1"/>
                <a:gd name="T5" fmla="*/ 0 h 621"/>
                <a:gd name="T6" fmla="*/ 0 60000 65536"/>
                <a:gd name="T7" fmla="*/ 0 60000 65536"/>
                <a:gd name="T8" fmla="*/ 0 60000 65536"/>
                <a:gd name="T9" fmla="*/ 0 w 1"/>
                <a:gd name="T10" fmla="*/ 0 h 621"/>
                <a:gd name="T11" fmla="*/ 1 w 1"/>
                <a:gd name="T12" fmla="*/ 621 h 6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21">
                  <a:moveTo>
                    <a:pt x="0" y="0"/>
                  </a:moveTo>
                  <a:lnTo>
                    <a:pt x="0" y="620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Freeform 40"/>
            <p:cNvSpPr>
              <a:spLocks/>
            </p:cNvSpPr>
            <p:nvPr/>
          </p:nvSpPr>
          <p:spPr bwMode="auto">
            <a:xfrm>
              <a:off x="2766" y="3315"/>
              <a:ext cx="38" cy="75"/>
            </a:xfrm>
            <a:custGeom>
              <a:avLst/>
              <a:gdLst>
                <a:gd name="T0" fmla="*/ 37 w 38"/>
                <a:gd name="T1" fmla="*/ 0 h 75"/>
                <a:gd name="T2" fmla="*/ 19 w 38"/>
                <a:gd name="T3" fmla="*/ 74 h 75"/>
                <a:gd name="T4" fmla="*/ 0 w 38"/>
                <a:gd name="T5" fmla="*/ 0 h 75"/>
                <a:gd name="T6" fmla="*/ 37 w 38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"/>
                <a:gd name="T13" fmla="*/ 0 h 75"/>
                <a:gd name="T14" fmla="*/ 38 w 38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" h="75">
                  <a:moveTo>
                    <a:pt x="37" y="0"/>
                  </a:moveTo>
                  <a:lnTo>
                    <a:pt x="19" y="74"/>
                  </a:lnTo>
                  <a:lnTo>
                    <a:pt x="0" y="0"/>
                  </a:lnTo>
                  <a:lnTo>
                    <a:pt x="37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9" name="Freeform 41"/>
            <p:cNvSpPr>
              <a:spLocks/>
            </p:cNvSpPr>
            <p:nvPr/>
          </p:nvSpPr>
          <p:spPr bwMode="auto">
            <a:xfrm>
              <a:off x="3143" y="2761"/>
              <a:ext cx="689" cy="629"/>
            </a:xfrm>
            <a:custGeom>
              <a:avLst/>
              <a:gdLst>
                <a:gd name="T0" fmla="*/ 0 w 689"/>
                <a:gd name="T1" fmla="*/ 0 h 629"/>
                <a:gd name="T2" fmla="*/ 688 w 689"/>
                <a:gd name="T3" fmla="*/ 628 h 629"/>
                <a:gd name="T4" fmla="*/ 0 w 689"/>
                <a:gd name="T5" fmla="*/ 0 h 629"/>
                <a:gd name="T6" fmla="*/ 0 60000 65536"/>
                <a:gd name="T7" fmla="*/ 0 60000 65536"/>
                <a:gd name="T8" fmla="*/ 0 60000 65536"/>
                <a:gd name="T9" fmla="*/ 0 w 689"/>
                <a:gd name="T10" fmla="*/ 0 h 629"/>
                <a:gd name="T11" fmla="*/ 689 w 689"/>
                <a:gd name="T12" fmla="*/ 629 h 6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9" h="629">
                  <a:moveTo>
                    <a:pt x="0" y="0"/>
                  </a:moveTo>
                  <a:lnTo>
                    <a:pt x="688" y="628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Freeform 42"/>
            <p:cNvSpPr>
              <a:spLocks/>
            </p:cNvSpPr>
            <p:nvPr/>
          </p:nvSpPr>
          <p:spPr bwMode="auto">
            <a:xfrm>
              <a:off x="3765" y="3326"/>
              <a:ext cx="67" cy="64"/>
            </a:xfrm>
            <a:custGeom>
              <a:avLst/>
              <a:gdLst>
                <a:gd name="T0" fmla="*/ 25 w 67"/>
                <a:gd name="T1" fmla="*/ 0 h 64"/>
                <a:gd name="T2" fmla="*/ 66 w 67"/>
                <a:gd name="T3" fmla="*/ 63 h 64"/>
                <a:gd name="T4" fmla="*/ 0 w 67"/>
                <a:gd name="T5" fmla="*/ 27 h 64"/>
                <a:gd name="T6" fmla="*/ 25 w 67"/>
                <a:gd name="T7" fmla="*/ 0 h 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64"/>
                <a:gd name="T14" fmla="*/ 67 w 67"/>
                <a:gd name="T15" fmla="*/ 64 h 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64">
                  <a:moveTo>
                    <a:pt x="25" y="0"/>
                  </a:moveTo>
                  <a:lnTo>
                    <a:pt x="66" y="63"/>
                  </a:lnTo>
                  <a:lnTo>
                    <a:pt x="0" y="27"/>
                  </a:lnTo>
                  <a:lnTo>
                    <a:pt x="25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Freeform 43"/>
            <p:cNvSpPr>
              <a:spLocks/>
            </p:cNvSpPr>
            <p:nvPr/>
          </p:nvSpPr>
          <p:spPr bwMode="auto">
            <a:xfrm>
              <a:off x="3495" y="2753"/>
              <a:ext cx="1398" cy="637"/>
            </a:xfrm>
            <a:custGeom>
              <a:avLst/>
              <a:gdLst>
                <a:gd name="T0" fmla="*/ 0 w 1398"/>
                <a:gd name="T1" fmla="*/ 0 h 637"/>
                <a:gd name="T2" fmla="*/ 1397 w 1398"/>
                <a:gd name="T3" fmla="*/ 636 h 637"/>
                <a:gd name="T4" fmla="*/ 0 w 1398"/>
                <a:gd name="T5" fmla="*/ 0 h 637"/>
                <a:gd name="T6" fmla="*/ 0 60000 65536"/>
                <a:gd name="T7" fmla="*/ 0 60000 65536"/>
                <a:gd name="T8" fmla="*/ 0 60000 65536"/>
                <a:gd name="T9" fmla="*/ 0 w 1398"/>
                <a:gd name="T10" fmla="*/ 0 h 637"/>
                <a:gd name="T11" fmla="*/ 1398 w 1398"/>
                <a:gd name="T12" fmla="*/ 637 h 6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8" h="637">
                  <a:moveTo>
                    <a:pt x="0" y="0"/>
                  </a:moveTo>
                  <a:lnTo>
                    <a:pt x="1397" y="636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" name="Freeform 44"/>
            <p:cNvSpPr>
              <a:spLocks/>
            </p:cNvSpPr>
            <p:nvPr/>
          </p:nvSpPr>
          <p:spPr bwMode="auto">
            <a:xfrm>
              <a:off x="4818" y="3341"/>
              <a:ext cx="75" cy="49"/>
            </a:xfrm>
            <a:custGeom>
              <a:avLst/>
              <a:gdLst>
                <a:gd name="T0" fmla="*/ 15 w 75"/>
                <a:gd name="T1" fmla="*/ 0 h 49"/>
                <a:gd name="T2" fmla="*/ 74 w 75"/>
                <a:gd name="T3" fmla="*/ 48 h 49"/>
                <a:gd name="T4" fmla="*/ 0 w 75"/>
                <a:gd name="T5" fmla="*/ 34 h 49"/>
                <a:gd name="T6" fmla="*/ 15 w 75"/>
                <a:gd name="T7" fmla="*/ 0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49"/>
                <a:gd name="T14" fmla="*/ 75 w 75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49">
                  <a:moveTo>
                    <a:pt x="15" y="0"/>
                  </a:moveTo>
                  <a:lnTo>
                    <a:pt x="74" y="48"/>
                  </a:lnTo>
                  <a:lnTo>
                    <a:pt x="0" y="34"/>
                  </a:lnTo>
                  <a:lnTo>
                    <a:pt x="15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" name="Rectangle 45"/>
            <p:cNvSpPr>
              <a:spLocks noChangeArrowheads="1"/>
            </p:cNvSpPr>
            <p:nvPr/>
          </p:nvSpPr>
          <p:spPr bwMode="auto">
            <a:xfrm>
              <a:off x="1762" y="2207"/>
              <a:ext cx="37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400" u="none">
                  <a:solidFill>
                    <a:srgbClr val="000000"/>
                  </a:solidFill>
                  <a:latin typeface="Arial" pitchFamily="34" charset="0"/>
                </a:rPr>
                <a:t>Root</a:t>
              </a:r>
            </a:p>
          </p:txBody>
        </p:sp>
        <p:sp>
          <p:nvSpPr>
            <p:cNvPr id="240" name="Rectangle 46"/>
            <p:cNvSpPr>
              <a:spLocks noChangeArrowheads="1"/>
            </p:cNvSpPr>
            <p:nvPr/>
          </p:nvSpPr>
          <p:spPr bwMode="auto">
            <a:xfrm>
              <a:off x="2493" y="2551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17</a:t>
              </a:r>
            </a:p>
          </p:txBody>
        </p:sp>
        <p:sp>
          <p:nvSpPr>
            <p:cNvPr id="241" name="Rectangle 47"/>
            <p:cNvSpPr>
              <a:spLocks noChangeArrowheads="1"/>
            </p:cNvSpPr>
            <p:nvPr/>
          </p:nvSpPr>
          <p:spPr bwMode="auto">
            <a:xfrm>
              <a:off x="2844" y="2550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24</a:t>
              </a:r>
            </a:p>
          </p:txBody>
        </p:sp>
        <p:sp>
          <p:nvSpPr>
            <p:cNvPr id="242" name="Rectangle 48"/>
            <p:cNvSpPr>
              <a:spLocks noChangeArrowheads="1"/>
            </p:cNvSpPr>
            <p:nvPr/>
          </p:nvSpPr>
          <p:spPr bwMode="auto">
            <a:xfrm>
              <a:off x="3203" y="2543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30</a:t>
              </a:r>
            </a:p>
          </p:txBody>
        </p:sp>
        <p:sp>
          <p:nvSpPr>
            <p:cNvPr id="243" name="Rectangle 49"/>
            <p:cNvSpPr>
              <a:spLocks noChangeArrowheads="1"/>
            </p:cNvSpPr>
            <p:nvPr/>
          </p:nvSpPr>
          <p:spPr bwMode="auto">
            <a:xfrm>
              <a:off x="218" y="3419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2*</a:t>
              </a:r>
            </a:p>
          </p:txBody>
        </p:sp>
        <p:sp>
          <p:nvSpPr>
            <p:cNvPr id="244" name="Rectangle 50"/>
            <p:cNvSpPr>
              <a:spLocks noChangeArrowheads="1"/>
            </p:cNvSpPr>
            <p:nvPr/>
          </p:nvSpPr>
          <p:spPr bwMode="auto">
            <a:xfrm>
              <a:off x="458" y="3412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3*</a:t>
              </a:r>
            </a:p>
          </p:txBody>
        </p:sp>
        <p:sp>
          <p:nvSpPr>
            <p:cNvPr id="245" name="Rectangle 51"/>
            <p:cNvSpPr>
              <a:spLocks noChangeArrowheads="1"/>
            </p:cNvSpPr>
            <p:nvPr/>
          </p:nvSpPr>
          <p:spPr bwMode="auto">
            <a:xfrm>
              <a:off x="693" y="3412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5*</a:t>
              </a:r>
            </a:p>
          </p:txBody>
        </p:sp>
        <p:sp>
          <p:nvSpPr>
            <p:cNvPr id="246" name="Rectangle 52"/>
            <p:cNvSpPr>
              <a:spLocks noChangeArrowheads="1"/>
            </p:cNvSpPr>
            <p:nvPr/>
          </p:nvSpPr>
          <p:spPr bwMode="auto">
            <a:xfrm>
              <a:off x="927" y="3419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7*</a:t>
              </a:r>
            </a:p>
          </p:txBody>
        </p:sp>
        <p:sp>
          <p:nvSpPr>
            <p:cNvPr id="247" name="Rectangle 53"/>
            <p:cNvSpPr>
              <a:spLocks noChangeArrowheads="1"/>
            </p:cNvSpPr>
            <p:nvPr/>
          </p:nvSpPr>
          <p:spPr bwMode="auto">
            <a:xfrm>
              <a:off x="1264" y="3419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14*</a:t>
              </a:r>
            </a:p>
          </p:txBody>
        </p:sp>
        <p:sp>
          <p:nvSpPr>
            <p:cNvPr id="248" name="Rectangle 54"/>
            <p:cNvSpPr>
              <a:spLocks noChangeArrowheads="1"/>
            </p:cNvSpPr>
            <p:nvPr/>
          </p:nvSpPr>
          <p:spPr bwMode="auto">
            <a:xfrm>
              <a:off x="1491" y="3419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16*</a:t>
              </a:r>
            </a:p>
          </p:txBody>
        </p:sp>
        <p:sp>
          <p:nvSpPr>
            <p:cNvPr id="249" name="Rectangle 55"/>
            <p:cNvSpPr>
              <a:spLocks noChangeArrowheads="1"/>
            </p:cNvSpPr>
            <p:nvPr/>
          </p:nvSpPr>
          <p:spPr bwMode="auto">
            <a:xfrm>
              <a:off x="2332" y="3412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19*</a:t>
              </a:r>
            </a:p>
          </p:txBody>
        </p:sp>
        <p:sp>
          <p:nvSpPr>
            <p:cNvPr id="250" name="Rectangle 56"/>
            <p:cNvSpPr>
              <a:spLocks noChangeArrowheads="1"/>
            </p:cNvSpPr>
            <p:nvPr/>
          </p:nvSpPr>
          <p:spPr bwMode="auto">
            <a:xfrm>
              <a:off x="2551" y="3412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20*</a:t>
              </a:r>
            </a:p>
          </p:txBody>
        </p:sp>
        <p:sp>
          <p:nvSpPr>
            <p:cNvPr id="251" name="Rectangle 57"/>
            <p:cNvSpPr>
              <a:spLocks noChangeArrowheads="1"/>
            </p:cNvSpPr>
            <p:nvPr/>
          </p:nvSpPr>
          <p:spPr bwMode="auto">
            <a:xfrm>
              <a:off x="2779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22*</a:t>
              </a:r>
            </a:p>
          </p:txBody>
        </p:sp>
        <p:sp>
          <p:nvSpPr>
            <p:cNvPr id="252" name="Rectangle 58"/>
            <p:cNvSpPr>
              <a:spLocks noChangeArrowheads="1"/>
            </p:cNvSpPr>
            <p:nvPr/>
          </p:nvSpPr>
          <p:spPr bwMode="auto">
            <a:xfrm>
              <a:off x="3363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24*</a:t>
              </a:r>
            </a:p>
          </p:txBody>
        </p:sp>
        <p:sp>
          <p:nvSpPr>
            <p:cNvPr id="253" name="Rectangle 59"/>
            <p:cNvSpPr>
              <a:spLocks noChangeArrowheads="1"/>
            </p:cNvSpPr>
            <p:nvPr/>
          </p:nvSpPr>
          <p:spPr bwMode="auto">
            <a:xfrm>
              <a:off x="3605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27*</a:t>
              </a:r>
            </a:p>
          </p:txBody>
        </p:sp>
        <p:sp>
          <p:nvSpPr>
            <p:cNvPr id="254" name="Rectangle 60"/>
            <p:cNvSpPr>
              <a:spLocks noChangeArrowheads="1"/>
            </p:cNvSpPr>
            <p:nvPr/>
          </p:nvSpPr>
          <p:spPr bwMode="auto">
            <a:xfrm>
              <a:off x="3824" y="3418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29*</a:t>
              </a:r>
            </a:p>
          </p:txBody>
        </p:sp>
        <p:sp>
          <p:nvSpPr>
            <p:cNvPr id="255" name="Rectangle 61"/>
            <p:cNvSpPr>
              <a:spLocks noChangeArrowheads="1"/>
            </p:cNvSpPr>
            <p:nvPr/>
          </p:nvSpPr>
          <p:spPr bwMode="auto">
            <a:xfrm>
              <a:off x="4417" y="3418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33*</a:t>
              </a:r>
            </a:p>
          </p:txBody>
        </p:sp>
        <p:sp>
          <p:nvSpPr>
            <p:cNvPr id="256" name="Rectangle 62"/>
            <p:cNvSpPr>
              <a:spLocks noChangeArrowheads="1"/>
            </p:cNvSpPr>
            <p:nvPr/>
          </p:nvSpPr>
          <p:spPr bwMode="auto">
            <a:xfrm>
              <a:off x="4652" y="3418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34*</a:t>
              </a:r>
            </a:p>
          </p:txBody>
        </p:sp>
        <p:sp>
          <p:nvSpPr>
            <p:cNvPr id="257" name="Rectangle 63"/>
            <p:cNvSpPr>
              <a:spLocks noChangeArrowheads="1"/>
            </p:cNvSpPr>
            <p:nvPr/>
          </p:nvSpPr>
          <p:spPr bwMode="auto">
            <a:xfrm>
              <a:off x="4878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38*</a:t>
              </a:r>
            </a:p>
          </p:txBody>
        </p:sp>
        <p:sp>
          <p:nvSpPr>
            <p:cNvPr id="258" name="Rectangle 64"/>
            <p:cNvSpPr>
              <a:spLocks noChangeArrowheads="1"/>
            </p:cNvSpPr>
            <p:nvPr/>
          </p:nvSpPr>
          <p:spPr bwMode="auto">
            <a:xfrm>
              <a:off x="5112" y="3404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39*</a:t>
              </a:r>
            </a:p>
          </p:txBody>
        </p:sp>
        <p:sp>
          <p:nvSpPr>
            <p:cNvPr id="259" name="Rectangle 65"/>
            <p:cNvSpPr>
              <a:spLocks noChangeArrowheads="1"/>
            </p:cNvSpPr>
            <p:nvPr/>
          </p:nvSpPr>
          <p:spPr bwMode="auto">
            <a:xfrm>
              <a:off x="2157" y="2551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13</a:t>
              </a:r>
            </a:p>
          </p:txBody>
        </p:sp>
        <p:sp>
          <p:nvSpPr>
            <p:cNvPr id="260" name="Line 66"/>
            <p:cNvSpPr>
              <a:spLocks noChangeShapeType="1"/>
            </p:cNvSpPr>
            <p:nvPr/>
          </p:nvSpPr>
          <p:spPr bwMode="auto">
            <a:xfrm>
              <a:off x="2304" y="2208"/>
              <a:ext cx="24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1" name="Arc 67"/>
            <p:cNvSpPr>
              <a:spLocks/>
            </p:cNvSpPr>
            <p:nvPr/>
          </p:nvSpPr>
          <p:spPr bwMode="auto">
            <a:xfrm rot="-2580000">
              <a:off x="2160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2" name="Arc 68"/>
            <p:cNvSpPr>
              <a:spLocks/>
            </p:cNvSpPr>
            <p:nvPr/>
          </p:nvSpPr>
          <p:spPr bwMode="auto">
            <a:xfrm rot="-2580000">
              <a:off x="1056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3" name="Arc 69"/>
            <p:cNvSpPr>
              <a:spLocks/>
            </p:cNvSpPr>
            <p:nvPr/>
          </p:nvSpPr>
          <p:spPr bwMode="auto">
            <a:xfrm rot="-2580000">
              <a:off x="3168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4" name="Arc 70"/>
            <p:cNvSpPr>
              <a:spLocks/>
            </p:cNvSpPr>
            <p:nvPr/>
          </p:nvSpPr>
          <p:spPr bwMode="auto">
            <a:xfrm rot="-2580000">
              <a:off x="4224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265" name="Straight Arrow Connector 264"/>
          <p:cNvCxnSpPr>
            <a:stCxn id="145" idx="0"/>
            <a:endCxn id="161" idx="1"/>
          </p:cNvCxnSpPr>
          <p:nvPr/>
        </p:nvCxnSpPr>
        <p:spPr>
          <a:xfrm flipH="1">
            <a:off x="1265917" y="3333740"/>
            <a:ext cx="2217738" cy="100806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TextBox 265"/>
          <p:cNvSpPr txBox="1"/>
          <p:nvPr/>
        </p:nvSpPr>
        <p:spPr>
          <a:xfrm>
            <a:off x="152400" y="5329535"/>
            <a:ext cx="4576702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smtClean="0"/>
              <a:t>Leaf is </a:t>
            </a:r>
            <a:r>
              <a:rPr lang="en-US" sz="2400" b="1" i="1" dirty="0" smtClean="0"/>
              <a:t>full</a:t>
            </a:r>
            <a:r>
              <a:rPr lang="en-US" sz="2400" dirty="0" smtClean="0"/>
              <a:t>; hence, check the sibling</a:t>
            </a:r>
            <a:endParaRPr lang="en-US" sz="2400" dirty="0"/>
          </a:p>
        </p:txBody>
      </p:sp>
      <p:sp>
        <p:nvSpPr>
          <p:cNvPr id="2" name="Oval 1"/>
          <p:cNvSpPr/>
          <p:nvPr/>
        </p:nvSpPr>
        <p:spPr>
          <a:xfrm>
            <a:off x="2929896" y="4241790"/>
            <a:ext cx="793750" cy="635010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>
            <a:stCxn id="2" idx="5"/>
            <a:endCxn id="6" idx="0"/>
          </p:cNvCxnSpPr>
          <p:nvPr/>
        </p:nvCxnSpPr>
        <p:spPr>
          <a:xfrm>
            <a:off x="3607404" y="4783805"/>
            <a:ext cx="2725578" cy="537896"/>
          </a:xfrm>
          <a:prstGeom prst="straightConnector1">
            <a:avLst/>
          </a:prstGeom>
          <a:ln w="1270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85479" y="5321701"/>
            <a:ext cx="1895006" cy="46166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smtClean="0"/>
              <a:t>‘Poor Sibling’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/>
          <p:cNvCxnSpPr>
            <a:stCxn id="130" idx="3"/>
            <a:endCxn id="266" idx="0"/>
          </p:cNvCxnSpPr>
          <p:nvPr/>
        </p:nvCxnSpPr>
        <p:spPr>
          <a:xfrm>
            <a:off x="1254804" y="4735503"/>
            <a:ext cx="1185947" cy="594032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04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" grpId="0" animBg="1"/>
      <p:bldP spid="2" grpId="0" animBg="1"/>
      <p:bldP spid="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B+ Tree: Examples </a:t>
            </a:r>
            <a:r>
              <a:rPr lang="en-US" dirty="0" smtClean="0">
                <a:ea typeface="ＭＳ Ｐゴシック" pitchFamily="34" charset="-128"/>
              </a:rPr>
              <a:t>of Insertions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Insert entry </a:t>
            </a:r>
            <a:r>
              <a:rPr lang="en-US" sz="2800" dirty="0" smtClean="0">
                <a:solidFill>
                  <a:srgbClr val="FF0000"/>
                </a:solidFill>
              </a:rPr>
              <a:t>8*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400" dirty="0"/>
          </a:p>
        </p:txBody>
      </p:sp>
      <p:grpSp>
        <p:nvGrpSpPr>
          <p:cNvPr id="102" name="Group 5"/>
          <p:cNvGrpSpPr>
            <a:grpSpLocks/>
          </p:cNvGrpSpPr>
          <p:nvPr/>
        </p:nvGrpSpPr>
        <p:grpSpPr bwMode="auto">
          <a:xfrm>
            <a:off x="511854" y="2454265"/>
            <a:ext cx="8201025" cy="2282825"/>
            <a:chOff x="218" y="2207"/>
            <a:chExt cx="5166" cy="1438"/>
          </a:xfrm>
        </p:grpSpPr>
        <p:sp>
          <p:nvSpPr>
            <p:cNvPr id="103" name="Freeform 6"/>
            <p:cNvSpPr>
              <a:spLocks/>
            </p:cNvSpPr>
            <p:nvPr/>
          </p:nvSpPr>
          <p:spPr bwMode="auto">
            <a:xfrm>
              <a:off x="2061" y="2506"/>
              <a:ext cx="351" cy="293"/>
            </a:xfrm>
            <a:custGeom>
              <a:avLst/>
              <a:gdLst>
                <a:gd name="T0" fmla="*/ 0 w 351"/>
                <a:gd name="T1" fmla="*/ 292 h 293"/>
                <a:gd name="T2" fmla="*/ 0 w 351"/>
                <a:gd name="T3" fmla="*/ 0 h 293"/>
                <a:gd name="T4" fmla="*/ 350 w 351"/>
                <a:gd name="T5" fmla="*/ 0 h 293"/>
                <a:gd name="T6" fmla="*/ 350 w 351"/>
                <a:gd name="T7" fmla="*/ 292 h 293"/>
                <a:gd name="T8" fmla="*/ 0 w 351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1"/>
                <a:gd name="T16" fmla="*/ 0 h 293"/>
                <a:gd name="T17" fmla="*/ 351 w 351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1" h="293">
                  <a:moveTo>
                    <a:pt x="0" y="292"/>
                  </a:moveTo>
                  <a:lnTo>
                    <a:pt x="0" y="0"/>
                  </a:lnTo>
                  <a:lnTo>
                    <a:pt x="350" y="0"/>
                  </a:lnTo>
                  <a:lnTo>
                    <a:pt x="350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7"/>
            <p:cNvSpPr>
              <a:spLocks/>
            </p:cNvSpPr>
            <p:nvPr/>
          </p:nvSpPr>
          <p:spPr bwMode="auto">
            <a:xfrm>
              <a:off x="2120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8"/>
            <p:cNvSpPr>
              <a:spLocks/>
            </p:cNvSpPr>
            <p:nvPr/>
          </p:nvSpPr>
          <p:spPr bwMode="auto">
            <a:xfrm>
              <a:off x="2411" y="2506"/>
              <a:ext cx="353" cy="293"/>
            </a:xfrm>
            <a:custGeom>
              <a:avLst/>
              <a:gdLst>
                <a:gd name="T0" fmla="*/ 0 w 353"/>
                <a:gd name="T1" fmla="*/ 292 h 293"/>
                <a:gd name="T2" fmla="*/ 0 w 353"/>
                <a:gd name="T3" fmla="*/ 0 h 293"/>
                <a:gd name="T4" fmla="*/ 352 w 353"/>
                <a:gd name="T5" fmla="*/ 0 h 293"/>
                <a:gd name="T6" fmla="*/ 352 w 353"/>
                <a:gd name="T7" fmla="*/ 292 h 293"/>
                <a:gd name="T8" fmla="*/ 0 w 353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3"/>
                <a:gd name="T16" fmla="*/ 0 h 293"/>
                <a:gd name="T17" fmla="*/ 353 w 353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3" h="293">
                  <a:moveTo>
                    <a:pt x="0" y="292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9"/>
            <p:cNvSpPr>
              <a:spLocks/>
            </p:cNvSpPr>
            <p:nvPr/>
          </p:nvSpPr>
          <p:spPr bwMode="auto">
            <a:xfrm>
              <a:off x="2471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10"/>
            <p:cNvSpPr>
              <a:spLocks/>
            </p:cNvSpPr>
            <p:nvPr/>
          </p:nvSpPr>
          <p:spPr bwMode="auto">
            <a:xfrm>
              <a:off x="2763" y="2506"/>
              <a:ext cx="352" cy="293"/>
            </a:xfrm>
            <a:custGeom>
              <a:avLst/>
              <a:gdLst>
                <a:gd name="T0" fmla="*/ 0 w 352"/>
                <a:gd name="T1" fmla="*/ 292 h 293"/>
                <a:gd name="T2" fmla="*/ 0 w 352"/>
                <a:gd name="T3" fmla="*/ 0 h 293"/>
                <a:gd name="T4" fmla="*/ 351 w 352"/>
                <a:gd name="T5" fmla="*/ 0 h 293"/>
                <a:gd name="T6" fmla="*/ 351 w 352"/>
                <a:gd name="T7" fmla="*/ 292 h 293"/>
                <a:gd name="T8" fmla="*/ 0 w 352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2"/>
                <a:gd name="T16" fmla="*/ 0 h 293"/>
                <a:gd name="T17" fmla="*/ 352 w 352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2" h="293">
                  <a:moveTo>
                    <a:pt x="0" y="292"/>
                  </a:moveTo>
                  <a:lnTo>
                    <a:pt x="0" y="0"/>
                  </a:lnTo>
                  <a:lnTo>
                    <a:pt x="351" y="0"/>
                  </a:lnTo>
                  <a:lnTo>
                    <a:pt x="351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11"/>
            <p:cNvSpPr>
              <a:spLocks/>
            </p:cNvSpPr>
            <p:nvPr/>
          </p:nvSpPr>
          <p:spPr bwMode="auto">
            <a:xfrm>
              <a:off x="2822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12"/>
            <p:cNvSpPr>
              <a:spLocks/>
            </p:cNvSpPr>
            <p:nvPr/>
          </p:nvSpPr>
          <p:spPr bwMode="auto">
            <a:xfrm>
              <a:off x="3114" y="2506"/>
              <a:ext cx="353" cy="293"/>
            </a:xfrm>
            <a:custGeom>
              <a:avLst/>
              <a:gdLst>
                <a:gd name="T0" fmla="*/ 0 w 353"/>
                <a:gd name="T1" fmla="*/ 292 h 293"/>
                <a:gd name="T2" fmla="*/ 0 w 353"/>
                <a:gd name="T3" fmla="*/ 0 h 293"/>
                <a:gd name="T4" fmla="*/ 352 w 353"/>
                <a:gd name="T5" fmla="*/ 0 h 293"/>
                <a:gd name="T6" fmla="*/ 352 w 353"/>
                <a:gd name="T7" fmla="*/ 292 h 293"/>
                <a:gd name="T8" fmla="*/ 0 w 353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3"/>
                <a:gd name="T16" fmla="*/ 0 h 293"/>
                <a:gd name="T17" fmla="*/ 353 w 353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3" h="293">
                  <a:moveTo>
                    <a:pt x="0" y="292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13"/>
            <p:cNvSpPr>
              <a:spLocks/>
            </p:cNvSpPr>
            <p:nvPr/>
          </p:nvSpPr>
          <p:spPr bwMode="auto">
            <a:xfrm>
              <a:off x="3172" y="2506"/>
              <a:ext cx="1" cy="293"/>
            </a:xfrm>
            <a:custGeom>
              <a:avLst/>
              <a:gdLst>
                <a:gd name="T0" fmla="*/ 0 w 1"/>
                <a:gd name="T1" fmla="*/ 0 h 293"/>
                <a:gd name="T2" fmla="*/ 0 w 1"/>
                <a:gd name="T3" fmla="*/ 292 h 293"/>
                <a:gd name="T4" fmla="*/ 0 w 1"/>
                <a:gd name="T5" fmla="*/ 0 h 293"/>
                <a:gd name="T6" fmla="*/ 0 60000 65536"/>
                <a:gd name="T7" fmla="*/ 0 60000 65536"/>
                <a:gd name="T8" fmla="*/ 0 60000 65536"/>
                <a:gd name="T9" fmla="*/ 0 w 1"/>
                <a:gd name="T10" fmla="*/ 0 h 293"/>
                <a:gd name="T11" fmla="*/ 1 w 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3">
                  <a:moveTo>
                    <a:pt x="0" y="0"/>
                  </a:moveTo>
                  <a:lnTo>
                    <a:pt x="0" y="292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14"/>
            <p:cNvSpPr>
              <a:spLocks/>
            </p:cNvSpPr>
            <p:nvPr/>
          </p:nvSpPr>
          <p:spPr bwMode="auto">
            <a:xfrm>
              <a:off x="3466" y="2506"/>
              <a:ext cx="59" cy="293"/>
            </a:xfrm>
            <a:custGeom>
              <a:avLst/>
              <a:gdLst>
                <a:gd name="T0" fmla="*/ 0 w 59"/>
                <a:gd name="T1" fmla="*/ 292 h 293"/>
                <a:gd name="T2" fmla="*/ 0 w 59"/>
                <a:gd name="T3" fmla="*/ 0 h 293"/>
                <a:gd name="T4" fmla="*/ 58 w 59"/>
                <a:gd name="T5" fmla="*/ 0 h 293"/>
                <a:gd name="T6" fmla="*/ 58 w 59"/>
                <a:gd name="T7" fmla="*/ 292 h 293"/>
                <a:gd name="T8" fmla="*/ 0 w 59"/>
                <a:gd name="T9" fmla="*/ 292 h 2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293"/>
                <a:gd name="T17" fmla="*/ 59 w 59"/>
                <a:gd name="T18" fmla="*/ 293 h 2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293">
                  <a:moveTo>
                    <a:pt x="0" y="292"/>
                  </a:moveTo>
                  <a:lnTo>
                    <a:pt x="0" y="0"/>
                  </a:lnTo>
                  <a:lnTo>
                    <a:pt x="58" y="0"/>
                  </a:lnTo>
                  <a:lnTo>
                    <a:pt x="58" y="292"/>
                  </a:lnTo>
                  <a:lnTo>
                    <a:pt x="0" y="292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5"/>
            <p:cNvSpPr>
              <a:spLocks/>
            </p:cNvSpPr>
            <p:nvPr/>
          </p:nvSpPr>
          <p:spPr bwMode="auto">
            <a:xfrm>
              <a:off x="4431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6"/>
            <p:cNvSpPr>
              <a:spLocks/>
            </p:cNvSpPr>
            <p:nvPr/>
          </p:nvSpPr>
          <p:spPr bwMode="auto">
            <a:xfrm>
              <a:off x="4665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17"/>
            <p:cNvSpPr>
              <a:spLocks/>
            </p:cNvSpPr>
            <p:nvPr/>
          </p:nvSpPr>
          <p:spPr bwMode="auto">
            <a:xfrm>
              <a:off x="4899" y="3410"/>
              <a:ext cx="236" cy="235"/>
            </a:xfrm>
            <a:custGeom>
              <a:avLst/>
              <a:gdLst>
                <a:gd name="T0" fmla="*/ 0 w 236"/>
                <a:gd name="T1" fmla="*/ 234 h 235"/>
                <a:gd name="T2" fmla="*/ 0 w 236"/>
                <a:gd name="T3" fmla="*/ 0 h 235"/>
                <a:gd name="T4" fmla="*/ 235 w 236"/>
                <a:gd name="T5" fmla="*/ 0 h 235"/>
                <a:gd name="T6" fmla="*/ 235 w 236"/>
                <a:gd name="T7" fmla="*/ 234 h 235"/>
                <a:gd name="T8" fmla="*/ 0 w 236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6"/>
                <a:gd name="T16" fmla="*/ 0 h 235"/>
                <a:gd name="T17" fmla="*/ 236 w 236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6" h="235">
                  <a:moveTo>
                    <a:pt x="0" y="234"/>
                  </a:moveTo>
                  <a:lnTo>
                    <a:pt x="0" y="0"/>
                  </a:lnTo>
                  <a:lnTo>
                    <a:pt x="235" y="0"/>
                  </a:lnTo>
                  <a:lnTo>
                    <a:pt x="235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18"/>
            <p:cNvSpPr>
              <a:spLocks/>
            </p:cNvSpPr>
            <p:nvPr/>
          </p:nvSpPr>
          <p:spPr bwMode="auto">
            <a:xfrm>
              <a:off x="5134" y="3410"/>
              <a:ext cx="234" cy="235"/>
            </a:xfrm>
            <a:custGeom>
              <a:avLst/>
              <a:gdLst>
                <a:gd name="T0" fmla="*/ 0 w 234"/>
                <a:gd name="T1" fmla="*/ 234 h 235"/>
                <a:gd name="T2" fmla="*/ 0 w 234"/>
                <a:gd name="T3" fmla="*/ 0 h 235"/>
                <a:gd name="T4" fmla="*/ 233 w 234"/>
                <a:gd name="T5" fmla="*/ 0 h 235"/>
                <a:gd name="T6" fmla="*/ 233 w 234"/>
                <a:gd name="T7" fmla="*/ 234 h 235"/>
                <a:gd name="T8" fmla="*/ 0 w 234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4"/>
                <a:gd name="T16" fmla="*/ 0 h 235"/>
                <a:gd name="T17" fmla="*/ 234 w 234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4" h="235">
                  <a:moveTo>
                    <a:pt x="0" y="234"/>
                  </a:moveTo>
                  <a:lnTo>
                    <a:pt x="0" y="0"/>
                  </a:lnTo>
                  <a:lnTo>
                    <a:pt x="233" y="0"/>
                  </a:lnTo>
                  <a:lnTo>
                    <a:pt x="233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19"/>
            <p:cNvSpPr>
              <a:spLocks/>
            </p:cNvSpPr>
            <p:nvPr/>
          </p:nvSpPr>
          <p:spPr bwMode="auto">
            <a:xfrm>
              <a:off x="218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20"/>
            <p:cNvSpPr>
              <a:spLocks/>
            </p:cNvSpPr>
            <p:nvPr/>
          </p:nvSpPr>
          <p:spPr bwMode="auto">
            <a:xfrm>
              <a:off x="452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21"/>
            <p:cNvSpPr>
              <a:spLocks/>
            </p:cNvSpPr>
            <p:nvPr/>
          </p:nvSpPr>
          <p:spPr bwMode="auto">
            <a:xfrm>
              <a:off x="686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22"/>
            <p:cNvSpPr>
              <a:spLocks/>
            </p:cNvSpPr>
            <p:nvPr/>
          </p:nvSpPr>
          <p:spPr bwMode="auto">
            <a:xfrm>
              <a:off x="920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23"/>
            <p:cNvSpPr>
              <a:spLocks/>
            </p:cNvSpPr>
            <p:nvPr/>
          </p:nvSpPr>
          <p:spPr bwMode="auto">
            <a:xfrm>
              <a:off x="1271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24"/>
            <p:cNvSpPr>
              <a:spLocks/>
            </p:cNvSpPr>
            <p:nvPr/>
          </p:nvSpPr>
          <p:spPr bwMode="auto">
            <a:xfrm>
              <a:off x="1505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25"/>
            <p:cNvSpPr>
              <a:spLocks/>
            </p:cNvSpPr>
            <p:nvPr/>
          </p:nvSpPr>
          <p:spPr bwMode="auto">
            <a:xfrm>
              <a:off x="1739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26"/>
            <p:cNvSpPr>
              <a:spLocks/>
            </p:cNvSpPr>
            <p:nvPr/>
          </p:nvSpPr>
          <p:spPr bwMode="auto">
            <a:xfrm>
              <a:off x="1973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27"/>
            <p:cNvSpPr>
              <a:spLocks/>
            </p:cNvSpPr>
            <p:nvPr/>
          </p:nvSpPr>
          <p:spPr bwMode="auto">
            <a:xfrm>
              <a:off x="2324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28"/>
            <p:cNvSpPr>
              <a:spLocks/>
            </p:cNvSpPr>
            <p:nvPr/>
          </p:nvSpPr>
          <p:spPr bwMode="auto">
            <a:xfrm>
              <a:off x="2558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29"/>
            <p:cNvSpPr>
              <a:spLocks/>
            </p:cNvSpPr>
            <p:nvPr/>
          </p:nvSpPr>
          <p:spPr bwMode="auto">
            <a:xfrm>
              <a:off x="2792" y="3410"/>
              <a:ext cx="236" cy="235"/>
            </a:xfrm>
            <a:custGeom>
              <a:avLst/>
              <a:gdLst>
                <a:gd name="T0" fmla="*/ 0 w 236"/>
                <a:gd name="T1" fmla="*/ 234 h 235"/>
                <a:gd name="T2" fmla="*/ 0 w 236"/>
                <a:gd name="T3" fmla="*/ 0 h 235"/>
                <a:gd name="T4" fmla="*/ 235 w 236"/>
                <a:gd name="T5" fmla="*/ 0 h 235"/>
                <a:gd name="T6" fmla="*/ 235 w 236"/>
                <a:gd name="T7" fmla="*/ 234 h 235"/>
                <a:gd name="T8" fmla="*/ 0 w 236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6"/>
                <a:gd name="T16" fmla="*/ 0 h 235"/>
                <a:gd name="T17" fmla="*/ 236 w 236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6" h="235">
                  <a:moveTo>
                    <a:pt x="0" y="234"/>
                  </a:moveTo>
                  <a:lnTo>
                    <a:pt x="0" y="0"/>
                  </a:lnTo>
                  <a:lnTo>
                    <a:pt x="235" y="0"/>
                  </a:lnTo>
                  <a:lnTo>
                    <a:pt x="235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30"/>
            <p:cNvSpPr>
              <a:spLocks/>
            </p:cNvSpPr>
            <p:nvPr/>
          </p:nvSpPr>
          <p:spPr bwMode="auto">
            <a:xfrm>
              <a:off x="3027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31"/>
            <p:cNvSpPr>
              <a:spLocks/>
            </p:cNvSpPr>
            <p:nvPr/>
          </p:nvSpPr>
          <p:spPr bwMode="auto">
            <a:xfrm>
              <a:off x="3377" y="3410"/>
              <a:ext cx="236" cy="235"/>
            </a:xfrm>
            <a:custGeom>
              <a:avLst/>
              <a:gdLst>
                <a:gd name="T0" fmla="*/ 0 w 236"/>
                <a:gd name="T1" fmla="*/ 234 h 235"/>
                <a:gd name="T2" fmla="*/ 0 w 236"/>
                <a:gd name="T3" fmla="*/ 0 h 235"/>
                <a:gd name="T4" fmla="*/ 235 w 236"/>
                <a:gd name="T5" fmla="*/ 0 h 235"/>
                <a:gd name="T6" fmla="*/ 235 w 236"/>
                <a:gd name="T7" fmla="*/ 234 h 235"/>
                <a:gd name="T8" fmla="*/ 0 w 236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6"/>
                <a:gd name="T16" fmla="*/ 0 h 235"/>
                <a:gd name="T17" fmla="*/ 236 w 236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6" h="235">
                  <a:moveTo>
                    <a:pt x="0" y="234"/>
                  </a:moveTo>
                  <a:lnTo>
                    <a:pt x="0" y="0"/>
                  </a:lnTo>
                  <a:lnTo>
                    <a:pt x="235" y="0"/>
                  </a:lnTo>
                  <a:lnTo>
                    <a:pt x="235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32"/>
            <p:cNvSpPr>
              <a:spLocks/>
            </p:cNvSpPr>
            <p:nvPr/>
          </p:nvSpPr>
          <p:spPr bwMode="auto">
            <a:xfrm>
              <a:off x="3612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33"/>
            <p:cNvSpPr>
              <a:spLocks/>
            </p:cNvSpPr>
            <p:nvPr/>
          </p:nvSpPr>
          <p:spPr bwMode="auto">
            <a:xfrm>
              <a:off x="3846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34"/>
            <p:cNvSpPr>
              <a:spLocks/>
            </p:cNvSpPr>
            <p:nvPr/>
          </p:nvSpPr>
          <p:spPr bwMode="auto">
            <a:xfrm>
              <a:off x="4080" y="3410"/>
              <a:ext cx="235" cy="235"/>
            </a:xfrm>
            <a:custGeom>
              <a:avLst/>
              <a:gdLst>
                <a:gd name="T0" fmla="*/ 0 w 235"/>
                <a:gd name="T1" fmla="*/ 234 h 235"/>
                <a:gd name="T2" fmla="*/ 0 w 235"/>
                <a:gd name="T3" fmla="*/ 0 h 235"/>
                <a:gd name="T4" fmla="*/ 234 w 235"/>
                <a:gd name="T5" fmla="*/ 0 h 235"/>
                <a:gd name="T6" fmla="*/ 234 w 235"/>
                <a:gd name="T7" fmla="*/ 234 h 235"/>
                <a:gd name="T8" fmla="*/ 0 w 235"/>
                <a:gd name="T9" fmla="*/ 234 h 2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"/>
                <a:gd name="T16" fmla="*/ 0 h 235"/>
                <a:gd name="T17" fmla="*/ 235 w 235"/>
                <a:gd name="T18" fmla="*/ 235 h 2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" h="235">
                  <a:moveTo>
                    <a:pt x="0" y="234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34"/>
                  </a:lnTo>
                  <a:lnTo>
                    <a:pt x="0" y="234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35"/>
            <p:cNvSpPr>
              <a:spLocks/>
            </p:cNvSpPr>
            <p:nvPr/>
          </p:nvSpPr>
          <p:spPr bwMode="auto">
            <a:xfrm>
              <a:off x="693" y="2761"/>
              <a:ext cx="1398" cy="636"/>
            </a:xfrm>
            <a:custGeom>
              <a:avLst/>
              <a:gdLst>
                <a:gd name="T0" fmla="*/ 1397 w 1398"/>
                <a:gd name="T1" fmla="*/ 0 h 636"/>
                <a:gd name="T2" fmla="*/ 0 w 1398"/>
                <a:gd name="T3" fmla="*/ 635 h 636"/>
                <a:gd name="T4" fmla="*/ 1397 w 1398"/>
                <a:gd name="T5" fmla="*/ 0 h 636"/>
                <a:gd name="T6" fmla="*/ 0 60000 65536"/>
                <a:gd name="T7" fmla="*/ 0 60000 65536"/>
                <a:gd name="T8" fmla="*/ 0 60000 65536"/>
                <a:gd name="T9" fmla="*/ 0 w 1398"/>
                <a:gd name="T10" fmla="*/ 0 h 636"/>
                <a:gd name="T11" fmla="*/ 1398 w 1398"/>
                <a:gd name="T12" fmla="*/ 636 h 6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8" h="636">
                  <a:moveTo>
                    <a:pt x="1397" y="0"/>
                  </a:moveTo>
                  <a:lnTo>
                    <a:pt x="0" y="635"/>
                  </a:lnTo>
                  <a:lnTo>
                    <a:pt x="1397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Freeform 36"/>
            <p:cNvSpPr>
              <a:spLocks/>
            </p:cNvSpPr>
            <p:nvPr/>
          </p:nvSpPr>
          <p:spPr bwMode="auto">
            <a:xfrm>
              <a:off x="693" y="3349"/>
              <a:ext cx="75" cy="48"/>
            </a:xfrm>
            <a:custGeom>
              <a:avLst/>
              <a:gdLst>
                <a:gd name="T0" fmla="*/ 74 w 75"/>
                <a:gd name="T1" fmla="*/ 33 h 48"/>
                <a:gd name="T2" fmla="*/ 0 w 75"/>
                <a:gd name="T3" fmla="*/ 47 h 48"/>
                <a:gd name="T4" fmla="*/ 59 w 75"/>
                <a:gd name="T5" fmla="*/ 0 h 48"/>
                <a:gd name="T6" fmla="*/ 74 w 75"/>
                <a:gd name="T7" fmla="*/ 33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48"/>
                <a:gd name="T14" fmla="*/ 75 w 75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48">
                  <a:moveTo>
                    <a:pt x="74" y="33"/>
                  </a:moveTo>
                  <a:lnTo>
                    <a:pt x="0" y="47"/>
                  </a:lnTo>
                  <a:lnTo>
                    <a:pt x="59" y="0"/>
                  </a:lnTo>
                  <a:lnTo>
                    <a:pt x="74" y="33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Freeform 37"/>
            <p:cNvSpPr>
              <a:spLocks/>
            </p:cNvSpPr>
            <p:nvPr/>
          </p:nvSpPr>
          <p:spPr bwMode="auto">
            <a:xfrm>
              <a:off x="1739" y="2769"/>
              <a:ext cx="696" cy="628"/>
            </a:xfrm>
            <a:custGeom>
              <a:avLst/>
              <a:gdLst>
                <a:gd name="T0" fmla="*/ 695 w 696"/>
                <a:gd name="T1" fmla="*/ 0 h 628"/>
                <a:gd name="T2" fmla="*/ 0 w 696"/>
                <a:gd name="T3" fmla="*/ 627 h 628"/>
                <a:gd name="T4" fmla="*/ 695 w 696"/>
                <a:gd name="T5" fmla="*/ 0 h 628"/>
                <a:gd name="T6" fmla="*/ 0 60000 65536"/>
                <a:gd name="T7" fmla="*/ 0 60000 65536"/>
                <a:gd name="T8" fmla="*/ 0 60000 65536"/>
                <a:gd name="T9" fmla="*/ 0 w 696"/>
                <a:gd name="T10" fmla="*/ 0 h 628"/>
                <a:gd name="T11" fmla="*/ 696 w 696"/>
                <a:gd name="T12" fmla="*/ 628 h 6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6" h="628">
                  <a:moveTo>
                    <a:pt x="695" y="0"/>
                  </a:moveTo>
                  <a:lnTo>
                    <a:pt x="0" y="627"/>
                  </a:lnTo>
                  <a:lnTo>
                    <a:pt x="695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Freeform 38"/>
            <p:cNvSpPr>
              <a:spLocks/>
            </p:cNvSpPr>
            <p:nvPr/>
          </p:nvSpPr>
          <p:spPr bwMode="auto">
            <a:xfrm>
              <a:off x="1739" y="3333"/>
              <a:ext cx="68" cy="64"/>
            </a:xfrm>
            <a:custGeom>
              <a:avLst/>
              <a:gdLst>
                <a:gd name="T0" fmla="*/ 67 w 68"/>
                <a:gd name="T1" fmla="*/ 27 h 64"/>
                <a:gd name="T2" fmla="*/ 0 w 68"/>
                <a:gd name="T3" fmla="*/ 63 h 64"/>
                <a:gd name="T4" fmla="*/ 42 w 68"/>
                <a:gd name="T5" fmla="*/ 0 h 64"/>
                <a:gd name="T6" fmla="*/ 67 w 68"/>
                <a:gd name="T7" fmla="*/ 27 h 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64"/>
                <a:gd name="T14" fmla="*/ 68 w 68"/>
                <a:gd name="T15" fmla="*/ 64 h 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64">
                  <a:moveTo>
                    <a:pt x="67" y="27"/>
                  </a:moveTo>
                  <a:lnTo>
                    <a:pt x="0" y="63"/>
                  </a:lnTo>
                  <a:lnTo>
                    <a:pt x="42" y="0"/>
                  </a:lnTo>
                  <a:lnTo>
                    <a:pt x="67" y="27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" name="Freeform 39"/>
            <p:cNvSpPr>
              <a:spLocks/>
            </p:cNvSpPr>
            <p:nvPr/>
          </p:nvSpPr>
          <p:spPr bwMode="auto">
            <a:xfrm>
              <a:off x="2785" y="2769"/>
              <a:ext cx="1" cy="621"/>
            </a:xfrm>
            <a:custGeom>
              <a:avLst/>
              <a:gdLst>
                <a:gd name="T0" fmla="*/ 0 w 1"/>
                <a:gd name="T1" fmla="*/ 0 h 621"/>
                <a:gd name="T2" fmla="*/ 0 w 1"/>
                <a:gd name="T3" fmla="*/ 620 h 621"/>
                <a:gd name="T4" fmla="*/ 0 w 1"/>
                <a:gd name="T5" fmla="*/ 0 h 621"/>
                <a:gd name="T6" fmla="*/ 0 60000 65536"/>
                <a:gd name="T7" fmla="*/ 0 60000 65536"/>
                <a:gd name="T8" fmla="*/ 0 60000 65536"/>
                <a:gd name="T9" fmla="*/ 0 w 1"/>
                <a:gd name="T10" fmla="*/ 0 h 621"/>
                <a:gd name="T11" fmla="*/ 1 w 1"/>
                <a:gd name="T12" fmla="*/ 621 h 6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21">
                  <a:moveTo>
                    <a:pt x="0" y="0"/>
                  </a:moveTo>
                  <a:lnTo>
                    <a:pt x="0" y="620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Freeform 40"/>
            <p:cNvSpPr>
              <a:spLocks/>
            </p:cNvSpPr>
            <p:nvPr/>
          </p:nvSpPr>
          <p:spPr bwMode="auto">
            <a:xfrm>
              <a:off x="2766" y="3315"/>
              <a:ext cx="38" cy="75"/>
            </a:xfrm>
            <a:custGeom>
              <a:avLst/>
              <a:gdLst>
                <a:gd name="T0" fmla="*/ 37 w 38"/>
                <a:gd name="T1" fmla="*/ 0 h 75"/>
                <a:gd name="T2" fmla="*/ 19 w 38"/>
                <a:gd name="T3" fmla="*/ 74 h 75"/>
                <a:gd name="T4" fmla="*/ 0 w 38"/>
                <a:gd name="T5" fmla="*/ 0 h 75"/>
                <a:gd name="T6" fmla="*/ 37 w 38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"/>
                <a:gd name="T13" fmla="*/ 0 h 75"/>
                <a:gd name="T14" fmla="*/ 38 w 38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" h="75">
                  <a:moveTo>
                    <a:pt x="37" y="0"/>
                  </a:moveTo>
                  <a:lnTo>
                    <a:pt x="19" y="74"/>
                  </a:lnTo>
                  <a:lnTo>
                    <a:pt x="0" y="0"/>
                  </a:lnTo>
                  <a:lnTo>
                    <a:pt x="37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9" name="Freeform 41"/>
            <p:cNvSpPr>
              <a:spLocks/>
            </p:cNvSpPr>
            <p:nvPr/>
          </p:nvSpPr>
          <p:spPr bwMode="auto">
            <a:xfrm>
              <a:off x="3143" y="2761"/>
              <a:ext cx="689" cy="629"/>
            </a:xfrm>
            <a:custGeom>
              <a:avLst/>
              <a:gdLst>
                <a:gd name="T0" fmla="*/ 0 w 689"/>
                <a:gd name="T1" fmla="*/ 0 h 629"/>
                <a:gd name="T2" fmla="*/ 688 w 689"/>
                <a:gd name="T3" fmla="*/ 628 h 629"/>
                <a:gd name="T4" fmla="*/ 0 w 689"/>
                <a:gd name="T5" fmla="*/ 0 h 629"/>
                <a:gd name="T6" fmla="*/ 0 60000 65536"/>
                <a:gd name="T7" fmla="*/ 0 60000 65536"/>
                <a:gd name="T8" fmla="*/ 0 60000 65536"/>
                <a:gd name="T9" fmla="*/ 0 w 689"/>
                <a:gd name="T10" fmla="*/ 0 h 629"/>
                <a:gd name="T11" fmla="*/ 689 w 689"/>
                <a:gd name="T12" fmla="*/ 629 h 6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9" h="629">
                  <a:moveTo>
                    <a:pt x="0" y="0"/>
                  </a:moveTo>
                  <a:lnTo>
                    <a:pt x="688" y="628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Freeform 42"/>
            <p:cNvSpPr>
              <a:spLocks/>
            </p:cNvSpPr>
            <p:nvPr/>
          </p:nvSpPr>
          <p:spPr bwMode="auto">
            <a:xfrm>
              <a:off x="3765" y="3326"/>
              <a:ext cx="67" cy="64"/>
            </a:xfrm>
            <a:custGeom>
              <a:avLst/>
              <a:gdLst>
                <a:gd name="T0" fmla="*/ 25 w 67"/>
                <a:gd name="T1" fmla="*/ 0 h 64"/>
                <a:gd name="T2" fmla="*/ 66 w 67"/>
                <a:gd name="T3" fmla="*/ 63 h 64"/>
                <a:gd name="T4" fmla="*/ 0 w 67"/>
                <a:gd name="T5" fmla="*/ 27 h 64"/>
                <a:gd name="T6" fmla="*/ 25 w 67"/>
                <a:gd name="T7" fmla="*/ 0 h 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"/>
                <a:gd name="T13" fmla="*/ 0 h 64"/>
                <a:gd name="T14" fmla="*/ 67 w 67"/>
                <a:gd name="T15" fmla="*/ 64 h 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" h="64">
                  <a:moveTo>
                    <a:pt x="25" y="0"/>
                  </a:moveTo>
                  <a:lnTo>
                    <a:pt x="66" y="63"/>
                  </a:lnTo>
                  <a:lnTo>
                    <a:pt x="0" y="27"/>
                  </a:lnTo>
                  <a:lnTo>
                    <a:pt x="25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Freeform 43"/>
            <p:cNvSpPr>
              <a:spLocks/>
            </p:cNvSpPr>
            <p:nvPr/>
          </p:nvSpPr>
          <p:spPr bwMode="auto">
            <a:xfrm>
              <a:off x="3495" y="2753"/>
              <a:ext cx="1398" cy="637"/>
            </a:xfrm>
            <a:custGeom>
              <a:avLst/>
              <a:gdLst>
                <a:gd name="T0" fmla="*/ 0 w 1398"/>
                <a:gd name="T1" fmla="*/ 0 h 637"/>
                <a:gd name="T2" fmla="*/ 1397 w 1398"/>
                <a:gd name="T3" fmla="*/ 636 h 637"/>
                <a:gd name="T4" fmla="*/ 0 w 1398"/>
                <a:gd name="T5" fmla="*/ 0 h 637"/>
                <a:gd name="T6" fmla="*/ 0 60000 65536"/>
                <a:gd name="T7" fmla="*/ 0 60000 65536"/>
                <a:gd name="T8" fmla="*/ 0 60000 65536"/>
                <a:gd name="T9" fmla="*/ 0 w 1398"/>
                <a:gd name="T10" fmla="*/ 0 h 637"/>
                <a:gd name="T11" fmla="*/ 1398 w 1398"/>
                <a:gd name="T12" fmla="*/ 637 h 6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8" h="637">
                  <a:moveTo>
                    <a:pt x="0" y="0"/>
                  </a:moveTo>
                  <a:lnTo>
                    <a:pt x="1397" y="636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" name="Freeform 44"/>
            <p:cNvSpPr>
              <a:spLocks/>
            </p:cNvSpPr>
            <p:nvPr/>
          </p:nvSpPr>
          <p:spPr bwMode="auto">
            <a:xfrm>
              <a:off x="4818" y="3341"/>
              <a:ext cx="75" cy="49"/>
            </a:xfrm>
            <a:custGeom>
              <a:avLst/>
              <a:gdLst>
                <a:gd name="T0" fmla="*/ 15 w 75"/>
                <a:gd name="T1" fmla="*/ 0 h 49"/>
                <a:gd name="T2" fmla="*/ 74 w 75"/>
                <a:gd name="T3" fmla="*/ 48 h 49"/>
                <a:gd name="T4" fmla="*/ 0 w 75"/>
                <a:gd name="T5" fmla="*/ 34 h 49"/>
                <a:gd name="T6" fmla="*/ 15 w 75"/>
                <a:gd name="T7" fmla="*/ 0 h 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49"/>
                <a:gd name="T14" fmla="*/ 75 w 75"/>
                <a:gd name="T15" fmla="*/ 49 h 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49">
                  <a:moveTo>
                    <a:pt x="15" y="0"/>
                  </a:moveTo>
                  <a:lnTo>
                    <a:pt x="74" y="48"/>
                  </a:lnTo>
                  <a:lnTo>
                    <a:pt x="0" y="34"/>
                  </a:lnTo>
                  <a:lnTo>
                    <a:pt x="15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" name="Rectangle 45"/>
            <p:cNvSpPr>
              <a:spLocks noChangeArrowheads="1"/>
            </p:cNvSpPr>
            <p:nvPr/>
          </p:nvSpPr>
          <p:spPr bwMode="auto">
            <a:xfrm>
              <a:off x="1762" y="2207"/>
              <a:ext cx="37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400" u="none">
                  <a:solidFill>
                    <a:srgbClr val="000000"/>
                  </a:solidFill>
                  <a:latin typeface="Arial" pitchFamily="34" charset="0"/>
                </a:rPr>
                <a:t>Root</a:t>
              </a:r>
            </a:p>
          </p:txBody>
        </p:sp>
        <p:sp>
          <p:nvSpPr>
            <p:cNvPr id="240" name="Rectangle 46"/>
            <p:cNvSpPr>
              <a:spLocks noChangeArrowheads="1"/>
            </p:cNvSpPr>
            <p:nvPr/>
          </p:nvSpPr>
          <p:spPr bwMode="auto">
            <a:xfrm>
              <a:off x="2493" y="2551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17</a:t>
              </a:r>
            </a:p>
          </p:txBody>
        </p:sp>
        <p:sp>
          <p:nvSpPr>
            <p:cNvPr id="241" name="Rectangle 47"/>
            <p:cNvSpPr>
              <a:spLocks noChangeArrowheads="1"/>
            </p:cNvSpPr>
            <p:nvPr/>
          </p:nvSpPr>
          <p:spPr bwMode="auto">
            <a:xfrm>
              <a:off x="2844" y="2550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24</a:t>
              </a:r>
            </a:p>
          </p:txBody>
        </p:sp>
        <p:sp>
          <p:nvSpPr>
            <p:cNvPr id="242" name="Rectangle 48"/>
            <p:cNvSpPr>
              <a:spLocks noChangeArrowheads="1"/>
            </p:cNvSpPr>
            <p:nvPr/>
          </p:nvSpPr>
          <p:spPr bwMode="auto">
            <a:xfrm>
              <a:off x="3203" y="2543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30</a:t>
              </a:r>
            </a:p>
          </p:txBody>
        </p:sp>
        <p:sp>
          <p:nvSpPr>
            <p:cNvPr id="243" name="Rectangle 49"/>
            <p:cNvSpPr>
              <a:spLocks noChangeArrowheads="1"/>
            </p:cNvSpPr>
            <p:nvPr/>
          </p:nvSpPr>
          <p:spPr bwMode="auto">
            <a:xfrm>
              <a:off x="218" y="3419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2*</a:t>
              </a:r>
            </a:p>
          </p:txBody>
        </p:sp>
        <p:sp>
          <p:nvSpPr>
            <p:cNvPr id="244" name="Rectangle 50"/>
            <p:cNvSpPr>
              <a:spLocks noChangeArrowheads="1"/>
            </p:cNvSpPr>
            <p:nvPr/>
          </p:nvSpPr>
          <p:spPr bwMode="auto">
            <a:xfrm>
              <a:off x="458" y="3412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3*</a:t>
              </a:r>
            </a:p>
          </p:txBody>
        </p:sp>
        <p:sp>
          <p:nvSpPr>
            <p:cNvPr id="245" name="Rectangle 51"/>
            <p:cNvSpPr>
              <a:spLocks noChangeArrowheads="1"/>
            </p:cNvSpPr>
            <p:nvPr/>
          </p:nvSpPr>
          <p:spPr bwMode="auto">
            <a:xfrm>
              <a:off x="693" y="3412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5*</a:t>
              </a:r>
            </a:p>
          </p:txBody>
        </p:sp>
        <p:sp>
          <p:nvSpPr>
            <p:cNvPr id="246" name="Rectangle 52"/>
            <p:cNvSpPr>
              <a:spLocks noChangeArrowheads="1"/>
            </p:cNvSpPr>
            <p:nvPr/>
          </p:nvSpPr>
          <p:spPr bwMode="auto">
            <a:xfrm>
              <a:off x="927" y="3419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7*</a:t>
              </a:r>
            </a:p>
          </p:txBody>
        </p:sp>
        <p:sp>
          <p:nvSpPr>
            <p:cNvPr id="247" name="Rectangle 53"/>
            <p:cNvSpPr>
              <a:spLocks noChangeArrowheads="1"/>
            </p:cNvSpPr>
            <p:nvPr/>
          </p:nvSpPr>
          <p:spPr bwMode="auto">
            <a:xfrm>
              <a:off x="1264" y="3419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14*</a:t>
              </a:r>
            </a:p>
          </p:txBody>
        </p:sp>
        <p:sp>
          <p:nvSpPr>
            <p:cNvPr id="248" name="Rectangle 54"/>
            <p:cNvSpPr>
              <a:spLocks noChangeArrowheads="1"/>
            </p:cNvSpPr>
            <p:nvPr/>
          </p:nvSpPr>
          <p:spPr bwMode="auto">
            <a:xfrm>
              <a:off x="1491" y="3419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16*</a:t>
              </a:r>
            </a:p>
          </p:txBody>
        </p:sp>
        <p:sp>
          <p:nvSpPr>
            <p:cNvPr id="249" name="Rectangle 55"/>
            <p:cNvSpPr>
              <a:spLocks noChangeArrowheads="1"/>
            </p:cNvSpPr>
            <p:nvPr/>
          </p:nvSpPr>
          <p:spPr bwMode="auto">
            <a:xfrm>
              <a:off x="2332" y="3412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19*</a:t>
              </a:r>
            </a:p>
          </p:txBody>
        </p:sp>
        <p:sp>
          <p:nvSpPr>
            <p:cNvPr id="250" name="Rectangle 56"/>
            <p:cNvSpPr>
              <a:spLocks noChangeArrowheads="1"/>
            </p:cNvSpPr>
            <p:nvPr/>
          </p:nvSpPr>
          <p:spPr bwMode="auto">
            <a:xfrm>
              <a:off x="2551" y="3412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20*</a:t>
              </a:r>
            </a:p>
          </p:txBody>
        </p:sp>
        <p:sp>
          <p:nvSpPr>
            <p:cNvPr id="251" name="Rectangle 57"/>
            <p:cNvSpPr>
              <a:spLocks noChangeArrowheads="1"/>
            </p:cNvSpPr>
            <p:nvPr/>
          </p:nvSpPr>
          <p:spPr bwMode="auto">
            <a:xfrm>
              <a:off x="2779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22*</a:t>
              </a:r>
            </a:p>
          </p:txBody>
        </p:sp>
        <p:sp>
          <p:nvSpPr>
            <p:cNvPr id="252" name="Rectangle 58"/>
            <p:cNvSpPr>
              <a:spLocks noChangeArrowheads="1"/>
            </p:cNvSpPr>
            <p:nvPr/>
          </p:nvSpPr>
          <p:spPr bwMode="auto">
            <a:xfrm>
              <a:off x="3363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24*</a:t>
              </a:r>
            </a:p>
          </p:txBody>
        </p:sp>
        <p:sp>
          <p:nvSpPr>
            <p:cNvPr id="253" name="Rectangle 59"/>
            <p:cNvSpPr>
              <a:spLocks noChangeArrowheads="1"/>
            </p:cNvSpPr>
            <p:nvPr/>
          </p:nvSpPr>
          <p:spPr bwMode="auto">
            <a:xfrm>
              <a:off x="3605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27*</a:t>
              </a:r>
            </a:p>
          </p:txBody>
        </p:sp>
        <p:sp>
          <p:nvSpPr>
            <p:cNvPr id="254" name="Rectangle 60"/>
            <p:cNvSpPr>
              <a:spLocks noChangeArrowheads="1"/>
            </p:cNvSpPr>
            <p:nvPr/>
          </p:nvSpPr>
          <p:spPr bwMode="auto">
            <a:xfrm>
              <a:off x="3824" y="3418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29*</a:t>
              </a:r>
            </a:p>
          </p:txBody>
        </p:sp>
        <p:sp>
          <p:nvSpPr>
            <p:cNvPr id="255" name="Rectangle 61"/>
            <p:cNvSpPr>
              <a:spLocks noChangeArrowheads="1"/>
            </p:cNvSpPr>
            <p:nvPr/>
          </p:nvSpPr>
          <p:spPr bwMode="auto">
            <a:xfrm>
              <a:off x="4417" y="3418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33*</a:t>
              </a:r>
            </a:p>
          </p:txBody>
        </p:sp>
        <p:sp>
          <p:nvSpPr>
            <p:cNvPr id="256" name="Rectangle 62"/>
            <p:cNvSpPr>
              <a:spLocks noChangeArrowheads="1"/>
            </p:cNvSpPr>
            <p:nvPr/>
          </p:nvSpPr>
          <p:spPr bwMode="auto">
            <a:xfrm>
              <a:off x="4652" y="3418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34*</a:t>
              </a:r>
            </a:p>
          </p:txBody>
        </p:sp>
        <p:sp>
          <p:nvSpPr>
            <p:cNvPr id="257" name="Rectangle 63"/>
            <p:cNvSpPr>
              <a:spLocks noChangeArrowheads="1"/>
            </p:cNvSpPr>
            <p:nvPr/>
          </p:nvSpPr>
          <p:spPr bwMode="auto">
            <a:xfrm>
              <a:off x="4878" y="3411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38*</a:t>
              </a:r>
            </a:p>
          </p:txBody>
        </p:sp>
        <p:sp>
          <p:nvSpPr>
            <p:cNvPr id="258" name="Rectangle 64"/>
            <p:cNvSpPr>
              <a:spLocks noChangeArrowheads="1"/>
            </p:cNvSpPr>
            <p:nvPr/>
          </p:nvSpPr>
          <p:spPr bwMode="auto">
            <a:xfrm>
              <a:off x="5112" y="3404"/>
              <a:ext cx="27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>
                  <a:solidFill>
                    <a:srgbClr val="000000"/>
                  </a:solidFill>
                  <a:latin typeface="Arial" pitchFamily="34" charset="0"/>
                </a:rPr>
                <a:t>39*</a:t>
              </a:r>
            </a:p>
          </p:txBody>
        </p:sp>
        <p:sp>
          <p:nvSpPr>
            <p:cNvPr id="259" name="Rectangle 65"/>
            <p:cNvSpPr>
              <a:spLocks noChangeArrowheads="1"/>
            </p:cNvSpPr>
            <p:nvPr/>
          </p:nvSpPr>
          <p:spPr bwMode="auto">
            <a:xfrm>
              <a:off x="2157" y="2551"/>
              <a:ext cx="232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300" u="none" dirty="0">
                  <a:solidFill>
                    <a:srgbClr val="000000"/>
                  </a:solidFill>
                  <a:latin typeface="Arial" pitchFamily="34" charset="0"/>
                </a:rPr>
                <a:t>13</a:t>
              </a:r>
            </a:p>
          </p:txBody>
        </p:sp>
        <p:sp>
          <p:nvSpPr>
            <p:cNvPr id="260" name="Line 66"/>
            <p:cNvSpPr>
              <a:spLocks noChangeShapeType="1"/>
            </p:cNvSpPr>
            <p:nvPr/>
          </p:nvSpPr>
          <p:spPr bwMode="auto">
            <a:xfrm>
              <a:off x="2304" y="2208"/>
              <a:ext cx="24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1" name="Arc 67"/>
            <p:cNvSpPr>
              <a:spLocks/>
            </p:cNvSpPr>
            <p:nvPr/>
          </p:nvSpPr>
          <p:spPr bwMode="auto">
            <a:xfrm rot="-2580000">
              <a:off x="2160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2" name="Arc 68"/>
            <p:cNvSpPr>
              <a:spLocks/>
            </p:cNvSpPr>
            <p:nvPr/>
          </p:nvSpPr>
          <p:spPr bwMode="auto">
            <a:xfrm rot="-2580000">
              <a:off x="1056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3" name="Arc 69"/>
            <p:cNvSpPr>
              <a:spLocks/>
            </p:cNvSpPr>
            <p:nvPr/>
          </p:nvSpPr>
          <p:spPr bwMode="auto">
            <a:xfrm rot="-2580000">
              <a:off x="3168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4" name="Arc 70"/>
            <p:cNvSpPr>
              <a:spLocks/>
            </p:cNvSpPr>
            <p:nvPr/>
          </p:nvSpPr>
          <p:spPr bwMode="auto">
            <a:xfrm rot="-2580000">
              <a:off x="4224" y="3265"/>
              <a:ext cx="240" cy="240"/>
            </a:xfrm>
            <a:custGeom>
              <a:avLst/>
              <a:gdLst>
                <a:gd name="T0" fmla="*/ 0 w 21600"/>
                <a:gd name="T1" fmla="*/ 0 h 21600"/>
                <a:gd name="T2" fmla="*/ 3 w 21600"/>
                <a:gd name="T3" fmla="*/ 3 h 21600"/>
                <a:gd name="T4" fmla="*/ 0 w 21600"/>
                <a:gd name="T5" fmla="*/ 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265" name="Straight Arrow Connector 264"/>
          <p:cNvCxnSpPr>
            <a:stCxn id="145" idx="0"/>
            <a:endCxn id="161" idx="1"/>
          </p:cNvCxnSpPr>
          <p:nvPr/>
        </p:nvCxnSpPr>
        <p:spPr>
          <a:xfrm flipH="1">
            <a:off x="1265917" y="3333740"/>
            <a:ext cx="2217738" cy="100806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flipV="1">
            <a:off x="1435779" y="3505200"/>
            <a:ext cx="2043113" cy="80009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478892" y="3505200"/>
            <a:ext cx="192088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2604179" y="3505200"/>
            <a:ext cx="1066801" cy="761990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7578" y="3106212"/>
            <a:ext cx="2519601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smtClean="0"/>
              <a:t>Do it through the parent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034473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B+ Tree: Examples </a:t>
            </a:r>
            <a:r>
              <a:rPr lang="en-US" dirty="0" smtClean="0">
                <a:ea typeface="ＭＳ Ｐゴシック" pitchFamily="34" charset="-128"/>
              </a:rPr>
              <a:t>of Insertions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Insert entry </a:t>
            </a:r>
            <a:r>
              <a:rPr lang="en-US" sz="2800" dirty="0" smtClean="0">
                <a:solidFill>
                  <a:srgbClr val="FF0000"/>
                </a:solidFill>
              </a:rPr>
              <a:t>8*</a:t>
            </a:r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400" dirty="0"/>
          </a:p>
        </p:txBody>
      </p:sp>
      <p:sp>
        <p:nvSpPr>
          <p:cNvPr id="103" name="Freeform 6"/>
          <p:cNvSpPr>
            <a:spLocks/>
          </p:cNvSpPr>
          <p:nvPr/>
        </p:nvSpPr>
        <p:spPr bwMode="auto">
          <a:xfrm>
            <a:off x="3437617" y="2928928"/>
            <a:ext cx="557213" cy="465138"/>
          </a:xfrm>
          <a:custGeom>
            <a:avLst/>
            <a:gdLst>
              <a:gd name="T0" fmla="*/ 0 w 351"/>
              <a:gd name="T1" fmla="*/ 292 h 293"/>
              <a:gd name="T2" fmla="*/ 0 w 351"/>
              <a:gd name="T3" fmla="*/ 0 h 293"/>
              <a:gd name="T4" fmla="*/ 350 w 351"/>
              <a:gd name="T5" fmla="*/ 0 h 293"/>
              <a:gd name="T6" fmla="*/ 350 w 351"/>
              <a:gd name="T7" fmla="*/ 292 h 293"/>
              <a:gd name="T8" fmla="*/ 0 w 351"/>
              <a:gd name="T9" fmla="*/ 292 h 2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1"/>
              <a:gd name="T16" fmla="*/ 0 h 293"/>
              <a:gd name="T17" fmla="*/ 351 w 351"/>
              <a:gd name="T18" fmla="*/ 293 h 2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1" h="293">
                <a:moveTo>
                  <a:pt x="0" y="292"/>
                </a:moveTo>
                <a:lnTo>
                  <a:pt x="0" y="0"/>
                </a:lnTo>
                <a:lnTo>
                  <a:pt x="350" y="0"/>
                </a:lnTo>
                <a:lnTo>
                  <a:pt x="350" y="292"/>
                </a:lnTo>
                <a:lnTo>
                  <a:pt x="0" y="292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" name="Freeform 7"/>
          <p:cNvSpPr>
            <a:spLocks/>
          </p:cNvSpPr>
          <p:nvPr/>
        </p:nvSpPr>
        <p:spPr bwMode="auto">
          <a:xfrm>
            <a:off x="3531279" y="2928928"/>
            <a:ext cx="1588" cy="465138"/>
          </a:xfrm>
          <a:custGeom>
            <a:avLst/>
            <a:gdLst>
              <a:gd name="T0" fmla="*/ 0 w 1"/>
              <a:gd name="T1" fmla="*/ 0 h 293"/>
              <a:gd name="T2" fmla="*/ 0 w 1"/>
              <a:gd name="T3" fmla="*/ 292 h 293"/>
              <a:gd name="T4" fmla="*/ 0 w 1"/>
              <a:gd name="T5" fmla="*/ 0 h 293"/>
              <a:gd name="T6" fmla="*/ 0 60000 65536"/>
              <a:gd name="T7" fmla="*/ 0 60000 65536"/>
              <a:gd name="T8" fmla="*/ 0 60000 65536"/>
              <a:gd name="T9" fmla="*/ 0 w 1"/>
              <a:gd name="T10" fmla="*/ 0 h 293"/>
              <a:gd name="T11" fmla="*/ 1 w 1"/>
              <a:gd name="T12" fmla="*/ 293 h 2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3">
                <a:moveTo>
                  <a:pt x="0" y="0"/>
                </a:moveTo>
                <a:lnTo>
                  <a:pt x="0" y="292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" name="Freeform 8"/>
          <p:cNvSpPr>
            <a:spLocks/>
          </p:cNvSpPr>
          <p:nvPr/>
        </p:nvSpPr>
        <p:spPr bwMode="auto">
          <a:xfrm>
            <a:off x="3993242" y="2928928"/>
            <a:ext cx="560388" cy="465138"/>
          </a:xfrm>
          <a:custGeom>
            <a:avLst/>
            <a:gdLst>
              <a:gd name="T0" fmla="*/ 0 w 353"/>
              <a:gd name="T1" fmla="*/ 292 h 293"/>
              <a:gd name="T2" fmla="*/ 0 w 353"/>
              <a:gd name="T3" fmla="*/ 0 h 293"/>
              <a:gd name="T4" fmla="*/ 352 w 353"/>
              <a:gd name="T5" fmla="*/ 0 h 293"/>
              <a:gd name="T6" fmla="*/ 352 w 353"/>
              <a:gd name="T7" fmla="*/ 292 h 293"/>
              <a:gd name="T8" fmla="*/ 0 w 353"/>
              <a:gd name="T9" fmla="*/ 292 h 2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3"/>
              <a:gd name="T16" fmla="*/ 0 h 293"/>
              <a:gd name="T17" fmla="*/ 353 w 353"/>
              <a:gd name="T18" fmla="*/ 293 h 2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3" h="293">
                <a:moveTo>
                  <a:pt x="0" y="292"/>
                </a:moveTo>
                <a:lnTo>
                  <a:pt x="0" y="0"/>
                </a:lnTo>
                <a:lnTo>
                  <a:pt x="352" y="0"/>
                </a:lnTo>
                <a:lnTo>
                  <a:pt x="352" y="292"/>
                </a:lnTo>
                <a:lnTo>
                  <a:pt x="0" y="292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" name="Freeform 9"/>
          <p:cNvSpPr>
            <a:spLocks/>
          </p:cNvSpPr>
          <p:nvPr/>
        </p:nvSpPr>
        <p:spPr bwMode="auto">
          <a:xfrm>
            <a:off x="4088492" y="2928928"/>
            <a:ext cx="1588" cy="465138"/>
          </a:xfrm>
          <a:custGeom>
            <a:avLst/>
            <a:gdLst>
              <a:gd name="T0" fmla="*/ 0 w 1"/>
              <a:gd name="T1" fmla="*/ 0 h 293"/>
              <a:gd name="T2" fmla="*/ 0 w 1"/>
              <a:gd name="T3" fmla="*/ 292 h 293"/>
              <a:gd name="T4" fmla="*/ 0 w 1"/>
              <a:gd name="T5" fmla="*/ 0 h 293"/>
              <a:gd name="T6" fmla="*/ 0 60000 65536"/>
              <a:gd name="T7" fmla="*/ 0 60000 65536"/>
              <a:gd name="T8" fmla="*/ 0 60000 65536"/>
              <a:gd name="T9" fmla="*/ 0 w 1"/>
              <a:gd name="T10" fmla="*/ 0 h 293"/>
              <a:gd name="T11" fmla="*/ 1 w 1"/>
              <a:gd name="T12" fmla="*/ 293 h 2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3">
                <a:moveTo>
                  <a:pt x="0" y="0"/>
                </a:moveTo>
                <a:lnTo>
                  <a:pt x="0" y="292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" name="Freeform 10"/>
          <p:cNvSpPr>
            <a:spLocks/>
          </p:cNvSpPr>
          <p:nvPr/>
        </p:nvSpPr>
        <p:spPr bwMode="auto">
          <a:xfrm>
            <a:off x="4552042" y="2928928"/>
            <a:ext cx="558800" cy="465138"/>
          </a:xfrm>
          <a:custGeom>
            <a:avLst/>
            <a:gdLst>
              <a:gd name="T0" fmla="*/ 0 w 352"/>
              <a:gd name="T1" fmla="*/ 292 h 293"/>
              <a:gd name="T2" fmla="*/ 0 w 352"/>
              <a:gd name="T3" fmla="*/ 0 h 293"/>
              <a:gd name="T4" fmla="*/ 351 w 352"/>
              <a:gd name="T5" fmla="*/ 0 h 293"/>
              <a:gd name="T6" fmla="*/ 351 w 352"/>
              <a:gd name="T7" fmla="*/ 292 h 293"/>
              <a:gd name="T8" fmla="*/ 0 w 352"/>
              <a:gd name="T9" fmla="*/ 292 h 2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2"/>
              <a:gd name="T16" fmla="*/ 0 h 293"/>
              <a:gd name="T17" fmla="*/ 352 w 352"/>
              <a:gd name="T18" fmla="*/ 293 h 2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2" h="293">
                <a:moveTo>
                  <a:pt x="0" y="292"/>
                </a:moveTo>
                <a:lnTo>
                  <a:pt x="0" y="0"/>
                </a:lnTo>
                <a:lnTo>
                  <a:pt x="351" y="0"/>
                </a:lnTo>
                <a:lnTo>
                  <a:pt x="351" y="292"/>
                </a:lnTo>
                <a:lnTo>
                  <a:pt x="0" y="292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Freeform 11"/>
          <p:cNvSpPr>
            <a:spLocks/>
          </p:cNvSpPr>
          <p:nvPr/>
        </p:nvSpPr>
        <p:spPr bwMode="auto">
          <a:xfrm>
            <a:off x="4645704" y="2928928"/>
            <a:ext cx="1588" cy="465138"/>
          </a:xfrm>
          <a:custGeom>
            <a:avLst/>
            <a:gdLst>
              <a:gd name="T0" fmla="*/ 0 w 1"/>
              <a:gd name="T1" fmla="*/ 0 h 293"/>
              <a:gd name="T2" fmla="*/ 0 w 1"/>
              <a:gd name="T3" fmla="*/ 292 h 293"/>
              <a:gd name="T4" fmla="*/ 0 w 1"/>
              <a:gd name="T5" fmla="*/ 0 h 293"/>
              <a:gd name="T6" fmla="*/ 0 60000 65536"/>
              <a:gd name="T7" fmla="*/ 0 60000 65536"/>
              <a:gd name="T8" fmla="*/ 0 60000 65536"/>
              <a:gd name="T9" fmla="*/ 0 w 1"/>
              <a:gd name="T10" fmla="*/ 0 h 293"/>
              <a:gd name="T11" fmla="*/ 1 w 1"/>
              <a:gd name="T12" fmla="*/ 293 h 2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3">
                <a:moveTo>
                  <a:pt x="0" y="0"/>
                </a:moveTo>
                <a:lnTo>
                  <a:pt x="0" y="292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Freeform 12"/>
          <p:cNvSpPr>
            <a:spLocks/>
          </p:cNvSpPr>
          <p:nvPr/>
        </p:nvSpPr>
        <p:spPr bwMode="auto">
          <a:xfrm>
            <a:off x="5109254" y="2928928"/>
            <a:ext cx="560388" cy="465138"/>
          </a:xfrm>
          <a:custGeom>
            <a:avLst/>
            <a:gdLst>
              <a:gd name="T0" fmla="*/ 0 w 353"/>
              <a:gd name="T1" fmla="*/ 292 h 293"/>
              <a:gd name="T2" fmla="*/ 0 w 353"/>
              <a:gd name="T3" fmla="*/ 0 h 293"/>
              <a:gd name="T4" fmla="*/ 352 w 353"/>
              <a:gd name="T5" fmla="*/ 0 h 293"/>
              <a:gd name="T6" fmla="*/ 352 w 353"/>
              <a:gd name="T7" fmla="*/ 292 h 293"/>
              <a:gd name="T8" fmla="*/ 0 w 353"/>
              <a:gd name="T9" fmla="*/ 292 h 2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3"/>
              <a:gd name="T16" fmla="*/ 0 h 293"/>
              <a:gd name="T17" fmla="*/ 353 w 353"/>
              <a:gd name="T18" fmla="*/ 293 h 2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3" h="293">
                <a:moveTo>
                  <a:pt x="0" y="292"/>
                </a:moveTo>
                <a:lnTo>
                  <a:pt x="0" y="0"/>
                </a:lnTo>
                <a:lnTo>
                  <a:pt x="352" y="0"/>
                </a:lnTo>
                <a:lnTo>
                  <a:pt x="352" y="292"/>
                </a:lnTo>
                <a:lnTo>
                  <a:pt x="0" y="292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Freeform 13"/>
          <p:cNvSpPr>
            <a:spLocks/>
          </p:cNvSpPr>
          <p:nvPr/>
        </p:nvSpPr>
        <p:spPr bwMode="auto">
          <a:xfrm>
            <a:off x="5201329" y="2928928"/>
            <a:ext cx="1588" cy="465138"/>
          </a:xfrm>
          <a:custGeom>
            <a:avLst/>
            <a:gdLst>
              <a:gd name="T0" fmla="*/ 0 w 1"/>
              <a:gd name="T1" fmla="*/ 0 h 293"/>
              <a:gd name="T2" fmla="*/ 0 w 1"/>
              <a:gd name="T3" fmla="*/ 292 h 293"/>
              <a:gd name="T4" fmla="*/ 0 w 1"/>
              <a:gd name="T5" fmla="*/ 0 h 293"/>
              <a:gd name="T6" fmla="*/ 0 60000 65536"/>
              <a:gd name="T7" fmla="*/ 0 60000 65536"/>
              <a:gd name="T8" fmla="*/ 0 60000 65536"/>
              <a:gd name="T9" fmla="*/ 0 w 1"/>
              <a:gd name="T10" fmla="*/ 0 h 293"/>
              <a:gd name="T11" fmla="*/ 1 w 1"/>
              <a:gd name="T12" fmla="*/ 293 h 2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3">
                <a:moveTo>
                  <a:pt x="0" y="0"/>
                </a:moveTo>
                <a:lnTo>
                  <a:pt x="0" y="292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Freeform 14"/>
          <p:cNvSpPr>
            <a:spLocks/>
          </p:cNvSpPr>
          <p:nvPr/>
        </p:nvSpPr>
        <p:spPr bwMode="auto">
          <a:xfrm>
            <a:off x="5668054" y="2928928"/>
            <a:ext cx="93663" cy="465138"/>
          </a:xfrm>
          <a:custGeom>
            <a:avLst/>
            <a:gdLst>
              <a:gd name="T0" fmla="*/ 0 w 59"/>
              <a:gd name="T1" fmla="*/ 292 h 293"/>
              <a:gd name="T2" fmla="*/ 0 w 59"/>
              <a:gd name="T3" fmla="*/ 0 h 293"/>
              <a:gd name="T4" fmla="*/ 58 w 59"/>
              <a:gd name="T5" fmla="*/ 0 h 293"/>
              <a:gd name="T6" fmla="*/ 58 w 59"/>
              <a:gd name="T7" fmla="*/ 292 h 293"/>
              <a:gd name="T8" fmla="*/ 0 w 59"/>
              <a:gd name="T9" fmla="*/ 292 h 2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9"/>
              <a:gd name="T16" fmla="*/ 0 h 293"/>
              <a:gd name="T17" fmla="*/ 59 w 59"/>
              <a:gd name="T18" fmla="*/ 293 h 2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9" h="293">
                <a:moveTo>
                  <a:pt x="0" y="292"/>
                </a:moveTo>
                <a:lnTo>
                  <a:pt x="0" y="0"/>
                </a:lnTo>
                <a:lnTo>
                  <a:pt x="58" y="0"/>
                </a:lnTo>
                <a:lnTo>
                  <a:pt x="58" y="292"/>
                </a:lnTo>
                <a:lnTo>
                  <a:pt x="0" y="292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Freeform 15"/>
          <p:cNvSpPr>
            <a:spLocks/>
          </p:cNvSpPr>
          <p:nvPr/>
        </p:nvSpPr>
        <p:spPr bwMode="auto">
          <a:xfrm>
            <a:off x="7199992" y="4364028"/>
            <a:ext cx="373063" cy="373063"/>
          </a:xfrm>
          <a:custGeom>
            <a:avLst/>
            <a:gdLst>
              <a:gd name="T0" fmla="*/ 0 w 235"/>
              <a:gd name="T1" fmla="*/ 234 h 235"/>
              <a:gd name="T2" fmla="*/ 0 w 235"/>
              <a:gd name="T3" fmla="*/ 0 h 235"/>
              <a:gd name="T4" fmla="*/ 234 w 235"/>
              <a:gd name="T5" fmla="*/ 0 h 235"/>
              <a:gd name="T6" fmla="*/ 234 w 235"/>
              <a:gd name="T7" fmla="*/ 234 h 235"/>
              <a:gd name="T8" fmla="*/ 0 w 235"/>
              <a:gd name="T9" fmla="*/ 234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Freeform 16"/>
          <p:cNvSpPr>
            <a:spLocks/>
          </p:cNvSpPr>
          <p:nvPr/>
        </p:nvSpPr>
        <p:spPr bwMode="auto">
          <a:xfrm>
            <a:off x="7571467" y="4364028"/>
            <a:ext cx="373063" cy="373063"/>
          </a:xfrm>
          <a:custGeom>
            <a:avLst/>
            <a:gdLst>
              <a:gd name="T0" fmla="*/ 0 w 235"/>
              <a:gd name="T1" fmla="*/ 234 h 235"/>
              <a:gd name="T2" fmla="*/ 0 w 235"/>
              <a:gd name="T3" fmla="*/ 0 h 235"/>
              <a:gd name="T4" fmla="*/ 234 w 235"/>
              <a:gd name="T5" fmla="*/ 0 h 235"/>
              <a:gd name="T6" fmla="*/ 234 w 235"/>
              <a:gd name="T7" fmla="*/ 234 h 235"/>
              <a:gd name="T8" fmla="*/ 0 w 235"/>
              <a:gd name="T9" fmla="*/ 234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7" name="Freeform 17"/>
          <p:cNvSpPr>
            <a:spLocks/>
          </p:cNvSpPr>
          <p:nvPr/>
        </p:nvSpPr>
        <p:spPr bwMode="auto">
          <a:xfrm>
            <a:off x="7942942" y="4364028"/>
            <a:ext cx="374650" cy="373063"/>
          </a:xfrm>
          <a:custGeom>
            <a:avLst/>
            <a:gdLst>
              <a:gd name="T0" fmla="*/ 0 w 236"/>
              <a:gd name="T1" fmla="*/ 234 h 235"/>
              <a:gd name="T2" fmla="*/ 0 w 236"/>
              <a:gd name="T3" fmla="*/ 0 h 235"/>
              <a:gd name="T4" fmla="*/ 235 w 236"/>
              <a:gd name="T5" fmla="*/ 0 h 235"/>
              <a:gd name="T6" fmla="*/ 235 w 236"/>
              <a:gd name="T7" fmla="*/ 234 h 235"/>
              <a:gd name="T8" fmla="*/ 0 w 236"/>
              <a:gd name="T9" fmla="*/ 234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6"/>
              <a:gd name="T16" fmla="*/ 0 h 235"/>
              <a:gd name="T17" fmla="*/ 236 w 236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6" h="235">
                <a:moveTo>
                  <a:pt x="0" y="234"/>
                </a:moveTo>
                <a:lnTo>
                  <a:pt x="0" y="0"/>
                </a:lnTo>
                <a:lnTo>
                  <a:pt x="235" y="0"/>
                </a:lnTo>
                <a:lnTo>
                  <a:pt x="235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" name="Freeform 18"/>
          <p:cNvSpPr>
            <a:spLocks/>
          </p:cNvSpPr>
          <p:nvPr/>
        </p:nvSpPr>
        <p:spPr bwMode="auto">
          <a:xfrm>
            <a:off x="8316004" y="4364028"/>
            <a:ext cx="371475" cy="373063"/>
          </a:xfrm>
          <a:custGeom>
            <a:avLst/>
            <a:gdLst>
              <a:gd name="T0" fmla="*/ 0 w 234"/>
              <a:gd name="T1" fmla="*/ 234 h 235"/>
              <a:gd name="T2" fmla="*/ 0 w 234"/>
              <a:gd name="T3" fmla="*/ 0 h 235"/>
              <a:gd name="T4" fmla="*/ 233 w 234"/>
              <a:gd name="T5" fmla="*/ 0 h 235"/>
              <a:gd name="T6" fmla="*/ 233 w 234"/>
              <a:gd name="T7" fmla="*/ 234 h 235"/>
              <a:gd name="T8" fmla="*/ 0 w 234"/>
              <a:gd name="T9" fmla="*/ 234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4"/>
              <a:gd name="T16" fmla="*/ 0 h 235"/>
              <a:gd name="T17" fmla="*/ 234 w 234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4" h="235">
                <a:moveTo>
                  <a:pt x="0" y="234"/>
                </a:moveTo>
                <a:lnTo>
                  <a:pt x="0" y="0"/>
                </a:lnTo>
                <a:lnTo>
                  <a:pt x="233" y="0"/>
                </a:lnTo>
                <a:lnTo>
                  <a:pt x="233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" name="Freeform 19"/>
          <p:cNvSpPr>
            <a:spLocks/>
          </p:cNvSpPr>
          <p:nvPr/>
        </p:nvSpPr>
        <p:spPr bwMode="auto">
          <a:xfrm>
            <a:off x="511854" y="4364028"/>
            <a:ext cx="373063" cy="373063"/>
          </a:xfrm>
          <a:custGeom>
            <a:avLst/>
            <a:gdLst>
              <a:gd name="T0" fmla="*/ 0 w 235"/>
              <a:gd name="T1" fmla="*/ 234 h 235"/>
              <a:gd name="T2" fmla="*/ 0 w 235"/>
              <a:gd name="T3" fmla="*/ 0 h 235"/>
              <a:gd name="T4" fmla="*/ 234 w 235"/>
              <a:gd name="T5" fmla="*/ 0 h 235"/>
              <a:gd name="T6" fmla="*/ 234 w 235"/>
              <a:gd name="T7" fmla="*/ 234 h 235"/>
              <a:gd name="T8" fmla="*/ 0 w 235"/>
              <a:gd name="T9" fmla="*/ 234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Freeform 20"/>
          <p:cNvSpPr>
            <a:spLocks/>
          </p:cNvSpPr>
          <p:nvPr/>
        </p:nvSpPr>
        <p:spPr bwMode="auto">
          <a:xfrm>
            <a:off x="883329" y="4364028"/>
            <a:ext cx="373063" cy="373063"/>
          </a:xfrm>
          <a:custGeom>
            <a:avLst/>
            <a:gdLst>
              <a:gd name="T0" fmla="*/ 0 w 235"/>
              <a:gd name="T1" fmla="*/ 234 h 235"/>
              <a:gd name="T2" fmla="*/ 0 w 235"/>
              <a:gd name="T3" fmla="*/ 0 h 235"/>
              <a:gd name="T4" fmla="*/ 234 w 235"/>
              <a:gd name="T5" fmla="*/ 0 h 235"/>
              <a:gd name="T6" fmla="*/ 234 w 235"/>
              <a:gd name="T7" fmla="*/ 234 h 235"/>
              <a:gd name="T8" fmla="*/ 0 w 235"/>
              <a:gd name="T9" fmla="*/ 234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" name="Freeform 21"/>
          <p:cNvSpPr>
            <a:spLocks/>
          </p:cNvSpPr>
          <p:nvPr/>
        </p:nvSpPr>
        <p:spPr bwMode="auto">
          <a:xfrm>
            <a:off x="1254804" y="4364028"/>
            <a:ext cx="373063" cy="373063"/>
          </a:xfrm>
          <a:custGeom>
            <a:avLst/>
            <a:gdLst>
              <a:gd name="T0" fmla="*/ 0 w 235"/>
              <a:gd name="T1" fmla="*/ 234 h 235"/>
              <a:gd name="T2" fmla="*/ 0 w 235"/>
              <a:gd name="T3" fmla="*/ 0 h 235"/>
              <a:gd name="T4" fmla="*/ 234 w 235"/>
              <a:gd name="T5" fmla="*/ 0 h 235"/>
              <a:gd name="T6" fmla="*/ 234 w 235"/>
              <a:gd name="T7" fmla="*/ 234 h 235"/>
              <a:gd name="T8" fmla="*/ 0 w 235"/>
              <a:gd name="T9" fmla="*/ 234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Freeform 22"/>
          <p:cNvSpPr>
            <a:spLocks/>
          </p:cNvSpPr>
          <p:nvPr/>
        </p:nvSpPr>
        <p:spPr bwMode="auto">
          <a:xfrm>
            <a:off x="1626279" y="4364028"/>
            <a:ext cx="373063" cy="373063"/>
          </a:xfrm>
          <a:custGeom>
            <a:avLst/>
            <a:gdLst>
              <a:gd name="T0" fmla="*/ 0 w 235"/>
              <a:gd name="T1" fmla="*/ 234 h 235"/>
              <a:gd name="T2" fmla="*/ 0 w 235"/>
              <a:gd name="T3" fmla="*/ 0 h 235"/>
              <a:gd name="T4" fmla="*/ 234 w 235"/>
              <a:gd name="T5" fmla="*/ 0 h 235"/>
              <a:gd name="T6" fmla="*/ 234 w 235"/>
              <a:gd name="T7" fmla="*/ 234 h 235"/>
              <a:gd name="T8" fmla="*/ 0 w 235"/>
              <a:gd name="T9" fmla="*/ 234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" name="Freeform 23"/>
          <p:cNvSpPr>
            <a:spLocks/>
          </p:cNvSpPr>
          <p:nvPr/>
        </p:nvSpPr>
        <p:spPr bwMode="auto">
          <a:xfrm>
            <a:off x="2183492" y="4364028"/>
            <a:ext cx="373063" cy="373063"/>
          </a:xfrm>
          <a:custGeom>
            <a:avLst/>
            <a:gdLst>
              <a:gd name="T0" fmla="*/ 0 w 235"/>
              <a:gd name="T1" fmla="*/ 234 h 235"/>
              <a:gd name="T2" fmla="*/ 0 w 235"/>
              <a:gd name="T3" fmla="*/ 0 h 235"/>
              <a:gd name="T4" fmla="*/ 234 w 235"/>
              <a:gd name="T5" fmla="*/ 0 h 235"/>
              <a:gd name="T6" fmla="*/ 234 w 235"/>
              <a:gd name="T7" fmla="*/ 234 h 235"/>
              <a:gd name="T8" fmla="*/ 0 w 235"/>
              <a:gd name="T9" fmla="*/ 234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" name="Freeform 24"/>
          <p:cNvSpPr>
            <a:spLocks/>
          </p:cNvSpPr>
          <p:nvPr/>
        </p:nvSpPr>
        <p:spPr bwMode="auto">
          <a:xfrm>
            <a:off x="2554967" y="4364028"/>
            <a:ext cx="373063" cy="373063"/>
          </a:xfrm>
          <a:custGeom>
            <a:avLst/>
            <a:gdLst>
              <a:gd name="T0" fmla="*/ 0 w 235"/>
              <a:gd name="T1" fmla="*/ 234 h 235"/>
              <a:gd name="T2" fmla="*/ 0 w 235"/>
              <a:gd name="T3" fmla="*/ 0 h 235"/>
              <a:gd name="T4" fmla="*/ 234 w 235"/>
              <a:gd name="T5" fmla="*/ 0 h 235"/>
              <a:gd name="T6" fmla="*/ 234 w 235"/>
              <a:gd name="T7" fmla="*/ 234 h 235"/>
              <a:gd name="T8" fmla="*/ 0 w 235"/>
              <a:gd name="T9" fmla="*/ 234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" name="Freeform 25"/>
          <p:cNvSpPr>
            <a:spLocks/>
          </p:cNvSpPr>
          <p:nvPr/>
        </p:nvSpPr>
        <p:spPr bwMode="auto">
          <a:xfrm>
            <a:off x="2926442" y="4364028"/>
            <a:ext cx="373063" cy="373063"/>
          </a:xfrm>
          <a:custGeom>
            <a:avLst/>
            <a:gdLst>
              <a:gd name="T0" fmla="*/ 0 w 235"/>
              <a:gd name="T1" fmla="*/ 234 h 235"/>
              <a:gd name="T2" fmla="*/ 0 w 235"/>
              <a:gd name="T3" fmla="*/ 0 h 235"/>
              <a:gd name="T4" fmla="*/ 234 w 235"/>
              <a:gd name="T5" fmla="*/ 0 h 235"/>
              <a:gd name="T6" fmla="*/ 234 w 235"/>
              <a:gd name="T7" fmla="*/ 234 h 235"/>
              <a:gd name="T8" fmla="*/ 0 w 235"/>
              <a:gd name="T9" fmla="*/ 234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" name="Freeform 26"/>
          <p:cNvSpPr>
            <a:spLocks/>
          </p:cNvSpPr>
          <p:nvPr/>
        </p:nvSpPr>
        <p:spPr bwMode="auto">
          <a:xfrm>
            <a:off x="3297917" y="4364028"/>
            <a:ext cx="373063" cy="373063"/>
          </a:xfrm>
          <a:custGeom>
            <a:avLst/>
            <a:gdLst>
              <a:gd name="T0" fmla="*/ 0 w 235"/>
              <a:gd name="T1" fmla="*/ 234 h 235"/>
              <a:gd name="T2" fmla="*/ 0 w 235"/>
              <a:gd name="T3" fmla="*/ 0 h 235"/>
              <a:gd name="T4" fmla="*/ 234 w 235"/>
              <a:gd name="T5" fmla="*/ 0 h 235"/>
              <a:gd name="T6" fmla="*/ 234 w 235"/>
              <a:gd name="T7" fmla="*/ 234 h 235"/>
              <a:gd name="T8" fmla="*/ 0 w 235"/>
              <a:gd name="T9" fmla="*/ 234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" name="Freeform 27"/>
          <p:cNvSpPr>
            <a:spLocks/>
          </p:cNvSpPr>
          <p:nvPr/>
        </p:nvSpPr>
        <p:spPr bwMode="auto">
          <a:xfrm>
            <a:off x="3855129" y="4364028"/>
            <a:ext cx="373063" cy="373063"/>
          </a:xfrm>
          <a:custGeom>
            <a:avLst/>
            <a:gdLst>
              <a:gd name="T0" fmla="*/ 0 w 235"/>
              <a:gd name="T1" fmla="*/ 234 h 235"/>
              <a:gd name="T2" fmla="*/ 0 w 235"/>
              <a:gd name="T3" fmla="*/ 0 h 235"/>
              <a:gd name="T4" fmla="*/ 234 w 235"/>
              <a:gd name="T5" fmla="*/ 0 h 235"/>
              <a:gd name="T6" fmla="*/ 234 w 235"/>
              <a:gd name="T7" fmla="*/ 234 h 235"/>
              <a:gd name="T8" fmla="*/ 0 w 235"/>
              <a:gd name="T9" fmla="*/ 234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" name="Freeform 28"/>
          <p:cNvSpPr>
            <a:spLocks/>
          </p:cNvSpPr>
          <p:nvPr/>
        </p:nvSpPr>
        <p:spPr bwMode="auto">
          <a:xfrm>
            <a:off x="4226604" y="4364028"/>
            <a:ext cx="373063" cy="373063"/>
          </a:xfrm>
          <a:custGeom>
            <a:avLst/>
            <a:gdLst>
              <a:gd name="T0" fmla="*/ 0 w 235"/>
              <a:gd name="T1" fmla="*/ 234 h 235"/>
              <a:gd name="T2" fmla="*/ 0 w 235"/>
              <a:gd name="T3" fmla="*/ 0 h 235"/>
              <a:gd name="T4" fmla="*/ 234 w 235"/>
              <a:gd name="T5" fmla="*/ 0 h 235"/>
              <a:gd name="T6" fmla="*/ 234 w 235"/>
              <a:gd name="T7" fmla="*/ 234 h 235"/>
              <a:gd name="T8" fmla="*/ 0 w 235"/>
              <a:gd name="T9" fmla="*/ 234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" name="Freeform 29"/>
          <p:cNvSpPr>
            <a:spLocks/>
          </p:cNvSpPr>
          <p:nvPr/>
        </p:nvSpPr>
        <p:spPr bwMode="auto">
          <a:xfrm>
            <a:off x="4598079" y="4364028"/>
            <a:ext cx="374650" cy="373063"/>
          </a:xfrm>
          <a:custGeom>
            <a:avLst/>
            <a:gdLst>
              <a:gd name="T0" fmla="*/ 0 w 236"/>
              <a:gd name="T1" fmla="*/ 234 h 235"/>
              <a:gd name="T2" fmla="*/ 0 w 236"/>
              <a:gd name="T3" fmla="*/ 0 h 235"/>
              <a:gd name="T4" fmla="*/ 235 w 236"/>
              <a:gd name="T5" fmla="*/ 0 h 235"/>
              <a:gd name="T6" fmla="*/ 235 w 236"/>
              <a:gd name="T7" fmla="*/ 234 h 235"/>
              <a:gd name="T8" fmla="*/ 0 w 236"/>
              <a:gd name="T9" fmla="*/ 234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6"/>
              <a:gd name="T16" fmla="*/ 0 h 235"/>
              <a:gd name="T17" fmla="*/ 236 w 236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6" h="235">
                <a:moveTo>
                  <a:pt x="0" y="234"/>
                </a:moveTo>
                <a:lnTo>
                  <a:pt x="0" y="0"/>
                </a:lnTo>
                <a:lnTo>
                  <a:pt x="235" y="0"/>
                </a:lnTo>
                <a:lnTo>
                  <a:pt x="235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" name="Freeform 30"/>
          <p:cNvSpPr>
            <a:spLocks/>
          </p:cNvSpPr>
          <p:nvPr/>
        </p:nvSpPr>
        <p:spPr bwMode="auto">
          <a:xfrm>
            <a:off x="4971142" y="4364028"/>
            <a:ext cx="373063" cy="373063"/>
          </a:xfrm>
          <a:custGeom>
            <a:avLst/>
            <a:gdLst>
              <a:gd name="T0" fmla="*/ 0 w 235"/>
              <a:gd name="T1" fmla="*/ 234 h 235"/>
              <a:gd name="T2" fmla="*/ 0 w 235"/>
              <a:gd name="T3" fmla="*/ 0 h 235"/>
              <a:gd name="T4" fmla="*/ 234 w 235"/>
              <a:gd name="T5" fmla="*/ 0 h 235"/>
              <a:gd name="T6" fmla="*/ 234 w 235"/>
              <a:gd name="T7" fmla="*/ 234 h 235"/>
              <a:gd name="T8" fmla="*/ 0 w 235"/>
              <a:gd name="T9" fmla="*/ 234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1" name="Freeform 31"/>
          <p:cNvSpPr>
            <a:spLocks/>
          </p:cNvSpPr>
          <p:nvPr/>
        </p:nvSpPr>
        <p:spPr bwMode="auto">
          <a:xfrm>
            <a:off x="5526767" y="4364028"/>
            <a:ext cx="374650" cy="373063"/>
          </a:xfrm>
          <a:custGeom>
            <a:avLst/>
            <a:gdLst>
              <a:gd name="T0" fmla="*/ 0 w 236"/>
              <a:gd name="T1" fmla="*/ 234 h 235"/>
              <a:gd name="T2" fmla="*/ 0 w 236"/>
              <a:gd name="T3" fmla="*/ 0 h 235"/>
              <a:gd name="T4" fmla="*/ 235 w 236"/>
              <a:gd name="T5" fmla="*/ 0 h 235"/>
              <a:gd name="T6" fmla="*/ 235 w 236"/>
              <a:gd name="T7" fmla="*/ 234 h 235"/>
              <a:gd name="T8" fmla="*/ 0 w 236"/>
              <a:gd name="T9" fmla="*/ 234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6"/>
              <a:gd name="T16" fmla="*/ 0 h 235"/>
              <a:gd name="T17" fmla="*/ 236 w 236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6" h="235">
                <a:moveTo>
                  <a:pt x="0" y="234"/>
                </a:moveTo>
                <a:lnTo>
                  <a:pt x="0" y="0"/>
                </a:lnTo>
                <a:lnTo>
                  <a:pt x="235" y="0"/>
                </a:lnTo>
                <a:lnTo>
                  <a:pt x="235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2" name="Freeform 32"/>
          <p:cNvSpPr>
            <a:spLocks/>
          </p:cNvSpPr>
          <p:nvPr/>
        </p:nvSpPr>
        <p:spPr bwMode="auto">
          <a:xfrm>
            <a:off x="5899829" y="4364028"/>
            <a:ext cx="373063" cy="373063"/>
          </a:xfrm>
          <a:custGeom>
            <a:avLst/>
            <a:gdLst>
              <a:gd name="T0" fmla="*/ 0 w 235"/>
              <a:gd name="T1" fmla="*/ 234 h 235"/>
              <a:gd name="T2" fmla="*/ 0 w 235"/>
              <a:gd name="T3" fmla="*/ 0 h 235"/>
              <a:gd name="T4" fmla="*/ 234 w 235"/>
              <a:gd name="T5" fmla="*/ 0 h 235"/>
              <a:gd name="T6" fmla="*/ 234 w 235"/>
              <a:gd name="T7" fmla="*/ 234 h 235"/>
              <a:gd name="T8" fmla="*/ 0 w 235"/>
              <a:gd name="T9" fmla="*/ 234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" name="Freeform 33"/>
          <p:cNvSpPr>
            <a:spLocks/>
          </p:cNvSpPr>
          <p:nvPr/>
        </p:nvSpPr>
        <p:spPr bwMode="auto">
          <a:xfrm>
            <a:off x="6271304" y="4364028"/>
            <a:ext cx="373063" cy="373063"/>
          </a:xfrm>
          <a:custGeom>
            <a:avLst/>
            <a:gdLst>
              <a:gd name="T0" fmla="*/ 0 w 235"/>
              <a:gd name="T1" fmla="*/ 234 h 235"/>
              <a:gd name="T2" fmla="*/ 0 w 235"/>
              <a:gd name="T3" fmla="*/ 0 h 235"/>
              <a:gd name="T4" fmla="*/ 234 w 235"/>
              <a:gd name="T5" fmla="*/ 0 h 235"/>
              <a:gd name="T6" fmla="*/ 234 w 235"/>
              <a:gd name="T7" fmla="*/ 234 h 235"/>
              <a:gd name="T8" fmla="*/ 0 w 235"/>
              <a:gd name="T9" fmla="*/ 234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" name="Freeform 34"/>
          <p:cNvSpPr>
            <a:spLocks/>
          </p:cNvSpPr>
          <p:nvPr/>
        </p:nvSpPr>
        <p:spPr bwMode="auto">
          <a:xfrm>
            <a:off x="6642779" y="4364028"/>
            <a:ext cx="373063" cy="373063"/>
          </a:xfrm>
          <a:custGeom>
            <a:avLst/>
            <a:gdLst>
              <a:gd name="T0" fmla="*/ 0 w 235"/>
              <a:gd name="T1" fmla="*/ 234 h 235"/>
              <a:gd name="T2" fmla="*/ 0 w 235"/>
              <a:gd name="T3" fmla="*/ 0 h 235"/>
              <a:gd name="T4" fmla="*/ 234 w 235"/>
              <a:gd name="T5" fmla="*/ 0 h 235"/>
              <a:gd name="T6" fmla="*/ 234 w 235"/>
              <a:gd name="T7" fmla="*/ 234 h 235"/>
              <a:gd name="T8" fmla="*/ 0 w 235"/>
              <a:gd name="T9" fmla="*/ 234 h 2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"/>
              <a:gd name="T16" fmla="*/ 0 h 235"/>
              <a:gd name="T17" fmla="*/ 235 w 235"/>
              <a:gd name="T18" fmla="*/ 235 h 2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" h="235">
                <a:moveTo>
                  <a:pt x="0" y="234"/>
                </a:moveTo>
                <a:lnTo>
                  <a:pt x="0" y="0"/>
                </a:lnTo>
                <a:lnTo>
                  <a:pt x="234" y="0"/>
                </a:lnTo>
                <a:lnTo>
                  <a:pt x="234" y="234"/>
                </a:lnTo>
                <a:lnTo>
                  <a:pt x="0" y="23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5" name="Freeform 35"/>
          <p:cNvSpPr>
            <a:spLocks/>
          </p:cNvSpPr>
          <p:nvPr/>
        </p:nvSpPr>
        <p:spPr bwMode="auto">
          <a:xfrm>
            <a:off x="1265917" y="3333741"/>
            <a:ext cx="2219325" cy="1009650"/>
          </a:xfrm>
          <a:custGeom>
            <a:avLst/>
            <a:gdLst>
              <a:gd name="T0" fmla="*/ 1397 w 1398"/>
              <a:gd name="T1" fmla="*/ 0 h 636"/>
              <a:gd name="T2" fmla="*/ 0 w 1398"/>
              <a:gd name="T3" fmla="*/ 635 h 636"/>
              <a:gd name="T4" fmla="*/ 1397 w 1398"/>
              <a:gd name="T5" fmla="*/ 0 h 636"/>
              <a:gd name="T6" fmla="*/ 0 60000 65536"/>
              <a:gd name="T7" fmla="*/ 0 60000 65536"/>
              <a:gd name="T8" fmla="*/ 0 60000 65536"/>
              <a:gd name="T9" fmla="*/ 0 w 1398"/>
              <a:gd name="T10" fmla="*/ 0 h 636"/>
              <a:gd name="T11" fmla="*/ 1398 w 1398"/>
              <a:gd name="T12" fmla="*/ 636 h 6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98" h="636">
                <a:moveTo>
                  <a:pt x="1397" y="0"/>
                </a:moveTo>
                <a:lnTo>
                  <a:pt x="0" y="635"/>
                </a:lnTo>
                <a:lnTo>
                  <a:pt x="1397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1" name="Freeform 36"/>
          <p:cNvSpPr>
            <a:spLocks/>
          </p:cNvSpPr>
          <p:nvPr/>
        </p:nvSpPr>
        <p:spPr bwMode="auto">
          <a:xfrm>
            <a:off x="1265917" y="4267191"/>
            <a:ext cx="119063" cy="76200"/>
          </a:xfrm>
          <a:custGeom>
            <a:avLst/>
            <a:gdLst>
              <a:gd name="T0" fmla="*/ 74 w 75"/>
              <a:gd name="T1" fmla="*/ 33 h 48"/>
              <a:gd name="T2" fmla="*/ 0 w 75"/>
              <a:gd name="T3" fmla="*/ 47 h 48"/>
              <a:gd name="T4" fmla="*/ 59 w 75"/>
              <a:gd name="T5" fmla="*/ 0 h 48"/>
              <a:gd name="T6" fmla="*/ 74 w 75"/>
              <a:gd name="T7" fmla="*/ 33 h 48"/>
              <a:gd name="T8" fmla="*/ 0 60000 65536"/>
              <a:gd name="T9" fmla="*/ 0 60000 65536"/>
              <a:gd name="T10" fmla="*/ 0 60000 65536"/>
              <a:gd name="T11" fmla="*/ 0 60000 65536"/>
              <a:gd name="T12" fmla="*/ 0 w 75"/>
              <a:gd name="T13" fmla="*/ 0 h 48"/>
              <a:gd name="T14" fmla="*/ 75 w 75"/>
              <a:gd name="T15" fmla="*/ 48 h 4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5" h="48">
                <a:moveTo>
                  <a:pt x="74" y="33"/>
                </a:moveTo>
                <a:lnTo>
                  <a:pt x="0" y="47"/>
                </a:lnTo>
                <a:lnTo>
                  <a:pt x="59" y="0"/>
                </a:lnTo>
                <a:lnTo>
                  <a:pt x="74" y="33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" name="Freeform 37"/>
          <p:cNvSpPr>
            <a:spLocks/>
          </p:cNvSpPr>
          <p:nvPr/>
        </p:nvSpPr>
        <p:spPr bwMode="auto">
          <a:xfrm>
            <a:off x="2926442" y="3346441"/>
            <a:ext cx="1104900" cy="996950"/>
          </a:xfrm>
          <a:custGeom>
            <a:avLst/>
            <a:gdLst>
              <a:gd name="T0" fmla="*/ 695 w 696"/>
              <a:gd name="T1" fmla="*/ 0 h 628"/>
              <a:gd name="T2" fmla="*/ 0 w 696"/>
              <a:gd name="T3" fmla="*/ 627 h 628"/>
              <a:gd name="T4" fmla="*/ 695 w 696"/>
              <a:gd name="T5" fmla="*/ 0 h 628"/>
              <a:gd name="T6" fmla="*/ 0 60000 65536"/>
              <a:gd name="T7" fmla="*/ 0 60000 65536"/>
              <a:gd name="T8" fmla="*/ 0 60000 65536"/>
              <a:gd name="T9" fmla="*/ 0 w 696"/>
              <a:gd name="T10" fmla="*/ 0 h 628"/>
              <a:gd name="T11" fmla="*/ 696 w 696"/>
              <a:gd name="T12" fmla="*/ 628 h 6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96" h="628">
                <a:moveTo>
                  <a:pt x="695" y="0"/>
                </a:moveTo>
                <a:lnTo>
                  <a:pt x="0" y="627"/>
                </a:lnTo>
                <a:lnTo>
                  <a:pt x="695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" name="Freeform 38"/>
          <p:cNvSpPr>
            <a:spLocks/>
          </p:cNvSpPr>
          <p:nvPr/>
        </p:nvSpPr>
        <p:spPr bwMode="auto">
          <a:xfrm>
            <a:off x="2926442" y="4241791"/>
            <a:ext cx="107950" cy="101600"/>
          </a:xfrm>
          <a:custGeom>
            <a:avLst/>
            <a:gdLst>
              <a:gd name="T0" fmla="*/ 67 w 68"/>
              <a:gd name="T1" fmla="*/ 27 h 64"/>
              <a:gd name="T2" fmla="*/ 0 w 68"/>
              <a:gd name="T3" fmla="*/ 63 h 64"/>
              <a:gd name="T4" fmla="*/ 42 w 68"/>
              <a:gd name="T5" fmla="*/ 0 h 64"/>
              <a:gd name="T6" fmla="*/ 67 w 68"/>
              <a:gd name="T7" fmla="*/ 27 h 64"/>
              <a:gd name="T8" fmla="*/ 0 60000 65536"/>
              <a:gd name="T9" fmla="*/ 0 60000 65536"/>
              <a:gd name="T10" fmla="*/ 0 60000 65536"/>
              <a:gd name="T11" fmla="*/ 0 60000 65536"/>
              <a:gd name="T12" fmla="*/ 0 w 68"/>
              <a:gd name="T13" fmla="*/ 0 h 64"/>
              <a:gd name="T14" fmla="*/ 68 w 68"/>
              <a:gd name="T15" fmla="*/ 64 h 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8" h="64">
                <a:moveTo>
                  <a:pt x="67" y="27"/>
                </a:moveTo>
                <a:lnTo>
                  <a:pt x="0" y="63"/>
                </a:lnTo>
                <a:lnTo>
                  <a:pt x="42" y="0"/>
                </a:lnTo>
                <a:lnTo>
                  <a:pt x="67" y="27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" name="Freeform 39"/>
          <p:cNvSpPr>
            <a:spLocks/>
          </p:cNvSpPr>
          <p:nvPr/>
        </p:nvSpPr>
        <p:spPr bwMode="auto">
          <a:xfrm>
            <a:off x="4586967" y="3346441"/>
            <a:ext cx="1588" cy="985838"/>
          </a:xfrm>
          <a:custGeom>
            <a:avLst/>
            <a:gdLst>
              <a:gd name="T0" fmla="*/ 0 w 1"/>
              <a:gd name="T1" fmla="*/ 0 h 621"/>
              <a:gd name="T2" fmla="*/ 0 w 1"/>
              <a:gd name="T3" fmla="*/ 620 h 621"/>
              <a:gd name="T4" fmla="*/ 0 w 1"/>
              <a:gd name="T5" fmla="*/ 0 h 621"/>
              <a:gd name="T6" fmla="*/ 0 60000 65536"/>
              <a:gd name="T7" fmla="*/ 0 60000 65536"/>
              <a:gd name="T8" fmla="*/ 0 60000 65536"/>
              <a:gd name="T9" fmla="*/ 0 w 1"/>
              <a:gd name="T10" fmla="*/ 0 h 621"/>
              <a:gd name="T11" fmla="*/ 1 w 1"/>
              <a:gd name="T12" fmla="*/ 621 h 62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621">
                <a:moveTo>
                  <a:pt x="0" y="0"/>
                </a:moveTo>
                <a:lnTo>
                  <a:pt x="0" y="620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8" name="Freeform 40"/>
          <p:cNvSpPr>
            <a:spLocks/>
          </p:cNvSpPr>
          <p:nvPr/>
        </p:nvSpPr>
        <p:spPr bwMode="auto">
          <a:xfrm>
            <a:off x="4556804" y="4213216"/>
            <a:ext cx="60325" cy="119063"/>
          </a:xfrm>
          <a:custGeom>
            <a:avLst/>
            <a:gdLst>
              <a:gd name="T0" fmla="*/ 37 w 38"/>
              <a:gd name="T1" fmla="*/ 0 h 75"/>
              <a:gd name="T2" fmla="*/ 19 w 38"/>
              <a:gd name="T3" fmla="*/ 74 h 75"/>
              <a:gd name="T4" fmla="*/ 0 w 38"/>
              <a:gd name="T5" fmla="*/ 0 h 75"/>
              <a:gd name="T6" fmla="*/ 37 w 38"/>
              <a:gd name="T7" fmla="*/ 0 h 75"/>
              <a:gd name="T8" fmla="*/ 0 60000 65536"/>
              <a:gd name="T9" fmla="*/ 0 60000 65536"/>
              <a:gd name="T10" fmla="*/ 0 60000 65536"/>
              <a:gd name="T11" fmla="*/ 0 60000 65536"/>
              <a:gd name="T12" fmla="*/ 0 w 38"/>
              <a:gd name="T13" fmla="*/ 0 h 75"/>
              <a:gd name="T14" fmla="*/ 38 w 38"/>
              <a:gd name="T15" fmla="*/ 75 h 7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" h="75">
                <a:moveTo>
                  <a:pt x="37" y="0"/>
                </a:moveTo>
                <a:lnTo>
                  <a:pt x="19" y="74"/>
                </a:lnTo>
                <a:lnTo>
                  <a:pt x="0" y="0"/>
                </a:lnTo>
                <a:lnTo>
                  <a:pt x="37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9" name="Freeform 41"/>
          <p:cNvSpPr>
            <a:spLocks/>
          </p:cNvSpPr>
          <p:nvPr/>
        </p:nvSpPr>
        <p:spPr bwMode="auto">
          <a:xfrm>
            <a:off x="5155292" y="3333741"/>
            <a:ext cx="1093788" cy="998538"/>
          </a:xfrm>
          <a:custGeom>
            <a:avLst/>
            <a:gdLst>
              <a:gd name="T0" fmla="*/ 0 w 689"/>
              <a:gd name="T1" fmla="*/ 0 h 629"/>
              <a:gd name="T2" fmla="*/ 688 w 689"/>
              <a:gd name="T3" fmla="*/ 628 h 629"/>
              <a:gd name="T4" fmla="*/ 0 w 689"/>
              <a:gd name="T5" fmla="*/ 0 h 629"/>
              <a:gd name="T6" fmla="*/ 0 60000 65536"/>
              <a:gd name="T7" fmla="*/ 0 60000 65536"/>
              <a:gd name="T8" fmla="*/ 0 60000 65536"/>
              <a:gd name="T9" fmla="*/ 0 w 689"/>
              <a:gd name="T10" fmla="*/ 0 h 629"/>
              <a:gd name="T11" fmla="*/ 689 w 689"/>
              <a:gd name="T12" fmla="*/ 629 h 62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89" h="629">
                <a:moveTo>
                  <a:pt x="0" y="0"/>
                </a:moveTo>
                <a:lnTo>
                  <a:pt x="688" y="628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0" name="Freeform 42"/>
          <p:cNvSpPr>
            <a:spLocks/>
          </p:cNvSpPr>
          <p:nvPr/>
        </p:nvSpPr>
        <p:spPr bwMode="auto">
          <a:xfrm>
            <a:off x="6142717" y="4230678"/>
            <a:ext cx="106363" cy="101600"/>
          </a:xfrm>
          <a:custGeom>
            <a:avLst/>
            <a:gdLst>
              <a:gd name="T0" fmla="*/ 25 w 67"/>
              <a:gd name="T1" fmla="*/ 0 h 64"/>
              <a:gd name="T2" fmla="*/ 66 w 67"/>
              <a:gd name="T3" fmla="*/ 63 h 64"/>
              <a:gd name="T4" fmla="*/ 0 w 67"/>
              <a:gd name="T5" fmla="*/ 27 h 64"/>
              <a:gd name="T6" fmla="*/ 25 w 67"/>
              <a:gd name="T7" fmla="*/ 0 h 64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64"/>
              <a:gd name="T14" fmla="*/ 67 w 67"/>
              <a:gd name="T15" fmla="*/ 64 h 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64">
                <a:moveTo>
                  <a:pt x="25" y="0"/>
                </a:moveTo>
                <a:lnTo>
                  <a:pt x="66" y="63"/>
                </a:lnTo>
                <a:lnTo>
                  <a:pt x="0" y="27"/>
                </a:lnTo>
                <a:lnTo>
                  <a:pt x="25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1" name="Freeform 43"/>
          <p:cNvSpPr>
            <a:spLocks/>
          </p:cNvSpPr>
          <p:nvPr/>
        </p:nvSpPr>
        <p:spPr bwMode="auto">
          <a:xfrm>
            <a:off x="5714092" y="3321041"/>
            <a:ext cx="2219325" cy="1011238"/>
          </a:xfrm>
          <a:custGeom>
            <a:avLst/>
            <a:gdLst>
              <a:gd name="T0" fmla="*/ 0 w 1398"/>
              <a:gd name="T1" fmla="*/ 0 h 637"/>
              <a:gd name="T2" fmla="*/ 1397 w 1398"/>
              <a:gd name="T3" fmla="*/ 636 h 637"/>
              <a:gd name="T4" fmla="*/ 0 w 1398"/>
              <a:gd name="T5" fmla="*/ 0 h 637"/>
              <a:gd name="T6" fmla="*/ 0 60000 65536"/>
              <a:gd name="T7" fmla="*/ 0 60000 65536"/>
              <a:gd name="T8" fmla="*/ 0 60000 65536"/>
              <a:gd name="T9" fmla="*/ 0 w 1398"/>
              <a:gd name="T10" fmla="*/ 0 h 637"/>
              <a:gd name="T11" fmla="*/ 1398 w 1398"/>
              <a:gd name="T12" fmla="*/ 637 h 63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98" h="637">
                <a:moveTo>
                  <a:pt x="0" y="0"/>
                </a:moveTo>
                <a:lnTo>
                  <a:pt x="1397" y="636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6" name="Freeform 44"/>
          <p:cNvSpPr>
            <a:spLocks/>
          </p:cNvSpPr>
          <p:nvPr/>
        </p:nvSpPr>
        <p:spPr bwMode="auto">
          <a:xfrm>
            <a:off x="7814354" y="4254491"/>
            <a:ext cx="119063" cy="77788"/>
          </a:xfrm>
          <a:custGeom>
            <a:avLst/>
            <a:gdLst>
              <a:gd name="T0" fmla="*/ 15 w 75"/>
              <a:gd name="T1" fmla="*/ 0 h 49"/>
              <a:gd name="T2" fmla="*/ 74 w 75"/>
              <a:gd name="T3" fmla="*/ 48 h 49"/>
              <a:gd name="T4" fmla="*/ 0 w 75"/>
              <a:gd name="T5" fmla="*/ 34 h 49"/>
              <a:gd name="T6" fmla="*/ 15 w 75"/>
              <a:gd name="T7" fmla="*/ 0 h 49"/>
              <a:gd name="T8" fmla="*/ 0 60000 65536"/>
              <a:gd name="T9" fmla="*/ 0 60000 65536"/>
              <a:gd name="T10" fmla="*/ 0 60000 65536"/>
              <a:gd name="T11" fmla="*/ 0 60000 65536"/>
              <a:gd name="T12" fmla="*/ 0 w 75"/>
              <a:gd name="T13" fmla="*/ 0 h 49"/>
              <a:gd name="T14" fmla="*/ 75 w 75"/>
              <a:gd name="T15" fmla="*/ 49 h 4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5" h="49">
                <a:moveTo>
                  <a:pt x="15" y="0"/>
                </a:moveTo>
                <a:lnTo>
                  <a:pt x="74" y="48"/>
                </a:lnTo>
                <a:lnTo>
                  <a:pt x="0" y="34"/>
                </a:lnTo>
                <a:lnTo>
                  <a:pt x="15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9" name="Rectangle 45"/>
          <p:cNvSpPr>
            <a:spLocks noChangeArrowheads="1"/>
          </p:cNvSpPr>
          <p:nvPr/>
        </p:nvSpPr>
        <p:spPr bwMode="auto">
          <a:xfrm>
            <a:off x="2962954" y="2454266"/>
            <a:ext cx="5889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u="none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240" name="Rectangle 46"/>
          <p:cNvSpPr>
            <a:spLocks noChangeArrowheads="1"/>
          </p:cNvSpPr>
          <p:nvPr/>
        </p:nvSpPr>
        <p:spPr bwMode="auto">
          <a:xfrm>
            <a:off x="4123417" y="3000366"/>
            <a:ext cx="3683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17</a:t>
            </a:r>
          </a:p>
        </p:txBody>
      </p:sp>
      <p:sp>
        <p:nvSpPr>
          <p:cNvPr id="241" name="Rectangle 47"/>
          <p:cNvSpPr>
            <a:spLocks noChangeArrowheads="1"/>
          </p:cNvSpPr>
          <p:nvPr/>
        </p:nvSpPr>
        <p:spPr bwMode="auto">
          <a:xfrm>
            <a:off x="4680629" y="2998778"/>
            <a:ext cx="3683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24</a:t>
            </a:r>
          </a:p>
        </p:txBody>
      </p:sp>
      <p:sp>
        <p:nvSpPr>
          <p:cNvPr id="242" name="Rectangle 48"/>
          <p:cNvSpPr>
            <a:spLocks noChangeArrowheads="1"/>
          </p:cNvSpPr>
          <p:nvPr/>
        </p:nvSpPr>
        <p:spPr bwMode="auto">
          <a:xfrm>
            <a:off x="5250542" y="2987666"/>
            <a:ext cx="3683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30</a:t>
            </a:r>
          </a:p>
        </p:txBody>
      </p:sp>
      <p:sp>
        <p:nvSpPr>
          <p:cNvPr id="243" name="Rectangle 49"/>
          <p:cNvSpPr>
            <a:spLocks noChangeArrowheads="1"/>
          </p:cNvSpPr>
          <p:nvPr/>
        </p:nvSpPr>
        <p:spPr bwMode="auto">
          <a:xfrm>
            <a:off x="511854" y="4378316"/>
            <a:ext cx="33972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2*</a:t>
            </a:r>
          </a:p>
        </p:txBody>
      </p:sp>
      <p:sp>
        <p:nvSpPr>
          <p:cNvPr id="244" name="Rectangle 50"/>
          <p:cNvSpPr>
            <a:spLocks noChangeArrowheads="1"/>
          </p:cNvSpPr>
          <p:nvPr/>
        </p:nvSpPr>
        <p:spPr bwMode="auto">
          <a:xfrm>
            <a:off x="892854" y="4367203"/>
            <a:ext cx="33972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3*</a:t>
            </a:r>
          </a:p>
        </p:txBody>
      </p:sp>
      <p:sp>
        <p:nvSpPr>
          <p:cNvPr id="245" name="Rectangle 51"/>
          <p:cNvSpPr>
            <a:spLocks noChangeArrowheads="1"/>
          </p:cNvSpPr>
          <p:nvPr/>
        </p:nvSpPr>
        <p:spPr bwMode="auto">
          <a:xfrm>
            <a:off x="1265917" y="4367203"/>
            <a:ext cx="33972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5*</a:t>
            </a:r>
          </a:p>
        </p:txBody>
      </p:sp>
      <p:sp>
        <p:nvSpPr>
          <p:cNvPr id="246" name="Rectangle 52"/>
          <p:cNvSpPr>
            <a:spLocks noChangeArrowheads="1"/>
          </p:cNvSpPr>
          <p:nvPr/>
        </p:nvSpPr>
        <p:spPr bwMode="auto">
          <a:xfrm>
            <a:off x="1637392" y="4378316"/>
            <a:ext cx="33972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7*</a:t>
            </a:r>
          </a:p>
        </p:txBody>
      </p:sp>
      <p:sp>
        <p:nvSpPr>
          <p:cNvPr id="247" name="Rectangle 53"/>
          <p:cNvSpPr>
            <a:spLocks noChangeArrowheads="1"/>
          </p:cNvSpPr>
          <p:nvPr/>
        </p:nvSpPr>
        <p:spPr bwMode="auto">
          <a:xfrm>
            <a:off x="2537504" y="4378316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>
                <a:solidFill>
                  <a:srgbClr val="000000"/>
                </a:solidFill>
                <a:latin typeface="Arial" pitchFamily="34" charset="0"/>
              </a:rPr>
              <a:t>14*</a:t>
            </a:r>
          </a:p>
        </p:txBody>
      </p:sp>
      <p:sp>
        <p:nvSpPr>
          <p:cNvPr id="248" name="Rectangle 54"/>
          <p:cNvSpPr>
            <a:spLocks noChangeArrowheads="1"/>
          </p:cNvSpPr>
          <p:nvPr/>
        </p:nvSpPr>
        <p:spPr bwMode="auto">
          <a:xfrm>
            <a:off x="2897867" y="4378316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16*</a:t>
            </a:r>
          </a:p>
        </p:txBody>
      </p:sp>
      <p:sp>
        <p:nvSpPr>
          <p:cNvPr id="249" name="Rectangle 55"/>
          <p:cNvSpPr>
            <a:spLocks noChangeArrowheads="1"/>
          </p:cNvSpPr>
          <p:nvPr/>
        </p:nvSpPr>
        <p:spPr bwMode="auto">
          <a:xfrm>
            <a:off x="3867829" y="4367203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19*</a:t>
            </a:r>
          </a:p>
        </p:txBody>
      </p:sp>
      <p:sp>
        <p:nvSpPr>
          <p:cNvPr id="250" name="Rectangle 56"/>
          <p:cNvSpPr>
            <a:spLocks noChangeArrowheads="1"/>
          </p:cNvSpPr>
          <p:nvPr/>
        </p:nvSpPr>
        <p:spPr bwMode="auto">
          <a:xfrm>
            <a:off x="4215492" y="4367203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20*</a:t>
            </a:r>
          </a:p>
        </p:txBody>
      </p:sp>
      <p:sp>
        <p:nvSpPr>
          <p:cNvPr id="251" name="Rectangle 57"/>
          <p:cNvSpPr>
            <a:spLocks noChangeArrowheads="1"/>
          </p:cNvSpPr>
          <p:nvPr/>
        </p:nvSpPr>
        <p:spPr bwMode="auto">
          <a:xfrm>
            <a:off x="4577442" y="4365616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22*</a:t>
            </a:r>
          </a:p>
        </p:txBody>
      </p:sp>
      <p:sp>
        <p:nvSpPr>
          <p:cNvPr id="252" name="Rectangle 58"/>
          <p:cNvSpPr>
            <a:spLocks noChangeArrowheads="1"/>
          </p:cNvSpPr>
          <p:nvPr/>
        </p:nvSpPr>
        <p:spPr bwMode="auto">
          <a:xfrm>
            <a:off x="5504542" y="4365616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24*</a:t>
            </a:r>
          </a:p>
        </p:txBody>
      </p:sp>
      <p:sp>
        <p:nvSpPr>
          <p:cNvPr id="253" name="Rectangle 59"/>
          <p:cNvSpPr>
            <a:spLocks noChangeArrowheads="1"/>
          </p:cNvSpPr>
          <p:nvPr/>
        </p:nvSpPr>
        <p:spPr bwMode="auto">
          <a:xfrm>
            <a:off x="5888717" y="4365616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27*</a:t>
            </a:r>
          </a:p>
        </p:txBody>
      </p:sp>
      <p:sp>
        <p:nvSpPr>
          <p:cNvPr id="254" name="Rectangle 60"/>
          <p:cNvSpPr>
            <a:spLocks noChangeArrowheads="1"/>
          </p:cNvSpPr>
          <p:nvPr/>
        </p:nvSpPr>
        <p:spPr bwMode="auto">
          <a:xfrm>
            <a:off x="6236379" y="4376728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29*</a:t>
            </a:r>
          </a:p>
        </p:txBody>
      </p:sp>
      <p:sp>
        <p:nvSpPr>
          <p:cNvPr id="255" name="Rectangle 61"/>
          <p:cNvSpPr>
            <a:spLocks noChangeArrowheads="1"/>
          </p:cNvSpPr>
          <p:nvPr/>
        </p:nvSpPr>
        <p:spPr bwMode="auto">
          <a:xfrm>
            <a:off x="7177767" y="4376728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33*</a:t>
            </a:r>
          </a:p>
        </p:txBody>
      </p:sp>
      <p:sp>
        <p:nvSpPr>
          <p:cNvPr id="256" name="Rectangle 62"/>
          <p:cNvSpPr>
            <a:spLocks noChangeArrowheads="1"/>
          </p:cNvSpPr>
          <p:nvPr/>
        </p:nvSpPr>
        <p:spPr bwMode="auto">
          <a:xfrm>
            <a:off x="7550829" y="4376728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34*</a:t>
            </a:r>
          </a:p>
        </p:txBody>
      </p:sp>
      <p:sp>
        <p:nvSpPr>
          <p:cNvPr id="257" name="Rectangle 63"/>
          <p:cNvSpPr>
            <a:spLocks noChangeArrowheads="1"/>
          </p:cNvSpPr>
          <p:nvPr/>
        </p:nvSpPr>
        <p:spPr bwMode="auto">
          <a:xfrm>
            <a:off x="7909604" y="4365616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38*</a:t>
            </a:r>
          </a:p>
        </p:txBody>
      </p:sp>
      <p:sp>
        <p:nvSpPr>
          <p:cNvPr id="258" name="Rectangle 64"/>
          <p:cNvSpPr>
            <a:spLocks noChangeArrowheads="1"/>
          </p:cNvSpPr>
          <p:nvPr/>
        </p:nvSpPr>
        <p:spPr bwMode="auto">
          <a:xfrm>
            <a:off x="8281079" y="4354503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39*</a:t>
            </a:r>
          </a:p>
        </p:txBody>
      </p:sp>
      <p:sp>
        <p:nvSpPr>
          <p:cNvPr id="260" name="Line 66"/>
          <p:cNvSpPr>
            <a:spLocks noChangeShapeType="1"/>
          </p:cNvSpPr>
          <p:nvPr/>
        </p:nvSpPr>
        <p:spPr bwMode="auto">
          <a:xfrm>
            <a:off x="3823379" y="2455853"/>
            <a:ext cx="3810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1" name="Arc 67"/>
          <p:cNvSpPr>
            <a:spLocks/>
          </p:cNvSpPr>
          <p:nvPr/>
        </p:nvSpPr>
        <p:spPr bwMode="auto">
          <a:xfrm rot="19020000">
            <a:off x="3594779" y="4133841"/>
            <a:ext cx="381000" cy="381000"/>
          </a:xfrm>
          <a:custGeom>
            <a:avLst/>
            <a:gdLst>
              <a:gd name="T0" fmla="*/ 0 w 21600"/>
              <a:gd name="T1" fmla="*/ 0 h 21600"/>
              <a:gd name="T2" fmla="*/ 3 w 21600"/>
              <a:gd name="T3" fmla="*/ 3 h 21600"/>
              <a:gd name="T4" fmla="*/ 0 w 21600"/>
              <a:gd name="T5" fmla="*/ 3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lnTo>
                  <a:pt x="0" y="-1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2" name="Arc 68"/>
          <p:cNvSpPr>
            <a:spLocks/>
          </p:cNvSpPr>
          <p:nvPr/>
        </p:nvSpPr>
        <p:spPr bwMode="auto">
          <a:xfrm rot="19020000">
            <a:off x="1842179" y="4133841"/>
            <a:ext cx="381000" cy="381000"/>
          </a:xfrm>
          <a:custGeom>
            <a:avLst/>
            <a:gdLst>
              <a:gd name="T0" fmla="*/ 0 w 21600"/>
              <a:gd name="T1" fmla="*/ 0 h 21600"/>
              <a:gd name="T2" fmla="*/ 3 w 21600"/>
              <a:gd name="T3" fmla="*/ 3 h 21600"/>
              <a:gd name="T4" fmla="*/ 0 w 21600"/>
              <a:gd name="T5" fmla="*/ 3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lnTo>
                  <a:pt x="0" y="-1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3" name="Arc 69"/>
          <p:cNvSpPr>
            <a:spLocks/>
          </p:cNvSpPr>
          <p:nvPr/>
        </p:nvSpPr>
        <p:spPr bwMode="auto">
          <a:xfrm rot="19020000">
            <a:off x="5194979" y="4133841"/>
            <a:ext cx="381000" cy="381000"/>
          </a:xfrm>
          <a:custGeom>
            <a:avLst/>
            <a:gdLst>
              <a:gd name="T0" fmla="*/ 0 w 21600"/>
              <a:gd name="T1" fmla="*/ 0 h 21600"/>
              <a:gd name="T2" fmla="*/ 3 w 21600"/>
              <a:gd name="T3" fmla="*/ 3 h 21600"/>
              <a:gd name="T4" fmla="*/ 0 w 21600"/>
              <a:gd name="T5" fmla="*/ 3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lnTo>
                  <a:pt x="0" y="-1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4" name="Arc 70"/>
          <p:cNvSpPr>
            <a:spLocks/>
          </p:cNvSpPr>
          <p:nvPr/>
        </p:nvSpPr>
        <p:spPr bwMode="auto">
          <a:xfrm rot="19020000">
            <a:off x="6871379" y="4133841"/>
            <a:ext cx="381000" cy="381000"/>
          </a:xfrm>
          <a:custGeom>
            <a:avLst/>
            <a:gdLst>
              <a:gd name="T0" fmla="*/ 0 w 21600"/>
              <a:gd name="T1" fmla="*/ 0 h 21600"/>
              <a:gd name="T2" fmla="*/ 3 w 21600"/>
              <a:gd name="T3" fmla="*/ 3 h 21600"/>
              <a:gd name="T4" fmla="*/ 0 w 21600"/>
              <a:gd name="T5" fmla="*/ 3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lnTo>
                  <a:pt x="0" y="-1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65" name="Straight Arrow Connector 264"/>
          <p:cNvCxnSpPr>
            <a:stCxn id="145" idx="0"/>
            <a:endCxn id="161" idx="1"/>
          </p:cNvCxnSpPr>
          <p:nvPr/>
        </p:nvCxnSpPr>
        <p:spPr>
          <a:xfrm flipH="1">
            <a:off x="1265917" y="3333740"/>
            <a:ext cx="2217738" cy="100806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flipV="1">
            <a:off x="1435779" y="3505200"/>
            <a:ext cx="2043113" cy="80009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478892" y="3505200"/>
            <a:ext cx="192088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2604179" y="3505200"/>
            <a:ext cx="1066801" cy="761990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7578" y="3106212"/>
            <a:ext cx="2519601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smtClean="0"/>
              <a:t>Do it through the parent</a:t>
            </a:r>
            <a:endParaRPr lang="en-US" i="1" dirty="0"/>
          </a:p>
        </p:txBody>
      </p:sp>
      <p:sp>
        <p:nvSpPr>
          <p:cNvPr id="75" name="Rectangle 53"/>
          <p:cNvSpPr>
            <a:spLocks noChangeArrowheads="1"/>
          </p:cNvSpPr>
          <p:nvPr/>
        </p:nvSpPr>
        <p:spPr bwMode="auto">
          <a:xfrm>
            <a:off x="2193422" y="4386130"/>
            <a:ext cx="343043" cy="293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 smtClean="0">
                <a:solidFill>
                  <a:srgbClr val="FF0000"/>
                </a:solidFill>
                <a:latin typeface="Arial" pitchFamily="34" charset="0"/>
              </a:rPr>
              <a:t>8*</a:t>
            </a:r>
            <a:endParaRPr lang="en-US" sz="1300" u="none" dirty="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070416" y="5029200"/>
            <a:ext cx="3308919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smtClean="0"/>
              <a:t>“Copy up” the new low key value!</a:t>
            </a:r>
            <a:endParaRPr lang="en-US" i="1" dirty="0"/>
          </a:p>
        </p:txBody>
      </p:sp>
      <p:sp>
        <p:nvSpPr>
          <p:cNvPr id="78" name="Rectangle 65"/>
          <p:cNvSpPr>
            <a:spLocks noChangeArrowheads="1"/>
          </p:cNvSpPr>
          <p:nvPr/>
        </p:nvSpPr>
        <p:spPr bwMode="auto">
          <a:xfrm>
            <a:off x="3590017" y="3000365"/>
            <a:ext cx="3683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>
                <a:solidFill>
                  <a:srgbClr val="000000"/>
                </a:solidFill>
                <a:latin typeface="Arial" pitchFamily="34" charset="0"/>
              </a:rPr>
              <a:t>13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4688" y="2998778"/>
            <a:ext cx="400721" cy="279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9" name="Rectangle 65"/>
          <p:cNvSpPr>
            <a:spLocks noChangeArrowheads="1"/>
          </p:cNvSpPr>
          <p:nvPr/>
        </p:nvSpPr>
        <p:spPr bwMode="auto">
          <a:xfrm>
            <a:off x="3634467" y="3000366"/>
            <a:ext cx="279400" cy="29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 smtClean="0">
                <a:solidFill>
                  <a:srgbClr val="FF0000"/>
                </a:solidFill>
                <a:latin typeface="Arial" pitchFamily="34" charset="0"/>
              </a:rPr>
              <a:t>8</a:t>
            </a:r>
            <a:endParaRPr lang="en-US" sz="1300" u="none" dirty="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931113" y="5729955"/>
            <a:ext cx="7066755" cy="518446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But, when to </a:t>
            </a:r>
            <a:r>
              <a:rPr lang="en-US" sz="2000" i="1" dirty="0" smtClean="0">
                <a:solidFill>
                  <a:schemeClr val="tx1"/>
                </a:solidFill>
              </a:rPr>
              <a:t>redistribute</a:t>
            </a:r>
            <a:r>
              <a:rPr lang="en-US" sz="2000" dirty="0" smtClean="0">
                <a:solidFill>
                  <a:schemeClr val="tx1"/>
                </a:solidFill>
              </a:rPr>
              <a:t> and when to </a:t>
            </a:r>
            <a:r>
              <a:rPr lang="en-US" sz="2000" i="1" dirty="0" smtClean="0">
                <a:solidFill>
                  <a:schemeClr val="tx1"/>
                </a:solidFill>
              </a:rPr>
              <a:t>split</a:t>
            </a:r>
            <a:r>
              <a:rPr lang="en-US" sz="2000" dirty="0" smtClean="0">
                <a:solidFill>
                  <a:schemeClr val="tx1"/>
                </a:solidFill>
              </a:rPr>
              <a:t>?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352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" grpId="0"/>
      <p:bldP spid="248" grpId="0"/>
      <p:bldP spid="75" grpId="0"/>
      <p:bldP spid="76" grpId="0" animBg="1"/>
      <p:bldP spid="259" grpId="0"/>
      <p:bldP spid="8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Splitting vs. Redistributing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>
                <a:solidFill>
                  <a:srgbClr val="0070C0"/>
                </a:solidFill>
              </a:rPr>
              <a:t>L</a:t>
            </a:r>
            <a:r>
              <a:rPr lang="en-US" sz="2800" dirty="0" smtClean="0">
                <a:solidFill>
                  <a:srgbClr val="0070C0"/>
                </a:solidFill>
              </a:rPr>
              <a:t>eaf </a:t>
            </a:r>
            <a:r>
              <a:rPr lang="en-US" sz="2800" dirty="0">
                <a:solidFill>
                  <a:srgbClr val="0070C0"/>
                </a:solidFill>
              </a:rPr>
              <a:t>N</a:t>
            </a:r>
            <a:r>
              <a:rPr lang="en-US" sz="2800" dirty="0" smtClean="0">
                <a:solidFill>
                  <a:srgbClr val="0070C0"/>
                </a:solidFill>
              </a:rPr>
              <a:t>odes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 smtClean="0"/>
              <a:t>Previous and next-neighbor pointers must be updated upon insertions (</a:t>
            </a:r>
            <a:r>
              <a:rPr lang="en-US" sz="2400" i="1" dirty="0" smtClean="0"/>
              <a:t>if splitting is to be pursued</a:t>
            </a:r>
            <a:r>
              <a:rPr lang="en-US" sz="2400" dirty="0" smtClean="0"/>
              <a:t>)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 smtClean="0"/>
              <a:t>Hence, checking whether redistribution is possible does not increase I/O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 smtClean="0"/>
              <a:t>Therefore, if a sibling can spare an entry, re-distribute</a:t>
            </a:r>
          </a:p>
          <a:p>
            <a:pPr lvl="1">
              <a:buFont typeface="Wingdings" pitchFamily="2" charset="2"/>
              <a:buChar char="§"/>
            </a:pPr>
            <a:endParaRPr lang="en-US" sz="2400" dirty="0"/>
          </a:p>
          <a:p>
            <a:pPr>
              <a:buFont typeface="Wingdings" pitchFamily="2" charset="2"/>
              <a:buChar char="§"/>
            </a:pPr>
            <a:r>
              <a:rPr lang="en-US" sz="2800" dirty="0" smtClean="0">
                <a:solidFill>
                  <a:srgbClr val="0070C0"/>
                </a:solidFill>
              </a:rPr>
              <a:t>Non-Leaf Nodes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 smtClean="0"/>
              <a:t>Checking whether redistribution is possible </a:t>
            </a:r>
            <a:r>
              <a:rPr lang="en-US" sz="2400" i="1" dirty="0" smtClean="0"/>
              <a:t>usually</a:t>
            </a:r>
            <a:r>
              <a:rPr lang="en-US" sz="2400" dirty="0" smtClean="0"/>
              <a:t> increases I/O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 smtClean="0"/>
              <a:t>Splitting non-leaf nodes typically pays off!</a:t>
            </a:r>
          </a:p>
          <a:p>
            <a:pPr lvl="1"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 smtClean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54230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B+ Insertions: Keep in Mind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686800" cy="4953000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Every data entry must appear in a leaf node; </a:t>
            </a:r>
            <a:br>
              <a:rPr lang="en-US" dirty="0" smtClean="0"/>
            </a:br>
            <a:r>
              <a:rPr lang="en-US" dirty="0" smtClean="0"/>
              <a:t>hence, “copy up” the middle key upon splitting</a:t>
            </a:r>
          </a:p>
          <a:p>
            <a:pPr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When splitting index entries, simply “push up” the middle key</a:t>
            </a:r>
          </a:p>
          <a:p>
            <a:pPr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Apply splitting and/or redistribution on leaf nodes</a:t>
            </a:r>
          </a:p>
          <a:p>
            <a:pPr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Apply only splitting on non-leaf nodes</a:t>
            </a:r>
            <a:endParaRPr lang="en-US" dirty="0"/>
          </a:p>
          <a:p>
            <a:pPr>
              <a:buFont typeface="Wingdings" pitchFamily="2" charset="2"/>
              <a:buChar char="§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41429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B+ Trees: Deleting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US" dirty="0"/>
              <a:t>Start at root, find leaf </a:t>
            </a:r>
            <a:r>
              <a:rPr lang="en-US" b="1" i="1" dirty="0"/>
              <a:t>L</a:t>
            </a:r>
            <a:r>
              <a:rPr lang="en-US" dirty="0"/>
              <a:t> where entry </a:t>
            </a:r>
            <a:r>
              <a:rPr lang="en-US" dirty="0" smtClean="0"/>
              <a:t>belongs</a:t>
            </a: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dirty="0"/>
              <a:t>Remove the </a:t>
            </a:r>
            <a:r>
              <a:rPr lang="en-US" dirty="0" smtClean="0"/>
              <a:t>entry</a:t>
            </a:r>
            <a:endParaRPr lang="en-US" dirty="0"/>
          </a:p>
          <a:p>
            <a:pPr lvl="1">
              <a:buFont typeface="Wingdings" pitchFamily="2" charset="2"/>
              <a:buChar char="§"/>
            </a:pPr>
            <a:r>
              <a:rPr lang="en-US" sz="3000" dirty="0"/>
              <a:t>If </a:t>
            </a:r>
            <a:r>
              <a:rPr lang="en-US" sz="3000" b="1" i="1" dirty="0"/>
              <a:t>L</a:t>
            </a:r>
            <a:r>
              <a:rPr lang="en-US" sz="3000" dirty="0"/>
              <a:t> is at least half-full, </a:t>
            </a:r>
            <a:r>
              <a:rPr lang="en-US" sz="3000" i="1" dirty="0"/>
              <a:t>done! </a:t>
            </a:r>
          </a:p>
          <a:p>
            <a:pPr lvl="1">
              <a:buFont typeface="Wingdings" pitchFamily="2" charset="2"/>
              <a:buChar char="§"/>
            </a:pPr>
            <a:r>
              <a:rPr lang="en-US" sz="3000" dirty="0"/>
              <a:t>If </a:t>
            </a:r>
            <a:r>
              <a:rPr lang="en-US" sz="3000" b="1" i="1" dirty="0"/>
              <a:t>L</a:t>
            </a:r>
            <a:r>
              <a:rPr lang="en-US" sz="3000" dirty="0"/>
              <a:t> </a:t>
            </a:r>
            <a:r>
              <a:rPr lang="en-US" sz="3000" i="1" dirty="0"/>
              <a:t>underflows</a:t>
            </a:r>
          </a:p>
          <a:p>
            <a:pPr lvl="2">
              <a:buFont typeface="Wingdings" pitchFamily="2" charset="2"/>
              <a:buChar char="§"/>
            </a:pPr>
            <a:r>
              <a:rPr lang="en-US" sz="3000" dirty="0"/>
              <a:t>Try to </a:t>
            </a:r>
            <a:r>
              <a:rPr lang="en-US" sz="3000" dirty="0" smtClean="0">
                <a:solidFill>
                  <a:schemeClr val="accent2"/>
                </a:solidFill>
              </a:rPr>
              <a:t>re-distribute</a:t>
            </a:r>
            <a:r>
              <a:rPr lang="en-US" sz="3000" dirty="0"/>
              <a:t> </a:t>
            </a:r>
            <a:r>
              <a:rPr lang="en-US" sz="3000" dirty="0" smtClean="0"/>
              <a:t>(i.e., borrow </a:t>
            </a:r>
            <a:r>
              <a:rPr lang="en-US" sz="3000" dirty="0"/>
              <a:t>from </a:t>
            </a:r>
            <a:r>
              <a:rPr lang="en-US" sz="3000" dirty="0" smtClean="0"/>
              <a:t>a “rich sibling” and “copy up” its </a:t>
            </a:r>
            <a:r>
              <a:rPr lang="en-US" sz="3000" i="1" dirty="0" smtClean="0">
                <a:solidFill>
                  <a:srgbClr val="0070C0"/>
                </a:solidFill>
              </a:rPr>
              <a:t>lowest key</a:t>
            </a:r>
            <a:r>
              <a:rPr lang="en-US" sz="3000" dirty="0" smtClean="0"/>
              <a:t>)</a:t>
            </a:r>
            <a:endParaRPr lang="en-US" sz="3000" dirty="0"/>
          </a:p>
          <a:p>
            <a:pPr lvl="2">
              <a:buFont typeface="Wingdings" pitchFamily="2" charset="2"/>
              <a:buChar char="§"/>
            </a:pPr>
            <a:r>
              <a:rPr lang="en-US" sz="3000" dirty="0"/>
              <a:t>If re-distribution fails, </a:t>
            </a:r>
            <a:r>
              <a:rPr lang="en-US" sz="3000" i="1" u="sng" dirty="0">
                <a:solidFill>
                  <a:schemeClr val="accent2"/>
                </a:solidFill>
              </a:rPr>
              <a:t>merge</a:t>
            </a:r>
            <a:r>
              <a:rPr lang="en-US" sz="3000" dirty="0"/>
              <a:t> </a:t>
            </a:r>
            <a:r>
              <a:rPr lang="en-US" sz="3000" b="1" i="1" dirty="0"/>
              <a:t>L</a:t>
            </a:r>
            <a:r>
              <a:rPr lang="en-US" sz="3000" i="1" dirty="0"/>
              <a:t> </a:t>
            </a:r>
            <a:r>
              <a:rPr lang="en-US" sz="3000" dirty="0"/>
              <a:t>and </a:t>
            </a:r>
            <a:r>
              <a:rPr lang="en-US" sz="3000" dirty="0" smtClean="0"/>
              <a:t>a “poor sibling”</a:t>
            </a:r>
            <a:endParaRPr lang="en-US" sz="3000" dirty="0"/>
          </a:p>
          <a:p>
            <a:pPr lvl="3">
              <a:buFont typeface="Wingdings" pitchFamily="2" charset="2"/>
              <a:buChar char="§"/>
            </a:pPr>
            <a:r>
              <a:rPr lang="en-US" sz="3000" dirty="0" smtClean="0"/>
              <a:t>Update </a:t>
            </a:r>
            <a:r>
              <a:rPr lang="en-US" sz="3000" dirty="0"/>
              <a:t>parent</a:t>
            </a:r>
          </a:p>
          <a:p>
            <a:pPr lvl="3">
              <a:buFont typeface="Wingdings" pitchFamily="2" charset="2"/>
              <a:buChar char="§"/>
            </a:pPr>
            <a:r>
              <a:rPr lang="en-US" sz="3000" dirty="0" smtClean="0"/>
              <a:t>And </a:t>
            </a:r>
            <a:r>
              <a:rPr lang="en-US" sz="3000" dirty="0"/>
              <a:t>possibly merge, recursively</a:t>
            </a:r>
          </a:p>
        </p:txBody>
      </p:sp>
    </p:spTree>
    <p:extLst>
      <p:ext uri="{BB962C8B-B14F-4D97-AF65-F5344CB8AC3E}">
        <p14:creationId xmlns:p14="http://schemas.microsoft.com/office/powerpoint/2010/main" val="657471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B+ Tree: Examples </a:t>
            </a:r>
            <a:r>
              <a:rPr lang="en-US" dirty="0" smtClean="0">
                <a:ea typeface="ＭＳ Ｐゴシック" pitchFamily="34" charset="-128"/>
              </a:rPr>
              <a:t>of Deletions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Delete </a:t>
            </a:r>
            <a:r>
              <a:rPr lang="en-US" dirty="0" smtClean="0">
                <a:solidFill>
                  <a:srgbClr val="FF0000"/>
                </a:solidFill>
              </a:rPr>
              <a:t>19*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101" name="Freeform 4"/>
          <p:cNvSpPr>
            <a:spLocks/>
          </p:cNvSpPr>
          <p:nvPr/>
        </p:nvSpPr>
        <p:spPr bwMode="auto">
          <a:xfrm>
            <a:off x="381000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" name="Freeform 5"/>
          <p:cNvSpPr>
            <a:spLocks/>
          </p:cNvSpPr>
          <p:nvPr/>
        </p:nvSpPr>
        <p:spPr bwMode="auto">
          <a:xfrm>
            <a:off x="706438" y="4086225"/>
            <a:ext cx="325437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Freeform 6"/>
          <p:cNvSpPr>
            <a:spLocks/>
          </p:cNvSpPr>
          <p:nvPr/>
        </p:nvSpPr>
        <p:spPr bwMode="auto">
          <a:xfrm>
            <a:off x="1030288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" name="Freeform 7"/>
          <p:cNvSpPr>
            <a:spLocks/>
          </p:cNvSpPr>
          <p:nvPr/>
        </p:nvSpPr>
        <p:spPr bwMode="auto">
          <a:xfrm>
            <a:off x="1355725" y="4086225"/>
            <a:ext cx="325438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" name="Rectangle 8"/>
          <p:cNvSpPr>
            <a:spLocks noChangeArrowheads="1"/>
          </p:cNvSpPr>
          <p:nvPr/>
        </p:nvSpPr>
        <p:spPr bwMode="auto">
          <a:xfrm>
            <a:off x="390525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2*</a:t>
            </a:r>
          </a:p>
        </p:txBody>
      </p:sp>
      <p:sp>
        <p:nvSpPr>
          <p:cNvPr id="106" name="Rectangle 9"/>
          <p:cNvSpPr>
            <a:spLocks noChangeArrowheads="1"/>
          </p:cNvSpPr>
          <p:nvPr/>
        </p:nvSpPr>
        <p:spPr bwMode="auto">
          <a:xfrm>
            <a:off x="715963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3*</a:t>
            </a:r>
          </a:p>
        </p:txBody>
      </p:sp>
      <p:sp>
        <p:nvSpPr>
          <p:cNvPr id="107" name="Freeform 10"/>
          <p:cNvSpPr>
            <a:spLocks/>
          </p:cNvSpPr>
          <p:nvPr/>
        </p:nvSpPr>
        <p:spPr bwMode="auto">
          <a:xfrm>
            <a:off x="3549650" y="246856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Freeform 11"/>
          <p:cNvSpPr>
            <a:spLocks/>
          </p:cNvSpPr>
          <p:nvPr/>
        </p:nvSpPr>
        <p:spPr bwMode="auto">
          <a:xfrm>
            <a:off x="3629025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Freeform 12"/>
          <p:cNvSpPr>
            <a:spLocks/>
          </p:cNvSpPr>
          <p:nvPr/>
        </p:nvSpPr>
        <p:spPr bwMode="auto">
          <a:xfrm>
            <a:off x="4035425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Freeform 13"/>
          <p:cNvSpPr>
            <a:spLocks/>
          </p:cNvSpPr>
          <p:nvPr/>
        </p:nvSpPr>
        <p:spPr bwMode="auto">
          <a:xfrm>
            <a:off x="4116388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Freeform 14"/>
          <p:cNvSpPr>
            <a:spLocks/>
          </p:cNvSpPr>
          <p:nvPr/>
        </p:nvSpPr>
        <p:spPr bwMode="auto">
          <a:xfrm>
            <a:off x="4522788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Freeform 15"/>
          <p:cNvSpPr>
            <a:spLocks/>
          </p:cNvSpPr>
          <p:nvPr/>
        </p:nvSpPr>
        <p:spPr bwMode="auto">
          <a:xfrm>
            <a:off x="4603750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Freeform 16"/>
          <p:cNvSpPr>
            <a:spLocks/>
          </p:cNvSpPr>
          <p:nvPr/>
        </p:nvSpPr>
        <p:spPr bwMode="auto">
          <a:xfrm>
            <a:off x="5010150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Freeform 17"/>
          <p:cNvSpPr>
            <a:spLocks/>
          </p:cNvSpPr>
          <p:nvPr/>
        </p:nvSpPr>
        <p:spPr bwMode="auto">
          <a:xfrm>
            <a:off x="5091113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Freeform 18"/>
          <p:cNvSpPr>
            <a:spLocks/>
          </p:cNvSpPr>
          <p:nvPr/>
        </p:nvSpPr>
        <p:spPr bwMode="auto">
          <a:xfrm>
            <a:off x="5497513" y="246856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Freeform 19"/>
          <p:cNvSpPr>
            <a:spLocks/>
          </p:cNvSpPr>
          <p:nvPr/>
        </p:nvSpPr>
        <p:spPr bwMode="auto">
          <a:xfrm>
            <a:off x="3162300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Freeform 20"/>
          <p:cNvSpPr>
            <a:spLocks/>
          </p:cNvSpPr>
          <p:nvPr/>
        </p:nvSpPr>
        <p:spPr bwMode="auto">
          <a:xfrm>
            <a:off x="348773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Freeform 21"/>
          <p:cNvSpPr>
            <a:spLocks/>
          </p:cNvSpPr>
          <p:nvPr/>
        </p:nvSpPr>
        <p:spPr bwMode="auto">
          <a:xfrm>
            <a:off x="3813175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Freeform 22"/>
          <p:cNvSpPr>
            <a:spLocks/>
          </p:cNvSpPr>
          <p:nvPr/>
        </p:nvSpPr>
        <p:spPr bwMode="auto">
          <a:xfrm>
            <a:off x="41370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Freeform 23"/>
          <p:cNvSpPr>
            <a:spLocks/>
          </p:cNvSpPr>
          <p:nvPr/>
        </p:nvSpPr>
        <p:spPr bwMode="auto">
          <a:xfrm>
            <a:off x="457358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" name="Freeform 24"/>
          <p:cNvSpPr>
            <a:spLocks/>
          </p:cNvSpPr>
          <p:nvPr/>
        </p:nvSpPr>
        <p:spPr bwMode="auto">
          <a:xfrm>
            <a:off x="48990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Freeform 25"/>
          <p:cNvSpPr>
            <a:spLocks/>
          </p:cNvSpPr>
          <p:nvPr/>
        </p:nvSpPr>
        <p:spPr bwMode="auto">
          <a:xfrm>
            <a:off x="5224463" y="4094163"/>
            <a:ext cx="323850" cy="325437"/>
          </a:xfrm>
          <a:custGeom>
            <a:avLst/>
            <a:gdLst>
              <a:gd name="T0" fmla="*/ 0 w 204"/>
              <a:gd name="T1" fmla="*/ 323850 h 205"/>
              <a:gd name="T2" fmla="*/ 0 w 204"/>
              <a:gd name="T3" fmla="*/ 0 h 205"/>
              <a:gd name="T4" fmla="*/ 322263 w 204"/>
              <a:gd name="T5" fmla="*/ 0 h 205"/>
              <a:gd name="T6" fmla="*/ 322263 w 204"/>
              <a:gd name="T7" fmla="*/ 323850 h 205"/>
              <a:gd name="T8" fmla="*/ 0 w 204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4"/>
              <a:gd name="T16" fmla="*/ 0 h 205"/>
              <a:gd name="T17" fmla="*/ 204 w 204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4" h="205">
                <a:moveTo>
                  <a:pt x="0" y="204"/>
                </a:moveTo>
                <a:lnTo>
                  <a:pt x="0" y="0"/>
                </a:lnTo>
                <a:lnTo>
                  <a:pt x="203" y="0"/>
                </a:lnTo>
                <a:lnTo>
                  <a:pt x="203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" name="Freeform 26"/>
          <p:cNvSpPr>
            <a:spLocks/>
          </p:cNvSpPr>
          <p:nvPr/>
        </p:nvSpPr>
        <p:spPr bwMode="auto">
          <a:xfrm>
            <a:off x="55467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" name="Freeform 27"/>
          <p:cNvSpPr>
            <a:spLocks/>
          </p:cNvSpPr>
          <p:nvPr/>
        </p:nvSpPr>
        <p:spPr bwMode="auto">
          <a:xfrm>
            <a:off x="598487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" name="Freeform 28"/>
          <p:cNvSpPr>
            <a:spLocks/>
          </p:cNvSpPr>
          <p:nvPr/>
        </p:nvSpPr>
        <p:spPr bwMode="auto">
          <a:xfrm>
            <a:off x="631031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" name="Freeform 29"/>
          <p:cNvSpPr>
            <a:spLocks/>
          </p:cNvSpPr>
          <p:nvPr/>
        </p:nvSpPr>
        <p:spPr bwMode="auto">
          <a:xfrm>
            <a:off x="663416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7" name="Freeform 30"/>
          <p:cNvSpPr>
            <a:spLocks/>
          </p:cNvSpPr>
          <p:nvPr/>
        </p:nvSpPr>
        <p:spPr bwMode="auto">
          <a:xfrm>
            <a:off x="6958013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" name="Freeform 31"/>
          <p:cNvSpPr>
            <a:spLocks/>
          </p:cNvSpPr>
          <p:nvPr/>
        </p:nvSpPr>
        <p:spPr bwMode="auto">
          <a:xfrm>
            <a:off x="7385050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" name="Freeform 32"/>
          <p:cNvSpPr>
            <a:spLocks/>
          </p:cNvSpPr>
          <p:nvPr/>
        </p:nvSpPr>
        <p:spPr bwMode="auto">
          <a:xfrm>
            <a:off x="7710488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Freeform 33"/>
          <p:cNvSpPr>
            <a:spLocks/>
          </p:cNvSpPr>
          <p:nvPr/>
        </p:nvSpPr>
        <p:spPr bwMode="auto">
          <a:xfrm>
            <a:off x="8034338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" name="Freeform 34"/>
          <p:cNvSpPr>
            <a:spLocks/>
          </p:cNvSpPr>
          <p:nvPr/>
        </p:nvSpPr>
        <p:spPr bwMode="auto">
          <a:xfrm>
            <a:off x="835818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Freeform 35"/>
          <p:cNvSpPr>
            <a:spLocks/>
          </p:cNvSpPr>
          <p:nvPr/>
        </p:nvSpPr>
        <p:spPr bwMode="auto">
          <a:xfrm>
            <a:off x="1428750" y="323691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" name="Freeform 36"/>
          <p:cNvSpPr>
            <a:spLocks/>
          </p:cNvSpPr>
          <p:nvPr/>
        </p:nvSpPr>
        <p:spPr bwMode="auto">
          <a:xfrm>
            <a:off x="15097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" name="Freeform 37"/>
          <p:cNvSpPr>
            <a:spLocks/>
          </p:cNvSpPr>
          <p:nvPr/>
        </p:nvSpPr>
        <p:spPr bwMode="auto">
          <a:xfrm>
            <a:off x="1914525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" name="Freeform 38"/>
          <p:cNvSpPr>
            <a:spLocks/>
          </p:cNvSpPr>
          <p:nvPr/>
        </p:nvSpPr>
        <p:spPr bwMode="auto">
          <a:xfrm>
            <a:off x="199548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" name="Freeform 39"/>
          <p:cNvSpPr>
            <a:spLocks/>
          </p:cNvSpPr>
          <p:nvPr/>
        </p:nvSpPr>
        <p:spPr bwMode="auto">
          <a:xfrm>
            <a:off x="2401888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" name="Freeform 40"/>
          <p:cNvSpPr>
            <a:spLocks/>
          </p:cNvSpPr>
          <p:nvPr/>
        </p:nvSpPr>
        <p:spPr bwMode="auto">
          <a:xfrm>
            <a:off x="2482850" y="32369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" name="Freeform 41"/>
          <p:cNvSpPr>
            <a:spLocks/>
          </p:cNvSpPr>
          <p:nvPr/>
        </p:nvSpPr>
        <p:spPr bwMode="auto">
          <a:xfrm>
            <a:off x="288925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" name="Freeform 42"/>
          <p:cNvSpPr>
            <a:spLocks/>
          </p:cNvSpPr>
          <p:nvPr/>
        </p:nvSpPr>
        <p:spPr bwMode="auto">
          <a:xfrm>
            <a:off x="29702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" name="Freeform 43"/>
          <p:cNvSpPr>
            <a:spLocks/>
          </p:cNvSpPr>
          <p:nvPr/>
        </p:nvSpPr>
        <p:spPr bwMode="auto">
          <a:xfrm>
            <a:off x="3376613" y="323691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1" name="Freeform 44"/>
          <p:cNvSpPr>
            <a:spLocks/>
          </p:cNvSpPr>
          <p:nvPr/>
        </p:nvSpPr>
        <p:spPr bwMode="auto">
          <a:xfrm>
            <a:off x="563880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2" name="Freeform 45"/>
          <p:cNvSpPr>
            <a:spLocks/>
          </p:cNvSpPr>
          <p:nvPr/>
        </p:nvSpPr>
        <p:spPr bwMode="auto">
          <a:xfrm>
            <a:off x="571976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" name="Freeform 46"/>
          <p:cNvSpPr>
            <a:spLocks/>
          </p:cNvSpPr>
          <p:nvPr/>
        </p:nvSpPr>
        <p:spPr bwMode="auto">
          <a:xfrm>
            <a:off x="6126163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" name="Freeform 47"/>
          <p:cNvSpPr>
            <a:spLocks/>
          </p:cNvSpPr>
          <p:nvPr/>
        </p:nvSpPr>
        <p:spPr bwMode="auto">
          <a:xfrm>
            <a:off x="6207125" y="32369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5" name="Freeform 48"/>
          <p:cNvSpPr>
            <a:spLocks/>
          </p:cNvSpPr>
          <p:nvPr/>
        </p:nvSpPr>
        <p:spPr bwMode="auto">
          <a:xfrm>
            <a:off x="6613525" y="323691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6" name="Freeform 49"/>
          <p:cNvSpPr>
            <a:spLocks/>
          </p:cNvSpPr>
          <p:nvPr/>
        </p:nvSpPr>
        <p:spPr bwMode="auto">
          <a:xfrm>
            <a:off x="669448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7" name="Freeform 50"/>
          <p:cNvSpPr>
            <a:spLocks/>
          </p:cNvSpPr>
          <p:nvPr/>
        </p:nvSpPr>
        <p:spPr bwMode="auto">
          <a:xfrm>
            <a:off x="709930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8" name="Freeform 51"/>
          <p:cNvSpPr>
            <a:spLocks/>
          </p:cNvSpPr>
          <p:nvPr/>
        </p:nvSpPr>
        <p:spPr bwMode="auto">
          <a:xfrm>
            <a:off x="718343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9" name="Freeform 52"/>
          <p:cNvSpPr>
            <a:spLocks/>
          </p:cNvSpPr>
          <p:nvPr/>
        </p:nvSpPr>
        <p:spPr bwMode="auto">
          <a:xfrm>
            <a:off x="7586663" y="3236913"/>
            <a:ext cx="84137" cy="404812"/>
          </a:xfrm>
          <a:custGeom>
            <a:avLst/>
            <a:gdLst>
              <a:gd name="T0" fmla="*/ 0 w 53"/>
              <a:gd name="T1" fmla="*/ 403225 h 255"/>
              <a:gd name="T2" fmla="*/ 0 w 53"/>
              <a:gd name="T3" fmla="*/ 0 h 255"/>
              <a:gd name="T4" fmla="*/ 82550 w 53"/>
              <a:gd name="T5" fmla="*/ 0 h 255"/>
              <a:gd name="T6" fmla="*/ 82550 w 53"/>
              <a:gd name="T7" fmla="*/ 403225 h 255"/>
              <a:gd name="T8" fmla="*/ 0 w 53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"/>
              <a:gd name="T16" fmla="*/ 0 h 255"/>
              <a:gd name="T17" fmla="*/ 53 w 53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" h="255">
                <a:moveTo>
                  <a:pt x="0" y="254"/>
                </a:moveTo>
                <a:lnTo>
                  <a:pt x="0" y="0"/>
                </a:lnTo>
                <a:lnTo>
                  <a:pt x="52" y="0"/>
                </a:lnTo>
                <a:lnTo>
                  <a:pt x="52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" name="Freeform 53"/>
          <p:cNvSpPr>
            <a:spLocks/>
          </p:cNvSpPr>
          <p:nvPr/>
        </p:nvSpPr>
        <p:spPr bwMode="auto">
          <a:xfrm>
            <a:off x="1012825" y="3559175"/>
            <a:ext cx="446088" cy="496888"/>
          </a:xfrm>
          <a:custGeom>
            <a:avLst/>
            <a:gdLst>
              <a:gd name="T0" fmla="*/ 444500 w 281"/>
              <a:gd name="T1" fmla="*/ 0 h 313"/>
              <a:gd name="T2" fmla="*/ 0 w 281"/>
              <a:gd name="T3" fmla="*/ 495300 h 313"/>
              <a:gd name="T4" fmla="*/ 444500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" name="Freeform 54"/>
          <p:cNvSpPr>
            <a:spLocks/>
          </p:cNvSpPr>
          <p:nvPr/>
        </p:nvSpPr>
        <p:spPr bwMode="auto">
          <a:xfrm>
            <a:off x="1012825" y="3962400"/>
            <a:ext cx="87313" cy="93663"/>
          </a:xfrm>
          <a:custGeom>
            <a:avLst/>
            <a:gdLst>
              <a:gd name="T0" fmla="*/ 85725 w 55"/>
              <a:gd name="T1" fmla="*/ 33338 h 59"/>
              <a:gd name="T2" fmla="*/ 0 w 55"/>
              <a:gd name="T3" fmla="*/ 92075 h 59"/>
              <a:gd name="T4" fmla="*/ 47625 w 55"/>
              <a:gd name="T5" fmla="*/ 0 h 59"/>
              <a:gd name="T6" fmla="*/ 85725 w 55"/>
              <a:gd name="T7" fmla="*/ 33338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2" name="Freeform 55"/>
          <p:cNvSpPr>
            <a:spLocks/>
          </p:cNvSpPr>
          <p:nvPr/>
        </p:nvSpPr>
        <p:spPr bwMode="auto">
          <a:xfrm>
            <a:off x="1944688" y="3559175"/>
            <a:ext cx="449262" cy="506413"/>
          </a:xfrm>
          <a:custGeom>
            <a:avLst/>
            <a:gdLst>
              <a:gd name="T0" fmla="*/ 0 w 283"/>
              <a:gd name="T1" fmla="*/ 0 h 319"/>
              <a:gd name="T2" fmla="*/ 447675 w 283"/>
              <a:gd name="T3" fmla="*/ 504825 h 319"/>
              <a:gd name="T4" fmla="*/ 0 w 283"/>
              <a:gd name="T5" fmla="*/ 0 h 319"/>
              <a:gd name="T6" fmla="*/ 0 60000 65536"/>
              <a:gd name="T7" fmla="*/ 0 60000 65536"/>
              <a:gd name="T8" fmla="*/ 0 60000 65536"/>
              <a:gd name="T9" fmla="*/ 0 w 283"/>
              <a:gd name="T10" fmla="*/ 0 h 319"/>
              <a:gd name="T11" fmla="*/ 283 w 283"/>
              <a:gd name="T12" fmla="*/ 319 h 31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3" h="319">
                <a:moveTo>
                  <a:pt x="0" y="0"/>
                </a:moveTo>
                <a:lnTo>
                  <a:pt x="282" y="318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" name="Freeform 56"/>
          <p:cNvSpPr>
            <a:spLocks/>
          </p:cNvSpPr>
          <p:nvPr/>
        </p:nvSpPr>
        <p:spPr bwMode="auto">
          <a:xfrm>
            <a:off x="2305050" y="3973513"/>
            <a:ext cx="88900" cy="92075"/>
          </a:xfrm>
          <a:custGeom>
            <a:avLst/>
            <a:gdLst>
              <a:gd name="T0" fmla="*/ 38100 w 56"/>
              <a:gd name="T1" fmla="*/ 0 h 58"/>
              <a:gd name="T2" fmla="*/ 87313 w 56"/>
              <a:gd name="T3" fmla="*/ 90488 h 58"/>
              <a:gd name="T4" fmla="*/ 0 w 56"/>
              <a:gd name="T5" fmla="*/ 33338 h 58"/>
              <a:gd name="T6" fmla="*/ 38100 w 56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6"/>
              <a:gd name="T13" fmla="*/ 0 h 58"/>
              <a:gd name="T14" fmla="*/ 56 w 56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" h="58">
                <a:moveTo>
                  <a:pt x="24" y="0"/>
                </a:moveTo>
                <a:lnTo>
                  <a:pt x="55" y="57"/>
                </a:lnTo>
                <a:lnTo>
                  <a:pt x="0" y="21"/>
                </a:lnTo>
                <a:lnTo>
                  <a:pt x="24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" name="Freeform 57"/>
          <p:cNvSpPr>
            <a:spLocks/>
          </p:cNvSpPr>
          <p:nvPr/>
        </p:nvSpPr>
        <p:spPr bwMode="auto">
          <a:xfrm>
            <a:off x="2443163" y="3559175"/>
            <a:ext cx="1330325" cy="517525"/>
          </a:xfrm>
          <a:custGeom>
            <a:avLst/>
            <a:gdLst>
              <a:gd name="T0" fmla="*/ 0 w 838"/>
              <a:gd name="T1" fmla="*/ 0 h 326"/>
              <a:gd name="T2" fmla="*/ 1328738 w 838"/>
              <a:gd name="T3" fmla="*/ 515938 h 326"/>
              <a:gd name="T4" fmla="*/ 0 w 838"/>
              <a:gd name="T5" fmla="*/ 0 h 326"/>
              <a:gd name="T6" fmla="*/ 0 60000 65536"/>
              <a:gd name="T7" fmla="*/ 0 60000 65536"/>
              <a:gd name="T8" fmla="*/ 0 60000 65536"/>
              <a:gd name="T9" fmla="*/ 0 w 838"/>
              <a:gd name="T10" fmla="*/ 0 h 326"/>
              <a:gd name="T11" fmla="*/ 838 w 838"/>
              <a:gd name="T12" fmla="*/ 326 h 3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38" h="326">
                <a:moveTo>
                  <a:pt x="0" y="0"/>
                </a:moveTo>
                <a:lnTo>
                  <a:pt x="837" y="32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" name="Freeform 58"/>
          <p:cNvSpPr>
            <a:spLocks/>
          </p:cNvSpPr>
          <p:nvPr/>
        </p:nvSpPr>
        <p:spPr bwMode="auto">
          <a:xfrm>
            <a:off x="3668713" y="4014788"/>
            <a:ext cx="104775" cy="61912"/>
          </a:xfrm>
          <a:custGeom>
            <a:avLst/>
            <a:gdLst>
              <a:gd name="T0" fmla="*/ 17463 w 66"/>
              <a:gd name="T1" fmla="*/ 0 h 39"/>
              <a:gd name="T2" fmla="*/ 103188 w 66"/>
              <a:gd name="T3" fmla="*/ 60325 h 39"/>
              <a:gd name="T4" fmla="*/ 0 w 66"/>
              <a:gd name="T5" fmla="*/ 47625 h 39"/>
              <a:gd name="T6" fmla="*/ 17463 w 66"/>
              <a:gd name="T7" fmla="*/ 0 h 39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39"/>
              <a:gd name="T14" fmla="*/ 66 w 66"/>
              <a:gd name="T15" fmla="*/ 39 h 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39">
                <a:moveTo>
                  <a:pt x="11" y="0"/>
                </a:moveTo>
                <a:lnTo>
                  <a:pt x="65" y="38"/>
                </a:lnTo>
                <a:lnTo>
                  <a:pt x="0" y="30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" name="Freeform 59"/>
          <p:cNvSpPr>
            <a:spLocks/>
          </p:cNvSpPr>
          <p:nvPr/>
        </p:nvSpPr>
        <p:spPr bwMode="auto">
          <a:xfrm>
            <a:off x="5224463" y="3579813"/>
            <a:ext cx="446087" cy="496887"/>
          </a:xfrm>
          <a:custGeom>
            <a:avLst/>
            <a:gdLst>
              <a:gd name="T0" fmla="*/ 444500 w 281"/>
              <a:gd name="T1" fmla="*/ 0 h 313"/>
              <a:gd name="T2" fmla="*/ 0 w 281"/>
              <a:gd name="T3" fmla="*/ 495300 h 313"/>
              <a:gd name="T4" fmla="*/ 444500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" name="Freeform 60"/>
          <p:cNvSpPr>
            <a:spLocks/>
          </p:cNvSpPr>
          <p:nvPr/>
        </p:nvSpPr>
        <p:spPr bwMode="auto">
          <a:xfrm>
            <a:off x="5224463" y="3983038"/>
            <a:ext cx="87312" cy="93662"/>
          </a:xfrm>
          <a:custGeom>
            <a:avLst/>
            <a:gdLst>
              <a:gd name="T0" fmla="*/ 85725 w 55"/>
              <a:gd name="T1" fmla="*/ 33337 h 59"/>
              <a:gd name="T2" fmla="*/ 0 w 55"/>
              <a:gd name="T3" fmla="*/ 92075 h 59"/>
              <a:gd name="T4" fmla="*/ 47625 w 55"/>
              <a:gd name="T5" fmla="*/ 0 h 59"/>
              <a:gd name="T6" fmla="*/ 85725 w 55"/>
              <a:gd name="T7" fmla="*/ 33337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" name="Freeform 61"/>
          <p:cNvSpPr>
            <a:spLocks/>
          </p:cNvSpPr>
          <p:nvPr/>
        </p:nvSpPr>
        <p:spPr bwMode="auto">
          <a:xfrm>
            <a:off x="6156325" y="3579813"/>
            <a:ext cx="458788" cy="476250"/>
          </a:xfrm>
          <a:custGeom>
            <a:avLst/>
            <a:gdLst>
              <a:gd name="T0" fmla="*/ 0 w 289"/>
              <a:gd name="T1" fmla="*/ 0 h 300"/>
              <a:gd name="T2" fmla="*/ 457200 w 289"/>
              <a:gd name="T3" fmla="*/ 474663 h 300"/>
              <a:gd name="T4" fmla="*/ 0 w 289"/>
              <a:gd name="T5" fmla="*/ 0 h 300"/>
              <a:gd name="T6" fmla="*/ 0 60000 65536"/>
              <a:gd name="T7" fmla="*/ 0 60000 65536"/>
              <a:gd name="T8" fmla="*/ 0 60000 65536"/>
              <a:gd name="T9" fmla="*/ 0 w 289"/>
              <a:gd name="T10" fmla="*/ 0 h 300"/>
              <a:gd name="T11" fmla="*/ 289 w 289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9" h="300">
                <a:moveTo>
                  <a:pt x="0" y="0"/>
                </a:moveTo>
                <a:lnTo>
                  <a:pt x="288" y="299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" name="Freeform 62"/>
          <p:cNvSpPr>
            <a:spLocks/>
          </p:cNvSpPr>
          <p:nvPr/>
        </p:nvSpPr>
        <p:spPr bwMode="auto">
          <a:xfrm>
            <a:off x="6524625" y="3963988"/>
            <a:ext cx="90488" cy="92075"/>
          </a:xfrm>
          <a:custGeom>
            <a:avLst/>
            <a:gdLst>
              <a:gd name="T0" fmla="*/ 36513 w 57"/>
              <a:gd name="T1" fmla="*/ 0 h 58"/>
              <a:gd name="T2" fmla="*/ 88900 w 57"/>
              <a:gd name="T3" fmla="*/ 90488 h 58"/>
              <a:gd name="T4" fmla="*/ 0 w 57"/>
              <a:gd name="T5" fmla="*/ 34925 h 58"/>
              <a:gd name="T6" fmla="*/ 36513 w 57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7"/>
              <a:gd name="T13" fmla="*/ 0 h 58"/>
              <a:gd name="T14" fmla="*/ 57 w 57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" h="58">
                <a:moveTo>
                  <a:pt x="23" y="0"/>
                </a:moveTo>
                <a:lnTo>
                  <a:pt x="56" y="57"/>
                </a:lnTo>
                <a:lnTo>
                  <a:pt x="0" y="22"/>
                </a:lnTo>
                <a:lnTo>
                  <a:pt x="23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" name="Freeform 63"/>
          <p:cNvSpPr>
            <a:spLocks/>
          </p:cNvSpPr>
          <p:nvPr/>
        </p:nvSpPr>
        <p:spPr bwMode="auto">
          <a:xfrm>
            <a:off x="6643688" y="3589338"/>
            <a:ext cx="1362075" cy="476250"/>
          </a:xfrm>
          <a:custGeom>
            <a:avLst/>
            <a:gdLst>
              <a:gd name="T0" fmla="*/ 0 w 858"/>
              <a:gd name="T1" fmla="*/ 0 h 300"/>
              <a:gd name="T2" fmla="*/ 1360488 w 858"/>
              <a:gd name="T3" fmla="*/ 474663 h 300"/>
              <a:gd name="T4" fmla="*/ 0 w 858"/>
              <a:gd name="T5" fmla="*/ 0 h 300"/>
              <a:gd name="T6" fmla="*/ 0 60000 65536"/>
              <a:gd name="T7" fmla="*/ 0 60000 65536"/>
              <a:gd name="T8" fmla="*/ 0 60000 65536"/>
              <a:gd name="T9" fmla="*/ 0 w 858"/>
              <a:gd name="T10" fmla="*/ 0 h 300"/>
              <a:gd name="T11" fmla="*/ 858 w 858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58" h="300">
                <a:moveTo>
                  <a:pt x="0" y="0"/>
                </a:moveTo>
                <a:lnTo>
                  <a:pt x="857" y="299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1" name="Freeform 64"/>
          <p:cNvSpPr>
            <a:spLocks/>
          </p:cNvSpPr>
          <p:nvPr/>
        </p:nvSpPr>
        <p:spPr bwMode="auto">
          <a:xfrm>
            <a:off x="7899400" y="4006850"/>
            <a:ext cx="106363" cy="58738"/>
          </a:xfrm>
          <a:custGeom>
            <a:avLst/>
            <a:gdLst>
              <a:gd name="T0" fmla="*/ 17463 w 67"/>
              <a:gd name="T1" fmla="*/ 0 h 37"/>
              <a:gd name="T2" fmla="*/ 104775 w 67"/>
              <a:gd name="T3" fmla="*/ 57150 h 37"/>
              <a:gd name="T4" fmla="*/ 0 w 67"/>
              <a:gd name="T5" fmla="*/ 49213 h 37"/>
              <a:gd name="T6" fmla="*/ 17463 w 67"/>
              <a:gd name="T7" fmla="*/ 0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11" y="0"/>
                </a:moveTo>
                <a:lnTo>
                  <a:pt x="66" y="36"/>
                </a:lnTo>
                <a:lnTo>
                  <a:pt x="0" y="31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" name="Freeform 65"/>
          <p:cNvSpPr>
            <a:spLocks/>
          </p:cNvSpPr>
          <p:nvPr/>
        </p:nvSpPr>
        <p:spPr bwMode="auto">
          <a:xfrm>
            <a:off x="2401888" y="2820988"/>
            <a:ext cx="1177925" cy="396875"/>
          </a:xfrm>
          <a:custGeom>
            <a:avLst/>
            <a:gdLst>
              <a:gd name="T0" fmla="*/ 1176338 w 742"/>
              <a:gd name="T1" fmla="*/ 0 h 250"/>
              <a:gd name="T2" fmla="*/ 0 w 742"/>
              <a:gd name="T3" fmla="*/ 395288 h 250"/>
              <a:gd name="T4" fmla="*/ 1176338 w 742"/>
              <a:gd name="T5" fmla="*/ 0 h 250"/>
              <a:gd name="T6" fmla="*/ 0 60000 65536"/>
              <a:gd name="T7" fmla="*/ 0 60000 65536"/>
              <a:gd name="T8" fmla="*/ 0 60000 65536"/>
              <a:gd name="T9" fmla="*/ 0 w 742"/>
              <a:gd name="T10" fmla="*/ 0 h 250"/>
              <a:gd name="T11" fmla="*/ 742 w 742"/>
              <a:gd name="T12" fmla="*/ 250 h 2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42" h="250">
                <a:moveTo>
                  <a:pt x="741" y="0"/>
                </a:moveTo>
                <a:lnTo>
                  <a:pt x="0" y="249"/>
                </a:lnTo>
                <a:lnTo>
                  <a:pt x="74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" name="Freeform 66"/>
          <p:cNvSpPr>
            <a:spLocks/>
          </p:cNvSpPr>
          <p:nvPr/>
        </p:nvSpPr>
        <p:spPr bwMode="auto">
          <a:xfrm>
            <a:off x="2401888" y="3159125"/>
            <a:ext cx="106362" cy="58738"/>
          </a:xfrm>
          <a:custGeom>
            <a:avLst/>
            <a:gdLst>
              <a:gd name="T0" fmla="*/ 104775 w 67"/>
              <a:gd name="T1" fmla="*/ 49213 h 37"/>
              <a:gd name="T2" fmla="*/ 0 w 67"/>
              <a:gd name="T3" fmla="*/ 57150 h 37"/>
              <a:gd name="T4" fmla="*/ 88900 w 67"/>
              <a:gd name="T5" fmla="*/ 0 h 37"/>
              <a:gd name="T6" fmla="*/ 104775 w 67"/>
              <a:gd name="T7" fmla="*/ 49213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66" y="31"/>
                </a:moveTo>
                <a:lnTo>
                  <a:pt x="0" y="36"/>
                </a:lnTo>
                <a:lnTo>
                  <a:pt x="56" y="0"/>
                </a:lnTo>
                <a:lnTo>
                  <a:pt x="66" y="3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" name="Freeform 67"/>
          <p:cNvSpPr>
            <a:spLocks/>
          </p:cNvSpPr>
          <p:nvPr/>
        </p:nvSpPr>
        <p:spPr bwMode="auto">
          <a:xfrm>
            <a:off x="4065588" y="2830513"/>
            <a:ext cx="1992312" cy="387350"/>
          </a:xfrm>
          <a:custGeom>
            <a:avLst/>
            <a:gdLst>
              <a:gd name="T0" fmla="*/ 0 w 1255"/>
              <a:gd name="T1" fmla="*/ 0 h 244"/>
              <a:gd name="T2" fmla="*/ 1990725 w 1255"/>
              <a:gd name="T3" fmla="*/ 385763 h 244"/>
              <a:gd name="T4" fmla="*/ 0 w 1255"/>
              <a:gd name="T5" fmla="*/ 0 h 244"/>
              <a:gd name="T6" fmla="*/ 0 60000 65536"/>
              <a:gd name="T7" fmla="*/ 0 60000 65536"/>
              <a:gd name="T8" fmla="*/ 0 60000 65536"/>
              <a:gd name="T9" fmla="*/ 0 w 1255"/>
              <a:gd name="T10" fmla="*/ 0 h 244"/>
              <a:gd name="T11" fmla="*/ 1255 w 1255"/>
              <a:gd name="T12" fmla="*/ 244 h 2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5" h="244">
                <a:moveTo>
                  <a:pt x="0" y="0"/>
                </a:moveTo>
                <a:lnTo>
                  <a:pt x="1254" y="243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" name="Freeform 68"/>
          <p:cNvSpPr>
            <a:spLocks/>
          </p:cNvSpPr>
          <p:nvPr/>
        </p:nvSpPr>
        <p:spPr bwMode="auto">
          <a:xfrm>
            <a:off x="5951538" y="3171825"/>
            <a:ext cx="106362" cy="50800"/>
          </a:xfrm>
          <a:custGeom>
            <a:avLst/>
            <a:gdLst>
              <a:gd name="T0" fmla="*/ 9525 w 67"/>
              <a:gd name="T1" fmla="*/ 0 h 32"/>
              <a:gd name="T2" fmla="*/ 104775 w 67"/>
              <a:gd name="T3" fmla="*/ 44450 h 32"/>
              <a:gd name="T4" fmla="*/ 0 w 67"/>
              <a:gd name="T5" fmla="*/ 49213 h 32"/>
              <a:gd name="T6" fmla="*/ 9525 w 67"/>
              <a:gd name="T7" fmla="*/ 0 h 32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2"/>
              <a:gd name="T14" fmla="*/ 67 w 67"/>
              <a:gd name="T15" fmla="*/ 32 h 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2">
                <a:moveTo>
                  <a:pt x="6" y="0"/>
                </a:moveTo>
                <a:lnTo>
                  <a:pt x="66" y="28"/>
                </a:lnTo>
                <a:lnTo>
                  <a:pt x="0" y="31"/>
                </a:lnTo>
                <a:lnTo>
                  <a:pt x="6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" name="Freeform 69"/>
          <p:cNvSpPr>
            <a:spLocks/>
          </p:cNvSpPr>
          <p:nvPr/>
        </p:nvSpPr>
        <p:spPr bwMode="auto">
          <a:xfrm>
            <a:off x="176371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" name="Freeform 70"/>
          <p:cNvSpPr>
            <a:spLocks/>
          </p:cNvSpPr>
          <p:nvPr/>
        </p:nvSpPr>
        <p:spPr bwMode="auto">
          <a:xfrm>
            <a:off x="2087563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" name="Freeform 71"/>
          <p:cNvSpPr>
            <a:spLocks/>
          </p:cNvSpPr>
          <p:nvPr/>
        </p:nvSpPr>
        <p:spPr bwMode="auto">
          <a:xfrm>
            <a:off x="241300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" name="Freeform 72"/>
          <p:cNvSpPr>
            <a:spLocks/>
          </p:cNvSpPr>
          <p:nvPr/>
        </p:nvSpPr>
        <p:spPr bwMode="auto">
          <a:xfrm>
            <a:off x="273685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0" name="Rectangle 73"/>
          <p:cNvSpPr>
            <a:spLocks noChangeArrowheads="1"/>
          </p:cNvSpPr>
          <p:nvPr/>
        </p:nvSpPr>
        <p:spPr bwMode="auto">
          <a:xfrm>
            <a:off x="2916238" y="2362200"/>
            <a:ext cx="5889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u="none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171" name="Rectangle 74"/>
          <p:cNvSpPr>
            <a:spLocks noChangeArrowheads="1"/>
          </p:cNvSpPr>
          <p:nvPr/>
        </p:nvSpPr>
        <p:spPr bwMode="auto">
          <a:xfrm>
            <a:off x="3678238" y="249713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17</a:t>
            </a:r>
          </a:p>
        </p:txBody>
      </p:sp>
      <p:sp>
        <p:nvSpPr>
          <p:cNvPr id="172" name="Rectangle 75"/>
          <p:cNvSpPr>
            <a:spLocks noChangeArrowheads="1"/>
          </p:cNvSpPr>
          <p:nvPr/>
        </p:nvSpPr>
        <p:spPr bwMode="auto">
          <a:xfrm>
            <a:off x="5748338" y="325278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24</a:t>
            </a:r>
          </a:p>
        </p:txBody>
      </p:sp>
      <p:sp>
        <p:nvSpPr>
          <p:cNvPr id="173" name="Rectangle 76"/>
          <p:cNvSpPr>
            <a:spLocks noChangeArrowheads="1"/>
          </p:cNvSpPr>
          <p:nvPr/>
        </p:nvSpPr>
        <p:spPr bwMode="auto">
          <a:xfrm>
            <a:off x="6245225" y="3263900"/>
            <a:ext cx="3683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30</a:t>
            </a:r>
          </a:p>
        </p:txBody>
      </p:sp>
      <p:sp>
        <p:nvSpPr>
          <p:cNvPr id="174" name="Rectangle 77"/>
          <p:cNvSpPr>
            <a:spLocks noChangeArrowheads="1"/>
          </p:cNvSpPr>
          <p:nvPr/>
        </p:nvSpPr>
        <p:spPr bwMode="auto">
          <a:xfrm>
            <a:off x="312261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14*</a:t>
            </a:r>
          </a:p>
        </p:txBody>
      </p:sp>
      <p:sp>
        <p:nvSpPr>
          <p:cNvPr id="175" name="Rectangle 78"/>
          <p:cNvSpPr>
            <a:spLocks noChangeArrowheads="1"/>
          </p:cNvSpPr>
          <p:nvPr/>
        </p:nvSpPr>
        <p:spPr bwMode="auto">
          <a:xfrm>
            <a:off x="344646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16*</a:t>
            </a:r>
          </a:p>
        </p:txBody>
      </p:sp>
      <p:sp>
        <p:nvSpPr>
          <p:cNvPr id="176" name="Rectangle 79"/>
          <p:cNvSpPr>
            <a:spLocks noChangeArrowheads="1"/>
          </p:cNvSpPr>
          <p:nvPr/>
        </p:nvSpPr>
        <p:spPr bwMode="auto">
          <a:xfrm>
            <a:off x="4572000" y="4070350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>
                <a:solidFill>
                  <a:srgbClr val="000000"/>
                </a:solidFill>
                <a:latin typeface="Arial" pitchFamily="34" charset="0"/>
              </a:rPr>
              <a:t>19*</a:t>
            </a:r>
          </a:p>
        </p:txBody>
      </p:sp>
      <p:sp>
        <p:nvSpPr>
          <p:cNvPr id="177" name="Rectangle 80"/>
          <p:cNvSpPr>
            <a:spLocks noChangeArrowheads="1"/>
          </p:cNvSpPr>
          <p:nvPr/>
        </p:nvSpPr>
        <p:spPr bwMode="auto">
          <a:xfrm>
            <a:off x="4878388" y="4070350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>
                <a:solidFill>
                  <a:srgbClr val="000000"/>
                </a:solidFill>
                <a:latin typeface="Arial" pitchFamily="34" charset="0"/>
              </a:rPr>
              <a:t>20*</a:t>
            </a:r>
          </a:p>
        </p:txBody>
      </p:sp>
      <p:sp>
        <p:nvSpPr>
          <p:cNvPr id="178" name="Rectangle 81"/>
          <p:cNvSpPr>
            <a:spLocks noChangeArrowheads="1"/>
          </p:cNvSpPr>
          <p:nvPr/>
        </p:nvSpPr>
        <p:spPr bwMode="auto">
          <a:xfrm>
            <a:off x="5192713" y="4070350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>
                <a:solidFill>
                  <a:srgbClr val="000000"/>
                </a:solidFill>
                <a:latin typeface="Arial" pitchFamily="34" charset="0"/>
              </a:rPr>
              <a:t>22*</a:t>
            </a:r>
          </a:p>
        </p:txBody>
      </p:sp>
      <p:sp>
        <p:nvSpPr>
          <p:cNvPr id="179" name="Rectangle 82"/>
          <p:cNvSpPr>
            <a:spLocks noChangeArrowheads="1"/>
          </p:cNvSpPr>
          <p:nvPr/>
        </p:nvSpPr>
        <p:spPr bwMode="auto">
          <a:xfrm>
            <a:off x="5943600" y="4070350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24*</a:t>
            </a:r>
          </a:p>
        </p:txBody>
      </p:sp>
      <p:sp>
        <p:nvSpPr>
          <p:cNvPr id="180" name="Rectangle 83"/>
          <p:cNvSpPr>
            <a:spLocks noChangeArrowheads="1"/>
          </p:cNvSpPr>
          <p:nvPr/>
        </p:nvSpPr>
        <p:spPr bwMode="auto">
          <a:xfrm>
            <a:off x="6278563" y="4070350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27*</a:t>
            </a:r>
          </a:p>
        </p:txBody>
      </p:sp>
      <p:sp>
        <p:nvSpPr>
          <p:cNvPr id="181" name="Rectangle 84"/>
          <p:cNvSpPr>
            <a:spLocks noChangeArrowheads="1"/>
          </p:cNvSpPr>
          <p:nvPr/>
        </p:nvSpPr>
        <p:spPr bwMode="auto">
          <a:xfrm>
            <a:off x="6581775" y="4081463"/>
            <a:ext cx="4318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29*</a:t>
            </a:r>
          </a:p>
        </p:txBody>
      </p:sp>
      <p:sp>
        <p:nvSpPr>
          <p:cNvPr id="182" name="Rectangle 85"/>
          <p:cNvSpPr>
            <a:spLocks noChangeArrowheads="1"/>
          </p:cNvSpPr>
          <p:nvPr/>
        </p:nvSpPr>
        <p:spPr bwMode="auto">
          <a:xfrm>
            <a:off x="7353300" y="4081463"/>
            <a:ext cx="4318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33*</a:t>
            </a:r>
          </a:p>
        </p:txBody>
      </p:sp>
      <p:sp>
        <p:nvSpPr>
          <p:cNvPr id="183" name="Rectangle 86"/>
          <p:cNvSpPr>
            <a:spLocks noChangeArrowheads="1"/>
          </p:cNvSpPr>
          <p:nvPr/>
        </p:nvSpPr>
        <p:spPr bwMode="auto">
          <a:xfrm>
            <a:off x="7678738" y="4081463"/>
            <a:ext cx="4318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34*</a:t>
            </a:r>
          </a:p>
        </p:txBody>
      </p:sp>
      <p:sp>
        <p:nvSpPr>
          <p:cNvPr id="184" name="Rectangle 87"/>
          <p:cNvSpPr>
            <a:spLocks noChangeArrowheads="1"/>
          </p:cNvSpPr>
          <p:nvPr/>
        </p:nvSpPr>
        <p:spPr bwMode="auto">
          <a:xfrm>
            <a:off x="7993063" y="4070350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38*</a:t>
            </a:r>
          </a:p>
        </p:txBody>
      </p:sp>
      <p:sp>
        <p:nvSpPr>
          <p:cNvPr id="185" name="Rectangle 88"/>
          <p:cNvSpPr>
            <a:spLocks noChangeArrowheads="1"/>
          </p:cNvSpPr>
          <p:nvPr/>
        </p:nvSpPr>
        <p:spPr bwMode="auto">
          <a:xfrm>
            <a:off x="8316913" y="406082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39*</a:t>
            </a:r>
          </a:p>
        </p:txBody>
      </p:sp>
      <p:sp>
        <p:nvSpPr>
          <p:cNvPr id="186" name="Rectangle 89"/>
          <p:cNvSpPr>
            <a:spLocks noChangeArrowheads="1"/>
          </p:cNvSpPr>
          <p:nvPr/>
        </p:nvSpPr>
        <p:spPr bwMode="auto">
          <a:xfrm>
            <a:off x="2024063" y="326548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13</a:t>
            </a:r>
          </a:p>
        </p:txBody>
      </p:sp>
      <p:sp>
        <p:nvSpPr>
          <p:cNvPr id="187" name="Rectangle 90"/>
          <p:cNvSpPr>
            <a:spLocks noChangeArrowheads="1"/>
          </p:cNvSpPr>
          <p:nvPr/>
        </p:nvSpPr>
        <p:spPr bwMode="auto">
          <a:xfrm>
            <a:off x="1557338" y="3265488"/>
            <a:ext cx="2762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188" name="Rectangle 91"/>
          <p:cNvSpPr>
            <a:spLocks noChangeArrowheads="1"/>
          </p:cNvSpPr>
          <p:nvPr/>
        </p:nvSpPr>
        <p:spPr bwMode="auto">
          <a:xfrm>
            <a:off x="2095500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7*</a:t>
            </a:r>
          </a:p>
        </p:txBody>
      </p:sp>
      <p:sp>
        <p:nvSpPr>
          <p:cNvPr id="189" name="Rectangle 92"/>
          <p:cNvSpPr>
            <a:spLocks noChangeArrowheads="1"/>
          </p:cNvSpPr>
          <p:nvPr/>
        </p:nvSpPr>
        <p:spPr bwMode="auto">
          <a:xfrm>
            <a:off x="1773238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5*</a:t>
            </a:r>
          </a:p>
        </p:txBody>
      </p:sp>
      <p:sp>
        <p:nvSpPr>
          <p:cNvPr id="190" name="Rectangle 93"/>
          <p:cNvSpPr>
            <a:spLocks noChangeArrowheads="1"/>
          </p:cNvSpPr>
          <p:nvPr/>
        </p:nvSpPr>
        <p:spPr bwMode="auto">
          <a:xfrm>
            <a:off x="2411413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8*</a:t>
            </a:r>
          </a:p>
        </p:txBody>
      </p:sp>
      <p:sp>
        <p:nvSpPr>
          <p:cNvPr id="191" name="Arc 94"/>
          <p:cNvSpPr>
            <a:spLocks/>
          </p:cNvSpPr>
          <p:nvPr/>
        </p:nvSpPr>
        <p:spPr bwMode="auto">
          <a:xfrm rot="13440000">
            <a:off x="70977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2" name="Arc 95"/>
          <p:cNvSpPr>
            <a:spLocks/>
          </p:cNvSpPr>
          <p:nvPr/>
        </p:nvSpPr>
        <p:spPr bwMode="auto">
          <a:xfrm rot="13440000">
            <a:off x="15351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3" name="Arc 96"/>
          <p:cNvSpPr>
            <a:spLocks/>
          </p:cNvSpPr>
          <p:nvPr/>
        </p:nvSpPr>
        <p:spPr bwMode="auto">
          <a:xfrm rot="13440000">
            <a:off x="29067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" name="Arc 97"/>
          <p:cNvSpPr>
            <a:spLocks/>
          </p:cNvSpPr>
          <p:nvPr/>
        </p:nvSpPr>
        <p:spPr bwMode="auto">
          <a:xfrm rot="13440000">
            <a:off x="43545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5" name="Arc 98"/>
          <p:cNvSpPr>
            <a:spLocks/>
          </p:cNvSpPr>
          <p:nvPr/>
        </p:nvSpPr>
        <p:spPr bwMode="auto">
          <a:xfrm rot="13440000">
            <a:off x="57261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99" name="Straight Arrow Connector 98"/>
          <p:cNvCxnSpPr>
            <a:stCxn id="164" idx="0"/>
          </p:cNvCxnSpPr>
          <p:nvPr/>
        </p:nvCxnSpPr>
        <p:spPr>
          <a:xfrm>
            <a:off x="4065588" y="2830513"/>
            <a:ext cx="1939131" cy="38735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26" name="Straight Arrow Connector 26625"/>
          <p:cNvCxnSpPr/>
          <p:nvPr/>
        </p:nvCxnSpPr>
        <p:spPr>
          <a:xfrm flipH="1">
            <a:off x="5226050" y="3589338"/>
            <a:ext cx="436969" cy="48736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31" name="TextBox 26630"/>
          <p:cNvSpPr txBox="1"/>
          <p:nvPr/>
        </p:nvSpPr>
        <p:spPr>
          <a:xfrm>
            <a:off x="2939358" y="4724400"/>
            <a:ext cx="4733219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 smtClean="0"/>
              <a:t>Removing </a:t>
            </a:r>
            <a:r>
              <a:rPr lang="en-US" sz="2000" dirty="0" smtClean="0">
                <a:solidFill>
                  <a:srgbClr val="FF0000"/>
                </a:solidFill>
              </a:rPr>
              <a:t>19*</a:t>
            </a:r>
            <a:r>
              <a:rPr lang="en-US" sz="2000" dirty="0" smtClean="0"/>
              <a:t> does not cause an underflow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84921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/>
      <p:bldP spid="2663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B+ Tree: Examples </a:t>
            </a:r>
            <a:r>
              <a:rPr lang="en-US" dirty="0" smtClean="0">
                <a:ea typeface="ＭＳ Ｐゴシック" pitchFamily="34" charset="-128"/>
              </a:rPr>
              <a:t>of Deletions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Delete </a:t>
            </a:r>
            <a:r>
              <a:rPr lang="en-US" dirty="0" smtClean="0">
                <a:solidFill>
                  <a:srgbClr val="FF0000"/>
                </a:solidFill>
              </a:rPr>
              <a:t>19*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101" name="Freeform 4"/>
          <p:cNvSpPr>
            <a:spLocks/>
          </p:cNvSpPr>
          <p:nvPr/>
        </p:nvSpPr>
        <p:spPr bwMode="auto">
          <a:xfrm>
            <a:off x="381000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" name="Freeform 5"/>
          <p:cNvSpPr>
            <a:spLocks/>
          </p:cNvSpPr>
          <p:nvPr/>
        </p:nvSpPr>
        <p:spPr bwMode="auto">
          <a:xfrm>
            <a:off x="706438" y="4086225"/>
            <a:ext cx="325437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Freeform 6"/>
          <p:cNvSpPr>
            <a:spLocks/>
          </p:cNvSpPr>
          <p:nvPr/>
        </p:nvSpPr>
        <p:spPr bwMode="auto">
          <a:xfrm>
            <a:off x="1030288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" name="Freeform 7"/>
          <p:cNvSpPr>
            <a:spLocks/>
          </p:cNvSpPr>
          <p:nvPr/>
        </p:nvSpPr>
        <p:spPr bwMode="auto">
          <a:xfrm>
            <a:off x="1355725" y="4086225"/>
            <a:ext cx="325438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" name="Rectangle 8"/>
          <p:cNvSpPr>
            <a:spLocks noChangeArrowheads="1"/>
          </p:cNvSpPr>
          <p:nvPr/>
        </p:nvSpPr>
        <p:spPr bwMode="auto">
          <a:xfrm>
            <a:off x="390525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2*</a:t>
            </a:r>
          </a:p>
        </p:txBody>
      </p:sp>
      <p:sp>
        <p:nvSpPr>
          <p:cNvPr id="106" name="Rectangle 9"/>
          <p:cNvSpPr>
            <a:spLocks noChangeArrowheads="1"/>
          </p:cNvSpPr>
          <p:nvPr/>
        </p:nvSpPr>
        <p:spPr bwMode="auto">
          <a:xfrm>
            <a:off x="715963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3*</a:t>
            </a:r>
          </a:p>
        </p:txBody>
      </p:sp>
      <p:sp>
        <p:nvSpPr>
          <p:cNvPr id="107" name="Freeform 10"/>
          <p:cNvSpPr>
            <a:spLocks/>
          </p:cNvSpPr>
          <p:nvPr/>
        </p:nvSpPr>
        <p:spPr bwMode="auto">
          <a:xfrm>
            <a:off x="3549650" y="246856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Freeform 11"/>
          <p:cNvSpPr>
            <a:spLocks/>
          </p:cNvSpPr>
          <p:nvPr/>
        </p:nvSpPr>
        <p:spPr bwMode="auto">
          <a:xfrm>
            <a:off x="3629025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Freeform 12"/>
          <p:cNvSpPr>
            <a:spLocks/>
          </p:cNvSpPr>
          <p:nvPr/>
        </p:nvSpPr>
        <p:spPr bwMode="auto">
          <a:xfrm>
            <a:off x="4035425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Freeform 13"/>
          <p:cNvSpPr>
            <a:spLocks/>
          </p:cNvSpPr>
          <p:nvPr/>
        </p:nvSpPr>
        <p:spPr bwMode="auto">
          <a:xfrm>
            <a:off x="4116388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Freeform 14"/>
          <p:cNvSpPr>
            <a:spLocks/>
          </p:cNvSpPr>
          <p:nvPr/>
        </p:nvSpPr>
        <p:spPr bwMode="auto">
          <a:xfrm>
            <a:off x="4522788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Freeform 15"/>
          <p:cNvSpPr>
            <a:spLocks/>
          </p:cNvSpPr>
          <p:nvPr/>
        </p:nvSpPr>
        <p:spPr bwMode="auto">
          <a:xfrm>
            <a:off x="4603750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Freeform 16"/>
          <p:cNvSpPr>
            <a:spLocks/>
          </p:cNvSpPr>
          <p:nvPr/>
        </p:nvSpPr>
        <p:spPr bwMode="auto">
          <a:xfrm>
            <a:off x="5010150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Freeform 17"/>
          <p:cNvSpPr>
            <a:spLocks/>
          </p:cNvSpPr>
          <p:nvPr/>
        </p:nvSpPr>
        <p:spPr bwMode="auto">
          <a:xfrm>
            <a:off x="5091113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Freeform 18"/>
          <p:cNvSpPr>
            <a:spLocks/>
          </p:cNvSpPr>
          <p:nvPr/>
        </p:nvSpPr>
        <p:spPr bwMode="auto">
          <a:xfrm>
            <a:off x="5497513" y="246856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Freeform 19"/>
          <p:cNvSpPr>
            <a:spLocks/>
          </p:cNvSpPr>
          <p:nvPr/>
        </p:nvSpPr>
        <p:spPr bwMode="auto">
          <a:xfrm>
            <a:off x="3162300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Freeform 20"/>
          <p:cNvSpPr>
            <a:spLocks/>
          </p:cNvSpPr>
          <p:nvPr/>
        </p:nvSpPr>
        <p:spPr bwMode="auto">
          <a:xfrm>
            <a:off x="348773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Freeform 21"/>
          <p:cNvSpPr>
            <a:spLocks/>
          </p:cNvSpPr>
          <p:nvPr/>
        </p:nvSpPr>
        <p:spPr bwMode="auto">
          <a:xfrm>
            <a:off x="3813175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Freeform 22"/>
          <p:cNvSpPr>
            <a:spLocks/>
          </p:cNvSpPr>
          <p:nvPr/>
        </p:nvSpPr>
        <p:spPr bwMode="auto">
          <a:xfrm>
            <a:off x="41370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Freeform 23"/>
          <p:cNvSpPr>
            <a:spLocks/>
          </p:cNvSpPr>
          <p:nvPr/>
        </p:nvSpPr>
        <p:spPr bwMode="auto">
          <a:xfrm>
            <a:off x="457358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" name="Freeform 24"/>
          <p:cNvSpPr>
            <a:spLocks/>
          </p:cNvSpPr>
          <p:nvPr/>
        </p:nvSpPr>
        <p:spPr bwMode="auto">
          <a:xfrm>
            <a:off x="48990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Freeform 25"/>
          <p:cNvSpPr>
            <a:spLocks/>
          </p:cNvSpPr>
          <p:nvPr/>
        </p:nvSpPr>
        <p:spPr bwMode="auto">
          <a:xfrm>
            <a:off x="5224463" y="4094163"/>
            <a:ext cx="323850" cy="325437"/>
          </a:xfrm>
          <a:custGeom>
            <a:avLst/>
            <a:gdLst>
              <a:gd name="T0" fmla="*/ 0 w 204"/>
              <a:gd name="T1" fmla="*/ 323850 h 205"/>
              <a:gd name="T2" fmla="*/ 0 w 204"/>
              <a:gd name="T3" fmla="*/ 0 h 205"/>
              <a:gd name="T4" fmla="*/ 322263 w 204"/>
              <a:gd name="T5" fmla="*/ 0 h 205"/>
              <a:gd name="T6" fmla="*/ 322263 w 204"/>
              <a:gd name="T7" fmla="*/ 323850 h 205"/>
              <a:gd name="T8" fmla="*/ 0 w 204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4"/>
              <a:gd name="T16" fmla="*/ 0 h 205"/>
              <a:gd name="T17" fmla="*/ 204 w 204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4" h="205">
                <a:moveTo>
                  <a:pt x="0" y="204"/>
                </a:moveTo>
                <a:lnTo>
                  <a:pt x="0" y="0"/>
                </a:lnTo>
                <a:lnTo>
                  <a:pt x="203" y="0"/>
                </a:lnTo>
                <a:lnTo>
                  <a:pt x="203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" name="Freeform 26"/>
          <p:cNvSpPr>
            <a:spLocks/>
          </p:cNvSpPr>
          <p:nvPr/>
        </p:nvSpPr>
        <p:spPr bwMode="auto">
          <a:xfrm>
            <a:off x="55467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" name="Freeform 27"/>
          <p:cNvSpPr>
            <a:spLocks/>
          </p:cNvSpPr>
          <p:nvPr/>
        </p:nvSpPr>
        <p:spPr bwMode="auto">
          <a:xfrm>
            <a:off x="598487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" name="Freeform 28"/>
          <p:cNvSpPr>
            <a:spLocks/>
          </p:cNvSpPr>
          <p:nvPr/>
        </p:nvSpPr>
        <p:spPr bwMode="auto">
          <a:xfrm>
            <a:off x="631031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" name="Freeform 29"/>
          <p:cNvSpPr>
            <a:spLocks/>
          </p:cNvSpPr>
          <p:nvPr/>
        </p:nvSpPr>
        <p:spPr bwMode="auto">
          <a:xfrm>
            <a:off x="663416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7" name="Freeform 30"/>
          <p:cNvSpPr>
            <a:spLocks/>
          </p:cNvSpPr>
          <p:nvPr/>
        </p:nvSpPr>
        <p:spPr bwMode="auto">
          <a:xfrm>
            <a:off x="6958013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" name="Freeform 31"/>
          <p:cNvSpPr>
            <a:spLocks/>
          </p:cNvSpPr>
          <p:nvPr/>
        </p:nvSpPr>
        <p:spPr bwMode="auto">
          <a:xfrm>
            <a:off x="7385050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" name="Freeform 32"/>
          <p:cNvSpPr>
            <a:spLocks/>
          </p:cNvSpPr>
          <p:nvPr/>
        </p:nvSpPr>
        <p:spPr bwMode="auto">
          <a:xfrm>
            <a:off x="7710488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Freeform 33"/>
          <p:cNvSpPr>
            <a:spLocks/>
          </p:cNvSpPr>
          <p:nvPr/>
        </p:nvSpPr>
        <p:spPr bwMode="auto">
          <a:xfrm>
            <a:off x="8034338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" name="Freeform 34"/>
          <p:cNvSpPr>
            <a:spLocks/>
          </p:cNvSpPr>
          <p:nvPr/>
        </p:nvSpPr>
        <p:spPr bwMode="auto">
          <a:xfrm>
            <a:off x="835818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Freeform 35"/>
          <p:cNvSpPr>
            <a:spLocks/>
          </p:cNvSpPr>
          <p:nvPr/>
        </p:nvSpPr>
        <p:spPr bwMode="auto">
          <a:xfrm>
            <a:off x="1428750" y="323691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" name="Freeform 36"/>
          <p:cNvSpPr>
            <a:spLocks/>
          </p:cNvSpPr>
          <p:nvPr/>
        </p:nvSpPr>
        <p:spPr bwMode="auto">
          <a:xfrm>
            <a:off x="15097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" name="Freeform 37"/>
          <p:cNvSpPr>
            <a:spLocks/>
          </p:cNvSpPr>
          <p:nvPr/>
        </p:nvSpPr>
        <p:spPr bwMode="auto">
          <a:xfrm>
            <a:off x="1914525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" name="Freeform 38"/>
          <p:cNvSpPr>
            <a:spLocks/>
          </p:cNvSpPr>
          <p:nvPr/>
        </p:nvSpPr>
        <p:spPr bwMode="auto">
          <a:xfrm>
            <a:off x="199548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" name="Freeform 39"/>
          <p:cNvSpPr>
            <a:spLocks/>
          </p:cNvSpPr>
          <p:nvPr/>
        </p:nvSpPr>
        <p:spPr bwMode="auto">
          <a:xfrm>
            <a:off x="2401888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" name="Freeform 40"/>
          <p:cNvSpPr>
            <a:spLocks/>
          </p:cNvSpPr>
          <p:nvPr/>
        </p:nvSpPr>
        <p:spPr bwMode="auto">
          <a:xfrm>
            <a:off x="2482850" y="32369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" name="Freeform 41"/>
          <p:cNvSpPr>
            <a:spLocks/>
          </p:cNvSpPr>
          <p:nvPr/>
        </p:nvSpPr>
        <p:spPr bwMode="auto">
          <a:xfrm>
            <a:off x="288925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" name="Freeform 42"/>
          <p:cNvSpPr>
            <a:spLocks/>
          </p:cNvSpPr>
          <p:nvPr/>
        </p:nvSpPr>
        <p:spPr bwMode="auto">
          <a:xfrm>
            <a:off x="29702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" name="Freeform 43"/>
          <p:cNvSpPr>
            <a:spLocks/>
          </p:cNvSpPr>
          <p:nvPr/>
        </p:nvSpPr>
        <p:spPr bwMode="auto">
          <a:xfrm>
            <a:off x="3376613" y="323691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1" name="Freeform 44"/>
          <p:cNvSpPr>
            <a:spLocks/>
          </p:cNvSpPr>
          <p:nvPr/>
        </p:nvSpPr>
        <p:spPr bwMode="auto">
          <a:xfrm>
            <a:off x="563880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2" name="Freeform 45"/>
          <p:cNvSpPr>
            <a:spLocks/>
          </p:cNvSpPr>
          <p:nvPr/>
        </p:nvSpPr>
        <p:spPr bwMode="auto">
          <a:xfrm>
            <a:off x="571976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" name="Freeform 46"/>
          <p:cNvSpPr>
            <a:spLocks/>
          </p:cNvSpPr>
          <p:nvPr/>
        </p:nvSpPr>
        <p:spPr bwMode="auto">
          <a:xfrm>
            <a:off x="6126163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" name="Freeform 47"/>
          <p:cNvSpPr>
            <a:spLocks/>
          </p:cNvSpPr>
          <p:nvPr/>
        </p:nvSpPr>
        <p:spPr bwMode="auto">
          <a:xfrm>
            <a:off x="6207125" y="32369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5" name="Freeform 48"/>
          <p:cNvSpPr>
            <a:spLocks/>
          </p:cNvSpPr>
          <p:nvPr/>
        </p:nvSpPr>
        <p:spPr bwMode="auto">
          <a:xfrm>
            <a:off x="6613525" y="323691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6" name="Freeform 49"/>
          <p:cNvSpPr>
            <a:spLocks/>
          </p:cNvSpPr>
          <p:nvPr/>
        </p:nvSpPr>
        <p:spPr bwMode="auto">
          <a:xfrm>
            <a:off x="669448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7" name="Freeform 50"/>
          <p:cNvSpPr>
            <a:spLocks/>
          </p:cNvSpPr>
          <p:nvPr/>
        </p:nvSpPr>
        <p:spPr bwMode="auto">
          <a:xfrm>
            <a:off x="709930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8" name="Freeform 51"/>
          <p:cNvSpPr>
            <a:spLocks/>
          </p:cNvSpPr>
          <p:nvPr/>
        </p:nvSpPr>
        <p:spPr bwMode="auto">
          <a:xfrm>
            <a:off x="718343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9" name="Freeform 52"/>
          <p:cNvSpPr>
            <a:spLocks/>
          </p:cNvSpPr>
          <p:nvPr/>
        </p:nvSpPr>
        <p:spPr bwMode="auto">
          <a:xfrm>
            <a:off x="7586663" y="3236913"/>
            <a:ext cx="84137" cy="404812"/>
          </a:xfrm>
          <a:custGeom>
            <a:avLst/>
            <a:gdLst>
              <a:gd name="T0" fmla="*/ 0 w 53"/>
              <a:gd name="T1" fmla="*/ 403225 h 255"/>
              <a:gd name="T2" fmla="*/ 0 w 53"/>
              <a:gd name="T3" fmla="*/ 0 h 255"/>
              <a:gd name="T4" fmla="*/ 82550 w 53"/>
              <a:gd name="T5" fmla="*/ 0 h 255"/>
              <a:gd name="T6" fmla="*/ 82550 w 53"/>
              <a:gd name="T7" fmla="*/ 403225 h 255"/>
              <a:gd name="T8" fmla="*/ 0 w 53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"/>
              <a:gd name="T16" fmla="*/ 0 h 255"/>
              <a:gd name="T17" fmla="*/ 53 w 53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" h="255">
                <a:moveTo>
                  <a:pt x="0" y="254"/>
                </a:moveTo>
                <a:lnTo>
                  <a:pt x="0" y="0"/>
                </a:lnTo>
                <a:lnTo>
                  <a:pt x="52" y="0"/>
                </a:lnTo>
                <a:lnTo>
                  <a:pt x="52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" name="Freeform 53"/>
          <p:cNvSpPr>
            <a:spLocks/>
          </p:cNvSpPr>
          <p:nvPr/>
        </p:nvSpPr>
        <p:spPr bwMode="auto">
          <a:xfrm>
            <a:off x="1012825" y="3559175"/>
            <a:ext cx="446088" cy="496888"/>
          </a:xfrm>
          <a:custGeom>
            <a:avLst/>
            <a:gdLst>
              <a:gd name="T0" fmla="*/ 444500 w 281"/>
              <a:gd name="T1" fmla="*/ 0 h 313"/>
              <a:gd name="T2" fmla="*/ 0 w 281"/>
              <a:gd name="T3" fmla="*/ 495300 h 313"/>
              <a:gd name="T4" fmla="*/ 444500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" name="Freeform 54"/>
          <p:cNvSpPr>
            <a:spLocks/>
          </p:cNvSpPr>
          <p:nvPr/>
        </p:nvSpPr>
        <p:spPr bwMode="auto">
          <a:xfrm>
            <a:off x="1012825" y="3962400"/>
            <a:ext cx="87313" cy="93663"/>
          </a:xfrm>
          <a:custGeom>
            <a:avLst/>
            <a:gdLst>
              <a:gd name="T0" fmla="*/ 85725 w 55"/>
              <a:gd name="T1" fmla="*/ 33338 h 59"/>
              <a:gd name="T2" fmla="*/ 0 w 55"/>
              <a:gd name="T3" fmla="*/ 92075 h 59"/>
              <a:gd name="T4" fmla="*/ 47625 w 55"/>
              <a:gd name="T5" fmla="*/ 0 h 59"/>
              <a:gd name="T6" fmla="*/ 85725 w 55"/>
              <a:gd name="T7" fmla="*/ 33338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2" name="Freeform 55"/>
          <p:cNvSpPr>
            <a:spLocks/>
          </p:cNvSpPr>
          <p:nvPr/>
        </p:nvSpPr>
        <p:spPr bwMode="auto">
          <a:xfrm>
            <a:off x="1944688" y="3559175"/>
            <a:ext cx="449262" cy="506413"/>
          </a:xfrm>
          <a:custGeom>
            <a:avLst/>
            <a:gdLst>
              <a:gd name="T0" fmla="*/ 0 w 283"/>
              <a:gd name="T1" fmla="*/ 0 h 319"/>
              <a:gd name="T2" fmla="*/ 447675 w 283"/>
              <a:gd name="T3" fmla="*/ 504825 h 319"/>
              <a:gd name="T4" fmla="*/ 0 w 283"/>
              <a:gd name="T5" fmla="*/ 0 h 319"/>
              <a:gd name="T6" fmla="*/ 0 60000 65536"/>
              <a:gd name="T7" fmla="*/ 0 60000 65536"/>
              <a:gd name="T8" fmla="*/ 0 60000 65536"/>
              <a:gd name="T9" fmla="*/ 0 w 283"/>
              <a:gd name="T10" fmla="*/ 0 h 319"/>
              <a:gd name="T11" fmla="*/ 283 w 283"/>
              <a:gd name="T12" fmla="*/ 319 h 31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3" h="319">
                <a:moveTo>
                  <a:pt x="0" y="0"/>
                </a:moveTo>
                <a:lnTo>
                  <a:pt x="282" y="318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" name="Freeform 56"/>
          <p:cNvSpPr>
            <a:spLocks/>
          </p:cNvSpPr>
          <p:nvPr/>
        </p:nvSpPr>
        <p:spPr bwMode="auto">
          <a:xfrm>
            <a:off x="2305050" y="3973513"/>
            <a:ext cx="88900" cy="92075"/>
          </a:xfrm>
          <a:custGeom>
            <a:avLst/>
            <a:gdLst>
              <a:gd name="T0" fmla="*/ 38100 w 56"/>
              <a:gd name="T1" fmla="*/ 0 h 58"/>
              <a:gd name="T2" fmla="*/ 87313 w 56"/>
              <a:gd name="T3" fmla="*/ 90488 h 58"/>
              <a:gd name="T4" fmla="*/ 0 w 56"/>
              <a:gd name="T5" fmla="*/ 33338 h 58"/>
              <a:gd name="T6" fmla="*/ 38100 w 56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6"/>
              <a:gd name="T13" fmla="*/ 0 h 58"/>
              <a:gd name="T14" fmla="*/ 56 w 56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" h="58">
                <a:moveTo>
                  <a:pt x="24" y="0"/>
                </a:moveTo>
                <a:lnTo>
                  <a:pt x="55" y="57"/>
                </a:lnTo>
                <a:lnTo>
                  <a:pt x="0" y="21"/>
                </a:lnTo>
                <a:lnTo>
                  <a:pt x="24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" name="Freeform 57"/>
          <p:cNvSpPr>
            <a:spLocks/>
          </p:cNvSpPr>
          <p:nvPr/>
        </p:nvSpPr>
        <p:spPr bwMode="auto">
          <a:xfrm>
            <a:off x="2443163" y="3559175"/>
            <a:ext cx="1330325" cy="517525"/>
          </a:xfrm>
          <a:custGeom>
            <a:avLst/>
            <a:gdLst>
              <a:gd name="T0" fmla="*/ 0 w 838"/>
              <a:gd name="T1" fmla="*/ 0 h 326"/>
              <a:gd name="T2" fmla="*/ 1328738 w 838"/>
              <a:gd name="T3" fmla="*/ 515938 h 326"/>
              <a:gd name="T4" fmla="*/ 0 w 838"/>
              <a:gd name="T5" fmla="*/ 0 h 326"/>
              <a:gd name="T6" fmla="*/ 0 60000 65536"/>
              <a:gd name="T7" fmla="*/ 0 60000 65536"/>
              <a:gd name="T8" fmla="*/ 0 60000 65536"/>
              <a:gd name="T9" fmla="*/ 0 w 838"/>
              <a:gd name="T10" fmla="*/ 0 h 326"/>
              <a:gd name="T11" fmla="*/ 838 w 838"/>
              <a:gd name="T12" fmla="*/ 326 h 3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38" h="326">
                <a:moveTo>
                  <a:pt x="0" y="0"/>
                </a:moveTo>
                <a:lnTo>
                  <a:pt x="837" y="32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" name="Freeform 58"/>
          <p:cNvSpPr>
            <a:spLocks/>
          </p:cNvSpPr>
          <p:nvPr/>
        </p:nvSpPr>
        <p:spPr bwMode="auto">
          <a:xfrm>
            <a:off x="3668713" y="4014788"/>
            <a:ext cx="104775" cy="61912"/>
          </a:xfrm>
          <a:custGeom>
            <a:avLst/>
            <a:gdLst>
              <a:gd name="T0" fmla="*/ 17463 w 66"/>
              <a:gd name="T1" fmla="*/ 0 h 39"/>
              <a:gd name="T2" fmla="*/ 103188 w 66"/>
              <a:gd name="T3" fmla="*/ 60325 h 39"/>
              <a:gd name="T4" fmla="*/ 0 w 66"/>
              <a:gd name="T5" fmla="*/ 47625 h 39"/>
              <a:gd name="T6" fmla="*/ 17463 w 66"/>
              <a:gd name="T7" fmla="*/ 0 h 39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39"/>
              <a:gd name="T14" fmla="*/ 66 w 66"/>
              <a:gd name="T15" fmla="*/ 39 h 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39">
                <a:moveTo>
                  <a:pt x="11" y="0"/>
                </a:moveTo>
                <a:lnTo>
                  <a:pt x="65" y="38"/>
                </a:lnTo>
                <a:lnTo>
                  <a:pt x="0" y="30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" name="Freeform 59"/>
          <p:cNvSpPr>
            <a:spLocks/>
          </p:cNvSpPr>
          <p:nvPr/>
        </p:nvSpPr>
        <p:spPr bwMode="auto">
          <a:xfrm>
            <a:off x="5224463" y="3579813"/>
            <a:ext cx="446087" cy="496887"/>
          </a:xfrm>
          <a:custGeom>
            <a:avLst/>
            <a:gdLst>
              <a:gd name="T0" fmla="*/ 444500 w 281"/>
              <a:gd name="T1" fmla="*/ 0 h 313"/>
              <a:gd name="T2" fmla="*/ 0 w 281"/>
              <a:gd name="T3" fmla="*/ 495300 h 313"/>
              <a:gd name="T4" fmla="*/ 444500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" name="Freeform 60"/>
          <p:cNvSpPr>
            <a:spLocks/>
          </p:cNvSpPr>
          <p:nvPr/>
        </p:nvSpPr>
        <p:spPr bwMode="auto">
          <a:xfrm>
            <a:off x="5224463" y="3983038"/>
            <a:ext cx="87312" cy="93662"/>
          </a:xfrm>
          <a:custGeom>
            <a:avLst/>
            <a:gdLst>
              <a:gd name="T0" fmla="*/ 85725 w 55"/>
              <a:gd name="T1" fmla="*/ 33337 h 59"/>
              <a:gd name="T2" fmla="*/ 0 w 55"/>
              <a:gd name="T3" fmla="*/ 92075 h 59"/>
              <a:gd name="T4" fmla="*/ 47625 w 55"/>
              <a:gd name="T5" fmla="*/ 0 h 59"/>
              <a:gd name="T6" fmla="*/ 85725 w 55"/>
              <a:gd name="T7" fmla="*/ 33337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" name="Freeform 61"/>
          <p:cNvSpPr>
            <a:spLocks/>
          </p:cNvSpPr>
          <p:nvPr/>
        </p:nvSpPr>
        <p:spPr bwMode="auto">
          <a:xfrm>
            <a:off x="6156325" y="3579813"/>
            <a:ext cx="458788" cy="476250"/>
          </a:xfrm>
          <a:custGeom>
            <a:avLst/>
            <a:gdLst>
              <a:gd name="T0" fmla="*/ 0 w 289"/>
              <a:gd name="T1" fmla="*/ 0 h 300"/>
              <a:gd name="T2" fmla="*/ 457200 w 289"/>
              <a:gd name="T3" fmla="*/ 474663 h 300"/>
              <a:gd name="T4" fmla="*/ 0 w 289"/>
              <a:gd name="T5" fmla="*/ 0 h 300"/>
              <a:gd name="T6" fmla="*/ 0 60000 65536"/>
              <a:gd name="T7" fmla="*/ 0 60000 65536"/>
              <a:gd name="T8" fmla="*/ 0 60000 65536"/>
              <a:gd name="T9" fmla="*/ 0 w 289"/>
              <a:gd name="T10" fmla="*/ 0 h 300"/>
              <a:gd name="T11" fmla="*/ 289 w 289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9" h="300">
                <a:moveTo>
                  <a:pt x="0" y="0"/>
                </a:moveTo>
                <a:lnTo>
                  <a:pt x="288" y="299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" name="Freeform 62"/>
          <p:cNvSpPr>
            <a:spLocks/>
          </p:cNvSpPr>
          <p:nvPr/>
        </p:nvSpPr>
        <p:spPr bwMode="auto">
          <a:xfrm>
            <a:off x="6524625" y="3963988"/>
            <a:ext cx="90488" cy="92075"/>
          </a:xfrm>
          <a:custGeom>
            <a:avLst/>
            <a:gdLst>
              <a:gd name="T0" fmla="*/ 36513 w 57"/>
              <a:gd name="T1" fmla="*/ 0 h 58"/>
              <a:gd name="T2" fmla="*/ 88900 w 57"/>
              <a:gd name="T3" fmla="*/ 90488 h 58"/>
              <a:gd name="T4" fmla="*/ 0 w 57"/>
              <a:gd name="T5" fmla="*/ 34925 h 58"/>
              <a:gd name="T6" fmla="*/ 36513 w 57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7"/>
              <a:gd name="T13" fmla="*/ 0 h 58"/>
              <a:gd name="T14" fmla="*/ 57 w 57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" h="58">
                <a:moveTo>
                  <a:pt x="23" y="0"/>
                </a:moveTo>
                <a:lnTo>
                  <a:pt x="56" y="57"/>
                </a:lnTo>
                <a:lnTo>
                  <a:pt x="0" y="22"/>
                </a:lnTo>
                <a:lnTo>
                  <a:pt x="23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" name="Freeform 63"/>
          <p:cNvSpPr>
            <a:spLocks/>
          </p:cNvSpPr>
          <p:nvPr/>
        </p:nvSpPr>
        <p:spPr bwMode="auto">
          <a:xfrm>
            <a:off x="6643688" y="3589338"/>
            <a:ext cx="1362075" cy="476250"/>
          </a:xfrm>
          <a:custGeom>
            <a:avLst/>
            <a:gdLst>
              <a:gd name="T0" fmla="*/ 0 w 858"/>
              <a:gd name="T1" fmla="*/ 0 h 300"/>
              <a:gd name="T2" fmla="*/ 1360488 w 858"/>
              <a:gd name="T3" fmla="*/ 474663 h 300"/>
              <a:gd name="T4" fmla="*/ 0 w 858"/>
              <a:gd name="T5" fmla="*/ 0 h 300"/>
              <a:gd name="T6" fmla="*/ 0 60000 65536"/>
              <a:gd name="T7" fmla="*/ 0 60000 65536"/>
              <a:gd name="T8" fmla="*/ 0 60000 65536"/>
              <a:gd name="T9" fmla="*/ 0 w 858"/>
              <a:gd name="T10" fmla="*/ 0 h 300"/>
              <a:gd name="T11" fmla="*/ 858 w 858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58" h="300">
                <a:moveTo>
                  <a:pt x="0" y="0"/>
                </a:moveTo>
                <a:lnTo>
                  <a:pt x="857" y="299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1" name="Freeform 64"/>
          <p:cNvSpPr>
            <a:spLocks/>
          </p:cNvSpPr>
          <p:nvPr/>
        </p:nvSpPr>
        <p:spPr bwMode="auto">
          <a:xfrm>
            <a:off x="7899400" y="4006850"/>
            <a:ext cx="106363" cy="58738"/>
          </a:xfrm>
          <a:custGeom>
            <a:avLst/>
            <a:gdLst>
              <a:gd name="T0" fmla="*/ 17463 w 67"/>
              <a:gd name="T1" fmla="*/ 0 h 37"/>
              <a:gd name="T2" fmla="*/ 104775 w 67"/>
              <a:gd name="T3" fmla="*/ 57150 h 37"/>
              <a:gd name="T4" fmla="*/ 0 w 67"/>
              <a:gd name="T5" fmla="*/ 49213 h 37"/>
              <a:gd name="T6" fmla="*/ 17463 w 67"/>
              <a:gd name="T7" fmla="*/ 0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11" y="0"/>
                </a:moveTo>
                <a:lnTo>
                  <a:pt x="66" y="36"/>
                </a:lnTo>
                <a:lnTo>
                  <a:pt x="0" y="31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" name="Freeform 65"/>
          <p:cNvSpPr>
            <a:spLocks/>
          </p:cNvSpPr>
          <p:nvPr/>
        </p:nvSpPr>
        <p:spPr bwMode="auto">
          <a:xfrm>
            <a:off x="2401888" y="2820988"/>
            <a:ext cx="1177925" cy="396875"/>
          </a:xfrm>
          <a:custGeom>
            <a:avLst/>
            <a:gdLst>
              <a:gd name="T0" fmla="*/ 1176338 w 742"/>
              <a:gd name="T1" fmla="*/ 0 h 250"/>
              <a:gd name="T2" fmla="*/ 0 w 742"/>
              <a:gd name="T3" fmla="*/ 395288 h 250"/>
              <a:gd name="T4" fmla="*/ 1176338 w 742"/>
              <a:gd name="T5" fmla="*/ 0 h 250"/>
              <a:gd name="T6" fmla="*/ 0 60000 65536"/>
              <a:gd name="T7" fmla="*/ 0 60000 65536"/>
              <a:gd name="T8" fmla="*/ 0 60000 65536"/>
              <a:gd name="T9" fmla="*/ 0 w 742"/>
              <a:gd name="T10" fmla="*/ 0 h 250"/>
              <a:gd name="T11" fmla="*/ 742 w 742"/>
              <a:gd name="T12" fmla="*/ 250 h 2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42" h="250">
                <a:moveTo>
                  <a:pt x="741" y="0"/>
                </a:moveTo>
                <a:lnTo>
                  <a:pt x="0" y="249"/>
                </a:lnTo>
                <a:lnTo>
                  <a:pt x="74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" name="Freeform 66"/>
          <p:cNvSpPr>
            <a:spLocks/>
          </p:cNvSpPr>
          <p:nvPr/>
        </p:nvSpPr>
        <p:spPr bwMode="auto">
          <a:xfrm>
            <a:off x="2401888" y="3159125"/>
            <a:ext cx="106362" cy="58738"/>
          </a:xfrm>
          <a:custGeom>
            <a:avLst/>
            <a:gdLst>
              <a:gd name="T0" fmla="*/ 104775 w 67"/>
              <a:gd name="T1" fmla="*/ 49213 h 37"/>
              <a:gd name="T2" fmla="*/ 0 w 67"/>
              <a:gd name="T3" fmla="*/ 57150 h 37"/>
              <a:gd name="T4" fmla="*/ 88900 w 67"/>
              <a:gd name="T5" fmla="*/ 0 h 37"/>
              <a:gd name="T6" fmla="*/ 104775 w 67"/>
              <a:gd name="T7" fmla="*/ 49213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66" y="31"/>
                </a:moveTo>
                <a:lnTo>
                  <a:pt x="0" y="36"/>
                </a:lnTo>
                <a:lnTo>
                  <a:pt x="56" y="0"/>
                </a:lnTo>
                <a:lnTo>
                  <a:pt x="66" y="3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" name="Freeform 67"/>
          <p:cNvSpPr>
            <a:spLocks/>
          </p:cNvSpPr>
          <p:nvPr/>
        </p:nvSpPr>
        <p:spPr bwMode="auto">
          <a:xfrm>
            <a:off x="4065588" y="2830513"/>
            <a:ext cx="1992312" cy="387350"/>
          </a:xfrm>
          <a:custGeom>
            <a:avLst/>
            <a:gdLst>
              <a:gd name="T0" fmla="*/ 0 w 1255"/>
              <a:gd name="T1" fmla="*/ 0 h 244"/>
              <a:gd name="T2" fmla="*/ 1990725 w 1255"/>
              <a:gd name="T3" fmla="*/ 385763 h 244"/>
              <a:gd name="T4" fmla="*/ 0 w 1255"/>
              <a:gd name="T5" fmla="*/ 0 h 244"/>
              <a:gd name="T6" fmla="*/ 0 60000 65536"/>
              <a:gd name="T7" fmla="*/ 0 60000 65536"/>
              <a:gd name="T8" fmla="*/ 0 60000 65536"/>
              <a:gd name="T9" fmla="*/ 0 w 1255"/>
              <a:gd name="T10" fmla="*/ 0 h 244"/>
              <a:gd name="T11" fmla="*/ 1255 w 1255"/>
              <a:gd name="T12" fmla="*/ 244 h 2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5" h="244">
                <a:moveTo>
                  <a:pt x="0" y="0"/>
                </a:moveTo>
                <a:lnTo>
                  <a:pt x="1254" y="243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" name="Freeform 68"/>
          <p:cNvSpPr>
            <a:spLocks/>
          </p:cNvSpPr>
          <p:nvPr/>
        </p:nvSpPr>
        <p:spPr bwMode="auto">
          <a:xfrm>
            <a:off x="5951538" y="3171825"/>
            <a:ext cx="106362" cy="50800"/>
          </a:xfrm>
          <a:custGeom>
            <a:avLst/>
            <a:gdLst>
              <a:gd name="T0" fmla="*/ 9525 w 67"/>
              <a:gd name="T1" fmla="*/ 0 h 32"/>
              <a:gd name="T2" fmla="*/ 104775 w 67"/>
              <a:gd name="T3" fmla="*/ 44450 h 32"/>
              <a:gd name="T4" fmla="*/ 0 w 67"/>
              <a:gd name="T5" fmla="*/ 49213 h 32"/>
              <a:gd name="T6" fmla="*/ 9525 w 67"/>
              <a:gd name="T7" fmla="*/ 0 h 32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2"/>
              <a:gd name="T14" fmla="*/ 67 w 67"/>
              <a:gd name="T15" fmla="*/ 32 h 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2">
                <a:moveTo>
                  <a:pt x="6" y="0"/>
                </a:moveTo>
                <a:lnTo>
                  <a:pt x="66" y="28"/>
                </a:lnTo>
                <a:lnTo>
                  <a:pt x="0" y="31"/>
                </a:lnTo>
                <a:lnTo>
                  <a:pt x="6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" name="Freeform 69"/>
          <p:cNvSpPr>
            <a:spLocks/>
          </p:cNvSpPr>
          <p:nvPr/>
        </p:nvSpPr>
        <p:spPr bwMode="auto">
          <a:xfrm>
            <a:off x="176371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" name="Freeform 70"/>
          <p:cNvSpPr>
            <a:spLocks/>
          </p:cNvSpPr>
          <p:nvPr/>
        </p:nvSpPr>
        <p:spPr bwMode="auto">
          <a:xfrm>
            <a:off x="2087563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" name="Freeform 71"/>
          <p:cNvSpPr>
            <a:spLocks/>
          </p:cNvSpPr>
          <p:nvPr/>
        </p:nvSpPr>
        <p:spPr bwMode="auto">
          <a:xfrm>
            <a:off x="241300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" name="Freeform 72"/>
          <p:cNvSpPr>
            <a:spLocks/>
          </p:cNvSpPr>
          <p:nvPr/>
        </p:nvSpPr>
        <p:spPr bwMode="auto">
          <a:xfrm>
            <a:off x="273685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0" name="Rectangle 73"/>
          <p:cNvSpPr>
            <a:spLocks noChangeArrowheads="1"/>
          </p:cNvSpPr>
          <p:nvPr/>
        </p:nvSpPr>
        <p:spPr bwMode="auto">
          <a:xfrm>
            <a:off x="2916238" y="2362200"/>
            <a:ext cx="5889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u="none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171" name="Rectangle 74"/>
          <p:cNvSpPr>
            <a:spLocks noChangeArrowheads="1"/>
          </p:cNvSpPr>
          <p:nvPr/>
        </p:nvSpPr>
        <p:spPr bwMode="auto">
          <a:xfrm>
            <a:off x="3678238" y="249713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17</a:t>
            </a:r>
          </a:p>
        </p:txBody>
      </p:sp>
      <p:sp>
        <p:nvSpPr>
          <p:cNvPr id="172" name="Rectangle 75"/>
          <p:cNvSpPr>
            <a:spLocks noChangeArrowheads="1"/>
          </p:cNvSpPr>
          <p:nvPr/>
        </p:nvSpPr>
        <p:spPr bwMode="auto">
          <a:xfrm>
            <a:off x="5748338" y="325278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24</a:t>
            </a:r>
          </a:p>
        </p:txBody>
      </p:sp>
      <p:sp>
        <p:nvSpPr>
          <p:cNvPr id="173" name="Rectangle 76"/>
          <p:cNvSpPr>
            <a:spLocks noChangeArrowheads="1"/>
          </p:cNvSpPr>
          <p:nvPr/>
        </p:nvSpPr>
        <p:spPr bwMode="auto">
          <a:xfrm>
            <a:off x="6245225" y="3263900"/>
            <a:ext cx="3683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30</a:t>
            </a:r>
          </a:p>
        </p:txBody>
      </p:sp>
      <p:sp>
        <p:nvSpPr>
          <p:cNvPr id="174" name="Rectangle 77"/>
          <p:cNvSpPr>
            <a:spLocks noChangeArrowheads="1"/>
          </p:cNvSpPr>
          <p:nvPr/>
        </p:nvSpPr>
        <p:spPr bwMode="auto">
          <a:xfrm>
            <a:off x="312261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14*</a:t>
            </a:r>
          </a:p>
        </p:txBody>
      </p:sp>
      <p:sp>
        <p:nvSpPr>
          <p:cNvPr id="175" name="Rectangle 78"/>
          <p:cNvSpPr>
            <a:spLocks noChangeArrowheads="1"/>
          </p:cNvSpPr>
          <p:nvPr/>
        </p:nvSpPr>
        <p:spPr bwMode="auto">
          <a:xfrm>
            <a:off x="344646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16*</a:t>
            </a:r>
          </a:p>
        </p:txBody>
      </p:sp>
      <p:sp>
        <p:nvSpPr>
          <p:cNvPr id="179" name="Rectangle 82"/>
          <p:cNvSpPr>
            <a:spLocks noChangeArrowheads="1"/>
          </p:cNvSpPr>
          <p:nvPr/>
        </p:nvSpPr>
        <p:spPr bwMode="auto">
          <a:xfrm>
            <a:off x="5943600" y="4070350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24*</a:t>
            </a:r>
          </a:p>
        </p:txBody>
      </p:sp>
      <p:sp>
        <p:nvSpPr>
          <p:cNvPr id="180" name="Rectangle 83"/>
          <p:cNvSpPr>
            <a:spLocks noChangeArrowheads="1"/>
          </p:cNvSpPr>
          <p:nvPr/>
        </p:nvSpPr>
        <p:spPr bwMode="auto">
          <a:xfrm>
            <a:off x="6278563" y="4070350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27*</a:t>
            </a:r>
          </a:p>
        </p:txBody>
      </p:sp>
      <p:sp>
        <p:nvSpPr>
          <p:cNvPr id="181" name="Rectangle 84"/>
          <p:cNvSpPr>
            <a:spLocks noChangeArrowheads="1"/>
          </p:cNvSpPr>
          <p:nvPr/>
        </p:nvSpPr>
        <p:spPr bwMode="auto">
          <a:xfrm>
            <a:off x="6581775" y="4081463"/>
            <a:ext cx="4318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29*</a:t>
            </a:r>
          </a:p>
        </p:txBody>
      </p:sp>
      <p:sp>
        <p:nvSpPr>
          <p:cNvPr id="182" name="Rectangle 85"/>
          <p:cNvSpPr>
            <a:spLocks noChangeArrowheads="1"/>
          </p:cNvSpPr>
          <p:nvPr/>
        </p:nvSpPr>
        <p:spPr bwMode="auto">
          <a:xfrm>
            <a:off x="7353300" y="4081463"/>
            <a:ext cx="4318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33*</a:t>
            </a:r>
          </a:p>
        </p:txBody>
      </p:sp>
      <p:sp>
        <p:nvSpPr>
          <p:cNvPr id="183" name="Rectangle 86"/>
          <p:cNvSpPr>
            <a:spLocks noChangeArrowheads="1"/>
          </p:cNvSpPr>
          <p:nvPr/>
        </p:nvSpPr>
        <p:spPr bwMode="auto">
          <a:xfrm>
            <a:off x="7678738" y="4081463"/>
            <a:ext cx="4318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34*</a:t>
            </a:r>
          </a:p>
        </p:txBody>
      </p:sp>
      <p:sp>
        <p:nvSpPr>
          <p:cNvPr id="184" name="Rectangle 87"/>
          <p:cNvSpPr>
            <a:spLocks noChangeArrowheads="1"/>
          </p:cNvSpPr>
          <p:nvPr/>
        </p:nvSpPr>
        <p:spPr bwMode="auto">
          <a:xfrm>
            <a:off x="7993063" y="4070350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38*</a:t>
            </a:r>
          </a:p>
        </p:txBody>
      </p:sp>
      <p:sp>
        <p:nvSpPr>
          <p:cNvPr id="185" name="Rectangle 88"/>
          <p:cNvSpPr>
            <a:spLocks noChangeArrowheads="1"/>
          </p:cNvSpPr>
          <p:nvPr/>
        </p:nvSpPr>
        <p:spPr bwMode="auto">
          <a:xfrm>
            <a:off x="8316913" y="406082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39*</a:t>
            </a:r>
          </a:p>
        </p:txBody>
      </p:sp>
      <p:sp>
        <p:nvSpPr>
          <p:cNvPr id="186" name="Rectangle 89"/>
          <p:cNvSpPr>
            <a:spLocks noChangeArrowheads="1"/>
          </p:cNvSpPr>
          <p:nvPr/>
        </p:nvSpPr>
        <p:spPr bwMode="auto">
          <a:xfrm>
            <a:off x="2024063" y="326548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13</a:t>
            </a:r>
          </a:p>
        </p:txBody>
      </p:sp>
      <p:sp>
        <p:nvSpPr>
          <p:cNvPr id="187" name="Rectangle 90"/>
          <p:cNvSpPr>
            <a:spLocks noChangeArrowheads="1"/>
          </p:cNvSpPr>
          <p:nvPr/>
        </p:nvSpPr>
        <p:spPr bwMode="auto">
          <a:xfrm>
            <a:off x="1557338" y="3265488"/>
            <a:ext cx="2762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188" name="Rectangle 91"/>
          <p:cNvSpPr>
            <a:spLocks noChangeArrowheads="1"/>
          </p:cNvSpPr>
          <p:nvPr/>
        </p:nvSpPr>
        <p:spPr bwMode="auto">
          <a:xfrm>
            <a:off x="2095500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7*</a:t>
            </a:r>
          </a:p>
        </p:txBody>
      </p:sp>
      <p:sp>
        <p:nvSpPr>
          <p:cNvPr id="189" name="Rectangle 92"/>
          <p:cNvSpPr>
            <a:spLocks noChangeArrowheads="1"/>
          </p:cNvSpPr>
          <p:nvPr/>
        </p:nvSpPr>
        <p:spPr bwMode="auto">
          <a:xfrm>
            <a:off x="1773238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5*</a:t>
            </a:r>
          </a:p>
        </p:txBody>
      </p:sp>
      <p:sp>
        <p:nvSpPr>
          <p:cNvPr id="190" name="Rectangle 93"/>
          <p:cNvSpPr>
            <a:spLocks noChangeArrowheads="1"/>
          </p:cNvSpPr>
          <p:nvPr/>
        </p:nvSpPr>
        <p:spPr bwMode="auto">
          <a:xfrm>
            <a:off x="2411413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8*</a:t>
            </a:r>
          </a:p>
        </p:txBody>
      </p:sp>
      <p:sp>
        <p:nvSpPr>
          <p:cNvPr id="191" name="Arc 94"/>
          <p:cNvSpPr>
            <a:spLocks/>
          </p:cNvSpPr>
          <p:nvPr/>
        </p:nvSpPr>
        <p:spPr bwMode="auto">
          <a:xfrm rot="13440000">
            <a:off x="70977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2" name="Arc 95"/>
          <p:cNvSpPr>
            <a:spLocks/>
          </p:cNvSpPr>
          <p:nvPr/>
        </p:nvSpPr>
        <p:spPr bwMode="auto">
          <a:xfrm rot="13440000">
            <a:off x="15351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3" name="Arc 96"/>
          <p:cNvSpPr>
            <a:spLocks/>
          </p:cNvSpPr>
          <p:nvPr/>
        </p:nvSpPr>
        <p:spPr bwMode="auto">
          <a:xfrm rot="13440000">
            <a:off x="29067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" name="Arc 97"/>
          <p:cNvSpPr>
            <a:spLocks/>
          </p:cNvSpPr>
          <p:nvPr/>
        </p:nvSpPr>
        <p:spPr bwMode="auto">
          <a:xfrm rot="13440000">
            <a:off x="43545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5" name="Arc 98"/>
          <p:cNvSpPr>
            <a:spLocks/>
          </p:cNvSpPr>
          <p:nvPr/>
        </p:nvSpPr>
        <p:spPr bwMode="auto">
          <a:xfrm rot="13440000">
            <a:off x="57261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8" name="Rectangle 80"/>
          <p:cNvSpPr>
            <a:spLocks noChangeArrowheads="1"/>
          </p:cNvSpPr>
          <p:nvPr/>
        </p:nvSpPr>
        <p:spPr bwMode="auto">
          <a:xfrm>
            <a:off x="4538530" y="4078896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>
                <a:solidFill>
                  <a:srgbClr val="000000"/>
                </a:solidFill>
                <a:latin typeface="Arial" pitchFamily="34" charset="0"/>
              </a:rPr>
              <a:t>20*</a:t>
            </a:r>
          </a:p>
        </p:txBody>
      </p:sp>
      <p:sp>
        <p:nvSpPr>
          <p:cNvPr id="199" name="Rectangle 81"/>
          <p:cNvSpPr>
            <a:spLocks noChangeArrowheads="1"/>
          </p:cNvSpPr>
          <p:nvPr/>
        </p:nvSpPr>
        <p:spPr bwMode="auto">
          <a:xfrm>
            <a:off x="4852855" y="4078896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>
                <a:solidFill>
                  <a:srgbClr val="000000"/>
                </a:solidFill>
                <a:latin typeface="Arial" pitchFamily="34" charset="0"/>
              </a:rPr>
              <a:t>22*</a:t>
            </a:r>
          </a:p>
        </p:txBody>
      </p:sp>
      <p:sp>
        <p:nvSpPr>
          <p:cNvPr id="99" name="Text Box 63"/>
          <p:cNvSpPr txBox="1">
            <a:spLocks noChangeArrowheads="1"/>
          </p:cNvSpPr>
          <p:nvPr/>
        </p:nvSpPr>
        <p:spPr bwMode="auto">
          <a:xfrm>
            <a:off x="3408363" y="4876800"/>
            <a:ext cx="2171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u="none" dirty="0">
                <a:solidFill>
                  <a:srgbClr val="00B050"/>
                </a:solidFill>
              </a:rPr>
              <a:t>FINAL </a:t>
            </a:r>
            <a:r>
              <a:rPr lang="en-US" u="none" dirty="0" smtClean="0">
                <a:solidFill>
                  <a:srgbClr val="00B050"/>
                </a:solidFill>
              </a:rPr>
              <a:t>TREE!</a:t>
            </a:r>
            <a:endParaRPr lang="en-US" u="none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63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B+ Tree: Examples </a:t>
            </a:r>
            <a:r>
              <a:rPr lang="en-US" dirty="0" smtClean="0">
                <a:ea typeface="ＭＳ Ｐゴシック" pitchFamily="34" charset="-128"/>
              </a:rPr>
              <a:t>of Deletions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Delete </a:t>
            </a:r>
            <a:r>
              <a:rPr lang="en-US" dirty="0" smtClean="0">
                <a:solidFill>
                  <a:srgbClr val="FF0000"/>
                </a:solidFill>
              </a:rPr>
              <a:t>20*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101" name="Freeform 4"/>
          <p:cNvSpPr>
            <a:spLocks/>
          </p:cNvSpPr>
          <p:nvPr/>
        </p:nvSpPr>
        <p:spPr bwMode="auto">
          <a:xfrm>
            <a:off x="381000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" name="Freeform 5"/>
          <p:cNvSpPr>
            <a:spLocks/>
          </p:cNvSpPr>
          <p:nvPr/>
        </p:nvSpPr>
        <p:spPr bwMode="auto">
          <a:xfrm>
            <a:off x="706438" y="4086225"/>
            <a:ext cx="325437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Freeform 6"/>
          <p:cNvSpPr>
            <a:spLocks/>
          </p:cNvSpPr>
          <p:nvPr/>
        </p:nvSpPr>
        <p:spPr bwMode="auto">
          <a:xfrm>
            <a:off x="1030288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" name="Freeform 7"/>
          <p:cNvSpPr>
            <a:spLocks/>
          </p:cNvSpPr>
          <p:nvPr/>
        </p:nvSpPr>
        <p:spPr bwMode="auto">
          <a:xfrm>
            <a:off x="1355725" y="4086225"/>
            <a:ext cx="325438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" name="Rectangle 8"/>
          <p:cNvSpPr>
            <a:spLocks noChangeArrowheads="1"/>
          </p:cNvSpPr>
          <p:nvPr/>
        </p:nvSpPr>
        <p:spPr bwMode="auto">
          <a:xfrm>
            <a:off x="390525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2*</a:t>
            </a:r>
          </a:p>
        </p:txBody>
      </p:sp>
      <p:sp>
        <p:nvSpPr>
          <p:cNvPr id="106" name="Rectangle 9"/>
          <p:cNvSpPr>
            <a:spLocks noChangeArrowheads="1"/>
          </p:cNvSpPr>
          <p:nvPr/>
        </p:nvSpPr>
        <p:spPr bwMode="auto">
          <a:xfrm>
            <a:off x="715963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3*</a:t>
            </a:r>
          </a:p>
        </p:txBody>
      </p:sp>
      <p:sp>
        <p:nvSpPr>
          <p:cNvPr id="107" name="Freeform 10"/>
          <p:cNvSpPr>
            <a:spLocks/>
          </p:cNvSpPr>
          <p:nvPr/>
        </p:nvSpPr>
        <p:spPr bwMode="auto">
          <a:xfrm>
            <a:off x="3549650" y="246856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Freeform 11"/>
          <p:cNvSpPr>
            <a:spLocks/>
          </p:cNvSpPr>
          <p:nvPr/>
        </p:nvSpPr>
        <p:spPr bwMode="auto">
          <a:xfrm>
            <a:off x="3629025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Freeform 12"/>
          <p:cNvSpPr>
            <a:spLocks/>
          </p:cNvSpPr>
          <p:nvPr/>
        </p:nvSpPr>
        <p:spPr bwMode="auto">
          <a:xfrm>
            <a:off x="4035425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Freeform 13"/>
          <p:cNvSpPr>
            <a:spLocks/>
          </p:cNvSpPr>
          <p:nvPr/>
        </p:nvSpPr>
        <p:spPr bwMode="auto">
          <a:xfrm>
            <a:off x="4116388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Freeform 14"/>
          <p:cNvSpPr>
            <a:spLocks/>
          </p:cNvSpPr>
          <p:nvPr/>
        </p:nvSpPr>
        <p:spPr bwMode="auto">
          <a:xfrm>
            <a:off x="4522788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Freeform 15"/>
          <p:cNvSpPr>
            <a:spLocks/>
          </p:cNvSpPr>
          <p:nvPr/>
        </p:nvSpPr>
        <p:spPr bwMode="auto">
          <a:xfrm>
            <a:off x="4603750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Freeform 16"/>
          <p:cNvSpPr>
            <a:spLocks/>
          </p:cNvSpPr>
          <p:nvPr/>
        </p:nvSpPr>
        <p:spPr bwMode="auto">
          <a:xfrm>
            <a:off x="5010150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Freeform 17"/>
          <p:cNvSpPr>
            <a:spLocks/>
          </p:cNvSpPr>
          <p:nvPr/>
        </p:nvSpPr>
        <p:spPr bwMode="auto">
          <a:xfrm>
            <a:off x="5091113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Freeform 18"/>
          <p:cNvSpPr>
            <a:spLocks/>
          </p:cNvSpPr>
          <p:nvPr/>
        </p:nvSpPr>
        <p:spPr bwMode="auto">
          <a:xfrm>
            <a:off x="5497513" y="246856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Freeform 19"/>
          <p:cNvSpPr>
            <a:spLocks/>
          </p:cNvSpPr>
          <p:nvPr/>
        </p:nvSpPr>
        <p:spPr bwMode="auto">
          <a:xfrm>
            <a:off x="3162300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Freeform 20"/>
          <p:cNvSpPr>
            <a:spLocks/>
          </p:cNvSpPr>
          <p:nvPr/>
        </p:nvSpPr>
        <p:spPr bwMode="auto">
          <a:xfrm>
            <a:off x="348773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Freeform 21"/>
          <p:cNvSpPr>
            <a:spLocks/>
          </p:cNvSpPr>
          <p:nvPr/>
        </p:nvSpPr>
        <p:spPr bwMode="auto">
          <a:xfrm>
            <a:off x="3813175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Freeform 22"/>
          <p:cNvSpPr>
            <a:spLocks/>
          </p:cNvSpPr>
          <p:nvPr/>
        </p:nvSpPr>
        <p:spPr bwMode="auto">
          <a:xfrm>
            <a:off x="41370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Freeform 23"/>
          <p:cNvSpPr>
            <a:spLocks/>
          </p:cNvSpPr>
          <p:nvPr/>
        </p:nvSpPr>
        <p:spPr bwMode="auto">
          <a:xfrm>
            <a:off x="457358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" name="Freeform 24"/>
          <p:cNvSpPr>
            <a:spLocks/>
          </p:cNvSpPr>
          <p:nvPr/>
        </p:nvSpPr>
        <p:spPr bwMode="auto">
          <a:xfrm>
            <a:off x="48990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Freeform 25"/>
          <p:cNvSpPr>
            <a:spLocks/>
          </p:cNvSpPr>
          <p:nvPr/>
        </p:nvSpPr>
        <p:spPr bwMode="auto">
          <a:xfrm>
            <a:off x="5224463" y="4094163"/>
            <a:ext cx="323850" cy="325437"/>
          </a:xfrm>
          <a:custGeom>
            <a:avLst/>
            <a:gdLst>
              <a:gd name="T0" fmla="*/ 0 w 204"/>
              <a:gd name="T1" fmla="*/ 323850 h 205"/>
              <a:gd name="T2" fmla="*/ 0 w 204"/>
              <a:gd name="T3" fmla="*/ 0 h 205"/>
              <a:gd name="T4" fmla="*/ 322263 w 204"/>
              <a:gd name="T5" fmla="*/ 0 h 205"/>
              <a:gd name="T6" fmla="*/ 322263 w 204"/>
              <a:gd name="T7" fmla="*/ 323850 h 205"/>
              <a:gd name="T8" fmla="*/ 0 w 204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4"/>
              <a:gd name="T16" fmla="*/ 0 h 205"/>
              <a:gd name="T17" fmla="*/ 204 w 204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4" h="205">
                <a:moveTo>
                  <a:pt x="0" y="204"/>
                </a:moveTo>
                <a:lnTo>
                  <a:pt x="0" y="0"/>
                </a:lnTo>
                <a:lnTo>
                  <a:pt x="203" y="0"/>
                </a:lnTo>
                <a:lnTo>
                  <a:pt x="203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" name="Freeform 26"/>
          <p:cNvSpPr>
            <a:spLocks/>
          </p:cNvSpPr>
          <p:nvPr/>
        </p:nvSpPr>
        <p:spPr bwMode="auto">
          <a:xfrm>
            <a:off x="55467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" name="Freeform 27"/>
          <p:cNvSpPr>
            <a:spLocks/>
          </p:cNvSpPr>
          <p:nvPr/>
        </p:nvSpPr>
        <p:spPr bwMode="auto">
          <a:xfrm>
            <a:off x="598487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" name="Freeform 28"/>
          <p:cNvSpPr>
            <a:spLocks/>
          </p:cNvSpPr>
          <p:nvPr/>
        </p:nvSpPr>
        <p:spPr bwMode="auto">
          <a:xfrm>
            <a:off x="631031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" name="Freeform 29"/>
          <p:cNvSpPr>
            <a:spLocks/>
          </p:cNvSpPr>
          <p:nvPr/>
        </p:nvSpPr>
        <p:spPr bwMode="auto">
          <a:xfrm>
            <a:off x="663416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7" name="Freeform 30"/>
          <p:cNvSpPr>
            <a:spLocks/>
          </p:cNvSpPr>
          <p:nvPr/>
        </p:nvSpPr>
        <p:spPr bwMode="auto">
          <a:xfrm>
            <a:off x="6958013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" name="Freeform 31"/>
          <p:cNvSpPr>
            <a:spLocks/>
          </p:cNvSpPr>
          <p:nvPr/>
        </p:nvSpPr>
        <p:spPr bwMode="auto">
          <a:xfrm>
            <a:off x="7385050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" name="Freeform 32"/>
          <p:cNvSpPr>
            <a:spLocks/>
          </p:cNvSpPr>
          <p:nvPr/>
        </p:nvSpPr>
        <p:spPr bwMode="auto">
          <a:xfrm>
            <a:off x="7710488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Freeform 33"/>
          <p:cNvSpPr>
            <a:spLocks/>
          </p:cNvSpPr>
          <p:nvPr/>
        </p:nvSpPr>
        <p:spPr bwMode="auto">
          <a:xfrm>
            <a:off x="8034338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" name="Freeform 34"/>
          <p:cNvSpPr>
            <a:spLocks/>
          </p:cNvSpPr>
          <p:nvPr/>
        </p:nvSpPr>
        <p:spPr bwMode="auto">
          <a:xfrm>
            <a:off x="835818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Freeform 35"/>
          <p:cNvSpPr>
            <a:spLocks/>
          </p:cNvSpPr>
          <p:nvPr/>
        </p:nvSpPr>
        <p:spPr bwMode="auto">
          <a:xfrm>
            <a:off x="1428750" y="323691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" name="Freeform 36"/>
          <p:cNvSpPr>
            <a:spLocks/>
          </p:cNvSpPr>
          <p:nvPr/>
        </p:nvSpPr>
        <p:spPr bwMode="auto">
          <a:xfrm>
            <a:off x="15097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" name="Freeform 37"/>
          <p:cNvSpPr>
            <a:spLocks/>
          </p:cNvSpPr>
          <p:nvPr/>
        </p:nvSpPr>
        <p:spPr bwMode="auto">
          <a:xfrm>
            <a:off x="1914525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" name="Freeform 38"/>
          <p:cNvSpPr>
            <a:spLocks/>
          </p:cNvSpPr>
          <p:nvPr/>
        </p:nvSpPr>
        <p:spPr bwMode="auto">
          <a:xfrm>
            <a:off x="199548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" name="Freeform 39"/>
          <p:cNvSpPr>
            <a:spLocks/>
          </p:cNvSpPr>
          <p:nvPr/>
        </p:nvSpPr>
        <p:spPr bwMode="auto">
          <a:xfrm>
            <a:off x="2401888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" name="Freeform 40"/>
          <p:cNvSpPr>
            <a:spLocks/>
          </p:cNvSpPr>
          <p:nvPr/>
        </p:nvSpPr>
        <p:spPr bwMode="auto">
          <a:xfrm>
            <a:off x="2482850" y="32369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" name="Freeform 41"/>
          <p:cNvSpPr>
            <a:spLocks/>
          </p:cNvSpPr>
          <p:nvPr/>
        </p:nvSpPr>
        <p:spPr bwMode="auto">
          <a:xfrm>
            <a:off x="288925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" name="Freeform 42"/>
          <p:cNvSpPr>
            <a:spLocks/>
          </p:cNvSpPr>
          <p:nvPr/>
        </p:nvSpPr>
        <p:spPr bwMode="auto">
          <a:xfrm>
            <a:off x="29702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" name="Freeform 43"/>
          <p:cNvSpPr>
            <a:spLocks/>
          </p:cNvSpPr>
          <p:nvPr/>
        </p:nvSpPr>
        <p:spPr bwMode="auto">
          <a:xfrm>
            <a:off x="3376613" y="323691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1" name="Freeform 44"/>
          <p:cNvSpPr>
            <a:spLocks/>
          </p:cNvSpPr>
          <p:nvPr/>
        </p:nvSpPr>
        <p:spPr bwMode="auto">
          <a:xfrm>
            <a:off x="563880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2" name="Freeform 45"/>
          <p:cNvSpPr>
            <a:spLocks/>
          </p:cNvSpPr>
          <p:nvPr/>
        </p:nvSpPr>
        <p:spPr bwMode="auto">
          <a:xfrm>
            <a:off x="571976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" name="Freeform 46"/>
          <p:cNvSpPr>
            <a:spLocks/>
          </p:cNvSpPr>
          <p:nvPr/>
        </p:nvSpPr>
        <p:spPr bwMode="auto">
          <a:xfrm>
            <a:off x="6126163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" name="Freeform 47"/>
          <p:cNvSpPr>
            <a:spLocks/>
          </p:cNvSpPr>
          <p:nvPr/>
        </p:nvSpPr>
        <p:spPr bwMode="auto">
          <a:xfrm>
            <a:off x="6207125" y="32369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5" name="Freeform 48"/>
          <p:cNvSpPr>
            <a:spLocks/>
          </p:cNvSpPr>
          <p:nvPr/>
        </p:nvSpPr>
        <p:spPr bwMode="auto">
          <a:xfrm>
            <a:off x="6613525" y="323691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6" name="Freeform 49"/>
          <p:cNvSpPr>
            <a:spLocks/>
          </p:cNvSpPr>
          <p:nvPr/>
        </p:nvSpPr>
        <p:spPr bwMode="auto">
          <a:xfrm>
            <a:off x="669448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7" name="Freeform 50"/>
          <p:cNvSpPr>
            <a:spLocks/>
          </p:cNvSpPr>
          <p:nvPr/>
        </p:nvSpPr>
        <p:spPr bwMode="auto">
          <a:xfrm>
            <a:off x="709930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8" name="Freeform 51"/>
          <p:cNvSpPr>
            <a:spLocks/>
          </p:cNvSpPr>
          <p:nvPr/>
        </p:nvSpPr>
        <p:spPr bwMode="auto">
          <a:xfrm>
            <a:off x="718343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9" name="Freeform 52"/>
          <p:cNvSpPr>
            <a:spLocks/>
          </p:cNvSpPr>
          <p:nvPr/>
        </p:nvSpPr>
        <p:spPr bwMode="auto">
          <a:xfrm>
            <a:off x="7586663" y="3236913"/>
            <a:ext cx="84137" cy="404812"/>
          </a:xfrm>
          <a:custGeom>
            <a:avLst/>
            <a:gdLst>
              <a:gd name="T0" fmla="*/ 0 w 53"/>
              <a:gd name="T1" fmla="*/ 403225 h 255"/>
              <a:gd name="T2" fmla="*/ 0 w 53"/>
              <a:gd name="T3" fmla="*/ 0 h 255"/>
              <a:gd name="T4" fmla="*/ 82550 w 53"/>
              <a:gd name="T5" fmla="*/ 0 h 255"/>
              <a:gd name="T6" fmla="*/ 82550 w 53"/>
              <a:gd name="T7" fmla="*/ 403225 h 255"/>
              <a:gd name="T8" fmla="*/ 0 w 53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"/>
              <a:gd name="T16" fmla="*/ 0 h 255"/>
              <a:gd name="T17" fmla="*/ 53 w 53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" h="255">
                <a:moveTo>
                  <a:pt x="0" y="254"/>
                </a:moveTo>
                <a:lnTo>
                  <a:pt x="0" y="0"/>
                </a:lnTo>
                <a:lnTo>
                  <a:pt x="52" y="0"/>
                </a:lnTo>
                <a:lnTo>
                  <a:pt x="52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" name="Freeform 53"/>
          <p:cNvSpPr>
            <a:spLocks/>
          </p:cNvSpPr>
          <p:nvPr/>
        </p:nvSpPr>
        <p:spPr bwMode="auto">
          <a:xfrm>
            <a:off x="1012825" y="3559175"/>
            <a:ext cx="446088" cy="496888"/>
          </a:xfrm>
          <a:custGeom>
            <a:avLst/>
            <a:gdLst>
              <a:gd name="T0" fmla="*/ 444500 w 281"/>
              <a:gd name="T1" fmla="*/ 0 h 313"/>
              <a:gd name="T2" fmla="*/ 0 w 281"/>
              <a:gd name="T3" fmla="*/ 495300 h 313"/>
              <a:gd name="T4" fmla="*/ 444500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" name="Freeform 54"/>
          <p:cNvSpPr>
            <a:spLocks/>
          </p:cNvSpPr>
          <p:nvPr/>
        </p:nvSpPr>
        <p:spPr bwMode="auto">
          <a:xfrm>
            <a:off x="1012825" y="3962400"/>
            <a:ext cx="87313" cy="93663"/>
          </a:xfrm>
          <a:custGeom>
            <a:avLst/>
            <a:gdLst>
              <a:gd name="T0" fmla="*/ 85725 w 55"/>
              <a:gd name="T1" fmla="*/ 33338 h 59"/>
              <a:gd name="T2" fmla="*/ 0 w 55"/>
              <a:gd name="T3" fmla="*/ 92075 h 59"/>
              <a:gd name="T4" fmla="*/ 47625 w 55"/>
              <a:gd name="T5" fmla="*/ 0 h 59"/>
              <a:gd name="T6" fmla="*/ 85725 w 55"/>
              <a:gd name="T7" fmla="*/ 33338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2" name="Freeform 55"/>
          <p:cNvSpPr>
            <a:spLocks/>
          </p:cNvSpPr>
          <p:nvPr/>
        </p:nvSpPr>
        <p:spPr bwMode="auto">
          <a:xfrm>
            <a:off x="1944688" y="3559175"/>
            <a:ext cx="449262" cy="506413"/>
          </a:xfrm>
          <a:custGeom>
            <a:avLst/>
            <a:gdLst>
              <a:gd name="T0" fmla="*/ 0 w 283"/>
              <a:gd name="T1" fmla="*/ 0 h 319"/>
              <a:gd name="T2" fmla="*/ 447675 w 283"/>
              <a:gd name="T3" fmla="*/ 504825 h 319"/>
              <a:gd name="T4" fmla="*/ 0 w 283"/>
              <a:gd name="T5" fmla="*/ 0 h 319"/>
              <a:gd name="T6" fmla="*/ 0 60000 65536"/>
              <a:gd name="T7" fmla="*/ 0 60000 65536"/>
              <a:gd name="T8" fmla="*/ 0 60000 65536"/>
              <a:gd name="T9" fmla="*/ 0 w 283"/>
              <a:gd name="T10" fmla="*/ 0 h 319"/>
              <a:gd name="T11" fmla="*/ 283 w 283"/>
              <a:gd name="T12" fmla="*/ 319 h 31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3" h="319">
                <a:moveTo>
                  <a:pt x="0" y="0"/>
                </a:moveTo>
                <a:lnTo>
                  <a:pt x="282" y="318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" name="Freeform 56"/>
          <p:cNvSpPr>
            <a:spLocks/>
          </p:cNvSpPr>
          <p:nvPr/>
        </p:nvSpPr>
        <p:spPr bwMode="auto">
          <a:xfrm>
            <a:off x="2305050" y="3973513"/>
            <a:ext cx="88900" cy="92075"/>
          </a:xfrm>
          <a:custGeom>
            <a:avLst/>
            <a:gdLst>
              <a:gd name="T0" fmla="*/ 38100 w 56"/>
              <a:gd name="T1" fmla="*/ 0 h 58"/>
              <a:gd name="T2" fmla="*/ 87313 w 56"/>
              <a:gd name="T3" fmla="*/ 90488 h 58"/>
              <a:gd name="T4" fmla="*/ 0 w 56"/>
              <a:gd name="T5" fmla="*/ 33338 h 58"/>
              <a:gd name="T6" fmla="*/ 38100 w 56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6"/>
              <a:gd name="T13" fmla="*/ 0 h 58"/>
              <a:gd name="T14" fmla="*/ 56 w 56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" h="58">
                <a:moveTo>
                  <a:pt x="24" y="0"/>
                </a:moveTo>
                <a:lnTo>
                  <a:pt x="55" y="57"/>
                </a:lnTo>
                <a:lnTo>
                  <a:pt x="0" y="21"/>
                </a:lnTo>
                <a:lnTo>
                  <a:pt x="24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" name="Freeform 57"/>
          <p:cNvSpPr>
            <a:spLocks/>
          </p:cNvSpPr>
          <p:nvPr/>
        </p:nvSpPr>
        <p:spPr bwMode="auto">
          <a:xfrm>
            <a:off x="2443163" y="3559175"/>
            <a:ext cx="1330325" cy="517525"/>
          </a:xfrm>
          <a:custGeom>
            <a:avLst/>
            <a:gdLst>
              <a:gd name="T0" fmla="*/ 0 w 838"/>
              <a:gd name="T1" fmla="*/ 0 h 326"/>
              <a:gd name="T2" fmla="*/ 1328738 w 838"/>
              <a:gd name="T3" fmla="*/ 515938 h 326"/>
              <a:gd name="T4" fmla="*/ 0 w 838"/>
              <a:gd name="T5" fmla="*/ 0 h 326"/>
              <a:gd name="T6" fmla="*/ 0 60000 65536"/>
              <a:gd name="T7" fmla="*/ 0 60000 65536"/>
              <a:gd name="T8" fmla="*/ 0 60000 65536"/>
              <a:gd name="T9" fmla="*/ 0 w 838"/>
              <a:gd name="T10" fmla="*/ 0 h 326"/>
              <a:gd name="T11" fmla="*/ 838 w 838"/>
              <a:gd name="T12" fmla="*/ 326 h 3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38" h="326">
                <a:moveTo>
                  <a:pt x="0" y="0"/>
                </a:moveTo>
                <a:lnTo>
                  <a:pt x="837" y="32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" name="Freeform 58"/>
          <p:cNvSpPr>
            <a:spLocks/>
          </p:cNvSpPr>
          <p:nvPr/>
        </p:nvSpPr>
        <p:spPr bwMode="auto">
          <a:xfrm>
            <a:off x="3668713" y="4014788"/>
            <a:ext cx="104775" cy="61912"/>
          </a:xfrm>
          <a:custGeom>
            <a:avLst/>
            <a:gdLst>
              <a:gd name="T0" fmla="*/ 17463 w 66"/>
              <a:gd name="T1" fmla="*/ 0 h 39"/>
              <a:gd name="T2" fmla="*/ 103188 w 66"/>
              <a:gd name="T3" fmla="*/ 60325 h 39"/>
              <a:gd name="T4" fmla="*/ 0 w 66"/>
              <a:gd name="T5" fmla="*/ 47625 h 39"/>
              <a:gd name="T6" fmla="*/ 17463 w 66"/>
              <a:gd name="T7" fmla="*/ 0 h 39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39"/>
              <a:gd name="T14" fmla="*/ 66 w 66"/>
              <a:gd name="T15" fmla="*/ 39 h 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39">
                <a:moveTo>
                  <a:pt x="11" y="0"/>
                </a:moveTo>
                <a:lnTo>
                  <a:pt x="65" y="38"/>
                </a:lnTo>
                <a:lnTo>
                  <a:pt x="0" y="30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" name="Freeform 59"/>
          <p:cNvSpPr>
            <a:spLocks/>
          </p:cNvSpPr>
          <p:nvPr/>
        </p:nvSpPr>
        <p:spPr bwMode="auto">
          <a:xfrm>
            <a:off x="5224463" y="3579813"/>
            <a:ext cx="446087" cy="496887"/>
          </a:xfrm>
          <a:custGeom>
            <a:avLst/>
            <a:gdLst>
              <a:gd name="T0" fmla="*/ 444500 w 281"/>
              <a:gd name="T1" fmla="*/ 0 h 313"/>
              <a:gd name="T2" fmla="*/ 0 w 281"/>
              <a:gd name="T3" fmla="*/ 495300 h 313"/>
              <a:gd name="T4" fmla="*/ 444500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" name="Freeform 60"/>
          <p:cNvSpPr>
            <a:spLocks/>
          </p:cNvSpPr>
          <p:nvPr/>
        </p:nvSpPr>
        <p:spPr bwMode="auto">
          <a:xfrm>
            <a:off x="5224463" y="3983038"/>
            <a:ext cx="87312" cy="93662"/>
          </a:xfrm>
          <a:custGeom>
            <a:avLst/>
            <a:gdLst>
              <a:gd name="T0" fmla="*/ 85725 w 55"/>
              <a:gd name="T1" fmla="*/ 33337 h 59"/>
              <a:gd name="T2" fmla="*/ 0 w 55"/>
              <a:gd name="T3" fmla="*/ 92075 h 59"/>
              <a:gd name="T4" fmla="*/ 47625 w 55"/>
              <a:gd name="T5" fmla="*/ 0 h 59"/>
              <a:gd name="T6" fmla="*/ 85725 w 55"/>
              <a:gd name="T7" fmla="*/ 33337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" name="Freeform 61"/>
          <p:cNvSpPr>
            <a:spLocks/>
          </p:cNvSpPr>
          <p:nvPr/>
        </p:nvSpPr>
        <p:spPr bwMode="auto">
          <a:xfrm>
            <a:off x="6156325" y="3579813"/>
            <a:ext cx="458788" cy="476250"/>
          </a:xfrm>
          <a:custGeom>
            <a:avLst/>
            <a:gdLst>
              <a:gd name="T0" fmla="*/ 0 w 289"/>
              <a:gd name="T1" fmla="*/ 0 h 300"/>
              <a:gd name="T2" fmla="*/ 457200 w 289"/>
              <a:gd name="T3" fmla="*/ 474663 h 300"/>
              <a:gd name="T4" fmla="*/ 0 w 289"/>
              <a:gd name="T5" fmla="*/ 0 h 300"/>
              <a:gd name="T6" fmla="*/ 0 60000 65536"/>
              <a:gd name="T7" fmla="*/ 0 60000 65536"/>
              <a:gd name="T8" fmla="*/ 0 60000 65536"/>
              <a:gd name="T9" fmla="*/ 0 w 289"/>
              <a:gd name="T10" fmla="*/ 0 h 300"/>
              <a:gd name="T11" fmla="*/ 289 w 289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9" h="300">
                <a:moveTo>
                  <a:pt x="0" y="0"/>
                </a:moveTo>
                <a:lnTo>
                  <a:pt x="288" y="299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" name="Freeform 62"/>
          <p:cNvSpPr>
            <a:spLocks/>
          </p:cNvSpPr>
          <p:nvPr/>
        </p:nvSpPr>
        <p:spPr bwMode="auto">
          <a:xfrm>
            <a:off x="6524625" y="3963988"/>
            <a:ext cx="90488" cy="92075"/>
          </a:xfrm>
          <a:custGeom>
            <a:avLst/>
            <a:gdLst>
              <a:gd name="T0" fmla="*/ 36513 w 57"/>
              <a:gd name="T1" fmla="*/ 0 h 58"/>
              <a:gd name="T2" fmla="*/ 88900 w 57"/>
              <a:gd name="T3" fmla="*/ 90488 h 58"/>
              <a:gd name="T4" fmla="*/ 0 w 57"/>
              <a:gd name="T5" fmla="*/ 34925 h 58"/>
              <a:gd name="T6" fmla="*/ 36513 w 57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7"/>
              <a:gd name="T13" fmla="*/ 0 h 58"/>
              <a:gd name="T14" fmla="*/ 57 w 57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" h="58">
                <a:moveTo>
                  <a:pt x="23" y="0"/>
                </a:moveTo>
                <a:lnTo>
                  <a:pt x="56" y="57"/>
                </a:lnTo>
                <a:lnTo>
                  <a:pt x="0" y="22"/>
                </a:lnTo>
                <a:lnTo>
                  <a:pt x="23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" name="Freeform 63"/>
          <p:cNvSpPr>
            <a:spLocks/>
          </p:cNvSpPr>
          <p:nvPr/>
        </p:nvSpPr>
        <p:spPr bwMode="auto">
          <a:xfrm>
            <a:off x="6643688" y="3589338"/>
            <a:ext cx="1362075" cy="476250"/>
          </a:xfrm>
          <a:custGeom>
            <a:avLst/>
            <a:gdLst>
              <a:gd name="T0" fmla="*/ 0 w 858"/>
              <a:gd name="T1" fmla="*/ 0 h 300"/>
              <a:gd name="T2" fmla="*/ 1360488 w 858"/>
              <a:gd name="T3" fmla="*/ 474663 h 300"/>
              <a:gd name="T4" fmla="*/ 0 w 858"/>
              <a:gd name="T5" fmla="*/ 0 h 300"/>
              <a:gd name="T6" fmla="*/ 0 60000 65536"/>
              <a:gd name="T7" fmla="*/ 0 60000 65536"/>
              <a:gd name="T8" fmla="*/ 0 60000 65536"/>
              <a:gd name="T9" fmla="*/ 0 w 858"/>
              <a:gd name="T10" fmla="*/ 0 h 300"/>
              <a:gd name="T11" fmla="*/ 858 w 858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58" h="300">
                <a:moveTo>
                  <a:pt x="0" y="0"/>
                </a:moveTo>
                <a:lnTo>
                  <a:pt x="857" y="299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1" name="Freeform 64"/>
          <p:cNvSpPr>
            <a:spLocks/>
          </p:cNvSpPr>
          <p:nvPr/>
        </p:nvSpPr>
        <p:spPr bwMode="auto">
          <a:xfrm>
            <a:off x="7899400" y="4006850"/>
            <a:ext cx="106363" cy="58738"/>
          </a:xfrm>
          <a:custGeom>
            <a:avLst/>
            <a:gdLst>
              <a:gd name="T0" fmla="*/ 17463 w 67"/>
              <a:gd name="T1" fmla="*/ 0 h 37"/>
              <a:gd name="T2" fmla="*/ 104775 w 67"/>
              <a:gd name="T3" fmla="*/ 57150 h 37"/>
              <a:gd name="T4" fmla="*/ 0 w 67"/>
              <a:gd name="T5" fmla="*/ 49213 h 37"/>
              <a:gd name="T6" fmla="*/ 17463 w 67"/>
              <a:gd name="T7" fmla="*/ 0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11" y="0"/>
                </a:moveTo>
                <a:lnTo>
                  <a:pt x="66" y="36"/>
                </a:lnTo>
                <a:lnTo>
                  <a:pt x="0" y="31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" name="Freeform 65"/>
          <p:cNvSpPr>
            <a:spLocks/>
          </p:cNvSpPr>
          <p:nvPr/>
        </p:nvSpPr>
        <p:spPr bwMode="auto">
          <a:xfrm>
            <a:off x="2401888" y="2820988"/>
            <a:ext cx="1177925" cy="396875"/>
          </a:xfrm>
          <a:custGeom>
            <a:avLst/>
            <a:gdLst>
              <a:gd name="T0" fmla="*/ 1176338 w 742"/>
              <a:gd name="T1" fmla="*/ 0 h 250"/>
              <a:gd name="T2" fmla="*/ 0 w 742"/>
              <a:gd name="T3" fmla="*/ 395288 h 250"/>
              <a:gd name="T4" fmla="*/ 1176338 w 742"/>
              <a:gd name="T5" fmla="*/ 0 h 250"/>
              <a:gd name="T6" fmla="*/ 0 60000 65536"/>
              <a:gd name="T7" fmla="*/ 0 60000 65536"/>
              <a:gd name="T8" fmla="*/ 0 60000 65536"/>
              <a:gd name="T9" fmla="*/ 0 w 742"/>
              <a:gd name="T10" fmla="*/ 0 h 250"/>
              <a:gd name="T11" fmla="*/ 742 w 742"/>
              <a:gd name="T12" fmla="*/ 250 h 2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42" h="250">
                <a:moveTo>
                  <a:pt x="741" y="0"/>
                </a:moveTo>
                <a:lnTo>
                  <a:pt x="0" y="249"/>
                </a:lnTo>
                <a:lnTo>
                  <a:pt x="74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" name="Freeform 66"/>
          <p:cNvSpPr>
            <a:spLocks/>
          </p:cNvSpPr>
          <p:nvPr/>
        </p:nvSpPr>
        <p:spPr bwMode="auto">
          <a:xfrm>
            <a:off x="2401888" y="3159125"/>
            <a:ext cx="106362" cy="58738"/>
          </a:xfrm>
          <a:custGeom>
            <a:avLst/>
            <a:gdLst>
              <a:gd name="T0" fmla="*/ 104775 w 67"/>
              <a:gd name="T1" fmla="*/ 49213 h 37"/>
              <a:gd name="T2" fmla="*/ 0 w 67"/>
              <a:gd name="T3" fmla="*/ 57150 h 37"/>
              <a:gd name="T4" fmla="*/ 88900 w 67"/>
              <a:gd name="T5" fmla="*/ 0 h 37"/>
              <a:gd name="T6" fmla="*/ 104775 w 67"/>
              <a:gd name="T7" fmla="*/ 49213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66" y="31"/>
                </a:moveTo>
                <a:lnTo>
                  <a:pt x="0" y="36"/>
                </a:lnTo>
                <a:lnTo>
                  <a:pt x="56" y="0"/>
                </a:lnTo>
                <a:lnTo>
                  <a:pt x="66" y="3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" name="Freeform 67"/>
          <p:cNvSpPr>
            <a:spLocks/>
          </p:cNvSpPr>
          <p:nvPr/>
        </p:nvSpPr>
        <p:spPr bwMode="auto">
          <a:xfrm>
            <a:off x="4065588" y="2830513"/>
            <a:ext cx="1992312" cy="387350"/>
          </a:xfrm>
          <a:custGeom>
            <a:avLst/>
            <a:gdLst>
              <a:gd name="T0" fmla="*/ 0 w 1255"/>
              <a:gd name="T1" fmla="*/ 0 h 244"/>
              <a:gd name="T2" fmla="*/ 1990725 w 1255"/>
              <a:gd name="T3" fmla="*/ 385763 h 244"/>
              <a:gd name="T4" fmla="*/ 0 w 1255"/>
              <a:gd name="T5" fmla="*/ 0 h 244"/>
              <a:gd name="T6" fmla="*/ 0 60000 65536"/>
              <a:gd name="T7" fmla="*/ 0 60000 65536"/>
              <a:gd name="T8" fmla="*/ 0 60000 65536"/>
              <a:gd name="T9" fmla="*/ 0 w 1255"/>
              <a:gd name="T10" fmla="*/ 0 h 244"/>
              <a:gd name="T11" fmla="*/ 1255 w 1255"/>
              <a:gd name="T12" fmla="*/ 244 h 2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5" h="244">
                <a:moveTo>
                  <a:pt x="0" y="0"/>
                </a:moveTo>
                <a:lnTo>
                  <a:pt x="1254" y="243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" name="Freeform 68"/>
          <p:cNvSpPr>
            <a:spLocks/>
          </p:cNvSpPr>
          <p:nvPr/>
        </p:nvSpPr>
        <p:spPr bwMode="auto">
          <a:xfrm>
            <a:off x="5951538" y="3171825"/>
            <a:ext cx="106362" cy="50800"/>
          </a:xfrm>
          <a:custGeom>
            <a:avLst/>
            <a:gdLst>
              <a:gd name="T0" fmla="*/ 9525 w 67"/>
              <a:gd name="T1" fmla="*/ 0 h 32"/>
              <a:gd name="T2" fmla="*/ 104775 w 67"/>
              <a:gd name="T3" fmla="*/ 44450 h 32"/>
              <a:gd name="T4" fmla="*/ 0 w 67"/>
              <a:gd name="T5" fmla="*/ 49213 h 32"/>
              <a:gd name="T6" fmla="*/ 9525 w 67"/>
              <a:gd name="T7" fmla="*/ 0 h 32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2"/>
              <a:gd name="T14" fmla="*/ 67 w 67"/>
              <a:gd name="T15" fmla="*/ 32 h 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2">
                <a:moveTo>
                  <a:pt x="6" y="0"/>
                </a:moveTo>
                <a:lnTo>
                  <a:pt x="66" y="28"/>
                </a:lnTo>
                <a:lnTo>
                  <a:pt x="0" y="31"/>
                </a:lnTo>
                <a:lnTo>
                  <a:pt x="6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" name="Freeform 69"/>
          <p:cNvSpPr>
            <a:spLocks/>
          </p:cNvSpPr>
          <p:nvPr/>
        </p:nvSpPr>
        <p:spPr bwMode="auto">
          <a:xfrm>
            <a:off x="176371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" name="Freeform 70"/>
          <p:cNvSpPr>
            <a:spLocks/>
          </p:cNvSpPr>
          <p:nvPr/>
        </p:nvSpPr>
        <p:spPr bwMode="auto">
          <a:xfrm>
            <a:off x="2087563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" name="Freeform 71"/>
          <p:cNvSpPr>
            <a:spLocks/>
          </p:cNvSpPr>
          <p:nvPr/>
        </p:nvSpPr>
        <p:spPr bwMode="auto">
          <a:xfrm>
            <a:off x="241300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" name="Freeform 72"/>
          <p:cNvSpPr>
            <a:spLocks/>
          </p:cNvSpPr>
          <p:nvPr/>
        </p:nvSpPr>
        <p:spPr bwMode="auto">
          <a:xfrm>
            <a:off x="273685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0" name="Rectangle 73"/>
          <p:cNvSpPr>
            <a:spLocks noChangeArrowheads="1"/>
          </p:cNvSpPr>
          <p:nvPr/>
        </p:nvSpPr>
        <p:spPr bwMode="auto">
          <a:xfrm>
            <a:off x="2916238" y="2362200"/>
            <a:ext cx="5889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u="none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171" name="Rectangle 74"/>
          <p:cNvSpPr>
            <a:spLocks noChangeArrowheads="1"/>
          </p:cNvSpPr>
          <p:nvPr/>
        </p:nvSpPr>
        <p:spPr bwMode="auto">
          <a:xfrm>
            <a:off x="3678238" y="249713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17</a:t>
            </a:r>
          </a:p>
        </p:txBody>
      </p:sp>
      <p:sp>
        <p:nvSpPr>
          <p:cNvPr id="172" name="Rectangle 75"/>
          <p:cNvSpPr>
            <a:spLocks noChangeArrowheads="1"/>
          </p:cNvSpPr>
          <p:nvPr/>
        </p:nvSpPr>
        <p:spPr bwMode="auto">
          <a:xfrm>
            <a:off x="5748338" y="325278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24</a:t>
            </a:r>
          </a:p>
        </p:txBody>
      </p:sp>
      <p:sp>
        <p:nvSpPr>
          <p:cNvPr id="173" name="Rectangle 76"/>
          <p:cNvSpPr>
            <a:spLocks noChangeArrowheads="1"/>
          </p:cNvSpPr>
          <p:nvPr/>
        </p:nvSpPr>
        <p:spPr bwMode="auto">
          <a:xfrm>
            <a:off x="6245225" y="3263900"/>
            <a:ext cx="3683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30</a:t>
            </a:r>
          </a:p>
        </p:txBody>
      </p:sp>
      <p:sp>
        <p:nvSpPr>
          <p:cNvPr id="174" name="Rectangle 77"/>
          <p:cNvSpPr>
            <a:spLocks noChangeArrowheads="1"/>
          </p:cNvSpPr>
          <p:nvPr/>
        </p:nvSpPr>
        <p:spPr bwMode="auto">
          <a:xfrm>
            <a:off x="312261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14*</a:t>
            </a:r>
          </a:p>
        </p:txBody>
      </p:sp>
      <p:sp>
        <p:nvSpPr>
          <p:cNvPr id="175" name="Rectangle 78"/>
          <p:cNvSpPr>
            <a:spLocks noChangeArrowheads="1"/>
          </p:cNvSpPr>
          <p:nvPr/>
        </p:nvSpPr>
        <p:spPr bwMode="auto">
          <a:xfrm>
            <a:off x="344646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16*</a:t>
            </a:r>
          </a:p>
        </p:txBody>
      </p:sp>
      <p:sp>
        <p:nvSpPr>
          <p:cNvPr id="179" name="Rectangle 82"/>
          <p:cNvSpPr>
            <a:spLocks noChangeArrowheads="1"/>
          </p:cNvSpPr>
          <p:nvPr/>
        </p:nvSpPr>
        <p:spPr bwMode="auto">
          <a:xfrm>
            <a:off x="5943600" y="4070350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24*</a:t>
            </a:r>
          </a:p>
        </p:txBody>
      </p:sp>
      <p:sp>
        <p:nvSpPr>
          <p:cNvPr id="180" name="Rectangle 83"/>
          <p:cNvSpPr>
            <a:spLocks noChangeArrowheads="1"/>
          </p:cNvSpPr>
          <p:nvPr/>
        </p:nvSpPr>
        <p:spPr bwMode="auto">
          <a:xfrm>
            <a:off x="6278563" y="4070350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27*</a:t>
            </a:r>
          </a:p>
        </p:txBody>
      </p:sp>
      <p:sp>
        <p:nvSpPr>
          <p:cNvPr id="181" name="Rectangle 84"/>
          <p:cNvSpPr>
            <a:spLocks noChangeArrowheads="1"/>
          </p:cNvSpPr>
          <p:nvPr/>
        </p:nvSpPr>
        <p:spPr bwMode="auto">
          <a:xfrm>
            <a:off x="6581775" y="4081463"/>
            <a:ext cx="4318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29*</a:t>
            </a:r>
          </a:p>
        </p:txBody>
      </p:sp>
      <p:sp>
        <p:nvSpPr>
          <p:cNvPr id="182" name="Rectangle 85"/>
          <p:cNvSpPr>
            <a:spLocks noChangeArrowheads="1"/>
          </p:cNvSpPr>
          <p:nvPr/>
        </p:nvSpPr>
        <p:spPr bwMode="auto">
          <a:xfrm>
            <a:off x="7353300" y="4081463"/>
            <a:ext cx="4318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33*</a:t>
            </a:r>
          </a:p>
        </p:txBody>
      </p:sp>
      <p:sp>
        <p:nvSpPr>
          <p:cNvPr id="183" name="Rectangle 86"/>
          <p:cNvSpPr>
            <a:spLocks noChangeArrowheads="1"/>
          </p:cNvSpPr>
          <p:nvPr/>
        </p:nvSpPr>
        <p:spPr bwMode="auto">
          <a:xfrm>
            <a:off x="7678738" y="4081463"/>
            <a:ext cx="4318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34*</a:t>
            </a:r>
          </a:p>
        </p:txBody>
      </p:sp>
      <p:sp>
        <p:nvSpPr>
          <p:cNvPr id="184" name="Rectangle 87"/>
          <p:cNvSpPr>
            <a:spLocks noChangeArrowheads="1"/>
          </p:cNvSpPr>
          <p:nvPr/>
        </p:nvSpPr>
        <p:spPr bwMode="auto">
          <a:xfrm>
            <a:off x="7993063" y="4070350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38*</a:t>
            </a:r>
          </a:p>
        </p:txBody>
      </p:sp>
      <p:sp>
        <p:nvSpPr>
          <p:cNvPr id="185" name="Rectangle 88"/>
          <p:cNvSpPr>
            <a:spLocks noChangeArrowheads="1"/>
          </p:cNvSpPr>
          <p:nvPr/>
        </p:nvSpPr>
        <p:spPr bwMode="auto">
          <a:xfrm>
            <a:off x="8316913" y="406082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39*</a:t>
            </a:r>
          </a:p>
        </p:txBody>
      </p:sp>
      <p:sp>
        <p:nvSpPr>
          <p:cNvPr id="186" name="Rectangle 89"/>
          <p:cNvSpPr>
            <a:spLocks noChangeArrowheads="1"/>
          </p:cNvSpPr>
          <p:nvPr/>
        </p:nvSpPr>
        <p:spPr bwMode="auto">
          <a:xfrm>
            <a:off x="2024063" y="326548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13</a:t>
            </a:r>
          </a:p>
        </p:txBody>
      </p:sp>
      <p:sp>
        <p:nvSpPr>
          <p:cNvPr id="187" name="Rectangle 90"/>
          <p:cNvSpPr>
            <a:spLocks noChangeArrowheads="1"/>
          </p:cNvSpPr>
          <p:nvPr/>
        </p:nvSpPr>
        <p:spPr bwMode="auto">
          <a:xfrm>
            <a:off x="1557338" y="3265488"/>
            <a:ext cx="2762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188" name="Rectangle 91"/>
          <p:cNvSpPr>
            <a:spLocks noChangeArrowheads="1"/>
          </p:cNvSpPr>
          <p:nvPr/>
        </p:nvSpPr>
        <p:spPr bwMode="auto">
          <a:xfrm>
            <a:off x="2095500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7*</a:t>
            </a:r>
          </a:p>
        </p:txBody>
      </p:sp>
      <p:sp>
        <p:nvSpPr>
          <p:cNvPr id="189" name="Rectangle 92"/>
          <p:cNvSpPr>
            <a:spLocks noChangeArrowheads="1"/>
          </p:cNvSpPr>
          <p:nvPr/>
        </p:nvSpPr>
        <p:spPr bwMode="auto">
          <a:xfrm>
            <a:off x="1773238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5*</a:t>
            </a:r>
          </a:p>
        </p:txBody>
      </p:sp>
      <p:sp>
        <p:nvSpPr>
          <p:cNvPr id="190" name="Rectangle 93"/>
          <p:cNvSpPr>
            <a:spLocks noChangeArrowheads="1"/>
          </p:cNvSpPr>
          <p:nvPr/>
        </p:nvSpPr>
        <p:spPr bwMode="auto">
          <a:xfrm>
            <a:off x="2411413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8*</a:t>
            </a:r>
          </a:p>
        </p:txBody>
      </p:sp>
      <p:sp>
        <p:nvSpPr>
          <p:cNvPr id="191" name="Arc 94"/>
          <p:cNvSpPr>
            <a:spLocks/>
          </p:cNvSpPr>
          <p:nvPr/>
        </p:nvSpPr>
        <p:spPr bwMode="auto">
          <a:xfrm rot="13440000">
            <a:off x="70977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2" name="Arc 95"/>
          <p:cNvSpPr>
            <a:spLocks/>
          </p:cNvSpPr>
          <p:nvPr/>
        </p:nvSpPr>
        <p:spPr bwMode="auto">
          <a:xfrm rot="13440000">
            <a:off x="15351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3" name="Arc 96"/>
          <p:cNvSpPr>
            <a:spLocks/>
          </p:cNvSpPr>
          <p:nvPr/>
        </p:nvSpPr>
        <p:spPr bwMode="auto">
          <a:xfrm rot="13440000">
            <a:off x="29067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" name="Arc 97"/>
          <p:cNvSpPr>
            <a:spLocks/>
          </p:cNvSpPr>
          <p:nvPr/>
        </p:nvSpPr>
        <p:spPr bwMode="auto">
          <a:xfrm rot="13440000">
            <a:off x="43545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5" name="Arc 98"/>
          <p:cNvSpPr>
            <a:spLocks/>
          </p:cNvSpPr>
          <p:nvPr/>
        </p:nvSpPr>
        <p:spPr bwMode="auto">
          <a:xfrm rot="13440000">
            <a:off x="57261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1" name="TextBox 26630"/>
          <p:cNvSpPr txBox="1"/>
          <p:nvPr/>
        </p:nvSpPr>
        <p:spPr>
          <a:xfrm>
            <a:off x="609600" y="4724400"/>
            <a:ext cx="7933454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 smtClean="0"/>
              <a:t>Deleting </a:t>
            </a:r>
            <a:r>
              <a:rPr lang="en-US" sz="2000" dirty="0" smtClean="0">
                <a:solidFill>
                  <a:srgbClr val="FF0000"/>
                </a:solidFill>
              </a:rPr>
              <a:t>20*</a:t>
            </a:r>
            <a:r>
              <a:rPr lang="en-US" sz="2000" dirty="0" smtClean="0"/>
              <a:t> causes an underflow; hence, check a sibling for redistribution</a:t>
            </a:r>
            <a:endParaRPr lang="en-US" sz="2000" dirty="0"/>
          </a:p>
        </p:txBody>
      </p:sp>
      <p:sp>
        <p:nvSpPr>
          <p:cNvPr id="198" name="Rectangle 80"/>
          <p:cNvSpPr>
            <a:spLocks noChangeArrowheads="1"/>
          </p:cNvSpPr>
          <p:nvPr/>
        </p:nvSpPr>
        <p:spPr bwMode="auto">
          <a:xfrm>
            <a:off x="4538530" y="4078896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>
                <a:solidFill>
                  <a:srgbClr val="000000"/>
                </a:solidFill>
                <a:latin typeface="Arial" pitchFamily="34" charset="0"/>
              </a:rPr>
              <a:t>20*</a:t>
            </a:r>
          </a:p>
        </p:txBody>
      </p:sp>
      <p:sp>
        <p:nvSpPr>
          <p:cNvPr id="199" name="Rectangle 81"/>
          <p:cNvSpPr>
            <a:spLocks noChangeArrowheads="1"/>
          </p:cNvSpPr>
          <p:nvPr/>
        </p:nvSpPr>
        <p:spPr bwMode="auto">
          <a:xfrm>
            <a:off x="4852855" y="4078896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>
                <a:solidFill>
                  <a:srgbClr val="000000"/>
                </a:solidFill>
                <a:latin typeface="Arial" pitchFamily="34" charset="0"/>
              </a:rPr>
              <a:t>22*</a:t>
            </a:r>
          </a:p>
        </p:txBody>
      </p:sp>
      <p:sp>
        <p:nvSpPr>
          <p:cNvPr id="2" name="Oval 1"/>
          <p:cNvSpPr/>
          <p:nvPr/>
        </p:nvSpPr>
        <p:spPr>
          <a:xfrm>
            <a:off x="4403531" y="3991098"/>
            <a:ext cx="1641863" cy="542131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/>
          <p:cNvCxnSpPr>
            <a:stCxn id="164" idx="0"/>
          </p:cNvCxnSpPr>
          <p:nvPr/>
        </p:nvCxnSpPr>
        <p:spPr>
          <a:xfrm>
            <a:off x="4065588" y="2830513"/>
            <a:ext cx="2028419" cy="4064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5240337" y="3579813"/>
            <a:ext cx="430213" cy="47072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3267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1" grpId="0" animBg="1"/>
      <p:bldP spid="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B+ Tree: Examples </a:t>
            </a:r>
            <a:r>
              <a:rPr lang="en-US" dirty="0" smtClean="0">
                <a:ea typeface="ＭＳ Ｐゴシック" pitchFamily="34" charset="-128"/>
              </a:rPr>
              <a:t>of Deletions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Delete </a:t>
            </a:r>
            <a:r>
              <a:rPr lang="en-US" dirty="0" smtClean="0">
                <a:solidFill>
                  <a:srgbClr val="FF0000"/>
                </a:solidFill>
              </a:rPr>
              <a:t>20*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101" name="Freeform 4"/>
          <p:cNvSpPr>
            <a:spLocks/>
          </p:cNvSpPr>
          <p:nvPr/>
        </p:nvSpPr>
        <p:spPr bwMode="auto">
          <a:xfrm>
            <a:off x="381000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" name="Freeform 5"/>
          <p:cNvSpPr>
            <a:spLocks/>
          </p:cNvSpPr>
          <p:nvPr/>
        </p:nvSpPr>
        <p:spPr bwMode="auto">
          <a:xfrm>
            <a:off x="706438" y="4086225"/>
            <a:ext cx="325437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Freeform 6"/>
          <p:cNvSpPr>
            <a:spLocks/>
          </p:cNvSpPr>
          <p:nvPr/>
        </p:nvSpPr>
        <p:spPr bwMode="auto">
          <a:xfrm>
            <a:off x="1030288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" name="Freeform 7"/>
          <p:cNvSpPr>
            <a:spLocks/>
          </p:cNvSpPr>
          <p:nvPr/>
        </p:nvSpPr>
        <p:spPr bwMode="auto">
          <a:xfrm>
            <a:off x="1355725" y="4086225"/>
            <a:ext cx="325438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" name="Rectangle 8"/>
          <p:cNvSpPr>
            <a:spLocks noChangeArrowheads="1"/>
          </p:cNvSpPr>
          <p:nvPr/>
        </p:nvSpPr>
        <p:spPr bwMode="auto">
          <a:xfrm>
            <a:off x="390525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2*</a:t>
            </a:r>
          </a:p>
        </p:txBody>
      </p:sp>
      <p:sp>
        <p:nvSpPr>
          <p:cNvPr id="106" name="Rectangle 9"/>
          <p:cNvSpPr>
            <a:spLocks noChangeArrowheads="1"/>
          </p:cNvSpPr>
          <p:nvPr/>
        </p:nvSpPr>
        <p:spPr bwMode="auto">
          <a:xfrm>
            <a:off x="715963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3*</a:t>
            </a:r>
          </a:p>
        </p:txBody>
      </p:sp>
      <p:sp>
        <p:nvSpPr>
          <p:cNvPr id="107" name="Freeform 10"/>
          <p:cNvSpPr>
            <a:spLocks/>
          </p:cNvSpPr>
          <p:nvPr/>
        </p:nvSpPr>
        <p:spPr bwMode="auto">
          <a:xfrm>
            <a:off x="3549650" y="246856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Freeform 11"/>
          <p:cNvSpPr>
            <a:spLocks/>
          </p:cNvSpPr>
          <p:nvPr/>
        </p:nvSpPr>
        <p:spPr bwMode="auto">
          <a:xfrm>
            <a:off x="3629025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Freeform 12"/>
          <p:cNvSpPr>
            <a:spLocks/>
          </p:cNvSpPr>
          <p:nvPr/>
        </p:nvSpPr>
        <p:spPr bwMode="auto">
          <a:xfrm>
            <a:off x="4035425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Freeform 13"/>
          <p:cNvSpPr>
            <a:spLocks/>
          </p:cNvSpPr>
          <p:nvPr/>
        </p:nvSpPr>
        <p:spPr bwMode="auto">
          <a:xfrm>
            <a:off x="4116388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Freeform 14"/>
          <p:cNvSpPr>
            <a:spLocks/>
          </p:cNvSpPr>
          <p:nvPr/>
        </p:nvSpPr>
        <p:spPr bwMode="auto">
          <a:xfrm>
            <a:off x="4522788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Freeform 15"/>
          <p:cNvSpPr>
            <a:spLocks/>
          </p:cNvSpPr>
          <p:nvPr/>
        </p:nvSpPr>
        <p:spPr bwMode="auto">
          <a:xfrm>
            <a:off x="4603750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Freeform 16"/>
          <p:cNvSpPr>
            <a:spLocks/>
          </p:cNvSpPr>
          <p:nvPr/>
        </p:nvSpPr>
        <p:spPr bwMode="auto">
          <a:xfrm>
            <a:off x="5010150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Freeform 17"/>
          <p:cNvSpPr>
            <a:spLocks/>
          </p:cNvSpPr>
          <p:nvPr/>
        </p:nvSpPr>
        <p:spPr bwMode="auto">
          <a:xfrm>
            <a:off x="5091113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Freeform 18"/>
          <p:cNvSpPr>
            <a:spLocks/>
          </p:cNvSpPr>
          <p:nvPr/>
        </p:nvSpPr>
        <p:spPr bwMode="auto">
          <a:xfrm>
            <a:off x="5497513" y="246856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Freeform 19"/>
          <p:cNvSpPr>
            <a:spLocks/>
          </p:cNvSpPr>
          <p:nvPr/>
        </p:nvSpPr>
        <p:spPr bwMode="auto">
          <a:xfrm>
            <a:off x="3162300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Freeform 20"/>
          <p:cNvSpPr>
            <a:spLocks/>
          </p:cNvSpPr>
          <p:nvPr/>
        </p:nvSpPr>
        <p:spPr bwMode="auto">
          <a:xfrm>
            <a:off x="348773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Freeform 21"/>
          <p:cNvSpPr>
            <a:spLocks/>
          </p:cNvSpPr>
          <p:nvPr/>
        </p:nvSpPr>
        <p:spPr bwMode="auto">
          <a:xfrm>
            <a:off x="3813175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Freeform 22"/>
          <p:cNvSpPr>
            <a:spLocks/>
          </p:cNvSpPr>
          <p:nvPr/>
        </p:nvSpPr>
        <p:spPr bwMode="auto">
          <a:xfrm>
            <a:off x="41370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Freeform 23"/>
          <p:cNvSpPr>
            <a:spLocks/>
          </p:cNvSpPr>
          <p:nvPr/>
        </p:nvSpPr>
        <p:spPr bwMode="auto">
          <a:xfrm>
            <a:off x="457358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" name="Freeform 24"/>
          <p:cNvSpPr>
            <a:spLocks/>
          </p:cNvSpPr>
          <p:nvPr/>
        </p:nvSpPr>
        <p:spPr bwMode="auto">
          <a:xfrm>
            <a:off x="48990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Freeform 25"/>
          <p:cNvSpPr>
            <a:spLocks/>
          </p:cNvSpPr>
          <p:nvPr/>
        </p:nvSpPr>
        <p:spPr bwMode="auto">
          <a:xfrm>
            <a:off x="5224463" y="4094163"/>
            <a:ext cx="323850" cy="325437"/>
          </a:xfrm>
          <a:custGeom>
            <a:avLst/>
            <a:gdLst>
              <a:gd name="T0" fmla="*/ 0 w 204"/>
              <a:gd name="T1" fmla="*/ 323850 h 205"/>
              <a:gd name="T2" fmla="*/ 0 w 204"/>
              <a:gd name="T3" fmla="*/ 0 h 205"/>
              <a:gd name="T4" fmla="*/ 322263 w 204"/>
              <a:gd name="T5" fmla="*/ 0 h 205"/>
              <a:gd name="T6" fmla="*/ 322263 w 204"/>
              <a:gd name="T7" fmla="*/ 323850 h 205"/>
              <a:gd name="T8" fmla="*/ 0 w 204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4"/>
              <a:gd name="T16" fmla="*/ 0 h 205"/>
              <a:gd name="T17" fmla="*/ 204 w 204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4" h="205">
                <a:moveTo>
                  <a:pt x="0" y="204"/>
                </a:moveTo>
                <a:lnTo>
                  <a:pt x="0" y="0"/>
                </a:lnTo>
                <a:lnTo>
                  <a:pt x="203" y="0"/>
                </a:lnTo>
                <a:lnTo>
                  <a:pt x="203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" name="Freeform 26"/>
          <p:cNvSpPr>
            <a:spLocks/>
          </p:cNvSpPr>
          <p:nvPr/>
        </p:nvSpPr>
        <p:spPr bwMode="auto">
          <a:xfrm>
            <a:off x="55467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" name="Freeform 27"/>
          <p:cNvSpPr>
            <a:spLocks/>
          </p:cNvSpPr>
          <p:nvPr/>
        </p:nvSpPr>
        <p:spPr bwMode="auto">
          <a:xfrm>
            <a:off x="598487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" name="Freeform 28"/>
          <p:cNvSpPr>
            <a:spLocks/>
          </p:cNvSpPr>
          <p:nvPr/>
        </p:nvSpPr>
        <p:spPr bwMode="auto">
          <a:xfrm>
            <a:off x="631031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" name="Freeform 29"/>
          <p:cNvSpPr>
            <a:spLocks/>
          </p:cNvSpPr>
          <p:nvPr/>
        </p:nvSpPr>
        <p:spPr bwMode="auto">
          <a:xfrm>
            <a:off x="663416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7" name="Freeform 30"/>
          <p:cNvSpPr>
            <a:spLocks/>
          </p:cNvSpPr>
          <p:nvPr/>
        </p:nvSpPr>
        <p:spPr bwMode="auto">
          <a:xfrm>
            <a:off x="6958013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" name="Freeform 31"/>
          <p:cNvSpPr>
            <a:spLocks/>
          </p:cNvSpPr>
          <p:nvPr/>
        </p:nvSpPr>
        <p:spPr bwMode="auto">
          <a:xfrm>
            <a:off x="7385050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" name="Freeform 32"/>
          <p:cNvSpPr>
            <a:spLocks/>
          </p:cNvSpPr>
          <p:nvPr/>
        </p:nvSpPr>
        <p:spPr bwMode="auto">
          <a:xfrm>
            <a:off x="7710488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Freeform 33"/>
          <p:cNvSpPr>
            <a:spLocks/>
          </p:cNvSpPr>
          <p:nvPr/>
        </p:nvSpPr>
        <p:spPr bwMode="auto">
          <a:xfrm>
            <a:off x="8034338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" name="Freeform 34"/>
          <p:cNvSpPr>
            <a:spLocks/>
          </p:cNvSpPr>
          <p:nvPr/>
        </p:nvSpPr>
        <p:spPr bwMode="auto">
          <a:xfrm>
            <a:off x="835818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Freeform 35"/>
          <p:cNvSpPr>
            <a:spLocks/>
          </p:cNvSpPr>
          <p:nvPr/>
        </p:nvSpPr>
        <p:spPr bwMode="auto">
          <a:xfrm>
            <a:off x="1428750" y="323691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" name="Freeform 36"/>
          <p:cNvSpPr>
            <a:spLocks/>
          </p:cNvSpPr>
          <p:nvPr/>
        </p:nvSpPr>
        <p:spPr bwMode="auto">
          <a:xfrm>
            <a:off x="15097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" name="Freeform 37"/>
          <p:cNvSpPr>
            <a:spLocks/>
          </p:cNvSpPr>
          <p:nvPr/>
        </p:nvSpPr>
        <p:spPr bwMode="auto">
          <a:xfrm>
            <a:off x="1914525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" name="Freeform 38"/>
          <p:cNvSpPr>
            <a:spLocks/>
          </p:cNvSpPr>
          <p:nvPr/>
        </p:nvSpPr>
        <p:spPr bwMode="auto">
          <a:xfrm>
            <a:off x="199548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" name="Freeform 39"/>
          <p:cNvSpPr>
            <a:spLocks/>
          </p:cNvSpPr>
          <p:nvPr/>
        </p:nvSpPr>
        <p:spPr bwMode="auto">
          <a:xfrm>
            <a:off x="2401888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" name="Freeform 40"/>
          <p:cNvSpPr>
            <a:spLocks/>
          </p:cNvSpPr>
          <p:nvPr/>
        </p:nvSpPr>
        <p:spPr bwMode="auto">
          <a:xfrm>
            <a:off x="2482850" y="32369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" name="Freeform 41"/>
          <p:cNvSpPr>
            <a:spLocks/>
          </p:cNvSpPr>
          <p:nvPr/>
        </p:nvSpPr>
        <p:spPr bwMode="auto">
          <a:xfrm>
            <a:off x="288925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" name="Freeform 42"/>
          <p:cNvSpPr>
            <a:spLocks/>
          </p:cNvSpPr>
          <p:nvPr/>
        </p:nvSpPr>
        <p:spPr bwMode="auto">
          <a:xfrm>
            <a:off x="29702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" name="Freeform 43"/>
          <p:cNvSpPr>
            <a:spLocks/>
          </p:cNvSpPr>
          <p:nvPr/>
        </p:nvSpPr>
        <p:spPr bwMode="auto">
          <a:xfrm>
            <a:off x="3376613" y="323691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1" name="Freeform 44"/>
          <p:cNvSpPr>
            <a:spLocks/>
          </p:cNvSpPr>
          <p:nvPr/>
        </p:nvSpPr>
        <p:spPr bwMode="auto">
          <a:xfrm>
            <a:off x="563880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2" name="Freeform 45"/>
          <p:cNvSpPr>
            <a:spLocks/>
          </p:cNvSpPr>
          <p:nvPr/>
        </p:nvSpPr>
        <p:spPr bwMode="auto">
          <a:xfrm>
            <a:off x="571976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" name="Freeform 46"/>
          <p:cNvSpPr>
            <a:spLocks/>
          </p:cNvSpPr>
          <p:nvPr/>
        </p:nvSpPr>
        <p:spPr bwMode="auto">
          <a:xfrm>
            <a:off x="6126163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" name="Freeform 47"/>
          <p:cNvSpPr>
            <a:spLocks/>
          </p:cNvSpPr>
          <p:nvPr/>
        </p:nvSpPr>
        <p:spPr bwMode="auto">
          <a:xfrm>
            <a:off x="6207125" y="32369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5" name="Freeform 48"/>
          <p:cNvSpPr>
            <a:spLocks/>
          </p:cNvSpPr>
          <p:nvPr/>
        </p:nvSpPr>
        <p:spPr bwMode="auto">
          <a:xfrm>
            <a:off x="6613525" y="323691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6" name="Freeform 49"/>
          <p:cNvSpPr>
            <a:spLocks/>
          </p:cNvSpPr>
          <p:nvPr/>
        </p:nvSpPr>
        <p:spPr bwMode="auto">
          <a:xfrm>
            <a:off x="669448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7" name="Freeform 50"/>
          <p:cNvSpPr>
            <a:spLocks/>
          </p:cNvSpPr>
          <p:nvPr/>
        </p:nvSpPr>
        <p:spPr bwMode="auto">
          <a:xfrm>
            <a:off x="709930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8" name="Freeform 51"/>
          <p:cNvSpPr>
            <a:spLocks/>
          </p:cNvSpPr>
          <p:nvPr/>
        </p:nvSpPr>
        <p:spPr bwMode="auto">
          <a:xfrm>
            <a:off x="718343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9" name="Freeform 52"/>
          <p:cNvSpPr>
            <a:spLocks/>
          </p:cNvSpPr>
          <p:nvPr/>
        </p:nvSpPr>
        <p:spPr bwMode="auto">
          <a:xfrm>
            <a:off x="7586663" y="3236913"/>
            <a:ext cx="84137" cy="404812"/>
          </a:xfrm>
          <a:custGeom>
            <a:avLst/>
            <a:gdLst>
              <a:gd name="T0" fmla="*/ 0 w 53"/>
              <a:gd name="T1" fmla="*/ 403225 h 255"/>
              <a:gd name="T2" fmla="*/ 0 w 53"/>
              <a:gd name="T3" fmla="*/ 0 h 255"/>
              <a:gd name="T4" fmla="*/ 82550 w 53"/>
              <a:gd name="T5" fmla="*/ 0 h 255"/>
              <a:gd name="T6" fmla="*/ 82550 w 53"/>
              <a:gd name="T7" fmla="*/ 403225 h 255"/>
              <a:gd name="T8" fmla="*/ 0 w 53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"/>
              <a:gd name="T16" fmla="*/ 0 h 255"/>
              <a:gd name="T17" fmla="*/ 53 w 53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" h="255">
                <a:moveTo>
                  <a:pt x="0" y="254"/>
                </a:moveTo>
                <a:lnTo>
                  <a:pt x="0" y="0"/>
                </a:lnTo>
                <a:lnTo>
                  <a:pt x="52" y="0"/>
                </a:lnTo>
                <a:lnTo>
                  <a:pt x="52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" name="Freeform 53"/>
          <p:cNvSpPr>
            <a:spLocks/>
          </p:cNvSpPr>
          <p:nvPr/>
        </p:nvSpPr>
        <p:spPr bwMode="auto">
          <a:xfrm>
            <a:off x="1012825" y="3559175"/>
            <a:ext cx="446088" cy="496888"/>
          </a:xfrm>
          <a:custGeom>
            <a:avLst/>
            <a:gdLst>
              <a:gd name="T0" fmla="*/ 444500 w 281"/>
              <a:gd name="T1" fmla="*/ 0 h 313"/>
              <a:gd name="T2" fmla="*/ 0 w 281"/>
              <a:gd name="T3" fmla="*/ 495300 h 313"/>
              <a:gd name="T4" fmla="*/ 444500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" name="Freeform 54"/>
          <p:cNvSpPr>
            <a:spLocks/>
          </p:cNvSpPr>
          <p:nvPr/>
        </p:nvSpPr>
        <p:spPr bwMode="auto">
          <a:xfrm>
            <a:off x="1012825" y="3962400"/>
            <a:ext cx="87313" cy="93663"/>
          </a:xfrm>
          <a:custGeom>
            <a:avLst/>
            <a:gdLst>
              <a:gd name="T0" fmla="*/ 85725 w 55"/>
              <a:gd name="T1" fmla="*/ 33338 h 59"/>
              <a:gd name="T2" fmla="*/ 0 w 55"/>
              <a:gd name="T3" fmla="*/ 92075 h 59"/>
              <a:gd name="T4" fmla="*/ 47625 w 55"/>
              <a:gd name="T5" fmla="*/ 0 h 59"/>
              <a:gd name="T6" fmla="*/ 85725 w 55"/>
              <a:gd name="T7" fmla="*/ 33338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2" name="Freeform 55"/>
          <p:cNvSpPr>
            <a:spLocks/>
          </p:cNvSpPr>
          <p:nvPr/>
        </p:nvSpPr>
        <p:spPr bwMode="auto">
          <a:xfrm>
            <a:off x="1944688" y="3559175"/>
            <a:ext cx="449262" cy="506413"/>
          </a:xfrm>
          <a:custGeom>
            <a:avLst/>
            <a:gdLst>
              <a:gd name="T0" fmla="*/ 0 w 283"/>
              <a:gd name="T1" fmla="*/ 0 h 319"/>
              <a:gd name="T2" fmla="*/ 447675 w 283"/>
              <a:gd name="T3" fmla="*/ 504825 h 319"/>
              <a:gd name="T4" fmla="*/ 0 w 283"/>
              <a:gd name="T5" fmla="*/ 0 h 319"/>
              <a:gd name="T6" fmla="*/ 0 60000 65536"/>
              <a:gd name="T7" fmla="*/ 0 60000 65536"/>
              <a:gd name="T8" fmla="*/ 0 60000 65536"/>
              <a:gd name="T9" fmla="*/ 0 w 283"/>
              <a:gd name="T10" fmla="*/ 0 h 319"/>
              <a:gd name="T11" fmla="*/ 283 w 283"/>
              <a:gd name="T12" fmla="*/ 319 h 31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3" h="319">
                <a:moveTo>
                  <a:pt x="0" y="0"/>
                </a:moveTo>
                <a:lnTo>
                  <a:pt x="282" y="318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" name="Freeform 56"/>
          <p:cNvSpPr>
            <a:spLocks/>
          </p:cNvSpPr>
          <p:nvPr/>
        </p:nvSpPr>
        <p:spPr bwMode="auto">
          <a:xfrm>
            <a:off x="2305050" y="3973513"/>
            <a:ext cx="88900" cy="92075"/>
          </a:xfrm>
          <a:custGeom>
            <a:avLst/>
            <a:gdLst>
              <a:gd name="T0" fmla="*/ 38100 w 56"/>
              <a:gd name="T1" fmla="*/ 0 h 58"/>
              <a:gd name="T2" fmla="*/ 87313 w 56"/>
              <a:gd name="T3" fmla="*/ 90488 h 58"/>
              <a:gd name="T4" fmla="*/ 0 w 56"/>
              <a:gd name="T5" fmla="*/ 33338 h 58"/>
              <a:gd name="T6" fmla="*/ 38100 w 56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6"/>
              <a:gd name="T13" fmla="*/ 0 h 58"/>
              <a:gd name="T14" fmla="*/ 56 w 56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" h="58">
                <a:moveTo>
                  <a:pt x="24" y="0"/>
                </a:moveTo>
                <a:lnTo>
                  <a:pt x="55" y="57"/>
                </a:lnTo>
                <a:lnTo>
                  <a:pt x="0" y="21"/>
                </a:lnTo>
                <a:lnTo>
                  <a:pt x="24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" name="Freeform 57"/>
          <p:cNvSpPr>
            <a:spLocks/>
          </p:cNvSpPr>
          <p:nvPr/>
        </p:nvSpPr>
        <p:spPr bwMode="auto">
          <a:xfrm>
            <a:off x="2443163" y="3559175"/>
            <a:ext cx="1330325" cy="517525"/>
          </a:xfrm>
          <a:custGeom>
            <a:avLst/>
            <a:gdLst>
              <a:gd name="T0" fmla="*/ 0 w 838"/>
              <a:gd name="T1" fmla="*/ 0 h 326"/>
              <a:gd name="T2" fmla="*/ 1328738 w 838"/>
              <a:gd name="T3" fmla="*/ 515938 h 326"/>
              <a:gd name="T4" fmla="*/ 0 w 838"/>
              <a:gd name="T5" fmla="*/ 0 h 326"/>
              <a:gd name="T6" fmla="*/ 0 60000 65536"/>
              <a:gd name="T7" fmla="*/ 0 60000 65536"/>
              <a:gd name="T8" fmla="*/ 0 60000 65536"/>
              <a:gd name="T9" fmla="*/ 0 w 838"/>
              <a:gd name="T10" fmla="*/ 0 h 326"/>
              <a:gd name="T11" fmla="*/ 838 w 838"/>
              <a:gd name="T12" fmla="*/ 326 h 3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38" h="326">
                <a:moveTo>
                  <a:pt x="0" y="0"/>
                </a:moveTo>
                <a:lnTo>
                  <a:pt x="837" y="32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" name="Freeform 58"/>
          <p:cNvSpPr>
            <a:spLocks/>
          </p:cNvSpPr>
          <p:nvPr/>
        </p:nvSpPr>
        <p:spPr bwMode="auto">
          <a:xfrm>
            <a:off x="3668713" y="4014788"/>
            <a:ext cx="104775" cy="61912"/>
          </a:xfrm>
          <a:custGeom>
            <a:avLst/>
            <a:gdLst>
              <a:gd name="T0" fmla="*/ 17463 w 66"/>
              <a:gd name="T1" fmla="*/ 0 h 39"/>
              <a:gd name="T2" fmla="*/ 103188 w 66"/>
              <a:gd name="T3" fmla="*/ 60325 h 39"/>
              <a:gd name="T4" fmla="*/ 0 w 66"/>
              <a:gd name="T5" fmla="*/ 47625 h 39"/>
              <a:gd name="T6" fmla="*/ 17463 w 66"/>
              <a:gd name="T7" fmla="*/ 0 h 39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39"/>
              <a:gd name="T14" fmla="*/ 66 w 66"/>
              <a:gd name="T15" fmla="*/ 39 h 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39">
                <a:moveTo>
                  <a:pt x="11" y="0"/>
                </a:moveTo>
                <a:lnTo>
                  <a:pt x="65" y="38"/>
                </a:lnTo>
                <a:lnTo>
                  <a:pt x="0" y="30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" name="Freeform 59"/>
          <p:cNvSpPr>
            <a:spLocks/>
          </p:cNvSpPr>
          <p:nvPr/>
        </p:nvSpPr>
        <p:spPr bwMode="auto">
          <a:xfrm>
            <a:off x="5224463" y="3579813"/>
            <a:ext cx="446087" cy="496887"/>
          </a:xfrm>
          <a:custGeom>
            <a:avLst/>
            <a:gdLst>
              <a:gd name="T0" fmla="*/ 444500 w 281"/>
              <a:gd name="T1" fmla="*/ 0 h 313"/>
              <a:gd name="T2" fmla="*/ 0 w 281"/>
              <a:gd name="T3" fmla="*/ 495300 h 313"/>
              <a:gd name="T4" fmla="*/ 444500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" name="Freeform 60"/>
          <p:cNvSpPr>
            <a:spLocks/>
          </p:cNvSpPr>
          <p:nvPr/>
        </p:nvSpPr>
        <p:spPr bwMode="auto">
          <a:xfrm>
            <a:off x="5224463" y="3983038"/>
            <a:ext cx="87312" cy="93662"/>
          </a:xfrm>
          <a:custGeom>
            <a:avLst/>
            <a:gdLst>
              <a:gd name="T0" fmla="*/ 85725 w 55"/>
              <a:gd name="T1" fmla="*/ 33337 h 59"/>
              <a:gd name="T2" fmla="*/ 0 w 55"/>
              <a:gd name="T3" fmla="*/ 92075 h 59"/>
              <a:gd name="T4" fmla="*/ 47625 w 55"/>
              <a:gd name="T5" fmla="*/ 0 h 59"/>
              <a:gd name="T6" fmla="*/ 85725 w 55"/>
              <a:gd name="T7" fmla="*/ 33337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" name="Freeform 61"/>
          <p:cNvSpPr>
            <a:spLocks/>
          </p:cNvSpPr>
          <p:nvPr/>
        </p:nvSpPr>
        <p:spPr bwMode="auto">
          <a:xfrm>
            <a:off x="6156325" y="3579813"/>
            <a:ext cx="458788" cy="476250"/>
          </a:xfrm>
          <a:custGeom>
            <a:avLst/>
            <a:gdLst>
              <a:gd name="T0" fmla="*/ 0 w 289"/>
              <a:gd name="T1" fmla="*/ 0 h 300"/>
              <a:gd name="T2" fmla="*/ 457200 w 289"/>
              <a:gd name="T3" fmla="*/ 474663 h 300"/>
              <a:gd name="T4" fmla="*/ 0 w 289"/>
              <a:gd name="T5" fmla="*/ 0 h 300"/>
              <a:gd name="T6" fmla="*/ 0 60000 65536"/>
              <a:gd name="T7" fmla="*/ 0 60000 65536"/>
              <a:gd name="T8" fmla="*/ 0 60000 65536"/>
              <a:gd name="T9" fmla="*/ 0 w 289"/>
              <a:gd name="T10" fmla="*/ 0 h 300"/>
              <a:gd name="T11" fmla="*/ 289 w 289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9" h="300">
                <a:moveTo>
                  <a:pt x="0" y="0"/>
                </a:moveTo>
                <a:lnTo>
                  <a:pt x="288" y="299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" name="Freeform 62"/>
          <p:cNvSpPr>
            <a:spLocks/>
          </p:cNvSpPr>
          <p:nvPr/>
        </p:nvSpPr>
        <p:spPr bwMode="auto">
          <a:xfrm>
            <a:off x="6524625" y="3963988"/>
            <a:ext cx="90488" cy="92075"/>
          </a:xfrm>
          <a:custGeom>
            <a:avLst/>
            <a:gdLst>
              <a:gd name="T0" fmla="*/ 36513 w 57"/>
              <a:gd name="T1" fmla="*/ 0 h 58"/>
              <a:gd name="T2" fmla="*/ 88900 w 57"/>
              <a:gd name="T3" fmla="*/ 90488 h 58"/>
              <a:gd name="T4" fmla="*/ 0 w 57"/>
              <a:gd name="T5" fmla="*/ 34925 h 58"/>
              <a:gd name="T6" fmla="*/ 36513 w 57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7"/>
              <a:gd name="T13" fmla="*/ 0 h 58"/>
              <a:gd name="T14" fmla="*/ 57 w 57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" h="58">
                <a:moveTo>
                  <a:pt x="23" y="0"/>
                </a:moveTo>
                <a:lnTo>
                  <a:pt x="56" y="57"/>
                </a:lnTo>
                <a:lnTo>
                  <a:pt x="0" y="22"/>
                </a:lnTo>
                <a:lnTo>
                  <a:pt x="23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" name="Freeform 63"/>
          <p:cNvSpPr>
            <a:spLocks/>
          </p:cNvSpPr>
          <p:nvPr/>
        </p:nvSpPr>
        <p:spPr bwMode="auto">
          <a:xfrm>
            <a:off x="6643688" y="3589338"/>
            <a:ext cx="1362075" cy="476250"/>
          </a:xfrm>
          <a:custGeom>
            <a:avLst/>
            <a:gdLst>
              <a:gd name="T0" fmla="*/ 0 w 858"/>
              <a:gd name="T1" fmla="*/ 0 h 300"/>
              <a:gd name="T2" fmla="*/ 1360488 w 858"/>
              <a:gd name="T3" fmla="*/ 474663 h 300"/>
              <a:gd name="T4" fmla="*/ 0 w 858"/>
              <a:gd name="T5" fmla="*/ 0 h 300"/>
              <a:gd name="T6" fmla="*/ 0 60000 65536"/>
              <a:gd name="T7" fmla="*/ 0 60000 65536"/>
              <a:gd name="T8" fmla="*/ 0 60000 65536"/>
              <a:gd name="T9" fmla="*/ 0 w 858"/>
              <a:gd name="T10" fmla="*/ 0 h 300"/>
              <a:gd name="T11" fmla="*/ 858 w 858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58" h="300">
                <a:moveTo>
                  <a:pt x="0" y="0"/>
                </a:moveTo>
                <a:lnTo>
                  <a:pt x="857" y="299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1" name="Freeform 64"/>
          <p:cNvSpPr>
            <a:spLocks/>
          </p:cNvSpPr>
          <p:nvPr/>
        </p:nvSpPr>
        <p:spPr bwMode="auto">
          <a:xfrm>
            <a:off x="7899400" y="4006850"/>
            <a:ext cx="106363" cy="58738"/>
          </a:xfrm>
          <a:custGeom>
            <a:avLst/>
            <a:gdLst>
              <a:gd name="T0" fmla="*/ 17463 w 67"/>
              <a:gd name="T1" fmla="*/ 0 h 37"/>
              <a:gd name="T2" fmla="*/ 104775 w 67"/>
              <a:gd name="T3" fmla="*/ 57150 h 37"/>
              <a:gd name="T4" fmla="*/ 0 w 67"/>
              <a:gd name="T5" fmla="*/ 49213 h 37"/>
              <a:gd name="T6" fmla="*/ 17463 w 67"/>
              <a:gd name="T7" fmla="*/ 0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11" y="0"/>
                </a:moveTo>
                <a:lnTo>
                  <a:pt x="66" y="36"/>
                </a:lnTo>
                <a:lnTo>
                  <a:pt x="0" y="31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" name="Freeform 65"/>
          <p:cNvSpPr>
            <a:spLocks/>
          </p:cNvSpPr>
          <p:nvPr/>
        </p:nvSpPr>
        <p:spPr bwMode="auto">
          <a:xfrm>
            <a:off x="2401888" y="2820988"/>
            <a:ext cx="1177925" cy="396875"/>
          </a:xfrm>
          <a:custGeom>
            <a:avLst/>
            <a:gdLst>
              <a:gd name="T0" fmla="*/ 1176338 w 742"/>
              <a:gd name="T1" fmla="*/ 0 h 250"/>
              <a:gd name="T2" fmla="*/ 0 w 742"/>
              <a:gd name="T3" fmla="*/ 395288 h 250"/>
              <a:gd name="T4" fmla="*/ 1176338 w 742"/>
              <a:gd name="T5" fmla="*/ 0 h 250"/>
              <a:gd name="T6" fmla="*/ 0 60000 65536"/>
              <a:gd name="T7" fmla="*/ 0 60000 65536"/>
              <a:gd name="T8" fmla="*/ 0 60000 65536"/>
              <a:gd name="T9" fmla="*/ 0 w 742"/>
              <a:gd name="T10" fmla="*/ 0 h 250"/>
              <a:gd name="T11" fmla="*/ 742 w 742"/>
              <a:gd name="T12" fmla="*/ 250 h 2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42" h="250">
                <a:moveTo>
                  <a:pt x="741" y="0"/>
                </a:moveTo>
                <a:lnTo>
                  <a:pt x="0" y="249"/>
                </a:lnTo>
                <a:lnTo>
                  <a:pt x="74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" name="Freeform 66"/>
          <p:cNvSpPr>
            <a:spLocks/>
          </p:cNvSpPr>
          <p:nvPr/>
        </p:nvSpPr>
        <p:spPr bwMode="auto">
          <a:xfrm>
            <a:off x="2401888" y="3159125"/>
            <a:ext cx="106362" cy="58738"/>
          </a:xfrm>
          <a:custGeom>
            <a:avLst/>
            <a:gdLst>
              <a:gd name="T0" fmla="*/ 104775 w 67"/>
              <a:gd name="T1" fmla="*/ 49213 h 37"/>
              <a:gd name="T2" fmla="*/ 0 w 67"/>
              <a:gd name="T3" fmla="*/ 57150 h 37"/>
              <a:gd name="T4" fmla="*/ 88900 w 67"/>
              <a:gd name="T5" fmla="*/ 0 h 37"/>
              <a:gd name="T6" fmla="*/ 104775 w 67"/>
              <a:gd name="T7" fmla="*/ 49213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66" y="31"/>
                </a:moveTo>
                <a:lnTo>
                  <a:pt x="0" y="36"/>
                </a:lnTo>
                <a:lnTo>
                  <a:pt x="56" y="0"/>
                </a:lnTo>
                <a:lnTo>
                  <a:pt x="66" y="3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" name="Freeform 67"/>
          <p:cNvSpPr>
            <a:spLocks/>
          </p:cNvSpPr>
          <p:nvPr/>
        </p:nvSpPr>
        <p:spPr bwMode="auto">
          <a:xfrm>
            <a:off x="4065588" y="2830513"/>
            <a:ext cx="1992312" cy="387350"/>
          </a:xfrm>
          <a:custGeom>
            <a:avLst/>
            <a:gdLst>
              <a:gd name="T0" fmla="*/ 0 w 1255"/>
              <a:gd name="T1" fmla="*/ 0 h 244"/>
              <a:gd name="T2" fmla="*/ 1990725 w 1255"/>
              <a:gd name="T3" fmla="*/ 385763 h 244"/>
              <a:gd name="T4" fmla="*/ 0 w 1255"/>
              <a:gd name="T5" fmla="*/ 0 h 244"/>
              <a:gd name="T6" fmla="*/ 0 60000 65536"/>
              <a:gd name="T7" fmla="*/ 0 60000 65536"/>
              <a:gd name="T8" fmla="*/ 0 60000 65536"/>
              <a:gd name="T9" fmla="*/ 0 w 1255"/>
              <a:gd name="T10" fmla="*/ 0 h 244"/>
              <a:gd name="T11" fmla="*/ 1255 w 1255"/>
              <a:gd name="T12" fmla="*/ 244 h 2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5" h="244">
                <a:moveTo>
                  <a:pt x="0" y="0"/>
                </a:moveTo>
                <a:lnTo>
                  <a:pt x="1254" y="243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" name="Freeform 68"/>
          <p:cNvSpPr>
            <a:spLocks/>
          </p:cNvSpPr>
          <p:nvPr/>
        </p:nvSpPr>
        <p:spPr bwMode="auto">
          <a:xfrm>
            <a:off x="5951538" y="3171825"/>
            <a:ext cx="106362" cy="50800"/>
          </a:xfrm>
          <a:custGeom>
            <a:avLst/>
            <a:gdLst>
              <a:gd name="T0" fmla="*/ 9525 w 67"/>
              <a:gd name="T1" fmla="*/ 0 h 32"/>
              <a:gd name="T2" fmla="*/ 104775 w 67"/>
              <a:gd name="T3" fmla="*/ 44450 h 32"/>
              <a:gd name="T4" fmla="*/ 0 w 67"/>
              <a:gd name="T5" fmla="*/ 49213 h 32"/>
              <a:gd name="T6" fmla="*/ 9525 w 67"/>
              <a:gd name="T7" fmla="*/ 0 h 32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2"/>
              <a:gd name="T14" fmla="*/ 67 w 67"/>
              <a:gd name="T15" fmla="*/ 32 h 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2">
                <a:moveTo>
                  <a:pt x="6" y="0"/>
                </a:moveTo>
                <a:lnTo>
                  <a:pt x="66" y="28"/>
                </a:lnTo>
                <a:lnTo>
                  <a:pt x="0" y="31"/>
                </a:lnTo>
                <a:lnTo>
                  <a:pt x="6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" name="Freeform 69"/>
          <p:cNvSpPr>
            <a:spLocks/>
          </p:cNvSpPr>
          <p:nvPr/>
        </p:nvSpPr>
        <p:spPr bwMode="auto">
          <a:xfrm>
            <a:off x="176371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" name="Freeform 70"/>
          <p:cNvSpPr>
            <a:spLocks/>
          </p:cNvSpPr>
          <p:nvPr/>
        </p:nvSpPr>
        <p:spPr bwMode="auto">
          <a:xfrm>
            <a:off x="2087563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" name="Freeform 71"/>
          <p:cNvSpPr>
            <a:spLocks/>
          </p:cNvSpPr>
          <p:nvPr/>
        </p:nvSpPr>
        <p:spPr bwMode="auto">
          <a:xfrm>
            <a:off x="241300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" name="Freeform 72"/>
          <p:cNvSpPr>
            <a:spLocks/>
          </p:cNvSpPr>
          <p:nvPr/>
        </p:nvSpPr>
        <p:spPr bwMode="auto">
          <a:xfrm>
            <a:off x="273685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0" name="Rectangle 73"/>
          <p:cNvSpPr>
            <a:spLocks noChangeArrowheads="1"/>
          </p:cNvSpPr>
          <p:nvPr/>
        </p:nvSpPr>
        <p:spPr bwMode="auto">
          <a:xfrm>
            <a:off x="2916238" y="2362200"/>
            <a:ext cx="5889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u="none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171" name="Rectangle 74"/>
          <p:cNvSpPr>
            <a:spLocks noChangeArrowheads="1"/>
          </p:cNvSpPr>
          <p:nvPr/>
        </p:nvSpPr>
        <p:spPr bwMode="auto">
          <a:xfrm>
            <a:off x="3678238" y="249713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17</a:t>
            </a:r>
          </a:p>
        </p:txBody>
      </p:sp>
      <p:sp>
        <p:nvSpPr>
          <p:cNvPr id="172" name="Rectangle 75"/>
          <p:cNvSpPr>
            <a:spLocks noChangeArrowheads="1"/>
          </p:cNvSpPr>
          <p:nvPr/>
        </p:nvSpPr>
        <p:spPr bwMode="auto">
          <a:xfrm>
            <a:off x="5748338" y="325278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24</a:t>
            </a:r>
          </a:p>
        </p:txBody>
      </p:sp>
      <p:sp>
        <p:nvSpPr>
          <p:cNvPr id="173" name="Rectangle 76"/>
          <p:cNvSpPr>
            <a:spLocks noChangeArrowheads="1"/>
          </p:cNvSpPr>
          <p:nvPr/>
        </p:nvSpPr>
        <p:spPr bwMode="auto">
          <a:xfrm>
            <a:off x="6245225" y="3263900"/>
            <a:ext cx="3683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30</a:t>
            </a:r>
          </a:p>
        </p:txBody>
      </p:sp>
      <p:sp>
        <p:nvSpPr>
          <p:cNvPr id="174" name="Rectangle 77"/>
          <p:cNvSpPr>
            <a:spLocks noChangeArrowheads="1"/>
          </p:cNvSpPr>
          <p:nvPr/>
        </p:nvSpPr>
        <p:spPr bwMode="auto">
          <a:xfrm>
            <a:off x="312261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14*</a:t>
            </a:r>
          </a:p>
        </p:txBody>
      </p:sp>
      <p:sp>
        <p:nvSpPr>
          <p:cNvPr id="175" name="Rectangle 78"/>
          <p:cNvSpPr>
            <a:spLocks noChangeArrowheads="1"/>
          </p:cNvSpPr>
          <p:nvPr/>
        </p:nvSpPr>
        <p:spPr bwMode="auto">
          <a:xfrm>
            <a:off x="344646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16*</a:t>
            </a:r>
          </a:p>
        </p:txBody>
      </p:sp>
      <p:sp>
        <p:nvSpPr>
          <p:cNvPr id="179" name="Rectangle 82"/>
          <p:cNvSpPr>
            <a:spLocks noChangeArrowheads="1"/>
          </p:cNvSpPr>
          <p:nvPr/>
        </p:nvSpPr>
        <p:spPr bwMode="auto">
          <a:xfrm>
            <a:off x="5943600" y="4070350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24*</a:t>
            </a:r>
          </a:p>
        </p:txBody>
      </p:sp>
      <p:sp>
        <p:nvSpPr>
          <p:cNvPr id="180" name="Rectangle 83"/>
          <p:cNvSpPr>
            <a:spLocks noChangeArrowheads="1"/>
          </p:cNvSpPr>
          <p:nvPr/>
        </p:nvSpPr>
        <p:spPr bwMode="auto">
          <a:xfrm>
            <a:off x="6278563" y="4070350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27*</a:t>
            </a:r>
          </a:p>
        </p:txBody>
      </p:sp>
      <p:sp>
        <p:nvSpPr>
          <p:cNvPr id="181" name="Rectangle 84"/>
          <p:cNvSpPr>
            <a:spLocks noChangeArrowheads="1"/>
          </p:cNvSpPr>
          <p:nvPr/>
        </p:nvSpPr>
        <p:spPr bwMode="auto">
          <a:xfrm>
            <a:off x="6581775" y="4081463"/>
            <a:ext cx="4318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29*</a:t>
            </a:r>
          </a:p>
        </p:txBody>
      </p:sp>
      <p:sp>
        <p:nvSpPr>
          <p:cNvPr id="182" name="Rectangle 85"/>
          <p:cNvSpPr>
            <a:spLocks noChangeArrowheads="1"/>
          </p:cNvSpPr>
          <p:nvPr/>
        </p:nvSpPr>
        <p:spPr bwMode="auto">
          <a:xfrm>
            <a:off x="7353300" y="4081463"/>
            <a:ext cx="4318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33*</a:t>
            </a:r>
          </a:p>
        </p:txBody>
      </p:sp>
      <p:sp>
        <p:nvSpPr>
          <p:cNvPr id="183" name="Rectangle 86"/>
          <p:cNvSpPr>
            <a:spLocks noChangeArrowheads="1"/>
          </p:cNvSpPr>
          <p:nvPr/>
        </p:nvSpPr>
        <p:spPr bwMode="auto">
          <a:xfrm>
            <a:off x="7678738" y="4081463"/>
            <a:ext cx="4318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34*</a:t>
            </a:r>
          </a:p>
        </p:txBody>
      </p:sp>
      <p:sp>
        <p:nvSpPr>
          <p:cNvPr id="184" name="Rectangle 87"/>
          <p:cNvSpPr>
            <a:spLocks noChangeArrowheads="1"/>
          </p:cNvSpPr>
          <p:nvPr/>
        </p:nvSpPr>
        <p:spPr bwMode="auto">
          <a:xfrm>
            <a:off x="7993063" y="4070350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38*</a:t>
            </a:r>
          </a:p>
        </p:txBody>
      </p:sp>
      <p:sp>
        <p:nvSpPr>
          <p:cNvPr id="185" name="Rectangle 88"/>
          <p:cNvSpPr>
            <a:spLocks noChangeArrowheads="1"/>
          </p:cNvSpPr>
          <p:nvPr/>
        </p:nvSpPr>
        <p:spPr bwMode="auto">
          <a:xfrm>
            <a:off x="8316913" y="406082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39*</a:t>
            </a:r>
          </a:p>
        </p:txBody>
      </p:sp>
      <p:sp>
        <p:nvSpPr>
          <p:cNvPr id="186" name="Rectangle 89"/>
          <p:cNvSpPr>
            <a:spLocks noChangeArrowheads="1"/>
          </p:cNvSpPr>
          <p:nvPr/>
        </p:nvSpPr>
        <p:spPr bwMode="auto">
          <a:xfrm>
            <a:off x="2024063" y="326548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13</a:t>
            </a:r>
          </a:p>
        </p:txBody>
      </p:sp>
      <p:sp>
        <p:nvSpPr>
          <p:cNvPr id="187" name="Rectangle 90"/>
          <p:cNvSpPr>
            <a:spLocks noChangeArrowheads="1"/>
          </p:cNvSpPr>
          <p:nvPr/>
        </p:nvSpPr>
        <p:spPr bwMode="auto">
          <a:xfrm>
            <a:off x="1557338" y="3265488"/>
            <a:ext cx="2762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188" name="Rectangle 91"/>
          <p:cNvSpPr>
            <a:spLocks noChangeArrowheads="1"/>
          </p:cNvSpPr>
          <p:nvPr/>
        </p:nvSpPr>
        <p:spPr bwMode="auto">
          <a:xfrm>
            <a:off x="2095500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7*</a:t>
            </a:r>
          </a:p>
        </p:txBody>
      </p:sp>
      <p:sp>
        <p:nvSpPr>
          <p:cNvPr id="189" name="Rectangle 92"/>
          <p:cNvSpPr>
            <a:spLocks noChangeArrowheads="1"/>
          </p:cNvSpPr>
          <p:nvPr/>
        </p:nvSpPr>
        <p:spPr bwMode="auto">
          <a:xfrm>
            <a:off x="1773238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5*</a:t>
            </a:r>
          </a:p>
        </p:txBody>
      </p:sp>
      <p:sp>
        <p:nvSpPr>
          <p:cNvPr id="190" name="Rectangle 93"/>
          <p:cNvSpPr>
            <a:spLocks noChangeArrowheads="1"/>
          </p:cNvSpPr>
          <p:nvPr/>
        </p:nvSpPr>
        <p:spPr bwMode="auto">
          <a:xfrm>
            <a:off x="2411413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8*</a:t>
            </a:r>
          </a:p>
        </p:txBody>
      </p:sp>
      <p:sp>
        <p:nvSpPr>
          <p:cNvPr id="191" name="Arc 94"/>
          <p:cNvSpPr>
            <a:spLocks/>
          </p:cNvSpPr>
          <p:nvPr/>
        </p:nvSpPr>
        <p:spPr bwMode="auto">
          <a:xfrm rot="13440000">
            <a:off x="70977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2" name="Arc 95"/>
          <p:cNvSpPr>
            <a:spLocks/>
          </p:cNvSpPr>
          <p:nvPr/>
        </p:nvSpPr>
        <p:spPr bwMode="auto">
          <a:xfrm rot="13440000">
            <a:off x="15351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3" name="Arc 96"/>
          <p:cNvSpPr>
            <a:spLocks/>
          </p:cNvSpPr>
          <p:nvPr/>
        </p:nvSpPr>
        <p:spPr bwMode="auto">
          <a:xfrm rot="13440000">
            <a:off x="29067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" name="Arc 97"/>
          <p:cNvSpPr>
            <a:spLocks/>
          </p:cNvSpPr>
          <p:nvPr/>
        </p:nvSpPr>
        <p:spPr bwMode="auto">
          <a:xfrm rot="13440000">
            <a:off x="43545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5" name="Arc 98"/>
          <p:cNvSpPr>
            <a:spLocks/>
          </p:cNvSpPr>
          <p:nvPr/>
        </p:nvSpPr>
        <p:spPr bwMode="auto">
          <a:xfrm rot="13440000">
            <a:off x="57261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1" name="TextBox 26630"/>
          <p:cNvSpPr txBox="1"/>
          <p:nvPr/>
        </p:nvSpPr>
        <p:spPr>
          <a:xfrm>
            <a:off x="533400" y="4724400"/>
            <a:ext cx="8484951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 smtClean="0"/>
              <a:t>The sibling is ‘rich’ (i.e., can lend an entry); hence, remove </a:t>
            </a:r>
            <a:r>
              <a:rPr lang="en-US" sz="2000" dirty="0" smtClean="0">
                <a:solidFill>
                  <a:srgbClr val="FF0000"/>
                </a:solidFill>
              </a:rPr>
              <a:t>20*</a:t>
            </a:r>
            <a:r>
              <a:rPr lang="en-US" sz="2000" dirty="0" smtClean="0"/>
              <a:t> and redistribute!</a:t>
            </a:r>
            <a:endParaRPr lang="en-US" sz="2000" dirty="0"/>
          </a:p>
        </p:txBody>
      </p:sp>
      <p:sp>
        <p:nvSpPr>
          <p:cNvPr id="198" name="Rectangle 80"/>
          <p:cNvSpPr>
            <a:spLocks noChangeArrowheads="1"/>
          </p:cNvSpPr>
          <p:nvPr/>
        </p:nvSpPr>
        <p:spPr bwMode="auto">
          <a:xfrm>
            <a:off x="4538530" y="4078896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>
                <a:solidFill>
                  <a:srgbClr val="000000"/>
                </a:solidFill>
                <a:latin typeface="Arial" pitchFamily="34" charset="0"/>
              </a:rPr>
              <a:t>20*</a:t>
            </a:r>
          </a:p>
        </p:txBody>
      </p:sp>
      <p:sp>
        <p:nvSpPr>
          <p:cNvPr id="199" name="Rectangle 81"/>
          <p:cNvSpPr>
            <a:spLocks noChangeArrowheads="1"/>
          </p:cNvSpPr>
          <p:nvPr/>
        </p:nvSpPr>
        <p:spPr bwMode="auto">
          <a:xfrm>
            <a:off x="4852855" y="4078896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>
                <a:solidFill>
                  <a:srgbClr val="000000"/>
                </a:solidFill>
                <a:latin typeface="Arial" pitchFamily="34" charset="0"/>
              </a:rPr>
              <a:t>22*</a:t>
            </a:r>
          </a:p>
        </p:txBody>
      </p:sp>
      <p:sp>
        <p:nvSpPr>
          <p:cNvPr id="2" name="Oval 1"/>
          <p:cNvSpPr/>
          <p:nvPr/>
        </p:nvSpPr>
        <p:spPr>
          <a:xfrm>
            <a:off x="5823744" y="3973513"/>
            <a:ext cx="1641863" cy="542131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26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1" grpId="0" animBg="1"/>
      <p:bldP spid="19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B+ Tree: Examples </a:t>
            </a:r>
            <a:r>
              <a:rPr lang="en-US" dirty="0" smtClean="0">
                <a:ea typeface="ＭＳ Ｐゴシック" pitchFamily="34" charset="-128"/>
              </a:rPr>
              <a:t>of Deletions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Delete </a:t>
            </a:r>
            <a:r>
              <a:rPr lang="en-US" dirty="0" smtClean="0">
                <a:solidFill>
                  <a:srgbClr val="FF0000"/>
                </a:solidFill>
              </a:rPr>
              <a:t>20*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101" name="Freeform 4"/>
          <p:cNvSpPr>
            <a:spLocks/>
          </p:cNvSpPr>
          <p:nvPr/>
        </p:nvSpPr>
        <p:spPr bwMode="auto">
          <a:xfrm>
            <a:off x="381000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" name="Freeform 5"/>
          <p:cNvSpPr>
            <a:spLocks/>
          </p:cNvSpPr>
          <p:nvPr/>
        </p:nvSpPr>
        <p:spPr bwMode="auto">
          <a:xfrm>
            <a:off x="706438" y="4086225"/>
            <a:ext cx="325437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Freeform 6"/>
          <p:cNvSpPr>
            <a:spLocks/>
          </p:cNvSpPr>
          <p:nvPr/>
        </p:nvSpPr>
        <p:spPr bwMode="auto">
          <a:xfrm>
            <a:off x="1030288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" name="Freeform 7"/>
          <p:cNvSpPr>
            <a:spLocks/>
          </p:cNvSpPr>
          <p:nvPr/>
        </p:nvSpPr>
        <p:spPr bwMode="auto">
          <a:xfrm>
            <a:off x="1355725" y="4086225"/>
            <a:ext cx="325438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" name="Rectangle 8"/>
          <p:cNvSpPr>
            <a:spLocks noChangeArrowheads="1"/>
          </p:cNvSpPr>
          <p:nvPr/>
        </p:nvSpPr>
        <p:spPr bwMode="auto">
          <a:xfrm>
            <a:off x="390525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2*</a:t>
            </a:r>
          </a:p>
        </p:txBody>
      </p:sp>
      <p:sp>
        <p:nvSpPr>
          <p:cNvPr id="106" name="Rectangle 9"/>
          <p:cNvSpPr>
            <a:spLocks noChangeArrowheads="1"/>
          </p:cNvSpPr>
          <p:nvPr/>
        </p:nvSpPr>
        <p:spPr bwMode="auto">
          <a:xfrm>
            <a:off x="715963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3*</a:t>
            </a:r>
          </a:p>
        </p:txBody>
      </p:sp>
      <p:sp>
        <p:nvSpPr>
          <p:cNvPr id="107" name="Freeform 10"/>
          <p:cNvSpPr>
            <a:spLocks/>
          </p:cNvSpPr>
          <p:nvPr/>
        </p:nvSpPr>
        <p:spPr bwMode="auto">
          <a:xfrm>
            <a:off x="3549650" y="246856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Freeform 11"/>
          <p:cNvSpPr>
            <a:spLocks/>
          </p:cNvSpPr>
          <p:nvPr/>
        </p:nvSpPr>
        <p:spPr bwMode="auto">
          <a:xfrm>
            <a:off x="3629025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Freeform 12"/>
          <p:cNvSpPr>
            <a:spLocks/>
          </p:cNvSpPr>
          <p:nvPr/>
        </p:nvSpPr>
        <p:spPr bwMode="auto">
          <a:xfrm>
            <a:off x="4035425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Freeform 13"/>
          <p:cNvSpPr>
            <a:spLocks/>
          </p:cNvSpPr>
          <p:nvPr/>
        </p:nvSpPr>
        <p:spPr bwMode="auto">
          <a:xfrm>
            <a:off x="4116388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Freeform 14"/>
          <p:cNvSpPr>
            <a:spLocks/>
          </p:cNvSpPr>
          <p:nvPr/>
        </p:nvSpPr>
        <p:spPr bwMode="auto">
          <a:xfrm>
            <a:off x="4522788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Freeform 15"/>
          <p:cNvSpPr>
            <a:spLocks/>
          </p:cNvSpPr>
          <p:nvPr/>
        </p:nvSpPr>
        <p:spPr bwMode="auto">
          <a:xfrm>
            <a:off x="4603750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Freeform 16"/>
          <p:cNvSpPr>
            <a:spLocks/>
          </p:cNvSpPr>
          <p:nvPr/>
        </p:nvSpPr>
        <p:spPr bwMode="auto">
          <a:xfrm>
            <a:off x="5010150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Freeform 17"/>
          <p:cNvSpPr>
            <a:spLocks/>
          </p:cNvSpPr>
          <p:nvPr/>
        </p:nvSpPr>
        <p:spPr bwMode="auto">
          <a:xfrm>
            <a:off x="5091113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Freeform 18"/>
          <p:cNvSpPr>
            <a:spLocks/>
          </p:cNvSpPr>
          <p:nvPr/>
        </p:nvSpPr>
        <p:spPr bwMode="auto">
          <a:xfrm>
            <a:off x="5497513" y="246856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Freeform 19"/>
          <p:cNvSpPr>
            <a:spLocks/>
          </p:cNvSpPr>
          <p:nvPr/>
        </p:nvSpPr>
        <p:spPr bwMode="auto">
          <a:xfrm>
            <a:off x="3162300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Freeform 20"/>
          <p:cNvSpPr>
            <a:spLocks/>
          </p:cNvSpPr>
          <p:nvPr/>
        </p:nvSpPr>
        <p:spPr bwMode="auto">
          <a:xfrm>
            <a:off x="348773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Freeform 21"/>
          <p:cNvSpPr>
            <a:spLocks/>
          </p:cNvSpPr>
          <p:nvPr/>
        </p:nvSpPr>
        <p:spPr bwMode="auto">
          <a:xfrm>
            <a:off x="3813175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Freeform 22"/>
          <p:cNvSpPr>
            <a:spLocks/>
          </p:cNvSpPr>
          <p:nvPr/>
        </p:nvSpPr>
        <p:spPr bwMode="auto">
          <a:xfrm>
            <a:off x="41370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Freeform 23"/>
          <p:cNvSpPr>
            <a:spLocks/>
          </p:cNvSpPr>
          <p:nvPr/>
        </p:nvSpPr>
        <p:spPr bwMode="auto">
          <a:xfrm>
            <a:off x="457358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" name="Freeform 24"/>
          <p:cNvSpPr>
            <a:spLocks/>
          </p:cNvSpPr>
          <p:nvPr/>
        </p:nvSpPr>
        <p:spPr bwMode="auto">
          <a:xfrm>
            <a:off x="48990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Freeform 25"/>
          <p:cNvSpPr>
            <a:spLocks/>
          </p:cNvSpPr>
          <p:nvPr/>
        </p:nvSpPr>
        <p:spPr bwMode="auto">
          <a:xfrm>
            <a:off x="5224463" y="4094163"/>
            <a:ext cx="323850" cy="325437"/>
          </a:xfrm>
          <a:custGeom>
            <a:avLst/>
            <a:gdLst>
              <a:gd name="T0" fmla="*/ 0 w 204"/>
              <a:gd name="T1" fmla="*/ 323850 h 205"/>
              <a:gd name="T2" fmla="*/ 0 w 204"/>
              <a:gd name="T3" fmla="*/ 0 h 205"/>
              <a:gd name="T4" fmla="*/ 322263 w 204"/>
              <a:gd name="T5" fmla="*/ 0 h 205"/>
              <a:gd name="T6" fmla="*/ 322263 w 204"/>
              <a:gd name="T7" fmla="*/ 323850 h 205"/>
              <a:gd name="T8" fmla="*/ 0 w 204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4"/>
              <a:gd name="T16" fmla="*/ 0 h 205"/>
              <a:gd name="T17" fmla="*/ 204 w 204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4" h="205">
                <a:moveTo>
                  <a:pt x="0" y="204"/>
                </a:moveTo>
                <a:lnTo>
                  <a:pt x="0" y="0"/>
                </a:lnTo>
                <a:lnTo>
                  <a:pt x="203" y="0"/>
                </a:lnTo>
                <a:lnTo>
                  <a:pt x="203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" name="Freeform 26"/>
          <p:cNvSpPr>
            <a:spLocks/>
          </p:cNvSpPr>
          <p:nvPr/>
        </p:nvSpPr>
        <p:spPr bwMode="auto">
          <a:xfrm>
            <a:off x="55467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" name="Freeform 27"/>
          <p:cNvSpPr>
            <a:spLocks/>
          </p:cNvSpPr>
          <p:nvPr/>
        </p:nvSpPr>
        <p:spPr bwMode="auto">
          <a:xfrm>
            <a:off x="598487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" name="Freeform 28"/>
          <p:cNvSpPr>
            <a:spLocks/>
          </p:cNvSpPr>
          <p:nvPr/>
        </p:nvSpPr>
        <p:spPr bwMode="auto">
          <a:xfrm>
            <a:off x="631031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" name="Freeform 29"/>
          <p:cNvSpPr>
            <a:spLocks/>
          </p:cNvSpPr>
          <p:nvPr/>
        </p:nvSpPr>
        <p:spPr bwMode="auto">
          <a:xfrm>
            <a:off x="663416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7" name="Freeform 30"/>
          <p:cNvSpPr>
            <a:spLocks/>
          </p:cNvSpPr>
          <p:nvPr/>
        </p:nvSpPr>
        <p:spPr bwMode="auto">
          <a:xfrm>
            <a:off x="6958013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" name="Freeform 31"/>
          <p:cNvSpPr>
            <a:spLocks/>
          </p:cNvSpPr>
          <p:nvPr/>
        </p:nvSpPr>
        <p:spPr bwMode="auto">
          <a:xfrm>
            <a:off x="7385050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" name="Freeform 32"/>
          <p:cNvSpPr>
            <a:spLocks/>
          </p:cNvSpPr>
          <p:nvPr/>
        </p:nvSpPr>
        <p:spPr bwMode="auto">
          <a:xfrm>
            <a:off x="7710488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Freeform 33"/>
          <p:cNvSpPr>
            <a:spLocks/>
          </p:cNvSpPr>
          <p:nvPr/>
        </p:nvSpPr>
        <p:spPr bwMode="auto">
          <a:xfrm>
            <a:off x="8034338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" name="Freeform 34"/>
          <p:cNvSpPr>
            <a:spLocks/>
          </p:cNvSpPr>
          <p:nvPr/>
        </p:nvSpPr>
        <p:spPr bwMode="auto">
          <a:xfrm>
            <a:off x="835818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Freeform 35"/>
          <p:cNvSpPr>
            <a:spLocks/>
          </p:cNvSpPr>
          <p:nvPr/>
        </p:nvSpPr>
        <p:spPr bwMode="auto">
          <a:xfrm>
            <a:off x="1428750" y="323691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" name="Freeform 36"/>
          <p:cNvSpPr>
            <a:spLocks/>
          </p:cNvSpPr>
          <p:nvPr/>
        </p:nvSpPr>
        <p:spPr bwMode="auto">
          <a:xfrm>
            <a:off x="15097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" name="Freeform 37"/>
          <p:cNvSpPr>
            <a:spLocks/>
          </p:cNvSpPr>
          <p:nvPr/>
        </p:nvSpPr>
        <p:spPr bwMode="auto">
          <a:xfrm>
            <a:off x="1914525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" name="Freeform 38"/>
          <p:cNvSpPr>
            <a:spLocks/>
          </p:cNvSpPr>
          <p:nvPr/>
        </p:nvSpPr>
        <p:spPr bwMode="auto">
          <a:xfrm>
            <a:off x="199548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" name="Freeform 39"/>
          <p:cNvSpPr>
            <a:spLocks/>
          </p:cNvSpPr>
          <p:nvPr/>
        </p:nvSpPr>
        <p:spPr bwMode="auto">
          <a:xfrm>
            <a:off x="2401888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" name="Freeform 40"/>
          <p:cNvSpPr>
            <a:spLocks/>
          </p:cNvSpPr>
          <p:nvPr/>
        </p:nvSpPr>
        <p:spPr bwMode="auto">
          <a:xfrm>
            <a:off x="2482850" y="32369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" name="Freeform 41"/>
          <p:cNvSpPr>
            <a:spLocks/>
          </p:cNvSpPr>
          <p:nvPr/>
        </p:nvSpPr>
        <p:spPr bwMode="auto">
          <a:xfrm>
            <a:off x="288925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" name="Freeform 42"/>
          <p:cNvSpPr>
            <a:spLocks/>
          </p:cNvSpPr>
          <p:nvPr/>
        </p:nvSpPr>
        <p:spPr bwMode="auto">
          <a:xfrm>
            <a:off x="29702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" name="Freeform 43"/>
          <p:cNvSpPr>
            <a:spLocks/>
          </p:cNvSpPr>
          <p:nvPr/>
        </p:nvSpPr>
        <p:spPr bwMode="auto">
          <a:xfrm>
            <a:off x="3376613" y="323691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1" name="Freeform 44"/>
          <p:cNvSpPr>
            <a:spLocks/>
          </p:cNvSpPr>
          <p:nvPr/>
        </p:nvSpPr>
        <p:spPr bwMode="auto">
          <a:xfrm>
            <a:off x="563880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2" name="Freeform 45"/>
          <p:cNvSpPr>
            <a:spLocks/>
          </p:cNvSpPr>
          <p:nvPr/>
        </p:nvSpPr>
        <p:spPr bwMode="auto">
          <a:xfrm>
            <a:off x="571976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" name="Freeform 46"/>
          <p:cNvSpPr>
            <a:spLocks/>
          </p:cNvSpPr>
          <p:nvPr/>
        </p:nvSpPr>
        <p:spPr bwMode="auto">
          <a:xfrm>
            <a:off x="6126163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" name="Freeform 47"/>
          <p:cNvSpPr>
            <a:spLocks/>
          </p:cNvSpPr>
          <p:nvPr/>
        </p:nvSpPr>
        <p:spPr bwMode="auto">
          <a:xfrm>
            <a:off x="6207125" y="32369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5" name="Freeform 48"/>
          <p:cNvSpPr>
            <a:spLocks/>
          </p:cNvSpPr>
          <p:nvPr/>
        </p:nvSpPr>
        <p:spPr bwMode="auto">
          <a:xfrm>
            <a:off x="6613525" y="323691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6" name="Freeform 49"/>
          <p:cNvSpPr>
            <a:spLocks/>
          </p:cNvSpPr>
          <p:nvPr/>
        </p:nvSpPr>
        <p:spPr bwMode="auto">
          <a:xfrm>
            <a:off x="669448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7" name="Freeform 50"/>
          <p:cNvSpPr>
            <a:spLocks/>
          </p:cNvSpPr>
          <p:nvPr/>
        </p:nvSpPr>
        <p:spPr bwMode="auto">
          <a:xfrm>
            <a:off x="709930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8" name="Freeform 51"/>
          <p:cNvSpPr>
            <a:spLocks/>
          </p:cNvSpPr>
          <p:nvPr/>
        </p:nvSpPr>
        <p:spPr bwMode="auto">
          <a:xfrm>
            <a:off x="718343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9" name="Freeform 52"/>
          <p:cNvSpPr>
            <a:spLocks/>
          </p:cNvSpPr>
          <p:nvPr/>
        </p:nvSpPr>
        <p:spPr bwMode="auto">
          <a:xfrm>
            <a:off x="7586663" y="3236913"/>
            <a:ext cx="84137" cy="404812"/>
          </a:xfrm>
          <a:custGeom>
            <a:avLst/>
            <a:gdLst>
              <a:gd name="T0" fmla="*/ 0 w 53"/>
              <a:gd name="T1" fmla="*/ 403225 h 255"/>
              <a:gd name="T2" fmla="*/ 0 w 53"/>
              <a:gd name="T3" fmla="*/ 0 h 255"/>
              <a:gd name="T4" fmla="*/ 82550 w 53"/>
              <a:gd name="T5" fmla="*/ 0 h 255"/>
              <a:gd name="T6" fmla="*/ 82550 w 53"/>
              <a:gd name="T7" fmla="*/ 403225 h 255"/>
              <a:gd name="T8" fmla="*/ 0 w 53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"/>
              <a:gd name="T16" fmla="*/ 0 h 255"/>
              <a:gd name="T17" fmla="*/ 53 w 53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" h="255">
                <a:moveTo>
                  <a:pt x="0" y="254"/>
                </a:moveTo>
                <a:lnTo>
                  <a:pt x="0" y="0"/>
                </a:lnTo>
                <a:lnTo>
                  <a:pt x="52" y="0"/>
                </a:lnTo>
                <a:lnTo>
                  <a:pt x="52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" name="Freeform 53"/>
          <p:cNvSpPr>
            <a:spLocks/>
          </p:cNvSpPr>
          <p:nvPr/>
        </p:nvSpPr>
        <p:spPr bwMode="auto">
          <a:xfrm>
            <a:off x="1012825" y="3559175"/>
            <a:ext cx="446088" cy="496888"/>
          </a:xfrm>
          <a:custGeom>
            <a:avLst/>
            <a:gdLst>
              <a:gd name="T0" fmla="*/ 444500 w 281"/>
              <a:gd name="T1" fmla="*/ 0 h 313"/>
              <a:gd name="T2" fmla="*/ 0 w 281"/>
              <a:gd name="T3" fmla="*/ 495300 h 313"/>
              <a:gd name="T4" fmla="*/ 444500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" name="Freeform 54"/>
          <p:cNvSpPr>
            <a:spLocks/>
          </p:cNvSpPr>
          <p:nvPr/>
        </p:nvSpPr>
        <p:spPr bwMode="auto">
          <a:xfrm>
            <a:off x="1012825" y="3962400"/>
            <a:ext cx="87313" cy="93663"/>
          </a:xfrm>
          <a:custGeom>
            <a:avLst/>
            <a:gdLst>
              <a:gd name="T0" fmla="*/ 85725 w 55"/>
              <a:gd name="T1" fmla="*/ 33338 h 59"/>
              <a:gd name="T2" fmla="*/ 0 w 55"/>
              <a:gd name="T3" fmla="*/ 92075 h 59"/>
              <a:gd name="T4" fmla="*/ 47625 w 55"/>
              <a:gd name="T5" fmla="*/ 0 h 59"/>
              <a:gd name="T6" fmla="*/ 85725 w 55"/>
              <a:gd name="T7" fmla="*/ 33338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2" name="Freeform 55"/>
          <p:cNvSpPr>
            <a:spLocks/>
          </p:cNvSpPr>
          <p:nvPr/>
        </p:nvSpPr>
        <p:spPr bwMode="auto">
          <a:xfrm>
            <a:off x="1944688" y="3559175"/>
            <a:ext cx="449262" cy="506413"/>
          </a:xfrm>
          <a:custGeom>
            <a:avLst/>
            <a:gdLst>
              <a:gd name="T0" fmla="*/ 0 w 283"/>
              <a:gd name="T1" fmla="*/ 0 h 319"/>
              <a:gd name="T2" fmla="*/ 447675 w 283"/>
              <a:gd name="T3" fmla="*/ 504825 h 319"/>
              <a:gd name="T4" fmla="*/ 0 w 283"/>
              <a:gd name="T5" fmla="*/ 0 h 319"/>
              <a:gd name="T6" fmla="*/ 0 60000 65536"/>
              <a:gd name="T7" fmla="*/ 0 60000 65536"/>
              <a:gd name="T8" fmla="*/ 0 60000 65536"/>
              <a:gd name="T9" fmla="*/ 0 w 283"/>
              <a:gd name="T10" fmla="*/ 0 h 319"/>
              <a:gd name="T11" fmla="*/ 283 w 283"/>
              <a:gd name="T12" fmla="*/ 319 h 31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3" h="319">
                <a:moveTo>
                  <a:pt x="0" y="0"/>
                </a:moveTo>
                <a:lnTo>
                  <a:pt x="282" y="318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" name="Freeform 56"/>
          <p:cNvSpPr>
            <a:spLocks/>
          </p:cNvSpPr>
          <p:nvPr/>
        </p:nvSpPr>
        <p:spPr bwMode="auto">
          <a:xfrm>
            <a:off x="2305050" y="3973513"/>
            <a:ext cx="88900" cy="92075"/>
          </a:xfrm>
          <a:custGeom>
            <a:avLst/>
            <a:gdLst>
              <a:gd name="T0" fmla="*/ 38100 w 56"/>
              <a:gd name="T1" fmla="*/ 0 h 58"/>
              <a:gd name="T2" fmla="*/ 87313 w 56"/>
              <a:gd name="T3" fmla="*/ 90488 h 58"/>
              <a:gd name="T4" fmla="*/ 0 w 56"/>
              <a:gd name="T5" fmla="*/ 33338 h 58"/>
              <a:gd name="T6" fmla="*/ 38100 w 56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6"/>
              <a:gd name="T13" fmla="*/ 0 h 58"/>
              <a:gd name="T14" fmla="*/ 56 w 56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" h="58">
                <a:moveTo>
                  <a:pt x="24" y="0"/>
                </a:moveTo>
                <a:lnTo>
                  <a:pt x="55" y="57"/>
                </a:lnTo>
                <a:lnTo>
                  <a:pt x="0" y="21"/>
                </a:lnTo>
                <a:lnTo>
                  <a:pt x="24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" name="Freeform 57"/>
          <p:cNvSpPr>
            <a:spLocks/>
          </p:cNvSpPr>
          <p:nvPr/>
        </p:nvSpPr>
        <p:spPr bwMode="auto">
          <a:xfrm>
            <a:off x="2443163" y="3559175"/>
            <a:ext cx="1330325" cy="517525"/>
          </a:xfrm>
          <a:custGeom>
            <a:avLst/>
            <a:gdLst>
              <a:gd name="T0" fmla="*/ 0 w 838"/>
              <a:gd name="T1" fmla="*/ 0 h 326"/>
              <a:gd name="T2" fmla="*/ 1328738 w 838"/>
              <a:gd name="T3" fmla="*/ 515938 h 326"/>
              <a:gd name="T4" fmla="*/ 0 w 838"/>
              <a:gd name="T5" fmla="*/ 0 h 326"/>
              <a:gd name="T6" fmla="*/ 0 60000 65536"/>
              <a:gd name="T7" fmla="*/ 0 60000 65536"/>
              <a:gd name="T8" fmla="*/ 0 60000 65536"/>
              <a:gd name="T9" fmla="*/ 0 w 838"/>
              <a:gd name="T10" fmla="*/ 0 h 326"/>
              <a:gd name="T11" fmla="*/ 838 w 838"/>
              <a:gd name="T12" fmla="*/ 326 h 3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38" h="326">
                <a:moveTo>
                  <a:pt x="0" y="0"/>
                </a:moveTo>
                <a:lnTo>
                  <a:pt x="837" y="32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" name="Freeform 58"/>
          <p:cNvSpPr>
            <a:spLocks/>
          </p:cNvSpPr>
          <p:nvPr/>
        </p:nvSpPr>
        <p:spPr bwMode="auto">
          <a:xfrm>
            <a:off x="3668713" y="4014788"/>
            <a:ext cx="104775" cy="61912"/>
          </a:xfrm>
          <a:custGeom>
            <a:avLst/>
            <a:gdLst>
              <a:gd name="T0" fmla="*/ 17463 w 66"/>
              <a:gd name="T1" fmla="*/ 0 h 39"/>
              <a:gd name="T2" fmla="*/ 103188 w 66"/>
              <a:gd name="T3" fmla="*/ 60325 h 39"/>
              <a:gd name="T4" fmla="*/ 0 w 66"/>
              <a:gd name="T5" fmla="*/ 47625 h 39"/>
              <a:gd name="T6" fmla="*/ 17463 w 66"/>
              <a:gd name="T7" fmla="*/ 0 h 39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39"/>
              <a:gd name="T14" fmla="*/ 66 w 66"/>
              <a:gd name="T15" fmla="*/ 39 h 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39">
                <a:moveTo>
                  <a:pt x="11" y="0"/>
                </a:moveTo>
                <a:lnTo>
                  <a:pt x="65" y="38"/>
                </a:lnTo>
                <a:lnTo>
                  <a:pt x="0" y="30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" name="Freeform 59"/>
          <p:cNvSpPr>
            <a:spLocks/>
          </p:cNvSpPr>
          <p:nvPr/>
        </p:nvSpPr>
        <p:spPr bwMode="auto">
          <a:xfrm>
            <a:off x="5224463" y="3579813"/>
            <a:ext cx="446087" cy="496887"/>
          </a:xfrm>
          <a:custGeom>
            <a:avLst/>
            <a:gdLst>
              <a:gd name="T0" fmla="*/ 444500 w 281"/>
              <a:gd name="T1" fmla="*/ 0 h 313"/>
              <a:gd name="T2" fmla="*/ 0 w 281"/>
              <a:gd name="T3" fmla="*/ 495300 h 313"/>
              <a:gd name="T4" fmla="*/ 444500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" name="Freeform 60"/>
          <p:cNvSpPr>
            <a:spLocks/>
          </p:cNvSpPr>
          <p:nvPr/>
        </p:nvSpPr>
        <p:spPr bwMode="auto">
          <a:xfrm>
            <a:off x="5224463" y="3983038"/>
            <a:ext cx="87312" cy="93662"/>
          </a:xfrm>
          <a:custGeom>
            <a:avLst/>
            <a:gdLst>
              <a:gd name="T0" fmla="*/ 85725 w 55"/>
              <a:gd name="T1" fmla="*/ 33337 h 59"/>
              <a:gd name="T2" fmla="*/ 0 w 55"/>
              <a:gd name="T3" fmla="*/ 92075 h 59"/>
              <a:gd name="T4" fmla="*/ 47625 w 55"/>
              <a:gd name="T5" fmla="*/ 0 h 59"/>
              <a:gd name="T6" fmla="*/ 85725 w 55"/>
              <a:gd name="T7" fmla="*/ 33337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" name="Freeform 61"/>
          <p:cNvSpPr>
            <a:spLocks/>
          </p:cNvSpPr>
          <p:nvPr/>
        </p:nvSpPr>
        <p:spPr bwMode="auto">
          <a:xfrm>
            <a:off x="6156325" y="3579813"/>
            <a:ext cx="458788" cy="476250"/>
          </a:xfrm>
          <a:custGeom>
            <a:avLst/>
            <a:gdLst>
              <a:gd name="T0" fmla="*/ 0 w 289"/>
              <a:gd name="T1" fmla="*/ 0 h 300"/>
              <a:gd name="T2" fmla="*/ 457200 w 289"/>
              <a:gd name="T3" fmla="*/ 474663 h 300"/>
              <a:gd name="T4" fmla="*/ 0 w 289"/>
              <a:gd name="T5" fmla="*/ 0 h 300"/>
              <a:gd name="T6" fmla="*/ 0 60000 65536"/>
              <a:gd name="T7" fmla="*/ 0 60000 65536"/>
              <a:gd name="T8" fmla="*/ 0 60000 65536"/>
              <a:gd name="T9" fmla="*/ 0 w 289"/>
              <a:gd name="T10" fmla="*/ 0 h 300"/>
              <a:gd name="T11" fmla="*/ 289 w 289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9" h="300">
                <a:moveTo>
                  <a:pt x="0" y="0"/>
                </a:moveTo>
                <a:lnTo>
                  <a:pt x="288" y="299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" name="Freeform 62"/>
          <p:cNvSpPr>
            <a:spLocks/>
          </p:cNvSpPr>
          <p:nvPr/>
        </p:nvSpPr>
        <p:spPr bwMode="auto">
          <a:xfrm>
            <a:off x="6524625" y="3963988"/>
            <a:ext cx="90488" cy="92075"/>
          </a:xfrm>
          <a:custGeom>
            <a:avLst/>
            <a:gdLst>
              <a:gd name="T0" fmla="*/ 36513 w 57"/>
              <a:gd name="T1" fmla="*/ 0 h 58"/>
              <a:gd name="T2" fmla="*/ 88900 w 57"/>
              <a:gd name="T3" fmla="*/ 90488 h 58"/>
              <a:gd name="T4" fmla="*/ 0 w 57"/>
              <a:gd name="T5" fmla="*/ 34925 h 58"/>
              <a:gd name="T6" fmla="*/ 36513 w 57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7"/>
              <a:gd name="T13" fmla="*/ 0 h 58"/>
              <a:gd name="T14" fmla="*/ 57 w 57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" h="58">
                <a:moveTo>
                  <a:pt x="23" y="0"/>
                </a:moveTo>
                <a:lnTo>
                  <a:pt x="56" y="57"/>
                </a:lnTo>
                <a:lnTo>
                  <a:pt x="0" y="22"/>
                </a:lnTo>
                <a:lnTo>
                  <a:pt x="23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" name="Freeform 63"/>
          <p:cNvSpPr>
            <a:spLocks/>
          </p:cNvSpPr>
          <p:nvPr/>
        </p:nvSpPr>
        <p:spPr bwMode="auto">
          <a:xfrm>
            <a:off x="6643688" y="3589338"/>
            <a:ext cx="1362075" cy="476250"/>
          </a:xfrm>
          <a:custGeom>
            <a:avLst/>
            <a:gdLst>
              <a:gd name="T0" fmla="*/ 0 w 858"/>
              <a:gd name="T1" fmla="*/ 0 h 300"/>
              <a:gd name="T2" fmla="*/ 1360488 w 858"/>
              <a:gd name="T3" fmla="*/ 474663 h 300"/>
              <a:gd name="T4" fmla="*/ 0 w 858"/>
              <a:gd name="T5" fmla="*/ 0 h 300"/>
              <a:gd name="T6" fmla="*/ 0 60000 65536"/>
              <a:gd name="T7" fmla="*/ 0 60000 65536"/>
              <a:gd name="T8" fmla="*/ 0 60000 65536"/>
              <a:gd name="T9" fmla="*/ 0 w 858"/>
              <a:gd name="T10" fmla="*/ 0 h 300"/>
              <a:gd name="T11" fmla="*/ 858 w 858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58" h="300">
                <a:moveTo>
                  <a:pt x="0" y="0"/>
                </a:moveTo>
                <a:lnTo>
                  <a:pt x="857" y="299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1" name="Freeform 64"/>
          <p:cNvSpPr>
            <a:spLocks/>
          </p:cNvSpPr>
          <p:nvPr/>
        </p:nvSpPr>
        <p:spPr bwMode="auto">
          <a:xfrm>
            <a:off x="7899400" y="4006850"/>
            <a:ext cx="106363" cy="58738"/>
          </a:xfrm>
          <a:custGeom>
            <a:avLst/>
            <a:gdLst>
              <a:gd name="T0" fmla="*/ 17463 w 67"/>
              <a:gd name="T1" fmla="*/ 0 h 37"/>
              <a:gd name="T2" fmla="*/ 104775 w 67"/>
              <a:gd name="T3" fmla="*/ 57150 h 37"/>
              <a:gd name="T4" fmla="*/ 0 w 67"/>
              <a:gd name="T5" fmla="*/ 49213 h 37"/>
              <a:gd name="T6" fmla="*/ 17463 w 67"/>
              <a:gd name="T7" fmla="*/ 0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11" y="0"/>
                </a:moveTo>
                <a:lnTo>
                  <a:pt x="66" y="36"/>
                </a:lnTo>
                <a:lnTo>
                  <a:pt x="0" y="31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" name="Freeform 65"/>
          <p:cNvSpPr>
            <a:spLocks/>
          </p:cNvSpPr>
          <p:nvPr/>
        </p:nvSpPr>
        <p:spPr bwMode="auto">
          <a:xfrm>
            <a:off x="2401888" y="2820988"/>
            <a:ext cx="1177925" cy="396875"/>
          </a:xfrm>
          <a:custGeom>
            <a:avLst/>
            <a:gdLst>
              <a:gd name="T0" fmla="*/ 1176338 w 742"/>
              <a:gd name="T1" fmla="*/ 0 h 250"/>
              <a:gd name="T2" fmla="*/ 0 w 742"/>
              <a:gd name="T3" fmla="*/ 395288 h 250"/>
              <a:gd name="T4" fmla="*/ 1176338 w 742"/>
              <a:gd name="T5" fmla="*/ 0 h 250"/>
              <a:gd name="T6" fmla="*/ 0 60000 65536"/>
              <a:gd name="T7" fmla="*/ 0 60000 65536"/>
              <a:gd name="T8" fmla="*/ 0 60000 65536"/>
              <a:gd name="T9" fmla="*/ 0 w 742"/>
              <a:gd name="T10" fmla="*/ 0 h 250"/>
              <a:gd name="T11" fmla="*/ 742 w 742"/>
              <a:gd name="T12" fmla="*/ 250 h 2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42" h="250">
                <a:moveTo>
                  <a:pt x="741" y="0"/>
                </a:moveTo>
                <a:lnTo>
                  <a:pt x="0" y="249"/>
                </a:lnTo>
                <a:lnTo>
                  <a:pt x="74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" name="Freeform 66"/>
          <p:cNvSpPr>
            <a:spLocks/>
          </p:cNvSpPr>
          <p:nvPr/>
        </p:nvSpPr>
        <p:spPr bwMode="auto">
          <a:xfrm>
            <a:off x="2401888" y="3159125"/>
            <a:ext cx="106362" cy="58738"/>
          </a:xfrm>
          <a:custGeom>
            <a:avLst/>
            <a:gdLst>
              <a:gd name="T0" fmla="*/ 104775 w 67"/>
              <a:gd name="T1" fmla="*/ 49213 h 37"/>
              <a:gd name="T2" fmla="*/ 0 w 67"/>
              <a:gd name="T3" fmla="*/ 57150 h 37"/>
              <a:gd name="T4" fmla="*/ 88900 w 67"/>
              <a:gd name="T5" fmla="*/ 0 h 37"/>
              <a:gd name="T6" fmla="*/ 104775 w 67"/>
              <a:gd name="T7" fmla="*/ 49213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66" y="31"/>
                </a:moveTo>
                <a:lnTo>
                  <a:pt x="0" y="36"/>
                </a:lnTo>
                <a:lnTo>
                  <a:pt x="56" y="0"/>
                </a:lnTo>
                <a:lnTo>
                  <a:pt x="66" y="3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" name="Freeform 67"/>
          <p:cNvSpPr>
            <a:spLocks/>
          </p:cNvSpPr>
          <p:nvPr/>
        </p:nvSpPr>
        <p:spPr bwMode="auto">
          <a:xfrm>
            <a:off x="4065588" y="2830513"/>
            <a:ext cx="1992312" cy="387350"/>
          </a:xfrm>
          <a:custGeom>
            <a:avLst/>
            <a:gdLst>
              <a:gd name="T0" fmla="*/ 0 w 1255"/>
              <a:gd name="T1" fmla="*/ 0 h 244"/>
              <a:gd name="T2" fmla="*/ 1990725 w 1255"/>
              <a:gd name="T3" fmla="*/ 385763 h 244"/>
              <a:gd name="T4" fmla="*/ 0 w 1255"/>
              <a:gd name="T5" fmla="*/ 0 h 244"/>
              <a:gd name="T6" fmla="*/ 0 60000 65536"/>
              <a:gd name="T7" fmla="*/ 0 60000 65536"/>
              <a:gd name="T8" fmla="*/ 0 60000 65536"/>
              <a:gd name="T9" fmla="*/ 0 w 1255"/>
              <a:gd name="T10" fmla="*/ 0 h 244"/>
              <a:gd name="T11" fmla="*/ 1255 w 1255"/>
              <a:gd name="T12" fmla="*/ 244 h 2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5" h="244">
                <a:moveTo>
                  <a:pt x="0" y="0"/>
                </a:moveTo>
                <a:lnTo>
                  <a:pt x="1254" y="243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" name="Freeform 68"/>
          <p:cNvSpPr>
            <a:spLocks/>
          </p:cNvSpPr>
          <p:nvPr/>
        </p:nvSpPr>
        <p:spPr bwMode="auto">
          <a:xfrm>
            <a:off x="5951538" y="3171825"/>
            <a:ext cx="106362" cy="50800"/>
          </a:xfrm>
          <a:custGeom>
            <a:avLst/>
            <a:gdLst>
              <a:gd name="T0" fmla="*/ 9525 w 67"/>
              <a:gd name="T1" fmla="*/ 0 h 32"/>
              <a:gd name="T2" fmla="*/ 104775 w 67"/>
              <a:gd name="T3" fmla="*/ 44450 h 32"/>
              <a:gd name="T4" fmla="*/ 0 w 67"/>
              <a:gd name="T5" fmla="*/ 49213 h 32"/>
              <a:gd name="T6" fmla="*/ 9525 w 67"/>
              <a:gd name="T7" fmla="*/ 0 h 32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2"/>
              <a:gd name="T14" fmla="*/ 67 w 67"/>
              <a:gd name="T15" fmla="*/ 32 h 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2">
                <a:moveTo>
                  <a:pt x="6" y="0"/>
                </a:moveTo>
                <a:lnTo>
                  <a:pt x="66" y="28"/>
                </a:lnTo>
                <a:lnTo>
                  <a:pt x="0" y="31"/>
                </a:lnTo>
                <a:lnTo>
                  <a:pt x="6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" name="Freeform 69"/>
          <p:cNvSpPr>
            <a:spLocks/>
          </p:cNvSpPr>
          <p:nvPr/>
        </p:nvSpPr>
        <p:spPr bwMode="auto">
          <a:xfrm>
            <a:off x="176371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" name="Freeform 70"/>
          <p:cNvSpPr>
            <a:spLocks/>
          </p:cNvSpPr>
          <p:nvPr/>
        </p:nvSpPr>
        <p:spPr bwMode="auto">
          <a:xfrm>
            <a:off x="2087563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" name="Freeform 71"/>
          <p:cNvSpPr>
            <a:spLocks/>
          </p:cNvSpPr>
          <p:nvPr/>
        </p:nvSpPr>
        <p:spPr bwMode="auto">
          <a:xfrm>
            <a:off x="241300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" name="Freeform 72"/>
          <p:cNvSpPr>
            <a:spLocks/>
          </p:cNvSpPr>
          <p:nvPr/>
        </p:nvSpPr>
        <p:spPr bwMode="auto">
          <a:xfrm>
            <a:off x="273685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0" name="Rectangle 73"/>
          <p:cNvSpPr>
            <a:spLocks noChangeArrowheads="1"/>
          </p:cNvSpPr>
          <p:nvPr/>
        </p:nvSpPr>
        <p:spPr bwMode="auto">
          <a:xfrm>
            <a:off x="2916238" y="2362200"/>
            <a:ext cx="5889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u="none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171" name="Rectangle 74"/>
          <p:cNvSpPr>
            <a:spLocks noChangeArrowheads="1"/>
          </p:cNvSpPr>
          <p:nvPr/>
        </p:nvSpPr>
        <p:spPr bwMode="auto">
          <a:xfrm>
            <a:off x="3678238" y="249713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17</a:t>
            </a:r>
          </a:p>
        </p:txBody>
      </p:sp>
      <p:sp>
        <p:nvSpPr>
          <p:cNvPr id="172" name="Rectangle 75"/>
          <p:cNvSpPr>
            <a:spLocks noChangeArrowheads="1"/>
          </p:cNvSpPr>
          <p:nvPr/>
        </p:nvSpPr>
        <p:spPr bwMode="auto">
          <a:xfrm>
            <a:off x="5748338" y="325278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>
                <a:solidFill>
                  <a:srgbClr val="000000"/>
                </a:solidFill>
                <a:latin typeface="Arial" pitchFamily="34" charset="0"/>
              </a:rPr>
              <a:t>24</a:t>
            </a:r>
          </a:p>
        </p:txBody>
      </p:sp>
      <p:sp>
        <p:nvSpPr>
          <p:cNvPr id="173" name="Rectangle 76"/>
          <p:cNvSpPr>
            <a:spLocks noChangeArrowheads="1"/>
          </p:cNvSpPr>
          <p:nvPr/>
        </p:nvSpPr>
        <p:spPr bwMode="auto">
          <a:xfrm>
            <a:off x="6245225" y="3263900"/>
            <a:ext cx="3683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30</a:t>
            </a:r>
          </a:p>
        </p:txBody>
      </p:sp>
      <p:sp>
        <p:nvSpPr>
          <p:cNvPr id="174" name="Rectangle 77"/>
          <p:cNvSpPr>
            <a:spLocks noChangeArrowheads="1"/>
          </p:cNvSpPr>
          <p:nvPr/>
        </p:nvSpPr>
        <p:spPr bwMode="auto">
          <a:xfrm>
            <a:off x="312261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14*</a:t>
            </a:r>
          </a:p>
        </p:txBody>
      </p:sp>
      <p:sp>
        <p:nvSpPr>
          <p:cNvPr id="175" name="Rectangle 78"/>
          <p:cNvSpPr>
            <a:spLocks noChangeArrowheads="1"/>
          </p:cNvSpPr>
          <p:nvPr/>
        </p:nvSpPr>
        <p:spPr bwMode="auto">
          <a:xfrm>
            <a:off x="344646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16*</a:t>
            </a:r>
          </a:p>
        </p:txBody>
      </p:sp>
      <p:sp>
        <p:nvSpPr>
          <p:cNvPr id="179" name="Rectangle 82"/>
          <p:cNvSpPr>
            <a:spLocks noChangeArrowheads="1"/>
          </p:cNvSpPr>
          <p:nvPr/>
        </p:nvSpPr>
        <p:spPr bwMode="auto">
          <a:xfrm>
            <a:off x="4846637" y="4094163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>
                <a:solidFill>
                  <a:srgbClr val="000000"/>
                </a:solidFill>
                <a:latin typeface="Arial" pitchFamily="34" charset="0"/>
              </a:rPr>
              <a:t>24*</a:t>
            </a:r>
          </a:p>
        </p:txBody>
      </p:sp>
      <p:sp>
        <p:nvSpPr>
          <p:cNvPr id="180" name="Rectangle 83"/>
          <p:cNvSpPr>
            <a:spLocks noChangeArrowheads="1"/>
          </p:cNvSpPr>
          <p:nvPr/>
        </p:nvSpPr>
        <p:spPr bwMode="auto">
          <a:xfrm>
            <a:off x="5943600" y="4070350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>
                <a:solidFill>
                  <a:srgbClr val="000000"/>
                </a:solidFill>
                <a:latin typeface="Arial" pitchFamily="34" charset="0"/>
              </a:rPr>
              <a:t>27*</a:t>
            </a:r>
          </a:p>
        </p:txBody>
      </p:sp>
      <p:sp>
        <p:nvSpPr>
          <p:cNvPr id="181" name="Rectangle 84"/>
          <p:cNvSpPr>
            <a:spLocks noChangeArrowheads="1"/>
          </p:cNvSpPr>
          <p:nvPr/>
        </p:nvSpPr>
        <p:spPr bwMode="auto">
          <a:xfrm>
            <a:off x="6246812" y="4081463"/>
            <a:ext cx="4318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29*</a:t>
            </a:r>
          </a:p>
        </p:txBody>
      </p:sp>
      <p:sp>
        <p:nvSpPr>
          <p:cNvPr id="182" name="Rectangle 85"/>
          <p:cNvSpPr>
            <a:spLocks noChangeArrowheads="1"/>
          </p:cNvSpPr>
          <p:nvPr/>
        </p:nvSpPr>
        <p:spPr bwMode="auto">
          <a:xfrm>
            <a:off x="7353300" y="4081463"/>
            <a:ext cx="4318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33*</a:t>
            </a:r>
          </a:p>
        </p:txBody>
      </p:sp>
      <p:sp>
        <p:nvSpPr>
          <p:cNvPr id="183" name="Rectangle 86"/>
          <p:cNvSpPr>
            <a:spLocks noChangeArrowheads="1"/>
          </p:cNvSpPr>
          <p:nvPr/>
        </p:nvSpPr>
        <p:spPr bwMode="auto">
          <a:xfrm>
            <a:off x="7678738" y="4081463"/>
            <a:ext cx="4318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34*</a:t>
            </a:r>
          </a:p>
        </p:txBody>
      </p:sp>
      <p:sp>
        <p:nvSpPr>
          <p:cNvPr id="184" name="Rectangle 87"/>
          <p:cNvSpPr>
            <a:spLocks noChangeArrowheads="1"/>
          </p:cNvSpPr>
          <p:nvPr/>
        </p:nvSpPr>
        <p:spPr bwMode="auto">
          <a:xfrm>
            <a:off x="7993063" y="4070350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38*</a:t>
            </a:r>
          </a:p>
        </p:txBody>
      </p:sp>
      <p:sp>
        <p:nvSpPr>
          <p:cNvPr id="185" name="Rectangle 88"/>
          <p:cNvSpPr>
            <a:spLocks noChangeArrowheads="1"/>
          </p:cNvSpPr>
          <p:nvPr/>
        </p:nvSpPr>
        <p:spPr bwMode="auto">
          <a:xfrm>
            <a:off x="8316913" y="406082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39*</a:t>
            </a:r>
          </a:p>
        </p:txBody>
      </p:sp>
      <p:sp>
        <p:nvSpPr>
          <p:cNvPr id="186" name="Rectangle 89"/>
          <p:cNvSpPr>
            <a:spLocks noChangeArrowheads="1"/>
          </p:cNvSpPr>
          <p:nvPr/>
        </p:nvSpPr>
        <p:spPr bwMode="auto">
          <a:xfrm>
            <a:off x="2024063" y="326548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13</a:t>
            </a:r>
          </a:p>
        </p:txBody>
      </p:sp>
      <p:sp>
        <p:nvSpPr>
          <p:cNvPr id="187" name="Rectangle 90"/>
          <p:cNvSpPr>
            <a:spLocks noChangeArrowheads="1"/>
          </p:cNvSpPr>
          <p:nvPr/>
        </p:nvSpPr>
        <p:spPr bwMode="auto">
          <a:xfrm>
            <a:off x="1557338" y="3265488"/>
            <a:ext cx="2762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188" name="Rectangle 91"/>
          <p:cNvSpPr>
            <a:spLocks noChangeArrowheads="1"/>
          </p:cNvSpPr>
          <p:nvPr/>
        </p:nvSpPr>
        <p:spPr bwMode="auto">
          <a:xfrm>
            <a:off x="2095500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7*</a:t>
            </a:r>
          </a:p>
        </p:txBody>
      </p:sp>
      <p:sp>
        <p:nvSpPr>
          <p:cNvPr id="189" name="Rectangle 92"/>
          <p:cNvSpPr>
            <a:spLocks noChangeArrowheads="1"/>
          </p:cNvSpPr>
          <p:nvPr/>
        </p:nvSpPr>
        <p:spPr bwMode="auto">
          <a:xfrm>
            <a:off x="1773238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5*</a:t>
            </a:r>
          </a:p>
        </p:txBody>
      </p:sp>
      <p:sp>
        <p:nvSpPr>
          <p:cNvPr id="190" name="Rectangle 93"/>
          <p:cNvSpPr>
            <a:spLocks noChangeArrowheads="1"/>
          </p:cNvSpPr>
          <p:nvPr/>
        </p:nvSpPr>
        <p:spPr bwMode="auto">
          <a:xfrm>
            <a:off x="2411413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8*</a:t>
            </a:r>
          </a:p>
        </p:txBody>
      </p:sp>
      <p:sp>
        <p:nvSpPr>
          <p:cNvPr id="191" name="Arc 94"/>
          <p:cNvSpPr>
            <a:spLocks/>
          </p:cNvSpPr>
          <p:nvPr/>
        </p:nvSpPr>
        <p:spPr bwMode="auto">
          <a:xfrm rot="13440000">
            <a:off x="70977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2" name="Arc 95"/>
          <p:cNvSpPr>
            <a:spLocks/>
          </p:cNvSpPr>
          <p:nvPr/>
        </p:nvSpPr>
        <p:spPr bwMode="auto">
          <a:xfrm rot="13440000">
            <a:off x="15351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3" name="Arc 96"/>
          <p:cNvSpPr>
            <a:spLocks/>
          </p:cNvSpPr>
          <p:nvPr/>
        </p:nvSpPr>
        <p:spPr bwMode="auto">
          <a:xfrm rot="13440000">
            <a:off x="29067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" name="Arc 97"/>
          <p:cNvSpPr>
            <a:spLocks/>
          </p:cNvSpPr>
          <p:nvPr/>
        </p:nvSpPr>
        <p:spPr bwMode="auto">
          <a:xfrm rot="13440000">
            <a:off x="43545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5" name="Arc 98"/>
          <p:cNvSpPr>
            <a:spLocks/>
          </p:cNvSpPr>
          <p:nvPr/>
        </p:nvSpPr>
        <p:spPr bwMode="auto">
          <a:xfrm rot="13440000">
            <a:off x="57261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9" name="Rectangle 81"/>
          <p:cNvSpPr>
            <a:spLocks noChangeArrowheads="1"/>
          </p:cNvSpPr>
          <p:nvPr/>
        </p:nvSpPr>
        <p:spPr bwMode="auto">
          <a:xfrm>
            <a:off x="4526853" y="4094903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>
                <a:solidFill>
                  <a:srgbClr val="000000"/>
                </a:solidFill>
                <a:latin typeface="Arial" pitchFamily="34" charset="0"/>
              </a:rPr>
              <a:t>22*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5800" y="4720127"/>
            <a:ext cx="7790146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 smtClean="0"/>
              <a:t>“Copy up” </a:t>
            </a:r>
            <a:r>
              <a:rPr lang="en-US" sz="2000" dirty="0" smtClean="0">
                <a:solidFill>
                  <a:srgbClr val="FF0000"/>
                </a:solidFill>
              </a:rPr>
              <a:t>27*</a:t>
            </a:r>
            <a:r>
              <a:rPr lang="en-US" sz="2000" dirty="0" smtClean="0"/>
              <a:t>, the lowest value in the leaf from which we borrowed </a:t>
            </a:r>
            <a:r>
              <a:rPr lang="en-US" sz="2000" dirty="0" smtClean="0">
                <a:solidFill>
                  <a:srgbClr val="FF0000"/>
                </a:solidFill>
              </a:rPr>
              <a:t>24*</a:t>
            </a:r>
            <a:r>
              <a:rPr lang="en-US" sz="2000" dirty="0" smtClean="0"/>
              <a:t> </a:t>
            </a:r>
            <a:endParaRPr lang="en-US" sz="2000" dirty="0"/>
          </a:p>
        </p:txBody>
      </p:sp>
      <p:sp>
        <p:nvSpPr>
          <p:cNvPr id="2" name="TextBox 1"/>
          <p:cNvSpPr txBox="1"/>
          <p:nvPr/>
        </p:nvSpPr>
        <p:spPr>
          <a:xfrm>
            <a:off x="6245225" y="2245738"/>
            <a:ext cx="18870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 smtClean="0">
                <a:solidFill>
                  <a:srgbClr val="00B050"/>
                </a:solidFill>
              </a:rPr>
              <a:t>Is it done?</a:t>
            </a:r>
            <a:endParaRPr lang="en-US" sz="3200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470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0"/>
      <p:bldP spid="100" grpId="0" animBg="1"/>
      <p:bldP spid="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B+ Tree: Examples </a:t>
            </a:r>
            <a:r>
              <a:rPr lang="en-US" dirty="0" smtClean="0">
                <a:ea typeface="ＭＳ Ｐゴシック" pitchFamily="34" charset="-128"/>
              </a:rPr>
              <a:t>of Deletions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Delete </a:t>
            </a:r>
            <a:r>
              <a:rPr lang="en-US" dirty="0" smtClean="0">
                <a:solidFill>
                  <a:srgbClr val="FF0000"/>
                </a:solidFill>
              </a:rPr>
              <a:t>20*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101" name="Freeform 4"/>
          <p:cNvSpPr>
            <a:spLocks/>
          </p:cNvSpPr>
          <p:nvPr/>
        </p:nvSpPr>
        <p:spPr bwMode="auto">
          <a:xfrm>
            <a:off x="381000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" name="Freeform 5"/>
          <p:cNvSpPr>
            <a:spLocks/>
          </p:cNvSpPr>
          <p:nvPr/>
        </p:nvSpPr>
        <p:spPr bwMode="auto">
          <a:xfrm>
            <a:off x="706438" y="4086225"/>
            <a:ext cx="325437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Freeform 6"/>
          <p:cNvSpPr>
            <a:spLocks/>
          </p:cNvSpPr>
          <p:nvPr/>
        </p:nvSpPr>
        <p:spPr bwMode="auto">
          <a:xfrm>
            <a:off x="1030288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" name="Freeform 7"/>
          <p:cNvSpPr>
            <a:spLocks/>
          </p:cNvSpPr>
          <p:nvPr/>
        </p:nvSpPr>
        <p:spPr bwMode="auto">
          <a:xfrm>
            <a:off x="1355725" y="4086225"/>
            <a:ext cx="325438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" name="Rectangle 8"/>
          <p:cNvSpPr>
            <a:spLocks noChangeArrowheads="1"/>
          </p:cNvSpPr>
          <p:nvPr/>
        </p:nvSpPr>
        <p:spPr bwMode="auto">
          <a:xfrm>
            <a:off x="390525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2*</a:t>
            </a:r>
          </a:p>
        </p:txBody>
      </p:sp>
      <p:sp>
        <p:nvSpPr>
          <p:cNvPr id="106" name="Rectangle 9"/>
          <p:cNvSpPr>
            <a:spLocks noChangeArrowheads="1"/>
          </p:cNvSpPr>
          <p:nvPr/>
        </p:nvSpPr>
        <p:spPr bwMode="auto">
          <a:xfrm>
            <a:off x="715963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3*</a:t>
            </a:r>
          </a:p>
        </p:txBody>
      </p:sp>
      <p:sp>
        <p:nvSpPr>
          <p:cNvPr id="107" name="Freeform 10"/>
          <p:cNvSpPr>
            <a:spLocks/>
          </p:cNvSpPr>
          <p:nvPr/>
        </p:nvSpPr>
        <p:spPr bwMode="auto">
          <a:xfrm>
            <a:off x="3549650" y="246856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Freeform 11"/>
          <p:cNvSpPr>
            <a:spLocks/>
          </p:cNvSpPr>
          <p:nvPr/>
        </p:nvSpPr>
        <p:spPr bwMode="auto">
          <a:xfrm>
            <a:off x="3629025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Freeform 12"/>
          <p:cNvSpPr>
            <a:spLocks/>
          </p:cNvSpPr>
          <p:nvPr/>
        </p:nvSpPr>
        <p:spPr bwMode="auto">
          <a:xfrm>
            <a:off x="4035425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Freeform 13"/>
          <p:cNvSpPr>
            <a:spLocks/>
          </p:cNvSpPr>
          <p:nvPr/>
        </p:nvSpPr>
        <p:spPr bwMode="auto">
          <a:xfrm>
            <a:off x="4116388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Freeform 14"/>
          <p:cNvSpPr>
            <a:spLocks/>
          </p:cNvSpPr>
          <p:nvPr/>
        </p:nvSpPr>
        <p:spPr bwMode="auto">
          <a:xfrm>
            <a:off x="4522788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Freeform 15"/>
          <p:cNvSpPr>
            <a:spLocks/>
          </p:cNvSpPr>
          <p:nvPr/>
        </p:nvSpPr>
        <p:spPr bwMode="auto">
          <a:xfrm>
            <a:off x="4603750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Freeform 16"/>
          <p:cNvSpPr>
            <a:spLocks/>
          </p:cNvSpPr>
          <p:nvPr/>
        </p:nvSpPr>
        <p:spPr bwMode="auto">
          <a:xfrm>
            <a:off x="5010150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Freeform 17"/>
          <p:cNvSpPr>
            <a:spLocks/>
          </p:cNvSpPr>
          <p:nvPr/>
        </p:nvSpPr>
        <p:spPr bwMode="auto">
          <a:xfrm>
            <a:off x="5091113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Freeform 18"/>
          <p:cNvSpPr>
            <a:spLocks/>
          </p:cNvSpPr>
          <p:nvPr/>
        </p:nvSpPr>
        <p:spPr bwMode="auto">
          <a:xfrm>
            <a:off x="5497513" y="246856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Freeform 19"/>
          <p:cNvSpPr>
            <a:spLocks/>
          </p:cNvSpPr>
          <p:nvPr/>
        </p:nvSpPr>
        <p:spPr bwMode="auto">
          <a:xfrm>
            <a:off x="3162300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Freeform 20"/>
          <p:cNvSpPr>
            <a:spLocks/>
          </p:cNvSpPr>
          <p:nvPr/>
        </p:nvSpPr>
        <p:spPr bwMode="auto">
          <a:xfrm>
            <a:off x="348773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Freeform 21"/>
          <p:cNvSpPr>
            <a:spLocks/>
          </p:cNvSpPr>
          <p:nvPr/>
        </p:nvSpPr>
        <p:spPr bwMode="auto">
          <a:xfrm>
            <a:off x="3813175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Freeform 22"/>
          <p:cNvSpPr>
            <a:spLocks/>
          </p:cNvSpPr>
          <p:nvPr/>
        </p:nvSpPr>
        <p:spPr bwMode="auto">
          <a:xfrm>
            <a:off x="41370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Freeform 23"/>
          <p:cNvSpPr>
            <a:spLocks/>
          </p:cNvSpPr>
          <p:nvPr/>
        </p:nvSpPr>
        <p:spPr bwMode="auto">
          <a:xfrm>
            <a:off x="457358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" name="Freeform 24"/>
          <p:cNvSpPr>
            <a:spLocks/>
          </p:cNvSpPr>
          <p:nvPr/>
        </p:nvSpPr>
        <p:spPr bwMode="auto">
          <a:xfrm>
            <a:off x="48990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Freeform 25"/>
          <p:cNvSpPr>
            <a:spLocks/>
          </p:cNvSpPr>
          <p:nvPr/>
        </p:nvSpPr>
        <p:spPr bwMode="auto">
          <a:xfrm>
            <a:off x="5224463" y="4094163"/>
            <a:ext cx="323850" cy="325437"/>
          </a:xfrm>
          <a:custGeom>
            <a:avLst/>
            <a:gdLst>
              <a:gd name="T0" fmla="*/ 0 w 204"/>
              <a:gd name="T1" fmla="*/ 323850 h 205"/>
              <a:gd name="T2" fmla="*/ 0 w 204"/>
              <a:gd name="T3" fmla="*/ 0 h 205"/>
              <a:gd name="T4" fmla="*/ 322263 w 204"/>
              <a:gd name="T5" fmla="*/ 0 h 205"/>
              <a:gd name="T6" fmla="*/ 322263 w 204"/>
              <a:gd name="T7" fmla="*/ 323850 h 205"/>
              <a:gd name="T8" fmla="*/ 0 w 204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4"/>
              <a:gd name="T16" fmla="*/ 0 h 205"/>
              <a:gd name="T17" fmla="*/ 204 w 204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4" h="205">
                <a:moveTo>
                  <a:pt x="0" y="204"/>
                </a:moveTo>
                <a:lnTo>
                  <a:pt x="0" y="0"/>
                </a:lnTo>
                <a:lnTo>
                  <a:pt x="203" y="0"/>
                </a:lnTo>
                <a:lnTo>
                  <a:pt x="203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" name="Freeform 26"/>
          <p:cNvSpPr>
            <a:spLocks/>
          </p:cNvSpPr>
          <p:nvPr/>
        </p:nvSpPr>
        <p:spPr bwMode="auto">
          <a:xfrm>
            <a:off x="55467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" name="Freeform 27"/>
          <p:cNvSpPr>
            <a:spLocks/>
          </p:cNvSpPr>
          <p:nvPr/>
        </p:nvSpPr>
        <p:spPr bwMode="auto">
          <a:xfrm>
            <a:off x="598487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" name="Freeform 28"/>
          <p:cNvSpPr>
            <a:spLocks/>
          </p:cNvSpPr>
          <p:nvPr/>
        </p:nvSpPr>
        <p:spPr bwMode="auto">
          <a:xfrm>
            <a:off x="631031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" name="Freeform 29"/>
          <p:cNvSpPr>
            <a:spLocks/>
          </p:cNvSpPr>
          <p:nvPr/>
        </p:nvSpPr>
        <p:spPr bwMode="auto">
          <a:xfrm>
            <a:off x="663416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7" name="Freeform 30"/>
          <p:cNvSpPr>
            <a:spLocks/>
          </p:cNvSpPr>
          <p:nvPr/>
        </p:nvSpPr>
        <p:spPr bwMode="auto">
          <a:xfrm>
            <a:off x="6958013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" name="Freeform 31"/>
          <p:cNvSpPr>
            <a:spLocks/>
          </p:cNvSpPr>
          <p:nvPr/>
        </p:nvSpPr>
        <p:spPr bwMode="auto">
          <a:xfrm>
            <a:off x="7385050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" name="Freeform 32"/>
          <p:cNvSpPr>
            <a:spLocks/>
          </p:cNvSpPr>
          <p:nvPr/>
        </p:nvSpPr>
        <p:spPr bwMode="auto">
          <a:xfrm>
            <a:off x="7710488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Freeform 33"/>
          <p:cNvSpPr>
            <a:spLocks/>
          </p:cNvSpPr>
          <p:nvPr/>
        </p:nvSpPr>
        <p:spPr bwMode="auto">
          <a:xfrm>
            <a:off x="8034338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" name="Freeform 34"/>
          <p:cNvSpPr>
            <a:spLocks/>
          </p:cNvSpPr>
          <p:nvPr/>
        </p:nvSpPr>
        <p:spPr bwMode="auto">
          <a:xfrm>
            <a:off x="835818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Freeform 35"/>
          <p:cNvSpPr>
            <a:spLocks/>
          </p:cNvSpPr>
          <p:nvPr/>
        </p:nvSpPr>
        <p:spPr bwMode="auto">
          <a:xfrm>
            <a:off x="1428750" y="323691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" name="Freeform 36"/>
          <p:cNvSpPr>
            <a:spLocks/>
          </p:cNvSpPr>
          <p:nvPr/>
        </p:nvSpPr>
        <p:spPr bwMode="auto">
          <a:xfrm>
            <a:off x="15097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" name="Freeform 37"/>
          <p:cNvSpPr>
            <a:spLocks/>
          </p:cNvSpPr>
          <p:nvPr/>
        </p:nvSpPr>
        <p:spPr bwMode="auto">
          <a:xfrm>
            <a:off x="1914525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" name="Freeform 38"/>
          <p:cNvSpPr>
            <a:spLocks/>
          </p:cNvSpPr>
          <p:nvPr/>
        </p:nvSpPr>
        <p:spPr bwMode="auto">
          <a:xfrm>
            <a:off x="199548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" name="Freeform 39"/>
          <p:cNvSpPr>
            <a:spLocks/>
          </p:cNvSpPr>
          <p:nvPr/>
        </p:nvSpPr>
        <p:spPr bwMode="auto">
          <a:xfrm>
            <a:off x="2401888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" name="Freeform 40"/>
          <p:cNvSpPr>
            <a:spLocks/>
          </p:cNvSpPr>
          <p:nvPr/>
        </p:nvSpPr>
        <p:spPr bwMode="auto">
          <a:xfrm>
            <a:off x="2482850" y="32369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" name="Freeform 41"/>
          <p:cNvSpPr>
            <a:spLocks/>
          </p:cNvSpPr>
          <p:nvPr/>
        </p:nvSpPr>
        <p:spPr bwMode="auto">
          <a:xfrm>
            <a:off x="288925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" name="Freeform 42"/>
          <p:cNvSpPr>
            <a:spLocks/>
          </p:cNvSpPr>
          <p:nvPr/>
        </p:nvSpPr>
        <p:spPr bwMode="auto">
          <a:xfrm>
            <a:off x="29702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" name="Freeform 43"/>
          <p:cNvSpPr>
            <a:spLocks/>
          </p:cNvSpPr>
          <p:nvPr/>
        </p:nvSpPr>
        <p:spPr bwMode="auto">
          <a:xfrm>
            <a:off x="3376613" y="323691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1" name="Freeform 44"/>
          <p:cNvSpPr>
            <a:spLocks/>
          </p:cNvSpPr>
          <p:nvPr/>
        </p:nvSpPr>
        <p:spPr bwMode="auto">
          <a:xfrm>
            <a:off x="563880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2" name="Freeform 45"/>
          <p:cNvSpPr>
            <a:spLocks/>
          </p:cNvSpPr>
          <p:nvPr/>
        </p:nvSpPr>
        <p:spPr bwMode="auto">
          <a:xfrm>
            <a:off x="571976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" name="Freeform 46"/>
          <p:cNvSpPr>
            <a:spLocks/>
          </p:cNvSpPr>
          <p:nvPr/>
        </p:nvSpPr>
        <p:spPr bwMode="auto">
          <a:xfrm>
            <a:off x="6126163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" name="Freeform 47"/>
          <p:cNvSpPr>
            <a:spLocks/>
          </p:cNvSpPr>
          <p:nvPr/>
        </p:nvSpPr>
        <p:spPr bwMode="auto">
          <a:xfrm>
            <a:off x="6207125" y="32369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5" name="Freeform 48"/>
          <p:cNvSpPr>
            <a:spLocks/>
          </p:cNvSpPr>
          <p:nvPr/>
        </p:nvSpPr>
        <p:spPr bwMode="auto">
          <a:xfrm>
            <a:off x="6613525" y="323691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6" name="Freeform 49"/>
          <p:cNvSpPr>
            <a:spLocks/>
          </p:cNvSpPr>
          <p:nvPr/>
        </p:nvSpPr>
        <p:spPr bwMode="auto">
          <a:xfrm>
            <a:off x="669448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7" name="Freeform 50"/>
          <p:cNvSpPr>
            <a:spLocks/>
          </p:cNvSpPr>
          <p:nvPr/>
        </p:nvSpPr>
        <p:spPr bwMode="auto">
          <a:xfrm>
            <a:off x="709930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8" name="Freeform 51"/>
          <p:cNvSpPr>
            <a:spLocks/>
          </p:cNvSpPr>
          <p:nvPr/>
        </p:nvSpPr>
        <p:spPr bwMode="auto">
          <a:xfrm>
            <a:off x="718343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9" name="Freeform 52"/>
          <p:cNvSpPr>
            <a:spLocks/>
          </p:cNvSpPr>
          <p:nvPr/>
        </p:nvSpPr>
        <p:spPr bwMode="auto">
          <a:xfrm>
            <a:off x="7586663" y="3236913"/>
            <a:ext cx="84137" cy="404812"/>
          </a:xfrm>
          <a:custGeom>
            <a:avLst/>
            <a:gdLst>
              <a:gd name="T0" fmla="*/ 0 w 53"/>
              <a:gd name="T1" fmla="*/ 403225 h 255"/>
              <a:gd name="T2" fmla="*/ 0 w 53"/>
              <a:gd name="T3" fmla="*/ 0 h 255"/>
              <a:gd name="T4" fmla="*/ 82550 w 53"/>
              <a:gd name="T5" fmla="*/ 0 h 255"/>
              <a:gd name="T6" fmla="*/ 82550 w 53"/>
              <a:gd name="T7" fmla="*/ 403225 h 255"/>
              <a:gd name="T8" fmla="*/ 0 w 53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"/>
              <a:gd name="T16" fmla="*/ 0 h 255"/>
              <a:gd name="T17" fmla="*/ 53 w 53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" h="255">
                <a:moveTo>
                  <a:pt x="0" y="254"/>
                </a:moveTo>
                <a:lnTo>
                  <a:pt x="0" y="0"/>
                </a:lnTo>
                <a:lnTo>
                  <a:pt x="52" y="0"/>
                </a:lnTo>
                <a:lnTo>
                  <a:pt x="52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" name="Freeform 53"/>
          <p:cNvSpPr>
            <a:spLocks/>
          </p:cNvSpPr>
          <p:nvPr/>
        </p:nvSpPr>
        <p:spPr bwMode="auto">
          <a:xfrm>
            <a:off x="1012825" y="3559175"/>
            <a:ext cx="446088" cy="496888"/>
          </a:xfrm>
          <a:custGeom>
            <a:avLst/>
            <a:gdLst>
              <a:gd name="T0" fmla="*/ 444500 w 281"/>
              <a:gd name="T1" fmla="*/ 0 h 313"/>
              <a:gd name="T2" fmla="*/ 0 w 281"/>
              <a:gd name="T3" fmla="*/ 495300 h 313"/>
              <a:gd name="T4" fmla="*/ 444500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" name="Freeform 54"/>
          <p:cNvSpPr>
            <a:spLocks/>
          </p:cNvSpPr>
          <p:nvPr/>
        </p:nvSpPr>
        <p:spPr bwMode="auto">
          <a:xfrm>
            <a:off x="1012825" y="3962400"/>
            <a:ext cx="87313" cy="93663"/>
          </a:xfrm>
          <a:custGeom>
            <a:avLst/>
            <a:gdLst>
              <a:gd name="T0" fmla="*/ 85725 w 55"/>
              <a:gd name="T1" fmla="*/ 33338 h 59"/>
              <a:gd name="T2" fmla="*/ 0 w 55"/>
              <a:gd name="T3" fmla="*/ 92075 h 59"/>
              <a:gd name="T4" fmla="*/ 47625 w 55"/>
              <a:gd name="T5" fmla="*/ 0 h 59"/>
              <a:gd name="T6" fmla="*/ 85725 w 55"/>
              <a:gd name="T7" fmla="*/ 33338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2" name="Freeform 55"/>
          <p:cNvSpPr>
            <a:spLocks/>
          </p:cNvSpPr>
          <p:nvPr/>
        </p:nvSpPr>
        <p:spPr bwMode="auto">
          <a:xfrm>
            <a:off x="1944688" y="3559175"/>
            <a:ext cx="449262" cy="506413"/>
          </a:xfrm>
          <a:custGeom>
            <a:avLst/>
            <a:gdLst>
              <a:gd name="T0" fmla="*/ 0 w 283"/>
              <a:gd name="T1" fmla="*/ 0 h 319"/>
              <a:gd name="T2" fmla="*/ 447675 w 283"/>
              <a:gd name="T3" fmla="*/ 504825 h 319"/>
              <a:gd name="T4" fmla="*/ 0 w 283"/>
              <a:gd name="T5" fmla="*/ 0 h 319"/>
              <a:gd name="T6" fmla="*/ 0 60000 65536"/>
              <a:gd name="T7" fmla="*/ 0 60000 65536"/>
              <a:gd name="T8" fmla="*/ 0 60000 65536"/>
              <a:gd name="T9" fmla="*/ 0 w 283"/>
              <a:gd name="T10" fmla="*/ 0 h 319"/>
              <a:gd name="T11" fmla="*/ 283 w 283"/>
              <a:gd name="T12" fmla="*/ 319 h 31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3" h="319">
                <a:moveTo>
                  <a:pt x="0" y="0"/>
                </a:moveTo>
                <a:lnTo>
                  <a:pt x="282" y="318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" name="Freeform 56"/>
          <p:cNvSpPr>
            <a:spLocks/>
          </p:cNvSpPr>
          <p:nvPr/>
        </p:nvSpPr>
        <p:spPr bwMode="auto">
          <a:xfrm>
            <a:off x="2305050" y="3973513"/>
            <a:ext cx="88900" cy="92075"/>
          </a:xfrm>
          <a:custGeom>
            <a:avLst/>
            <a:gdLst>
              <a:gd name="T0" fmla="*/ 38100 w 56"/>
              <a:gd name="T1" fmla="*/ 0 h 58"/>
              <a:gd name="T2" fmla="*/ 87313 w 56"/>
              <a:gd name="T3" fmla="*/ 90488 h 58"/>
              <a:gd name="T4" fmla="*/ 0 w 56"/>
              <a:gd name="T5" fmla="*/ 33338 h 58"/>
              <a:gd name="T6" fmla="*/ 38100 w 56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6"/>
              <a:gd name="T13" fmla="*/ 0 h 58"/>
              <a:gd name="T14" fmla="*/ 56 w 56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" h="58">
                <a:moveTo>
                  <a:pt x="24" y="0"/>
                </a:moveTo>
                <a:lnTo>
                  <a:pt x="55" y="57"/>
                </a:lnTo>
                <a:lnTo>
                  <a:pt x="0" y="21"/>
                </a:lnTo>
                <a:lnTo>
                  <a:pt x="24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" name="Freeform 57"/>
          <p:cNvSpPr>
            <a:spLocks/>
          </p:cNvSpPr>
          <p:nvPr/>
        </p:nvSpPr>
        <p:spPr bwMode="auto">
          <a:xfrm>
            <a:off x="2443163" y="3559175"/>
            <a:ext cx="1330325" cy="517525"/>
          </a:xfrm>
          <a:custGeom>
            <a:avLst/>
            <a:gdLst>
              <a:gd name="T0" fmla="*/ 0 w 838"/>
              <a:gd name="T1" fmla="*/ 0 h 326"/>
              <a:gd name="T2" fmla="*/ 1328738 w 838"/>
              <a:gd name="T3" fmla="*/ 515938 h 326"/>
              <a:gd name="T4" fmla="*/ 0 w 838"/>
              <a:gd name="T5" fmla="*/ 0 h 326"/>
              <a:gd name="T6" fmla="*/ 0 60000 65536"/>
              <a:gd name="T7" fmla="*/ 0 60000 65536"/>
              <a:gd name="T8" fmla="*/ 0 60000 65536"/>
              <a:gd name="T9" fmla="*/ 0 w 838"/>
              <a:gd name="T10" fmla="*/ 0 h 326"/>
              <a:gd name="T11" fmla="*/ 838 w 838"/>
              <a:gd name="T12" fmla="*/ 326 h 3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38" h="326">
                <a:moveTo>
                  <a:pt x="0" y="0"/>
                </a:moveTo>
                <a:lnTo>
                  <a:pt x="837" y="32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" name="Freeform 58"/>
          <p:cNvSpPr>
            <a:spLocks/>
          </p:cNvSpPr>
          <p:nvPr/>
        </p:nvSpPr>
        <p:spPr bwMode="auto">
          <a:xfrm>
            <a:off x="3668713" y="4014788"/>
            <a:ext cx="104775" cy="61912"/>
          </a:xfrm>
          <a:custGeom>
            <a:avLst/>
            <a:gdLst>
              <a:gd name="T0" fmla="*/ 17463 w 66"/>
              <a:gd name="T1" fmla="*/ 0 h 39"/>
              <a:gd name="T2" fmla="*/ 103188 w 66"/>
              <a:gd name="T3" fmla="*/ 60325 h 39"/>
              <a:gd name="T4" fmla="*/ 0 w 66"/>
              <a:gd name="T5" fmla="*/ 47625 h 39"/>
              <a:gd name="T6" fmla="*/ 17463 w 66"/>
              <a:gd name="T7" fmla="*/ 0 h 39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39"/>
              <a:gd name="T14" fmla="*/ 66 w 66"/>
              <a:gd name="T15" fmla="*/ 39 h 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39">
                <a:moveTo>
                  <a:pt x="11" y="0"/>
                </a:moveTo>
                <a:lnTo>
                  <a:pt x="65" y="38"/>
                </a:lnTo>
                <a:lnTo>
                  <a:pt x="0" y="30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" name="Freeform 59"/>
          <p:cNvSpPr>
            <a:spLocks/>
          </p:cNvSpPr>
          <p:nvPr/>
        </p:nvSpPr>
        <p:spPr bwMode="auto">
          <a:xfrm>
            <a:off x="5224463" y="3579813"/>
            <a:ext cx="446087" cy="496887"/>
          </a:xfrm>
          <a:custGeom>
            <a:avLst/>
            <a:gdLst>
              <a:gd name="T0" fmla="*/ 444500 w 281"/>
              <a:gd name="T1" fmla="*/ 0 h 313"/>
              <a:gd name="T2" fmla="*/ 0 w 281"/>
              <a:gd name="T3" fmla="*/ 495300 h 313"/>
              <a:gd name="T4" fmla="*/ 444500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" name="Freeform 60"/>
          <p:cNvSpPr>
            <a:spLocks/>
          </p:cNvSpPr>
          <p:nvPr/>
        </p:nvSpPr>
        <p:spPr bwMode="auto">
          <a:xfrm>
            <a:off x="5224463" y="3983038"/>
            <a:ext cx="87312" cy="93662"/>
          </a:xfrm>
          <a:custGeom>
            <a:avLst/>
            <a:gdLst>
              <a:gd name="T0" fmla="*/ 85725 w 55"/>
              <a:gd name="T1" fmla="*/ 33337 h 59"/>
              <a:gd name="T2" fmla="*/ 0 w 55"/>
              <a:gd name="T3" fmla="*/ 92075 h 59"/>
              <a:gd name="T4" fmla="*/ 47625 w 55"/>
              <a:gd name="T5" fmla="*/ 0 h 59"/>
              <a:gd name="T6" fmla="*/ 85725 w 55"/>
              <a:gd name="T7" fmla="*/ 33337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" name="Freeform 61"/>
          <p:cNvSpPr>
            <a:spLocks/>
          </p:cNvSpPr>
          <p:nvPr/>
        </p:nvSpPr>
        <p:spPr bwMode="auto">
          <a:xfrm>
            <a:off x="6156325" y="3579813"/>
            <a:ext cx="458788" cy="476250"/>
          </a:xfrm>
          <a:custGeom>
            <a:avLst/>
            <a:gdLst>
              <a:gd name="T0" fmla="*/ 0 w 289"/>
              <a:gd name="T1" fmla="*/ 0 h 300"/>
              <a:gd name="T2" fmla="*/ 457200 w 289"/>
              <a:gd name="T3" fmla="*/ 474663 h 300"/>
              <a:gd name="T4" fmla="*/ 0 w 289"/>
              <a:gd name="T5" fmla="*/ 0 h 300"/>
              <a:gd name="T6" fmla="*/ 0 60000 65536"/>
              <a:gd name="T7" fmla="*/ 0 60000 65536"/>
              <a:gd name="T8" fmla="*/ 0 60000 65536"/>
              <a:gd name="T9" fmla="*/ 0 w 289"/>
              <a:gd name="T10" fmla="*/ 0 h 300"/>
              <a:gd name="T11" fmla="*/ 289 w 289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9" h="300">
                <a:moveTo>
                  <a:pt x="0" y="0"/>
                </a:moveTo>
                <a:lnTo>
                  <a:pt x="288" y="299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" name="Freeform 62"/>
          <p:cNvSpPr>
            <a:spLocks/>
          </p:cNvSpPr>
          <p:nvPr/>
        </p:nvSpPr>
        <p:spPr bwMode="auto">
          <a:xfrm>
            <a:off x="6524625" y="3963988"/>
            <a:ext cx="90488" cy="92075"/>
          </a:xfrm>
          <a:custGeom>
            <a:avLst/>
            <a:gdLst>
              <a:gd name="T0" fmla="*/ 36513 w 57"/>
              <a:gd name="T1" fmla="*/ 0 h 58"/>
              <a:gd name="T2" fmla="*/ 88900 w 57"/>
              <a:gd name="T3" fmla="*/ 90488 h 58"/>
              <a:gd name="T4" fmla="*/ 0 w 57"/>
              <a:gd name="T5" fmla="*/ 34925 h 58"/>
              <a:gd name="T6" fmla="*/ 36513 w 57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7"/>
              <a:gd name="T13" fmla="*/ 0 h 58"/>
              <a:gd name="T14" fmla="*/ 57 w 57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" h="58">
                <a:moveTo>
                  <a:pt x="23" y="0"/>
                </a:moveTo>
                <a:lnTo>
                  <a:pt x="56" y="57"/>
                </a:lnTo>
                <a:lnTo>
                  <a:pt x="0" y="22"/>
                </a:lnTo>
                <a:lnTo>
                  <a:pt x="23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" name="Freeform 63"/>
          <p:cNvSpPr>
            <a:spLocks/>
          </p:cNvSpPr>
          <p:nvPr/>
        </p:nvSpPr>
        <p:spPr bwMode="auto">
          <a:xfrm>
            <a:off x="6643688" y="3589338"/>
            <a:ext cx="1362075" cy="476250"/>
          </a:xfrm>
          <a:custGeom>
            <a:avLst/>
            <a:gdLst>
              <a:gd name="T0" fmla="*/ 0 w 858"/>
              <a:gd name="T1" fmla="*/ 0 h 300"/>
              <a:gd name="T2" fmla="*/ 1360488 w 858"/>
              <a:gd name="T3" fmla="*/ 474663 h 300"/>
              <a:gd name="T4" fmla="*/ 0 w 858"/>
              <a:gd name="T5" fmla="*/ 0 h 300"/>
              <a:gd name="T6" fmla="*/ 0 60000 65536"/>
              <a:gd name="T7" fmla="*/ 0 60000 65536"/>
              <a:gd name="T8" fmla="*/ 0 60000 65536"/>
              <a:gd name="T9" fmla="*/ 0 w 858"/>
              <a:gd name="T10" fmla="*/ 0 h 300"/>
              <a:gd name="T11" fmla="*/ 858 w 858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58" h="300">
                <a:moveTo>
                  <a:pt x="0" y="0"/>
                </a:moveTo>
                <a:lnTo>
                  <a:pt x="857" y="299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1" name="Freeform 64"/>
          <p:cNvSpPr>
            <a:spLocks/>
          </p:cNvSpPr>
          <p:nvPr/>
        </p:nvSpPr>
        <p:spPr bwMode="auto">
          <a:xfrm>
            <a:off x="7899400" y="4006850"/>
            <a:ext cx="106363" cy="58738"/>
          </a:xfrm>
          <a:custGeom>
            <a:avLst/>
            <a:gdLst>
              <a:gd name="T0" fmla="*/ 17463 w 67"/>
              <a:gd name="T1" fmla="*/ 0 h 37"/>
              <a:gd name="T2" fmla="*/ 104775 w 67"/>
              <a:gd name="T3" fmla="*/ 57150 h 37"/>
              <a:gd name="T4" fmla="*/ 0 w 67"/>
              <a:gd name="T5" fmla="*/ 49213 h 37"/>
              <a:gd name="T6" fmla="*/ 17463 w 67"/>
              <a:gd name="T7" fmla="*/ 0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11" y="0"/>
                </a:moveTo>
                <a:lnTo>
                  <a:pt x="66" y="36"/>
                </a:lnTo>
                <a:lnTo>
                  <a:pt x="0" y="31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" name="Freeform 65"/>
          <p:cNvSpPr>
            <a:spLocks/>
          </p:cNvSpPr>
          <p:nvPr/>
        </p:nvSpPr>
        <p:spPr bwMode="auto">
          <a:xfrm>
            <a:off x="2401888" y="2820988"/>
            <a:ext cx="1177925" cy="396875"/>
          </a:xfrm>
          <a:custGeom>
            <a:avLst/>
            <a:gdLst>
              <a:gd name="T0" fmla="*/ 1176338 w 742"/>
              <a:gd name="T1" fmla="*/ 0 h 250"/>
              <a:gd name="T2" fmla="*/ 0 w 742"/>
              <a:gd name="T3" fmla="*/ 395288 h 250"/>
              <a:gd name="T4" fmla="*/ 1176338 w 742"/>
              <a:gd name="T5" fmla="*/ 0 h 250"/>
              <a:gd name="T6" fmla="*/ 0 60000 65536"/>
              <a:gd name="T7" fmla="*/ 0 60000 65536"/>
              <a:gd name="T8" fmla="*/ 0 60000 65536"/>
              <a:gd name="T9" fmla="*/ 0 w 742"/>
              <a:gd name="T10" fmla="*/ 0 h 250"/>
              <a:gd name="T11" fmla="*/ 742 w 742"/>
              <a:gd name="T12" fmla="*/ 250 h 2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42" h="250">
                <a:moveTo>
                  <a:pt x="741" y="0"/>
                </a:moveTo>
                <a:lnTo>
                  <a:pt x="0" y="249"/>
                </a:lnTo>
                <a:lnTo>
                  <a:pt x="74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" name="Freeform 66"/>
          <p:cNvSpPr>
            <a:spLocks/>
          </p:cNvSpPr>
          <p:nvPr/>
        </p:nvSpPr>
        <p:spPr bwMode="auto">
          <a:xfrm>
            <a:off x="2401888" y="3159125"/>
            <a:ext cx="106362" cy="58738"/>
          </a:xfrm>
          <a:custGeom>
            <a:avLst/>
            <a:gdLst>
              <a:gd name="T0" fmla="*/ 104775 w 67"/>
              <a:gd name="T1" fmla="*/ 49213 h 37"/>
              <a:gd name="T2" fmla="*/ 0 w 67"/>
              <a:gd name="T3" fmla="*/ 57150 h 37"/>
              <a:gd name="T4" fmla="*/ 88900 w 67"/>
              <a:gd name="T5" fmla="*/ 0 h 37"/>
              <a:gd name="T6" fmla="*/ 104775 w 67"/>
              <a:gd name="T7" fmla="*/ 49213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66" y="31"/>
                </a:moveTo>
                <a:lnTo>
                  <a:pt x="0" y="36"/>
                </a:lnTo>
                <a:lnTo>
                  <a:pt x="56" y="0"/>
                </a:lnTo>
                <a:lnTo>
                  <a:pt x="66" y="3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" name="Freeform 67"/>
          <p:cNvSpPr>
            <a:spLocks/>
          </p:cNvSpPr>
          <p:nvPr/>
        </p:nvSpPr>
        <p:spPr bwMode="auto">
          <a:xfrm>
            <a:off x="4065588" y="2830513"/>
            <a:ext cx="1992312" cy="387350"/>
          </a:xfrm>
          <a:custGeom>
            <a:avLst/>
            <a:gdLst>
              <a:gd name="T0" fmla="*/ 0 w 1255"/>
              <a:gd name="T1" fmla="*/ 0 h 244"/>
              <a:gd name="T2" fmla="*/ 1990725 w 1255"/>
              <a:gd name="T3" fmla="*/ 385763 h 244"/>
              <a:gd name="T4" fmla="*/ 0 w 1255"/>
              <a:gd name="T5" fmla="*/ 0 h 244"/>
              <a:gd name="T6" fmla="*/ 0 60000 65536"/>
              <a:gd name="T7" fmla="*/ 0 60000 65536"/>
              <a:gd name="T8" fmla="*/ 0 60000 65536"/>
              <a:gd name="T9" fmla="*/ 0 w 1255"/>
              <a:gd name="T10" fmla="*/ 0 h 244"/>
              <a:gd name="T11" fmla="*/ 1255 w 1255"/>
              <a:gd name="T12" fmla="*/ 244 h 2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5" h="244">
                <a:moveTo>
                  <a:pt x="0" y="0"/>
                </a:moveTo>
                <a:lnTo>
                  <a:pt x="1254" y="243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" name="Freeform 68"/>
          <p:cNvSpPr>
            <a:spLocks/>
          </p:cNvSpPr>
          <p:nvPr/>
        </p:nvSpPr>
        <p:spPr bwMode="auto">
          <a:xfrm>
            <a:off x="5951538" y="3171825"/>
            <a:ext cx="106362" cy="50800"/>
          </a:xfrm>
          <a:custGeom>
            <a:avLst/>
            <a:gdLst>
              <a:gd name="T0" fmla="*/ 9525 w 67"/>
              <a:gd name="T1" fmla="*/ 0 h 32"/>
              <a:gd name="T2" fmla="*/ 104775 w 67"/>
              <a:gd name="T3" fmla="*/ 44450 h 32"/>
              <a:gd name="T4" fmla="*/ 0 w 67"/>
              <a:gd name="T5" fmla="*/ 49213 h 32"/>
              <a:gd name="T6" fmla="*/ 9525 w 67"/>
              <a:gd name="T7" fmla="*/ 0 h 32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2"/>
              <a:gd name="T14" fmla="*/ 67 w 67"/>
              <a:gd name="T15" fmla="*/ 32 h 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2">
                <a:moveTo>
                  <a:pt x="6" y="0"/>
                </a:moveTo>
                <a:lnTo>
                  <a:pt x="66" y="28"/>
                </a:lnTo>
                <a:lnTo>
                  <a:pt x="0" y="31"/>
                </a:lnTo>
                <a:lnTo>
                  <a:pt x="6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" name="Freeform 69"/>
          <p:cNvSpPr>
            <a:spLocks/>
          </p:cNvSpPr>
          <p:nvPr/>
        </p:nvSpPr>
        <p:spPr bwMode="auto">
          <a:xfrm>
            <a:off x="176371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" name="Freeform 70"/>
          <p:cNvSpPr>
            <a:spLocks/>
          </p:cNvSpPr>
          <p:nvPr/>
        </p:nvSpPr>
        <p:spPr bwMode="auto">
          <a:xfrm>
            <a:off x="2087563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" name="Freeform 71"/>
          <p:cNvSpPr>
            <a:spLocks/>
          </p:cNvSpPr>
          <p:nvPr/>
        </p:nvSpPr>
        <p:spPr bwMode="auto">
          <a:xfrm>
            <a:off x="241300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" name="Freeform 72"/>
          <p:cNvSpPr>
            <a:spLocks/>
          </p:cNvSpPr>
          <p:nvPr/>
        </p:nvSpPr>
        <p:spPr bwMode="auto">
          <a:xfrm>
            <a:off x="273685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0" name="Rectangle 73"/>
          <p:cNvSpPr>
            <a:spLocks noChangeArrowheads="1"/>
          </p:cNvSpPr>
          <p:nvPr/>
        </p:nvSpPr>
        <p:spPr bwMode="auto">
          <a:xfrm>
            <a:off x="2916238" y="2362200"/>
            <a:ext cx="5889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u="none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171" name="Rectangle 74"/>
          <p:cNvSpPr>
            <a:spLocks noChangeArrowheads="1"/>
          </p:cNvSpPr>
          <p:nvPr/>
        </p:nvSpPr>
        <p:spPr bwMode="auto">
          <a:xfrm>
            <a:off x="3678238" y="249713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17</a:t>
            </a:r>
          </a:p>
        </p:txBody>
      </p:sp>
      <p:sp>
        <p:nvSpPr>
          <p:cNvPr id="173" name="Rectangle 76"/>
          <p:cNvSpPr>
            <a:spLocks noChangeArrowheads="1"/>
          </p:cNvSpPr>
          <p:nvPr/>
        </p:nvSpPr>
        <p:spPr bwMode="auto">
          <a:xfrm>
            <a:off x="6245225" y="3263900"/>
            <a:ext cx="3683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30</a:t>
            </a:r>
          </a:p>
        </p:txBody>
      </p:sp>
      <p:sp>
        <p:nvSpPr>
          <p:cNvPr id="174" name="Rectangle 77"/>
          <p:cNvSpPr>
            <a:spLocks noChangeArrowheads="1"/>
          </p:cNvSpPr>
          <p:nvPr/>
        </p:nvSpPr>
        <p:spPr bwMode="auto">
          <a:xfrm>
            <a:off x="312261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14*</a:t>
            </a:r>
          </a:p>
        </p:txBody>
      </p:sp>
      <p:sp>
        <p:nvSpPr>
          <p:cNvPr id="175" name="Rectangle 78"/>
          <p:cNvSpPr>
            <a:spLocks noChangeArrowheads="1"/>
          </p:cNvSpPr>
          <p:nvPr/>
        </p:nvSpPr>
        <p:spPr bwMode="auto">
          <a:xfrm>
            <a:off x="344646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16*</a:t>
            </a:r>
          </a:p>
        </p:txBody>
      </p:sp>
      <p:sp>
        <p:nvSpPr>
          <p:cNvPr id="179" name="Rectangle 82"/>
          <p:cNvSpPr>
            <a:spLocks noChangeArrowheads="1"/>
          </p:cNvSpPr>
          <p:nvPr/>
        </p:nvSpPr>
        <p:spPr bwMode="auto">
          <a:xfrm>
            <a:off x="4846637" y="4094163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>
                <a:solidFill>
                  <a:srgbClr val="000000"/>
                </a:solidFill>
                <a:latin typeface="Arial" pitchFamily="34" charset="0"/>
              </a:rPr>
              <a:t>24*</a:t>
            </a:r>
          </a:p>
        </p:txBody>
      </p:sp>
      <p:sp>
        <p:nvSpPr>
          <p:cNvPr id="180" name="Rectangle 83"/>
          <p:cNvSpPr>
            <a:spLocks noChangeArrowheads="1"/>
          </p:cNvSpPr>
          <p:nvPr/>
        </p:nvSpPr>
        <p:spPr bwMode="auto">
          <a:xfrm>
            <a:off x="5943600" y="4070350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>
                <a:solidFill>
                  <a:srgbClr val="000000"/>
                </a:solidFill>
                <a:latin typeface="Arial" pitchFamily="34" charset="0"/>
              </a:rPr>
              <a:t>27*</a:t>
            </a:r>
          </a:p>
        </p:txBody>
      </p:sp>
      <p:sp>
        <p:nvSpPr>
          <p:cNvPr id="181" name="Rectangle 84"/>
          <p:cNvSpPr>
            <a:spLocks noChangeArrowheads="1"/>
          </p:cNvSpPr>
          <p:nvPr/>
        </p:nvSpPr>
        <p:spPr bwMode="auto">
          <a:xfrm>
            <a:off x="6246812" y="4081463"/>
            <a:ext cx="4318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29*</a:t>
            </a:r>
          </a:p>
        </p:txBody>
      </p:sp>
      <p:sp>
        <p:nvSpPr>
          <p:cNvPr id="182" name="Rectangle 85"/>
          <p:cNvSpPr>
            <a:spLocks noChangeArrowheads="1"/>
          </p:cNvSpPr>
          <p:nvPr/>
        </p:nvSpPr>
        <p:spPr bwMode="auto">
          <a:xfrm>
            <a:off x="7353300" y="4081463"/>
            <a:ext cx="4318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33*</a:t>
            </a:r>
          </a:p>
        </p:txBody>
      </p:sp>
      <p:sp>
        <p:nvSpPr>
          <p:cNvPr id="183" name="Rectangle 86"/>
          <p:cNvSpPr>
            <a:spLocks noChangeArrowheads="1"/>
          </p:cNvSpPr>
          <p:nvPr/>
        </p:nvSpPr>
        <p:spPr bwMode="auto">
          <a:xfrm>
            <a:off x="7678738" y="4081463"/>
            <a:ext cx="4318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34*</a:t>
            </a:r>
          </a:p>
        </p:txBody>
      </p:sp>
      <p:sp>
        <p:nvSpPr>
          <p:cNvPr id="184" name="Rectangle 87"/>
          <p:cNvSpPr>
            <a:spLocks noChangeArrowheads="1"/>
          </p:cNvSpPr>
          <p:nvPr/>
        </p:nvSpPr>
        <p:spPr bwMode="auto">
          <a:xfrm>
            <a:off x="7993063" y="4070350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38*</a:t>
            </a:r>
          </a:p>
        </p:txBody>
      </p:sp>
      <p:sp>
        <p:nvSpPr>
          <p:cNvPr id="185" name="Rectangle 88"/>
          <p:cNvSpPr>
            <a:spLocks noChangeArrowheads="1"/>
          </p:cNvSpPr>
          <p:nvPr/>
        </p:nvSpPr>
        <p:spPr bwMode="auto">
          <a:xfrm>
            <a:off x="8316913" y="406082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39*</a:t>
            </a:r>
          </a:p>
        </p:txBody>
      </p:sp>
      <p:sp>
        <p:nvSpPr>
          <p:cNvPr id="186" name="Rectangle 89"/>
          <p:cNvSpPr>
            <a:spLocks noChangeArrowheads="1"/>
          </p:cNvSpPr>
          <p:nvPr/>
        </p:nvSpPr>
        <p:spPr bwMode="auto">
          <a:xfrm>
            <a:off x="2024063" y="326548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13</a:t>
            </a:r>
          </a:p>
        </p:txBody>
      </p:sp>
      <p:sp>
        <p:nvSpPr>
          <p:cNvPr id="187" name="Rectangle 90"/>
          <p:cNvSpPr>
            <a:spLocks noChangeArrowheads="1"/>
          </p:cNvSpPr>
          <p:nvPr/>
        </p:nvSpPr>
        <p:spPr bwMode="auto">
          <a:xfrm>
            <a:off x="1557338" y="3265488"/>
            <a:ext cx="2762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188" name="Rectangle 91"/>
          <p:cNvSpPr>
            <a:spLocks noChangeArrowheads="1"/>
          </p:cNvSpPr>
          <p:nvPr/>
        </p:nvSpPr>
        <p:spPr bwMode="auto">
          <a:xfrm>
            <a:off x="2095500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7*</a:t>
            </a:r>
          </a:p>
        </p:txBody>
      </p:sp>
      <p:sp>
        <p:nvSpPr>
          <p:cNvPr id="189" name="Rectangle 92"/>
          <p:cNvSpPr>
            <a:spLocks noChangeArrowheads="1"/>
          </p:cNvSpPr>
          <p:nvPr/>
        </p:nvSpPr>
        <p:spPr bwMode="auto">
          <a:xfrm>
            <a:off x="1773238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5*</a:t>
            </a:r>
          </a:p>
        </p:txBody>
      </p:sp>
      <p:sp>
        <p:nvSpPr>
          <p:cNvPr id="190" name="Rectangle 93"/>
          <p:cNvSpPr>
            <a:spLocks noChangeArrowheads="1"/>
          </p:cNvSpPr>
          <p:nvPr/>
        </p:nvSpPr>
        <p:spPr bwMode="auto">
          <a:xfrm>
            <a:off x="2411413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8*</a:t>
            </a:r>
          </a:p>
        </p:txBody>
      </p:sp>
      <p:sp>
        <p:nvSpPr>
          <p:cNvPr id="191" name="Arc 94"/>
          <p:cNvSpPr>
            <a:spLocks/>
          </p:cNvSpPr>
          <p:nvPr/>
        </p:nvSpPr>
        <p:spPr bwMode="auto">
          <a:xfrm rot="13440000">
            <a:off x="70977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2" name="Arc 95"/>
          <p:cNvSpPr>
            <a:spLocks/>
          </p:cNvSpPr>
          <p:nvPr/>
        </p:nvSpPr>
        <p:spPr bwMode="auto">
          <a:xfrm rot="13440000">
            <a:off x="15351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3" name="Arc 96"/>
          <p:cNvSpPr>
            <a:spLocks/>
          </p:cNvSpPr>
          <p:nvPr/>
        </p:nvSpPr>
        <p:spPr bwMode="auto">
          <a:xfrm rot="13440000">
            <a:off x="29067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" name="Arc 97"/>
          <p:cNvSpPr>
            <a:spLocks/>
          </p:cNvSpPr>
          <p:nvPr/>
        </p:nvSpPr>
        <p:spPr bwMode="auto">
          <a:xfrm rot="13440000">
            <a:off x="43545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5" name="Arc 98"/>
          <p:cNvSpPr>
            <a:spLocks/>
          </p:cNvSpPr>
          <p:nvPr/>
        </p:nvSpPr>
        <p:spPr bwMode="auto">
          <a:xfrm rot="13440000">
            <a:off x="57261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1" name="TextBox 26630"/>
          <p:cNvSpPr txBox="1"/>
          <p:nvPr/>
        </p:nvSpPr>
        <p:spPr>
          <a:xfrm>
            <a:off x="685800" y="4720127"/>
            <a:ext cx="7790146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 smtClean="0"/>
              <a:t>“Copy up” </a:t>
            </a:r>
            <a:r>
              <a:rPr lang="en-US" sz="2000" dirty="0" smtClean="0">
                <a:solidFill>
                  <a:srgbClr val="FF0000"/>
                </a:solidFill>
              </a:rPr>
              <a:t>27*</a:t>
            </a:r>
            <a:r>
              <a:rPr lang="en-US" sz="2000" dirty="0" smtClean="0"/>
              <a:t>, the lowest value in the leaf from which we borrowed </a:t>
            </a:r>
            <a:r>
              <a:rPr lang="en-US" sz="2000" dirty="0" smtClean="0">
                <a:solidFill>
                  <a:srgbClr val="FF0000"/>
                </a:solidFill>
              </a:rPr>
              <a:t>24*</a:t>
            </a:r>
            <a:r>
              <a:rPr lang="en-US" sz="2000" dirty="0" smtClean="0"/>
              <a:t> </a:t>
            </a:r>
            <a:endParaRPr lang="en-US" sz="2000" dirty="0"/>
          </a:p>
        </p:txBody>
      </p:sp>
      <p:sp>
        <p:nvSpPr>
          <p:cNvPr id="199" name="Rectangle 81"/>
          <p:cNvSpPr>
            <a:spLocks noChangeArrowheads="1"/>
          </p:cNvSpPr>
          <p:nvPr/>
        </p:nvSpPr>
        <p:spPr bwMode="auto">
          <a:xfrm>
            <a:off x="4526853" y="4094903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>
                <a:solidFill>
                  <a:srgbClr val="000000"/>
                </a:solidFill>
                <a:latin typeface="Arial" pitchFamily="34" charset="0"/>
              </a:rPr>
              <a:t>22*</a:t>
            </a:r>
          </a:p>
        </p:txBody>
      </p:sp>
      <p:sp>
        <p:nvSpPr>
          <p:cNvPr id="98" name="Rectangle 83"/>
          <p:cNvSpPr>
            <a:spLocks noChangeArrowheads="1"/>
          </p:cNvSpPr>
          <p:nvPr/>
        </p:nvSpPr>
        <p:spPr bwMode="auto">
          <a:xfrm>
            <a:off x="5715000" y="3276600"/>
            <a:ext cx="371897" cy="293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 smtClean="0">
                <a:solidFill>
                  <a:srgbClr val="000000"/>
                </a:solidFill>
                <a:latin typeface="Arial" pitchFamily="34" charset="0"/>
              </a:rPr>
              <a:t>27</a:t>
            </a:r>
            <a:endParaRPr lang="en-US" sz="1300" u="none" dirty="0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032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B+ Tree: Examples </a:t>
            </a:r>
            <a:r>
              <a:rPr lang="en-US" dirty="0" smtClean="0">
                <a:ea typeface="ＭＳ Ｐゴシック" pitchFamily="34" charset="-128"/>
              </a:rPr>
              <a:t>of Deletions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Delete </a:t>
            </a:r>
            <a:r>
              <a:rPr lang="en-US" dirty="0" smtClean="0">
                <a:solidFill>
                  <a:srgbClr val="FF0000"/>
                </a:solidFill>
              </a:rPr>
              <a:t>20*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101" name="Freeform 4"/>
          <p:cNvSpPr>
            <a:spLocks/>
          </p:cNvSpPr>
          <p:nvPr/>
        </p:nvSpPr>
        <p:spPr bwMode="auto">
          <a:xfrm>
            <a:off x="381000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" name="Freeform 5"/>
          <p:cNvSpPr>
            <a:spLocks/>
          </p:cNvSpPr>
          <p:nvPr/>
        </p:nvSpPr>
        <p:spPr bwMode="auto">
          <a:xfrm>
            <a:off x="706438" y="4086225"/>
            <a:ext cx="325437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Freeform 6"/>
          <p:cNvSpPr>
            <a:spLocks/>
          </p:cNvSpPr>
          <p:nvPr/>
        </p:nvSpPr>
        <p:spPr bwMode="auto">
          <a:xfrm>
            <a:off x="1030288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" name="Freeform 7"/>
          <p:cNvSpPr>
            <a:spLocks/>
          </p:cNvSpPr>
          <p:nvPr/>
        </p:nvSpPr>
        <p:spPr bwMode="auto">
          <a:xfrm>
            <a:off x="1355725" y="4086225"/>
            <a:ext cx="325438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" name="Rectangle 8"/>
          <p:cNvSpPr>
            <a:spLocks noChangeArrowheads="1"/>
          </p:cNvSpPr>
          <p:nvPr/>
        </p:nvSpPr>
        <p:spPr bwMode="auto">
          <a:xfrm>
            <a:off x="390525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2*</a:t>
            </a:r>
          </a:p>
        </p:txBody>
      </p:sp>
      <p:sp>
        <p:nvSpPr>
          <p:cNvPr id="106" name="Rectangle 9"/>
          <p:cNvSpPr>
            <a:spLocks noChangeArrowheads="1"/>
          </p:cNvSpPr>
          <p:nvPr/>
        </p:nvSpPr>
        <p:spPr bwMode="auto">
          <a:xfrm>
            <a:off x="715963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3*</a:t>
            </a:r>
          </a:p>
        </p:txBody>
      </p:sp>
      <p:sp>
        <p:nvSpPr>
          <p:cNvPr id="107" name="Freeform 10"/>
          <p:cNvSpPr>
            <a:spLocks/>
          </p:cNvSpPr>
          <p:nvPr/>
        </p:nvSpPr>
        <p:spPr bwMode="auto">
          <a:xfrm>
            <a:off x="3549650" y="246856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Freeform 11"/>
          <p:cNvSpPr>
            <a:spLocks/>
          </p:cNvSpPr>
          <p:nvPr/>
        </p:nvSpPr>
        <p:spPr bwMode="auto">
          <a:xfrm>
            <a:off x="3629025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Freeform 12"/>
          <p:cNvSpPr>
            <a:spLocks/>
          </p:cNvSpPr>
          <p:nvPr/>
        </p:nvSpPr>
        <p:spPr bwMode="auto">
          <a:xfrm>
            <a:off x="4035425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Freeform 13"/>
          <p:cNvSpPr>
            <a:spLocks/>
          </p:cNvSpPr>
          <p:nvPr/>
        </p:nvSpPr>
        <p:spPr bwMode="auto">
          <a:xfrm>
            <a:off x="4116388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Freeform 14"/>
          <p:cNvSpPr>
            <a:spLocks/>
          </p:cNvSpPr>
          <p:nvPr/>
        </p:nvSpPr>
        <p:spPr bwMode="auto">
          <a:xfrm>
            <a:off x="4522788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Freeform 15"/>
          <p:cNvSpPr>
            <a:spLocks/>
          </p:cNvSpPr>
          <p:nvPr/>
        </p:nvSpPr>
        <p:spPr bwMode="auto">
          <a:xfrm>
            <a:off x="4603750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Freeform 16"/>
          <p:cNvSpPr>
            <a:spLocks/>
          </p:cNvSpPr>
          <p:nvPr/>
        </p:nvSpPr>
        <p:spPr bwMode="auto">
          <a:xfrm>
            <a:off x="5010150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Freeform 17"/>
          <p:cNvSpPr>
            <a:spLocks/>
          </p:cNvSpPr>
          <p:nvPr/>
        </p:nvSpPr>
        <p:spPr bwMode="auto">
          <a:xfrm>
            <a:off x="5091113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Freeform 18"/>
          <p:cNvSpPr>
            <a:spLocks/>
          </p:cNvSpPr>
          <p:nvPr/>
        </p:nvSpPr>
        <p:spPr bwMode="auto">
          <a:xfrm>
            <a:off x="5497513" y="246856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Freeform 19"/>
          <p:cNvSpPr>
            <a:spLocks/>
          </p:cNvSpPr>
          <p:nvPr/>
        </p:nvSpPr>
        <p:spPr bwMode="auto">
          <a:xfrm>
            <a:off x="3162300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Freeform 20"/>
          <p:cNvSpPr>
            <a:spLocks/>
          </p:cNvSpPr>
          <p:nvPr/>
        </p:nvSpPr>
        <p:spPr bwMode="auto">
          <a:xfrm>
            <a:off x="348773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Freeform 21"/>
          <p:cNvSpPr>
            <a:spLocks/>
          </p:cNvSpPr>
          <p:nvPr/>
        </p:nvSpPr>
        <p:spPr bwMode="auto">
          <a:xfrm>
            <a:off x="3813175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Freeform 22"/>
          <p:cNvSpPr>
            <a:spLocks/>
          </p:cNvSpPr>
          <p:nvPr/>
        </p:nvSpPr>
        <p:spPr bwMode="auto">
          <a:xfrm>
            <a:off x="41370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Freeform 23"/>
          <p:cNvSpPr>
            <a:spLocks/>
          </p:cNvSpPr>
          <p:nvPr/>
        </p:nvSpPr>
        <p:spPr bwMode="auto">
          <a:xfrm>
            <a:off x="457358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" name="Freeform 24"/>
          <p:cNvSpPr>
            <a:spLocks/>
          </p:cNvSpPr>
          <p:nvPr/>
        </p:nvSpPr>
        <p:spPr bwMode="auto">
          <a:xfrm>
            <a:off x="48990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Freeform 25"/>
          <p:cNvSpPr>
            <a:spLocks/>
          </p:cNvSpPr>
          <p:nvPr/>
        </p:nvSpPr>
        <p:spPr bwMode="auto">
          <a:xfrm>
            <a:off x="5224463" y="4094163"/>
            <a:ext cx="323850" cy="325437"/>
          </a:xfrm>
          <a:custGeom>
            <a:avLst/>
            <a:gdLst>
              <a:gd name="T0" fmla="*/ 0 w 204"/>
              <a:gd name="T1" fmla="*/ 323850 h 205"/>
              <a:gd name="T2" fmla="*/ 0 w 204"/>
              <a:gd name="T3" fmla="*/ 0 h 205"/>
              <a:gd name="T4" fmla="*/ 322263 w 204"/>
              <a:gd name="T5" fmla="*/ 0 h 205"/>
              <a:gd name="T6" fmla="*/ 322263 w 204"/>
              <a:gd name="T7" fmla="*/ 323850 h 205"/>
              <a:gd name="T8" fmla="*/ 0 w 204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4"/>
              <a:gd name="T16" fmla="*/ 0 h 205"/>
              <a:gd name="T17" fmla="*/ 204 w 204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4" h="205">
                <a:moveTo>
                  <a:pt x="0" y="204"/>
                </a:moveTo>
                <a:lnTo>
                  <a:pt x="0" y="0"/>
                </a:lnTo>
                <a:lnTo>
                  <a:pt x="203" y="0"/>
                </a:lnTo>
                <a:lnTo>
                  <a:pt x="203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" name="Freeform 26"/>
          <p:cNvSpPr>
            <a:spLocks/>
          </p:cNvSpPr>
          <p:nvPr/>
        </p:nvSpPr>
        <p:spPr bwMode="auto">
          <a:xfrm>
            <a:off x="55467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" name="Freeform 27"/>
          <p:cNvSpPr>
            <a:spLocks/>
          </p:cNvSpPr>
          <p:nvPr/>
        </p:nvSpPr>
        <p:spPr bwMode="auto">
          <a:xfrm>
            <a:off x="598487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" name="Freeform 28"/>
          <p:cNvSpPr>
            <a:spLocks/>
          </p:cNvSpPr>
          <p:nvPr/>
        </p:nvSpPr>
        <p:spPr bwMode="auto">
          <a:xfrm>
            <a:off x="631031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" name="Freeform 29"/>
          <p:cNvSpPr>
            <a:spLocks/>
          </p:cNvSpPr>
          <p:nvPr/>
        </p:nvSpPr>
        <p:spPr bwMode="auto">
          <a:xfrm>
            <a:off x="663416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7" name="Freeform 30"/>
          <p:cNvSpPr>
            <a:spLocks/>
          </p:cNvSpPr>
          <p:nvPr/>
        </p:nvSpPr>
        <p:spPr bwMode="auto">
          <a:xfrm>
            <a:off x="6958013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" name="Freeform 31"/>
          <p:cNvSpPr>
            <a:spLocks/>
          </p:cNvSpPr>
          <p:nvPr/>
        </p:nvSpPr>
        <p:spPr bwMode="auto">
          <a:xfrm>
            <a:off x="7385050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" name="Freeform 32"/>
          <p:cNvSpPr>
            <a:spLocks/>
          </p:cNvSpPr>
          <p:nvPr/>
        </p:nvSpPr>
        <p:spPr bwMode="auto">
          <a:xfrm>
            <a:off x="7710488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Freeform 33"/>
          <p:cNvSpPr>
            <a:spLocks/>
          </p:cNvSpPr>
          <p:nvPr/>
        </p:nvSpPr>
        <p:spPr bwMode="auto">
          <a:xfrm>
            <a:off x="8034338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" name="Freeform 34"/>
          <p:cNvSpPr>
            <a:spLocks/>
          </p:cNvSpPr>
          <p:nvPr/>
        </p:nvSpPr>
        <p:spPr bwMode="auto">
          <a:xfrm>
            <a:off x="835818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Freeform 35"/>
          <p:cNvSpPr>
            <a:spLocks/>
          </p:cNvSpPr>
          <p:nvPr/>
        </p:nvSpPr>
        <p:spPr bwMode="auto">
          <a:xfrm>
            <a:off x="1428750" y="323691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" name="Freeform 36"/>
          <p:cNvSpPr>
            <a:spLocks/>
          </p:cNvSpPr>
          <p:nvPr/>
        </p:nvSpPr>
        <p:spPr bwMode="auto">
          <a:xfrm>
            <a:off x="15097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" name="Freeform 37"/>
          <p:cNvSpPr>
            <a:spLocks/>
          </p:cNvSpPr>
          <p:nvPr/>
        </p:nvSpPr>
        <p:spPr bwMode="auto">
          <a:xfrm>
            <a:off x="1914525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" name="Freeform 38"/>
          <p:cNvSpPr>
            <a:spLocks/>
          </p:cNvSpPr>
          <p:nvPr/>
        </p:nvSpPr>
        <p:spPr bwMode="auto">
          <a:xfrm>
            <a:off x="199548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" name="Freeform 39"/>
          <p:cNvSpPr>
            <a:spLocks/>
          </p:cNvSpPr>
          <p:nvPr/>
        </p:nvSpPr>
        <p:spPr bwMode="auto">
          <a:xfrm>
            <a:off x="2401888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" name="Freeform 40"/>
          <p:cNvSpPr>
            <a:spLocks/>
          </p:cNvSpPr>
          <p:nvPr/>
        </p:nvSpPr>
        <p:spPr bwMode="auto">
          <a:xfrm>
            <a:off x="2482850" y="32369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" name="Freeform 41"/>
          <p:cNvSpPr>
            <a:spLocks/>
          </p:cNvSpPr>
          <p:nvPr/>
        </p:nvSpPr>
        <p:spPr bwMode="auto">
          <a:xfrm>
            <a:off x="288925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" name="Freeform 42"/>
          <p:cNvSpPr>
            <a:spLocks/>
          </p:cNvSpPr>
          <p:nvPr/>
        </p:nvSpPr>
        <p:spPr bwMode="auto">
          <a:xfrm>
            <a:off x="29702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" name="Freeform 43"/>
          <p:cNvSpPr>
            <a:spLocks/>
          </p:cNvSpPr>
          <p:nvPr/>
        </p:nvSpPr>
        <p:spPr bwMode="auto">
          <a:xfrm>
            <a:off x="3376613" y="323691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1" name="Freeform 44"/>
          <p:cNvSpPr>
            <a:spLocks/>
          </p:cNvSpPr>
          <p:nvPr/>
        </p:nvSpPr>
        <p:spPr bwMode="auto">
          <a:xfrm>
            <a:off x="563880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2" name="Freeform 45"/>
          <p:cNvSpPr>
            <a:spLocks/>
          </p:cNvSpPr>
          <p:nvPr/>
        </p:nvSpPr>
        <p:spPr bwMode="auto">
          <a:xfrm>
            <a:off x="571976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" name="Freeform 46"/>
          <p:cNvSpPr>
            <a:spLocks/>
          </p:cNvSpPr>
          <p:nvPr/>
        </p:nvSpPr>
        <p:spPr bwMode="auto">
          <a:xfrm>
            <a:off x="6126163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" name="Freeform 47"/>
          <p:cNvSpPr>
            <a:spLocks/>
          </p:cNvSpPr>
          <p:nvPr/>
        </p:nvSpPr>
        <p:spPr bwMode="auto">
          <a:xfrm>
            <a:off x="6207125" y="32369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5" name="Freeform 48"/>
          <p:cNvSpPr>
            <a:spLocks/>
          </p:cNvSpPr>
          <p:nvPr/>
        </p:nvSpPr>
        <p:spPr bwMode="auto">
          <a:xfrm>
            <a:off x="6613525" y="323691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6" name="Freeform 49"/>
          <p:cNvSpPr>
            <a:spLocks/>
          </p:cNvSpPr>
          <p:nvPr/>
        </p:nvSpPr>
        <p:spPr bwMode="auto">
          <a:xfrm>
            <a:off x="669448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7" name="Freeform 50"/>
          <p:cNvSpPr>
            <a:spLocks/>
          </p:cNvSpPr>
          <p:nvPr/>
        </p:nvSpPr>
        <p:spPr bwMode="auto">
          <a:xfrm>
            <a:off x="709930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8" name="Freeform 51"/>
          <p:cNvSpPr>
            <a:spLocks/>
          </p:cNvSpPr>
          <p:nvPr/>
        </p:nvSpPr>
        <p:spPr bwMode="auto">
          <a:xfrm>
            <a:off x="718343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9" name="Freeform 52"/>
          <p:cNvSpPr>
            <a:spLocks/>
          </p:cNvSpPr>
          <p:nvPr/>
        </p:nvSpPr>
        <p:spPr bwMode="auto">
          <a:xfrm>
            <a:off x="7586663" y="3236913"/>
            <a:ext cx="84137" cy="404812"/>
          </a:xfrm>
          <a:custGeom>
            <a:avLst/>
            <a:gdLst>
              <a:gd name="T0" fmla="*/ 0 w 53"/>
              <a:gd name="T1" fmla="*/ 403225 h 255"/>
              <a:gd name="T2" fmla="*/ 0 w 53"/>
              <a:gd name="T3" fmla="*/ 0 h 255"/>
              <a:gd name="T4" fmla="*/ 82550 w 53"/>
              <a:gd name="T5" fmla="*/ 0 h 255"/>
              <a:gd name="T6" fmla="*/ 82550 w 53"/>
              <a:gd name="T7" fmla="*/ 403225 h 255"/>
              <a:gd name="T8" fmla="*/ 0 w 53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"/>
              <a:gd name="T16" fmla="*/ 0 h 255"/>
              <a:gd name="T17" fmla="*/ 53 w 53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" h="255">
                <a:moveTo>
                  <a:pt x="0" y="254"/>
                </a:moveTo>
                <a:lnTo>
                  <a:pt x="0" y="0"/>
                </a:lnTo>
                <a:lnTo>
                  <a:pt x="52" y="0"/>
                </a:lnTo>
                <a:lnTo>
                  <a:pt x="52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" name="Freeform 53"/>
          <p:cNvSpPr>
            <a:spLocks/>
          </p:cNvSpPr>
          <p:nvPr/>
        </p:nvSpPr>
        <p:spPr bwMode="auto">
          <a:xfrm>
            <a:off x="1012825" y="3559175"/>
            <a:ext cx="446088" cy="496888"/>
          </a:xfrm>
          <a:custGeom>
            <a:avLst/>
            <a:gdLst>
              <a:gd name="T0" fmla="*/ 444500 w 281"/>
              <a:gd name="T1" fmla="*/ 0 h 313"/>
              <a:gd name="T2" fmla="*/ 0 w 281"/>
              <a:gd name="T3" fmla="*/ 495300 h 313"/>
              <a:gd name="T4" fmla="*/ 444500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" name="Freeform 54"/>
          <p:cNvSpPr>
            <a:spLocks/>
          </p:cNvSpPr>
          <p:nvPr/>
        </p:nvSpPr>
        <p:spPr bwMode="auto">
          <a:xfrm>
            <a:off x="1012825" y="3962400"/>
            <a:ext cx="87313" cy="93663"/>
          </a:xfrm>
          <a:custGeom>
            <a:avLst/>
            <a:gdLst>
              <a:gd name="T0" fmla="*/ 85725 w 55"/>
              <a:gd name="T1" fmla="*/ 33338 h 59"/>
              <a:gd name="T2" fmla="*/ 0 w 55"/>
              <a:gd name="T3" fmla="*/ 92075 h 59"/>
              <a:gd name="T4" fmla="*/ 47625 w 55"/>
              <a:gd name="T5" fmla="*/ 0 h 59"/>
              <a:gd name="T6" fmla="*/ 85725 w 55"/>
              <a:gd name="T7" fmla="*/ 33338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2" name="Freeform 55"/>
          <p:cNvSpPr>
            <a:spLocks/>
          </p:cNvSpPr>
          <p:nvPr/>
        </p:nvSpPr>
        <p:spPr bwMode="auto">
          <a:xfrm>
            <a:off x="1944688" y="3559175"/>
            <a:ext cx="449262" cy="506413"/>
          </a:xfrm>
          <a:custGeom>
            <a:avLst/>
            <a:gdLst>
              <a:gd name="T0" fmla="*/ 0 w 283"/>
              <a:gd name="T1" fmla="*/ 0 h 319"/>
              <a:gd name="T2" fmla="*/ 447675 w 283"/>
              <a:gd name="T3" fmla="*/ 504825 h 319"/>
              <a:gd name="T4" fmla="*/ 0 w 283"/>
              <a:gd name="T5" fmla="*/ 0 h 319"/>
              <a:gd name="T6" fmla="*/ 0 60000 65536"/>
              <a:gd name="T7" fmla="*/ 0 60000 65536"/>
              <a:gd name="T8" fmla="*/ 0 60000 65536"/>
              <a:gd name="T9" fmla="*/ 0 w 283"/>
              <a:gd name="T10" fmla="*/ 0 h 319"/>
              <a:gd name="T11" fmla="*/ 283 w 283"/>
              <a:gd name="T12" fmla="*/ 319 h 31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3" h="319">
                <a:moveTo>
                  <a:pt x="0" y="0"/>
                </a:moveTo>
                <a:lnTo>
                  <a:pt x="282" y="318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" name="Freeform 56"/>
          <p:cNvSpPr>
            <a:spLocks/>
          </p:cNvSpPr>
          <p:nvPr/>
        </p:nvSpPr>
        <p:spPr bwMode="auto">
          <a:xfrm>
            <a:off x="2305050" y="3973513"/>
            <a:ext cx="88900" cy="92075"/>
          </a:xfrm>
          <a:custGeom>
            <a:avLst/>
            <a:gdLst>
              <a:gd name="T0" fmla="*/ 38100 w 56"/>
              <a:gd name="T1" fmla="*/ 0 h 58"/>
              <a:gd name="T2" fmla="*/ 87313 w 56"/>
              <a:gd name="T3" fmla="*/ 90488 h 58"/>
              <a:gd name="T4" fmla="*/ 0 w 56"/>
              <a:gd name="T5" fmla="*/ 33338 h 58"/>
              <a:gd name="T6" fmla="*/ 38100 w 56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6"/>
              <a:gd name="T13" fmla="*/ 0 h 58"/>
              <a:gd name="T14" fmla="*/ 56 w 56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" h="58">
                <a:moveTo>
                  <a:pt x="24" y="0"/>
                </a:moveTo>
                <a:lnTo>
                  <a:pt x="55" y="57"/>
                </a:lnTo>
                <a:lnTo>
                  <a:pt x="0" y="21"/>
                </a:lnTo>
                <a:lnTo>
                  <a:pt x="24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" name="Freeform 57"/>
          <p:cNvSpPr>
            <a:spLocks/>
          </p:cNvSpPr>
          <p:nvPr/>
        </p:nvSpPr>
        <p:spPr bwMode="auto">
          <a:xfrm>
            <a:off x="2443163" y="3559175"/>
            <a:ext cx="1330325" cy="517525"/>
          </a:xfrm>
          <a:custGeom>
            <a:avLst/>
            <a:gdLst>
              <a:gd name="T0" fmla="*/ 0 w 838"/>
              <a:gd name="T1" fmla="*/ 0 h 326"/>
              <a:gd name="T2" fmla="*/ 1328738 w 838"/>
              <a:gd name="T3" fmla="*/ 515938 h 326"/>
              <a:gd name="T4" fmla="*/ 0 w 838"/>
              <a:gd name="T5" fmla="*/ 0 h 326"/>
              <a:gd name="T6" fmla="*/ 0 60000 65536"/>
              <a:gd name="T7" fmla="*/ 0 60000 65536"/>
              <a:gd name="T8" fmla="*/ 0 60000 65536"/>
              <a:gd name="T9" fmla="*/ 0 w 838"/>
              <a:gd name="T10" fmla="*/ 0 h 326"/>
              <a:gd name="T11" fmla="*/ 838 w 838"/>
              <a:gd name="T12" fmla="*/ 326 h 3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38" h="326">
                <a:moveTo>
                  <a:pt x="0" y="0"/>
                </a:moveTo>
                <a:lnTo>
                  <a:pt x="837" y="32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" name="Freeform 58"/>
          <p:cNvSpPr>
            <a:spLocks/>
          </p:cNvSpPr>
          <p:nvPr/>
        </p:nvSpPr>
        <p:spPr bwMode="auto">
          <a:xfrm>
            <a:off x="3668713" y="4014788"/>
            <a:ext cx="104775" cy="61912"/>
          </a:xfrm>
          <a:custGeom>
            <a:avLst/>
            <a:gdLst>
              <a:gd name="T0" fmla="*/ 17463 w 66"/>
              <a:gd name="T1" fmla="*/ 0 h 39"/>
              <a:gd name="T2" fmla="*/ 103188 w 66"/>
              <a:gd name="T3" fmla="*/ 60325 h 39"/>
              <a:gd name="T4" fmla="*/ 0 w 66"/>
              <a:gd name="T5" fmla="*/ 47625 h 39"/>
              <a:gd name="T6" fmla="*/ 17463 w 66"/>
              <a:gd name="T7" fmla="*/ 0 h 39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39"/>
              <a:gd name="T14" fmla="*/ 66 w 66"/>
              <a:gd name="T15" fmla="*/ 39 h 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39">
                <a:moveTo>
                  <a:pt x="11" y="0"/>
                </a:moveTo>
                <a:lnTo>
                  <a:pt x="65" y="38"/>
                </a:lnTo>
                <a:lnTo>
                  <a:pt x="0" y="30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" name="Freeform 59"/>
          <p:cNvSpPr>
            <a:spLocks/>
          </p:cNvSpPr>
          <p:nvPr/>
        </p:nvSpPr>
        <p:spPr bwMode="auto">
          <a:xfrm>
            <a:off x="5224463" y="3579813"/>
            <a:ext cx="446087" cy="496887"/>
          </a:xfrm>
          <a:custGeom>
            <a:avLst/>
            <a:gdLst>
              <a:gd name="T0" fmla="*/ 444500 w 281"/>
              <a:gd name="T1" fmla="*/ 0 h 313"/>
              <a:gd name="T2" fmla="*/ 0 w 281"/>
              <a:gd name="T3" fmla="*/ 495300 h 313"/>
              <a:gd name="T4" fmla="*/ 444500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" name="Freeform 60"/>
          <p:cNvSpPr>
            <a:spLocks/>
          </p:cNvSpPr>
          <p:nvPr/>
        </p:nvSpPr>
        <p:spPr bwMode="auto">
          <a:xfrm>
            <a:off x="5224463" y="3983038"/>
            <a:ext cx="87312" cy="93662"/>
          </a:xfrm>
          <a:custGeom>
            <a:avLst/>
            <a:gdLst>
              <a:gd name="T0" fmla="*/ 85725 w 55"/>
              <a:gd name="T1" fmla="*/ 33337 h 59"/>
              <a:gd name="T2" fmla="*/ 0 w 55"/>
              <a:gd name="T3" fmla="*/ 92075 h 59"/>
              <a:gd name="T4" fmla="*/ 47625 w 55"/>
              <a:gd name="T5" fmla="*/ 0 h 59"/>
              <a:gd name="T6" fmla="*/ 85725 w 55"/>
              <a:gd name="T7" fmla="*/ 33337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" name="Freeform 61"/>
          <p:cNvSpPr>
            <a:spLocks/>
          </p:cNvSpPr>
          <p:nvPr/>
        </p:nvSpPr>
        <p:spPr bwMode="auto">
          <a:xfrm>
            <a:off x="6156325" y="3579813"/>
            <a:ext cx="458788" cy="476250"/>
          </a:xfrm>
          <a:custGeom>
            <a:avLst/>
            <a:gdLst>
              <a:gd name="T0" fmla="*/ 0 w 289"/>
              <a:gd name="T1" fmla="*/ 0 h 300"/>
              <a:gd name="T2" fmla="*/ 457200 w 289"/>
              <a:gd name="T3" fmla="*/ 474663 h 300"/>
              <a:gd name="T4" fmla="*/ 0 w 289"/>
              <a:gd name="T5" fmla="*/ 0 h 300"/>
              <a:gd name="T6" fmla="*/ 0 60000 65536"/>
              <a:gd name="T7" fmla="*/ 0 60000 65536"/>
              <a:gd name="T8" fmla="*/ 0 60000 65536"/>
              <a:gd name="T9" fmla="*/ 0 w 289"/>
              <a:gd name="T10" fmla="*/ 0 h 300"/>
              <a:gd name="T11" fmla="*/ 289 w 289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9" h="300">
                <a:moveTo>
                  <a:pt x="0" y="0"/>
                </a:moveTo>
                <a:lnTo>
                  <a:pt x="288" y="299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" name="Freeform 62"/>
          <p:cNvSpPr>
            <a:spLocks/>
          </p:cNvSpPr>
          <p:nvPr/>
        </p:nvSpPr>
        <p:spPr bwMode="auto">
          <a:xfrm>
            <a:off x="6524625" y="3963988"/>
            <a:ext cx="90488" cy="92075"/>
          </a:xfrm>
          <a:custGeom>
            <a:avLst/>
            <a:gdLst>
              <a:gd name="T0" fmla="*/ 36513 w 57"/>
              <a:gd name="T1" fmla="*/ 0 h 58"/>
              <a:gd name="T2" fmla="*/ 88900 w 57"/>
              <a:gd name="T3" fmla="*/ 90488 h 58"/>
              <a:gd name="T4" fmla="*/ 0 w 57"/>
              <a:gd name="T5" fmla="*/ 34925 h 58"/>
              <a:gd name="T6" fmla="*/ 36513 w 57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7"/>
              <a:gd name="T13" fmla="*/ 0 h 58"/>
              <a:gd name="T14" fmla="*/ 57 w 57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" h="58">
                <a:moveTo>
                  <a:pt x="23" y="0"/>
                </a:moveTo>
                <a:lnTo>
                  <a:pt x="56" y="57"/>
                </a:lnTo>
                <a:lnTo>
                  <a:pt x="0" y="22"/>
                </a:lnTo>
                <a:lnTo>
                  <a:pt x="23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" name="Freeform 63"/>
          <p:cNvSpPr>
            <a:spLocks/>
          </p:cNvSpPr>
          <p:nvPr/>
        </p:nvSpPr>
        <p:spPr bwMode="auto">
          <a:xfrm>
            <a:off x="6643688" y="3589338"/>
            <a:ext cx="1362075" cy="476250"/>
          </a:xfrm>
          <a:custGeom>
            <a:avLst/>
            <a:gdLst>
              <a:gd name="T0" fmla="*/ 0 w 858"/>
              <a:gd name="T1" fmla="*/ 0 h 300"/>
              <a:gd name="T2" fmla="*/ 1360488 w 858"/>
              <a:gd name="T3" fmla="*/ 474663 h 300"/>
              <a:gd name="T4" fmla="*/ 0 w 858"/>
              <a:gd name="T5" fmla="*/ 0 h 300"/>
              <a:gd name="T6" fmla="*/ 0 60000 65536"/>
              <a:gd name="T7" fmla="*/ 0 60000 65536"/>
              <a:gd name="T8" fmla="*/ 0 60000 65536"/>
              <a:gd name="T9" fmla="*/ 0 w 858"/>
              <a:gd name="T10" fmla="*/ 0 h 300"/>
              <a:gd name="T11" fmla="*/ 858 w 858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58" h="300">
                <a:moveTo>
                  <a:pt x="0" y="0"/>
                </a:moveTo>
                <a:lnTo>
                  <a:pt x="857" y="299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1" name="Freeform 64"/>
          <p:cNvSpPr>
            <a:spLocks/>
          </p:cNvSpPr>
          <p:nvPr/>
        </p:nvSpPr>
        <p:spPr bwMode="auto">
          <a:xfrm>
            <a:off x="7899400" y="4006850"/>
            <a:ext cx="106363" cy="58738"/>
          </a:xfrm>
          <a:custGeom>
            <a:avLst/>
            <a:gdLst>
              <a:gd name="T0" fmla="*/ 17463 w 67"/>
              <a:gd name="T1" fmla="*/ 0 h 37"/>
              <a:gd name="T2" fmla="*/ 104775 w 67"/>
              <a:gd name="T3" fmla="*/ 57150 h 37"/>
              <a:gd name="T4" fmla="*/ 0 w 67"/>
              <a:gd name="T5" fmla="*/ 49213 h 37"/>
              <a:gd name="T6" fmla="*/ 17463 w 67"/>
              <a:gd name="T7" fmla="*/ 0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11" y="0"/>
                </a:moveTo>
                <a:lnTo>
                  <a:pt x="66" y="36"/>
                </a:lnTo>
                <a:lnTo>
                  <a:pt x="0" y="31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" name="Freeform 65"/>
          <p:cNvSpPr>
            <a:spLocks/>
          </p:cNvSpPr>
          <p:nvPr/>
        </p:nvSpPr>
        <p:spPr bwMode="auto">
          <a:xfrm>
            <a:off x="2401888" y="2820988"/>
            <a:ext cx="1177925" cy="396875"/>
          </a:xfrm>
          <a:custGeom>
            <a:avLst/>
            <a:gdLst>
              <a:gd name="T0" fmla="*/ 1176338 w 742"/>
              <a:gd name="T1" fmla="*/ 0 h 250"/>
              <a:gd name="T2" fmla="*/ 0 w 742"/>
              <a:gd name="T3" fmla="*/ 395288 h 250"/>
              <a:gd name="T4" fmla="*/ 1176338 w 742"/>
              <a:gd name="T5" fmla="*/ 0 h 250"/>
              <a:gd name="T6" fmla="*/ 0 60000 65536"/>
              <a:gd name="T7" fmla="*/ 0 60000 65536"/>
              <a:gd name="T8" fmla="*/ 0 60000 65536"/>
              <a:gd name="T9" fmla="*/ 0 w 742"/>
              <a:gd name="T10" fmla="*/ 0 h 250"/>
              <a:gd name="T11" fmla="*/ 742 w 742"/>
              <a:gd name="T12" fmla="*/ 250 h 2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42" h="250">
                <a:moveTo>
                  <a:pt x="741" y="0"/>
                </a:moveTo>
                <a:lnTo>
                  <a:pt x="0" y="249"/>
                </a:lnTo>
                <a:lnTo>
                  <a:pt x="74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" name="Freeform 66"/>
          <p:cNvSpPr>
            <a:spLocks/>
          </p:cNvSpPr>
          <p:nvPr/>
        </p:nvSpPr>
        <p:spPr bwMode="auto">
          <a:xfrm>
            <a:off x="2401888" y="3159125"/>
            <a:ext cx="106362" cy="58738"/>
          </a:xfrm>
          <a:custGeom>
            <a:avLst/>
            <a:gdLst>
              <a:gd name="T0" fmla="*/ 104775 w 67"/>
              <a:gd name="T1" fmla="*/ 49213 h 37"/>
              <a:gd name="T2" fmla="*/ 0 w 67"/>
              <a:gd name="T3" fmla="*/ 57150 h 37"/>
              <a:gd name="T4" fmla="*/ 88900 w 67"/>
              <a:gd name="T5" fmla="*/ 0 h 37"/>
              <a:gd name="T6" fmla="*/ 104775 w 67"/>
              <a:gd name="T7" fmla="*/ 49213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66" y="31"/>
                </a:moveTo>
                <a:lnTo>
                  <a:pt x="0" y="36"/>
                </a:lnTo>
                <a:lnTo>
                  <a:pt x="56" y="0"/>
                </a:lnTo>
                <a:lnTo>
                  <a:pt x="66" y="3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" name="Freeform 67"/>
          <p:cNvSpPr>
            <a:spLocks/>
          </p:cNvSpPr>
          <p:nvPr/>
        </p:nvSpPr>
        <p:spPr bwMode="auto">
          <a:xfrm>
            <a:off x="4065588" y="2830513"/>
            <a:ext cx="1992312" cy="387350"/>
          </a:xfrm>
          <a:custGeom>
            <a:avLst/>
            <a:gdLst>
              <a:gd name="T0" fmla="*/ 0 w 1255"/>
              <a:gd name="T1" fmla="*/ 0 h 244"/>
              <a:gd name="T2" fmla="*/ 1990725 w 1255"/>
              <a:gd name="T3" fmla="*/ 385763 h 244"/>
              <a:gd name="T4" fmla="*/ 0 w 1255"/>
              <a:gd name="T5" fmla="*/ 0 h 244"/>
              <a:gd name="T6" fmla="*/ 0 60000 65536"/>
              <a:gd name="T7" fmla="*/ 0 60000 65536"/>
              <a:gd name="T8" fmla="*/ 0 60000 65536"/>
              <a:gd name="T9" fmla="*/ 0 w 1255"/>
              <a:gd name="T10" fmla="*/ 0 h 244"/>
              <a:gd name="T11" fmla="*/ 1255 w 1255"/>
              <a:gd name="T12" fmla="*/ 244 h 2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5" h="244">
                <a:moveTo>
                  <a:pt x="0" y="0"/>
                </a:moveTo>
                <a:lnTo>
                  <a:pt x="1254" y="243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" name="Freeform 68"/>
          <p:cNvSpPr>
            <a:spLocks/>
          </p:cNvSpPr>
          <p:nvPr/>
        </p:nvSpPr>
        <p:spPr bwMode="auto">
          <a:xfrm>
            <a:off x="5951538" y="3171825"/>
            <a:ext cx="106362" cy="50800"/>
          </a:xfrm>
          <a:custGeom>
            <a:avLst/>
            <a:gdLst>
              <a:gd name="T0" fmla="*/ 9525 w 67"/>
              <a:gd name="T1" fmla="*/ 0 h 32"/>
              <a:gd name="T2" fmla="*/ 104775 w 67"/>
              <a:gd name="T3" fmla="*/ 44450 h 32"/>
              <a:gd name="T4" fmla="*/ 0 w 67"/>
              <a:gd name="T5" fmla="*/ 49213 h 32"/>
              <a:gd name="T6" fmla="*/ 9525 w 67"/>
              <a:gd name="T7" fmla="*/ 0 h 32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2"/>
              <a:gd name="T14" fmla="*/ 67 w 67"/>
              <a:gd name="T15" fmla="*/ 32 h 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2">
                <a:moveTo>
                  <a:pt x="6" y="0"/>
                </a:moveTo>
                <a:lnTo>
                  <a:pt x="66" y="28"/>
                </a:lnTo>
                <a:lnTo>
                  <a:pt x="0" y="31"/>
                </a:lnTo>
                <a:lnTo>
                  <a:pt x="6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" name="Freeform 69"/>
          <p:cNvSpPr>
            <a:spLocks/>
          </p:cNvSpPr>
          <p:nvPr/>
        </p:nvSpPr>
        <p:spPr bwMode="auto">
          <a:xfrm>
            <a:off x="176371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" name="Freeform 70"/>
          <p:cNvSpPr>
            <a:spLocks/>
          </p:cNvSpPr>
          <p:nvPr/>
        </p:nvSpPr>
        <p:spPr bwMode="auto">
          <a:xfrm>
            <a:off x="2087563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" name="Freeform 71"/>
          <p:cNvSpPr>
            <a:spLocks/>
          </p:cNvSpPr>
          <p:nvPr/>
        </p:nvSpPr>
        <p:spPr bwMode="auto">
          <a:xfrm>
            <a:off x="241300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" name="Freeform 72"/>
          <p:cNvSpPr>
            <a:spLocks/>
          </p:cNvSpPr>
          <p:nvPr/>
        </p:nvSpPr>
        <p:spPr bwMode="auto">
          <a:xfrm>
            <a:off x="273685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0" name="Rectangle 73"/>
          <p:cNvSpPr>
            <a:spLocks noChangeArrowheads="1"/>
          </p:cNvSpPr>
          <p:nvPr/>
        </p:nvSpPr>
        <p:spPr bwMode="auto">
          <a:xfrm>
            <a:off x="2916238" y="2362200"/>
            <a:ext cx="5889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u="none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171" name="Rectangle 74"/>
          <p:cNvSpPr>
            <a:spLocks noChangeArrowheads="1"/>
          </p:cNvSpPr>
          <p:nvPr/>
        </p:nvSpPr>
        <p:spPr bwMode="auto">
          <a:xfrm>
            <a:off x="3678238" y="249713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17</a:t>
            </a:r>
          </a:p>
        </p:txBody>
      </p:sp>
      <p:sp>
        <p:nvSpPr>
          <p:cNvPr id="173" name="Rectangle 76"/>
          <p:cNvSpPr>
            <a:spLocks noChangeArrowheads="1"/>
          </p:cNvSpPr>
          <p:nvPr/>
        </p:nvSpPr>
        <p:spPr bwMode="auto">
          <a:xfrm>
            <a:off x="6245225" y="3263900"/>
            <a:ext cx="3683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30</a:t>
            </a:r>
          </a:p>
        </p:txBody>
      </p:sp>
      <p:sp>
        <p:nvSpPr>
          <p:cNvPr id="174" name="Rectangle 77"/>
          <p:cNvSpPr>
            <a:spLocks noChangeArrowheads="1"/>
          </p:cNvSpPr>
          <p:nvPr/>
        </p:nvSpPr>
        <p:spPr bwMode="auto">
          <a:xfrm>
            <a:off x="312261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14*</a:t>
            </a:r>
          </a:p>
        </p:txBody>
      </p:sp>
      <p:sp>
        <p:nvSpPr>
          <p:cNvPr id="175" name="Rectangle 78"/>
          <p:cNvSpPr>
            <a:spLocks noChangeArrowheads="1"/>
          </p:cNvSpPr>
          <p:nvPr/>
        </p:nvSpPr>
        <p:spPr bwMode="auto">
          <a:xfrm>
            <a:off x="344646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16*</a:t>
            </a:r>
          </a:p>
        </p:txBody>
      </p:sp>
      <p:sp>
        <p:nvSpPr>
          <p:cNvPr id="179" name="Rectangle 82"/>
          <p:cNvSpPr>
            <a:spLocks noChangeArrowheads="1"/>
          </p:cNvSpPr>
          <p:nvPr/>
        </p:nvSpPr>
        <p:spPr bwMode="auto">
          <a:xfrm>
            <a:off x="4846637" y="4094163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>
                <a:solidFill>
                  <a:srgbClr val="000000"/>
                </a:solidFill>
                <a:latin typeface="Arial" pitchFamily="34" charset="0"/>
              </a:rPr>
              <a:t>24*</a:t>
            </a:r>
          </a:p>
        </p:txBody>
      </p:sp>
      <p:sp>
        <p:nvSpPr>
          <p:cNvPr id="180" name="Rectangle 83"/>
          <p:cNvSpPr>
            <a:spLocks noChangeArrowheads="1"/>
          </p:cNvSpPr>
          <p:nvPr/>
        </p:nvSpPr>
        <p:spPr bwMode="auto">
          <a:xfrm>
            <a:off x="5943600" y="4070350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>
                <a:solidFill>
                  <a:srgbClr val="000000"/>
                </a:solidFill>
                <a:latin typeface="Arial" pitchFamily="34" charset="0"/>
              </a:rPr>
              <a:t>27*</a:t>
            </a:r>
          </a:p>
        </p:txBody>
      </p:sp>
      <p:sp>
        <p:nvSpPr>
          <p:cNvPr id="181" name="Rectangle 84"/>
          <p:cNvSpPr>
            <a:spLocks noChangeArrowheads="1"/>
          </p:cNvSpPr>
          <p:nvPr/>
        </p:nvSpPr>
        <p:spPr bwMode="auto">
          <a:xfrm>
            <a:off x="6246812" y="4081463"/>
            <a:ext cx="4318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29*</a:t>
            </a:r>
          </a:p>
        </p:txBody>
      </p:sp>
      <p:sp>
        <p:nvSpPr>
          <p:cNvPr id="182" name="Rectangle 85"/>
          <p:cNvSpPr>
            <a:spLocks noChangeArrowheads="1"/>
          </p:cNvSpPr>
          <p:nvPr/>
        </p:nvSpPr>
        <p:spPr bwMode="auto">
          <a:xfrm>
            <a:off x="7353300" y="4081463"/>
            <a:ext cx="4318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33*</a:t>
            </a:r>
          </a:p>
        </p:txBody>
      </p:sp>
      <p:sp>
        <p:nvSpPr>
          <p:cNvPr id="183" name="Rectangle 86"/>
          <p:cNvSpPr>
            <a:spLocks noChangeArrowheads="1"/>
          </p:cNvSpPr>
          <p:nvPr/>
        </p:nvSpPr>
        <p:spPr bwMode="auto">
          <a:xfrm>
            <a:off x="7678738" y="4081463"/>
            <a:ext cx="4318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34*</a:t>
            </a:r>
          </a:p>
        </p:txBody>
      </p:sp>
      <p:sp>
        <p:nvSpPr>
          <p:cNvPr id="184" name="Rectangle 87"/>
          <p:cNvSpPr>
            <a:spLocks noChangeArrowheads="1"/>
          </p:cNvSpPr>
          <p:nvPr/>
        </p:nvSpPr>
        <p:spPr bwMode="auto">
          <a:xfrm>
            <a:off x="7993063" y="4070350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38*</a:t>
            </a:r>
          </a:p>
        </p:txBody>
      </p:sp>
      <p:sp>
        <p:nvSpPr>
          <p:cNvPr id="185" name="Rectangle 88"/>
          <p:cNvSpPr>
            <a:spLocks noChangeArrowheads="1"/>
          </p:cNvSpPr>
          <p:nvPr/>
        </p:nvSpPr>
        <p:spPr bwMode="auto">
          <a:xfrm>
            <a:off x="8316913" y="406082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39*</a:t>
            </a:r>
          </a:p>
        </p:txBody>
      </p:sp>
      <p:sp>
        <p:nvSpPr>
          <p:cNvPr id="186" name="Rectangle 89"/>
          <p:cNvSpPr>
            <a:spLocks noChangeArrowheads="1"/>
          </p:cNvSpPr>
          <p:nvPr/>
        </p:nvSpPr>
        <p:spPr bwMode="auto">
          <a:xfrm>
            <a:off x="2024063" y="326548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13</a:t>
            </a:r>
          </a:p>
        </p:txBody>
      </p:sp>
      <p:sp>
        <p:nvSpPr>
          <p:cNvPr id="187" name="Rectangle 90"/>
          <p:cNvSpPr>
            <a:spLocks noChangeArrowheads="1"/>
          </p:cNvSpPr>
          <p:nvPr/>
        </p:nvSpPr>
        <p:spPr bwMode="auto">
          <a:xfrm>
            <a:off x="1557338" y="3265488"/>
            <a:ext cx="2762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188" name="Rectangle 91"/>
          <p:cNvSpPr>
            <a:spLocks noChangeArrowheads="1"/>
          </p:cNvSpPr>
          <p:nvPr/>
        </p:nvSpPr>
        <p:spPr bwMode="auto">
          <a:xfrm>
            <a:off x="2095500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7*</a:t>
            </a:r>
          </a:p>
        </p:txBody>
      </p:sp>
      <p:sp>
        <p:nvSpPr>
          <p:cNvPr id="189" name="Rectangle 92"/>
          <p:cNvSpPr>
            <a:spLocks noChangeArrowheads="1"/>
          </p:cNvSpPr>
          <p:nvPr/>
        </p:nvSpPr>
        <p:spPr bwMode="auto">
          <a:xfrm>
            <a:off x="1773238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5*</a:t>
            </a:r>
          </a:p>
        </p:txBody>
      </p:sp>
      <p:sp>
        <p:nvSpPr>
          <p:cNvPr id="190" name="Rectangle 93"/>
          <p:cNvSpPr>
            <a:spLocks noChangeArrowheads="1"/>
          </p:cNvSpPr>
          <p:nvPr/>
        </p:nvSpPr>
        <p:spPr bwMode="auto">
          <a:xfrm>
            <a:off x="2411413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8*</a:t>
            </a:r>
          </a:p>
        </p:txBody>
      </p:sp>
      <p:sp>
        <p:nvSpPr>
          <p:cNvPr id="191" name="Arc 94"/>
          <p:cNvSpPr>
            <a:spLocks/>
          </p:cNvSpPr>
          <p:nvPr/>
        </p:nvSpPr>
        <p:spPr bwMode="auto">
          <a:xfrm rot="13440000">
            <a:off x="70977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2" name="Arc 95"/>
          <p:cNvSpPr>
            <a:spLocks/>
          </p:cNvSpPr>
          <p:nvPr/>
        </p:nvSpPr>
        <p:spPr bwMode="auto">
          <a:xfrm rot="13440000">
            <a:off x="15351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3" name="Arc 96"/>
          <p:cNvSpPr>
            <a:spLocks/>
          </p:cNvSpPr>
          <p:nvPr/>
        </p:nvSpPr>
        <p:spPr bwMode="auto">
          <a:xfrm rot="13440000">
            <a:off x="29067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" name="Arc 97"/>
          <p:cNvSpPr>
            <a:spLocks/>
          </p:cNvSpPr>
          <p:nvPr/>
        </p:nvSpPr>
        <p:spPr bwMode="auto">
          <a:xfrm rot="13440000">
            <a:off x="43545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5" name="Arc 98"/>
          <p:cNvSpPr>
            <a:spLocks/>
          </p:cNvSpPr>
          <p:nvPr/>
        </p:nvSpPr>
        <p:spPr bwMode="auto">
          <a:xfrm rot="13440000">
            <a:off x="57261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9" name="Rectangle 81"/>
          <p:cNvSpPr>
            <a:spLocks noChangeArrowheads="1"/>
          </p:cNvSpPr>
          <p:nvPr/>
        </p:nvSpPr>
        <p:spPr bwMode="auto">
          <a:xfrm>
            <a:off x="4526853" y="4094903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>
                <a:solidFill>
                  <a:srgbClr val="000000"/>
                </a:solidFill>
                <a:latin typeface="Arial" pitchFamily="34" charset="0"/>
              </a:rPr>
              <a:t>22*</a:t>
            </a:r>
          </a:p>
        </p:txBody>
      </p:sp>
      <p:sp>
        <p:nvSpPr>
          <p:cNvPr id="98" name="Rectangle 83"/>
          <p:cNvSpPr>
            <a:spLocks noChangeArrowheads="1"/>
          </p:cNvSpPr>
          <p:nvPr/>
        </p:nvSpPr>
        <p:spPr bwMode="auto">
          <a:xfrm>
            <a:off x="5715000" y="3276600"/>
            <a:ext cx="371897" cy="293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 smtClean="0">
                <a:solidFill>
                  <a:srgbClr val="000000"/>
                </a:solidFill>
                <a:latin typeface="Arial" pitchFamily="34" charset="0"/>
              </a:rPr>
              <a:t>27</a:t>
            </a:r>
            <a:endParaRPr lang="en-US" sz="1300" u="none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99" name="Text Box 63"/>
          <p:cNvSpPr txBox="1">
            <a:spLocks noChangeArrowheads="1"/>
          </p:cNvSpPr>
          <p:nvPr/>
        </p:nvSpPr>
        <p:spPr bwMode="auto">
          <a:xfrm>
            <a:off x="3376613" y="4876800"/>
            <a:ext cx="2171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u="none" dirty="0">
                <a:solidFill>
                  <a:srgbClr val="00B050"/>
                </a:solidFill>
              </a:rPr>
              <a:t>FINAL </a:t>
            </a:r>
            <a:r>
              <a:rPr lang="en-US" u="none" dirty="0" smtClean="0">
                <a:solidFill>
                  <a:srgbClr val="00B050"/>
                </a:solidFill>
              </a:rPr>
              <a:t>TREE!</a:t>
            </a:r>
            <a:endParaRPr lang="en-US" u="none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2477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B+ Tree: Examples </a:t>
            </a:r>
            <a:r>
              <a:rPr lang="en-US" dirty="0" smtClean="0">
                <a:ea typeface="ＭＳ Ｐゴシック" pitchFamily="34" charset="-128"/>
              </a:rPr>
              <a:t>of Deletions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Delete </a:t>
            </a:r>
            <a:r>
              <a:rPr lang="en-US" dirty="0" smtClean="0">
                <a:solidFill>
                  <a:srgbClr val="FF0000"/>
                </a:solidFill>
              </a:rPr>
              <a:t>24*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101" name="Freeform 4"/>
          <p:cNvSpPr>
            <a:spLocks/>
          </p:cNvSpPr>
          <p:nvPr/>
        </p:nvSpPr>
        <p:spPr bwMode="auto">
          <a:xfrm>
            <a:off x="381000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" name="Freeform 5"/>
          <p:cNvSpPr>
            <a:spLocks/>
          </p:cNvSpPr>
          <p:nvPr/>
        </p:nvSpPr>
        <p:spPr bwMode="auto">
          <a:xfrm>
            <a:off x="706438" y="4086225"/>
            <a:ext cx="325437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Freeform 6"/>
          <p:cNvSpPr>
            <a:spLocks/>
          </p:cNvSpPr>
          <p:nvPr/>
        </p:nvSpPr>
        <p:spPr bwMode="auto">
          <a:xfrm>
            <a:off x="1030288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" name="Freeform 7"/>
          <p:cNvSpPr>
            <a:spLocks/>
          </p:cNvSpPr>
          <p:nvPr/>
        </p:nvSpPr>
        <p:spPr bwMode="auto">
          <a:xfrm>
            <a:off x="1355725" y="4086225"/>
            <a:ext cx="325438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" name="Rectangle 8"/>
          <p:cNvSpPr>
            <a:spLocks noChangeArrowheads="1"/>
          </p:cNvSpPr>
          <p:nvPr/>
        </p:nvSpPr>
        <p:spPr bwMode="auto">
          <a:xfrm>
            <a:off x="390525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2*</a:t>
            </a:r>
          </a:p>
        </p:txBody>
      </p:sp>
      <p:sp>
        <p:nvSpPr>
          <p:cNvPr id="106" name="Rectangle 9"/>
          <p:cNvSpPr>
            <a:spLocks noChangeArrowheads="1"/>
          </p:cNvSpPr>
          <p:nvPr/>
        </p:nvSpPr>
        <p:spPr bwMode="auto">
          <a:xfrm>
            <a:off x="715963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3*</a:t>
            </a:r>
          </a:p>
        </p:txBody>
      </p:sp>
      <p:sp>
        <p:nvSpPr>
          <p:cNvPr id="107" name="Freeform 10"/>
          <p:cNvSpPr>
            <a:spLocks/>
          </p:cNvSpPr>
          <p:nvPr/>
        </p:nvSpPr>
        <p:spPr bwMode="auto">
          <a:xfrm>
            <a:off x="3549650" y="246856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Freeform 11"/>
          <p:cNvSpPr>
            <a:spLocks/>
          </p:cNvSpPr>
          <p:nvPr/>
        </p:nvSpPr>
        <p:spPr bwMode="auto">
          <a:xfrm>
            <a:off x="3629025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Freeform 12"/>
          <p:cNvSpPr>
            <a:spLocks/>
          </p:cNvSpPr>
          <p:nvPr/>
        </p:nvSpPr>
        <p:spPr bwMode="auto">
          <a:xfrm>
            <a:off x="4035425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Freeform 13"/>
          <p:cNvSpPr>
            <a:spLocks/>
          </p:cNvSpPr>
          <p:nvPr/>
        </p:nvSpPr>
        <p:spPr bwMode="auto">
          <a:xfrm>
            <a:off x="4116388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Freeform 14"/>
          <p:cNvSpPr>
            <a:spLocks/>
          </p:cNvSpPr>
          <p:nvPr/>
        </p:nvSpPr>
        <p:spPr bwMode="auto">
          <a:xfrm>
            <a:off x="4522788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Freeform 15"/>
          <p:cNvSpPr>
            <a:spLocks/>
          </p:cNvSpPr>
          <p:nvPr/>
        </p:nvSpPr>
        <p:spPr bwMode="auto">
          <a:xfrm>
            <a:off x="4603750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Freeform 16"/>
          <p:cNvSpPr>
            <a:spLocks/>
          </p:cNvSpPr>
          <p:nvPr/>
        </p:nvSpPr>
        <p:spPr bwMode="auto">
          <a:xfrm>
            <a:off x="5010150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Freeform 17"/>
          <p:cNvSpPr>
            <a:spLocks/>
          </p:cNvSpPr>
          <p:nvPr/>
        </p:nvSpPr>
        <p:spPr bwMode="auto">
          <a:xfrm>
            <a:off x="5091113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Freeform 18"/>
          <p:cNvSpPr>
            <a:spLocks/>
          </p:cNvSpPr>
          <p:nvPr/>
        </p:nvSpPr>
        <p:spPr bwMode="auto">
          <a:xfrm>
            <a:off x="5497513" y="246856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Freeform 19"/>
          <p:cNvSpPr>
            <a:spLocks/>
          </p:cNvSpPr>
          <p:nvPr/>
        </p:nvSpPr>
        <p:spPr bwMode="auto">
          <a:xfrm>
            <a:off x="3162300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Freeform 20"/>
          <p:cNvSpPr>
            <a:spLocks/>
          </p:cNvSpPr>
          <p:nvPr/>
        </p:nvSpPr>
        <p:spPr bwMode="auto">
          <a:xfrm>
            <a:off x="348773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Freeform 21"/>
          <p:cNvSpPr>
            <a:spLocks/>
          </p:cNvSpPr>
          <p:nvPr/>
        </p:nvSpPr>
        <p:spPr bwMode="auto">
          <a:xfrm>
            <a:off x="3813175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Freeform 22"/>
          <p:cNvSpPr>
            <a:spLocks/>
          </p:cNvSpPr>
          <p:nvPr/>
        </p:nvSpPr>
        <p:spPr bwMode="auto">
          <a:xfrm>
            <a:off x="41370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Freeform 23"/>
          <p:cNvSpPr>
            <a:spLocks/>
          </p:cNvSpPr>
          <p:nvPr/>
        </p:nvSpPr>
        <p:spPr bwMode="auto">
          <a:xfrm>
            <a:off x="457358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" name="Freeform 24"/>
          <p:cNvSpPr>
            <a:spLocks/>
          </p:cNvSpPr>
          <p:nvPr/>
        </p:nvSpPr>
        <p:spPr bwMode="auto">
          <a:xfrm>
            <a:off x="48990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Freeform 25"/>
          <p:cNvSpPr>
            <a:spLocks/>
          </p:cNvSpPr>
          <p:nvPr/>
        </p:nvSpPr>
        <p:spPr bwMode="auto">
          <a:xfrm>
            <a:off x="5224463" y="4094163"/>
            <a:ext cx="323850" cy="325437"/>
          </a:xfrm>
          <a:custGeom>
            <a:avLst/>
            <a:gdLst>
              <a:gd name="T0" fmla="*/ 0 w 204"/>
              <a:gd name="T1" fmla="*/ 323850 h 205"/>
              <a:gd name="T2" fmla="*/ 0 w 204"/>
              <a:gd name="T3" fmla="*/ 0 h 205"/>
              <a:gd name="T4" fmla="*/ 322263 w 204"/>
              <a:gd name="T5" fmla="*/ 0 h 205"/>
              <a:gd name="T6" fmla="*/ 322263 w 204"/>
              <a:gd name="T7" fmla="*/ 323850 h 205"/>
              <a:gd name="T8" fmla="*/ 0 w 204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4"/>
              <a:gd name="T16" fmla="*/ 0 h 205"/>
              <a:gd name="T17" fmla="*/ 204 w 204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4" h="205">
                <a:moveTo>
                  <a:pt x="0" y="204"/>
                </a:moveTo>
                <a:lnTo>
                  <a:pt x="0" y="0"/>
                </a:lnTo>
                <a:lnTo>
                  <a:pt x="203" y="0"/>
                </a:lnTo>
                <a:lnTo>
                  <a:pt x="203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" name="Freeform 26"/>
          <p:cNvSpPr>
            <a:spLocks/>
          </p:cNvSpPr>
          <p:nvPr/>
        </p:nvSpPr>
        <p:spPr bwMode="auto">
          <a:xfrm>
            <a:off x="55467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" name="Freeform 27"/>
          <p:cNvSpPr>
            <a:spLocks/>
          </p:cNvSpPr>
          <p:nvPr/>
        </p:nvSpPr>
        <p:spPr bwMode="auto">
          <a:xfrm>
            <a:off x="598487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" name="Freeform 28"/>
          <p:cNvSpPr>
            <a:spLocks/>
          </p:cNvSpPr>
          <p:nvPr/>
        </p:nvSpPr>
        <p:spPr bwMode="auto">
          <a:xfrm>
            <a:off x="631031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" name="Freeform 29"/>
          <p:cNvSpPr>
            <a:spLocks/>
          </p:cNvSpPr>
          <p:nvPr/>
        </p:nvSpPr>
        <p:spPr bwMode="auto">
          <a:xfrm>
            <a:off x="663416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7" name="Freeform 30"/>
          <p:cNvSpPr>
            <a:spLocks/>
          </p:cNvSpPr>
          <p:nvPr/>
        </p:nvSpPr>
        <p:spPr bwMode="auto">
          <a:xfrm>
            <a:off x="6958013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" name="Freeform 31"/>
          <p:cNvSpPr>
            <a:spLocks/>
          </p:cNvSpPr>
          <p:nvPr/>
        </p:nvSpPr>
        <p:spPr bwMode="auto">
          <a:xfrm>
            <a:off x="7385050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" name="Freeform 32"/>
          <p:cNvSpPr>
            <a:spLocks/>
          </p:cNvSpPr>
          <p:nvPr/>
        </p:nvSpPr>
        <p:spPr bwMode="auto">
          <a:xfrm>
            <a:off x="7710488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Freeform 33"/>
          <p:cNvSpPr>
            <a:spLocks/>
          </p:cNvSpPr>
          <p:nvPr/>
        </p:nvSpPr>
        <p:spPr bwMode="auto">
          <a:xfrm>
            <a:off x="8034338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" name="Freeform 34"/>
          <p:cNvSpPr>
            <a:spLocks/>
          </p:cNvSpPr>
          <p:nvPr/>
        </p:nvSpPr>
        <p:spPr bwMode="auto">
          <a:xfrm>
            <a:off x="835818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Freeform 35"/>
          <p:cNvSpPr>
            <a:spLocks/>
          </p:cNvSpPr>
          <p:nvPr/>
        </p:nvSpPr>
        <p:spPr bwMode="auto">
          <a:xfrm>
            <a:off x="1428750" y="323691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" name="Freeform 36"/>
          <p:cNvSpPr>
            <a:spLocks/>
          </p:cNvSpPr>
          <p:nvPr/>
        </p:nvSpPr>
        <p:spPr bwMode="auto">
          <a:xfrm>
            <a:off x="15097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" name="Freeform 37"/>
          <p:cNvSpPr>
            <a:spLocks/>
          </p:cNvSpPr>
          <p:nvPr/>
        </p:nvSpPr>
        <p:spPr bwMode="auto">
          <a:xfrm>
            <a:off x="1914525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" name="Freeform 38"/>
          <p:cNvSpPr>
            <a:spLocks/>
          </p:cNvSpPr>
          <p:nvPr/>
        </p:nvSpPr>
        <p:spPr bwMode="auto">
          <a:xfrm>
            <a:off x="199548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" name="Freeform 39"/>
          <p:cNvSpPr>
            <a:spLocks/>
          </p:cNvSpPr>
          <p:nvPr/>
        </p:nvSpPr>
        <p:spPr bwMode="auto">
          <a:xfrm>
            <a:off x="2401888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" name="Freeform 40"/>
          <p:cNvSpPr>
            <a:spLocks/>
          </p:cNvSpPr>
          <p:nvPr/>
        </p:nvSpPr>
        <p:spPr bwMode="auto">
          <a:xfrm>
            <a:off x="2482850" y="32369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" name="Freeform 41"/>
          <p:cNvSpPr>
            <a:spLocks/>
          </p:cNvSpPr>
          <p:nvPr/>
        </p:nvSpPr>
        <p:spPr bwMode="auto">
          <a:xfrm>
            <a:off x="288925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" name="Freeform 42"/>
          <p:cNvSpPr>
            <a:spLocks/>
          </p:cNvSpPr>
          <p:nvPr/>
        </p:nvSpPr>
        <p:spPr bwMode="auto">
          <a:xfrm>
            <a:off x="29702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" name="Freeform 43"/>
          <p:cNvSpPr>
            <a:spLocks/>
          </p:cNvSpPr>
          <p:nvPr/>
        </p:nvSpPr>
        <p:spPr bwMode="auto">
          <a:xfrm>
            <a:off x="3376613" y="323691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1" name="Freeform 44"/>
          <p:cNvSpPr>
            <a:spLocks/>
          </p:cNvSpPr>
          <p:nvPr/>
        </p:nvSpPr>
        <p:spPr bwMode="auto">
          <a:xfrm>
            <a:off x="563880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2" name="Freeform 45"/>
          <p:cNvSpPr>
            <a:spLocks/>
          </p:cNvSpPr>
          <p:nvPr/>
        </p:nvSpPr>
        <p:spPr bwMode="auto">
          <a:xfrm>
            <a:off x="571976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" name="Freeform 46"/>
          <p:cNvSpPr>
            <a:spLocks/>
          </p:cNvSpPr>
          <p:nvPr/>
        </p:nvSpPr>
        <p:spPr bwMode="auto">
          <a:xfrm>
            <a:off x="6126163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" name="Freeform 47"/>
          <p:cNvSpPr>
            <a:spLocks/>
          </p:cNvSpPr>
          <p:nvPr/>
        </p:nvSpPr>
        <p:spPr bwMode="auto">
          <a:xfrm>
            <a:off x="6207125" y="32369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5" name="Freeform 48"/>
          <p:cNvSpPr>
            <a:spLocks/>
          </p:cNvSpPr>
          <p:nvPr/>
        </p:nvSpPr>
        <p:spPr bwMode="auto">
          <a:xfrm>
            <a:off x="6613525" y="323691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6" name="Freeform 49"/>
          <p:cNvSpPr>
            <a:spLocks/>
          </p:cNvSpPr>
          <p:nvPr/>
        </p:nvSpPr>
        <p:spPr bwMode="auto">
          <a:xfrm>
            <a:off x="669448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7" name="Freeform 50"/>
          <p:cNvSpPr>
            <a:spLocks/>
          </p:cNvSpPr>
          <p:nvPr/>
        </p:nvSpPr>
        <p:spPr bwMode="auto">
          <a:xfrm>
            <a:off x="709930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8" name="Freeform 51"/>
          <p:cNvSpPr>
            <a:spLocks/>
          </p:cNvSpPr>
          <p:nvPr/>
        </p:nvSpPr>
        <p:spPr bwMode="auto">
          <a:xfrm>
            <a:off x="718343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9" name="Freeform 52"/>
          <p:cNvSpPr>
            <a:spLocks/>
          </p:cNvSpPr>
          <p:nvPr/>
        </p:nvSpPr>
        <p:spPr bwMode="auto">
          <a:xfrm>
            <a:off x="7586663" y="3236913"/>
            <a:ext cx="84137" cy="404812"/>
          </a:xfrm>
          <a:custGeom>
            <a:avLst/>
            <a:gdLst>
              <a:gd name="T0" fmla="*/ 0 w 53"/>
              <a:gd name="T1" fmla="*/ 403225 h 255"/>
              <a:gd name="T2" fmla="*/ 0 w 53"/>
              <a:gd name="T3" fmla="*/ 0 h 255"/>
              <a:gd name="T4" fmla="*/ 82550 w 53"/>
              <a:gd name="T5" fmla="*/ 0 h 255"/>
              <a:gd name="T6" fmla="*/ 82550 w 53"/>
              <a:gd name="T7" fmla="*/ 403225 h 255"/>
              <a:gd name="T8" fmla="*/ 0 w 53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"/>
              <a:gd name="T16" fmla="*/ 0 h 255"/>
              <a:gd name="T17" fmla="*/ 53 w 53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" h="255">
                <a:moveTo>
                  <a:pt x="0" y="254"/>
                </a:moveTo>
                <a:lnTo>
                  <a:pt x="0" y="0"/>
                </a:lnTo>
                <a:lnTo>
                  <a:pt x="52" y="0"/>
                </a:lnTo>
                <a:lnTo>
                  <a:pt x="52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" name="Freeform 53"/>
          <p:cNvSpPr>
            <a:spLocks/>
          </p:cNvSpPr>
          <p:nvPr/>
        </p:nvSpPr>
        <p:spPr bwMode="auto">
          <a:xfrm>
            <a:off x="1012825" y="3559175"/>
            <a:ext cx="446088" cy="496888"/>
          </a:xfrm>
          <a:custGeom>
            <a:avLst/>
            <a:gdLst>
              <a:gd name="T0" fmla="*/ 444500 w 281"/>
              <a:gd name="T1" fmla="*/ 0 h 313"/>
              <a:gd name="T2" fmla="*/ 0 w 281"/>
              <a:gd name="T3" fmla="*/ 495300 h 313"/>
              <a:gd name="T4" fmla="*/ 444500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" name="Freeform 54"/>
          <p:cNvSpPr>
            <a:spLocks/>
          </p:cNvSpPr>
          <p:nvPr/>
        </p:nvSpPr>
        <p:spPr bwMode="auto">
          <a:xfrm>
            <a:off x="1012825" y="3962400"/>
            <a:ext cx="87313" cy="93663"/>
          </a:xfrm>
          <a:custGeom>
            <a:avLst/>
            <a:gdLst>
              <a:gd name="T0" fmla="*/ 85725 w 55"/>
              <a:gd name="T1" fmla="*/ 33338 h 59"/>
              <a:gd name="T2" fmla="*/ 0 w 55"/>
              <a:gd name="T3" fmla="*/ 92075 h 59"/>
              <a:gd name="T4" fmla="*/ 47625 w 55"/>
              <a:gd name="T5" fmla="*/ 0 h 59"/>
              <a:gd name="T6" fmla="*/ 85725 w 55"/>
              <a:gd name="T7" fmla="*/ 33338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2" name="Freeform 55"/>
          <p:cNvSpPr>
            <a:spLocks/>
          </p:cNvSpPr>
          <p:nvPr/>
        </p:nvSpPr>
        <p:spPr bwMode="auto">
          <a:xfrm>
            <a:off x="1944688" y="3559175"/>
            <a:ext cx="449262" cy="506413"/>
          </a:xfrm>
          <a:custGeom>
            <a:avLst/>
            <a:gdLst>
              <a:gd name="T0" fmla="*/ 0 w 283"/>
              <a:gd name="T1" fmla="*/ 0 h 319"/>
              <a:gd name="T2" fmla="*/ 447675 w 283"/>
              <a:gd name="T3" fmla="*/ 504825 h 319"/>
              <a:gd name="T4" fmla="*/ 0 w 283"/>
              <a:gd name="T5" fmla="*/ 0 h 319"/>
              <a:gd name="T6" fmla="*/ 0 60000 65536"/>
              <a:gd name="T7" fmla="*/ 0 60000 65536"/>
              <a:gd name="T8" fmla="*/ 0 60000 65536"/>
              <a:gd name="T9" fmla="*/ 0 w 283"/>
              <a:gd name="T10" fmla="*/ 0 h 319"/>
              <a:gd name="T11" fmla="*/ 283 w 283"/>
              <a:gd name="T12" fmla="*/ 319 h 31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3" h="319">
                <a:moveTo>
                  <a:pt x="0" y="0"/>
                </a:moveTo>
                <a:lnTo>
                  <a:pt x="282" y="318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" name="Freeform 56"/>
          <p:cNvSpPr>
            <a:spLocks/>
          </p:cNvSpPr>
          <p:nvPr/>
        </p:nvSpPr>
        <p:spPr bwMode="auto">
          <a:xfrm>
            <a:off x="2305050" y="3973513"/>
            <a:ext cx="88900" cy="92075"/>
          </a:xfrm>
          <a:custGeom>
            <a:avLst/>
            <a:gdLst>
              <a:gd name="T0" fmla="*/ 38100 w 56"/>
              <a:gd name="T1" fmla="*/ 0 h 58"/>
              <a:gd name="T2" fmla="*/ 87313 w 56"/>
              <a:gd name="T3" fmla="*/ 90488 h 58"/>
              <a:gd name="T4" fmla="*/ 0 w 56"/>
              <a:gd name="T5" fmla="*/ 33338 h 58"/>
              <a:gd name="T6" fmla="*/ 38100 w 56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6"/>
              <a:gd name="T13" fmla="*/ 0 h 58"/>
              <a:gd name="T14" fmla="*/ 56 w 56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" h="58">
                <a:moveTo>
                  <a:pt x="24" y="0"/>
                </a:moveTo>
                <a:lnTo>
                  <a:pt x="55" y="57"/>
                </a:lnTo>
                <a:lnTo>
                  <a:pt x="0" y="21"/>
                </a:lnTo>
                <a:lnTo>
                  <a:pt x="24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" name="Freeform 57"/>
          <p:cNvSpPr>
            <a:spLocks/>
          </p:cNvSpPr>
          <p:nvPr/>
        </p:nvSpPr>
        <p:spPr bwMode="auto">
          <a:xfrm>
            <a:off x="2443163" y="3559175"/>
            <a:ext cx="1330325" cy="517525"/>
          </a:xfrm>
          <a:custGeom>
            <a:avLst/>
            <a:gdLst>
              <a:gd name="T0" fmla="*/ 0 w 838"/>
              <a:gd name="T1" fmla="*/ 0 h 326"/>
              <a:gd name="T2" fmla="*/ 1328738 w 838"/>
              <a:gd name="T3" fmla="*/ 515938 h 326"/>
              <a:gd name="T4" fmla="*/ 0 w 838"/>
              <a:gd name="T5" fmla="*/ 0 h 326"/>
              <a:gd name="T6" fmla="*/ 0 60000 65536"/>
              <a:gd name="T7" fmla="*/ 0 60000 65536"/>
              <a:gd name="T8" fmla="*/ 0 60000 65536"/>
              <a:gd name="T9" fmla="*/ 0 w 838"/>
              <a:gd name="T10" fmla="*/ 0 h 326"/>
              <a:gd name="T11" fmla="*/ 838 w 838"/>
              <a:gd name="T12" fmla="*/ 326 h 3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38" h="326">
                <a:moveTo>
                  <a:pt x="0" y="0"/>
                </a:moveTo>
                <a:lnTo>
                  <a:pt x="837" y="32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" name="Freeform 58"/>
          <p:cNvSpPr>
            <a:spLocks/>
          </p:cNvSpPr>
          <p:nvPr/>
        </p:nvSpPr>
        <p:spPr bwMode="auto">
          <a:xfrm>
            <a:off x="3668713" y="4014788"/>
            <a:ext cx="104775" cy="61912"/>
          </a:xfrm>
          <a:custGeom>
            <a:avLst/>
            <a:gdLst>
              <a:gd name="T0" fmla="*/ 17463 w 66"/>
              <a:gd name="T1" fmla="*/ 0 h 39"/>
              <a:gd name="T2" fmla="*/ 103188 w 66"/>
              <a:gd name="T3" fmla="*/ 60325 h 39"/>
              <a:gd name="T4" fmla="*/ 0 w 66"/>
              <a:gd name="T5" fmla="*/ 47625 h 39"/>
              <a:gd name="T6" fmla="*/ 17463 w 66"/>
              <a:gd name="T7" fmla="*/ 0 h 39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39"/>
              <a:gd name="T14" fmla="*/ 66 w 66"/>
              <a:gd name="T15" fmla="*/ 39 h 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39">
                <a:moveTo>
                  <a:pt x="11" y="0"/>
                </a:moveTo>
                <a:lnTo>
                  <a:pt x="65" y="38"/>
                </a:lnTo>
                <a:lnTo>
                  <a:pt x="0" y="30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" name="Freeform 59"/>
          <p:cNvSpPr>
            <a:spLocks/>
          </p:cNvSpPr>
          <p:nvPr/>
        </p:nvSpPr>
        <p:spPr bwMode="auto">
          <a:xfrm>
            <a:off x="5224463" y="3579813"/>
            <a:ext cx="446087" cy="496887"/>
          </a:xfrm>
          <a:custGeom>
            <a:avLst/>
            <a:gdLst>
              <a:gd name="T0" fmla="*/ 444500 w 281"/>
              <a:gd name="T1" fmla="*/ 0 h 313"/>
              <a:gd name="T2" fmla="*/ 0 w 281"/>
              <a:gd name="T3" fmla="*/ 495300 h 313"/>
              <a:gd name="T4" fmla="*/ 444500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" name="Freeform 60"/>
          <p:cNvSpPr>
            <a:spLocks/>
          </p:cNvSpPr>
          <p:nvPr/>
        </p:nvSpPr>
        <p:spPr bwMode="auto">
          <a:xfrm>
            <a:off x="5224463" y="3983038"/>
            <a:ext cx="87312" cy="93662"/>
          </a:xfrm>
          <a:custGeom>
            <a:avLst/>
            <a:gdLst>
              <a:gd name="T0" fmla="*/ 85725 w 55"/>
              <a:gd name="T1" fmla="*/ 33337 h 59"/>
              <a:gd name="T2" fmla="*/ 0 w 55"/>
              <a:gd name="T3" fmla="*/ 92075 h 59"/>
              <a:gd name="T4" fmla="*/ 47625 w 55"/>
              <a:gd name="T5" fmla="*/ 0 h 59"/>
              <a:gd name="T6" fmla="*/ 85725 w 55"/>
              <a:gd name="T7" fmla="*/ 33337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" name="Freeform 61"/>
          <p:cNvSpPr>
            <a:spLocks/>
          </p:cNvSpPr>
          <p:nvPr/>
        </p:nvSpPr>
        <p:spPr bwMode="auto">
          <a:xfrm>
            <a:off x="6156325" y="3579813"/>
            <a:ext cx="458788" cy="476250"/>
          </a:xfrm>
          <a:custGeom>
            <a:avLst/>
            <a:gdLst>
              <a:gd name="T0" fmla="*/ 0 w 289"/>
              <a:gd name="T1" fmla="*/ 0 h 300"/>
              <a:gd name="T2" fmla="*/ 457200 w 289"/>
              <a:gd name="T3" fmla="*/ 474663 h 300"/>
              <a:gd name="T4" fmla="*/ 0 w 289"/>
              <a:gd name="T5" fmla="*/ 0 h 300"/>
              <a:gd name="T6" fmla="*/ 0 60000 65536"/>
              <a:gd name="T7" fmla="*/ 0 60000 65536"/>
              <a:gd name="T8" fmla="*/ 0 60000 65536"/>
              <a:gd name="T9" fmla="*/ 0 w 289"/>
              <a:gd name="T10" fmla="*/ 0 h 300"/>
              <a:gd name="T11" fmla="*/ 289 w 289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9" h="300">
                <a:moveTo>
                  <a:pt x="0" y="0"/>
                </a:moveTo>
                <a:lnTo>
                  <a:pt x="288" y="299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" name="Freeform 62"/>
          <p:cNvSpPr>
            <a:spLocks/>
          </p:cNvSpPr>
          <p:nvPr/>
        </p:nvSpPr>
        <p:spPr bwMode="auto">
          <a:xfrm>
            <a:off x="6524625" y="3963988"/>
            <a:ext cx="90488" cy="92075"/>
          </a:xfrm>
          <a:custGeom>
            <a:avLst/>
            <a:gdLst>
              <a:gd name="T0" fmla="*/ 36513 w 57"/>
              <a:gd name="T1" fmla="*/ 0 h 58"/>
              <a:gd name="T2" fmla="*/ 88900 w 57"/>
              <a:gd name="T3" fmla="*/ 90488 h 58"/>
              <a:gd name="T4" fmla="*/ 0 w 57"/>
              <a:gd name="T5" fmla="*/ 34925 h 58"/>
              <a:gd name="T6" fmla="*/ 36513 w 57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7"/>
              <a:gd name="T13" fmla="*/ 0 h 58"/>
              <a:gd name="T14" fmla="*/ 57 w 57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" h="58">
                <a:moveTo>
                  <a:pt x="23" y="0"/>
                </a:moveTo>
                <a:lnTo>
                  <a:pt x="56" y="57"/>
                </a:lnTo>
                <a:lnTo>
                  <a:pt x="0" y="22"/>
                </a:lnTo>
                <a:lnTo>
                  <a:pt x="23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" name="Freeform 63"/>
          <p:cNvSpPr>
            <a:spLocks/>
          </p:cNvSpPr>
          <p:nvPr/>
        </p:nvSpPr>
        <p:spPr bwMode="auto">
          <a:xfrm>
            <a:off x="6643688" y="3589338"/>
            <a:ext cx="1362075" cy="476250"/>
          </a:xfrm>
          <a:custGeom>
            <a:avLst/>
            <a:gdLst>
              <a:gd name="T0" fmla="*/ 0 w 858"/>
              <a:gd name="T1" fmla="*/ 0 h 300"/>
              <a:gd name="T2" fmla="*/ 1360488 w 858"/>
              <a:gd name="T3" fmla="*/ 474663 h 300"/>
              <a:gd name="T4" fmla="*/ 0 w 858"/>
              <a:gd name="T5" fmla="*/ 0 h 300"/>
              <a:gd name="T6" fmla="*/ 0 60000 65536"/>
              <a:gd name="T7" fmla="*/ 0 60000 65536"/>
              <a:gd name="T8" fmla="*/ 0 60000 65536"/>
              <a:gd name="T9" fmla="*/ 0 w 858"/>
              <a:gd name="T10" fmla="*/ 0 h 300"/>
              <a:gd name="T11" fmla="*/ 858 w 858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58" h="300">
                <a:moveTo>
                  <a:pt x="0" y="0"/>
                </a:moveTo>
                <a:lnTo>
                  <a:pt x="857" y="299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1" name="Freeform 64"/>
          <p:cNvSpPr>
            <a:spLocks/>
          </p:cNvSpPr>
          <p:nvPr/>
        </p:nvSpPr>
        <p:spPr bwMode="auto">
          <a:xfrm>
            <a:off x="7899400" y="4006850"/>
            <a:ext cx="106363" cy="58738"/>
          </a:xfrm>
          <a:custGeom>
            <a:avLst/>
            <a:gdLst>
              <a:gd name="T0" fmla="*/ 17463 w 67"/>
              <a:gd name="T1" fmla="*/ 0 h 37"/>
              <a:gd name="T2" fmla="*/ 104775 w 67"/>
              <a:gd name="T3" fmla="*/ 57150 h 37"/>
              <a:gd name="T4" fmla="*/ 0 w 67"/>
              <a:gd name="T5" fmla="*/ 49213 h 37"/>
              <a:gd name="T6" fmla="*/ 17463 w 67"/>
              <a:gd name="T7" fmla="*/ 0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11" y="0"/>
                </a:moveTo>
                <a:lnTo>
                  <a:pt x="66" y="36"/>
                </a:lnTo>
                <a:lnTo>
                  <a:pt x="0" y="31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" name="Freeform 65"/>
          <p:cNvSpPr>
            <a:spLocks/>
          </p:cNvSpPr>
          <p:nvPr/>
        </p:nvSpPr>
        <p:spPr bwMode="auto">
          <a:xfrm>
            <a:off x="2401888" y="2820988"/>
            <a:ext cx="1177925" cy="396875"/>
          </a:xfrm>
          <a:custGeom>
            <a:avLst/>
            <a:gdLst>
              <a:gd name="T0" fmla="*/ 1176338 w 742"/>
              <a:gd name="T1" fmla="*/ 0 h 250"/>
              <a:gd name="T2" fmla="*/ 0 w 742"/>
              <a:gd name="T3" fmla="*/ 395288 h 250"/>
              <a:gd name="T4" fmla="*/ 1176338 w 742"/>
              <a:gd name="T5" fmla="*/ 0 h 250"/>
              <a:gd name="T6" fmla="*/ 0 60000 65536"/>
              <a:gd name="T7" fmla="*/ 0 60000 65536"/>
              <a:gd name="T8" fmla="*/ 0 60000 65536"/>
              <a:gd name="T9" fmla="*/ 0 w 742"/>
              <a:gd name="T10" fmla="*/ 0 h 250"/>
              <a:gd name="T11" fmla="*/ 742 w 742"/>
              <a:gd name="T12" fmla="*/ 250 h 2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42" h="250">
                <a:moveTo>
                  <a:pt x="741" y="0"/>
                </a:moveTo>
                <a:lnTo>
                  <a:pt x="0" y="249"/>
                </a:lnTo>
                <a:lnTo>
                  <a:pt x="74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" name="Freeform 66"/>
          <p:cNvSpPr>
            <a:spLocks/>
          </p:cNvSpPr>
          <p:nvPr/>
        </p:nvSpPr>
        <p:spPr bwMode="auto">
          <a:xfrm>
            <a:off x="2401888" y="3159125"/>
            <a:ext cx="106362" cy="58738"/>
          </a:xfrm>
          <a:custGeom>
            <a:avLst/>
            <a:gdLst>
              <a:gd name="T0" fmla="*/ 104775 w 67"/>
              <a:gd name="T1" fmla="*/ 49213 h 37"/>
              <a:gd name="T2" fmla="*/ 0 w 67"/>
              <a:gd name="T3" fmla="*/ 57150 h 37"/>
              <a:gd name="T4" fmla="*/ 88900 w 67"/>
              <a:gd name="T5" fmla="*/ 0 h 37"/>
              <a:gd name="T6" fmla="*/ 104775 w 67"/>
              <a:gd name="T7" fmla="*/ 49213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66" y="31"/>
                </a:moveTo>
                <a:lnTo>
                  <a:pt x="0" y="36"/>
                </a:lnTo>
                <a:lnTo>
                  <a:pt x="56" y="0"/>
                </a:lnTo>
                <a:lnTo>
                  <a:pt x="66" y="3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" name="Freeform 67"/>
          <p:cNvSpPr>
            <a:spLocks/>
          </p:cNvSpPr>
          <p:nvPr/>
        </p:nvSpPr>
        <p:spPr bwMode="auto">
          <a:xfrm>
            <a:off x="4065588" y="2830513"/>
            <a:ext cx="1992312" cy="387350"/>
          </a:xfrm>
          <a:custGeom>
            <a:avLst/>
            <a:gdLst>
              <a:gd name="T0" fmla="*/ 0 w 1255"/>
              <a:gd name="T1" fmla="*/ 0 h 244"/>
              <a:gd name="T2" fmla="*/ 1990725 w 1255"/>
              <a:gd name="T3" fmla="*/ 385763 h 244"/>
              <a:gd name="T4" fmla="*/ 0 w 1255"/>
              <a:gd name="T5" fmla="*/ 0 h 244"/>
              <a:gd name="T6" fmla="*/ 0 60000 65536"/>
              <a:gd name="T7" fmla="*/ 0 60000 65536"/>
              <a:gd name="T8" fmla="*/ 0 60000 65536"/>
              <a:gd name="T9" fmla="*/ 0 w 1255"/>
              <a:gd name="T10" fmla="*/ 0 h 244"/>
              <a:gd name="T11" fmla="*/ 1255 w 1255"/>
              <a:gd name="T12" fmla="*/ 244 h 2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5" h="244">
                <a:moveTo>
                  <a:pt x="0" y="0"/>
                </a:moveTo>
                <a:lnTo>
                  <a:pt x="1254" y="243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" name="Freeform 68"/>
          <p:cNvSpPr>
            <a:spLocks/>
          </p:cNvSpPr>
          <p:nvPr/>
        </p:nvSpPr>
        <p:spPr bwMode="auto">
          <a:xfrm>
            <a:off x="5951538" y="3171825"/>
            <a:ext cx="106362" cy="50800"/>
          </a:xfrm>
          <a:custGeom>
            <a:avLst/>
            <a:gdLst>
              <a:gd name="T0" fmla="*/ 9525 w 67"/>
              <a:gd name="T1" fmla="*/ 0 h 32"/>
              <a:gd name="T2" fmla="*/ 104775 w 67"/>
              <a:gd name="T3" fmla="*/ 44450 h 32"/>
              <a:gd name="T4" fmla="*/ 0 w 67"/>
              <a:gd name="T5" fmla="*/ 49213 h 32"/>
              <a:gd name="T6" fmla="*/ 9525 w 67"/>
              <a:gd name="T7" fmla="*/ 0 h 32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2"/>
              <a:gd name="T14" fmla="*/ 67 w 67"/>
              <a:gd name="T15" fmla="*/ 32 h 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2">
                <a:moveTo>
                  <a:pt x="6" y="0"/>
                </a:moveTo>
                <a:lnTo>
                  <a:pt x="66" y="28"/>
                </a:lnTo>
                <a:lnTo>
                  <a:pt x="0" y="31"/>
                </a:lnTo>
                <a:lnTo>
                  <a:pt x="6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" name="Freeform 69"/>
          <p:cNvSpPr>
            <a:spLocks/>
          </p:cNvSpPr>
          <p:nvPr/>
        </p:nvSpPr>
        <p:spPr bwMode="auto">
          <a:xfrm>
            <a:off x="176371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" name="Freeform 70"/>
          <p:cNvSpPr>
            <a:spLocks/>
          </p:cNvSpPr>
          <p:nvPr/>
        </p:nvSpPr>
        <p:spPr bwMode="auto">
          <a:xfrm>
            <a:off x="2087563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" name="Freeform 71"/>
          <p:cNvSpPr>
            <a:spLocks/>
          </p:cNvSpPr>
          <p:nvPr/>
        </p:nvSpPr>
        <p:spPr bwMode="auto">
          <a:xfrm>
            <a:off x="241300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" name="Freeform 72"/>
          <p:cNvSpPr>
            <a:spLocks/>
          </p:cNvSpPr>
          <p:nvPr/>
        </p:nvSpPr>
        <p:spPr bwMode="auto">
          <a:xfrm>
            <a:off x="273685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0" name="Rectangle 73"/>
          <p:cNvSpPr>
            <a:spLocks noChangeArrowheads="1"/>
          </p:cNvSpPr>
          <p:nvPr/>
        </p:nvSpPr>
        <p:spPr bwMode="auto">
          <a:xfrm>
            <a:off x="2916238" y="2362200"/>
            <a:ext cx="5889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u="none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171" name="Rectangle 74"/>
          <p:cNvSpPr>
            <a:spLocks noChangeArrowheads="1"/>
          </p:cNvSpPr>
          <p:nvPr/>
        </p:nvSpPr>
        <p:spPr bwMode="auto">
          <a:xfrm>
            <a:off x="3678238" y="249713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17</a:t>
            </a:r>
          </a:p>
        </p:txBody>
      </p:sp>
      <p:sp>
        <p:nvSpPr>
          <p:cNvPr id="173" name="Rectangle 76"/>
          <p:cNvSpPr>
            <a:spLocks noChangeArrowheads="1"/>
          </p:cNvSpPr>
          <p:nvPr/>
        </p:nvSpPr>
        <p:spPr bwMode="auto">
          <a:xfrm>
            <a:off x="6245225" y="3263900"/>
            <a:ext cx="3683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30</a:t>
            </a:r>
          </a:p>
        </p:txBody>
      </p:sp>
      <p:sp>
        <p:nvSpPr>
          <p:cNvPr id="174" name="Rectangle 77"/>
          <p:cNvSpPr>
            <a:spLocks noChangeArrowheads="1"/>
          </p:cNvSpPr>
          <p:nvPr/>
        </p:nvSpPr>
        <p:spPr bwMode="auto">
          <a:xfrm>
            <a:off x="312261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14*</a:t>
            </a:r>
          </a:p>
        </p:txBody>
      </p:sp>
      <p:sp>
        <p:nvSpPr>
          <p:cNvPr id="175" name="Rectangle 78"/>
          <p:cNvSpPr>
            <a:spLocks noChangeArrowheads="1"/>
          </p:cNvSpPr>
          <p:nvPr/>
        </p:nvSpPr>
        <p:spPr bwMode="auto">
          <a:xfrm>
            <a:off x="344646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16*</a:t>
            </a:r>
          </a:p>
        </p:txBody>
      </p:sp>
      <p:sp>
        <p:nvSpPr>
          <p:cNvPr id="179" name="Rectangle 82"/>
          <p:cNvSpPr>
            <a:spLocks noChangeArrowheads="1"/>
          </p:cNvSpPr>
          <p:nvPr/>
        </p:nvSpPr>
        <p:spPr bwMode="auto">
          <a:xfrm>
            <a:off x="4846637" y="4094163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>
                <a:solidFill>
                  <a:srgbClr val="000000"/>
                </a:solidFill>
                <a:latin typeface="Arial" pitchFamily="34" charset="0"/>
              </a:rPr>
              <a:t>24*</a:t>
            </a:r>
          </a:p>
        </p:txBody>
      </p:sp>
      <p:sp>
        <p:nvSpPr>
          <p:cNvPr id="180" name="Rectangle 83"/>
          <p:cNvSpPr>
            <a:spLocks noChangeArrowheads="1"/>
          </p:cNvSpPr>
          <p:nvPr/>
        </p:nvSpPr>
        <p:spPr bwMode="auto">
          <a:xfrm>
            <a:off x="5943600" y="4070350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>
                <a:solidFill>
                  <a:srgbClr val="000000"/>
                </a:solidFill>
                <a:latin typeface="Arial" pitchFamily="34" charset="0"/>
              </a:rPr>
              <a:t>27*</a:t>
            </a:r>
          </a:p>
        </p:txBody>
      </p:sp>
      <p:sp>
        <p:nvSpPr>
          <p:cNvPr id="181" name="Rectangle 84"/>
          <p:cNvSpPr>
            <a:spLocks noChangeArrowheads="1"/>
          </p:cNvSpPr>
          <p:nvPr/>
        </p:nvSpPr>
        <p:spPr bwMode="auto">
          <a:xfrm>
            <a:off x="6246812" y="4081463"/>
            <a:ext cx="4318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29*</a:t>
            </a:r>
          </a:p>
        </p:txBody>
      </p:sp>
      <p:sp>
        <p:nvSpPr>
          <p:cNvPr id="182" name="Rectangle 85"/>
          <p:cNvSpPr>
            <a:spLocks noChangeArrowheads="1"/>
          </p:cNvSpPr>
          <p:nvPr/>
        </p:nvSpPr>
        <p:spPr bwMode="auto">
          <a:xfrm>
            <a:off x="7353300" y="4081463"/>
            <a:ext cx="4318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33*</a:t>
            </a:r>
          </a:p>
        </p:txBody>
      </p:sp>
      <p:sp>
        <p:nvSpPr>
          <p:cNvPr id="183" name="Rectangle 86"/>
          <p:cNvSpPr>
            <a:spLocks noChangeArrowheads="1"/>
          </p:cNvSpPr>
          <p:nvPr/>
        </p:nvSpPr>
        <p:spPr bwMode="auto">
          <a:xfrm>
            <a:off x="7678738" y="4081463"/>
            <a:ext cx="4318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34*</a:t>
            </a:r>
          </a:p>
        </p:txBody>
      </p:sp>
      <p:sp>
        <p:nvSpPr>
          <p:cNvPr id="184" name="Rectangle 87"/>
          <p:cNvSpPr>
            <a:spLocks noChangeArrowheads="1"/>
          </p:cNvSpPr>
          <p:nvPr/>
        </p:nvSpPr>
        <p:spPr bwMode="auto">
          <a:xfrm>
            <a:off x="7993063" y="4070350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38*</a:t>
            </a:r>
          </a:p>
        </p:txBody>
      </p:sp>
      <p:sp>
        <p:nvSpPr>
          <p:cNvPr id="185" name="Rectangle 88"/>
          <p:cNvSpPr>
            <a:spLocks noChangeArrowheads="1"/>
          </p:cNvSpPr>
          <p:nvPr/>
        </p:nvSpPr>
        <p:spPr bwMode="auto">
          <a:xfrm>
            <a:off x="8316913" y="406082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39*</a:t>
            </a:r>
          </a:p>
        </p:txBody>
      </p:sp>
      <p:sp>
        <p:nvSpPr>
          <p:cNvPr id="186" name="Rectangle 89"/>
          <p:cNvSpPr>
            <a:spLocks noChangeArrowheads="1"/>
          </p:cNvSpPr>
          <p:nvPr/>
        </p:nvSpPr>
        <p:spPr bwMode="auto">
          <a:xfrm>
            <a:off x="2024063" y="326548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13</a:t>
            </a:r>
          </a:p>
        </p:txBody>
      </p:sp>
      <p:sp>
        <p:nvSpPr>
          <p:cNvPr id="187" name="Rectangle 90"/>
          <p:cNvSpPr>
            <a:spLocks noChangeArrowheads="1"/>
          </p:cNvSpPr>
          <p:nvPr/>
        </p:nvSpPr>
        <p:spPr bwMode="auto">
          <a:xfrm>
            <a:off x="1557338" y="3265488"/>
            <a:ext cx="2762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188" name="Rectangle 91"/>
          <p:cNvSpPr>
            <a:spLocks noChangeArrowheads="1"/>
          </p:cNvSpPr>
          <p:nvPr/>
        </p:nvSpPr>
        <p:spPr bwMode="auto">
          <a:xfrm>
            <a:off x="2095500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7*</a:t>
            </a:r>
          </a:p>
        </p:txBody>
      </p:sp>
      <p:sp>
        <p:nvSpPr>
          <p:cNvPr id="189" name="Rectangle 92"/>
          <p:cNvSpPr>
            <a:spLocks noChangeArrowheads="1"/>
          </p:cNvSpPr>
          <p:nvPr/>
        </p:nvSpPr>
        <p:spPr bwMode="auto">
          <a:xfrm>
            <a:off x="1773238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5*</a:t>
            </a:r>
          </a:p>
        </p:txBody>
      </p:sp>
      <p:sp>
        <p:nvSpPr>
          <p:cNvPr id="190" name="Rectangle 93"/>
          <p:cNvSpPr>
            <a:spLocks noChangeArrowheads="1"/>
          </p:cNvSpPr>
          <p:nvPr/>
        </p:nvSpPr>
        <p:spPr bwMode="auto">
          <a:xfrm>
            <a:off x="2411413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8*</a:t>
            </a:r>
          </a:p>
        </p:txBody>
      </p:sp>
      <p:sp>
        <p:nvSpPr>
          <p:cNvPr id="191" name="Arc 94"/>
          <p:cNvSpPr>
            <a:spLocks/>
          </p:cNvSpPr>
          <p:nvPr/>
        </p:nvSpPr>
        <p:spPr bwMode="auto">
          <a:xfrm rot="13440000">
            <a:off x="70977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2" name="Arc 95"/>
          <p:cNvSpPr>
            <a:spLocks/>
          </p:cNvSpPr>
          <p:nvPr/>
        </p:nvSpPr>
        <p:spPr bwMode="auto">
          <a:xfrm rot="13440000">
            <a:off x="15351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3" name="Arc 96"/>
          <p:cNvSpPr>
            <a:spLocks/>
          </p:cNvSpPr>
          <p:nvPr/>
        </p:nvSpPr>
        <p:spPr bwMode="auto">
          <a:xfrm rot="13440000">
            <a:off x="29067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" name="Arc 97"/>
          <p:cNvSpPr>
            <a:spLocks/>
          </p:cNvSpPr>
          <p:nvPr/>
        </p:nvSpPr>
        <p:spPr bwMode="auto">
          <a:xfrm rot="13440000">
            <a:off x="43545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5" name="Arc 98"/>
          <p:cNvSpPr>
            <a:spLocks/>
          </p:cNvSpPr>
          <p:nvPr/>
        </p:nvSpPr>
        <p:spPr bwMode="auto">
          <a:xfrm rot="13440000">
            <a:off x="57261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1" name="TextBox 26630"/>
          <p:cNvSpPr txBox="1"/>
          <p:nvPr/>
        </p:nvSpPr>
        <p:spPr>
          <a:xfrm>
            <a:off x="948532" y="4800600"/>
            <a:ext cx="7416005" cy="70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/>
              <a:t>The affected leaf will contain only 1 entry and the sibling cannot lend </a:t>
            </a:r>
            <a:br>
              <a:rPr lang="en-US" sz="2000" dirty="0" smtClean="0"/>
            </a:br>
            <a:r>
              <a:rPr lang="en-US" sz="2000" dirty="0" smtClean="0"/>
              <a:t>any entry (i.e., redistribution is not applicable); hence, </a:t>
            </a:r>
            <a:r>
              <a:rPr lang="en-US" sz="2000" i="1" u="sng" dirty="0" smtClean="0"/>
              <a:t>merge</a:t>
            </a:r>
            <a:r>
              <a:rPr lang="en-US" sz="2000" dirty="0" smtClean="0"/>
              <a:t>!</a:t>
            </a:r>
            <a:endParaRPr lang="en-US" sz="2000" dirty="0"/>
          </a:p>
        </p:txBody>
      </p:sp>
      <p:sp>
        <p:nvSpPr>
          <p:cNvPr id="199" name="Rectangle 81"/>
          <p:cNvSpPr>
            <a:spLocks noChangeArrowheads="1"/>
          </p:cNvSpPr>
          <p:nvPr/>
        </p:nvSpPr>
        <p:spPr bwMode="auto">
          <a:xfrm>
            <a:off x="4526853" y="4094903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>
                <a:solidFill>
                  <a:srgbClr val="000000"/>
                </a:solidFill>
                <a:latin typeface="Arial" pitchFamily="34" charset="0"/>
              </a:rPr>
              <a:t>22*</a:t>
            </a:r>
          </a:p>
        </p:txBody>
      </p:sp>
      <p:sp>
        <p:nvSpPr>
          <p:cNvPr id="98" name="Rectangle 83"/>
          <p:cNvSpPr>
            <a:spLocks noChangeArrowheads="1"/>
          </p:cNvSpPr>
          <p:nvPr/>
        </p:nvSpPr>
        <p:spPr bwMode="auto">
          <a:xfrm>
            <a:off x="5715000" y="3276600"/>
            <a:ext cx="371897" cy="293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 smtClean="0">
                <a:solidFill>
                  <a:srgbClr val="000000"/>
                </a:solidFill>
                <a:latin typeface="Arial" pitchFamily="34" charset="0"/>
              </a:rPr>
              <a:t>27</a:t>
            </a:r>
            <a:endParaRPr lang="en-US" sz="1300" u="none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99" name="Oval 98"/>
          <p:cNvSpPr/>
          <p:nvPr/>
        </p:nvSpPr>
        <p:spPr>
          <a:xfrm>
            <a:off x="4377937" y="3973513"/>
            <a:ext cx="1641863" cy="542131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/>
          <p:cNvCxnSpPr>
            <a:stCxn id="164" idx="0"/>
          </p:cNvCxnSpPr>
          <p:nvPr/>
        </p:nvCxnSpPr>
        <p:spPr>
          <a:xfrm>
            <a:off x="4065588" y="2830513"/>
            <a:ext cx="1992312" cy="39211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5226050" y="3579813"/>
            <a:ext cx="436969" cy="49688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9274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1" grpId="0" animBg="1"/>
      <p:bldP spid="9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B+ Tree: Examples </a:t>
            </a:r>
            <a:r>
              <a:rPr lang="en-US" dirty="0" smtClean="0">
                <a:ea typeface="ＭＳ Ｐゴシック" pitchFamily="34" charset="-128"/>
              </a:rPr>
              <a:t>of Deletions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Delete </a:t>
            </a:r>
            <a:r>
              <a:rPr lang="en-US" dirty="0" smtClean="0">
                <a:solidFill>
                  <a:srgbClr val="FF0000"/>
                </a:solidFill>
              </a:rPr>
              <a:t>24*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101" name="Freeform 4"/>
          <p:cNvSpPr>
            <a:spLocks/>
          </p:cNvSpPr>
          <p:nvPr/>
        </p:nvSpPr>
        <p:spPr bwMode="auto">
          <a:xfrm>
            <a:off x="381000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" name="Freeform 5"/>
          <p:cNvSpPr>
            <a:spLocks/>
          </p:cNvSpPr>
          <p:nvPr/>
        </p:nvSpPr>
        <p:spPr bwMode="auto">
          <a:xfrm>
            <a:off x="706438" y="4086225"/>
            <a:ext cx="325437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Freeform 6"/>
          <p:cNvSpPr>
            <a:spLocks/>
          </p:cNvSpPr>
          <p:nvPr/>
        </p:nvSpPr>
        <p:spPr bwMode="auto">
          <a:xfrm>
            <a:off x="1030288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" name="Freeform 7"/>
          <p:cNvSpPr>
            <a:spLocks/>
          </p:cNvSpPr>
          <p:nvPr/>
        </p:nvSpPr>
        <p:spPr bwMode="auto">
          <a:xfrm>
            <a:off x="1355725" y="4086225"/>
            <a:ext cx="325438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" name="Rectangle 8"/>
          <p:cNvSpPr>
            <a:spLocks noChangeArrowheads="1"/>
          </p:cNvSpPr>
          <p:nvPr/>
        </p:nvSpPr>
        <p:spPr bwMode="auto">
          <a:xfrm>
            <a:off x="390525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2*</a:t>
            </a:r>
          </a:p>
        </p:txBody>
      </p:sp>
      <p:sp>
        <p:nvSpPr>
          <p:cNvPr id="106" name="Rectangle 9"/>
          <p:cNvSpPr>
            <a:spLocks noChangeArrowheads="1"/>
          </p:cNvSpPr>
          <p:nvPr/>
        </p:nvSpPr>
        <p:spPr bwMode="auto">
          <a:xfrm>
            <a:off x="715963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3*</a:t>
            </a:r>
          </a:p>
        </p:txBody>
      </p:sp>
      <p:sp>
        <p:nvSpPr>
          <p:cNvPr id="107" name="Freeform 10"/>
          <p:cNvSpPr>
            <a:spLocks/>
          </p:cNvSpPr>
          <p:nvPr/>
        </p:nvSpPr>
        <p:spPr bwMode="auto">
          <a:xfrm>
            <a:off x="3549650" y="246856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Freeform 11"/>
          <p:cNvSpPr>
            <a:spLocks/>
          </p:cNvSpPr>
          <p:nvPr/>
        </p:nvSpPr>
        <p:spPr bwMode="auto">
          <a:xfrm>
            <a:off x="3629025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Freeform 12"/>
          <p:cNvSpPr>
            <a:spLocks/>
          </p:cNvSpPr>
          <p:nvPr/>
        </p:nvSpPr>
        <p:spPr bwMode="auto">
          <a:xfrm>
            <a:off x="4035425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Freeform 13"/>
          <p:cNvSpPr>
            <a:spLocks/>
          </p:cNvSpPr>
          <p:nvPr/>
        </p:nvSpPr>
        <p:spPr bwMode="auto">
          <a:xfrm>
            <a:off x="4116388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Freeform 14"/>
          <p:cNvSpPr>
            <a:spLocks/>
          </p:cNvSpPr>
          <p:nvPr/>
        </p:nvSpPr>
        <p:spPr bwMode="auto">
          <a:xfrm>
            <a:off x="4522788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Freeform 15"/>
          <p:cNvSpPr>
            <a:spLocks/>
          </p:cNvSpPr>
          <p:nvPr/>
        </p:nvSpPr>
        <p:spPr bwMode="auto">
          <a:xfrm>
            <a:off x="4603750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Freeform 16"/>
          <p:cNvSpPr>
            <a:spLocks/>
          </p:cNvSpPr>
          <p:nvPr/>
        </p:nvSpPr>
        <p:spPr bwMode="auto">
          <a:xfrm>
            <a:off x="5010150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Freeform 17"/>
          <p:cNvSpPr>
            <a:spLocks/>
          </p:cNvSpPr>
          <p:nvPr/>
        </p:nvSpPr>
        <p:spPr bwMode="auto">
          <a:xfrm>
            <a:off x="5091113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Freeform 18"/>
          <p:cNvSpPr>
            <a:spLocks/>
          </p:cNvSpPr>
          <p:nvPr/>
        </p:nvSpPr>
        <p:spPr bwMode="auto">
          <a:xfrm>
            <a:off x="5497513" y="246856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Freeform 19"/>
          <p:cNvSpPr>
            <a:spLocks/>
          </p:cNvSpPr>
          <p:nvPr/>
        </p:nvSpPr>
        <p:spPr bwMode="auto">
          <a:xfrm>
            <a:off x="3162300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Freeform 20"/>
          <p:cNvSpPr>
            <a:spLocks/>
          </p:cNvSpPr>
          <p:nvPr/>
        </p:nvSpPr>
        <p:spPr bwMode="auto">
          <a:xfrm>
            <a:off x="348773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Freeform 21"/>
          <p:cNvSpPr>
            <a:spLocks/>
          </p:cNvSpPr>
          <p:nvPr/>
        </p:nvSpPr>
        <p:spPr bwMode="auto">
          <a:xfrm>
            <a:off x="3813175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Freeform 22"/>
          <p:cNvSpPr>
            <a:spLocks/>
          </p:cNvSpPr>
          <p:nvPr/>
        </p:nvSpPr>
        <p:spPr bwMode="auto">
          <a:xfrm>
            <a:off x="41370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Freeform 23"/>
          <p:cNvSpPr>
            <a:spLocks/>
          </p:cNvSpPr>
          <p:nvPr/>
        </p:nvSpPr>
        <p:spPr bwMode="auto">
          <a:xfrm>
            <a:off x="457358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" name="Freeform 24"/>
          <p:cNvSpPr>
            <a:spLocks/>
          </p:cNvSpPr>
          <p:nvPr/>
        </p:nvSpPr>
        <p:spPr bwMode="auto">
          <a:xfrm>
            <a:off x="48990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Freeform 25"/>
          <p:cNvSpPr>
            <a:spLocks/>
          </p:cNvSpPr>
          <p:nvPr/>
        </p:nvSpPr>
        <p:spPr bwMode="auto">
          <a:xfrm>
            <a:off x="5224463" y="4094163"/>
            <a:ext cx="323850" cy="325437"/>
          </a:xfrm>
          <a:custGeom>
            <a:avLst/>
            <a:gdLst>
              <a:gd name="T0" fmla="*/ 0 w 204"/>
              <a:gd name="T1" fmla="*/ 323850 h 205"/>
              <a:gd name="T2" fmla="*/ 0 w 204"/>
              <a:gd name="T3" fmla="*/ 0 h 205"/>
              <a:gd name="T4" fmla="*/ 322263 w 204"/>
              <a:gd name="T5" fmla="*/ 0 h 205"/>
              <a:gd name="T6" fmla="*/ 322263 w 204"/>
              <a:gd name="T7" fmla="*/ 323850 h 205"/>
              <a:gd name="T8" fmla="*/ 0 w 204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4"/>
              <a:gd name="T16" fmla="*/ 0 h 205"/>
              <a:gd name="T17" fmla="*/ 204 w 204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4" h="205">
                <a:moveTo>
                  <a:pt x="0" y="204"/>
                </a:moveTo>
                <a:lnTo>
                  <a:pt x="0" y="0"/>
                </a:lnTo>
                <a:lnTo>
                  <a:pt x="203" y="0"/>
                </a:lnTo>
                <a:lnTo>
                  <a:pt x="203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" name="Freeform 26"/>
          <p:cNvSpPr>
            <a:spLocks/>
          </p:cNvSpPr>
          <p:nvPr/>
        </p:nvSpPr>
        <p:spPr bwMode="auto">
          <a:xfrm>
            <a:off x="55467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" name="Freeform 27"/>
          <p:cNvSpPr>
            <a:spLocks/>
          </p:cNvSpPr>
          <p:nvPr/>
        </p:nvSpPr>
        <p:spPr bwMode="auto">
          <a:xfrm>
            <a:off x="598487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" name="Freeform 28"/>
          <p:cNvSpPr>
            <a:spLocks/>
          </p:cNvSpPr>
          <p:nvPr/>
        </p:nvSpPr>
        <p:spPr bwMode="auto">
          <a:xfrm>
            <a:off x="631031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" name="Freeform 29"/>
          <p:cNvSpPr>
            <a:spLocks/>
          </p:cNvSpPr>
          <p:nvPr/>
        </p:nvSpPr>
        <p:spPr bwMode="auto">
          <a:xfrm>
            <a:off x="663416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7" name="Freeform 30"/>
          <p:cNvSpPr>
            <a:spLocks/>
          </p:cNvSpPr>
          <p:nvPr/>
        </p:nvSpPr>
        <p:spPr bwMode="auto">
          <a:xfrm>
            <a:off x="6958013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" name="Freeform 31"/>
          <p:cNvSpPr>
            <a:spLocks/>
          </p:cNvSpPr>
          <p:nvPr/>
        </p:nvSpPr>
        <p:spPr bwMode="auto">
          <a:xfrm>
            <a:off x="7385050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" name="Freeform 32"/>
          <p:cNvSpPr>
            <a:spLocks/>
          </p:cNvSpPr>
          <p:nvPr/>
        </p:nvSpPr>
        <p:spPr bwMode="auto">
          <a:xfrm>
            <a:off x="7710488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Freeform 33"/>
          <p:cNvSpPr>
            <a:spLocks/>
          </p:cNvSpPr>
          <p:nvPr/>
        </p:nvSpPr>
        <p:spPr bwMode="auto">
          <a:xfrm>
            <a:off x="8034338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" name="Freeform 34"/>
          <p:cNvSpPr>
            <a:spLocks/>
          </p:cNvSpPr>
          <p:nvPr/>
        </p:nvSpPr>
        <p:spPr bwMode="auto">
          <a:xfrm>
            <a:off x="835818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Freeform 35"/>
          <p:cNvSpPr>
            <a:spLocks/>
          </p:cNvSpPr>
          <p:nvPr/>
        </p:nvSpPr>
        <p:spPr bwMode="auto">
          <a:xfrm>
            <a:off x="1428750" y="323691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" name="Freeform 36"/>
          <p:cNvSpPr>
            <a:spLocks/>
          </p:cNvSpPr>
          <p:nvPr/>
        </p:nvSpPr>
        <p:spPr bwMode="auto">
          <a:xfrm>
            <a:off x="15097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" name="Freeform 37"/>
          <p:cNvSpPr>
            <a:spLocks/>
          </p:cNvSpPr>
          <p:nvPr/>
        </p:nvSpPr>
        <p:spPr bwMode="auto">
          <a:xfrm>
            <a:off x="1914525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" name="Freeform 38"/>
          <p:cNvSpPr>
            <a:spLocks/>
          </p:cNvSpPr>
          <p:nvPr/>
        </p:nvSpPr>
        <p:spPr bwMode="auto">
          <a:xfrm>
            <a:off x="199548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" name="Freeform 39"/>
          <p:cNvSpPr>
            <a:spLocks/>
          </p:cNvSpPr>
          <p:nvPr/>
        </p:nvSpPr>
        <p:spPr bwMode="auto">
          <a:xfrm>
            <a:off x="2401888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" name="Freeform 40"/>
          <p:cNvSpPr>
            <a:spLocks/>
          </p:cNvSpPr>
          <p:nvPr/>
        </p:nvSpPr>
        <p:spPr bwMode="auto">
          <a:xfrm>
            <a:off x="2482850" y="32369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" name="Freeform 41"/>
          <p:cNvSpPr>
            <a:spLocks/>
          </p:cNvSpPr>
          <p:nvPr/>
        </p:nvSpPr>
        <p:spPr bwMode="auto">
          <a:xfrm>
            <a:off x="288925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" name="Freeform 42"/>
          <p:cNvSpPr>
            <a:spLocks/>
          </p:cNvSpPr>
          <p:nvPr/>
        </p:nvSpPr>
        <p:spPr bwMode="auto">
          <a:xfrm>
            <a:off x="29702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" name="Freeform 43"/>
          <p:cNvSpPr>
            <a:spLocks/>
          </p:cNvSpPr>
          <p:nvPr/>
        </p:nvSpPr>
        <p:spPr bwMode="auto">
          <a:xfrm>
            <a:off x="3376613" y="323691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1" name="Freeform 44"/>
          <p:cNvSpPr>
            <a:spLocks/>
          </p:cNvSpPr>
          <p:nvPr/>
        </p:nvSpPr>
        <p:spPr bwMode="auto">
          <a:xfrm>
            <a:off x="563880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2" name="Freeform 45"/>
          <p:cNvSpPr>
            <a:spLocks/>
          </p:cNvSpPr>
          <p:nvPr/>
        </p:nvSpPr>
        <p:spPr bwMode="auto">
          <a:xfrm>
            <a:off x="571976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" name="Freeform 46"/>
          <p:cNvSpPr>
            <a:spLocks/>
          </p:cNvSpPr>
          <p:nvPr/>
        </p:nvSpPr>
        <p:spPr bwMode="auto">
          <a:xfrm>
            <a:off x="6126163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" name="Freeform 47"/>
          <p:cNvSpPr>
            <a:spLocks/>
          </p:cNvSpPr>
          <p:nvPr/>
        </p:nvSpPr>
        <p:spPr bwMode="auto">
          <a:xfrm>
            <a:off x="6207125" y="32369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5" name="Freeform 48"/>
          <p:cNvSpPr>
            <a:spLocks/>
          </p:cNvSpPr>
          <p:nvPr/>
        </p:nvSpPr>
        <p:spPr bwMode="auto">
          <a:xfrm>
            <a:off x="6613525" y="323691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6" name="Freeform 49"/>
          <p:cNvSpPr>
            <a:spLocks/>
          </p:cNvSpPr>
          <p:nvPr/>
        </p:nvSpPr>
        <p:spPr bwMode="auto">
          <a:xfrm>
            <a:off x="669448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7" name="Freeform 50"/>
          <p:cNvSpPr>
            <a:spLocks/>
          </p:cNvSpPr>
          <p:nvPr/>
        </p:nvSpPr>
        <p:spPr bwMode="auto">
          <a:xfrm>
            <a:off x="709930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8" name="Freeform 51"/>
          <p:cNvSpPr>
            <a:spLocks/>
          </p:cNvSpPr>
          <p:nvPr/>
        </p:nvSpPr>
        <p:spPr bwMode="auto">
          <a:xfrm>
            <a:off x="718343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9" name="Freeform 52"/>
          <p:cNvSpPr>
            <a:spLocks/>
          </p:cNvSpPr>
          <p:nvPr/>
        </p:nvSpPr>
        <p:spPr bwMode="auto">
          <a:xfrm>
            <a:off x="7586663" y="3236913"/>
            <a:ext cx="84137" cy="404812"/>
          </a:xfrm>
          <a:custGeom>
            <a:avLst/>
            <a:gdLst>
              <a:gd name="T0" fmla="*/ 0 w 53"/>
              <a:gd name="T1" fmla="*/ 403225 h 255"/>
              <a:gd name="T2" fmla="*/ 0 w 53"/>
              <a:gd name="T3" fmla="*/ 0 h 255"/>
              <a:gd name="T4" fmla="*/ 82550 w 53"/>
              <a:gd name="T5" fmla="*/ 0 h 255"/>
              <a:gd name="T6" fmla="*/ 82550 w 53"/>
              <a:gd name="T7" fmla="*/ 403225 h 255"/>
              <a:gd name="T8" fmla="*/ 0 w 53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"/>
              <a:gd name="T16" fmla="*/ 0 h 255"/>
              <a:gd name="T17" fmla="*/ 53 w 53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" h="255">
                <a:moveTo>
                  <a:pt x="0" y="254"/>
                </a:moveTo>
                <a:lnTo>
                  <a:pt x="0" y="0"/>
                </a:lnTo>
                <a:lnTo>
                  <a:pt x="52" y="0"/>
                </a:lnTo>
                <a:lnTo>
                  <a:pt x="52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" name="Freeform 53"/>
          <p:cNvSpPr>
            <a:spLocks/>
          </p:cNvSpPr>
          <p:nvPr/>
        </p:nvSpPr>
        <p:spPr bwMode="auto">
          <a:xfrm>
            <a:off x="1012825" y="3559175"/>
            <a:ext cx="446088" cy="496888"/>
          </a:xfrm>
          <a:custGeom>
            <a:avLst/>
            <a:gdLst>
              <a:gd name="T0" fmla="*/ 444500 w 281"/>
              <a:gd name="T1" fmla="*/ 0 h 313"/>
              <a:gd name="T2" fmla="*/ 0 w 281"/>
              <a:gd name="T3" fmla="*/ 495300 h 313"/>
              <a:gd name="T4" fmla="*/ 444500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" name="Freeform 54"/>
          <p:cNvSpPr>
            <a:spLocks/>
          </p:cNvSpPr>
          <p:nvPr/>
        </p:nvSpPr>
        <p:spPr bwMode="auto">
          <a:xfrm>
            <a:off x="1012825" y="3962400"/>
            <a:ext cx="87313" cy="93663"/>
          </a:xfrm>
          <a:custGeom>
            <a:avLst/>
            <a:gdLst>
              <a:gd name="T0" fmla="*/ 85725 w 55"/>
              <a:gd name="T1" fmla="*/ 33338 h 59"/>
              <a:gd name="T2" fmla="*/ 0 w 55"/>
              <a:gd name="T3" fmla="*/ 92075 h 59"/>
              <a:gd name="T4" fmla="*/ 47625 w 55"/>
              <a:gd name="T5" fmla="*/ 0 h 59"/>
              <a:gd name="T6" fmla="*/ 85725 w 55"/>
              <a:gd name="T7" fmla="*/ 33338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2" name="Freeform 55"/>
          <p:cNvSpPr>
            <a:spLocks/>
          </p:cNvSpPr>
          <p:nvPr/>
        </p:nvSpPr>
        <p:spPr bwMode="auto">
          <a:xfrm>
            <a:off x="1944688" y="3559175"/>
            <a:ext cx="449262" cy="506413"/>
          </a:xfrm>
          <a:custGeom>
            <a:avLst/>
            <a:gdLst>
              <a:gd name="T0" fmla="*/ 0 w 283"/>
              <a:gd name="T1" fmla="*/ 0 h 319"/>
              <a:gd name="T2" fmla="*/ 447675 w 283"/>
              <a:gd name="T3" fmla="*/ 504825 h 319"/>
              <a:gd name="T4" fmla="*/ 0 w 283"/>
              <a:gd name="T5" fmla="*/ 0 h 319"/>
              <a:gd name="T6" fmla="*/ 0 60000 65536"/>
              <a:gd name="T7" fmla="*/ 0 60000 65536"/>
              <a:gd name="T8" fmla="*/ 0 60000 65536"/>
              <a:gd name="T9" fmla="*/ 0 w 283"/>
              <a:gd name="T10" fmla="*/ 0 h 319"/>
              <a:gd name="T11" fmla="*/ 283 w 283"/>
              <a:gd name="T12" fmla="*/ 319 h 31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3" h="319">
                <a:moveTo>
                  <a:pt x="0" y="0"/>
                </a:moveTo>
                <a:lnTo>
                  <a:pt x="282" y="318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" name="Freeform 56"/>
          <p:cNvSpPr>
            <a:spLocks/>
          </p:cNvSpPr>
          <p:nvPr/>
        </p:nvSpPr>
        <p:spPr bwMode="auto">
          <a:xfrm>
            <a:off x="2305050" y="3973513"/>
            <a:ext cx="88900" cy="92075"/>
          </a:xfrm>
          <a:custGeom>
            <a:avLst/>
            <a:gdLst>
              <a:gd name="T0" fmla="*/ 38100 w 56"/>
              <a:gd name="T1" fmla="*/ 0 h 58"/>
              <a:gd name="T2" fmla="*/ 87313 w 56"/>
              <a:gd name="T3" fmla="*/ 90488 h 58"/>
              <a:gd name="T4" fmla="*/ 0 w 56"/>
              <a:gd name="T5" fmla="*/ 33338 h 58"/>
              <a:gd name="T6" fmla="*/ 38100 w 56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6"/>
              <a:gd name="T13" fmla="*/ 0 h 58"/>
              <a:gd name="T14" fmla="*/ 56 w 56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" h="58">
                <a:moveTo>
                  <a:pt x="24" y="0"/>
                </a:moveTo>
                <a:lnTo>
                  <a:pt x="55" y="57"/>
                </a:lnTo>
                <a:lnTo>
                  <a:pt x="0" y="21"/>
                </a:lnTo>
                <a:lnTo>
                  <a:pt x="24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" name="Freeform 57"/>
          <p:cNvSpPr>
            <a:spLocks/>
          </p:cNvSpPr>
          <p:nvPr/>
        </p:nvSpPr>
        <p:spPr bwMode="auto">
          <a:xfrm>
            <a:off x="2443163" y="3559175"/>
            <a:ext cx="1330325" cy="517525"/>
          </a:xfrm>
          <a:custGeom>
            <a:avLst/>
            <a:gdLst>
              <a:gd name="T0" fmla="*/ 0 w 838"/>
              <a:gd name="T1" fmla="*/ 0 h 326"/>
              <a:gd name="T2" fmla="*/ 1328738 w 838"/>
              <a:gd name="T3" fmla="*/ 515938 h 326"/>
              <a:gd name="T4" fmla="*/ 0 w 838"/>
              <a:gd name="T5" fmla="*/ 0 h 326"/>
              <a:gd name="T6" fmla="*/ 0 60000 65536"/>
              <a:gd name="T7" fmla="*/ 0 60000 65536"/>
              <a:gd name="T8" fmla="*/ 0 60000 65536"/>
              <a:gd name="T9" fmla="*/ 0 w 838"/>
              <a:gd name="T10" fmla="*/ 0 h 326"/>
              <a:gd name="T11" fmla="*/ 838 w 838"/>
              <a:gd name="T12" fmla="*/ 326 h 3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38" h="326">
                <a:moveTo>
                  <a:pt x="0" y="0"/>
                </a:moveTo>
                <a:lnTo>
                  <a:pt x="837" y="32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" name="Freeform 58"/>
          <p:cNvSpPr>
            <a:spLocks/>
          </p:cNvSpPr>
          <p:nvPr/>
        </p:nvSpPr>
        <p:spPr bwMode="auto">
          <a:xfrm>
            <a:off x="3668713" y="4014788"/>
            <a:ext cx="104775" cy="61912"/>
          </a:xfrm>
          <a:custGeom>
            <a:avLst/>
            <a:gdLst>
              <a:gd name="T0" fmla="*/ 17463 w 66"/>
              <a:gd name="T1" fmla="*/ 0 h 39"/>
              <a:gd name="T2" fmla="*/ 103188 w 66"/>
              <a:gd name="T3" fmla="*/ 60325 h 39"/>
              <a:gd name="T4" fmla="*/ 0 w 66"/>
              <a:gd name="T5" fmla="*/ 47625 h 39"/>
              <a:gd name="T6" fmla="*/ 17463 w 66"/>
              <a:gd name="T7" fmla="*/ 0 h 39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39"/>
              <a:gd name="T14" fmla="*/ 66 w 66"/>
              <a:gd name="T15" fmla="*/ 39 h 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39">
                <a:moveTo>
                  <a:pt x="11" y="0"/>
                </a:moveTo>
                <a:lnTo>
                  <a:pt x="65" y="38"/>
                </a:lnTo>
                <a:lnTo>
                  <a:pt x="0" y="30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" name="Freeform 59"/>
          <p:cNvSpPr>
            <a:spLocks/>
          </p:cNvSpPr>
          <p:nvPr/>
        </p:nvSpPr>
        <p:spPr bwMode="auto">
          <a:xfrm>
            <a:off x="5224463" y="3579813"/>
            <a:ext cx="446087" cy="496887"/>
          </a:xfrm>
          <a:custGeom>
            <a:avLst/>
            <a:gdLst>
              <a:gd name="T0" fmla="*/ 444500 w 281"/>
              <a:gd name="T1" fmla="*/ 0 h 313"/>
              <a:gd name="T2" fmla="*/ 0 w 281"/>
              <a:gd name="T3" fmla="*/ 495300 h 313"/>
              <a:gd name="T4" fmla="*/ 444500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" name="Freeform 60"/>
          <p:cNvSpPr>
            <a:spLocks/>
          </p:cNvSpPr>
          <p:nvPr/>
        </p:nvSpPr>
        <p:spPr bwMode="auto">
          <a:xfrm>
            <a:off x="5224463" y="3983038"/>
            <a:ext cx="87312" cy="93662"/>
          </a:xfrm>
          <a:custGeom>
            <a:avLst/>
            <a:gdLst>
              <a:gd name="T0" fmla="*/ 85725 w 55"/>
              <a:gd name="T1" fmla="*/ 33337 h 59"/>
              <a:gd name="T2" fmla="*/ 0 w 55"/>
              <a:gd name="T3" fmla="*/ 92075 h 59"/>
              <a:gd name="T4" fmla="*/ 47625 w 55"/>
              <a:gd name="T5" fmla="*/ 0 h 59"/>
              <a:gd name="T6" fmla="*/ 85725 w 55"/>
              <a:gd name="T7" fmla="*/ 33337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" name="Freeform 61"/>
          <p:cNvSpPr>
            <a:spLocks/>
          </p:cNvSpPr>
          <p:nvPr/>
        </p:nvSpPr>
        <p:spPr bwMode="auto">
          <a:xfrm>
            <a:off x="6156325" y="3579813"/>
            <a:ext cx="458788" cy="476250"/>
          </a:xfrm>
          <a:custGeom>
            <a:avLst/>
            <a:gdLst>
              <a:gd name="T0" fmla="*/ 0 w 289"/>
              <a:gd name="T1" fmla="*/ 0 h 300"/>
              <a:gd name="T2" fmla="*/ 457200 w 289"/>
              <a:gd name="T3" fmla="*/ 474663 h 300"/>
              <a:gd name="T4" fmla="*/ 0 w 289"/>
              <a:gd name="T5" fmla="*/ 0 h 300"/>
              <a:gd name="T6" fmla="*/ 0 60000 65536"/>
              <a:gd name="T7" fmla="*/ 0 60000 65536"/>
              <a:gd name="T8" fmla="*/ 0 60000 65536"/>
              <a:gd name="T9" fmla="*/ 0 w 289"/>
              <a:gd name="T10" fmla="*/ 0 h 300"/>
              <a:gd name="T11" fmla="*/ 289 w 289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9" h="300">
                <a:moveTo>
                  <a:pt x="0" y="0"/>
                </a:moveTo>
                <a:lnTo>
                  <a:pt x="288" y="299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" name="Freeform 62"/>
          <p:cNvSpPr>
            <a:spLocks/>
          </p:cNvSpPr>
          <p:nvPr/>
        </p:nvSpPr>
        <p:spPr bwMode="auto">
          <a:xfrm>
            <a:off x="6524625" y="3963988"/>
            <a:ext cx="90488" cy="92075"/>
          </a:xfrm>
          <a:custGeom>
            <a:avLst/>
            <a:gdLst>
              <a:gd name="T0" fmla="*/ 36513 w 57"/>
              <a:gd name="T1" fmla="*/ 0 h 58"/>
              <a:gd name="T2" fmla="*/ 88900 w 57"/>
              <a:gd name="T3" fmla="*/ 90488 h 58"/>
              <a:gd name="T4" fmla="*/ 0 w 57"/>
              <a:gd name="T5" fmla="*/ 34925 h 58"/>
              <a:gd name="T6" fmla="*/ 36513 w 57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7"/>
              <a:gd name="T13" fmla="*/ 0 h 58"/>
              <a:gd name="T14" fmla="*/ 57 w 57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" h="58">
                <a:moveTo>
                  <a:pt x="23" y="0"/>
                </a:moveTo>
                <a:lnTo>
                  <a:pt x="56" y="57"/>
                </a:lnTo>
                <a:lnTo>
                  <a:pt x="0" y="22"/>
                </a:lnTo>
                <a:lnTo>
                  <a:pt x="23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" name="Freeform 63"/>
          <p:cNvSpPr>
            <a:spLocks/>
          </p:cNvSpPr>
          <p:nvPr/>
        </p:nvSpPr>
        <p:spPr bwMode="auto">
          <a:xfrm>
            <a:off x="6643688" y="3589338"/>
            <a:ext cx="1362075" cy="476250"/>
          </a:xfrm>
          <a:custGeom>
            <a:avLst/>
            <a:gdLst>
              <a:gd name="T0" fmla="*/ 0 w 858"/>
              <a:gd name="T1" fmla="*/ 0 h 300"/>
              <a:gd name="T2" fmla="*/ 1360488 w 858"/>
              <a:gd name="T3" fmla="*/ 474663 h 300"/>
              <a:gd name="T4" fmla="*/ 0 w 858"/>
              <a:gd name="T5" fmla="*/ 0 h 300"/>
              <a:gd name="T6" fmla="*/ 0 60000 65536"/>
              <a:gd name="T7" fmla="*/ 0 60000 65536"/>
              <a:gd name="T8" fmla="*/ 0 60000 65536"/>
              <a:gd name="T9" fmla="*/ 0 w 858"/>
              <a:gd name="T10" fmla="*/ 0 h 300"/>
              <a:gd name="T11" fmla="*/ 858 w 858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58" h="300">
                <a:moveTo>
                  <a:pt x="0" y="0"/>
                </a:moveTo>
                <a:lnTo>
                  <a:pt x="857" y="299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1" name="Freeform 64"/>
          <p:cNvSpPr>
            <a:spLocks/>
          </p:cNvSpPr>
          <p:nvPr/>
        </p:nvSpPr>
        <p:spPr bwMode="auto">
          <a:xfrm>
            <a:off x="7899400" y="4006850"/>
            <a:ext cx="106363" cy="58738"/>
          </a:xfrm>
          <a:custGeom>
            <a:avLst/>
            <a:gdLst>
              <a:gd name="T0" fmla="*/ 17463 w 67"/>
              <a:gd name="T1" fmla="*/ 0 h 37"/>
              <a:gd name="T2" fmla="*/ 104775 w 67"/>
              <a:gd name="T3" fmla="*/ 57150 h 37"/>
              <a:gd name="T4" fmla="*/ 0 w 67"/>
              <a:gd name="T5" fmla="*/ 49213 h 37"/>
              <a:gd name="T6" fmla="*/ 17463 w 67"/>
              <a:gd name="T7" fmla="*/ 0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11" y="0"/>
                </a:moveTo>
                <a:lnTo>
                  <a:pt x="66" y="36"/>
                </a:lnTo>
                <a:lnTo>
                  <a:pt x="0" y="31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" name="Freeform 65"/>
          <p:cNvSpPr>
            <a:spLocks/>
          </p:cNvSpPr>
          <p:nvPr/>
        </p:nvSpPr>
        <p:spPr bwMode="auto">
          <a:xfrm>
            <a:off x="2401888" y="2820988"/>
            <a:ext cx="1177925" cy="396875"/>
          </a:xfrm>
          <a:custGeom>
            <a:avLst/>
            <a:gdLst>
              <a:gd name="T0" fmla="*/ 1176338 w 742"/>
              <a:gd name="T1" fmla="*/ 0 h 250"/>
              <a:gd name="T2" fmla="*/ 0 w 742"/>
              <a:gd name="T3" fmla="*/ 395288 h 250"/>
              <a:gd name="T4" fmla="*/ 1176338 w 742"/>
              <a:gd name="T5" fmla="*/ 0 h 250"/>
              <a:gd name="T6" fmla="*/ 0 60000 65536"/>
              <a:gd name="T7" fmla="*/ 0 60000 65536"/>
              <a:gd name="T8" fmla="*/ 0 60000 65536"/>
              <a:gd name="T9" fmla="*/ 0 w 742"/>
              <a:gd name="T10" fmla="*/ 0 h 250"/>
              <a:gd name="T11" fmla="*/ 742 w 742"/>
              <a:gd name="T12" fmla="*/ 250 h 2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42" h="250">
                <a:moveTo>
                  <a:pt x="741" y="0"/>
                </a:moveTo>
                <a:lnTo>
                  <a:pt x="0" y="249"/>
                </a:lnTo>
                <a:lnTo>
                  <a:pt x="74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" name="Freeform 66"/>
          <p:cNvSpPr>
            <a:spLocks/>
          </p:cNvSpPr>
          <p:nvPr/>
        </p:nvSpPr>
        <p:spPr bwMode="auto">
          <a:xfrm>
            <a:off x="2401888" y="3159125"/>
            <a:ext cx="106362" cy="58738"/>
          </a:xfrm>
          <a:custGeom>
            <a:avLst/>
            <a:gdLst>
              <a:gd name="T0" fmla="*/ 104775 w 67"/>
              <a:gd name="T1" fmla="*/ 49213 h 37"/>
              <a:gd name="T2" fmla="*/ 0 w 67"/>
              <a:gd name="T3" fmla="*/ 57150 h 37"/>
              <a:gd name="T4" fmla="*/ 88900 w 67"/>
              <a:gd name="T5" fmla="*/ 0 h 37"/>
              <a:gd name="T6" fmla="*/ 104775 w 67"/>
              <a:gd name="T7" fmla="*/ 49213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66" y="31"/>
                </a:moveTo>
                <a:lnTo>
                  <a:pt x="0" y="36"/>
                </a:lnTo>
                <a:lnTo>
                  <a:pt x="56" y="0"/>
                </a:lnTo>
                <a:lnTo>
                  <a:pt x="66" y="3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" name="Freeform 67"/>
          <p:cNvSpPr>
            <a:spLocks/>
          </p:cNvSpPr>
          <p:nvPr/>
        </p:nvSpPr>
        <p:spPr bwMode="auto">
          <a:xfrm>
            <a:off x="4065588" y="2830513"/>
            <a:ext cx="1992312" cy="387350"/>
          </a:xfrm>
          <a:custGeom>
            <a:avLst/>
            <a:gdLst>
              <a:gd name="T0" fmla="*/ 0 w 1255"/>
              <a:gd name="T1" fmla="*/ 0 h 244"/>
              <a:gd name="T2" fmla="*/ 1990725 w 1255"/>
              <a:gd name="T3" fmla="*/ 385763 h 244"/>
              <a:gd name="T4" fmla="*/ 0 w 1255"/>
              <a:gd name="T5" fmla="*/ 0 h 244"/>
              <a:gd name="T6" fmla="*/ 0 60000 65536"/>
              <a:gd name="T7" fmla="*/ 0 60000 65536"/>
              <a:gd name="T8" fmla="*/ 0 60000 65536"/>
              <a:gd name="T9" fmla="*/ 0 w 1255"/>
              <a:gd name="T10" fmla="*/ 0 h 244"/>
              <a:gd name="T11" fmla="*/ 1255 w 1255"/>
              <a:gd name="T12" fmla="*/ 244 h 2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5" h="244">
                <a:moveTo>
                  <a:pt x="0" y="0"/>
                </a:moveTo>
                <a:lnTo>
                  <a:pt x="1254" y="243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" name="Freeform 68"/>
          <p:cNvSpPr>
            <a:spLocks/>
          </p:cNvSpPr>
          <p:nvPr/>
        </p:nvSpPr>
        <p:spPr bwMode="auto">
          <a:xfrm>
            <a:off x="5951538" y="3171825"/>
            <a:ext cx="106362" cy="50800"/>
          </a:xfrm>
          <a:custGeom>
            <a:avLst/>
            <a:gdLst>
              <a:gd name="T0" fmla="*/ 9525 w 67"/>
              <a:gd name="T1" fmla="*/ 0 h 32"/>
              <a:gd name="T2" fmla="*/ 104775 w 67"/>
              <a:gd name="T3" fmla="*/ 44450 h 32"/>
              <a:gd name="T4" fmla="*/ 0 w 67"/>
              <a:gd name="T5" fmla="*/ 49213 h 32"/>
              <a:gd name="T6" fmla="*/ 9525 w 67"/>
              <a:gd name="T7" fmla="*/ 0 h 32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2"/>
              <a:gd name="T14" fmla="*/ 67 w 67"/>
              <a:gd name="T15" fmla="*/ 32 h 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2">
                <a:moveTo>
                  <a:pt x="6" y="0"/>
                </a:moveTo>
                <a:lnTo>
                  <a:pt x="66" y="28"/>
                </a:lnTo>
                <a:lnTo>
                  <a:pt x="0" y="31"/>
                </a:lnTo>
                <a:lnTo>
                  <a:pt x="6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" name="Freeform 69"/>
          <p:cNvSpPr>
            <a:spLocks/>
          </p:cNvSpPr>
          <p:nvPr/>
        </p:nvSpPr>
        <p:spPr bwMode="auto">
          <a:xfrm>
            <a:off x="176371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" name="Freeform 70"/>
          <p:cNvSpPr>
            <a:spLocks/>
          </p:cNvSpPr>
          <p:nvPr/>
        </p:nvSpPr>
        <p:spPr bwMode="auto">
          <a:xfrm>
            <a:off x="2087563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" name="Freeform 71"/>
          <p:cNvSpPr>
            <a:spLocks/>
          </p:cNvSpPr>
          <p:nvPr/>
        </p:nvSpPr>
        <p:spPr bwMode="auto">
          <a:xfrm>
            <a:off x="241300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" name="Freeform 72"/>
          <p:cNvSpPr>
            <a:spLocks/>
          </p:cNvSpPr>
          <p:nvPr/>
        </p:nvSpPr>
        <p:spPr bwMode="auto">
          <a:xfrm>
            <a:off x="273685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0" name="Rectangle 73"/>
          <p:cNvSpPr>
            <a:spLocks noChangeArrowheads="1"/>
          </p:cNvSpPr>
          <p:nvPr/>
        </p:nvSpPr>
        <p:spPr bwMode="auto">
          <a:xfrm>
            <a:off x="2916238" y="2362200"/>
            <a:ext cx="5889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u="none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171" name="Rectangle 74"/>
          <p:cNvSpPr>
            <a:spLocks noChangeArrowheads="1"/>
          </p:cNvSpPr>
          <p:nvPr/>
        </p:nvSpPr>
        <p:spPr bwMode="auto">
          <a:xfrm>
            <a:off x="3678238" y="249713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17</a:t>
            </a:r>
          </a:p>
        </p:txBody>
      </p:sp>
      <p:sp>
        <p:nvSpPr>
          <p:cNvPr id="173" name="Rectangle 76"/>
          <p:cNvSpPr>
            <a:spLocks noChangeArrowheads="1"/>
          </p:cNvSpPr>
          <p:nvPr/>
        </p:nvSpPr>
        <p:spPr bwMode="auto">
          <a:xfrm>
            <a:off x="6245225" y="3263900"/>
            <a:ext cx="3683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30</a:t>
            </a:r>
          </a:p>
        </p:txBody>
      </p:sp>
      <p:sp>
        <p:nvSpPr>
          <p:cNvPr id="174" name="Rectangle 77"/>
          <p:cNvSpPr>
            <a:spLocks noChangeArrowheads="1"/>
          </p:cNvSpPr>
          <p:nvPr/>
        </p:nvSpPr>
        <p:spPr bwMode="auto">
          <a:xfrm>
            <a:off x="312261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14*</a:t>
            </a:r>
          </a:p>
        </p:txBody>
      </p:sp>
      <p:sp>
        <p:nvSpPr>
          <p:cNvPr id="175" name="Rectangle 78"/>
          <p:cNvSpPr>
            <a:spLocks noChangeArrowheads="1"/>
          </p:cNvSpPr>
          <p:nvPr/>
        </p:nvSpPr>
        <p:spPr bwMode="auto">
          <a:xfrm>
            <a:off x="344646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16*</a:t>
            </a:r>
          </a:p>
        </p:txBody>
      </p:sp>
      <p:sp>
        <p:nvSpPr>
          <p:cNvPr id="179" name="Rectangle 82"/>
          <p:cNvSpPr>
            <a:spLocks noChangeArrowheads="1"/>
          </p:cNvSpPr>
          <p:nvPr/>
        </p:nvSpPr>
        <p:spPr bwMode="auto">
          <a:xfrm>
            <a:off x="4846637" y="4094163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>
                <a:solidFill>
                  <a:srgbClr val="000000"/>
                </a:solidFill>
                <a:latin typeface="Arial" pitchFamily="34" charset="0"/>
              </a:rPr>
              <a:t>24*</a:t>
            </a:r>
          </a:p>
        </p:txBody>
      </p:sp>
      <p:sp>
        <p:nvSpPr>
          <p:cNvPr id="180" name="Rectangle 83"/>
          <p:cNvSpPr>
            <a:spLocks noChangeArrowheads="1"/>
          </p:cNvSpPr>
          <p:nvPr/>
        </p:nvSpPr>
        <p:spPr bwMode="auto">
          <a:xfrm>
            <a:off x="5943600" y="4070350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>
                <a:solidFill>
                  <a:srgbClr val="000000"/>
                </a:solidFill>
                <a:latin typeface="Arial" pitchFamily="34" charset="0"/>
              </a:rPr>
              <a:t>27*</a:t>
            </a:r>
          </a:p>
        </p:txBody>
      </p:sp>
      <p:sp>
        <p:nvSpPr>
          <p:cNvPr id="181" name="Rectangle 84"/>
          <p:cNvSpPr>
            <a:spLocks noChangeArrowheads="1"/>
          </p:cNvSpPr>
          <p:nvPr/>
        </p:nvSpPr>
        <p:spPr bwMode="auto">
          <a:xfrm>
            <a:off x="6246812" y="4081463"/>
            <a:ext cx="4318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29*</a:t>
            </a:r>
          </a:p>
        </p:txBody>
      </p:sp>
      <p:sp>
        <p:nvSpPr>
          <p:cNvPr id="182" name="Rectangle 85"/>
          <p:cNvSpPr>
            <a:spLocks noChangeArrowheads="1"/>
          </p:cNvSpPr>
          <p:nvPr/>
        </p:nvSpPr>
        <p:spPr bwMode="auto">
          <a:xfrm>
            <a:off x="7353300" y="4081463"/>
            <a:ext cx="4318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33*</a:t>
            </a:r>
          </a:p>
        </p:txBody>
      </p:sp>
      <p:sp>
        <p:nvSpPr>
          <p:cNvPr id="183" name="Rectangle 86"/>
          <p:cNvSpPr>
            <a:spLocks noChangeArrowheads="1"/>
          </p:cNvSpPr>
          <p:nvPr/>
        </p:nvSpPr>
        <p:spPr bwMode="auto">
          <a:xfrm>
            <a:off x="7678738" y="4081463"/>
            <a:ext cx="4318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34*</a:t>
            </a:r>
          </a:p>
        </p:txBody>
      </p:sp>
      <p:sp>
        <p:nvSpPr>
          <p:cNvPr id="184" name="Rectangle 87"/>
          <p:cNvSpPr>
            <a:spLocks noChangeArrowheads="1"/>
          </p:cNvSpPr>
          <p:nvPr/>
        </p:nvSpPr>
        <p:spPr bwMode="auto">
          <a:xfrm>
            <a:off x="7993063" y="4070350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38*</a:t>
            </a:r>
          </a:p>
        </p:txBody>
      </p:sp>
      <p:sp>
        <p:nvSpPr>
          <p:cNvPr id="185" name="Rectangle 88"/>
          <p:cNvSpPr>
            <a:spLocks noChangeArrowheads="1"/>
          </p:cNvSpPr>
          <p:nvPr/>
        </p:nvSpPr>
        <p:spPr bwMode="auto">
          <a:xfrm>
            <a:off x="8316913" y="406082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39*</a:t>
            </a:r>
          </a:p>
        </p:txBody>
      </p:sp>
      <p:sp>
        <p:nvSpPr>
          <p:cNvPr id="186" name="Rectangle 89"/>
          <p:cNvSpPr>
            <a:spLocks noChangeArrowheads="1"/>
          </p:cNvSpPr>
          <p:nvPr/>
        </p:nvSpPr>
        <p:spPr bwMode="auto">
          <a:xfrm>
            <a:off x="2024063" y="326548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13</a:t>
            </a:r>
          </a:p>
        </p:txBody>
      </p:sp>
      <p:sp>
        <p:nvSpPr>
          <p:cNvPr id="187" name="Rectangle 90"/>
          <p:cNvSpPr>
            <a:spLocks noChangeArrowheads="1"/>
          </p:cNvSpPr>
          <p:nvPr/>
        </p:nvSpPr>
        <p:spPr bwMode="auto">
          <a:xfrm>
            <a:off x="1557338" y="3265488"/>
            <a:ext cx="2762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188" name="Rectangle 91"/>
          <p:cNvSpPr>
            <a:spLocks noChangeArrowheads="1"/>
          </p:cNvSpPr>
          <p:nvPr/>
        </p:nvSpPr>
        <p:spPr bwMode="auto">
          <a:xfrm>
            <a:off x="2095500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7*</a:t>
            </a:r>
          </a:p>
        </p:txBody>
      </p:sp>
      <p:sp>
        <p:nvSpPr>
          <p:cNvPr id="189" name="Rectangle 92"/>
          <p:cNvSpPr>
            <a:spLocks noChangeArrowheads="1"/>
          </p:cNvSpPr>
          <p:nvPr/>
        </p:nvSpPr>
        <p:spPr bwMode="auto">
          <a:xfrm>
            <a:off x="1773238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5*</a:t>
            </a:r>
          </a:p>
        </p:txBody>
      </p:sp>
      <p:sp>
        <p:nvSpPr>
          <p:cNvPr id="190" name="Rectangle 93"/>
          <p:cNvSpPr>
            <a:spLocks noChangeArrowheads="1"/>
          </p:cNvSpPr>
          <p:nvPr/>
        </p:nvSpPr>
        <p:spPr bwMode="auto">
          <a:xfrm>
            <a:off x="2411413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8*</a:t>
            </a:r>
          </a:p>
        </p:txBody>
      </p:sp>
      <p:sp>
        <p:nvSpPr>
          <p:cNvPr id="191" name="Arc 94"/>
          <p:cNvSpPr>
            <a:spLocks/>
          </p:cNvSpPr>
          <p:nvPr/>
        </p:nvSpPr>
        <p:spPr bwMode="auto">
          <a:xfrm rot="13440000">
            <a:off x="70977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2" name="Arc 95"/>
          <p:cNvSpPr>
            <a:spLocks/>
          </p:cNvSpPr>
          <p:nvPr/>
        </p:nvSpPr>
        <p:spPr bwMode="auto">
          <a:xfrm rot="13440000">
            <a:off x="15351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3" name="Arc 96"/>
          <p:cNvSpPr>
            <a:spLocks/>
          </p:cNvSpPr>
          <p:nvPr/>
        </p:nvSpPr>
        <p:spPr bwMode="auto">
          <a:xfrm rot="13440000">
            <a:off x="29067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" name="Arc 97"/>
          <p:cNvSpPr>
            <a:spLocks/>
          </p:cNvSpPr>
          <p:nvPr/>
        </p:nvSpPr>
        <p:spPr bwMode="auto">
          <a:xfrm rot="13440000">
            <a:off x="43545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5" name="Arc 98"/>
          <p:cNvSpPr>
            <a:spLocks/>
          </p:cNvSpPr>
          <p:nvPr/>
        </p:nvSpPr>
        <p:spPr bwMode="auto">
          <a:xfrm rot="13440000">
            <a:off x="57261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9" name="Rectangle 81"/>
          <p:cNvSpPr>
            <a:spLocks noChangeArrowheads="1"/>
          </p:cNvSpPr>
          <p:nvPr/>
        </p:nvSpPr>
        <p:spPr bwMode="auto">
          <a:xfrm>
            <a:off x="4526853" y="4094903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>
                <a:solidFill>
                  <a:srgbClr val="000000"/>
                </a:solidFill>
                <a:latin typeface="Arial" pitchFamily="34" charset="0"/>
              </a:rPr>
              <a:t>22*</a:t>
            </a:r>
          </a:p>
        </p:txBody>
      </p:sp>
      <p:sp>
        <p:nvSpPr>
          <p:cNvPr id="98" name="Rectangle 83"/>
          <p:cNvSpPr>
            <a:spLocks noChangeArrowheads="1"/>
          </p:cNvSpPr>
          <p:nvPr/>
        </p:nvSpPr>
        <p:spPr bwMode="auto">
          <a:xfrm>
            <a:off x="5715000" y="3276600"/>
            <a:ext cx="371897" cy="293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 smtClean="0">
                <a:solidFill>
                  <a:srgbClr val="000000"/>
                </a:solidFill>
                <a:latin typeface="Arial" pitchFamily="34" charset="0"/>
              </a:rPr>
              <a:t>27</a:t>
            </a:r>
            <a:endParaRPr lang="en-US" sz="1300" u="none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99" name="Oval 98"/>
          <p:cNvSpPr/>
          <p:nvPr/>
        </p:nvSpPr>
        <p:spPr>
          <a:xfrm>
            <a:off x="4377937" y="3973513"/>
            <a:ext cx="3007113" cy="542131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urved Right Arrow 1"/>
          <p:cNvSpPr/>
          <p:nvPr/>
        </p:nvSpPr>
        <p:spPr>
          <a:xfrm>
            <a:off x="4181475" y="4518493"/>
            <a:ext cx="325438" cy="685800"/>
          </a:xfrm>
          <a:prstGeom prst="curved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0" name="Freeform 6"/>
          <p:cNvSpPr>
            <a:spLocks/>
          </p:cNvSpPr>
          <p:nvPr/>
        </p:nvSpPr>
        <p:spPr bwMode="auto">
          <a:xfrm>
            <a:off x="4598370" y="6253162"/>
            <a:ext cx="436562" cy="376238"/>
          </a:xfrm>
          <a:custGeom>
            <a:avLst/>
            <a:gdLst>
              <a:gd name="T0" fmla="*/ 0 w 275"/>
              <a:gd name="T1" fmla="*/ 236 h 237"/>
              <a:gd name="T2" fmla="*/ 0 w 275"/>
              <a:gd name="T3" fmla="*/ 0 h 237"/>
              <a:gd name="T4" fmla="*/ 274 w 275"/>
              <a:gd name="T5" fmla="*/ 0 h 237"/>
              <a:gd name="T6" fmla="*/ 274 w 275"/>
              <a:gd name="T7" fmla="*/ 236 h 237"/>
              <a:gd name="T8" fmla="*/ 0 w 275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5" h="237">
                <a:moveTo>
                  <a:pt x="0" y="236"/>
                </a:moveTo>
                <a:lnTo>
                  <a:pt x="0" y="0"/>
                </a:lnTo>
                <a:lnTo>
                  <a:pt x="274" y="0"/>
                </a:lnTo>
                <a:lnTo>
                  <a:pt x="274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2" name="Freeform 7"/>
          <p:cNvSpPr>
            <a:spLocks/>
          </p:cNvSpPr>
          <p:nvPr/>
        </p:nvSpPr>
        <p:spPr bwMode="auto">
          <a:xfrm>
            <a:off x="5033345" y="625316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" name="Freeform 8"/>
          <p:cNvSpPr>
            <a:spLocks/>
          </p:cNvSpPr>
          <p:nvPr/>
        </p:nvSpPr>
        <p:spPr bwMode="auto">
          <a:xfrm>
            <a:off x="5466732" y="625316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" name="Freeform 9"/>
          <p:cNvSpPr>
            <a:spLocks/>
          </p:cNvSpPr>
          <p:nvPr/>
        </p:nvSpPr>
        <p:spPr bwMode="auto">
          <a:xfrm>
            <a:off x="5900120" y="625316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8" name="Freeform 10"/>
          <p:cNvSpPr>
            <a:spLocks/>
          </p:cNvSpPr>
          <p:nvPr/>
        </p:nvSpPr>
        <p:spPr bwMode="auto">
          <a:xfrm>
            <a:off x="6497020" y="625316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" name="Freeform 11"/>
          <p:cNvSpPr>
            <a:spLocks/>
          </p:cNvSpPr>
          <p:nvPr/>
        </p:nvSpPr>
        <p:spPr bwMode="auto">
          <a:xfrm>
            <a:off x="6930407" y="6253162"/>
            <a:ext cx="436563" cy="376238"/>
          </a:xfrm>
          <a:custGeom>
            <a:avLst/>
            <a:gdLst>
              <a:gd name="T0" fmla="*/ 0 w 275"/>
              <a:gd name="T1" fmla="*/ 236 h 237"/>
              <a:gd name="T2" fmla="*/ 0 w 275"/>
              <a:gd name="T3" fmla="*/ 0 h 237"/>
              <a:gd name="T4" fmla="*/ 274 w 275"/>
              <a:gd name="T5" fmla="*/ 0 h 237"/>
              <a:gd name="T6" fmla="*/ 274 w 275"/>
              <a:gd name="T7" fmla="*/ 236 h 237"/>
              <a:gd name="T8" fmla="*/ 0 w 275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5" h="237">
                <a:moveTo>
                  <a:pt x="0" y="236"/>
                </a:moveTo>
                <a:lnTo>
                  <a:pt x="0" y="0"/>
                </a:lnTo>
                <a:lnTo>
                  <a:pt x="274" y="0"/>
                </a:lnTo>
                <a:lnTo>
                  <a:pt x="274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" name="Freeform 12"/>
          <p:cNvSpPr>
            <a:spLocks/>
          </p:cNvSpPr>
          <p:nvPr/>
        </p:nvSpPr>
        <p:spPr bwMode="auto">
          <a:xfrm>
            <a:off x="7365382" y="625316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" name="Freeform 13"/>
          <p:cNvSpPr>
            <a:spLocks/>
          </p:cNvSpPr>
          <p:nvPr/>
        </p:nvSpPr>
        <p:spPr bwMode="auto">
          <a:xfrm>
            <a:off x="7798770" y="6253162"/>
            <a:ext cx="436562" cy="376238"/>
          </a:xfrm>
          <a:custGeom>
            <a:avLst/>
            <a:gdLst>
              <a:gd name="T0" fmla="*/ 0 w 275"/>
              <a:gd name="T1" fmla="*/ 236 h 237"/>
              <a:gd name="T2" fmla="*/ 0 w 275"/>
              <a:gd name="T3" fmla="*/ 0 h 237"/>
              <a:gd name="T4" fmla="*/ 274 w 275"/>
              <a:gd name="T5" fmla="*/ 0 h 237"/>
              <a:gd name="T6" fmla="*/ 274 w 275"/>
              <a:gd name="T7" fmla="*/ 236 h 237"/>
              <a:gd name="T8" fmla="*/ 0 w 275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5" h="237">
                <a:moveTo>
                  <a:pt x="0" y="236"/>
                </a:moveTo>
                <a:lnTo>
                  <a:pt x="0" y="0"/>
                </a:lnTo>
                <a:lnTo>
                  <a:pt x="274" y="0"/>
                </a:lnTo>
                <a:lnTo>
                  <a:pt x="274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0" name="Freeform 14"/>
          <p:cNvSpPr>
            <a:spLocks/>
          </p:cNvSpPr>
          <p:nvPr/>
        </p:nvSpPr>
        <p:spPr bwMode="auto">
          <a:xfrm>
            <a:off x="6022357" y="5256212"/>
            <a:ext cx="652463" cy="469900"/>
          </a:xfrm>
          <a:custGeom>
            <a:avLst/>
            <a:gdLst>
              <a:gd name="T0" fmla="*/ 0 w 411"/>
              <a:gd name="T1" fmla="*/ 295 h 296"/>
              <a:gd name="T2" fmla="*/ 0 w 411"/>
              <a:gd name="T3" fmla="*/ 0 h 296"/>
              <a:gd name="T4" fmla="*/ 410 w 411"/>
              <a:gd name="T5" fmla="*/ 0 h 296"/>
              <a:gd name="T6" fmla="*/ 410 w 411"/>
              <a:gd name="T7" fmla="*/ 295 h 296"/>
              <a:gd name="T8" fmla="*/ 0 w 411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1" h="296">
                <a:moveTo>
                  <a:pt x="0" y="295"/>
                </a:moveTo>
                <a:lnTo>
                  <a:pt x="0" y="0"/>
                </a:lnTo>
                <a:lnTo>
                  <a:pt x="410" y="0"/>
                </a:lnTo>
                <a:lnTo>
                  <a:pt x="410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1" name="Freeform 15"/>
          <p:cNvSpPr>
            <a:spLocks/>
          </p:cNvSpPr>
          <p:nvPr/>
        </p:nvSpPr>
        <p:spPr bwMode="auto">
          <a:xfrm>
            <a:off x="6130307" y="5256212"/>
            <a:ext cx="1588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295 h 296"/>
              <a:gd name="T4" fmla="*/ 0 w 1"/>
              <a:gd name="T5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2" name="Freeform 16"/>
          <p:cNvSpPr>
            <a:spLocks/>
          </p:cNvSpPr>
          <p:nvPr/>
        </p:nvSpPr>
        <p:spPr bwMode="auto">
          <a:xfrm>
            <a:off x="6673232" y="5256212"/>
            <a:ext cx="654050" cy="469900"/>
          </a:xfrm>
          <a:custGeom>
            <a:avLst/>
            <a:gdLst>
              <a:gd name="T0" fmla="*/ 0 w 412"/>
              <a:gd name="T1" fmla="*/ 295 h 296"/>
              <a:gd name="T2" fmla="*/ 0 w 412"/>
              <a:gd name="T3" fmla="*/ 0 h 296"/>
              <a:gd name="T4" fmla="*/ 411 w 412"/>
              <a:gd name="T5" fmla="*/ 0 h 296"/>
              <a:gd name="T6" fmla="*/ 411 w 412"/>
              <a:gd name="T7" fmla="*/ 295 h 296"/>
              <a:gd name="T8" fmla="*/ 0 w 412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2" h="296">
                <a:moveTo>
                  <a:pt x="0" y="295"/>
                </a:moveTo>
                <a:lnTo>
                  <a:pt x="0" y="0"/>
                </a:lnTo>
                <a:lnTo>
                  <a:pt x="411" y="0"/>
                </a:lnTo>
                <a:lnTo>
                  <a:pt x="411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3" name="Freeform 17"/>
          <p:cNvSpPr>
            <a:spLocks/>
          </p:cNvSpPr>
          <p:nvPr/>
        </p:nvSpPr>
        <p:spPr bwMode="auto">
          <a:xfrm>
            <a:off x="6782770" y="5256212"/>
            <a:ext cx="1587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295 h 296"/>
              <a:gd name="T4" fmla="*/ 0 w 1"/>
              <a:gd name="T5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" name="Freeform 18"/>
          <p:cNvSpPr>
            <a:spLocks/>
          </p:cNvSpPr>
          <p:nvPr/>
        </p:nvSpPr>
        <p:spPr bwMode="auto">
          <a:xfrm>
            <a:off x="7325695" y="5256212"/>
            <a:ext cx="652462" cy="469900"/>
          </a:xfrm>
          <a:custGeom>
            <a:avLst/>
            <a:gdLst>
              <a:gd name="T0" fmla="*/ 0 w 411"/>
              <a:gd name="T1" fmla="*/ 295 h 296"/>
              <a:gd name="T2" fmla="*/ 0 w 411"/>
              <a:gd name="T3" fmla="*/ 0 h 296"/>
              <a:gd name="T4" fmla="*/ 410 w 411"/>
              <a:gd name="T5" fmla="*/ 0 h 296"/>
              <a:gd name="T6" fmla="*/ 410 w 411"/>
              <a:gd name="T7" fmla="*/ 295 h 296"/>
              <a:gd name="T8" fmla="*/ 0 w 411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1" h="296">
                <a:moveTo>
                  <a:pt x="0" y="295"/>
                </a:moveTo>
                <a:lnTo>
                  <a:pt x="0" y="0"/>
                </a:lnTo>
                <a:lnTo>
                  <a:pt x="410" y="0"/>
                </a:lnTo>
                <a:lnTo>
                  <a:pt x="410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" name="Freeform 19"/>
          <p:cNvSpPr>
            <a:spLocks/>
          </p:cNvSpPr>
          <p:nvPr/>
        </p:nvSpPr>
        <p:spPr bwMode="auto">
          <a:xfrm>
            <a:off x="7432057" y="5256212"/>
            <a:ext cx="1588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295 h 296"/>
              <a:gd name="T4" fmla="*/ 0 w 1"/>
              <a:gd name="T5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" name="Freeform 20"/>
          <p:cNvSpPr>
            <a:spLocks/>
          </p:cNvSpPr>
          <p:nvPr/>
        </p:nvSpPr>
        <p:spPr bwMode="auto">
          <a:xfrm>
            <a:off x="7976570" y="5256212"/>
            <a:ext cx="650875" cy="469900"/>
          </a:xfrm>
          <a:custGeom>
            <a:avLst/>
            <a:gdLst>
              <a:gd name="T0" fmla="*/ 0 w 410"/>
              <a:gd name="T1" fmla="*/ 295 h 296"/>
              <a:gd name="T2" fmla="*/ 0 w 410"/>
              <a:gd name="T3" fmla="*/ 0 h 296"/>
              <a:gd name="T4" fmla="*/ 409 w 410"/>
              <a:gd name="T5" fmla="*/ 0 h 296"/>
              <a:gd name="T6" fmla="*/ 409 w 410"/>
              <a:gd name="T7" fmla="*/ 295 h 296"/>
              <a:gd name="T8" fmla="*/ 0 w 410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0" h="296">
                <a:moveTo>
                  <a:pt x="0" y="295"/>
                </a:moveTo>
                <a:lnTo>
                  <a:pt x="0" y="0"/>
                </a:lnTo>
                <a:lnTo>
                  <a:pt x="409" y="0"/>
                </a:lnTo>
                <a:lnTo>
                  <a:pt x="409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7" name="Freeform 21"/>
          <p:cNvSpPr>
            <a:spLocks/>
          </p:cNvSpPr>
          <p:nvPr/>
        </p:nvSpPr>
        <p:spPr bwMode="auto">
          <a:xfrm>
            <a:off x="8084520" y="5256212"/>
            <a:ext cx="1587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295 h 296"/>
              <a:gd name="T4" fmla="*/ 0 w 1"/>
              <a:gd name="T5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8" name="Freeform 22"/>
          <p:cNvSpPr>
            <a:spLocks/>
          </p:cNvSpPr>
          <p:nvPr/>
        </p:nvSpPr>
        <p:spPr bwMode="auto">
          <a:xfrm>
            <a:off x="8625857" y="5256212"/>
            <a:ext cx="111125" cy="469900"/>
          </a:xfrm>
          <a:custGeom>
            <a:avLst/>
            <a:gdLst>
              <a:gd name="T0" fmla="*/ 0 w 70"/>
              <a:gd name="T1" fmla="*/ 295 h 296"/>
              <a:gd name="T2" fmla="*/ 0 w 70"/>
              <a:gd name="T3" fmla="*/ 0 h 296"/>
              <a:gd name="T4" fmla="*/ 69 w 70"/>
              <a:gd name="T5" fmla="*/ 0 h 296"/>
              <a:gd name="T6" fmla="*/ 69 w 70"/>
              <a:gd name="T7" fmla="*/ 295 h 296"/>
              <a:gd name="T8" fmla="*/ 0 w 70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" h="296">
                <a:moveTo>
                  <a:pt x="0" y="295"/>
                </a:moveTo>
                <a:lnTo>
                  <a:pt x="0" y="0"/>
                </a:lnTo>
                <a:lnTo>
                  <a:pt x="69" y="0"/>
                </a:lnTo>
                <a:lnTo>
                  <a:pt x="69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9" name="Freeform 23"/>
          <p:cNvSpPr>
            <a:spLocks/>
          </p:cNvSpPr>
          <p:nvPr/>
        </p:nvSpPr>
        <p:spPr bwMode="auto">
          <a:xfrm>
            <a:off x="5466732" y="5654675"/>
            <a:ext cx="598488" cy="576262"/>
          </a:xfrm>
          <a:custGeom>
            <a:avLst/>
            <a:gdLst>
              <a:gd name="T0" fmla="*/ 376 w 377"/>
              <a:gd name="T1" fmla="*/ 0 h 363"/>
              <a:gd name="T2" fmla="*/ 0 w 377"/>
              <a:gd name="T3" fmla="*/ 362 h 363"/>
              <a:gd name="T4" fmla="*/ 376 w 377"/>
              <a:gd name="T5" fmla="*/ 0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7" h="363">
                <a:moveTo>
                  <a:pt x="376" y="0"/>
                </a:moveTo>
                <a:lnTo>
                  <a:pt x="0" y="362"/>
                </a:lnTo>
                <a:lnTo>
                  <a:pt x="376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0" name="Freeform 24"/>
          <p:cNvSpPr>
            <a:spLocks/>
          </p:cNvSpPr>
          <p:nvPr/>
        </p:nvSpPr>
        <p:spPr bwMode="auto">
          <a:xfrm>
            <a:off x="5466732" y="6122987"/>
            <a:ext cx="115888" cy="107950"/>
          </a:xfrm>
          <a:custGeom>
            <a:avLst/>
            <a:gdLst>
              <a:gd name="T0" fmla="*/ 72 w 73"/>
              <a:gd name="T1" fmla="*/ 24 h 68"/>
              <a:gd name="T2" fmla="*/ 0 w 73"/>
              <a:gd name="T3" fmla="*/ 67 h 68"/>
              <a:gd name="T4" fmla="*/ 41 w 73"/>
              <a:gd name="T5" fmla="*/ 0 h 68"/>
              <a:gd name="T6" fmla="*/ 72 w 73"/>
              <a:gd name="T7" fmla="*/ 24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3" h="68">
                <a:moveTo>
                  <a:pt x="72" y="24"/>
                </a:moveTo>
                <a:lnTo>
                  <a:pt x="0" y="67"/>
                </a:lnTo>
                <a:lnTo>
                  <a:pt x="41" y="0"/>
                </a:lnTo>
                <a:lnTo>
                  <a:pt x="72" y="2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1" name="Freeform 25"/>
          <p:cNvSpPr>
            <a:spLocks/>
          </p:cNvSpPr>
          <p:nvPr/>
        </p:nvSpPr>
        <p:spPr bwMode="auto">
          <a:xfrm>
            <a:off x="6712920" y="5654675"/>
            <a:ext cx="614362" cy="552450"/>
          </a:xfrm>
          <a:custGeom>
            <a:avLst/>
            <a:gdLst>
              <a:gd name="T0" fmla="*/ 0 w 387"/>
              <a:gd name="T1" fmla="*/ 0 h 348"/>
              <a:gd name="T2" fmla="*/ 386 w 387"/>
              <a:gd name="T3" fmla="*/ 347 h 348"/>
              <a:gd name="T4" fmla="*/ 0 w 387"/>
              <a:gd name="T5" fmla="*/ 0 h 3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7" h="348">
                <a:moveTo>
                  <a:pt x="0" y="0"/>
                </a:moveTo>
                <a:lnTo>
                  <a:pt x="386" y="34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2" name="Freeform 26"/>
          <p:cNvSpPr>
            <a:spLocks/>
          </p:cNvSpPr>
          <p:nvPr/>
        </p:nvSpPr>
        <p:spPr bwMode="auto">
          <a:xfrm>
            <a:off x="7206632" y="6100762"/>
            <a:ext cx="120650" cy="106363"/>
          </a:xfrm>
          <a:custGeom>
            <a:avLst/>
            <a:gdLst>
              <a:gd name="T0" fmla="*/ 31 w 76"/>
              <a:gd name="T1" fmla="*/ 0 h 67"/>
              <a:gd name="T2" fmla="*/ 75 w 76"/>
              <a:gd name="T3" fmla="*/ 66 h 67"/>
              <a:gd name="T4" fmla="*/ 0 w 76"/>
              <a:gd name="T5" fmla="*/ 25 h 67"/>
              <a:gd name="T6" fmla="*/ 31 w 76"/>
              <a:gd name="T7" fmla="*/ 0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" h="67">
                <a:moveTo>
                  <a:pt x="31" y="0"/>
                </a:moveTo>
                <a:lnTo>
                  <a:pt x="75" y="66"/>
                </a:lnTo>
                <a:lnTo>
                  <a:pt x="0" y="25"/>
                </a:lnTo>
                <a:lnTo>
                  <a:pt x="31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3" name="Freeform 27"/>
          <p:cNvSpPr>
            <a:spLocks/>
          </p:cNvSpPr>
          <p:nvPr/>
        </p:nvSpPr>
        <p:spPr bwMode="auto">
          <a:xfrm>
            <a:off x="5168282" y="4810125"/>
            <a:ext cx="1303338" cy="412750"/>
          </a:xfrm>
          <a:custGeom>
            <a:avLst/>
            <a:gdLst>
              <a:gd name="T0" fmla="*/ 0 w 821"/>
              <a:gd name="T1" fmla="*/ 0 h 260"/>
              <a:gd name="T2" fmla="*/ 820 w 821"/>
              <a:gd name="T3" fmla="*/ 259 h 260"/>
              <a:gd name="T4" fmla="*/ 0 w 821"/>
              <a:gd name="T5" fmla="*/ 0 h 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21" h="260">
                <a:moveTo>
                  <a:pt x="0" y="0"/>
                </a:moveTo>
                <a:lnTo>
                  <a:pt x="820" y="259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4" name="Freeform 28"/>
          <p:cNvSpPr>
            <a:spLocks/>
          </p:cNvSpPr>
          <p:nvPr/>
        </p:nvSpPr>
        <p:spPr bwMode="auto">
          <a:xfrm>
            <a:off x="6330332" y="5154612"/>
            <a:ext cx="141288" cy="68263"/>
          </a:xfrm>
          <a:custGeom>
            <a:avLst/>
            <a:gdLst>
              <a:gd name="T0" fmla="*/ 14 w 89"/>
              <a:gd name="T1" fmla="*/ 0 h 43"/>
              <a:gd name="T2" fmla="*/ 88 w 89"/>
              <a:gd name="T3" fmla="*/ 42 h 43"/>
              <a:gd name="T4" fmla="*/ 0 w 89"/>
              <a:gd name="T5" fmla="*/ 34 h 43"/>
              <a:gd name="T6" fmla="*/ 14 w 89"/>
              <a:gd name="T7" fmla="*/ 0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9" h="43">
                <a:moveTo>
                  <a:pt x="14" y="0"/>
                </a:moveTo>
                <a:lnTo>
                  <a:pt x="88" y="42"/>
                </a:lnTo>
                <a:lnTo>
                  <a:pt x="0" y="34"/>
                </a:lnTo>
                <a:lnTo>
                  <a:pt x="14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" name="Rectangle 29"/>
          <p:cNvSpPr>
            <a:spLocks noChangeArrowheads="1"/>
          </p:cNvSpPr>
          <p:nvPr/>
        </p:nvSpPr>
        <p:spPr bwMode="auto">
          <a:xfrm>
            <a:off x="6216032" y="5380037"/>
            <a:ext cx="3651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30</a:t>
            </a:r>
          </a:p>
        </p:txBody>
      </p:sp>
      <p:sp>
        <p:nvSpPr>
          <p:cNvPr id="216" name="Rectangle 30"/>
          <p:cNvSpPr>
            <a:spLocks noChangeArrowheads="1"/>
          </p:cNvSpPr>
          <p:nvPr/>
        </p:nvSpPr>
        <p:spPr bwMode="auto">
          <a:xfrm>
            <a:off x="4601545" y="632936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22*</a:t>
            </a:r>
          </a:p>
        </p:txBody>
      </p:sp>
      <p:sp>
        <p:nvSpPr>
          <p:cNvPr id="217" name="Rectangle 31"/>
          <p:cNvSpPr>
            <a:spLocks noChangeArrowheads="1"/>
          </p:cNvSpPr>
          <p:nvPr/>
        </p:nvSpPr>
        <p:spPr bwMode="auto">
          <a:xfrm>
            <a:off x="5036520" y="632936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27*</a:t>
            </a:r>
          </a:p>
        </p:txBody>
      </p:sp>
      <p:sp>
        <p:nvSpPr>
          <p:cNvPr id="218" name="Rectangle 32"/>
          <p:cNvSpPr>
            <a:spLocks noChangeArrowheads="1"/>
          </p:cNvSpPr>
          <p:nvPr/>
        </p:nvSpPr>
        <p:spPr bwMode="auto">
          <a:xfrm>
            <a:off x="5455620" y="6340475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29*</a:t>
            </a:r>
          </a:p>
        </p:txBody>
      </p:sp>
      <p:sp>
        <p:nvSpPr>
          <p:cNvPr id="219" name="Rectangle 33"/>
          <p:cNvSpPr>
            <a:spLocks noChangeArrowheads="1"/>
          </p:cNvSpPr>
          <p:nvPr/>
        </p:nvSpPr>
        <p:spPr bwMode="auto">
          <a:xfrm>
            <a:off x="6487495" y="6340475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33*</a:t>
            </a:r>
          </a:p>
        </p:txBody>
      </p:sp>
      <p:sp>
        <p:nvSpPr>
          <p:cNvPr id="220" name="Rectangle 34"/>
          <p:cNvSpPr>
            <a:spLocks noChangeArrowheads="1"/>
          </p:cNvSpPr>
          <p:nvPr/>
        </p:nvSpPr>
        <p:spPr bwMode="auto">
          <a:xfrm>
            <a:off x="6922470" y="6340475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34*</a:t>
            </a:r>
          </a:p>
        </p:txBody>
      </p:sp>
      <p:sp>
        <p:nvSpPr>
          <p:cNvPr id="221" name="Rectangle 35"/>
          <p:cNvSpPr>
            <a:spLocks noChangeArrowheads="1"/>
          </p:cNvSpPr>
          <p:nvPr/>
        </p:nvSpPr>
        <p:spPr bwMode="auto">
          <a:xfrm>
            <a:off x="7341570" y="632936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38*</a:t>
            </a:r>
          </a:p>
        </p:txBody>
      </p:sp>
      <p:sp>
        <p:nvSpPr>
          <p:cNvPr id="222" name="Rectangle 36"/>
          <p:cNvSpPr>
            <a:spLocks noChangeArrowheads="1"/>
          </p:cNvSpPr>
          <p:nvPr/>
        </p:nvSpPr>
        <p:spPr bwMode="auto">
          <a:xfrm>
            <a:off x="7776545" y="6318250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39*</a:t>
            </a:r>
          </a:p>
        </p:txBody>
      </p:sp>
      <p:sp>
        <p:nvSpPr>
          <p:cNvPr id="223" name="Arc 37"/>
          <p:cNvSpPr>
            <a:spLocks/>
          </p:cNvSpPr>
          <p:nvPr/>
        </p:nvSpPr>
        <p:spPr bwMode="auto">
          <a:xfrm rot="18420000">
            <a:off x="4358657" y="6026150"/>
            <a:ext cx="304800" cy="381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4" name="Arc 38"/>
          <p:cNvSpPr>
            <a:spLocks/>
          </p:cNvSpPr>
          <p:nvPr/>
        </p:nvSpPr>
        <p:spPr bwMode="auto">
          <a:xfrm rot="18420000">
            <a:off x="6187457" y="6026150"/>
            <a:ext cx="304800" cy="381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4" name="Straight Arrow Connector 3"/>
          <p:cNvCxnSpPr>
            <a:stCxn id="99" idx="3"/>
          </p:cNvCxnSpPr>
          <p:nvPr/>
        </p:nvCxnSpPr>
        <p:spPr>
          <a:xfrm>
            <a:off x="4818319" y="4436251"/>
            <a:ext cx="449800" cy="1816911"/>
          </a:xfrm>
          <a:prstGeom prst="straightConnector1">
            <a:avLst/>
          </a:prstGeom>
          <a:ln w="1270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28474" y="5470009"/>
            <a:ext cx="796757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smtClean="0"/>
              <a:t>Merge</a:t>
            </a:r>
            <a:endParaRPr lang="en-US" i="1" dirty="0"/>
          </a:p>
        </p:txBody>
      </p:sp>
      <p:sp>
        <p:nvSpPr>
          <p:cNvPr id="225" name="Oval 224"/>
          <p:cNvSpPr/>
          <p:nvPr/>
        </p:nvSpPr>
        <p:spPr>
          <a:xfrm>
            <a:off x="5329838" y="3171825"/>
            <a:ext cx="1757750" cy="542131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Oval 225"/>
          <p:cNvSpPr/>
          <p:nvPr/>
        </p:nvSpPr>
        <p:spPr>
          <a:xfrm>
            <a:off x="5559785" y="5204293"/>
            <a:ext cx="1757750" cy="542131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>
            <a:stCxn id="225" idx="0"/>
          </p:cNvCxnSpPr>
          <p:nvPr/>
        </p:nvCxnSpPr>
        <p:spPr>
          <a:xfrm flipV="1">
            <a:off x="6208713" y="2497138"/>
            <a:ext cx="504207" cy="674687"/>
          </a:xfrm>
          <a:prstGeom prst="straightConnector1">
            <a:avLst/>
          </a:prstGeom>
          <a:ln w="1270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/>
          <p:cNvCxnSpPr/>
          <p:nvPr/>
        </p:nvCxnSpPr>
        <p:spPr>
          <a:xfrm flipV="1">
            <a:off x="6583381" y="2514600"/>
            <a:ext cx="131126" cy="2689694"/>
          </a:xfrm>
          <a:prstGeom prst="straightConnector1">
            <a:avLst/>
          </a:prstGeom>
          <a:ln w="1270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TextBox 227"/>
          <p:cNvSpPr txBox="1"/>
          <p:nvPr/>
        </p:nvSpPr>
        <p:spPr>
          <a:xfrm>
            <a:off x="5164367" y="1715869"/>
            <a:ext cx="3863943" cy="64633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smtClean="0"/>
              <a:t>“Toss” 27 because the page that it was </a:t>
            </a:r>
            <a:br>
              <a:rPr lang="en-US" i="1" dirty="0" smtClean="0"/>
            </a:br>
            <a:r>
              <a:rPr lang="en-US" i="1" dirty="0" smtClean="0"/>
              <a:t>pointing to does not exist anymore!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21618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2" grpId="0" animBg="1"/>
      <p:bldP spid="100" grpId="0" animBg="1"/>
      <p:bldP spid="172" grpId="0" animBg="1"/>
      <p:bldP spid="176" grpId="0" animBg="1"/>
      <p:bldP spid="177" grpId="0" animBg="1"/>
      <p:bldP spid="178" grpId="0" animBg="1"/>
      <p:bldP spid="196" grpId="0" animBg="1"/>
      <p:bldP spid="197" grpId="0" animBg="1"/>
      <p:bldP spid="198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0" grpId="0" animBg="1"/>
      <p:bldP spid="211" grpId="0" animBg="1"/>
      <p:bldP spid="212" grpId="0" animBg="1"/>
      <p:bldP spid="213" grpId="0" animBg="1"/>
      <p:bldP spid="214" grpId="0" animBg="1"/>
      <p:bldP spid="215" grpId="0"/>
      <p:bldP spid="216" grpId="0"/>
      <p:bldP spid="217" grpId="0"/>
      <p:bldP spid="218" grpId="0"/>
      <p:bldP spid="219" grpId="0"/>
      <p:bldP spid="220" grpId="0"/>
      <p:bldP spid="221" grpId="0"/>
      <p:bldP spid="222" grpId="0"/>
      <p:bldP spid="223" grpId="0" animBg="1"/>
      <p:bldP spid="224" grpId="0" animBg="1"/>
      <p:bldP spid="6" grpId="0" animBg="1"/>
      <p:bldP spid="225" grpId="0" animBg="1"/>
      <p:bldP spid="226" grpId="0" animBg="1"/>
      <p:bldP spid="22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B+ Tree: Examples </a:t>
            </a:r>
            <a:r>
              <a:rPr lang="en-US" dirty="0" smtClean="0">
                <a:ea typeface="ＭＳ Ｐゴシック" pitchFamily="34" charset="-128"/>
              </a:rPr>
              <a:t>of Deletions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Delete </a:t>
            </a:r>
            <a:r>
              <a:rPr lang="en-US" dirty="0" smtClean="0">
                <a:solidFill>
                  <a:srgbClr val="FF0000"/>
                </a:solidFill>
              </a:rPr>
              <a:t>24*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101" name="Freeform 4"/>
          <p:cNvSpPr>
            <a:spLocks/>
          </p:cNvSpPr>
          <p:nvPr/>
        </p:nvSpPr>
        <p:spPr bwMode="auto">
          <a:xfrm>
            <a:off x="381000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" name="Freeform 5"/>
          <p:cNvSpPr>
            <a:spLocks/>
          </p:cNvSpPr>
          <p:nvPr/>
        </p:nvSpPr>
        <p:spPr bwMode="auto">
          <a:xfrm>
            <a:off x="706438" y="4086225"/>
            <a:ext cx="325437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Freeform 6"/>
          <p:cNvSpPr>
            <a:spLocks/>
          </p:cNvSpPr>
          <p:nvPr/>
        </p:nvSpPr>
        <p:spPr bwMode="auto">
          <a:xfrm>
            <a:off x="1030288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" name="Freeform 7"/>
          <p:cNvSpPr>
            <a:spLocks/>
          </p:cNvSpPr>
          <p:nvPr/>
        </p:nvSpPr>
        <p:spPr bwMode="auto">
          <a:xfrm>
            <a:off x="1355725" y="4086225"/>
            <a:ext cx="325438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" name="Rectangle 8"/>
          <p:cNvSpPr>
            <a:spLocks noChangeArrowheads="1"/>
          </p:cNvSpPr>
          <p:nvPr/>
        </p:nvSpPr>
        <p:spPr bwMode="auto">
          <a:xfrm>
            <a:off x="390525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2*</a:t>
            </a:r>
          </a:p>
        </p:txBody>
      </p:sp>
      <p:sp>
        <p:nvSpPr>
          <p:cNvPr id="106" name="Rectangle 9"/>
          <p:cNvSpPr>
            <a:spLocks noChangeArrowheads="1"/>
          </p:cNvSpPr>
          <p:nvPr/>
        </p:nvSpPr>
        <p:spPr bwMode="auto">
          <a:xfrm>
            <a:off x="715963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3*</a:t>
            </a:r>
          </a:p>
        </p:txBody>
      </p:sp>
      <p:sp>
        <p:nvSpPr>
          <p:cNvPr id="107" name="Freeform 10"/>
          <p:cNvSpPr>
            <a:spLocks/>
          </p:cNvSpPr>
          <p:nvPr/>
        </p:nvSpPr>
        <p:spPr bwMode="auto">
          <a:xfrm>
            <a:off x="3549650" y="246856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Freeform 11"/>
          <p:cNvSpPr>
            <a:spLocks/>
          </p:cNvSpPr>
          <p:nvPr/>
        </p:nvSpPr>
        <p:spPr bwMode="auto">
          <a:xfrm>
            <a:off x="3629025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Freeform 12"/>
          <p:cNvSpPr>
            <a:spLocks/>
          </p:cNvSpPr>
          <p:nvPr/>
        </p:nvSpPr>
        <p:spPr bwMode="auto">
          <a:xfrm>
            <a:off x="4035425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Freeform 13"/>
          <p:cNvSpPr>
            <a:spLocks/>
          </p:cNvSpPr>
          <p:nvPr/>
        </p:nvSpPr>
        <p:spPr bwMode="auto">
          <a:xfrm>
            <a:off x="4116388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Freeform 14"/>
          <p:cNvSpPr>
            <a:spLocks/>
          </p:cNvSpPr>
          <p:nvPr/>
        </p:nvSpPr>
        <p:spPr bwMode="auto">
          <a:xfrm>
            <a:off x="4522788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Freeform 15"/>
          <p:cNvSpPr>
            <a:spLocks/>
          </p:cNvSpPr>
          <p:nvPr/>
        </p:nvSpPr>
        <p:spPr bwMode="auto">
          <a:xfrm>
            <a:off x="4603750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Freeform 16"/>
          <p:cNvSpPr>
            <a:spLocks/>
          </p:cNvSpPr>
          <p:nvPr/>
        </p:nvSpPr>
        <p:spPr bwMode="auto">
          <a:xfrm>
            <a:off x="5010150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Freeform 17"/>
          <p:cNvSpPr>
            <a:spLocks/>
          </p:cNvSpPr>
          <p:nvPr/>
        </p:nvSpPr>
        <p:spPr bwMode="auto">
          <a:xfrm>
            <a:off x="5091113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Freeform 18"/>
          <p:cNvSpPr>
            <a:spLocks/>
          </p:cNvSpPr>
          <p:nvPr/>
        </p:nvSpPr>
        <p:spPr bwMode="auto">
          <a:xfrm>
            <a:off x="5497513" y="246856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Freeform 19"/>
          <p:cNvSpPr>
            <a:spLocks/>
          </p:cNvSpPr>
          <p:nvPr/>
        </p:nvSpPr>
        <p:spPr bwMode="auto">
          <a:xfrm>
            <a:off x="3162300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Freeform 20"/>
          <p:cNvSpPr>
            <a:spLocks/>
          </p:cNvSpPr>
          <p:nvPr/>
        </p:nvSpPr>
        <p:spPr bwMode="auto">
          <a:xfrm>
            <a:off x="348773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Freeform 21"/>
          <p:cNvSpPr>
            <a:spLocks/>
          </p:cNvSpPr>
          <p:nvPr/>
        </p:nvSpPr>
        <p:spPr bwMode="auto">
          <a:xfrm>
            <a:off x="3813175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Freeform 22"/>
          <p:cNvSpPr>
            <a:spLocks/>
          </p:cNvSpPr>
          <p:nvPr/>
        </p:nvSpPr>
        <p:spPr bwMode="auto">
          <a:xfrm>
            <a:off x="41370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Freeform 35"/>
          <p:cNvSpPr>
            <a:spLocks/>
          </p:cNvSpPr>
          <p:nvPr/>
        </p:nvSpPr>
        <p:spPr bwMode="auto">
          <a:xfrm>
            <a:off x="1428750" y="323691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" name="Freeform 36"/>
          <p:cNvSpPr>
            <a:spLocks/>
          </p:cNvSpPr>
          <p:nvPr/>
        </p:nvSpPr>
        <p:spPr bwMode="auto">
          <a:xfrm>
            <a:off x="15097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" name="Freeform 37"/>
          <p:cNvSpPr>
            <a:spLocks/>
          </p:cNvSpPr>
          <p:nvPr/>
        </p:nvSpPr>
        <p:spPr bwMode="auto">
          <a:xfrm>
            <a:off x="1914525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" name="Freeform 38"/>
          <p:cNvSpPr>
            <a:spLocks/>
          </p:cNvSpPr>
          <p:nvPr/>
        </p:nvSpPr>
        <p:spPr bwMode="auto">
          <a:xfrm>
            <a:off x="199548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" name="Freeform 39"/>
          <p:cNvSpPr>
            <a:spLocks/>
          </p:cNvSpPr>
          <p:nvPr/>
        </p:nvSpPr>
        <p:spPr bwMode="auto">
          <a:xfrm>
            <a:off x="2401888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" name="Freeform 40"/>
          <p:cNvSpPr>
            <a:spLocks/>
          </p:cNvSpPr>
          <p:nvPr/>
        </p:nvSpPr>
        <p:spPr bwMode="auto">
          <a:xfrm>
            <a:off x="2482850" y="32369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" name="Freeform 41"/>
          <p:cNvSpPr>
            <a:spLocks/>
          </p:cNvSpPr>
          <p:nvPr/>
        </p:nvSpPr>
        <p:spPr bwMode="auto">
          <a:xfrm>
            <a:off x="288925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" name="Freeform 42"/>
          <p:cNvSpPr>
            <a:spLocks/>
          </p:cNvSpPr>
          <p:nvPr/>
        </p:nvSpPr>
        <p:spPr bwMode="auto">
          <a:xfrm>
            <a:off x="29702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" name="Freeform 43"/>
          <p:cNvSpPr>
            <a:spLocks/>
          </p:cNvSpPr>
          <p:nvPr/>
        </p:nvSpPr>
        <p:spPr bwMode="auto">
          <a:xfrm>
            <a:off x="3376613" y="323691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" name="Freeform 53"/>
          <p:cNvSpPr>
            <a:spLocks/>
          </p:cNvSpPr>
          <p:nvPr/>
        </p:nvSpPr>
        <p:spPr bwMode="auto">
          <a:xfrm>
            <a:off x="1012825" y="3559175"/>
            <a:ext cx="446088" cy="496888"/>
          </a:xfrm>
          <a:custGeom>
            <a:avLst/>
            <a:gdLst>
              <a:gd name="T0" fmla="*/ 444500 w 281"/>
              <a:gd name="T1" fmla="*/ 0 h 313"/>
              <a:gd name="T2" fmla="*/ 0 w 281"/>
              <a:gd name="T3" fmla="*/ 495300 h 313"/>
              <a:gd name="T4" fmla="*/ 444500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" name="Freeform 54"/>
          <p:cNvSpPr>
            <a:spLocks/>
          </p:cNvSpPr>
          <p:nvPr/>
        </p:nvSpPr>
        <p:spPr bwMode="auto">
          <a:xfrm>
            <a:off x="1012825" y="3962400"/>
            <a:ext cx="87313" cy="93663"/>
          </a:xfrm>
          <a:custGeom>
            <a:avLst/>
            <a:gdLst>
              <a:gd name="T0" fmla="*/ 85725 w 55"/>
              <a:gd name="T1" fmla="*/ 33338 h 59"/>
              <a:gd name="T2" fmla="*/ 0 w 55"/>
              <a:gd name="T3" fmla="*/ 92075 h 59"/>
              <a:gd name="T4" fmla="*/ 47625 w 55"/>
              <a:gd name="T5" fmla="*/ 0 h 59"/>
              <a:gd name="T6" fmla="*/ 85725 w 55"/>
              <a:gd name="T7" fmla="*/ 33338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2" name="Freeform 55"/>
          <p:cNvSpPr>
            <a:spLocks/>
          </p:cNvSpPr>
          <p:nvPr/>
        </p:nvSpPr>
        <p:spPr bwMode="auto">
          <a:xfrm>
            <a:off x="1944688" y="3559175"/>
            <a:ext cx="449262" cy="506413"/>
          </a:xfrm>
          <a:custGeom>
            <a:avLst/>
            <a:gdLst>
              <a:gd name="T0" fmla="*/ 0 w 283"/>
              <a:gd name="T1" fmla="*/ 0 h 319"/>
              <a:gd name="T2" fmla="*/ 447675 w 283"/>
              <a:gd name="T3" fmla="*/ 504825 h 319"/>
              <a:gd name="T4" fmla="*/ 0 w 283"/>
              <a:gd name="T5" fmla="*/ 0 h 319"/>
              <a:gd name="T6" fmla="*/ 0 60000 65536"/>
              <a:gd name="T7" fmla="*/ 0 60000 65536"/>
              <a:gd name="T8" fmla="*/ 0 60000 65536"/>
              <a:gd name="T9" fmla="*/ 0 w 283"/>
              <a:gd name="T10" fmla="*/ 0 h 319"/>
              <a:gd name="T11" fmla="*/ 283 w 283"/>
              <a:gd name="T12" fmla="*/ 319 h 31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3" h="319">
                <a:moveTo>
                  <a:pt x="0" y="0"/>
                </a:moveTo>
                <a:lnTo>
                  <a:pt x="282" y="318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" name="Freeform 56"/>
          <p:cNvSpPr>
            <a:spLocks/>
          </p:cNvSpPr>
          <p:nvPr/>
        </p:nvSpPr>
        <p:spPr bwMode="auto">
          <a:xfrm>
            <a:off x="2305050" y="3973513"/>
            <a:ext cx="88900" cy="92075"/>
          </a:xfrm>
          <a:custGeom>
            <a:avLst/>
            <a:gdLst>
              <a:gd name="T0" fmla="*/ 38100 w 56"/>
              <a:gd name="T1" fmla="*/ 0 h 58"/>
              <a:gd name="T2" fmla="*/ 87313 w 56"/>
              <a:gd name="T3" fmla="*/ 90488 h 58"/>
              <a:gd name="T4" fmla="*/ 0 w 56"/>
              <a:gd name="T5" fmla="*/ 33338 h 58"/>
              <a:gd name="T6" fmla="*/ 38100 w 56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6"/>
              <a:gd name="T13" fmla="*/ 0 h 58"/>
              <a:gd name="T14" fmla="*/ 56 w 56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" h="58">
                <a:moveTo>
                  <a:pt x="24" y="0"/>
                </a:moveTo>
                <a:lnTo>
                  <a:pt x="55" y="57"/>
                </a:lnTo>
                <a:lnTo>
                  <a:pt x="0" y="21"/>
                </a:lnTo>
                <a:lnTo>
                  <a:pt x="24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" name="Freeform 57"/>
          <p:cNvSpPr>
            <a:spLocks/>
          </p:cNvSpPr>
          <p:nvPr/>
        </p:nvSpPr>
        <p:spPr bwMode="auto">
          <a:xfrm>
            <a:off x="2443163" y="3559175"/>
            <a:ext cx="1330325" cy="517525"/>
          </a:xfrm>
          <a:custGeom>
            <a:avLst/>
            <a:gdLst>
              <a:gd name="T0" fmla="*/ 0 w 838"/>
              <a:gd name="T1" fmla="*/ 0 h 326"/>
              <a:gd name="T2" fmla="*/ 1328738 w 838"/>
              <a:gd name="T3" fmla="*/ 515938 h 326"/>
              <a:gd name="T4" fmla="*/ 0 w 838"/>
              <a:gd name="T5" fmla="*/ 0 h 326"/>
              <a:gd name="T6" fmla="*/ 0 60000 65536"/>
              <a:gd name="T7" fmla="*/ 0 60000 65536"/>
              <a:gd name="T8" fmla="*/ 0 60000 65536"/>
              <a:gd name="T9" fmla="*/ 0 w 838"/>
              <a:gd name="T10" fmla="*/ 0 h 326"/>
              <a:gd name="T11" fmla="*/ 838 w 838"/>
              <a:gd name="T12" fmla="*/ 326 h 3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38" h="326">
                <a:moveTo>
                  <a:pt x="0" y="0"/>
                </a:moveTo>
                <a:lnTo>
                  <a:pt x="837" y="32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" name="Freeform 58"/>
          <p:cNvSpPr>
            <a:spLocks/>
          </p:cNvSpPr>
          <p:nvPr/>
        </p:nvSpPr>
        <p:spPr bwMode="auto">
          <a:xfrm>
            <a:off x="3668713" y="4014788"/>
            <a:ext cx="104775" cy="61912"/>
          </a:xfrm>
          <a:custGeom>
            <a:avLst/>
            <a:gdLst>
              <a:gd name="T0" fmla="*/ 17463 w 66"/>
              <a:gd name="T1" fmla="*/ 0 h 39"/>
              <a:gd name="T2" fmla="*/ 103188 w 66"/>
              <a:gd name="T3" fmla="*/ 60325 h 39"/>
              <a:gd name="T4" fmla="*/ 0 w 66"/>
              <a:gd name="T5" fmla="*/ 47625 h 39"/>
              <a:gd name="T6" fmla="*/ 17463 w 66"/>
              <a:gd name="T7" fmla="*/ 0 h 39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39"/>
              <a:gd name="T14" fmla="*/ 66 w 66"/>
              <a:gd name="T15" fmla="*/ 39 h 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39">
                <a:moveTo>
                  <a:pt x="11" y="0"/>
                </a:moveTo>
                <a:lnTo>
                  <a:pt x="65" y="38"/>
                </a:lnTo>
                <a:lnTo>
                  <a:pt x="0" y="30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" name="Freeform 65"/>
          <p:cNvSpPr>
            <a:spLocks/>
          </p:cNvSpPr>
          <p:nvPr/>
        </p:nvSpPr>
        <p:spPr bwMode="auto">
          <a:xfrm>
            <a:off x="2401888" y="2820988"/>
            <a:ext cx="1177925" cy="396875"/>
          </a:xfrm>
          <a:custGeom>
            <a:avLst/>
            <a:gdLst>
              <a:gd name="T0" fmla="*/ 1176338 w 742"/>
              <a:gd name="T1" fmla="*/ 0 h 250"/>
              <a:gd name="T2" fmla="*/ 0 w 742"/>
              <a:gd name="T3" fmla="*/ 395288 h 250"/>
              <a:gd name="T4" fmla="*/ 1176338 w 742"/>
              <a:gd name="T5" fmla="*/ 0 h 250"/>
              <a:gd name="T6" fmla="*/ 0 60000 65536"/>
              <a:gd name="T7" fmla="*/ 0 60000 65536"/>
              <a:gd name="T8" fmla="*/ 0 60000 65536"/>
              <a:gd name="T9" fmla="*/ 0 w 742"/>
              <a:gd name="T10" fmla="*/ 0 h 250"/>
              <a:gd name="T11" fmla="*/ 742 w 742"/>
              <a:gd name="T12" fmla="*/ 250 h 2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42" h="250">
                <a:moveTo>
                  <a:pt x="741" y="0"/>
                </a:moveTo>
                <a:lnTo>
                  <a:pt x="0" y="249"/>
                </a:lnTo>
                <a:lnTo>
                  <a:pt x="74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" name="Freeform 66"/>
          <p:cNvSpPr>
            <a:spLocks/>
          </p:cNvSpPr>
          <p:nvPr/>
        </p:nvSpPr>
        <p:spPr bwMode="auto">
          <a:xfrm>
            <a:off x="2401888" y="3159125"/>
            <a:ext cx="106362" cy="58738"/>
          </a:xfrm>
          <a:custGeom>
            <a:avLst/>
            <a:gdLst>
              <a:gd name="T0" fmla="*/ 104775 w 67"/>
              <a:gd name="T1" fmla="*/ 49213 h 37"/>
              <a:gd name="T2" fmla="*/ 0 w 67"/>
              <a:gd name="T3" fmla="*/ 57150 h 37"/>
              <a:gd name="T4" fmla="*/ 88900 w 67"/>
              <a:gd name="T5" fmla="*/ 0 h 37"/>
              <a:gd name="T6" fmla="*/ 104775 w 67"/>
              <a:gd name="T7" fmla="*/ 49213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66" y="31"/>
                </a:moveTo>
                <a:lnTo>
                  <a:pt x="0" y="36"/>
                </a:lnTo>
                <a:lnTo>
                  <a:pt x="56" y="0"/>
                </a:lnTo>
                <a:lnTo>
                  <a:pt x="66" y="3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" name="Freeform 67"/>
          <p:cNvSpPr>
            <a:spLocks/>
          </p:cNvSpPr>
          <p:nvPr/>
        </p:nvSpPr>
        <p:spPr bwMode="auto">
          <a:xfrm>
            <a:off x="4065588" y="2830513"/>
            <a:ext cx="1992312" cy="387350"/>
          </a:xfrm>
          <a:custGeom>
            <a:avLst/>
            <a:gdLst>
              <a:gd name="T0" fmla="*/ 0 w 1255"/>
              <a:gd name="T1" fmla="*/ 0 h 244"/>
              <a:gd name="T2" fmla="*/ 1990725 w 1255"/>
              <a:gd name="T3" fmla="*/ 385763 h 244"/>
              <a:gd name="T4" fmla="*/ 0 w 1255"/>
              <a:gd name="T5" fmla="*/ 0 h 244"/>
              <a:gd name="T6" fmla="*/ 0 60000 65536"/>
              <a:gd name="T7" fmla="*/ 0 60000 65536"/>
              <a:gd name="T8" fmla="*/ 0 60000 65536"/>
              <a:gd name="T9" fmla="*/ 0 w 1255"/>
              <a:gd name="T10" fmla="*/ 0 h 244"/>
              <a:gd name="T11" fmla="*/ 1255 w 1255"/>
              <a:gd name="T12" fmla="*/ 244 h 2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5" h="244">
                <a:moveTo>
                  <a:pt x="0" y="0"/>
                </a:moveTo>
                <a:lnTo>
                  <a:pt x="1254" y="243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" name="Freeform 69"/>
          <p:cNvSpPr>
            <a:spLocks/>
          </p:cNvSpPr>
          <p:nvPr/>
        </p:nvSpPr>
        <p:spPr bwMode="auto">
          <a:xfrm>
            <a:off x="176371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" name="Freeform 70"/>
          <p:cNvSpPr>
            <a:spLocks/>
          </p:cNvSpPr>
          <p:nvPr/>
        </p:nvSpPr>
        <p:spPr bwMode="auto">
          <a:xfrm>
            <a:off x="2087563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" name="Freeform 71"/>
          <p:cNvSpPr>
            <a:spLocks/>
          </p:cNvSpPr>
          <p:nvPr/>
        </p:nvSpPr>
        <p:spPr bwMode="auto">
          <a:xfrm>
            <a:off x="241300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" name="Freeform 72"/>
          <p:cNvSpPr>
            <a:spLocks/>
          </p:cNvSpPr>
          <p:nvPr/>
        </p:nvSpPr>
        <p:spPr bwMode="auto">
          <a:xfrm>
            <a:off x="273685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0" name="Rectangle 73"/>
          <p:cNvSpPr>
            <a:spLocks noChangeArrowheads="1"/>
          </p:cNvSpPr>
          <p:nvPr/>
        </p:nvSpPr>
        <p:spPr bwMode="auto">
          <a:xfrm>
            <a:off x="2916238" y="2362200"/>
            <a:ext cx="5889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u="none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171" name="Rectangle 74"/>
          <p:cNvSpPr>
            <a:spLocks noChangeArrowheads="1"/>
          </p:cNvSpPr>
          <p:nvPr/>
        </p:nvSpPr>
        <p:spPr bwMode="auto">
          <a:xfrm>
            <a:off x="3678238" y="249713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17</a:t>
            </a:r>
          </a:p>
        </p:txBody>
      </p:sp>
      <p:sp>
        <p:nvSpPr>
          <p:cNvPr id="174" name="Rectangle 77"/>
          <p:cNvSpPr>
            <a:spLocks noChangeArrowheads="1"/>
          </p:cNvSpPr>
          <p:nvPr/>
        </p:nvSpPr>
        <p:spPr bwMode="auto">
          <a:xfrm>
            <a:off x="312261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14*</a:t>
            </a:r>
          </a:p>
        </p:txBody>
      </p:sp>
      <p:sp>
        <p:nvSpPr>
          <p:cNvPr id="175" name="Rectangle 78"/>
          <p:cNvSpPr>
            <a:spLocks noChangeArrowheads="1"/>
          </p:cNvSpPr>
          <p:nvPr/>
        </p:nvSpPr>
        <p:spPr bwMode="auto">
          <a:xfrm>
            <a:off x="344646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16*</a:t>
            </a:r>
          </a:p>
        </p:txBody>
      </p:sp>
      <p:sp>
        <p:nvSpPr>
          <p:cNvPr id="186" name="Rectangle 89"/>
          <p:cNvSpPr>
            <a:spLocks noChangeArrowheads="1"/>
          </p:cNvSpPr>
          <p:nvPr/>
        </p:nvSpPr>
        <p:spPr bwMode="auto">
          <a:xfrm>
            <a:off x="2024063" y="326548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13</a:t>
            </a:r>
          </a:p>
        </p:txBody>
      </p:sp>
      <p:sp>
        <p:nvSpPr>
          <p:cNvPr id="187" name="Rectangle 90"/>
          <p:cNvSpPr>
            <a:spLocks noChangeArrowheads="1"/>
          </p:cNvSpPr>
          <p:nvPr/>
        </p:nvSpPr>
        <p:spPr bwMode="auto">
          <a:xfrm>
            <a:off x="1557338" y="3265488"/>
            <a:ext cx="2762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188" name="Rectangle 91"/>
          <p:cNvSpPr>
            <a:spLocks noChangeArrowheads="1"/>
          </p:cNvSpPr>
          <p:nvPr/>
        </p:nvSpPr>
        <p:spPr bwMode="auto">
          <a:xfrm>
            <a:off x="2095500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7*</a:t>
            </a:r>
          </a:p>
        </p:txBody>
      </p:sp>
      <p:sp>
        <p:nvSpPr>
          <p:cNvPr id="189" name="Rectangle 92"/>
          <p:cNvSpPr>
            <a:spLocks noChangeArrowheads="1"/>
          </p:cNvSpPr>
          <p:nvPr/>
        </p:nvSpPr>
        <p:spPr bwMode="auto">
          <a:xfrm>
            <a:off x="1773238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5*</a:t>
            </a:r>
          </a:p>
        </p:txBody>
      </p:sp>
      <p:sp>
        <p:nvSpPr>
          <p:cNvPr id="190" name="Rectangle 93"/>
          <p:cNvSpPr>
            <a:spLocks noChangeArrowheads="1"/>
          </p:cNvSpPr>
          <p:nvPr/>
        </p:nvSpPr>
        <p:spPr bwMode="auto">
          <a:xfrm>
            <a:off x="2411413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8*</a:t>
            </a:r>
          </a:p>
        </p:txBody>
      </p:sp>
      <p:sp>
        <p:nvSpPr>
          <p:cNvPr id="192" name="Arc 95"/>
          <p:cNvSpPr>
            <a:spLocks/>
          </p:cNvSpPr>
          <p:nvPr/>
        </p:nvSpPr>
        <p:spPr bwMode="auto">
          <a:xfrm rot="13440000">
            <a:off x="15351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3" name="Arc 96"/>
          <p:cNvSpPr>
            <a:spLocks/>
          </p:cNvSpPr>
          <p:nvPr/>
        </p:nvSpPr>
        <p:spPr bwMode="auto">
          <a:xfrm rot="13440000">
            <a:off x="29067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" name="Arc 97"/>
          <p:cNvSpPr>
            <a:spLocks/>
          </p:cNvSpPr>
          <p:nvPr/>
        </p:nvSpPr>
        <p:spPr bwMode="auto">
          <a:xfrm rot="13440000">
            <a:off x="43545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0" name="Freeform 6"/>
          <p:cNvSpPr>
            <a:spLocks/>
          </p:cNvSpPr>
          <p:nvPr/>
        </p:nvSpPr>
        <p:spPr bwMode="auto">
          <a:xfrm>
            <a:off x="4625689" y="4090252"/>
            <a:ext cx="436562" cy="376238"/>
          </a:xfrm>
          <a:custGeom>
            <a:avLst/>
            <a:gdLst>
              <a:gd name="T0" fmla="*/ 0 w 275"/>
              <a:gd name="T1" fmla="*/ 236 h 237"/>
              <a:gd name="T2" fmla="*/ 0 w 275"/>
              <a:gd name="T3" fmla="*/ 0 h 237"/>
              <a:gd name="T4" fmla="*/ 274 w 275"/>
              <a:gd name="T5" fmla="*/ 0 h 237"/>
              <a:gd name="T6" fmla="*/ 274 w 275"/>
              <a:gd name="T7" fmla="*/ 236 h 237"/>
              <a:gd name="T8" fmla="*/ 0 w 275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5" h="237">
                <a:moveTo>
                  <a:pt x="0" y="236"/>
                </a:moveTo>
                <a:lnTo>
                  <a:pt x="0" y="0"/>
                </a:lnTo>
                <a:lnTo>
                  <a:pt x="274" y="0"/>
                </a:lnTo>
                <a:lnTo>
                  <a:pt x="274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2" name="Freeform 7"/>
          <p:cNvSpPr>
            <a:spLocks/>
          </p:cNvSpPr>
          <p:nvPr/>
        </p:nvSpPr>
        <p:spPr bwMode="auto">
          <a:xfrm>
            <a:off x="5060664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" name="Freeform 8"/>
          <p:cNvSpPr>
            <a:spLocks/>
          </p:cNvSpPr>
          <p:nvPr/>
        </p:nvSpPr>
        <p:spPr bwMode="auto">
          <a:xfrm>
            <a:off x="5494051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" name="Freeform 9"/>
          <p:cNvSpPr>
            <a:spLocks/>
          </p:cNvSpPr>
          <p:nvPr/>
        </p:nvSpPr>
        <p:spPr bwMode="auto">
          <a:xfrm>
            <a:off x="5927439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8" name="Freeform 10"/>
          <p:cNvSpPr>
            <a:spLocks/>
          </p:cNvSpPr>
          <p:nvPr/>
        </p:nvSpPr>
        <p:spPr bwMode="auto">
          <a:xfrm>
            <a:off x="6524339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" name="Freeform 11"/>
          <p:cNvSpPr>
            <a:spLocks/>
          </p:cNvSpPr>
          <p:nvPr/>
        </p:nvSpPr>
        <p:spPr bwMode="auto">
          <a:xfrm>
            <a:off x="6957726" y="4090252"/>
            <a:ext cx="436563" cy="376238"/>
          </a:xfrm>
          <a:custGeom>
            <a:avLst/>
            <a:gdLst>
              <a:gd name="T0" fmla="*/ 0 w 275"/>
              <a:gd name="T1" fmla="*/ 236 h 237"/>
              <a:gd name="T2" fmla="*/ 0 w 275"/>
              <a:gd name="T3" fmla="*/ 0 h 237"/>
              <a:gd name="T4" fmla="*/ 274 w 275"/>
              <a:gd name="T5" fmla="*/ 0 h 237"/>
              <a:gd name="T6" fmla="*/ 274 w 275"/>
              <a:gd name="T7" fmla="*/ 236 h 237"/>
              <a:gd name="T8" fmla="*/ 0 w 275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5" h="237">
                <a:moveTo>
                  <a:pt x="0" y="236"/>
                </a:moveTo>
                <a:lnTo>
                  <a:pt x="0" y="0"/>
                </a:lnTo>
                <a:lnTo>
                  <a:pt x="274" y="0"/>
                </a:lnTo>
                <a:lnTo>
                  <a:pt x="274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" name="Freeform 12"/>
          <p:cNvSpPr>
            <a:spLocks/>
          </p:cNvSpPr>
          <p:nvPr/>
        </p:nvSpPr>
        <p:spPr bwMode="auto">
          <a:xfrm>
            <a:off x="7392701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" name="Freeform 13"/>
          <p:cNvSpPr>
            <a:spLocks/>
          </p:cNvSpPr>
          <p:nvPr/>
        </p:nvSpPr>
        <p:spPr bwMode="auto">
          <a:xfrm>
            <a:off x="7826089" y="4090252"/>
            <a:ext cx="436562" cy="376238"/>
          </a:xfrm>
          <a:custGeom>
            <a:avLst/>
            <a:gdLst>
              <a:gd name="T0" fmla="*/ 0 w 275"/>
              <a:gd name="T1" fmla="*/ 236 h 237"/>
              <a:gd name="T2" fmla="*/ 0 w 275"/>
              <a:gd name="T3" fmla="*/ 0 h 237"/>
              <a:gd name="T4" fmla="*/ 274 w 275"/>
              <a:gd name="T5" fmla="*/ 0 h 237"/>
              <a:gd name="T6" fmla="*/ 274 w 275"/>
              <a:gd name="T7" fmla="*/ 236 h 237"/>
              <a:gd name="T8" fmla="*/ 0 w 275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5" h="237">
                <a:moveTo>
                  <a:pt x="0" y="236"/>
                </a:moveTo>
                <a:lnTo>
                  <a:pt x="0" y="0"/>
                </a:lnTo>
                <a:lnTo>
                  <a:pt x="274" y="0"/>
                </a:lnTo>
                <a:lnTo>
                  <a:pt x="274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0" name="Freeform 14"/>
          <p:cNvSpPr>
            <a:spLocks/>
          </p:cNvSpPr>
          <p:nvPr/>
        </p:nvSpPr>
        <p:spPr bwMode="auto">
          <a:xfrm>
            <a:off x="6049676" y="3093302"/>
            <a:ext cx="652463" cy="469900"/>
          </a:xfrm>
          <a:custGeom>
            <a:avLst/>
            <a:gdLst>
              <a:gd name="T0" fmla="*/ 0 w 411"/>
              <a:gd name="T1" fmla="*/ 295 h 296"/>
              <a:gd name="T2" fmla="*/ 0 w 411"/>
              <a:gd name="T3" fmla="*/ 0 h 296"/>
              <a:gd name="T4" fmla="*/ 410 w 411"/>
              <a:gd name="T5" fmla="*/ 0 h 296"/>
              <a:gd name="T6" fmla="*/ 410 w 411"/>
              <a:gd name="T7" fmla="*/ 295 h 296"/>
              <a:gd name="T8" fmla="*/ 0 w 411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1" h="296">
                <a:moveTo>
                  <a:pt x="0" y="295"/>
                </a:moveTo>
                <a:lnTo>
                  <a:pt x="0" y="0"/>
                </a:lnTo>
                <a:lnTo>
                  <a:pt x="410" y="0"/>
                </a:lnTo>
                <a:lnTo>
                  <a:pt x="410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1" name="Freeform 15"/>
          <p:cNvSpPr>
            <a:spLocks/>
          </p:cNvSpPr>
          <p:nvPr/>
        </p:nvSpPr>
        <p:spPr bwMode="auto">
          <a:xfrm>
            <a:off x="6157626" y="3093302"/>
            <a:ext cx="1588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295 h 296"/>
              <a:gd name="T4" fmla="*/ 0 w 1"/>
              <a:gd name="T5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2" name="Freeform 16"/>
          <p:cNvSpPr>
            <a:spLocks/>
          </p:cNvSpPr>
          <p:nvPr/>
        </p:nvSpPr>
        <p:spPr bwMode="auto">
          <a:xfrm>
            <a:off x="6700551" y="3093302"/>
            <a:ext cx="654050" cy="469900"/>
          </a:xfrm>
          <a:custGeom>
            <a:avLst/>
            <a:gdLst>
              <a:gd name="T0" fmla="*/ 0 w 412"/>
              <a:gd name="T1" fmla="*/ 295 h 296"/>
              <a:gd name="T2" fmla="*/ 0 w 412"/>
              <a:gd name="T3" fmla="*/ 0 h 296"/>
              <a:gd name="T4" fmla="*/ 411 w 412"/>
              <a:gd name="T5" fmla="*/ 0 h 296"/>
              <a:gd name="T6" fmla="*/ 411 w 412"/>
              <a:gd name="T7" fmla="*/ 295 h 296"/>
              <a:gd name="T8" fmla="*/ 0 w 412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2" h="296">
                <a:moveTo>
                  <a:pt x="0" y="295"/>
                </a:moveTo>
                <a:lnTo>
                  <a:pt x="0" y="0"/>
                </a:lnTo>
                <a:lnTo>
                  <a:pt x="411" y="0"/>
                </a:lnTo>
                <a:lnTo>
                  <a:pt x="411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3" name="Freeform 17"/>
          <p:cNvSpPr>
            <a:spLocks/>
          </p:cNvSpPr>
          <p:nvPr/>
        </p:nvSpPr>
        <p:spPr bwMode="auto">
          <a:xfrm>
            <a:off x="6810089" y="3093302"/>
            <a:ext cx="1587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295 h 296"/>
              <a:gd name="T4" fmla="*/ 0 w 1"/>
              <a:gd name="T5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" name="Freeform 18"/>
          <p:cNvSpPr>
            <a:spLocks/>
          </p:cNvSpPr>
          <p:nvPr/>
        </p:nvSpPr>
        <p:spPr bwMode="auto">
          <a:xfrm>
            <a:off x="7353014" y="3093302"/>
            <a:ext cx="652462" cy="469900"/>
          </a:xfrm>
          <a:custGeom>
            <a:avLst/>
            <a:gdLst>
              <a:gd name="T0" fmla="*/ 0 w 411"/>
              <a:gd name="T1" fmla="*/ 295 h 296"/>
              <a:gd name="T2" fmla="*/ 0 w 411"/>
              <a:gd name="T3" fmla="*/ 0 h 296"/>
              <a:gd name="T4" fmla="*/ 410 w 411"/>
              <a:gd name="T5" fmla="*/ 0 h 296"/>
              <a:gd name="T6" fmla="*/ 410 w 411"/>
              <a:gd name="T7" fmla="*/ 295 h 296"/>
              <a:gd name="T8" fmla="*/ 0 w 411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1" h="296">
                <a:moveTo>
                  <a:pt x="0" y="295"/>
                </a:moveTo>
                <a:lnTo>
                  <a:pt x="0" y="0"/>
                </a:lnTo>
                <a:lnTo>
                  <a:pt x="410" y="0"/>
                </a:lnTo>
                <a:lnTo>
                  <a:pt x="410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" name="Freeform 19"/>
          <p:cNvSpPr>
            <a:spLocks/>
          </p:cNvSpPr>
          <p:nvPr/>
        </p:nvSpPr>
        <p:spPr bwMode="auto">
          <a:xfrm>
            <a:off x="7459376" y="3093302"/>
            <a:ext cx="1588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295 h 296"/>
              <a:gd name="T4" fmla="*/ 0 w 1"/>
              <a:gd name="T5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" name="Freeform 20"/>
          <p:cNvSpPr>
            <a:spLocks/>
          </p:cNvSpPr>
          <p:nvPr/>
        </p:nvSpPr>
        <p:spPr bwMode="auto">
          <a:xfrm>
            <a:off x="8003889" y="3093302"/>
            <a:ext cx="650875" cy="469900"/>
          </a:xfrm>
          <a:custGeom>
            <a:avLst/>
            <a:gdLst>
              <a:gd name="T0" fmla="*/ 0 w 410"/>
              <a:gd name="T1" fmla="*/ 295 h 296"/>
              <a:gd name="T2" fmla="*/ 0 w 410"/>
              <a:gd name="T3" fmla="*/ 0 h 296"/>
              <a:gd name="T4" fmla="*/ 409 w 410"/>
              <a:gd name="T5" fmla="*/ 0 h 296"/>
              <a:gd name="T6" fmla="*/ 409 w 410"/>
              <a:gd name="T7" fmla="*/ 295 h 296"/>
              <a:gd name="T8" fmla="*/ 0 w 410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0" h="296">
                <a:moveTo>
                  <a:pt x="0" y="295"/>
                </a:moveTo>
                <a:lnTo>
                  <a:pt x="0" y="0"/>
                </a:lnTo>
                <a:lnTo>
                  <a:pt x="409" y="0"/>
                </a:lnTo>
                <a:lnTo>
                  <a:pt x="409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7" name="Freeform 21"/>
          <p:cNvSpPr>
            <a:spLocks/>
          </p:cNvSpPr>
          <p:nvPr/>
        </p:nvSpPr>
        <p:spPr bwMode="auto">
          <a:xfrm>
            <a:off x="8111839" y="3093302"/>
            <a:ext cx="1587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295 h 296"/>
              <a:gd name="T4" fmla="*/ 0 w 1"/>
              <a:gd name="T5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8" name="Freeform 22"/>
          <p:cNvSpPr>
            <a:spLocks/>
          </p:cNvSpPr>
          <p:nvPr/>
        </p:nvSpPr>
        <p:spPr bwMode="auto">
          <a:xfrm>
            <a:off x="8653176" y="3093302"/>
            <a:ext cx="111125" cy="469900"/>
          </a:xfrm>
          <a:custGeom>
            <a:avLst/>
            <a:gdLst>
              <a:gd name="T0" fmla="*/ 0 w 70"/>
              <a:gd name="T1" fmla="*/ 295 h 296"/>
              <a:gd name="T2" fmla="*/ 0 w 70"/>
              <a:gd name="T3" fmla="*/ 0 h 296"/>
              <a:gd name="T4" fmla="*/ 69 w 70"/>
              <a:gd name="T5" fmla="*/ 0 h 296"/>
              <a:gd name="T6" fmla="*/ 69 w 70"/>
              <a:gd name="T7" fmla="*/ 295 h 296"/>
              <a:gd name="T8" fmla="*/ 0 w 70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" h="296">
                <a:moveTo>
                  <a:pt x="0" y="295"/>
                </a:moveTo>
                <a:lnTo>
                  <a:pt x="0" y="0"/>
                </a:lnTo>
                <a:lnTo>
                  <a:pt x="69" y="0"/>
                </a:lnTo>
                <a:lnTo>
                  <a:pt x="69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9" name="Freeform 23"/>
          <p:cNvSpPr>
            <a:spLocks/>
          </p:cNvSpPr>
          <p:nvPr/>
        </p:nvSpPr>
        <p:spPr bwMode="auto">
          <a:xfrm>
            <a:off x="5494051" y="3491765"/>
            <a:ext cx="598488" cy="576262"/>
          </a:xfrm>
          <a:custGeom>
            <a:avLst/>
            <a:gdLst>
              <a:gd name="T0" fmla="*/ 376 w 377"/>
              <a:gd name="T1" fmla="*/ 0 h 363"/>
              <a:gd name="T2" fmla="*/ 0 w 377"/>
              <a:gd name="T3" fmla="*/ 362 h 363"/>
              <a:gd name="T4" fmla="*/ 376 w 377"/>
              <a:gd name="T5" fmla="*/ 0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7" h="363">
                <a:moveTo>
                  <a:pt x="376" y="0"/>
                </a:moveTo>
                <a:lnTo>
                  <a:pt x="0" y="362"/>
                </a:lnTo>
                <a:lnTo>
                  <a:pt x="376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0" name="Freeform 24"/>
          <p:cNvSpPr>
            <a:spLocks/>
          </p:cNvSpPr>
          <p:nvPr/>
        </p:nvSpPr>
        <p:spPr bwMode="auto">
          <a:xfrm>
            <a:off x="5494051" y="3960077"/>
            <a:ext cx="115888" cy="107950"/>
          </a:xfrm>
          <a:custGeom>
            <a:avLst/>
            <a:gdLst>
              <a:gd name="T0" fmla="*/ 72 w 73"/>
              <a:gd name="T1" fmla="*/ 24 h 68"/>
              <a:gd name="T2" fmla="*/ 0 w 73"/>
              <a:gd name="T3" fmla="*/ 67 h 68"/>
              <a:gd name="T4" fmla="*/ 41 w 73"/>
              <a:gd name="T5" fmla="*/ 0 h 68"/>
              <a:gd name="T6" fmla="*/ 72 w 73"/>
              <a:gd name="T7" fmla="*/ 24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3" h="68">
                <a:moveTo>
                  <a:pt x="72" y="24"/>
                </a:moveTo>
                <a:lnTo>
                  <a:pt x="0" y="67"/>
                </a:lnTo>
                <a:lnTo>
                  <a:pt x="41" y="0"/>
                </a:lnTo>
                <a:lnTo>
                  <a:pt x="72" y="2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1" name="Freeform 25"/>
          <p:cNvSpPr>
            <a:spLocks/>
          </p:cNvSpPr>
          <p:nvPr/>
        </p:nvSpPr>
        <p:spPr bwMode="auto">
          <a:xfrm>
            <a:off x="6740239" y="3491765"/>
            <a:ext cx="614362" cy="552450"/>
          </a:xfrm>
          <a:custGeom>
            <a:avLst/>
            <a:gdLst>
              <a:gd name="T0" fmla="*/ 0 w 387"/>
              <a:gd name="T1" fmla="*/ 0 h 348"/>
              <a:gd name="T2" fmla="*/ 386 w 387"/>
              <a:gd name="T3" fmla="*/ 347 h 348"/>
              <a:gd name="T4" fmla="*/ 0 w 387"/>
              <a:gd name="T5" fmla="*/ 0 h 3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7" h="348">
                <a:moveTo>
                  <a:pt x="0" y="0"/>
                </a:moveTo>
                <a:lnTo>
                  <a:pt x="386" y="34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2" name="Freeform 26"/>
          <p:cNvSpPr>
            <a:spLocks/>
          </p:cNvSpPr>
          <p:nvPr/>
        </p:nvSpPr>
        <p:spPr bwMode="auto">
          <a:xfrm>
            <a:off x="7233951" y="3937852"/>
            <a:ext cx="120650" cy="106363"/>
          </a:xfrm>
          <a:custGeom>
            <a:avLst/>
            <a:gdLst>
              <a:gd name="T0" fmla="*/ 31 w 76"/>
              <a:gd name="T1" fmla="*/ 0 h 67"/>
              <a:gd name="T2" fmla="*/ 75 w 76"/>
              <a:gd name="T3" fmla="*/ 66 h 67"/>
              <a:gd name="T4" fmla="*/ 0 w 76"/>
              <a:gd name="T5" fmla="*/ 25 h 67"/>
              <a:gd name="T6" fmla="*/ 31 w 76"/>
              <a:gd name="T7" fmla="*/ 0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" h="67">
                <a:moveTo>
                  <a:pt x="31" y="0"/>
                </a:moveTo>
                <a:lnTo>
                  <a:pt x="75" y="66"/>
                </a:lnTo>
                <a:lnTo>
                  <a:pt x="0" y="25"/>
                </a:lnTo>
                <a:lnTo>
                  <a:pt x="31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4" name="Freeform 28"/>
          <p:cNvSpPr>
            <a:spLocks/>
          </p:cNvSpPr>
          <p:nvPr/>
        </p:nvSpPr>
        <p:spPr bwMode="auto">
          <a:xfrm>
            <a:off x="5982031" y="3177870"/>
            <a:ext cx="141288" cy="68263"/>
          </a:xfrm>
          <a:custGeom>
            <a:avLst/>
            <a:gdLst>
              <a:gd name="T0" fmla="*/ 14 w 89"/>
              <a:gd name="T1" fmla="*/ 0 h 43"/>
              <a:gd name="T2" fmla="*/ 88 w 89"/>
              <a:gd name="T3" fmla="*/ 42 h 43"/>
              <a:gd name="T4" fmla="*/ 0 w 89"/>
              <a:gd name="T5" fmla="*/ 34 h 43"/>
              <a:gd name="T6" fmla="*/ 14 w 89"/>
              <a:gd name="T7" fmla="*/ 0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9" h="43">
                <a:moveTo>
                  <a:pt x="14" y="0"/>
                </a:moveTo>
                <a:lnTo>
                  <a:pt x="88" y="42"/>
                </a:lnTo>
                <a:lnTo>
                  <a:pt x="0" y="34"/>
                </a:lnTo>
                <a:lnTo>
                  <a:pt x="14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" name="Rectangle 29"/>
          <p:cNvSpPr>
            <a:spLocks noChangeArrowheads="1"/>
          </p:cNvSpPr>
          <p:nvPr/>
        </p:nvSpPr>
        <p:spPr bwMode="auto">
          <a:xfrm>
            <a:off x="6243351" y="3217127"/>
            <a:ext cx="3651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30</a:t>
            </a:r>
          </a:p>
        </p:txBody>
      </p:sp>
      <p:sp>
        <p:nvSpPr>
          <p:cNvPr id="216" name="Rectangle 30"/>
          <p:cNvSpPr>
            <a:spLocks noChangeArrowheads="1"/>
          </p:cNvSpPr>
          <p:nvPr/>
        </p:nvSpPr>
        <p:spPr bwMode="auto">
          <a:xfrm>
            <a:off x="4628864" y="416645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22*</a:t>
            </a:r>
          </a:p>
        </p:txBody>
      </p:sp>
      <p:sp>
        <p:nvSpPr>
          <p:cNvPr id="217" name="Rectangle 31"/>
          <p:cNvSpPr>
            <a:spLocks noChangeArrowheads="1"/>
          </p:cNvSpPr>
          <p:nvPr/>
        </p:nvSpPr>
        <p:spPr bwMode="auto">
          <a:xfrm>
            <a:off x="5063839" y="416645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27*</a:t>
            </a:r>
          </a:p>
        </p:txBody>
      </p:sp>
      <p:sp>
        <p:nvSpPr>
          <p:cNvPr id="218" name="Rectangle 32"/>
          <p:cNvSpPr>
            <a:spLocks noChangeArrowheads="1"/>
          </p:cNvSpPr>
          <p:nvPr/>
        </p:nvSpPr>
        <p:spPr bwMode="auto">
          <a:xfrm>
            <a:off x="5482939" y="4177565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29*</a:t>
            </a:r>
          </a:p>
        </p:txBody>
      </p:sp>
      <p:sp>
        <p:nvSpPr>
          <p:cNvPr id="219" name="Rectangle 33"/>
          <p:cNvSpPr>
            <a:spLocks noChangeArrowheads="1"/>
          </p:cNvSpPr>
          <p:nvPr/>
        </p:nvSpPr>
        <p:spPr bwMode="auto">
          <a:xfrm>
            <a:off x="6514814" y="4177565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33*</a:t>
            </a:r>
          </a:p>
        </p:txBody>
      </p:sp>
      <p:sp>
        <p:nvSpPr>
          <p:cNvPr id="220" name="Rectangle 34"/>
          <p:cNvSpPr>
            <a:spLocks noChangeArrowheads="1"/>
          </p:cNvSpPr>
          <p:nvPr/>
        </p:nvSpPr>
        <p:spPr bwMode="auto">
          <a:xfrm>
            <a:off x="6949789" y="4177565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34*</a:t>
            </a:r>
          </a:p>
        </p:txBody>
      </p:sp>
      <p:sp>
        <p:nvSpPr>
          <p:cNvPr id="221" name="Rectangle 35"/>
          <p:cNvSpPr>
            <a:spLocks noChangeArrowheads="1"/>
          </p:cNvSpPr>
          <p:nvPr/>
        </p:nvSpPr>
        <p:spPr bwMode="auto">
          <a:xfrm>
            <a:off x="7368889" y="416645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38*</a:t>
            </a:r>
          </a:p>
        </p:txBody>
      </p:sp>
      <p:sp>
        <p:nvSpPr>
          <p:cNvPr id="222" name="Rectangle 36"/>
          <p:cNvSpPr>
            <a:spLocks noChangeArrowheads="1"/>
          </p:cNvSpPr>
          <p:nvPr/>
        </p:nvSpPr>
        <p:spPr bwMode="auto">
          <a:xfrm>
            <a:off x="7803864" y="4155340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39*</a:t>
            </a:r>
          </a:p>
        </p:txBody>
      </p:sp>
      <p:sp>
        <p:nvSpPr>
          <p:cNvPr id="224" name="Arc 38"/>
          <p:cNvSpPr>
            <a:spLocks/>
          </p:cNvSpPr>
          <p:nvPr/>
        </p:nvSpPr>
        <p:spPr bwMode="auto">
          <a:xfrm rot="18420000">
            <a:off x="6214776" y="3863240"/>
            <a:ext cx="304800" cy="381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613841" y="2317367"/>
            <a:ext cx="34539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00B050"/>
                </a:solidFill>
              </a:rPr>
              <a:t>No, but almost there…</a:t>
            </a: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092539" y="1601788"/>
            <a:ext cx="18870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 smtClean="0">
                <a:solidFill>
                  <a:srgbClr val="00B050"/>
                </a:solidFill>
              </a:rPr>
              <a:t>Is it done?</a:t>
            </a:r>
            <a:endParaRPr lang="en-US" sz="3200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69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B+ Tree: Examples </a:t>
            </a:r>
            <a:r>
              <a:rPr lang="en-US" dirty="0" smtClean="0">
                <a:ea typeface="ＭＳ Ｐゴシック" pitchFamily="34" charset="-128"/>
              </a:rPr>
              <a:t>of Deletions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Delete </a:t>
            </a:r>
            <a:r>
              <a:rPr lang="en-US" dirty="0" smtClean="0">
                <a:solidFill>
                  <a:srgbClr val="FF0000"/>
                </a:solidFill>
              </a:rPr>
              <a:t>24*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101" name="Freeform 4"/>
          <p:cNvSpPr>
            <a:spLocks/>
          </p:cNvSpPr>
          <p:nvPr/>
        </p:nvSpPr>
        <p:spPr bwMode="auto">
          <a:xfrm>
            <a:off x="381000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" name="Freeform 5"/>
          <p:cNvSpPr>
            <a:spLocks/>
          </p:cNvSpPr>
          <p:nvPr/>
        </p:nvSpPr>
        <p:spPr bwMode="auto">
          <a:xfrm>
            <a:off x="706438" y="4086225"/>
            <a:ext cx="325437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Freeform 6"/>
          <p:cNvSpPr>
            <a:spLocks/>
          </p:cNvSpPr>
          <p:nvPr/>
        </p:nvSpPr>
        <p:spPr bwMode="auto">
          <a:xfrm>
            <a:off x="1030288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" name="Freeform 7"/>
          <p:cNvSpPr>
            <a:spLocks/>
          </p:cNvSpPr>
          <p:nvPr/>
        </p:nvSpPr>
        <p:spPr bwMode="auto">
          <a:xfrm>
            <a:off x="1355725" y="4086225"/>
            <a:ext cx="325438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" name="Rectangle 8"/>
          <p:cNvSpPr>
            <a:spLocks noChangeArrowheads="1"/>
          </p:cNvSpPr>
          <p:nvPr/>
        </p:nvSpPr>
        <p:spPr bwMode="auto">
          <a:xfrm>
            <a:off x="390525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2*</a:t>
            </a:r>
          </a:p>
        </p:txBody>
      </p:sp>
      <p:sp>
        <p:nvSpPr>
          <p:cNvPr id="106" name="Rectangle 9"/>
          <p:cNvSpPr>
            <a:spLocks noChangeArrowheads="1"/>
          </p:cNvSpPr>
          <p:nvPr/>
        </p:nvSpPr>
        <p:spPr bwMode="auto">
          <a:xfrm>
            <a:off x="715963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3*</a:t>
            </a:r>
          </a:p>
        </p:txBody>
      </p:sp>
      <p:sp>
        <p:nvSpPr>
          <p:cNvPr id="107" name="Freeform 10"/>
          <p:cNvSpPr>
            <a:spLocks/>
          </p:cNvSpPr>
          <p:nvPr/>
        </p:nvSpPr>
        <p:spPr bwMode="auto">
          <a:xfrm>
            <a:off x="3549650" y="246856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Freeform 11"/>
          <p:cNvSpPr>
            <a:spLocks/>
          </p:cNvSpPr>
          <p:nvPr/>
        </p:nvSpPr>
        <p:spPr bwMode="auto">
          <a:xfrm>
            <a:off x="3629025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Freeform 12"/>
          <p:cNvSpPr>
            <a:spLocks/>
          </p:cNvSpPr>
          <p:nvPr/>
        </p:nvSpPr>
        <p:spPr bwMode="auto">
          <a:xfrm>
            <a:off x="4035425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Freeform 13"/>
          <p:cNvSpPr>
            <a:spLocks/>
          </p:cNvSpPr>
          <p:nvPr/>
        </p:nvSpPr>
        <p:spPr bwMode="auto">
          <a:xfrm>
            <a:off x="4116388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Freeform 14"/>
          <p:cNvSpPr>
            <a:spLocks/>
          </p:cNvSpPr>
          <p:nvPr/>
        </p:nvSpPr>
        <p:spPr bwMode="auto">
          <a:xfrm>
            <a:off x="4522788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Freeform 15"/>
          <p:cNvSpPr>
            <a:spLocks/>
          </p:cNvSpPr>
          <p:nvPr/>
        </p:nvSpPr>
        <p:spPr bwMode="auto">
          <a:xfrm>
            <a:off x="4603750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Freeform 16"/>
          <p:cNvSpPr>
            <a:spLocks/>
          </p:cNvSpPr>
          <p:nvPr/>
        </p:nvSpPr>
        <p:spPr bwMode="auto">
          <a:xfrm>
            <a:off x="5010150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Freeform 17"/>
          <p:cNvSpPr>
            <a:spLocks/>
          </p:cNvSpPr>
          <p:nvPr/>
        </p:nvSpPr>
        <p:spPr bwMode="auto">
          <a:xfrm>
            <a:off x="5091113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Freeform 18"/>
          <p:cNvSpPr>
            <a:spLocks/>
          </p:cNvSpPr>
          <p:nvPr/>
        </p:nvSpPr>
        <p:spPr bwMode="auto">
          <a:xfrm>
            <a:off x="5497513" y="246856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Freeform 19"/>
          <p:cNvSpPr>
            <a:spLocks/>
          </p:cNvSpPr>
          <p:nvPr/>
        </p:nvSpPr>
        <p:spPr bwMode="auto">
          <a:xfrm>
            <a:off x="3162300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Freeform 20"/>
          <p:cNvSpPr>
            <a:spLocks/>
          </p:cNvSpPr>
          <p:nvPr/>
        </p:nvSpPr>
        <p:spPr bwMode="auto">
          <a:xfrm>
            <a:off x="348773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Freeform 21"/>
          <p:cNvSpPr>
            <a:spLocks/>
          </p:cNvSpPr>
          <p:nvPr/>
        </p:nvSpPr>
        <p:spPr bwMode="auto">
          <a:xfrm>
            <a:off x="3813175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Freeform 22"/>
          <p:cNvSpPr>
            <a:spLocks/>
          </p:cNvSpPr>
          <p:nvPr/>
        </p:nvSpPr>
        <p:spPr bwMode="auto">
          <a:xfrm>
            <a:off x="41370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Freeform 35"/>
          <p:cNvSpPr>
            <a:spLocks/>
          </p:cNvSpPr>
          <p:nvPr/>
        </p:nvSpPr>
        <p:spPr bwMode="auto">
          <a:xfrm>
            <a:off x="1428750" y="323691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" name="Freeform 36"/>
          <p:cNvSpPr>
            <a:spLocks/>
          </p:cNvSpPr>
          <p:nvPr/>
        </p:nvSpPr>
        <p:spPr bwMode="auto">
          <a:xfrm>
            <a:off x="15097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" name="Freeform 37"/>
          <p:cNvSpPr>
            <a:spLocks/>
          </p:cNvSpPr>
          <p:nvPr/>
        </p:nvSpPr>
        <p:spPr bwMode="auto">
          <a:xfrm>
            <a:off x="1914525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" name="Freeform 38"/>
          <p:cNvSpPr>
            <a:spLocks/>
          </p:cNvSpPr>
          <p:nvPr/>
        </p:nvSpPr>
        <p:spPr bwMode="auto">
          <a:xfrm>
            <a:off x="199548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" name="Freeform 39"/>
          <p:cNvSpPr>
            <a:spLocks/>
          </p:cNvSpPr>
          <p:nvPr/>
        </p:nvSpPr>
        <p:spPr bwMode="auto">
          <a:xfrm>
            <a:off x="2401888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" name="Freeform 40"/>
          <p:cNvSpPr>
            <a:spLocks/>
          </p:cNvSpPr>
          <p:nvPr/>
        </p:nvSpPr>
        <p:spPr bwMode="auto">
          <a:xfrm>
            <a:off x="2482850" y="32369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" name="Freeform 41"/>
          <p:cNvSpPr>
            <a:spLocks/>
          </p:cNvSpPr>
          <p:nvPr/>
        </p:nvSpPr>
        <p:spPr bwMode="auto">
          <a:xfrm>
            <a:off x="288925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" name="Freeform 42"/>
          <p:cNvSpPr>
            <a:spLocks/>
          </p:cNvSpPr>
          <p:nvPr/>
        </p:nvSpPr>
        <p:spPr bwMode="auto">
          <a:xfrm>
            <a:off x="29702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" name="Freeform 43"/>
          <p:cNvSpPr>
            <a:spLocks/>
          </p:cNvSpPr>
          <p:nvPr/>
        </p:nvSpPr>
        <p:spPr bwMode="auto">
          <a:xfrm>
            <a:off x="3376613" y="323691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" name="Freeform 53"/>
          <p:cNvSpPr>
            <a:spLocks/>
          </p:cNvSpPr>
          <p:nvPr/>
        </p:nvSpPr>
        <p:spPr bwMode="auto">
          <a:xfrm>
            <a:off x="1012825" y="3559175"/>
            <a:ext cx="446088" cy="496888"/>
          </a:xfrm>
          <a:custGeom>
            <a:avLst/>
            <a:gdLst>
              <a:gd name="T0" fmla="*/ 444500 w 281"/>
              <a:gd name="T1" fmla="*/ 0 h 313"/>
              <a:gd name="T2" fmla="*/ 0 w 281"/>
              <a:gd name="T3" fmla="*/ 495300 h 313"/>
              <a:gd name="T4" fmla="*/ 444500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" name="Freeform 54"/>
          <p:cNvSpPr>
            <a:spLocks/>
          </p:cNvSpPr>
          <p:nvPr/>
        </p:nvSpPr>
        <p:spPr bwMode="auto">
          <a:xfrm>
            <a:off x="1012825" y="3962400"/>
            <a:ext cx="87313" cy="93663"/>
          </a:xfrm>
          <a:custGeom>
            <a:avLst/>
            <a:gdLst>
              <a:gd name="T0" fmla="*/ 85725 w 55"/>
              <a:gd name="T1" fmla="*/ 33338 h 59"/>
              <a:gd name="T2" fmla="*/ 0 w 55"/>
              <a:gd name="T3" fmla="*/ 92075 h 59"/>
              <a:gd name="T4" fmla="*/ 47625 w 55"/>
              <a:gd name="T5" fmla="*/ 0 h 59"/>
              <a:gd name="T6" fmla="*/ 85725 w 55"/>
              <a:gd name="T7" fmla="*/ 33338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2" name="Freeform 55"/>
          <p:cNvSpPr>
            <a:spLocks/>
          </p:cNvSpPr>
          <p:nvPr/>
        </p:nvSpPr>
        <p:spPr bwMode="auto">
          <a:xfrm>
            <a:off x="1944688" y="3559175"/>
            <a:ext cx="449262" cy="506413"/>
          </a:xfrm>
          <a:custGeom>
            <a:avLst/>
            <a:gdLst>
              <a:gd name="T0" fmla="*/ 0 w 283"/>
              <a:gd name="T1" fmla="*/ 0 h 319"/>
              <a:gd name="T2" fmla="*/ 447675 w 283"/>
              <a:gd name="T3" fmla="*/ 504825 h 319"/>
              <a:gd name="T4" fmla="*/ 0 w 283"/>
              <a:gd name="T5" fmla="*/ 0 h 319"/>
              <a:gd name="T6" fmla="*/ 0 60000 65536"/>
              <a:gd name="T7" fmla="*/ 0 60000 65536"/>
              <a:gd name="T8" fmla="*/ 0 60000 65536"/>
              <a:gd name="T9" fmla="*/ 0 w 283"/>
              <a:gd name="T10" fmla="*/ 0 h 319"/>
              <a:gd name="T11" fmla="*/ 283 w 283"/>
              <a:gd name="T12" fmla="*/ 319 h 31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3" h="319">
                <a:moveTo>
                  <a:pt x="0" y="0"/>
                </a:moveTo>
                <a:lnTo>
                  <a:pt x="282" y="318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" name="Freeform 56"/>
          <p:cNvSpPr>
            <a:spLocks/>
          </p:cNvSpPr>
          <p:nvPr/>
        </p:nvSpPr>
        <p:spPr bwMode="auto">
          <a:xfrm>
            <a:off x="2305050" y="3973513"/>
            <a:ext cx="88900" cy="92075"/>
          </a:xfrm>
          <a:custGeom>
            <a:avLst/>
            <a:gdLst>
              <a:gd name="T0" fmla="*/ 38100 w 56"/>
              <a:gd name="T1" fmla="*/ 0 h 58"/>
              <a:gd name="T2" fmla="*/ 87313 w 56"/>
              <a:gd name="T3" fmla="*/ 90488 h 58"/>
              <a:gd name="T4" fmla="*/ 0 w 56"/>
              <a:gd name="T5" fmla="*/ 33338 h 58"/>
              <a:gd name="T6" fmla="*/ 38100 w 56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6"/>
              <a:gd name="T13" fmla="*/ 0 h 58"/>
              <a:gd name="T14" fmla="*/ 56 w 56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" h="58">
                <a:moveTo>
                  <a:pt x="24" y="0"/>
                </a:moveTo>
                <a:lnTo>
                  <a:pt x="55" y="57"/>
                </a:lnTo>
                <a:lnTo>
                  <a:pt x="0" y="21"/>
                </a:lnTo>
                <a:lnTo>
                  <a:pt x="24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" name="Freeform 57"/>
          <p:cNvSpPr>
            <a:spLocks/>
          </p:cNvSpPr>
          <p:nvPr/>
        </p:nvSpPr>
        <p:spPr bwMode="auto">
          <a:xfrm>
            <a:off x="2443163" y="3559175"/>
            <a:ext cx="1330325" cy="517525"/>
          </a:xfrm>
          <a:custGeom>
            <a:avLst/>
            <a:gdLst>
              <a:gd name="T0" fmla="*/ 0 w 838"/>
              <a:gd name="T1" fmla="*/ 0 h 326"/>
              <a:gd name="T2" fmla="*/ 1328738 w 838"/>
              <a:gd name="T3" fmla="*/ 515938 h 326"/>
              <a:gd name="T4" fmla="*/ 0 w 838"/>
              <a:gd name="T5" fmla="*/ 0 h 326"/>
              <a:gd name="T6" fmla="*/ 0 60000 65536"/>
              <a:gd name="T7" fmla="*/ 0 60000 65536"/>
              <a:gd name="T8" fmla="*/ 0 60000 65536"/>
              <a:gd name="T9" fmla="*/ 0 w 838"/>
              <a:gd name="T10" fmla="*/ 0 h 326"/>
              <a:gd name="T11" fmla="*/ 838 w 838"/>
              <a:gd name="T12" fmla="*/ 326 h 3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38" h="326">
                <a:moveTo>
                  <a:pt x="0" y="0"/>
                </a:moveTo>
                <a:lnTo>
                  <a:pt x="837" y="32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" name="Freeform 58"/>
          <p:cNvSpPr>
            <a:spLocks/>
          </p:cNvSpPr>
          <p:nvPr/>
        </p:nvSpPr>
        <p:spPr bwMode="auto">
          <a:xfrm>
            <a:off x="3668713" y="4014788"/>
            <a:ext cx="104775" cy="61912"/>
          </a:xfrm>
          <a:custGeom>
            <a:avLst/>
            <a:gdLst>
              <a:gd name="T0" fmla="*/ 17463 w 66"/>
              <a:gd name="T1" fmla="*/ 0 h 39"/>
              <a:gd name="T2" fmla="*/ 103188 w 66"/>
              <a:gd name="T3" fmla="*/ 60325 h 39"/>
              <a:gd name="T4" fmla="*/ 0 w 66"/>
              <a:gd name="T5" fmla="*/ 47625 h 39"/>
              <a:gd name="T6" fmla="*/ 17463 w 66"/>
              <a:gd name="T7" fmla="*/ 0 h 39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39"/>
              <a:gd name="T14" fmla="*/ 66 w 66"/>
              <a:gd name="T15" fmla="*/ 39 h 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39">
                <a:moveTo>
                  <a:pt x="11" y="0"/>
                </a:moveTo>
                <a:lnTo>
                  <a:pt x="65" y="38"/>
                </a:lnTo>
                <a:lnTo>
                  <a:pt x="0" y="30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" name="Freeform 65"/>
          <p:cNvSpPr>
            <a:spLocks/>
          </p:cNvSpPr>
          <p:nvPr/>
        </p:nvSpPr>
        <p:spPr bwMode="auto">
          <a:xfrm>
            <a:off x="2401888" y="2820988"/>
            <a:ext cx="1177925" cy="396875"/>
          </a:xfrm>
          <a:custGeom>
            <a:avLst/>
            <a:gdLst>
              <a:gd name="T0" fmla="*/ 1176338 w 742"/>
              <a:gd name="T1" fmla="*/ 0 h 250"/>
              <a:gd name="T2" fmla="*/ 0 w 742"/>
              <a:gd name="T3" fmla="*/ 395288 h 250"/>
              <a:gd name="T4" fmla="*/ 1176338 w 742"/>
              <a:gd name="T5" fmla="*/ 0 h 250"/>
              <a:gd name="T6" fmla="*/ 0 60000 65536"/>
              <a:gd name="T7" fmla="*/ 0 60000 65536"/>
              <a:gd name="T8" fmla="*/ 0 60000 65536"/>
              <a:gd name="T9" fmla="*/ 0 w 742"/>
              <a:gd name="T10" fmla="*/ 0 h 250"/>
              <a:gd name="T11" fmla="*/ 742 w 742"/>
              <a:gd name="T12" fmla="*/ 250 h 2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42" h="250">
                <a:moveTo>
                  <a:pt x="741" y="0"/>
                </a:moveTo>
                <a:lnTo>
                  <a:pt x="0" y="249"/>
                </a:lnTo>
                <a:lnTo>
                  <a:pt x="74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" name="Freeform 66"/>
          <p:cNvSpPr>
            <a:spLocks/>
          </p:cNvSpPr>
          <p:nvPr/>
        </p:nvSpPr>
        <p:spPr bwMode="auto">
          <a:xfrm>
            <a:off x="2401888" y="3159125"/>
            <a:ext cx="106362" cy="58738"/>
          </a:xfrm>
          <a:custGeom>
            <a:avLst/>
            <a:gdLst>
              <a:gd name="T0" fmla="*/ 104775 w 67"/>
              <a:gd name="T1" fmla="*/ 49213 h 37"/>
              <a:gd name="T2" fmla="*/ 0 w 67"/>
              <a:gd name="T3" fmla="*/ 57150 h 37"/>
              <a:gd name="T4" fmla="*/ 88900 w 67"/>
              <a:gd name="T5" fmla="*/ 0 h 37"/>
              <a:gd name="T6" fmla="*/ 104775 w 67"/>
              <a:gd name="T7" fmla="*/ 49213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66" y="31"/>
                </a:moveTo>
                <a:lnTo>
                  <a:pt x="0" y="36"/>
                </a:lnTo>
                <a:lnTo>
                  <a:pt x="56" y="0"/>
                </a:lnTo>
                <a:lnTo>
                  <a:pt x="66" y="3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" name="Freeform 67"/>
          <p:cNvSpPr>
            <a:spLocks/>
          </p:cNvSpPr>
          <p:nvPr/>
        </p:nvSpPr>
        <p:spPr bwMode="auto">
          <a:xfrm>
            <a:off x="4065588" y="2830513"/>
            <a:ext cx="1992312" cy="387350"/>
          </a:xfrm>
          <a:custGeom>
            <a:avLst/>
            <a:gdLst>
              <a:gd name="T0" fmla="*/ 0 w 1255"/>
              <a:gd name="T1" fmla="*/ 0 h 244"/>
              <a:gd name="T2" fmla="*/ 1990725 w 1255"/>
              <a:gd name="T3" fmla="*/ 385763 h 244"/>
              <a:gd name="T4" fmla="*/ 0 w 1255"/>
              <a:gd name="T5" fmla="*/ 0 h 244"/>
              <a:gd name="T6" fmla="*/ 0 60000 65536"/>
              <a:gd name="T7" fmla="*/ 0 60000 65536"/>
              <a:gd name="T8" fmla="*/ 0 60000 65536"/>
              <a:gd name="T9" fmla="*/ 0 w 1255"/>
              <a:gd name="T10" fmla="*/ 0 h 244"/>
              <a:gd name="T11" fmla="*/ 1255 w 1255"/>
              <a:gd name="T12" fmla="*/ 244 h 2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5" h="244">
                <a:moveTo>
                  <a:pt x="0" y="0"/>
                </a:moveTo>
                <a:lnTo>
                  <a:pt x="1254" y="243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" name="Freeform 69"/>
          <p:cNvSpPr>
            <a:spLocks/>
          </p:cNvSpPr>
          <p:nvPr/>
        </p:nvSpPr>
        <p:spPr bwMode="auto">
          <a:xfrm>
            <a:off x="176371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" name="Freeform 70"/>
          <p:cNvSpPr>
            <a:spLocks/>
          </p:cNvSpPr>
          <p:nvPr/>
        </p:nvSpPr>
        <p:spPr bwMode="auto">
          <a:xfrm>
            <a:off x="2087563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" name="Freeform 71"/>
          <p:cNvSpPr>
            <a:spLocks/>
          </p:cNvSpPr>
          <p:nvPr/>
        </p:nvSpPr>
        <p:spPr bwMode="auto">
          <a:xfrm>
            <a:off x="241300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" name="Freeform 72"/>
          <p:cNvSpPr>
            <a:spLocks/>
          </p:cNvSpPr>
          <p:nvPr/>
        </p:nvSpPr>
        <p:spPr bwMode="auto">
          <a:xfrm>
            <a:off x="273685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0" name="Rectangle 73"/>
          <p:cNvSpPr>
            <a:spLocks noChangeArrowheads="1"/>
          </p:cNvSpPr>
          <p:nvPr/>
        </p:nvSpPr>
        <p:spPr bwMode="auto">
          <a:xfrm>
            <a:off x="2916238" y="2362200"/>
            <a:ext cx="5889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u="none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171" name="Rectangle 74"/>
          <p:cNvSpPr>
            <a:spLocks noChangeArrowheads="1"/>
          </p:cNvSpPr>
          <p:nvPr/>
        </p:nvSpPr>
        <p:spPr bwMode="auto">
          <a:xfrm>
            <a:off x="3678238" y="249713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17</a:t>
            </a:r>
          </a:p>
        </p:txBody>
      </p:sp>
      <p:sp>
        <p:nvSpPr>
          <p:cNvPr id="174" name="Rectangle 77"/>
          <p:cNvSpPr>
            <a:spLocks noChangeArrowheads="1"/>
          </p:cNvSpPr>
          <p:nvPr/>
        </p:nvSpPr>
        <p:spPr bwMode="auto">
          <a:xfrm>
            <a:off x="312261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14*</a:t>
            </a:r>
          </a:p>
        </p:txBody>
      </p:sp>
      <p:sp>
        <p:nvSpPr>
          <p:cNvPr id="175" name="Rectangle 78"/>
          <p:cNvSpPr>
            <a:spLocks noChangeArrowheads="1"/>
          </p:cNvSpPr>
          <p:nvPr/>
        </p:nvSpPr>
        <p:spPr bwMode="auto">
          <a:xfrm>
            <a:off x="344646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16*</a:t>
            </a:r>
          </a:p>
        </p:txBody>
      </p:sp>
      <p:sp>
        <p:nvSpPr>
          <p:cNvPr id="186" name="Rectangle 89"/>
          <p:cNvSpPr>
            <a:spLocks noChangeArrowheads="1"/>
          </p:cNvSpPr>
          <p:nvPr/>
        </p:nvSpPr>
        <p:spPr bwMode="auto">
          <a:xfrm>
            <a:off x="2024063" y="326548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13</a:t>
            </a:r>
          </a:p>
        </p:txBody>
      </p:sp>
      <p:sp>
        <p:nvSpPr>
          <p:cNvPr id="187" name="Rectangle 90"/>
          <p:cNvSpPr>
            <a:spLocks noChangeArrowheads="1"/>
          </p:cNvSpPr>
          <p:nvPr/>
        </p:nvSpPr>
        <p:spPr bwMode="auto">
          <a:xfrm>
            <a:off x="1557338" y="3265488"/>
            <a:ext cx="2762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188" name="Rectangle 91"/>
          <p:cNvSpPr>
            <a:spLocks noChangeArrowheads="1"/>
          </p:cNvSpPr>
          <p:nvPr/>
        </p:nvSpPr>
        <p:spPr bwMode="auto">
          <a:xfrm>
            <a:off x="2095500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7*</a:t>
            </a:r>
          </a:p>
        </p:txBody>
      </p:sp>
      <p:sp>
        <p:nvSpPr>
          <p:cNvPr id="189" name="Rectangle 92"/>
          <p:cNvSpPr>
            <a:spLocks noChangeArrowheads="1"/>
          </p:cNvSpPr>
          <p:nvPr/>
        </p:nvSpPr>
        <p:spPr bwMode="auto">
          <a:xfrm>
            <a:off x="1773238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5*</a:t>
            </a:r>
          </a:p>
        </p:txBody>
      </p:sp>
      <p:sp>
        <p:nvSpPr>
          <p:cNvPr id="190" name="Rectangle 93"/>
          <p:cNvSpPr>
            <a:spLocks noChangeArrowheads="1"/>
          </p:cNvSpPr>
          <p:nvPr/>
        </p:nvSpPr>
        <p:spPr bwMode="auto">
          <a:xfrm>
            <a:off x="2411413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8*</a:t>
            </a:r>
          </a:p>
        </p:txBody>
      </p:sp>
      <p:sp>
        <p:nvSpPr>
          <p:cNvPr id="192" name="Arc 95"/>
          <p:cNvSpPr>
            <a:spLocks/>
          </p:cNvSpPr>
          <p:nvPr/>
        </p:nvSpPr>
        <p:spPr bwMode="auto">
          <a:xfrm rot="13440000">
            <a:off x="15351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3" name="Arc 96"/>
          <p:cNvSpPr>
            <a:spLocks/>
          </p:cNvSpPr>
          <p:nvPr/>
        </p:nvSpPr>
        <p:spPr bwMode="auto">
          <a:xfrm rot="13440000">
            <a:off x="29067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" name="Arc 97"/>
          <p:cNvSpPr>
            <a:spLocks/>
          </p:cNvSpPr>
          <p:nvPr/>
        </p:nvSpPr>
        <p:spPr bwMode="auto">
          <a:xfrm rot="13440000">
            <a:off x="43545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0" name="Freeform 6"/>
          <p:cNvSpPr>
            <a:spLocks/>
          </p:cNvSpPr>
          <p:nvPr/>
        </p:nvSpPr>
        <p:spPr bwMode="auto">
          <a:xfrm>
            <a:off x="4625689" y="4090252"/>
            <a:ext cx="436562" cy="376238"/>
          </a:xfrm>
          <a:custGeom>
            <a:avLst/>
            <a:gdLst>
              <a:gd name="T0" fmla="*/ 0 w 275"/>
              <a:gd name="T1" fmla="*/ 236 h 237"/>
              <a:gd name="T2" fmla="*/ 0 w 275"/>
              <a:gd name="T3" fmla="*/ 0 h 237"/>
              <a:gd name="T4" fmla="*/ 274 w 275"/>
              <a:gd name="T5" fmla="*/ 0 h 237"/>
              <a:gd name="T6" fmla="*/ 274 w 275"/>
              <a:gd name="T7" fmla="*/ 236 h 237"/>
              <a:gd name="T8" fmla="*/ 0 w 275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5" h="237">
                <a:moveTo>
                  <a:pt x="0" y="236"/>
                </a:moveTo>
                <a:lnTo>
                  <a:pt x="0" y="0"/>
                </a:lnTo>
                <a:lnTo>
                  <a:pt x="274" y="0"/>
                </a:lnTo>
                <a:lnTo>
                  <a:pt x="274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2" name="Freeform 7"/>
          <p:cNvSpPr>
            <a:spLocks/>
          </p:cNvSpPr>
          <p:nvPr/>
        </p:nvSpPr>
        <p:spPr bwMode="auto">
          <a:xfrm>
            <a:off x="5060664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" name="Freeform 8"/>
          <p:cNvSpPr>
            <a:spLocks/>
          </p:cNvSpPr>
          <p:nvPr/>
        </p:nvSpPr>
        <p:spPr bwMode="auto">
          <a:xfrm>
            <a:off x="5494051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" name="Freeform 9"/>
          <p:cNvSpPr>
            <a:spLocks/>
          </p:cNvSpPr>
          <p:nvPr/>
        </p:nvSpPr>
        <p:spPr bwMode="auto">
          <a:xfrm>
            <a:off x="5927439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8" name="Freeform 10"/>
          <p:cNvSpPr>
            <a:spLocks/>
          </p:cNvSpPr>
          <p:nvPr/>
        </p:nvSpPr>
        <p:spPr bwMode="auto">
          <a:xfrm>
            <a:off x="6524339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" name="Freeform 11"/>
          <p:cNvSpPr>
            <a:spLocks/>
          </p:cNvSpPr>
          <p:nvPr/>
        </p:nvSpPr>
        <p:spPr bwMode="auto">
          <a:xfrm>
            <a:off x="6957726" y="4090252"/>
            <a:ext cx="436563" cy="376238"/>
          </a:xfrm>
          <a:custGeom>
            <a:avLst/>
            <a:gdLst>
              <a:gd name="T0" fmla="*/ 0 w 275"/>
              <a:gd name="T1" fmla="*/ 236 h 237"/>
              <a:gd name="T2" fmla="*/ 0 w 275"/>
              <a:gd name="T3" fmla="*/ 0 h 237"/>
              <a:gd name="T4" fmla="*/ 274 w 275"/>
              <a:gd name="T5" fmla="*/ 0 h 237"/>
              <a:gd name="T6" fmla="*/ 274 w 275"/>
              <a:gd name="T7" fmla="*/ 236 h 237"/>
              <a:gd name="T8" fmla="*/ 0 w 275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5" h="237">
                <a:moveTo>
                  <a:pt x="0" y="236"/>
                </a:moveTo>
                <a:lnTo>
                  <a:pt x="0" y="0"/>
                </a:lnTo>
                <a:lnTo>
                  <a:pt x="274" y="0"/>
                </a:lnTo>
                <a:lnTo>
                  <a:pt x="274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" name="Freeform 12"/>
          <p:cNvSpPr>
            <a:spLocks/>
          </p:cNvSpPr>
          <p:nvPr/>
        </p:nvSpPr>
        <p:spPr bwMode="auto">
          <a:xfrm>
            <a:off x="7392701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" name="Freeform 13"/>
          <p:cNvSpPr>
            <a:spLocks/>
          </p:cNvSpPr>
          <p:nvPr/>
        </p:nvSpPr>
        <p:spPr bwMode="auto">
          <a:xfrm>
            <a:off x="7826089" y="4090252"/>
            <a:ext cx="436562" cy="376238"/>
          </a:xfrm>
          <a:custGeom>
            <a:avLst/>
            <a:gdLst>
              <a:gd name="T0" fmla="*/ 0 w 275"/>
              <a:gd name="T1" fmla="*/ 236 h 237"/>
              <a:gd name="T2" fmla="*/ 0 w 275"/>
              <a:gd name="T3" fmla="*/ 0 h 237"/>
              <a:gd name="T4" fmla="*/ 274 w 275"/>
              <a:gd name="T5" fmla="*/ 0 h 237"/>
              <a:gd name="T6" fmla="*/ 274 w 275"/>
              <a:gd name="T7" fmla="*/ 236 h 237"/>
              <a:gd name="T8" fmla="*/ 0 w 275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5" h="237">
                <a:moveTo>
                  <a:pt x="0" y="236"/>
                </a:moveTo>
                <a:lnTo>
                  <a:pt x="0" y="0"/>
                </a:lnTo>
                <a:lnTo>
                  <a:pt x="274" y="0"/>
                </a:lnTo>
                <a:lnTo>
                  <a:pt x="274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0" name="Freeform 14"/>
          <p:cNvSpPr>
            <a:spLocks/>
          </p:cNvSpPr>
          <p:nvPr/>
        </p:nvSpPr>
        <p:spPr bwMode="auto">
          <a:xfrm>
            <a:off x="6049676" y="3093302"/>
            <a:ext cx="652463" cy="469900"/>
          </a:xfrm>
          <a:custGeom>
            <a:avLst/>
            <a:gdLst>
              <a:gd name="T0" fmla="*/ 0 w 411"/>
              <a:gd name="T1" fmla="*/ 295 h 296"/>
              <a:gd name="T2" fmla="*/ 0 w 411"/>
              <a:gd name="T3" fmla="*/ 0 h 296"/>
              <a:gd name="T4" fmla="*/ 410 w 411"/>
              <a:gd name="T5" fmla="*/ 0 h 296"/>
              <a:gd name="T6" fmla="*/ 410 w 411"/>
              <a:gd name="T7" fmla="*/ 295 h 296"/>
              <a:gd name="T8" fmla="*/ 0 w 411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1" h="296">
                <a:moveTo>
                  <a:pt x="0" y="295"/>
                </a:moveTo>
                <a:lnTo>
                  <a:pt x="0" y="0"/>
                </a:lnTo>
                <a:lnTo>
                  <a:pt x="410" y="0"/>
                </a:lnTo>
                <a:lnTo>
                  <a:pt x="410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1" name="Freeform 15"/>
          <p:cNvSpPr>
            <a:spLocks/>
          </p:cNvSpPr>
          <p:nvPr/>
        </p:nvSpPr>
        <p:spPr bwMode="auto">
          <a:xfrm>
            <a:off x="6157626" y="3093302"/>
            <a:ext cx="1588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295 h 296"/>
              <a:gd name="T4" fmla="*/ 0 w 1"/>
              <a:gd name="T5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2" name="Freeform 16"/>
          <p:cNvSpPr>
            <a:spLocks/>
          </p:cNvSpPr>
          <p:nvPr/>
        </p:nvSpPr>
        <p:spPr bwMode="auto">
          <a:xfrm>
            <a:off x="6700551" y="3093302"/>
            <a:ext cx="654050" cy="469900"/>
          </a:xfrm>
          <a:custGeom>
            <a:avLst/>
            <a:gdLst>
              <a:gd name="T0" fmla="*/ 0 w 412"/>
              <a:gd name="T1" fmla="*/ 295 h 296"/>
              <a:gd name="T2" fmla="*/ 0 w 412"/>
              <a:gd name="T3" fmla="*/ 0 h 296"/>
              <a:gd name="T4" fmla="*/ 411 w 412"/>
              <a:gd name="T5" fmla="*/ 0 h 296"/>
              <a:gd name="T6" fmla="*/ 411 w 412"/>
              <a:gd name="T7" fmla="*/ 295 h 296"/>
              <a:gd name="T8" fmla="*/ 0 w 412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2" h="296">
                <a:moveTo>
                  <a:pt x="0" y="295"/>
                </a:moveTo>
                <a:lnTo>
                  <a:pt x="0" y="0"/>
                </a:lnTo>
                <a:lnTo>
                  <a:pt x="411" y="0"/>
                </a:lnTo>
                <a:lnTo>
                  <a:pt x="411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3" name="Freeform 17"/>
          <p:cNvSpPr>
            <a:spLocks/>
          </p:cNvSpPr>
          <p:nvPr/>
        </p:nvSpPr>
        <p:spPr bwMode="auto">
          <a:xfrm>
            <a:off x="6810089" y="3093302"/>
            <a:ext cx="1587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295 h 296"/>
              <a:gd name="T4" fmla="*/ 0 w 1"/>
              <a:gd name="T5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" name="Freeform 18"/>
          <p:cNvSpPr>
            <a:spLocks/>
          </p:cNvSpPr>
          <p:nvPr/>
        </p:nvSpPr>
        <p:spPr bwMode="auto">
          <a:xfrm>
            <a:off x="7353014" y="3093302"/>
            <a:ext cx="652462" cy="469900"/>
          </a:xfrm>
          <a:custGeom>
            <a:avLst/>
            <a:gdLst>
              <a:gd name="T0" fmla="*/ 0 w 411"/>
              <a:gd name="T1" fmla="*/ 295 h 296"/>
              <a:gd name="T2" fmla="*/ 0 w 411"/>
              <a:gd name="T3" fmla="*/ 0 h 296"/>
              <a:gd name="T4" fmla="*/ 410 w 411"/>
              <a:gd name="T5" fmla="*/ 0 h 296"/>
              <a:gd name="T6" fmla="*/ 410 w 411"/>
              <a:gd name="T7" fmla="*/ 295 h 296"/>
              <a:gd name="T8" fmla="*/ 0 w 411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1" h="296">
                <a:moveTo>
                  <a:pt x="0" y="295"/>
                </a:moveTo>
                <a:lnTo>
                  <a:pt x="0" y="0"/>
                </a:lnTo>
                <a:lnTo>
                  <a:pt x="410" y="0"/>
                </a:lnTo>
                <a:lnTo>
                  <a:pt x="410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" name="Freeform 19"/>
          <p:cNvSpPr>
            <a:spLocks/>
          </p:cNvSpPr>
          <p:nvPr/>
        </p:nvSpPr>
        <p:spPr bwMode="auto">
          <a:xfrm>
            <a:off x="7459376" y="3093302"/>
            <a:ext cx="1588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295 h 296"/>
              <a:gd name="T4" fmla="*/ 0 w 1"/>
              <a:gd name="T5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" name="Freeform 20"/>
          <p:cNvSpPr>
            <a:spLocks/>
          </p:cNvSpPr>
          <p:nvPr/>
        </p:nvSpPr>
        <p:spPr bwMode="auto">
          <a:xfrm>
            <a:off x="8003889" y="3093302"/>
            <a:ext cx="650875" cy="469900"/>
          </a:xfrm>
          <a:custGeom>
            <a:avLst/>
            <a:gdLst>
              <a:gd name="T0" fmla="*/ 0 w 410"/>
              <a:gd name="T1" fmla="*/ 295 h 296"/>
              <a:gd name="T2" fmla="*/ 0 w 410"/>
              <a:gd name="T3" fmla="*/ 0 h 296"/>
              <a:gd name="T4" fmla="*/ 409 w 410"/>
              <a:gd name="T5" fmla="*/ 0 h 296"/>
              <a:gd name="T6" fmla="*/ 409 w 410"/>
              <a:gd name="T7" fmla="*/ 295 h 296"/>
              <a:gd name="T8" fmla="*/ 0 w 410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0" h="296">
                <a:moveTo>
                  <a:pt x="0" y="295"/>
                </a:moveTo>
                <a:lnTo>
                  <a:pt x="0" y="0"/>
                </a:lnTo>
                <a:lnTo>
                  <a:pt x="409" y="0"/>
                </a:lnTo>
                <a:lnTo>
                  <a:pt x="409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7" name="Freeform 21"/>
          <p:cNvSpPr>
            <a:spLocks/>
          </p:cNvSpPr>
          <p:nvPr/>
        </p:nvSpPr>
        <p:spPr bwMode="auto">
          <a:xfrm>
            <a:off x="8111839" y="3093302"/>
            <a:ext cx="1587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295 h 296"/>
              <a:gd name="T4" fmla="*/ 0 w 1"/>
              <a:gd name="T5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8" name="Freeform 22"/>
          <p:cNvSpPr>
            <a:spLocks/>
          </p:cNvSpPr>
          <p:nvPr/>
        </p:nvSpPr>
        <p:spPr bwMode="auto">
          <a:xfrm>
            <a:off x="8653176" y="3093302"/>
            <a:ext cx="111125" cy="469900"/>
          </a:xfrm>
          <a:custGeom>
            <a:avLst/>
            <a:gdLst>
              <a:gd name="T0" fmla="*/ 0 w 70"/>
              <a:gd name="T1" fmla="*/ 295 h 296"/>
              <a:gd name="T2" fmla="*/ 0 w 70"/>
              <a:gd name="T3" fmla="*/ 0 h 296"/>
              <a:gd name="T4" fmla="*/ 69 w 70"/>
              <a:gd name="T5" fmla="*/ 0 h 296"/>
              <a:gd name="T6" fmla="*/ 69 w 70"/>
              <a:gd name="T7" fmla="*/ 295 h 296"/>
              <a:gd name="T8" fmla="*/ 0 w 70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" h="296">
                <a:moveTo>
                  <a:pt x="0" y="295"/>
                </a:moveTo>
                <a:lnTo>
                  <a:pt x="0" y="0"/>
                </a:lnTo>
                <a:lnTo>
                  <a:pt x="69" y="0"/>
                </a:lnTo>
                <a:lnTo>
                  <a:pt x="69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9" name="Freeform 23"/>
          <p:cNvSpPr>
            <a:spLocks/>
          </p:cNvSpPr>
          <p:nvPr/>
        </p:nvSpPr>
        <p:spPr bwMode="auto">
          <a:xfrm>
            <a:off x="5494051" y="3491765"/>
            <a:ext cx="598488" cy="576262"/>
          </a:xfrm>
          <a:custGeom>
            <a:avLst/>
            <a:gdLst>
              <a:gd name="T0" fmla="*/ 376 w 377"/>
              <a:gd name="T1" fmla="*/ 0 h 363"/>
              <a:gd name="T2" fmla="*/ 0 w 377"/>
              <a:gd name="T3" fmla="*/ 362 h 363"/>
              <a:gd name="T4" fmla="*/ 376 w 377"/>
              <a:gd name="T5" fmla="*/ 0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7" h="363">
                <a:moveTo>
                  <a:pt x="376" y="0"/>
                </a:moveTo>
                <a:lnTo>
                  <a:pt x="0" y="362"/>
                </a:lnTo>
                <a:lnTo>
                  <a:pt x="376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0" name="Freeform 24"/>
          <p:cNvSpPr>
            <a:spLocks/>
          </p:cNvSpPr>
          <p:nvPr/>
        </p:nvSpPr>
        <p:spPr bwMode="auto">
          <a:xfrm>
            <a:off x="5494051" y="3960077"/>
            <a:ext cx="115888" cy="107950"/>
          </a:xfrm>
          <a:custGeom>
            <a:avLst/>
            <a:gdLst>
              <a:gd name="T0" fmla="*/ 72 w 73"/>
              <a:gd name="T1" fmla="*/ 24 h 68"/>
              <a:gd name="T2" fmla="*/ 0 w 73"/>
              <a:gd name="T3" fmla="*/ 67 h 68"/>
              <a:gd name="T4" fmla="*/ 41 w 73"/>
              <a:gd name="T5" fmla="*/ 0 h 68"/>
              <a:gd name="T6" fmla="*/ 72 w 73"/>
              <a:gd name="T7" fmla="*/ 24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3" h="68">
                <a:moveTo>
                  <a:pt x="72" y="24"/>
                </a:moveTo>
                <a:lnTo>
                  <a:pt x="0" y="67"/>
                </a:lnTo>
                <a:lnTo>
                  <a:pt x="41" y="0"/>
                </a:lnTo>
                <a:lnTo>
                  <a:pt x="72" y="2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1" name="Freeform 25"/>
          <p:cNvSpPr>
            <a:spLocks/>
          </p:cNvSpPr>
          <p:nvPr/>
        </p:nvSpPr>
        <p:spPr bwMode="auto">
          <a:xfrm>
            <a:off x="6740239" y="3491765"/>
            <a:ext cx="614362" cy="552450"/>
          </a:xfrm>
          <a:custGeom>
            <a:avLst/>
            <a:gdLst>
              <a:gd name="T0" fmla="*/ 0 w 387"/>
              <a:gd name="T1" fmla="*/ 0 h 348"/>
              <a:gd name="T2" fmla="*/ 386 w 387"/>
              <a:gd name="T3" fmla="*/ 347 h 348"/>
              <a:gd name="T4" fmla="*/ 0 w 387"/>
              <a:gd name="T5" fmla="*/ 0 h 3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7" h="348">
                <a:moveTo>
                  <a:pt x="0" y="0"/>
                </a:moveTo>
                <a:lnTo>
                  <a:pt x="386" y="34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2" name="Freeform 26"/>
          <p:cNvSpPr>
            <a:spLocks/>
          </p:cNvSpPr>
          <p:nvPr/>
        </p:nvSpPr>
        <p:spPr bwMode="auto">
          <a:xfrm>
            <a:off x="7233951" y="3937852"/>
            <a:ext cx="120650" cy="106363"/>
          </a:xfrm>
          <a:custGeom>
            <a:avLst/>
            <a:gdLst>
              <a:gd name="T0" fmla="*/ 31 w 76"/>
              <a:gd name="T1" fmla="*/ 0 h 67"/>
              <a:gd name="T2" fmla="*/ 75 w 76"/>
              <a:gd name="T3" fmla="*/ 66 h 67"/>
              <a:gd name="T4" fmla="*/ 0 w 76"/>
              <a:gd name="T5" fmla="*/ 25 h 67"/>
              <a:gd name="T6" fmla="*/ 31 w 76"/>
              <a:gd name="T7" fmla="*/ 0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" h="67">
                <a:moveTo>
                  <a:pt x="31" y="0"/>
                </a:moveTo>
                <a:lnTo>
                  <a:pt x="75" y="66"/>
                </a:lnTo>
                <a:lnTo>
                  <a:pt x="0" y="25"/>
                </a:lnTo>
                <a:lnTo>
                  <a:pt x="31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4" name="Freeform 28"/>
          <p:cNvSpPr>
            <a:spLocks/>
          </p:cNvSpPr>
          <p:nvPr/>
        </p:nvSpPr>
        <p:spPr bwMode="auto">
          <a:xfrm>
            <a:off x="5982031" y="3177870"/>
            <a:ext cx="141288" cy="68263"/>
          </a:xfrm>
          <a:custGeom>
            <a:avLst/>
            <a:gdLst>
              <a:gd name="T0" fmla="*/ 14 w 89"/>
              <a:gd name="T1" fmla="*/ 0 h 43"/>
              <a:gd name="T2" fmla="*/ 88 w 89"/>
              <a:gd name="T3" fmla="*/ 42 h 43"/>
              <a:gd name="T4" fmla="*/ 0 w 89"/>
              <a:gd name="T5" fmla="*/ 34 h 43"/>
              <a:gd name="T6" fmla="*/ 14 w 89"/>
              <a:gd name="T7" fmla="*/ 0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9" h="43">
                <a:moveTo>
                  <a:pt x="14" y="0"/>
                </a:moveTo>
                <a:lnTo>
                  <a:pt x="88" y="42"/>
                </a:lnTo>
                <a:lnTo>
                  <a:pt x="0" y="34"/>
                </a:lnTo>
                <a:lnTo>
                  <a:pt x="14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" name="Rectangle 29"/>
          <p:cNvSpPr>
            <a:spLocks noChangeArrowheads="1"/>
          </p:cNvSpPr>
          <p:nvPr/>
        </p:nvSpPr>
        <p:spPr bwMode="auto">
          <a:xfrm>
            <a:off x="6243351" y="3217127"/>
            <a:ext cx="3651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30</a:t>
            </a:r>
          </a:p>
        </p:txBody>
      </p:sp>
      <p:sp>
        <p:nvSpPr>
          <p:cNvPr id="216" name="Rectangle 30"/>
          <p:cNvSpPr>
            <a:spLocks noChangeArrowheads="1"/>
          </p:cNvSpPr>
          <p:nvPr/>
        </p:nvSpPr>
        <p:spPr bwMode="auto">
          <a:xfrm>
            <a:off x="4628864" y="416645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22*</a:t>
            </a:r>
          </a:p>
        </p:txBody>
      </p:sp>
      <p:sp>
        <p:nvSpPr>
          <p:cNvPr id="217" name="Rectangle 31"/>
          <p:cNvSpPr>
            <a:spLocks noChangeArrowheads="1"/>
          </p:cNvSpPr>
          <p:nvPr/>
        </p:nvSpPr>
        <p:spPr bwMode="auto">
          <a:xfrm>
            <a:off x="5063839" y="416645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27*</a:t>
            </a:r>
          </a:p>
        </p:txBody>
      </p:sp>
      <p:sp>
        <p:nvSpPr>
          <p:cNvPr id="218" name="Rectangle 32"/>
          <p:cNvSpPr>
            <a:spLocks noChangeArrowheads="1"/>
          </p:cNvSpPr>
          <p:nvPr/>
        </p:nvSpPr>
        <p:spPr bwMode="auto">
          <a:xfrm>
            <a:off x="5482939" y="4177565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29*</a:t>
            </a:r>
          </a:p>
        </p:txBody>
      </p:sp>
      <p:sp>
        <p:nvSpPr>
          <p:cNvPr id="219" name="Rectangle 33"/>
          <p:cNvSpPr>
            <a:spLocks noChangeArrowheads="1"/>
          </p:cNvSpPr>
          <p:nvPr/>
        </p:nvSpPr>
        <p:spPr bwMode="auto">
          <a:xfrm>
            <a:off x="6514814" y="4177565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33*</a:t>
            </a:r>
          </a:p>
        </p:txBody>
      </p:sp>
      <p:sp>
        <p:nvSpPr>
          <p:cNvPr id="220" name="Rectangle 34"/>
          <p:cNvSpPr>
            <a:spLocks noChangeArrowheads="1"/>
          </p:cNvSpPr>
          <p:nvPr/>
        </p:nvSpPr>
        <p:spPr bwMode="auto">
          <a:xfrm>
            <a:off x="6949789" y="4177565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34*</a:t>
            </a:r>
          </a:p>
        </p:txBody>
      </p:sp>
      <p:sp>
        <p:nvSpPr>
          <p:cNvPr id="221" name="Rectangle 35"/>
          <p:cNvSpPr>
            <a:spLocks noChangeArrowheads="1"/>
          </p:cNvSpPr>
          <p:nvPr/>
        </p:nvSpPr>
        <p:spPr bwMode="auto">
          <a:xfrm>
            <a:off x="7368889" y="416645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38*</a:t>
            </a:r>
          </a:p>
        </p:txBody>
      </p:sp>
      <p:sp>
        <p:nvSpPr>
          <p:cNvPr id="222" name="Rectangle 36"/>
          <p:cNvSpPr>
            <a:spLocks noChangeArrowheads="1"/>
          </p:cNvSpPr>
          <p:nvPr/>
        </p:nvSpPr>
        <p:spPr bwMode="auto">
          <a:xfrm>
            <a:off x="7803864" y="4155340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39*</a:t>
            </a:r>
          </a:p>
        </p:txBody>
      </p:sp>
      <p:sp>
        <p:nvSpPr>
          <p:cNvPr id="224" name="Arc 38"/>
          <p:cNvSpPr>
            <a:spLocks/>
          </p:cNvSpPr>
          <p:nvPr/>
        </p:nvSpPr>
        <p:spPr bwMode="auto">
          <a:xfrm rot="18420000">
            <a:off x="6214776" y="3863240"/>
            <a:ext cx="304800" cy="381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88" name="Straight Arrow Connector 87"/>
          <p:cNvCxnSpPr>
            <a:stCxn id="90" idx="0"/>
            <a:endCxn id="89" idx="2"/>
          </p:cNvCxnSpPr>
          <p:nvPr/>
        </p:nvCxnSpPr>
        <p:spPr>
          <a:xfrm flipV="1">
            <a:off x="6478370" y="2231886"/>
            <a:ext cx="214821" cy="835661"/>
          </a:xfrm>
          <a:prstGeom prst="straightConnector1">
            <a:avLst/>
          </a:prstGeom>
          <a:ln w="1270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4655261" y="1524000"/>
            <a:ext cx="4075859" cy="70788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i="1" dirty="0" smtClean="0"/>
              <a:t>This entails an </a:t>
            </a:r>
            <a:r>
              <a:rPr lang="en-US" sz="2000" i="1" u="sng" dirty="0" smtClean="0"/>
              <a:t>underflow</a:t>
            </a:r>
            <a:r>
              <a:rPr lang="en-US" sz="2000" i="1" dirty="0" smtClean="0"/>
              <a:t>; hence, </a:t>
            </a:r>
          </a:p>
          <a:p>
            <a:r>
              <a:rPr lang="en-US" sz="2000" i="1" dirty="0" smtClean="0"/>
              <a:t>we must either redistribute or merge!</a:t>
            </a:r>
            <a:endParaRPr lang="en-US" sz="2000" i="1" dirty="0"/>
          </a:p>
        </p:txBody>
      </p:sp>
      <p:sp>
        <p:nvSpPr>
          <p:cNvPr id="90" name="Oval 89"/>
          <p:cNvSpPr/>
          <p:nvPr/>
        </p:nvSpPr>
        <p:spPr>
          <a:xfrm>
            <a:off x="5599495" y="3067547"/>
            <a:ext cx="1757750" cy="542131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18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B+ Tree: Examples </a:t>
            </a:r>
            <a:r>
              <a:rPr lang="en-US" dirty="0" smtClean="0">
                <a:ea typeface="ＭＳ Ｐゴシック" pitchFamily="34" charset="-128"/>
              </a:rPr>
              <a:t>of Deletions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Delete </a:t>
            </a:r>
            <a:r>
              <a:rPr lang="en-US" dirty="0" smtClean="0">
                <a:solidFill>
                  <a:srgbClr val="FF0000"/>
                </a:solidFill>
              </a:rPr>
              <a:t>24*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101" name="Freeform 4"/>
          <p:cNvSpPr>
            <a:spLocks/>
          </p:cNvSpPr>
          <p:nvPr/>
        </p:nvSpPr>
        <p:spPr bwMode="auto">
          <a:xfrm>
            <a:off x="381000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" name="Freeform 5"/>
          <p:cNvSpPr>
            <a:spLocks/>
          </p:cNvSpPr>
          <p:nvPr/>
        </p:nvSpPr>
        <p:spPr bwMode="auto">
          <a:xfrm>
            <a:off x="706438" y="4086225"/>
            <a:ext cx="325437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Freeform 6"/>
          <p:cNvSpPr>
            <a:spLocks/>
          </p:cNvSpPr>
          <p:nvPr/>
        </p:nvSpPr>
        <p:spPr bwMode="auto">
          <a:xfrm>
            <a:off x="1030288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" name="Freeform 7"/>
          <p:cNvSpPr>
            <a:spLocks/>
          </p:cNvSpPr>
          <p:nvPr/>
        </p:nvSpPr>
        <p:spPr bwMode="auto">
          <a:xfrm>
            <a:off x="1355725" y="4086225"/>
            <a:ext cx="325438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" name="Rectangle 8"/>
          <p:cNvSpPr>
            <a:spLocks noChangeArrowheads="1"/>
          </p:cNvSpPr>
          <p:nvPr/>
        </p:nvSpPr>
        <p:spPr bwMode="auto">
          <a:xfrm>
            <a:off x="390525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2*</a:t>
            </a:r>
          </a:p>
        </p:txBody>
      </p:sp>
      <p:sp>
        <p:nvSpPr>
          <p:cNvPr id="106" name="Rectangle 9"/>
          <p:cNvSpPr>
            <a:spLocks noChangeArrowheads="1"/>
          </p:cNvSpPr>
          <p:nvPr/>
        </p:nvSpPr>
        <p:spPr bwMode="auto">
          <a:xfrm>
            <a:off x="715963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3*</a:t>
            </a:r>
          </a:p>
        </p:txBody>
      </p:sp>
      <p:sp>
        <p:nvSpPr>
          <p:cNvPr id="107" name="Freeform 10"/>
          <p:cNvSpPr>
            <a:spLocks/>
          </p:cNvSpPr>
          <p:nvPr/>
        </p:nvSpPr>
        <p:spPr bwMode="auto">
          <a:xfrm>
            <a:off x="3549650" y="246856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Freeform 11"/>
          <p:cNvSpPr>
            <a:spLocks/>
          </p:cNvSpPr>
          <p:nvPr/>
        </p:nvSpPr>
        <p:spPr bwMode="auto">
          <a:xfrm>
            <a:off x="3629025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Freeform 12"/>
          <p:cNvSpPr>
            <a:spLocks/>
          </p:cNvSpPr>
          <p:nvPr/>
        </p:nvSpPr>
        <p:spPr bwMode="auto">
          <a:xfrm>
            <a:off x="4035425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Freeform 13"/>
          <p:cNvSpPr>
            <a:spLocks/>
          </p:cNvSpPr>
          <p:nvPr/>
        </p:nvSpPr>
        <p:spPr bwMode="auto">
          <a:xfrm>
            <a:off x="4116388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Freeform 14"/>
          <p:cNvSpPr>
            <a:spLocks/>
          </p:cNvSpPr>
          <p:nvPr/>
        </p:nvSpPr>
        <p:spPr bwMode="auto">
          <a:xfrm>
            <a:off x="4522788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Freeform 15"/>
          <p:cNvSpPr>
            <a:spLocks/>
          </p:cNvSpPr>
          <p:nvPr/>
        </p:nvSpPr>
        <p:spPr bwMode="auto">
          <a:xfrm>
            <a:off x="4603750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Freeform 16"/>
          <p:cNvSpPr>
            <a:spLocks/>
          </p:cNvSpPr>
          <p:nvPr/>
        </p:nvSpPr>
        <p:spPr bwMode="auto">
          <a:xfrm>
            <a:off x="5010150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Freeform 17"/>
          <p:cNvSpPr>
            <a:spLocks/>
          </p:cNvSpPr>
          <p:nvPr/>
        </p:nvSpPr>
        <p:spPr bwMode="auto">
          <a:xfrm>
            <a:off x="5091113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Freeform 18"/>
          <p:cNvSpPr>
            <a:spLocks/>
          </p:cNvSpPr>
          <p:nvPr/>
        </p:nvSpPr>
        <p:spPr bwMode="auto">
          <a:xfrm>
            <a:off x="5497513" y="246856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Freeform 19"/>
          <p:cNvSpPr>
            <a:spLocks/>
          </p:cNvSpPr>
          <p:nvPr/>
        </p:nvSpPr>
        <p:spPr bwMode="auto">
          <a:xfrm>
            <a:off x="3162300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Freeform 20"/>
          <p:cNvSpPr>
            <a:spLocks/>
          </p:cNvSpPr>
          <p:nvPr/>
        </p:nvSpPr>
        <p:spPr bwMode="auto">
          <a:xfrm>
            <a:off x="348773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Freeform 21"/>
          <p:cNvSpPr>
            <a:spLocks/>
          </p:cNvSpPr>
          <p:nvPr/>
        </p:nvSpPr>
        <p:spPr bwMode="auto">
          <a:xfrm>
            <a:off x="3813175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Freeform 22"/>
          <p:cNvSpPr>
            <a:spLocks/>
          </p:cNvSpPr>
          <p:nvPr/>
        </p:nvSpPr>
        <p:spPr bwMode="auto">
          <a:xfrm>
            <a:off x="41370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Freeform 35"/>
          <p:cNvSpPr>
            <a:spLocks/>
          </p:cNvSpPr>
          <p:nvPr/>
        </p:nvSpPr>
        <p:spPr bwMode="auto">
          <a:xfrm>
            <a:off x="1428750" y="323691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" name="Freeform 36"/>
          <p:cNvSpPr>
            <a:spLocks/>
          </p:cNvSpPr>
          <p:nvPr/>
        </p:nvSpPr>
        <p:spPr bwMode="auto">
          <a:xfrm>
            <a:off x="15097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" name="Freeform 37"/>
          <p:cNvSpPr>
            <a:spLocks/>
          </p:cNvSpPr>
          <p:nvPr/>
        </p:nvSpPr>
        <p:spPr bwMode="auto">
          <a:xfrm>
            <a:off x="1914525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" name="Freeform 38"/>
          <p:cNvSpPr>
            <a:spLocks/>
          </p:cNvSpPr>
          <p:nvPr/>
        </p:nvSpPr>
        <p:spPr bwMode="auto">
          <a:xfrm>
            <a:off x="199548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" name="Freeform 39"/>
          <p:cNvSpPr>
            <a:spLocks/>
          </p:cNvSpPr>
          <p:nvPr/>
        </p:nvSpPr>
        <p:spPr bwMode="auto">
          <a:xfrm>
            <a:off x="2401888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" name="Freeform 40"/>
          <p:cNvSpPr>
            <a:spLocks/>
          </p:cNvSpPr>
          <p:nvPr/>
        </p:nvSpPr>
        <p:spPr bwMode="auto">
          <a:xfrm>
            <a:off x="2482850" y="32369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" name="Freeform 41"/>
          <p:cNvSpPr>
            <a:spLocks/>
          </p:cNvSpPr>
          <p:nvPr/>
        </p:nvSpPr>
        <p:spPr bwMode="auto">
          <a:xfrm>
            <a:off x="288925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" name="Freeform 42"/>
          <p:cNvSpPr>
            <a:spLocks/>
          </p:cNvSpPr>
          <p:nvPr/>
        </p:nvSpPr>
        <p:spPr bwMode="auto">
          <a:xfrm>
            <a:off x="29702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" name="Freeform 43"/>
          <p:cNvSpPr>
            <a:spLocks/>
          </p:cNvSpPr>
          <p:nvPr/>
        </p:nvSpPr>
        <p:spPr bwMode="auto">
          <a:xfrm>
            <a:off x="3376613" y="323691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" name="Freeform 53"/>
          <p:cNvSpPr>
            <a:spLocks/>
          </p:cNvSpPr>
          <p:nvPr/>
        </p:nvSpPr>
        <p:spPr bwMode="auto">
          <a:xfrm>
            <a:off x="1012825" y="3559175"/>
            <a:ext cx="446088" cy="496888"/>
          </a:xfrm>
          <a:custGeom>
            <a:avLst/>
            <a:gdLst>
              <a:gd name="T0" fmla="*/ 444500 w 281"/>
              <a:gd name="T1" fmla="*/ 0 h 313"/>
              <a:gd name="T2" fmla="*/ 0 w 281"/>
              <a:gd name="T3" fmla="*/ 495300 h 313"/>
              <a:gd name="T4" fmla="*/ 444500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" name="Freeform 54"/>
          <p:cNvSpPr>
            <a:spLocks/>
          </p:cNvSpPr>
          <p:nvPr/>
        </p:nvSpPr>
        <p:spPr bwMode="auto">
          <a:xfrm>
            <a:off x="1012825" y="3962400"/>
            <a:ext cx="87313" cy="93663"/>
          </a:xfrm>
          <a:custGeom>
            <a:avLst/>
            <a:gdLst>
              <a:gd name="T0" fmla="*/ 85725 w 55"/>
              <a:gd name="T1" fmla="*/ 33338 h 59"/>
              <a:gd name="T2" fmla="*/ 0 w 55"/>
              <a:gd name="T3" fmla="*/ 92075 h 59"/>
              <a:gd name="T4" fmla="*/ 47625 w 55"/>
              <a:gd name="T5" fmla="*/ 0 h 59"/>
              <a:gd name="T6" fmla="*/ 85725 w 55"/>
              <a:gd name="T7" fmla="*/ 33338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2" name="Freeform 55"/>
          <p:cNvSpPr>
            <a:spLocks/>
          </p:cNvSpPr>
          <p:nvPr/>
        </p:nvSpPr>
        <p:spPr bwMode="auto">
          <a:xfrm>
            <a:off x="1944688" y="3559175"/>
            <a:ext cx="449262" cy="506413"/>
          </a:xfrm>
          <a:custGeom>
            <a:avLst/>
            <a:gdLst>
              <a:gd name="T0" fmla="*/ 0 w 283"/>
              <a:gd name="T1" fmla="*/ 0 h 319"/>
              <a:gd name="T2" fmla="*/ 447675 w 283"/>
              <a:gd name="T3" fmla="*/ 504825 h 319"/>
              <a:gd name="T4" fmla="*/ 0 w 283"/>
              <a:gd name="T5" fmla="*/ 0 h 319"/>
              <a:gd name="T6" fmla="*/ 0 60000 65536"/>
              <a:gd name="T7" fmla="*/ 0 60000 65536"/>
              <a:gd name="T8" fmla="*/ 0 60000 65536"/>
              <a:gd name="T9" fmla="*/ 0 w 283"/>
              <a:gd name="T10" fmla="*/ 0 h 319"/>
              <a:gd name="T11" fmla="*/ 283 w 283"/>
              <a:gd name="T12" fmla="*/ 319 h 31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3" h="319">
                <a:moveTo>
                  <a:pt x="0" y="0"/>
                </a:moveTo>
                <a:lnTo>
                  <a:pt x="282" y="318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" name="Freeform 56"/>
          <p:cNvSpPr>
            <a:spLocks/>
          </p:cNvSpPr>
          <p:nvPr/>
        </p:nvSpPr>
        <p:spPr bwMode="auto">
          <a:xfrm>
            <a:off x="2305050" y="3973513"/>
            <a:ext cx="88900" cy="92075"/>
          </a:xfrm>
          <a:custGeom>
            <a:avLst/>
            <a:gdLst>
              <a:gd name="T0" fmla="*/ 38100 w 56"/>
              <a:gd name="T1" fmla="*/ 0 h 58"/>
              <a:gd name="T2" fmla="*/ 87313 w 56"/>
              <a:gd name="T3" fmla="*/ 90488 h 58"/>
              <a:gd name="T4" fmla="*/ 0 w 56"/>
              <a:gd name="T5" fmla="*/ 33338 h 58"/>
              <a:gd name="T6" fmla="*/ 38100 w 56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6"/>
              <a:gd name="T13" fmla="*/ 0 h 58"/>
              <a:gd name="T14" fmla="*/ 56 w 56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" h="58">
                <a:moveTo>
                  <a:pt x="24" y="0"/>
                </a:moveTo>
                <a:lnTo>
                  <a:pt x="55" y="57"/>
                </a:lnTo>
                <a:lnTo>
                  <a:pt x="0" y="21"/>
                </a:lnTo>
                <a:lnTo>
                  <a:pt x="24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" name="Freeform 57"/>
          <p:cNvSpPr>
            <a:spLocks/>
          </p:cNvSpPr>
          <p:nvPr/>
        </p:nvSpPr>
        <p:spPr bwMode="auto">
          <a:xfrm>
            <a:off x="2443163" y="3559175"/>
            <a:ext cx="1330325" cy="517525"/>
          </a:xfrm>
          <a:custGeom>
            <a:avLst/>
            <a:gdLst>
              <a:gd name="T0" fmla="*/ 0 w 838"/>
              <a:gd name="T1" fmla="*/ 0 h 326"/>
              <a:gd name="T2" fmla="*/ 1328738 w 838"/>
              <a:gd name="T3" fmla="*/ 515938 h 326"/>
              <a:gd name="T4" fmla="*/ 0 w 838"/>
              <a:gd name="T5" fmla="*/ 0 h 326"/>
              <a:gd name="T6" fmla="*/ 0 60000 65536"/>
              <a:gd name="T7" fmla="*/ 0 60000 65536"/>
              <a:gd name="T8" fmla="*/ 0 60000 65536"/>
              <a:gd name="T9" fmla="*/ 0 w 838"/>
              <a:gd name="T10" fmla="*/ 0 h 326"/>
              <a:gd name="T11" fmla="*/ 838 w 838"/>
              <a:gd name="T12" fmla="*/ 326 h 3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38" h="326">
                <a:moveTo>
                  <a:pt x="0" y="0"/>
                </a:moveTo>
                <a:lnTo>
                  <a:pt x="837" y="32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" name="Freeform 58"/>
          <p:cNvSpPr>
            <a:spLocks/>
          </p:cNvSpPr>
          <p:nvPr/>
        </p:nvSpPr>
        <p:spPr bwMode="auto">
          <a:xfrm>
            <a:off x="3668713" y="4014788"/>
            <a:ext cx="104775" cy="61912"/>
          </a:xfrm>
          <a:custGeom>
            <a:avLst/>
            <a:gdLst>
              <a:gd name="T0" fmla="*/ 17463 w 66"/>
              <a:gd name="T1" fmla="*/ 0 h 39"/>
              <a:gd name="T2" fmla="*/ 103188 w 66"/>
              <a:gd name="T3" fmla="*/ 60325 h 39"/>
              <a:gd name="T4" fmla="*/ 0 w 66"/>
              <a:gd name="T5" fmla="*/ 47625 h 39"/>
              <a:gd name="T6" fmla="*/ 17463 w 66"/>
              <a:gd name="T7" fmla="*/ 0 h 39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39"/>
              <a:gd name="T14" fmla="*/ 66 w 66"/>
              <a:gd name="T15" fmla="*/ 39 h 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39">
                <a:moveTo>
                  <a:pt x="11" y="0"/>
                </a:moveTo>
                <a:lnTo>
                  <a:pt x="65" y="38"/>
                </a:lnTo>
                <a:lnTo>
                  <a:pt x="0" y="30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" name="Freeform 65"/>
          <p:cNvSpPr>
            <a:spLocks/>
          </p:cNvSpPr>
          <p:nvPr/>
        </p:nvSpPr>
        <p:spPr bwMode="auto">
          <a:xfrm>
            <a:off x="2401888" y="2820988"/>
            <a:ext cx="1177925" cy="396875"/>
          </a:xfrm>
          <a:custGeom>
            <a:avLst/>
            <a:gdLst>
              <a:gd name="T0" fmla="*/ 1176338 w 742"/>
              <a:gd name="T1" fmla="*/ 0 h 250"/>
              <a:gd name="T2" fmla="*/ 0 w 742"/>
              <a:gd name="T3" fmla="*/ 395288 h 250"/>
              <a:gd name="T4" fmla="*/ 1176338 w 742"/>
              <a:gd name="T5" fmla="*/ 0 h 250"/>
              <a:gd name="T6" fmla="*/ 0 60000 65536"/>
              <a:gd name="T7" fmla="*/ 0 60000 65536"/>
              <a:gd name="T8" fmla="*/ 0 60000 65536"/>
              <a:gd name="T9" fmla="*/ 0 w 742"/>
              <a:gd name="T10" fmla="*/ 0 h 250"/>
              <a:gd name="T11" fmla="*/ 742 w 742"/>
              <a:gd name="T12" fmla="*/ 250 h 2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42" h="250">
                <a:moveTo>
                  <a:pt x="741" y="0"/>
                </a:moveTo>
                <a:lnTo>
                  <a:pt x="0" y="249"/>
                </a:lnTo>
                <a:lnTo>
                  <a:pt x="74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" name="Freeform 66"/>
          <p:cNvSpPr>
            <a:spLocks/>
          </p:cNvSpPr>
          <p:nvPr/>
        </p:nvSpPr>
        <p:spPr bwMode="auto">
          <a:xfrm>
            <a:off x="2401888" y="3159125"/>
            <a:ext cx="106362" cy="58738"/>
          </a:xfrm>
          <a:custGeom>
            <a:avLst/>
            <a:gdLst>
              <a:gd name="T0" fmla="*/ 104775 w 67"/>
              <a:gd name="T1" fmla="*/ 49213 h 37"/>
              <a:gd name="T2" fmla="*/ 0 w 67"/>
              <a:gd name="T3" fmla="*/ 57150 h 37"/>
              <a:gd name="T4" fmla="*/ 88900 w 67"/>
              <a:gd name="T5" fmla="*/ 0 h 37"/>
              <a:gd name="T6" fmla="*/ 104775 w 67"/>
              <a:gd name="T7" fmla="*/ 49213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66" y="31"/>
                </a:moveTo>
                <a:lnTo>
                  <a:pt x="0" y="36"/>
                </a:lnTo>
                <a:lnTo>
                  <a:pt x="56" y="0"/>
                </a:lnTo>
                <a:lnTo>
                  <a:pt x="66" y="3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" name="Freeform 67"/>
          <p:cNvSpPr>
            <a:spLocks/>
          </p:cNvSpPr>
          <p:nvPr/>
        </p:nvSpPr>
        <p:spPr bwMode="auto">
          <a:xfrm>
            <a:off x="4065588" y="2830513"/>
            <a:ext cx="1992312" cy="387350"/>
          </a:xfrm>
          <a:custGeom>
            <a:avLst/>
            <a:gdLst>
              <a:gd name="T0" fmla="*/ 0 w 1255"/>
              <a:gd name="T1" fmla="*/ 0 h 244"/>
              <a:gd name="T2" fmla="*/ 1990725 w 1255"/>
              <a:gd name="T3" fmla="*/ 385763 h 244"/>
              <a:gd name="T4" fmla="*/ 0 w 1255"/>
              <a:gd name="T5" fmla="*/ 0 h 244"/>
              <a:gd name="T6" fmla="*/ 0 60000 65536"/>
              <a:gd name="T7" fmla="*/ 0 60000 65536"/>
              <a:gd name="T8" fmla="*/ 0 60000 65536"/>
              <a:gd name="T9" fmla="*/ 0 w 1255"/>
              <a:gd name="T10" fmla="*/ 0 h 244"/>
              <a:gd name="T11" fmla="*/ 1255 w 1255"/>
              <a:gd name="T12" fmla="*/ 244 h 2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5" h="244">
                <a:moveTo>
                  <a:pt x="0" y="0"/>
                </a:moveTo>
                <a:lnTo>
                  <a:pt x="1254" y="243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" name="Freeform 69"/>
          <p:cNvSpPr>
            <a:spLocks/>
          </p:cNvSpPr>
          <p:nvPr/>
        </p:nvSpPr>
        <p:spPr bwMode="auto">
          <a:xfrm>
            <a:off x="176371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" name="Freeform 70"/>
          <p:cNvSpPr>
            <a:spLocks/>
          </p:cNvSpPr>
          <p:nvPr/>
        </p:nvSpPr>
        <p:spPr bwMode="auto">
          <a:xfrm>
            <a:off x="2087563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" name="Freeform 71"/>
          <p:cNvSpPr>
            <a:spLocks/>
          </p:cNvSpPr>
          <p:nvPr/>
        </p:nvSpPr>
        <p:spPr bwMode="auto">
          <a:xfrm>
            <a:off x="241300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" name="Freeform 72"/>
          <p:cNvSpPr>
            <a:spLocks/>
          </p:cNvSpPr>
          <p:nvPr/>
        </p:nvSpPr>
        <p:spPr bwMode="auto">
          <a:xfrm>
            <a:off x="273685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0" name="Rectangle 73"/>
          <p:cNvSpPr>
            <a:spLocks noChangeArrowheads="1"/>
          </p:cNvSpPr>
          <p:nvPr/>
        </p:nvSpPr>
        <p:spPr bwMode="auto">
          <a:xfrm>
            <a:off x="2916238" y="2362200"/>
            <a:ext cx="5889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u="none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171" name="Rectangle 74"/>
          <p:cNvSpPr>
            <a:spLocks noChangeArrowheads="1"/>
          </p:cNvSpPr>
          <p:nvPr/>
        </p:nvSpPr>
        <p:spPr bwMode="auto">
          <a:xfrm>
            <a:off x="3678238" y="249713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17</a:t>
            </a:r>
          </a:p>
        </p:txBody>
      </p:sp>
      <p:sp>
        <p:nvSpPr>
          <p:cNvPr id="174" name="Rectangle 77"/>
          <p:cNvSpPr>
            <a:spLocks noChangeArrowheads="1"/>
          </p:cNvSpPr>
          <p:nvPr/>
        </p:nvSpPr>
        <p:spPr bwMode="auto">
          <a:xfrm>
            <a:off x="312261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14*</a:t>
            </a:r>
          </a:p>
        </p:txBody>
      </p:sp>
      <p:sp>
        <p:nvSpPr>
          <p:cNvPr id="175" name="Rectangle 78"/>
          <p:cNvSpPr>
            <a:spLocks noChangeArrowheads="1"/>
          </p:cNvSpPr>
          <p:nvPr/>
        </p:nvSpPr>
        <p:spPr bwMode="auto">
          <a:xfrm>
            <a:off x="344646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16*</a:t>
            </a:r>
          </a:p>
        </p:txBody>
      </p:sp>
      <p:sp>
        <p:nvSpPr>
          <p:cNvPr id="186" name="Rectangle 89"/>
          <p:cNvSpPr>
            <a:spLocks noChangeArrowheads="1"/>
          </p:cNvSpPr>
          <p:nvPr/>
        </p:nvSpPr>
        <p:spPr bwMode="auto">
          <a:xfrm>
            <a:off x="2024063" y="326548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13</a:t>
            </a:r>
          </a:p>
        </p:txBody>
      </p:sp>
      <p:sp>
        <p:nvSpPr>
          <p:cNvPr id="187" name="Rectangle 90"/>
          <p:cNvSpPr>
            <a:spLocks noChangeArrowheads="1"/>
          </p:cNvSpPr>
          <p:nvPr/>
        </p:nvSpPr>
        <p:spPr bwMode="auto">
          <a:xfrm>
            <a:off x="1557338" y="3265488"/>
            <a:ext cx="2762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188" name="Rectangle 91"/>
          <p:cNvSpPr>
            <a:spLocks noChangeArrowheads="1"/>
          </p:cNvSpPr>
          <p:nvPr/>
        </p:nvSpPr>
        <p:spPr bwMode="auto">
          <a:xfrm>
            <a:off x="2095500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7*</a:t>
            </a:r>
          </a:p>
        </p:txBody>
      </p:sp>
      <p:sp>
        <p:nvSpPr>
          <p:cNvPr id="189" name="Rectangle 92"/>
          <p:cNvSpPr>
            <a:spLocks noChangeArrowheads="1"/>
          </p:cNvSpPr>
          <p:nvPr/>
        </p:nvSpPr>
        <p:spPr bwMode="auto">
          <a:xfrm>
            <a:off x="1773238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5*</a:t>
            </a:r>
          </a:p>
        </p:txBody>
      </p:sp>
      <p:sp>
        <p:nvSpPr>
          <p:cNvPr id="190" name="Rectangle 93"/>
          <p:cNvSpPr>
            <a:spLocks noChangeArrowheads="1"/>
          </p:cNvSpPr>
          <p:nvPr/>
        </p:nvSpPr>
        <p:spPr bwMode="auto">
          <a:xfrm>
            <a:off x="2411413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8*</a:t>
            </a:r>
          </a:p>
        </p:txBody>
      </p:sp>
      <p:sp>
        <p:nvSpPr>
          <p:cNvPr id="192" name="Arc 95"/>
          <p:cNvSpPr>
            <a:spLocks/>
          </p:cNvSpPr>
          <p:nvPr/>
        </p:nvSpPr>
        <p:spPr bwMode="auto">
          <a:xfrm rot="13440000">
            <a:off x="15351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3" name="Arc 96"/>
          <p:cNvSpPr>
            <a:spLocks/>
          </p:cNvSpPr>
          <p:nvPr/>
        </p:nvSpPr>
        <p:spPr bwMode="auto">
          <a:xfrm rot="13440000">
            <a:off x="29067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" name="Arc 97"/>
          <p:cNvSpPr>
            <a:spLocks/>
          </p:cNvSpPr>
          <p:nvPr/>
        </p:nvSpPr>
        <p:spPr bwMode="auto">
          <a:xfrm rot="13440000">
            <a:off x="43545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0" name="Freeform 6"/>
          <p:cNvSpPr>
            <a:spLocks/>
          </p:cNvSpPr>
          <p:nvPr/>
        </p:nvSpPr>
        <p:spPr bwMode="auto">
          <a:xfrm>
            <a:off x="4625689" y="4090252"/>
            <a:ext cx="436562" cy="376238"/>
          </a:xfrm>
          <a:custGeom>
            <a:avLst/>
            <a:gdLst>
              <a:gd name="T0" fmla="*/ 0 w 275"/>
              <a:gd name="T1" fmla="*/ 236 h 237"/>
              <a:gd name="T2" fmla="*/ 0 w 275"/>
              <a:gd name="T3" fmla="*/ 0 h 237"/>
              <a:gd name="T4" fmla="*/ 274 w 275"/>
              <a:gd name="T5" fmla="*/ 0 h 237"/>
              <a:gd name="T6" fmla="*/ 274 w 275"/>
              <a:gd name="T7" fmla="*/ 236 h 237"/>
              <a:gd name="T8" fmla="*/ 0 w 275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5" h="237">
                <a:moveTo>
                  <a:pt x="0" y="236"/>
                </a:moveTo>
                <a:lnTo>
                  <a:pt x="0" y="0"/>
                </a:lnTo>
                <a:lnTo>
                  <a:pt x="274" y="0"/>
                </a:lnTo>
                <a:lnTo>
                  <a:pt x="274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2" name="Freeform 7"/>
          <p:cNvSpPr>
            <a:spLocks/>
          </p:cNvSpPr>
          <p:nvPr/>
        </p:nvSpPr>
        <p:spPr bwMode="auto">
          <a:xfrm>
            <a:off x="5060664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" name="Freeform 8"/>
          <p:cNvSpPr>
            <a:spLocks/>
          </p:cNvSpPr>
          <p:nvPr/>
        </p:nvSpPr>
        <p:spPr bwMode="auto">
          <a:xfrm>
            <a:off x="5494051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" name="Freeform 9"/>
          <p:cNvSpPr>
            <a:spLocks/>
          </p:cNvSpPr>
          <p:nvPr/>
        </p:nvSpPr>
        <p:spPr bwMode="auto">
          <a:xfrm>
            <a:off x="5927439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8" name="Freeform 10"/>
          <p:cNvSpPr>
            <a:spLocks/>
          </p:cNvSpPr>
          <p:nvPr/>
        </p:nvSpPr>
        <p:spPr bwMode="auto">
          <a:xfrm>
            <a:off x="6524339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" name="Freeform 11"/>
          <p:cNvSpPr>
            <a:spLocks/>
          </p:cNvSpPr>
          <p:nvPr/>
        </p:nvSpPr>
        <p:spPr bwMode="auto">
          <a:xfrm>
            <a:off x="6957726" y="4090252"/>
            <a:ext cx="436563" cy="376238"/>
          </a:xfrm>
          <a:custGeom>
            <a:avLst/>
            <a:gdLst>
              <a:gd name="T0" fmla="*/ 0 w 275"/>
              <a:gd name="T1" fmla="*/ 236 h 237"/>
              <a:gd name="T2" fmla="*/ 0 w 275"/>
              <a:gd name="T3" fmla="*/ 0 h 237"/>
              <a:gd name="T4" fmla="*/ 274 w 275"/>
              <a:gd name="T5" fmla="*/ 0 h 237"/>
              <a:gd name="T6" fmla="*/ 274 w 275"/>
              <a:gd name="T7" fmla="*/ 236 h 237"/>
              <a:gd name="T8" fmla="*/ 0 w 275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5" h="237">
                <a:moveTo>
                  <a:pt x="0" y="236"/>
                </a:moveTo>
                <a:lnTo>
                  <a:pt x="0" y="0"/>
                </a:lnTo>
                <a:lnTo>
                  <a:pt x="274" y="0"/>
                </a:lnTo>
                <a:lnTo>
                  <a:pt x="274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" name="Freeform 12"/>
          <p:cNvSpPr>
            <a:spLocks/>
          </p:cNvSpPr>
          <p:nvPr/>
        </p:nvSpPr>
        <p:spPr bwMode="auto">
          <a:xfrm>
            <a:off x="7392701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" name="Freeform 13"/>
          <p:cNvSpPr>
            <a:spLocks/>
          </p:cNvSpPr>
          <p:nvPr/>
        </p:nvSpPr>
        <p:spPr bwMode="auto">
          <a:xfrm>
            <a:off x="7826089" y="4090252"/>
            <a:ext cx="436562" cy="376238"/>
          </a:xfrm>
          <a:custGeom>
            <a:avLst/>
            <a:gdLst>
              <a:gd name="T0" fmla="*/ 0 w 275"/>
              <a:gd name="T1" fmla="*/ 236 h 237"/>
              <a:gd name="T2" fmla="*/ 0 w 275"/>
              <a:gd name="T3" fmla="*/ 0 h 237"/>
              <a:gd name="T4" fmla="*/ 274 w 275"/>
              <a:gd name="T5" fmla="*/ 0 h 237"/>
              <a:gd name="T6" fmla="*/ 274 w 275"/>
              <a:gd name="T7" fmla="*/ 236 h 237"/>
              <a:gd name="T8" fmla="*/ 0 w 275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5" h="237">
                <a:moveTo>
                  <a:pt x="0" y="236"/>
                </a:moveTo>
                <a:lnTo>
                  <a:pt x="0" y="0"/>
                </a:lnTo>
                <a:lnTo>
                  <a:pt x="274" y="0"/>
                </a:lnTo>
                <a:lnTo>
                  <a:pt x="274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0" name="Freeform 14"/>
          <p:cNvSpPr>
            <a:spLocks/>
          </p:cNvSpPr>
          <p:nvPr/>
        </p:nvSpPr>
        <p:spPr bwMode="auto">
          <a:xfrm>
            <a:off x="6049676" y="3093302"/>
            <a:ext cx="652463" cy="469900"/>
          </a:xfrm>
          <a:custGeom>
            <a:avLst/>
            <a:gdLst>
              <a:gd name="T0" fmla="*/ 0 w 411"/>
              <a:gd name="T1" fmla="*/ 295 h 296"/>
              <a:gd name="T2" fmla="*/ 0 w 411"/>
              <a:gd name="T3" fmla="*/ 0 h 296"/>
              <a:gd name="T4" fmla="*/ 410 w 411"/>
              <a:gd name="T5" fmla="*/ 0 h 296"/>
              <a:gd name="T6" fmla="*/ 410 w 411"/>
              <a:gd name="T7" fmla="*/ 295 h 296"/>
              <a:gd name="T8" fmla="*/ 0 w 411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1" h="296">
                <a:moveTo>
                  <a:pt x="0" y="295"/>
                </a:moveTo>
                <a:lnTo>
                  <a:pt x="0" y="0"/>
                </a:lnTo>
                <a:lnTo>
                  <a:pt x="410" y="0"/>
                </a:lnTo>
                <a:lnTo>
                  <a:pt x="410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1" name="Freeform 15"/>
          <p:cNvSpPr>
            <a:spLocks/>
          </p:cNvSpPr>
          <p:nvPr/>
        </p:nvSpPr>
        <p:spPr bwMode="auto">
          <a:xfrm>
            <a:off x="6157626" y="3093302"/>
            <a:ext cx="1588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295 h 296"/>
              <a:gd name="T4" fmla="*/ 0 w 1"/>
              <a:gd name="T5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2" name="Freeform 16"/>
          <p:cNvSpPr>
            <a:spLocks/>
          </p:cNvSpPr>
          <p:nvPr/>
        </p:nvSpPr>
        <p:spPr bwMode="auto">
          <a:xfrm>
            <a:off x="6700551" y="3093302"/>
            <a:ext cx="654050" cy="469900"/>
          </a:xfrm>
          <a:custGeom>
            <a:avLst/>
            <a:gdLst>
              <a:gd name="T0" fmla="*/ 0 w 412"/>
              <a:gd name="T1" fmla="*/ 295 h 296"/>
              <a:gd name="T2" fmla="*/ 0 w 412"/>
              <a:gd name="T3" fmla="*/ 0 h 296"/>
              <a:gd name="T4" fmla="*/ 411 w 412"/>
              <a:gd name="T5" fmla="*/ 0 h 296"/>
              <a:gd name="T6" fmla="*/ 411 w 412"/>
              <a:gd name="T7" fmla="*/ 295 h 296"/>
              <a:gd name="T8" fmla="*/ 0 w 412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2" h="296">
                <a:moveTo>
                  <a:pt x="0" y="295"/>
                </a:moveTo>
                <a:lnTo>
                  <a:pt x="0" y="0"/>
                </a:lnTo>
                <a:lnTo>
                  <a:pt x="411" y="0"/>
                </a:lnTo>
                <a:lnTo>
                  <a:pt x="411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3" name="Freeform 17"/>
          <p:cNvSpPr>
            <a:spLocks/>
          </p:cNvSpPr>
          <p:nvPr/>
        </p:nvSpPr>
        <p:spPr bwMode="auto">
          <a:xfrm>
            <a:off x="6810089" y="3093302"/>
            <a:ext cx="1587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295 h 296"/>
              <a:gd name="T4" fmla="*/ 0 w 1"/>
              <a:gd name="T5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" name="Freeform 18"/>
          <p:cNvSpPr>
            <a:spLocks/>
          </p:cNvSpPr>
          <p:nvPr/>
        </p:nvSpPr>
        <p:spPr bwMode="auto">
          <a:xfrm>
            <a:off x="7353014" y="3093302"/>
            <a:ext cx="652462" cy="469900"/>
          </a:xfrm>
          <a:custGeom>
            <a:avLst/>
            <a:gdLst>
              <a:gd name="T0" fmla="*/ 0 w 411"/>
              <a:gd name="T1" fmla="*/ 295 h 296"/>
              <a:gd name="T2" fmla="*/ 0 w 411"/>
              <a:gd name="T3" fmla="*/ 0 h 296"/>
              <a:gd name="T4" fmla="*/ 410 w 411"/>
              <a:gd name="T5" fmla="*/ 0 h 296"/>
              <a:gd name="T6" fmla="*/ 410 w 411"/>
              <a:gd name="T7" fmla="*/ 295 h 296"/>
              <a:gd name="T8" fmla="*/ 0 w 411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1" h="296">
                <a:moveTo>
                  <a:pt x="0" y="295"/>
                </a:moveTo>
                <a:lnTo>
                  <a:pt x="0" y="0"/>
                </a:lnTo>
                <a:lnTo>
                  <a:pt x="410" y="0"/>
                </a:lnTo>
                <a:lnTo>
                  <a:pt x="410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" name="Freeform 19"/>
          <p:cNvSpPr>
            <a:spLocks/>
          </p:cNvSpPr>
          <p:nvPr/>
        </p:nvSpPr>
        <p:spPr bwMode="auto">
          <a:xfrm>
            <a:off x="7459376" y="3093302"/>
            <a:ext cx="1588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295 h 296"/>
              <a:gd name="T4" fmla="*/ 0 w 1"/>
              <a:gd name="T5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" name="Freeform 20"/>
          <p:cNvSpPr>
            <a:spLocks/>
          </p:cNvSpPr>
          <p:nvPr/>
        </p:nvSpPr>
        <p:spPr bwMode="auto">
          <a:xfrm>
            <a:off x="8003889" y="3093302"/>
            <a:ext cx="650875" cy="469900"/>
          </a:xfrm>
          <a:custGeom>
            <a:avLst/>
            <a:gdLst>
              <a:gd name="T0" fmla="*/ 0 w 410"/>
              <a:gd name="T1" fmla="*/ 295 h 296"/>
              <a:gd name="T2" fmla="*/ 0 w 410"/>
              <a:gd name="T3" fmla="*/ 0 h 296"/>
              <a:gd name="T4" fmla="*/ 409 w 410"/>
              <a:gd name="T5" fmla="*/ 0 h 296"/>
              <a:gd name="T6" fmla="*/ 409 w 410"/>
              <a:gd name="T7" fmla="*/ 295 h 296"/>
              <a:gd name="T8" fmla="*/ 0 w 410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0" h="296">
                <a:moveTo>
                  <a:pt x="0" y="295"/>
                </a:moveTo>
                <a:lnTo>
                  <a:pt x="0" y="0"/>
                </a:lnTo>
                <a:lnTo>
                  <a:pt x="409" y="0"/>
                </a:lnTo>
                <a:lnTo>
                  <a:pt x="409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7" name="Freeform 21"/>
          <p:cNvSpPr>
            <a:spLocks/>
          </p:cNvSpPr>
          <p:nvPr/>
        </p:nvSpPr>
        <p:spPr bwMode="auto">
          <a:xfrm>
            <a:off x="8111839" y="3093302"/>
            <a:ext cx="1587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295 h 296"/>
              <a:gd name="T4" fmla="*/ 0 w 1"/>
              <a:gd name="T5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8" name="Freeform 22"/>
          <p:cNvSpPr>
            <a:spLocks/>
          </p:cNvSpPr>
          <p:nvPr/>
        </p:nvSpPr>
        <p:spPr bwMode="auto">
          <a:xfrm>
            <a:off x="8653176" y="3093302"/>
            <a:ext cx="111125" cy="469900"/>
          </a:xfrm>
          <a:custGeom>
            <a:avLst/>
            <a:gdLst>
              <a:gd name="T0" fmla="*/ 0 w 70"/>
              <a:gd name="T1" fmla="*/ 295 h 296"/>
              <a:gd name="T2" fmla="*/ 0 w 70"/>
              <a:gd name="T3" fmla="*/ 0 h 296"/>
              <a:gd name="T4" fmla="*/ 69 w 70"/>
              <a:gd name="T5" fmla="*/ 0 h 296"/>
              <a:gd name="T6" fmla="*/ 69 w 70"/>
              <a:gd name="T7" fmla="*/ 295 h 296"/>
              <a:gd name="T8" fmla="*/ 0 w 70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" h="296">
                <a:moveTo>
                  <a:pt x="0" y="295"/>
                </a:moveTo>
                <a:lnTo>
                  <a:pt x="0" y="0"/>
                </a:lnTo>
                <a:lnTo>
                  <a:pt x="69" y="0"/>
                </a:lnTo>
                <a:lnTo>
                  <a:pt x="69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9" name="Freeform 23"/>
          <p:cNvSpPr>
            <a:spLocks/>
          </p:cNvSpPr>
          <p:nvPr/>
        </p:nvSpPr>
        <p:spPr bwMode="auto">
          <a:xfrm>
            <a:off x="5494051" y="3491765"/>
            <a:ext cx="598488" cy="576262"/>
          </a:xfrm>
          <a:custGeom>
            <a:avLst/>
            <a:gdLst>
              <a:gd name="T0" fmla="*/ 376 w 377"/>
              <a:gd name="T1" fmla="*/ 0 h 363"/>
              <a:gd name="T2" fmla="*/ 0 w 377"/>
              <a:gd name="T3" fmla="*/ 362 h 363"/>
              <a:gd name="T4" fmla="*/ 376 w 377"/>
              <a:gd name="T5" fmla="*/ 0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7" h="363">
                <a:moveTo>
                  <a:pt x="376" y="0"/>
                </a:moveTo>
                <a:lnTo>
                  <a:pt x="0" y="362"/>
                </a:lnTo>
                <a:lnTo>
                  <a:pt x="376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0" name="Freeform 24"/>
          <p:cNvSpPr>
            <a:spLocks/>
          </p:cNvSpPr>
          <p:nvPr/>
        </p:nvSpPr>
        <p:spPr bwMode="auto">
          <a:xfrm>
            <a:off x="5494051" y="3960077"/>
            <a:ext cx="115888" cy="107950"/>
          </a:xfrm>
          <a:custGeom>
            <a:avLst/>
            <a:gdLst>
              <a:gd name="T0" fmla="*/ 72 w 73"/>
              <a:gd name="T1" fmla="*/ 24 h 68"/>
              <a:gd name="T2" fmla="*/ 0 w 73"/>
              <a:gd name="T3" fmla="*/ 67 h 68"/>
              <a:gd name="T4" fmla="*/ 41 w 73"/>
              <a:gd name="T5" fmla="*/ 0 h 68"/>
              <a:gd name="T6" fmla="*/ 72 w 73"/>
              <a:gd name="T7" fmla="*/ 24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3" h="68">
                <a:moveTo>
                  <a:pt x="72" y="24"/>
                </a:moveTo>
                <a:lnTo>
                  <a:pt x="0" y="67"/>
                </a:lnTo>
                <a:lnTo>
                  <a:pt x="41" y="0"/>
                </a:lnTo>
                <a:lnTo>
                  <a:pt x="72" y="2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1" name="Freeform 25"/>
          <p:cNvSpPr>
            <a:spLocks/>
          </p:cNvSpPr>
          <p:nvPr/>
        </p:nvSpPr>
        <p:spPr bwMode="auto">
          <a:xfrm>
            <a:off x="6740239" y="3491765"/>
            <a:ext cx="614362" cy="552450"/>
          </a:xfrm>
          <a:custGeom>
            <a:avLst/>
            <a:gdLst>
              <a:gd name="T0" fmla="*/ 0 w 387"/>
              <a:gd name="T1" fmla="*/ 0 h 348"/>
              <a:gd name="T2" fmla="*/ 386 w 387"/>
              <a:gd name="T3" fmla="*/ 347 h 348"/>
              <a:gd name="T4" fmla="*/ 0 w 387"/>
              <a:gd name="T5" fmla="*/ 0 h 3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7" h="348">
                <a:moveTo>
                  <a:pt x="0" y="0"/>
                </a:moveTo>
                <a:lnTo>
                  <a:pt x="386" y="34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2" name="Freeform 26"/>
          <p:cNvSpPr>
            <a:spLocks/>
          </p:cNvSpPr>
          <p:nvPr/>
        </p:nvSpPr>
        <p:spPr bwMode="auto">
          <a:xfrm>
            <a:off x="7233951" y="3937852"/>
            <a:ext cx="120650" cy="106363"/>
          </a:xfrm>
          <a:custGeom>
            <a:avLst/>
            <a:gdLst>
              <a:gd name="T0" fmla="*/ 31 w 76"/>
              <a:gd name="T1" fmla="*/ 0 h 67"/>
              <a:gd name="T2" fmla="*/ 75 w 76"/>
              <a:gd name="T3" fmla="*/ 66 h 67"/>
              <a:gd name="T4" fmla="*/ 0 w 76"/>
              <a:gd name="T5" fmla="*/ 25 h 67"/>
              <a:gd name="T6" fmla="*/ 31 w 76"/>
              <a:gd name="T7" fmla="*/ 0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" h="67">
                <a:moveTo>
                  <a:pt x="31" y="0"/>
                </a:moveTo>
                <a:lnTo>
                  <a:pt x="75" y="66"/>
                </a:lnTo>
                <a:lnTo>
                  <a:pt x="0" y="25"/>
                </a:lnTo>
                <a:lnTo>
                  <a:pt x="31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4" name="Freeform 28"/>
          <p:cNvSpPr>
            <a:spLocks/>
          </p:cNvSpPr>
          <p:nvPr/>
        </p:nvSpPr>
        <p:spPr bwMode="auto">
          <a:xfrm>
            <a:off x="5982031" y="3177870"/>
            <a:ext cx="141288" cy="68263"/>
          </a:xfrm>
          <a:custGeom>
            <a:avLst/>
            <a:gdLst>
              <a:gd name="T0" fmla="*/ 14 w 89"/>
              <a:gd name="T1" fmla="*/ 0 h 43"/>
              <a:gd name="T2" fmla="*/ 88 w 89"/>
              <a:gd name="T3" fmla="*/ 42 h 43"/>
              <a:gd name="T4" fmla="*/ 0 w 89"/>
              <a:gd name="T5" fmla="*/ 34 h 43"/>
              <a:gd name="T6" fmla="*/ 14 w 89"/>
              <a:gd name="T7" fmla="*/ 0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9" h="43">
                <a:moveTo>
                  <a:pt x="14" y="0"/>
                </a:moveTo>
                <a:lnTo>
                  <a:pt x="88" y="42"/>
                </a:lnTo>
                <a:lnTo>
                  <a:pt x="0" y="34"/>
                </a:lnTo>
                <a:lnTo>
                  <a:pt x="14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" name="Rectangle 29"/>
          <p:cNvSpPr>
            <a:spLocks noChangeArrowheads="1"/>
          </p:cNvSpPr>
          <p:nvPr/>
        </p:nvSpPr>
        <p:spPr bwMode="auto">
          <a:xfrm>
            <a:off x="6243351" y="3217127"/>
            <a:ext cx="3651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30</a:t>
            </a:r>
          </a:p>
        </p:txBody>
      </p:sp>
      <p:sp>
        <p:nvSpPr>
          <p:cNvPr id="216" name="Rectangle 30"/>
          <p:cNvSpPr>
            <a:spLocks noChangeArrowheads="1"/>
          </p:cNvSpPr>
          <p:nvPr/>
        </p:nvSpPr>
        <p:spPr bwMode="auto">
          <a:xfrm>
            <a:off x="4628864" y="416645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22*</a:t>
            </a:r>
          </a:p>
        </p:txBody>
      </p:sp>
      <p:sp>
        <p:nvSpPr>
          <p:cNvPr id="217" name="Rectangle 31"/>
          <p:cNvSpPr>
            <a:spLocks noChangeArrowheads="1"/>
          </p:cNvSpPr>
          <p:nvPr/>
        </p:nvSpPr>
        <p:spPr bwMode="auto">
          <a:xfrm>
            <a:off x="5063839" y="416645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27*</a:t>
            </a:r>
          </a:p>
        </p:txBody>
      </p:sp>
      <p:sp>
        <p:nvSpPr>
          <p:cNvPr id="218" name="Rectangle 32"/>
          <p:cNvSpPr>
            <a:spLocks noChangeArrowheads="1"/>
          </p:cNvSpPr>
          <p:nvPr/>
        </p:nvSpPr>
        <p:spPr bwMode="auto">
          <a:xfrm>
            <a:off x="5482939" y="4177565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29*</a:t>
            </a:r>
          </a:p>
        </p:txBody>
      </p:sp>
      <p:sp>
        <p:nvSpPr>
          <p:cNvPr id="219" name="Rectangle 33"/>
          <p:cNvSpPr>
            <a:spLocks noChangeArrowheads="1"/>
          </p:cNvSpPr>
          <p:nvPr/>
        </p:nvSpPr>
        <p:spPr bwMode="auto">
          <a:xfrm>
            <a:off x="6514814" y="4177565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33*</a:t>
            </a:r>
          </a:p>
        </p:txBody>
      </p:sp>
      <p:sp>
        <p:nvSpPr>
          <p:cNvPr id="220" name="Rectangle 34"/>
          <p:cNvSpPr>
            <a:spLocks noChangeArrowheads="1"/>
          </p:cNvSpPr>
          <p:nvPr/>
        </p:nvSpPr>
        <p:spPr bwMode="auto">
          <a:xfrm>
            <a:off x="6949789" y="4177565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34*</a:t>
            </a:r>
          </a:p>
        </p:txBody>
      </p:sp>
      <p:sp>
        <p:nvSpPr>
          <p:cNvPr id="221" name="Rectangle 35"/>
          <p:cNvSpPr>
            <a:spLocks noChangeArrowheads="1"/>
          </p:cNvSpPr>
          <p:nvPr/>
        </p:nvSpPr>
        <p:spPr bwMode="auto">
          <a:xfrm>
            <a:off x="7368889" y="416645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38*</a:t>
            </a:r>
          </a:p>
        </p:txBody>
      </p:sp>
      <p:sp>
        <p:nvSpPr>
          <p:cNvPr id="222" name="Rectangle 36"/>
          <p:cNvSpPr>
            <a:spLocks noChangeArrowheads="1"/>
          </p:cNvSpPr>
          <p:nvPr/>
        </p:nvSpPr>
        <p:spPr bwMode="auto">
          <a:xfrm>
            <a:off x="7803864" y="4155340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39*</a:t>
            </a:r>
          </a:p>
        </p:txBody>
      </p:sp>
      <p:sp>
        <p:nvSpPr>
          <p:cNvPr id="224" name="Arc 38"/>
          <p:cNvSpPr>
            <a:spLocks/>
          </p:cNvSpPr>
          <p:nvPr/>
        </p:nvSpPr>
        <p:spPr bwMode="auto">
          <a:xfrm rot="18420000">
            <a:off x="6214776" y="3863240"/>
            <a:ext cx="304800" cy="381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" name="Oval 89"/>
          <p:cNvSpPr/>
          <p:nvPr/>
        </p:nvSpPr>
        <p:spPr>
          <a:xfrm>
            <a:off x="5599495" y="3067547"/>
            <a:ext cx="1757750" cy="542131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/>
          <p:cNvSpPr txBox="1"/>
          <p:nvPr/>
        </p:nvSpPr>
        <p:spPr>
          <a:xfrm>
            <a:off x="4650992" y="1346537"/>
            <a:ext cx="4332083" cy="70788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i="1" dirty="0" smtClean="0"/>
              <a:t>The sibling is “poor”</a:t>
            </a:r>
            <a:r>
              <a:rPr lang="en-US" sz="2000" i="1" dirty="0"/>
              <a:t> </a:t>
            </a:r>
            <a:r>
              <a:rPr lang="en-US" sz="2000" dirty="0" smtClean="0"/>
              <a:t>(</a:t>
            </a:r>
            <a:r>
              <a:rPr lang="en-US" sz="2000" dirty="0"/>
              <a:t>i.e., redistribution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is </a:t>
            </a:r>
            <a:r>
              <a:rPr lang="en-US" sz="2000" dirty="0"/>
              <a:t>not applicable)</a:t>
            </a:r>
            <a:r>
              <a:rPr lang="en-US" sz="2000" i="1" dirty="0" smtClean="0"/>
              <a:t>; hence, merge!</a:t>
            </a:r>
            <a:endParaRPr lang="en-US" sz="2000" i="1" dirty="0"/>
          </a:p>
        </p:txBody>
      </p:sp>
      <p:sp>
        <p:nvSpPr>
          <p:cNvPr id="92" name="Oval 91"/>
          <p:cNvSpPr/>
          <p:nvPr/>
        </p:nvSpPr>
        <p:spPr>
          <a:xfrm>
            <a:off x="1133088" y="3179688"/>
            <a:ext cx="1757750" cy="542131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3" name="Straight Arrow Connector 92"/>
          <p:cNvCxnSpPr>
            <a:endCxn id="91" idx="2"/>
          </p:cNvCxnSpPr>
          <p:nvPr/>
        </p:nvCxnSpPr>
        <p:spPr>
          <a:xfrm flipV="1">
            <a:off x="2899569" y="2054423"/>
            <a:ext cx="3917465" cy="1407917"/>
          </a:xfrm>
          <a:prstGeom prst="straightConnector1">
            <a:avLst/>
          </a:prstGeom>
          <a:ln w="1270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1922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B+ Tree: Examples </a:t>
            </a:r>
            <a:r>
              <a:rPr lang="en-US" dirty="0" smtClean="0">
                <a:ea typeface="ＭＳ Ｐゴシック" pitchFamily="34" charset="-128"/>
              </a:rPr>
              <a:t>of Deletions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Delete </a:t>
            </a:r>
            <a:r>
              <a:rPr lang="en-US" dirty="0" smtClean="0">
                <a:solidFill>
                  <a:srgbClr val="FF0000"/>
                </a:solidFill>
              </a:rPr>
              <a:t>24*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101" name="Freeform 4"/>
          <p:cNvSpPr>
            <a:spLocks/>
          </p:cNvSpPr>
          <p:nvPr/>
        </p:nvSpPr>
        <p:spPr bwMode="auto">
          <a:xfrm>
            <a:off x="381000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" name="Freeform 5"/>
          <p:cNvSpPr>
            <a:spLocks/>
          </p:cNvSpPr>
          <p:nvPr/>
        </p:nvSpPr>
        <p:spPr bwMode="auto">
          <a:xfrm>
            <a:off x="706438" y="4086225"/>
            <a:ext cx="325437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Freeform 6"/>
          <p:cNvSpPr>
            <a:spLocks/>
          </p:cNvSpPr>
          <p:nvPr/>
        </p:nvSpPr>
        <p:spPr bwMode="auto">
          <a:xfrm>
            <a:off x="1030288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" name="Freeform 7"/>
          <p:cNvSpPr>
            <a:spLocks/>
          </p:cNvSpPr>
          <p:nvPr/>
        </p:nvSpPr>
        <p:spPr bwMode="auto">
          <a:xfrm>
            <a:off x="1355725" y="4086225"/>
            <a:ext cx="325438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" name="Rectangle 8"/>
          <p:cNvSpPr>
            <a:spLocks noChangeArrowheads="1"/>
          </p:cNvSpPr>
          <p:nvPr/>
        </p:nvSpPr>
        <p:spPr bwMode="auto">
          <a:xfrm>
            <a:off x="390525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2*</a:t>
            </a:r>
          </a:p>
        </p:txBody>
      </p:sp>
      <p:sp>
        <p:nvSpPr>
          <p:cNvPr id="106" name="Rectangle 9"/>
          <p:cNvSpPr>
            <a:spLocks noChangeArrowheads="1"/>
          </p:cNvSpPr>
          <p:nvPr/>
        </p:nvSpPr>
        <p:spPr bwMode="auto">
          <a:xfrm>
            <a:off x="715963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3*</a:t>
            </a:r>
          </a:p>
        </p:txBody>
      </p:sp>
      <p:sp>
        <p:nvSpPr>
          <p:cNvPr id="107" name="Freeform 10"/>
          <p:cNvSpPr>
            <a:spLocks/>
          </p:cNvSpPr>
          <p:nvPr/>
        </p:nvSpPr>
        <p:spPr bwMode="auto">
          <a:xfrm>
            <a:off x="3549650" y="246856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Freeform 11"/>
          <p:cNvSpPr>
            <a:spLocks/>
          </p:cNvSpPr>
          <p:nvPr/>
        </p:nvSpPr>
        <p:spPr bwMode="auto">
          <a:xfrm>
            <a:off x="3629025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Freeform 12"/>
          <p:cNvSpPr>
            <a:spLocks/>
          </p:cNvSpPr>
          <p:nvPr/>
        </p:nvSpPr>
        <p:spPr bwMode="auto">
          <a:xfrm>
            <a:off x="4035425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Freeform 13"/>
          <p:cNvSpPr>
            <a:spLocks/>
          </p:cNvSpPr>
          <p:nvPr/>
        </p:nvSpPr>
        <p:spPr bwMode="auto">
          <a:xfrm>
            <a:off x="4116388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Freeform 14"/>
          <p:cNvSpPr>
            <a:spLocks/>
          </p:cNvSpPr>
          <p:nvPr/>
        </p:nvSpPr>
        <p:spPr bwMode="auto">
          <a:xfrm>
            <a:off x="4522788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Freeform 15"/>
          <p:cNvSpPr>
            <a:spLocks/>
          </p:cNvSpPr>
          <p:nvPr/>
        </p:nvSpPr>
        <p:spPr bwMode="auto">
          <a:xfrm>
            <a:off x="4603750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Freeform 16"/>
          <p:cNvSpPr>
            <a:spLocks/>
          </p:cNvSpPr>
          <p:nvPr/>
        </p:nvSpPr>
        <p:spPr bwMode="auto">
          <a:xfrm>
            <a:off x="5010150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Freeform 17"/>
          <p:cNvSpPr>
            <a:spLocks/>
          </p:cNvSpPr>
          <p:nvPr/>
        </p:nvSpPr>
        <p:spPr bwMode="auto">
          <a:xfrm>
            <a:off x="5091113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Freeform 18"/>
          <p:cNvSpPr>
            <a:spLocks/>
          </p:cNvSpPr>
          <p:nvPr/>
        </p:nvSpPr>
        <p:spPr bwMode="auto">
          <a:xfrm>
            <a:off x="5497513" y="246856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Freeform 19"/>
          <p:cNvSpPr>
            <a:spLocks/>
          </p:cNvSpPr>
          <p:nvPr/>
        </p:nvSpPr>
        <p:spPr bwMode="auto">
          <a:xfrm>
            <a:off x="3162300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Freeform 20"/>
          <p:cNvSpPr>
            <a:spLocks/>
          </p:cNvSpPr>
          <p:nvPr/>
        </p:nvSpPr>
        <p:spPr bwMode="auto">
          <a:xfrm>
            <a:off x="348773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Freeform 21"/>
          <p:cNvSpPr>
            <a:spLocks/>
          </p:cNvSpPr>
          <p:nvPr/>
        </p:nvSpPr>
        <p:spPr bwMode="auto">
          <a:xfrm>
            <a:off x="3813175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Freeform 22"/>
          <p:cNvSpPr>
            <a:spLocks/>
          </p:cNvSpPr>
          <p:nvPr/>
        </p:nvSpPr>
        <p:spPr bwMode="auto">
          <a:xfrm>
            <a:off x="41370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Freeform 35"/>
          <p:cNvSpPr>
            <a:spLocks/>
          </p:cNvSpPr>
          <p:nvPr/>
        </p:nvSpPr>
        <p:spPr bwMode="auto">
          <a:xfrm>
            <a:off x="1428750" y="323691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" name="Freeform 36"/>
          <p:cNvSpPr>
            <a:spLocks/>
          </p:cNvSpPr>
          <p:nvPr/>
        </p:nvSpPr>
        <p:spPr bwMode="auto">
          <a:xfrm>
            <a:off x="15097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" name="Freeform 37"/>
          <p:cNvSpPr>
            <a:spLocks/>
          </p:cNvSpPr>
          <p:nvPr/>
        </p:nvSpPr>
        <p:spPr bwMode="auto">
          <a:xfrm>
            <a:off x="1914525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" name="Freeform 38"/>
          <p:cNvSpPr>
            <a:spLocks/>
          </p:cNvSpPr>
          <p:nvPr/>
        </p:nvSpPr>
        <p:spPr bwMode="auto">
          <a:xfrm>
            <a:off x="199548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" name="Freeform 39"/>
          <p:cNvSpPr>
            <a:spLocks/>
          </p:cNvSpPr>
          <p:nvPr/>
        </p:nvSpPr>
        <p:spPr bwMode="auto">
          <a:xfrm>
            <a:off x="2401888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" name="Freeform 40"/>
          <p:cNvSpPr>
            <a:spLocks/>
          </p:cNvSpPr>
          <p:nvPr/>
        </p:nvSpPr>
        <p:spPr bwMode="auto">
          <a:xfrm>
            <a:off x="2482850" y="32369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" name="Freeform 41"/>
          <p:cNvSpPr>
            <a:spLocks/>
          </p:cNvSpPr>
          <p:nvPr/>
        </p:nvSpPr>
        <p:spPr bwMode="auto">
          <a:xfrm>
            <a:off x="288925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" name="Freeform 42"/>
          <p:cNvSpPr>
            <a:spLocks/>
          </p:cNvSpPr>
          <p:nvPr/>
        </p:nvSpPr>
        <p:spPr bwMode="auto">
          <a:xfrm>
            <a:off x="29702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" name="Freeform 43"/>
          <p:cNvSpPr>
            <a:spLocks/>
          </p:cNvSpPr>
          <p:nvPr/>
        </p:nvSpPr>
        <p:spPr bwMode="auto">
          <a:xfrm>
            <a:off x="3376613" y="323691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" name="Freeform 53"/>
          <p:cNvSpPr>
            <a:spLocks/>
          </p:cNvSpPr>
          <p:nvPr/>
        </p:nvSpPr>
        <p:spPr bwMode="auto">
          <a:xfrm>
            <a:off x="1012825" y="3559175"/>
            <a:ext cx="446088" cy="496888"/>
          </a:xfrm>
          <a:custGeom>
            <a:avLst/>
            <a:gdLst>
              <a:gd name="T0" fmla="*/ 444500 w 281"/>
              <a:gd name="T1" fmla="*/ 0 h 313"/>
              <a:gd name="T2" fmla="*/ 0 w 281"/>
              <a:gd name="T3" fmla="*/ 495300 h 313"/>
              <a:gd name="T4" fmla="*/ 444500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" name="Freeform 54"/>
          <p:cNvSpPr>
            <a:spLocks/>
          </p:cNvSpPr>
          <p:nvPr/>
        </p:nvSpPr>
        <p:spPr bwMode="auto">
          <a:xfrm>
            <a:off x="1012825" y="3962400"/>
            <a:ext cx="87313" cy="93663"/>
          </a:xfrm>
          <a:custGeom>
            <a:avLst/>
            <a:gdLst>
              <a:gd name="T0" fmla="*/ 85725 w 55"/>
              <a:gd name="T1" fmla="*/ 33338 h 59"/>
              <a:gd name="T2" fmla="*/ 0 w 55"/>
              <a:gd name="T3" fmla="*/ 92075 h 59"/>
              <a:gd name="T4" fmla="*/ 47625 w 55"/>
              <a:gd name="T5" fmla="*/ 0 h 59"/>
              <a:gd name="T6" fmla="*/ 85725 w 55"/>
              <a:gd name="T7" fmla="*/ 33338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2" name="Freeform 55"/>
          <p:cNvSpPr>
            <a:spLocks/>
          </p:cNvSpPr>
          <p:nvPr/>
        </p:nvSpPr>
        <p:spPr bwMode="auto">
          <a:xfrm>
            <a:off x="1944688" y="3559175"/>
            <a:ext cx="449262" cy="506413"/>
          </a:xfrm>
          <a:custGeom>
            <a:avLst/>
            <a:gdLst>
              <a:gd name="T0" fmla="*/ 0 w 283"/>
              <a:gd name="T1" fmla="*/ 0 h 319"/>
              <a:gd name="T2" fmla="*/ 447675 w 283"/>
              <a:gd name="T3" fmla="*/ 504825 h 319"/>
              <a:gd name="T4" fmla="*/ 0 w 283"/>
              <a:gd name="T5" fmla="*/ 0 h 319"/>
              <a:gd name="T6" fmla="*/ 0 60000 65536"/>
              <a:gd name="T7" fmla="*/ 0 60000 65536"/>
              <a:gd name="T8" fmla="*/ 0 60000 65536"/>
              <a:gd name="T9" fmla="*/ 0 w 283"/>
              <a:gd name="T10" fmla="*/ 0 h 319"/>
              <a:gd name="T11" fmla="*/ 283 w 283"/>
              <a:gd name="T12" fmla="*/ 319 h 31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3" h="319">
                <a:moveTo>
                  <a:pt x="0" y="0"/>
                </a:moveTo>
                <a:lnTo>
                  <a:pt x="282" y="318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" name="Freeform 56"/>
          <p:cNvSpPr>
            <a:spLocks/>
          </p:cNvSpPr>
          <p:nvPr/>
        </p:nvSpPr>
        <p:spPr bwMode="auto">
          <a:xfrm>
            <a:off x="2305050" y="3973513"/>
            <a:ext cx="88900" cy="92075"/>
          </a:xfrm>
          <a:custGeom>
            <a:avLst/>
            <a:gdLst>
              <a:gd name="T0" fmla="*/ 38100 w 56"/>
              <a:gd name="T1" fmla="*/ 0 h 58"/>
              <a:gd name="T2" fmla="*/ 87313 w 56"/>
              <a:gd name="T3" fmla="*/ 90488 h 58"/>
              <a:gd name="T4" fmla="*/ 0 w 56"/>
              <a:gd name="T5" fmla="*/ 33338 h 58"/>
              <a:gd name="T6" fmla="*/ 38100 w 56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6"/>
              <a:gd name="T13" fmla="*/ 0 h 58"/>
              <a:gd name="T14" fmla="*/ 56 w 56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" h="58">
                <a:moveTo>
                  <a:pt x="24" y="0"/>
                </a:moveTo>
                <a:lnTo>
                  <a:pt x="55" y="57"/>
                </a:lnTo>
                <a:lnTo>
                  <a:pt x="0" y="21"/>
                </a:lnTo>
                <a:lnTo>
                  <a:pt x="24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" name="Freeform 57"/>
          <p:cNvSpPr>
            <a:spLocks/>
          </p:cNvSpPr>
          <p:nvPr/>
        </p:nvSpPr>
        <p:spPr bwMode="auto">
          <a:xfrm>
            <a:off x="2443163" y="3559175"/>
            <a:ext cx="1330325" cy="517525"/>
          </a:xfrm>
          <a:custGeom>
            <a:avLst/>
            <a:gdLst>
              <a:gd name="T0" fmla="*/ 0 w 838"/>
              <a:gd name="T1" fmla="*/ 0 h 326"/>
              <a:gd name="T2" fmla="*/ 1328738 w 838"/>
              <a:gd name="T3" fmla="*/ 515938 h 326"/>
              <a:gd name="T4" fmla="*/ 0 w 838"/>
              <a:gd name="T5" fmla="*/ 0 h 326"/>
              <a:gd name="T6" fmla="*/ 0 60000 65536"/>
              <a:gd name="T7" fmla="*/ 0 60000 65536"/>
              <a:gd name="T8" fmla="*/ 0 60000 65536"/>
              <a:gd name="T9" fmla="*/ 0 w 838"/>
              <a:gd name="T10" fmla="*/ 0 h 326"/>
              <a:gd name="T11" fmla="*/ 838 w 838"/>
              <a:gd name="T12" fmla="*/ 326 h 3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38" h="326">
                <a:moveTo>
                  <a:pt x="0" y="0"/>
                </a:moveTo>
                <a:lnTo>
                  <a:pt x="837" y="32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" name="Freeform 58"/>
          <p:cNvSpPr>
            <a:spLocks/>
          </p:cNvSpPr>
          <p:nvPr/>
        </p:nvSpPr>
        <p:spPr bwMode="auto">
          <a:xfrm>
            <a:off x="3668713" y="4014788"/>
            <a:ext cx="104775" cy="61912"/>
          </a:xfrm>
          <a:custGeom>
            <a:avLst/>
            <a:gdLst>
              <a:gd name="T0" fmla="*/ 17463 w 66"/>
              <a:gd name="T1" fmla="*/ 0 h 39"/>
              <a:gd name="T2" fmla="*/ 103188 w 66"/>
              <a:gd name="T3" fmla="*/ 60325 h 39"/>
              <a:gd name="T4" fmla="*/ 0 w 66"/>
              <a:gd name="T5" fmla="*/ 47625 h 39"/>
              <a:gd name="T6" fmla="*/ 17463 w 66"/>
              <a:gd name="T7" fmla="*/ 0 h 39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39"/>
              <a:gd name="T14" fmla="*/ 66 w 66"/>
              <a:gd name="T15" fmla="*/ 39 h 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39">
                <a:moveTo>
                  <a:pt x="11" y="0"/>
                </a:moveTo>
                <a:lnTo>
                  <a:pt x="65" y="38"/>
                </a:lnTo>
                <a:lnTo>
                  <a:pt x="0" y="30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" name="Freeform 65"/>
          <p:cNvSpPr>
            <a:spLocks/>
          </p:cNvSpPr>
          <p:nvPr/>
        </p:nvSpPr>
        <p:spPr bwMode="auto">
          <a:xfrm>
            <a:off x="2401888" y="2820988"/>
            <a:ext cx="1177925" cy="396875"/>
          </a:xfrm>
          <a:custGeom>
            <a:avLst/>
            <a:gdLst>
              <a:gd name="T0" fmla="*/ 1176338 w 742"/>
              <a:gd name="T1" fmla="*/ 0 h 250"/>
              <a:gd name="T2" fmla="*/ 0 w 742"/>
              <a:gd name="T3" fmla="*/ 395288 h 250"/>
              <a:gd name="T4" fmla="*/ 1176338 w 742"/>
              <a:gd name="T5" fmla="*/ 0 h 250"/>
              <a:gd name="T6" fmla="*/ 0 60000 65536"/>
              <a:gd name="T7" fmla="*/ 0 60000 65536"/>
              <a:gd name="T8" fmla="*/ 0 60000 65536"/>
              <a:gd name="T9" fmla="*/ 0 w 742"/>
              <a:gd name="T10" fmla="*/ 0 h 250"/>
              <a:gd name="T11" fmla="*/ 742 w 742"/>
              <a:gd name="T12" fmla="*/ 250 h 2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42" h="250">
                <a:moveTo>
                  <a:pt x="741" y="0"/>
                </a:moveTo>
                <a:lnTo>
                  <a:pt x="0" y="249"/>
                </a:lnTo>
                <a:lnTo>
                  <a:pt x="74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" name="Freeform 66"/>
          <p:cNvSpPr>
            <a:spLocks/>
          </p:cNvSpPr>
          <p:nvPr/>
        </p:nvSpPr>
        <p:spPr bwMode="auto">
          <a:xfrm>
            <a:off x="2401888" y="3159125"/>
            <a:ext cx="106362" cy="58738"/>
          </a:xfrm>
          <a:custGeom>
            <a:avLst/>
            <a:gdLst>
              <a:gd name="T0" fmla="*/ 104775 w 67"/>
              <a:gd name="T1" fmla="*/ 49213 h 37"/>
              <a:gd name="T2" fmla="*/ 0 w 67"/>
              <a:gd name="T3" fmla="*/ 57150 h 37"/>
              <a:gd name="T4" fmla="*/ 88900 w 67"/>
              <a:gd name="T5" fmla="*/ 0 h 37"/>
              <a:gd name="T6" fmla="*/ 104775 w 67"/>
              <a:gd name="T7" fmla="*/ 49213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66" y="31"/>
                </a:moveTo>
                <a:lnTo>
                  <a:pt x="0" y="36"/>
                </a:lnTo>
                <a:lnTo>
                  <a:pt x="56" y="0"/>
                </a:lnTo>
                <a:lnTo>
                  <a:pt x="66" y="3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" name="Freeform 67"/>
          <p:cNvSpPr>
            <a:spLocks/>
          </p:cNvSpPr>
          <p:nvPr/>
        </p:nvSpPr>
        <p:spPr bwMode="auto">
          <a:xfrm>
            <a:off x="4065588" y="2830513"/>
            <a:ext cx="1992312" cy="387350"/>
          </a:xfrm>
          <a:custGeom>
            <a:avLst/>
            <a:gdLst>
              <a:gd name="T0" fmla="*/ 0 w 1255"/>
              <a:gd name="T1" fmla="*/ 0 h 244"/>
              <a:gd name="T2" fmla="*/ 1990725 w 1255"/>
              <a:gd name="T3" fmla="*/ 385763 h 244"/>
              <a:gd name="T4" fmla="*/ 0 w 1255"/>
              <a:gd name="T5" fmla="*/ 0 h 244"/>
              <a:gd name="T6" fmla="*/ 0 60000 65536"/>
              <a:gd name="T7" fmla="*/ 0 60000 65536"/>
              <a:gd name="T8" fmla="*/ 0 60000 65536"/>
              <a:gd name="T9" fmla="*/ 0 w 1255"/>
              <a:gd name="T10" fmla="*/ 0 h 244"/>
              <a:gd name="T11" fmla="*/ 1255 w 1255"/>
              <a:gd name="T12" fmla="*/ 244 h 2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5" h="244">
                <a:moveTo>
                  <a:pt x="0" y="0"/>
                </a:moveTo>
                <a:lnTo>
                  <a:pt x="1254" y="243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" name="Freeform 69"/>
          <p:cNvSpPr>
            <a:spLocks/>
          </p:cNvSpPr>
          <p:nvPr/>
        </p:nvSpPr>
        <p:spPr bwMode="auto">
          <a:xfrm>
            <a:off x="176371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" name="Freeform 70"/>
          <p:cNvSpPr>
            <a:spLocks/>
          </p:cNvSpPr>
          <p:nvPr/>
        </p:nvSpPr>
        <p:spPr bwMode="auto">
          <a:xfrm>
            <a:off x="2087563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" name="Freeform 71"/>
          <p:cNvSpPr>
            <a:spLocks/>
          </p:cNvSpPr>
          <p:nvPr/>
        </p:nvSpPr>
        <p:spPr bwMode="auto">
          <a:xfrm>
            <a:off x="241300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" name="Freeform 72"/>
          <p:cNvSpPr>
            <a:spLocks/>
          </p:cNvSpPr>
          <p:nvPr/>
        </p:nvSpPr>
        <p:spPr bwMode="auto">
          <a:xfrm>
            <a:off x="273685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0" name="Rectangle 73"/>
          <p:cNvSpPr>
            <a:spLocks noChangeArrowheads="1"/>
          </p:cNvSpPr>
          <p:nvPr/>
        </p:nvSpPr>
        <p:spPr bwMode="auto">
          <a:xfrm>
            <a:off x="2916238" y="2362200"/>
            <a:ext cx="5889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u="none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171" name="Rectangle 74"/>
          <p:cNvSpPr>
            <a:spLocks noChangeArrowheads="1"/>
          </p:cNvSpPr>
          <p:nvPr/>
        </p:nvSpPr>
        <p:spPr bwMode="auto">
          <a:xfrm>
            <a:off x="3678238" y="249713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17</a:t>
            </a:r>
          </a:p>
        </p:txBody>
      </p:sp>
      <p:sp>
        <p:nvSpPr>
          <p:cNvPr id="174" name="Rectangle 77"/>
          <p:cNvSpPr>
            <a:spLocks noChangeArrowheads="1"/>
          </p:cNvSpPr>
          <p:nvPr/>
        </p:nvSpPr>
        <p:spPr bwMode="auto">
          <a:xfrm>
            <a:off x="312261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14*</a:t>
            </a:r>
          </a:p>
        </p:txBody>
      </p:sp>
      <p:sp>
        <p:nvSpPr>
          <p:cNvPr id="175" name="Rectangle 78"/>
          <p:cNvSpPr>
            <a:spLocks noChangeArrowheads="1"/>
          </p:cNvSpPr>
          <p:nvPr/>
        </p:nvSpPr>
        <p:spPr bwMode="auto">
          <a:xfrm>
            <a:off x="344646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16*</a:t>
            </a:r>
          </a:p>
        </p:txBody>
      </p:sp>
      <p:sp>
        <p:nvSpPr>
          <p:cNvPr id="186" name="Rectangle 89"/>
          <p:cNvSpPr>
            <a:spLocks noChangeArrowheads="1"/>
          </p:cNvSpPr>
          <p:nvPr/>
        </p:nvSpPr>
        <p:spPr bwMode="auto">
          <a:xfrm>
            <a:off x="2024063" y="326548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13</a:t>
            </a:r>
          </a:p>
        </p:txBody>
      </p:sp>
      <p:sp>
        <p:nvSpPr>
          <p:cNvPr id="187" name="Rectangle 90"/>
          <p:cNvSpPr>
            <a:spLocks noChangeArrowheads="1"/>
          </p:cNvSpPr>
          <p:nvPr/>
        </p:nvSpPr>
        <p:spPr bwMode="auto">
          <a:xfrm>
            <a:off x="1557338" y="3265488"/>
            <a:ext cx="2762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188" name="Rectangle 91"/>
          <p:cNvSpPr>
            <a:spLocks noChangeArrowheads="1"/>
          </p:cNvSpPr>
          <p:nvPr/>
        </p:nvSpPr>
        <p:spPr bwMode="auto">
          <a:xfrm>
            <a:off x="2095500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7*</a:t>
            </a:r>
          </a:p>
        </p:txBody>
      </p:sp>
      <p:sp>
        <p:nvSpPr>
          <p:cNvPr id="189" name="Rectangle 92"/>
          <p:cNvSpPr>
            <a:spLocks noChangeArrowheads="1"/>
          </p:cNvSpPr>
          <p:nvPr/>
        </p:nvSpPr>
        <p:spPr bwMode="auto">
          <a:xfrm>
            <a:off x="1773238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5*</a:t>
            </a:r>
          </a:p>
        </p:txBody>
      </p:sp>
      <p:sp>
        <p:nvSpPr>
          <p:cNvPr id="190" name="Rectangle 93"/>
          <p:cNvSpPr>
            <a:spLocks noChangeArrowheads="1"/>
          </p:cNvSpPr>
          <p:nvPr/>
        </p:nvSpPr>
        <p:spPr bwMode="auto">
          <a:xfrm>
            <a:off x="2411413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8*</a:t>
            </a:r>
          </a:p>
        </p:txBody>
      </p:sp>
      <p:sp>
        <p:nvSpPr>
          <p:cNvPr id="192" name="Arc 95"/>
          <p:cNvSpPr>
            <a:spLocks/>
          </p:cNvSpPr>
          <p:nvPr/>
        </p:nvSpPr>
        <p:spPr bwMode="auto">
          <a:xfrm rot="13440000">
            <a:off x="15351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3" name="Arc 96"/>
          <p:cNvSpPr>
            <a:spLocks/>
          </p:cNvSpPr>
          <p:nvPr/>
        </p:nvSpPr>
        <p:spPr bwMode="auto">
          <a:xfrm rot="13440000">
            <a:off x="29067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" name="Arc 97"/>
          <p:cNvSpPr>
            <a:spLocks/>
          </p:cNvSpPr>
          <p:nvPr/>
        </p:nvSpPr>
        <p:spPr bwMode="auto">
          <a:xfrm rot="13440000">
            <a:off x="43545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0" name="Freeform 6"/>
          <p:cNvSpPr>
            <a:spLocks/>
          </p:cNvSpPr>
          <p:nvPr/>
        </p:nvSpPr>
        <p:spPr bwMode="auto">
          <a:xfrm>
            <a:off x="4625689" y="4090252"/>
            <a:ext cx="436562" cy="376238"/>
          </a:xfrm>
          <a:custGeom>
            <a:avLst/>
            <a:gdLst>
              <a:gd name="T0" fmla="*/ 0 w 275"/>
              <a:gd name="T1" fmla="*/ 236 h 237"/>
              <a:gd name="T2" fmla="*/ 0 w 275"/>
              <a:gd name="T3" fmla="*/ 0 h 237"/>
              <a:gd name="T4" fmla="*/ 274 w 275"/>
              <a:gd name="T5" fmla="*/ 0 h 237"/>
              <a:gd name="T6" fmla="*/ 274 w 275"/>
              <a:gd name="T7" fmla="*/ 236 h 237"/>
              <a:gd name="T8" fmla="*/ 0 w 275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5" h="237">
                <a:moveTo>
                  <a:pt x="0" y="236"/>
                </a:moveTo>
                <a:lnTo>
                  <a:pt x="0" y="0"/>
                </a:lnTo>
                <a:lnTo>
                  <a:pt x="274" y="0"/>
                </a:lnTo>
                <a:lnTo>
                  <a:pt x="274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2" name="Freeform 7"/>
          <p:cNvSpPr>
            <a:spLocks/>
          </p:cNvSpPr>
          <p:nvPr/>
        </p:nvSpPr>
        <p:spPr bwMode="auto">
          <a:xfrm>
            <a:off x="5060664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" name="Freeform 8"/>
          <p:cNvSpPr>
            <a:spLocks/>
          </p:cNvSpPr>
          <p:nvPr/>
        </p:nvSpPr>
        <p:spPr bwMode="auto">
          <a:xfrm>
            <a:off x="5494051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" name="Freeform 9"/>
          <p:cNvSpPr>
            <a:spLocks/>
          </p:cNvSpPr>
          <p:nvPr/>
        </p:nvSpPr>
        <p:spPr bwMode="auto">
          <a:xfrm>
            <a:off x="5927439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8" name="Freeform 10"/>
          <p:cNvSpPr>
            <a:spLocks/>
          </p:cNvSpPr>
          <p:nvPr/>
        </p:nvSpPr>
        <p:spPr bwMode="auto">
          <a:xfrm>
            <a:off x="6524339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" name="Freeform 11"/>
          <p:cNvSpPr>
            <a:spLocks/>
          </p:cNvSpPr>
          <p:nvPr/>
        </p:nvSpPr>
        <p:spPr bwMode="auto">
          <a:xfrm>
            <a:off x="6957726" y="4090252"/>
            <a:ext cx="436563" cy="376238"/>
          </a:xfrm>
          <a:custGeom>
            <a:avLst/>
            <a:gdLst>
              <a:gd name="T0" fmla="*/ 0 w 275"/>
              <a:gd name="T1" fmla="*/ 236 h 237"/>
              <a:gd name="T2" fmla="*/ 0 w 275"/>
              <a:gd name="T3" fmla="*/ 0 h 237"/>
              <a:gd name="T4" fmla="*/ 274 w 275"/>
              <a:gd name="T5" fmla="*/ 0 h 237"/>
              <a:gd name="T6" fmla="*/ 274 w 275"/>
              <a:gd name="T7" fmla="*/ 236 h 237"/>
              <a:gd name="T8" fmla="*/ 0 w 275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5" h="237">
                <a:moveTo>
                  <a:pt x="0" y="236"/>
                </a:moveTo>
                <a:lnTo>
                  <a:pt x="0" y="0"/>
                </a:lnTo>
                <a:lnTo>
                  <a:pt x="274" y="0"/>
                </a:lnTo>
                <a:lnTo>
                  <a:pt x="274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" name="Freeform 12"/>
          <p:cNvSpPr>
            <a:spLocks/>
          </p:cNvSpPr>
          <p:nvPr/>
        </p:nvSpPr>
        <p:spPr bwMode="auto">
          <a:xfrm>
            <a:off x="7392701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" name="Freeform 13"/>
          <p:cNvSpPr>
            <a:spLocks/>
          </p:cNvSpPr>
          <p:nvPr/>
        </p:nvSpPr>
        <p:spPr bwMode="auto">
          <a:xfrm>
            <a:off x="7826089" y="4090252"/>
            <a:ext cx="436562" cy="376238"/>
          </a:xfrm>
          <a:custGeom>
            <a:avLst/>
            <a:gdLst>
              <a:gd name="T0" fmla="*/ 0 w 275"/>
              <a:gd name="T1" fmla="*/ 236 h 237"/>
              <a:gd name="T2" fmla="*/ 0 w 275"/>
              <a:gd name="T3" fmla="*/ 0 h 237"/>
              <a:gd name="T4" fmla="*/ 274 w 275"/>
              <a:gd name="T5" fmla="*/ 0 h 237"/>
              <a:gd name="T6" fmla="*/ 274 w 275"/>
              <a:gd name="T7" fmla="*/ 236 h 237"/>
              <a:gd name="T8" fmla="*/ 0 w 275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5" h="237">
                <a:moveTo>
                  <a:pt x="0" y="236"/>
                </a:moveTo>
                <a:lnTo>
                  <a:pt x="0" y="0"/>
                </a:lnTo>
                <a:lnTo>
                  <a:pt x="274" y="0"/>
                </a:lnTo>
                <a:lnTo>
                  <a:pt x="274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0" name="Freeform 14"/>
          <p:cNvSpPr>
            <a:spLocks/>
          </p:cNvSpPr>
          <p:nvPr/>
        </p:nvSpPr>
        <p:spPr bwMode="auto">
          <a:xfrm>
            <a:off x="6049676" y="3093302"/>
            <a:ext cx="652463" cy="469900"/>
          </a:xfrm>
          <a:custGeom>
            <a:avLst/>
            <a:gdLst>
              <a:gd name="T0" fmla="*/ 0 w 411"/>
              <a:gd name="T1" fmla="*/ 295 h 296"/>
              <a:gd name="T2" fmla="*/ 0 w 411"/>
              <a:gd name="T3" fmla="*/ 0 h 296"/>
              <a:gd name="T4" fmla="*/ 410 w 411"/>
              <a:gd name="T5" fmla="*/ 0 h 296"/>
              <a:gd name="T6" fmla="*/ 410 w 411"/>
              <a:gd name="T7" fmla="*/ 295 h 296"/>
              <a:gd name="T8" fmla="*/ 0 w 411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1" h="296">
                <a:moveTo>
                  <a:pt x="0" y="295"/>
                </a:moveTo>
                <a:lnTo>
                  <a:pt x="0" y="0"/>
                </a:lnTo>
                <a:lnTo>
                  <a:pt x="410" y="0"/>
                </a:lnTo>
                <a:lnTo>
                  <a:pt x="410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1" name="Freeform 15"/>
          <p:cNvSpPr>
            <a:spLocks/>
          </p:cNvSpPr>
          <p:nvPr/>
        </p:nvSpPr>
        <p:spPr bwMode="auto">
          <a:xfrm>
            <a:off x="6157626" y="3093302"/>
            <a:ext cx="1588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295 h 296"/>
              <a:gd name="T4" fmla="*/ 0 w 1"/>
              <a:gd name="T5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2" name="Freeform 16"/>
          <p:cNvSpPr>
            <a:spLocks/>
          </p:cNvSpPr>
          <p:nvPr/>
        </p:nvSpPr>
        <p:spPr bwMode="auto">
          <a:xfrm>
            <a:off x="6700551" y="3093302"/>
            <a:ext cx="654050" cy="469900"/>
          </a:xfrm>
          <a:custGeom>
            <a:avLst/>
            <a:gdLst>
              <a:gd name="T0" fmla="*/ 0 w 412"/>
              <a:gd name="T1" fmla="*/ 295 h 296"/>
              <a:gd name="T2" fmla="*/ 0 w 412"/>
              <a:gd name="T3" fmla="*/ 0 h 296"/>
              <a:gd name="T4" fmla="*/ 411 w 412"/>
              <a:gd name="T5" fmla="*/ 0 h 296"/>
              <a:gd name="T6" fmla="*/ 411 w 412"/>
              <a:gd name="T7" fmla="*/ 295 h 296"/>
              <a:gd name="T8" fmla="*/ 0 w 412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2" h="296">
                <a:moveTo>
                  <a:pt x="0" y="295"/>
                </a:moveTo>
                <a:lnTo>
                  <a:pt x="0" y="0"/>
                </a:lnTo>
                <a:lnTo>
                  <a:pt x="411" y="0"/>
                </a:lnTo>
                <a:lnTo>
                  <a:pt x="411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3" name="Freeform 17"/>
          <p:cNvSpPr>
            <a:spLocks/>
          </p:cNvSpPr>
          <p:nvPr/>
        </p:nvSpPr>
        <p:spPr bwMode="auto">
          <a:xfrm>
            <a:off x="6810089" y="3093302"/>
            <a:ext cx="1587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295 h 296"/>
              <a:gd name="T4" fmla="*/ 0 w 1"/>
              <a:gd name="T5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" name="Freeform 18"/>
          <p:cNvSpPr>
            <a:spLocks/>
          </p:cNvSpPr>
          <p:nvPr/>
        </p:nvSpPr>
        <p:spPr bwMode="auto">
          <a:xfrm>
            <a:off x="7353014" y="3093302"/>
            <a:ext cx="652462" cy="469900"/>
          </a:xfrm>
          <a:custGeom>
            <a:avLst/>
            <a:gdLst>
              <a:gd name="T0" fmla="*/ 0 w 411"/>
              <a:gd name="T1" fmla="*/ 295 h 296"/>
              <a:gd name="T2" fmla="*/ 0 w 411"/>
              <a:gd name="T3" fmla="*/ 0 h 296"/>
              <a:gd name="T4" fmla="*/ 410 w 411"/>
              <a:gd name="T5" fmla="*/ 0 h 296"/>
              <a:gd name="T6" fmla="*/ 410 w 411"/>
              <a:gd name="T7" fmla="*/ 295 h 296"/>
              <a:gd name="T8" fmla="*/ 0 w 411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1" h="296">
                <a:moveTo>
                  <a:pt x="0" y="295"/>
                </a:moveTo>
                <a:lnTo>
                  <a:pt x="0" y="0"/>
                </a:lnTo>
                <a:lnTo>
                  <a:pt x="410" y="0"/>
                </a:lnTo>
                <a:lnTo>
                  <a:pt x="410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" name="Freeform 19"/>
          <p:cNvSpPr>
            <a:spLocks/>
          </p:cNvSpPr>
          <p:nvPr/>
        </p:nvSpPr>
        <p:spPr bwMode="auto">
          <a:xfrm>
            <a:off x="7459376" y="3093302"/>
            <a:ext cx="1588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295 h 296"/>
              <a:gd name="T4" fmla="*/ 0 w 1"/>
              <a:gd name="T5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" name="Freeform 20"/>
          <p:cNvSpPr>
            <a:spLocks/>
          </p:cNvSpPr>
          <p:nvPr/>
        </p:nvSpPr>
        <p:spPr bwMode="auto">
          <a:xfrm>
            <a:off x="8003889" y="3093302"/>
            <a:ext cx="650875" cy="469900"/>
          </a:xfrm>
          <a:custGeom>
            <a:avLst/>
            <a:gdLst>
              <a:gd name="T0" fmla="*/ 0 w 410"/>
              <a:gd name="T1" fmla="*/ 295 h 296"/>
              <a:gd name="T2" fmla="*/ 0 w 410"/>
              <a:gd name="T3" fmla="*/ 0 h 296"/>
              <a:gd name="T4" fmla="*/ 409 w 410"/>
              <a:gd name="T5" fmla="*/ 0 h 296"/>
              <a:gd name="T6" fmla="*/ 409 w 410"/>
              <a:gd name="T7" fmla="*/ 295 h 296"/>
              <a:gd name="T8" fmla="*/ 0 w 410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0" h="296">
                <a:moveTo>
                  <a:pt x="0" y="295"/>
                </a:moveTo>
                <a:lnTo>
                  <a:pt x="0" y="0"/>
                </a:lnTo>
                <a:lnTo>
                  <a:pt x="409" y="0"/>
                </a:lnTo>
                <a:lnTo>
                  <a:pt x="409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7" name="Freeform 21"/>
          <p:cNvSpPr>
            <a:spLocks/>
          </p:cNvSpPr>
          <p:nvPr/>
        </p:nvSpPr>
        <p:spPr bwMode="auto">
          <a:xfrm>
            <a:off x="8111839" y="3093302"/>
            <a:ext cx="1587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295 h 296"/>
              <a:gd name="T4" fmla="*/ 0 w 1"/>
              <a:gd name="T5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8" name="Freeform 22"/>
          <p:cNvSpPr>
            <a:spLocks/>
          </p:cNvSpPr>
          <p:nvPr/>
        </p:nvSpPr>
        <p:spPr bwMode="auto">
          <a:xfrm>
            <a:off x="8653176" y="3093302"/>
            <a:ext cx="111125" cy="469900"/>
          </a:xfrm>
          <a:custGeom>
            <a:avLst/>
            <a:gdLst>
              <a:gd name="T0" fmla="*/ 0 w 70"/>
              <a:gd name="T1" fmla="*/ 295 h 296"/>
              <a:gd name="T2" fmla="*/ 0 w 70"/>
              <a:gd name="T3" fmla="*/ 0 h 296"/>
              <a:gd name="T4" fmla="*/ 69 w 70"/>
              <a:gd name="T5" fmla="*/ 0 h 296"/>
              <a:gd name="T6" fmla="*/ 69 w 70"/>
              <a:gd name="T7" fmla="*/ 295 h 296"/>
              <a:gd name="T8" fmla="*/ 0 w 70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" h="296">
                <a:moveTo>
                  <a:pt x="0" y="295"/>
                </a:moveTo>
                <a:lnTo>
                  <a:pt x="0" y="0"/>
                </a:lnTo>
                <a:lnTo>
                  <a:pt x="69" y="0"/>
                </a:lnTo>
                <a:lnTo>
                  <a:pt x="69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9" name="Freeform 23"/>
          <p:cNvSpPr>
            <a:spLocks/>
          </p:cNvSpPr>
          <p:nvPr/>
        </p:nvSpPr>
        <p:spPr bwMode="auto">
          <a:xfrm>
            <a:off x="5494051" y="3491765"/>
            <a:ext cx="598488" cy="576262"/>
          </a:xfrm>
          <a:custGeom>
            <a:avLst/>
            <a:gdLst>
              <a:gd name="T0" fmla="*/ 376 w 377"/>
              <a:gd name="T1" fmla="*/ 0 h 363"/>
              <a:gd name="T2" fmla="*/ 0 w 377"/>
              <a:gd name="T3" fmla="*/ 362 h 363"/>
              <a:gd name="T4" fmla="*/ 376 w 377"/>
              <a:gd name="T5" fmla="*/ 0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7" h="363">
                <a:moveTo>
                  <a:pt x="376" y="0"/>
                </a:moveTo>
                <a:lnTo>
                  <a:pt x="0" y="362"/>
                </a:lnTo>
                <a:lnTo>
                  <a:pt x="376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0" name="Freeform 24"/>
          <p:cNvSpPr>
            <a:spLocks/>
          </p:cNvSpPr>
          <p:nvPr/>
        </p:nvSpPr>
        <p:spPr bwMode="auto">
          <a:xfrm>
            <a:off x="5494051" y="3960077"/>
            <a:ext cx="115888" cy="107950"/>
          </a:xfrm>
          <a:custGeom>
            <a:avLst/>
            <a:gdLst>
              <a:gd name="T0" fmla="*/ 72 w 73"/>
              <a:gd name="T1" fmla="*/ 24 h 68"/>
              <a:gd name="T2" fmla="*/ 0 w 73"/>
              <a:gd name="T3" fmla="*/ 67 h 68"/>
              <a:gd name="T4" fmla="*/ 41 w 73"/>
              <a:gd name="T5" fmla="*/ 0 h 68"/>
              <a:gd name="T6" fmla="*/ 72 w 73"/>
              <a:gd name="T7" fmla="*/ 24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3" h="68">
                <a:moveTo>
                  <a:pt x="72" y="24"/>
                </a:moveTo>
                <a:lnTo>
                  <a:pt x="0" y="67"/>
                </a:lnTo>
                <a:lnTo>
                  <a:pt x="41" y="0"/>
                </a:lnTo>
                <a:lnTo>
                  <a:pt x="72" y="2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1" name="Freeform 25"/>
          <p:cNvSpPr>
            <a:spLocks/>
          </p:cNvSpPr>
          <p:nvPr/>
        </p:nvSpPr>
        <p:spPr bwMode="auto">
          <a:xfrm>
            <a:off x="6740239" y="3491765"/>
            <a:ext cx="614362" cy="552450"/>
          </a:xfrm>
          <a:custGeom>
            <a:avLst/>
            <a:gdLst>
              <a:gd name="T0" fmla="*/ 0 w 387"/>
              <a:gd name="T1" fmla="*/ 0 h 348"/>
              <a:gd name="T2" fmla="*/ 386 w 387"/>
              <a:gd name="T3" fmla="*/ 347 h 348"/>
              <a:gd name="T4" fmla="*/ 0 w 387"/>
              <a:gd name="T5" fmla="*/ 0 h 3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7" h="348">
                <a:moveTo>
                  <a:pt x="0" y="0"/>
                </a:moveTo>
                <a:lnTo>
                  <a:pt x="386" y="34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2" name="Freeform 26"/>
          <p:cNvSpPr>
            <a:spLocks/>
          </p:cNvSpPr>
          <p:nvPr/>
        </p:nvSpPr>
        <p:spPr bwMode="auto">
          <a:xfrm>
            <a:off x="7233951" y="3937852"/>
            <a:ext cx="120650" cy="106363"/>
          </a:xfrm>
          <a:custGeom>
            <a:avLst/>
            <a:gdLst>
              <a:gd name="T0" fmla="*/ 31 w 76"/>
              <a:gd name="T1" fmla="*/ 0 h 67"/>
              <a:gd name="T2" fmla="*/ 75 w 76"/>
              <a:gd name="T3" fmla="*/ 66 h 67"/>
              <a:gd name="T4" fmla="*/ 0 w 76"/>
              <a:gd name="T5" fmla="*/ 25 h 67"/>
              <a:gd name="T6" fmla="*/ 31 w 76"/>
              <a:gd name="T7" fmla="*/ 0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" h="67">
                <a:moveTo>
                  <a:pt x="31" y="0"/>
                </a:moveTo>
                <a:lnTo>
                  <a:pt x="75" y="66"/>
                </a:lnTo>
                <a:lnTo>
                  <a:pt x="0" y="25"/>
                </a:lnTo>
                <a:lnTo>
                  <a:pt x="31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4" name="Freeform 28"/>
          <p:cNvSpPr>
            <a:spLocks/>
          </p:cNvSpPr>
          <p:nvPr/>
        </p:nvSpPr>
        <p:spPr bwMode="auto">
          <a:xfrm>
            <a:off x="5982031" y="3177870"/>
            <a:ext cx="141288" cy="68263"/>
          </a:xfrm>
          <a:custGeom>
            <a:avLst/>
            <a:gdLst>
              <a:gd name="T0" fmla="*/ 14 w 89"/>
              <a:gd name="T1" fmla="*/ 0 h 43"/>
              <a:gd name="T2" fmla="*/ 88 w 89"/>
              <a:gd name="T3" fmla="*/ 42 h 43"/>
              <a:gd name="T4" fmla="*/ 0 w 89"/>
              <a:gd name="T5" fmla="*/ 34 h 43"/>
              <a:gd name="T6" fmla="*/ 14 w 89"/>
              <a:gd name="T7" fmla="*/ 0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9" h="43">
                <a:moveTo>
                  <a:pt x="14" y="0"/>
                </a:moveTo>
                <a:lnTo>
                  <a:pt x="88" y="42"/>
                </a:lnTo>
                <a:lnTo>
                  <a:pt x="0" y="34"/>
                </a:lnTo>
                <a:lnTo>
                  <a:pt x="14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" name="Rectangle 29"/>
          <p:cNvSpPr>
            <a:spLocks noChangeArrowheads="1"/>
          </p:cNvSpPr>
          <p:nvPr/>
        </p:nvSpPr>
        <p:spPr bwMode="auto">
          <a:xfrm>
            <a:off x="6243351" y="3217127"/>
            <a:ext cx="3651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30</a:t>
            </a:r>
          </a:p>
        </p:txBody>
      </p:sp>
      <p:sp>
        <p:nvSpPr>
          <p:cNvPr id="216" name="Rectangle 30"/>
          <p:cNvSpPr>
            <a:spLocks noChangeArrowheads="1"/>
          </p:cNvSpPr>
          <p:nvPr/>
        </p:nvSpPr>
        <p:spPr bwMode="auto">
          <a:xfrm>
            <a:off x="4628864" y="416645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22*</a:t>
            </a:r>
          </a:p>
        </p:txBody>
      </p:sp>
      <p:sp>
        <p:nvSpPr>
          <p:cNvPr id="217" name="Rectangle 31"/>
          <p:cNvSpPr>
            <a:spLocks noChangeArrowheads="1"/>
          </p:cNvSpPr>
          <p:nvPr/>
        </p:nvSpPr>
        <p:spPr bwMode="auto">
          <a:xfrm>
            <a:off x="5063839" y="416645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27*</a:t>
            </a:r>
          </a:p>
        </p:txBody>
      </p:sp>
      <p:sp>
        <p:nvSpPr>
          <p:cNvPr id="218" name="Rectangle 32"/>
          <p:cNvSpPr>
            <a:spLocks noChangeArrowheads="1"/>
          </p:cNvSpPr>
          <p:nvPr/>
        </p:nvSpPr>
        <p:spPr bwMode="auto">
          <a:xfrm>
            <a:off x="5482939" y="4177565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29*</a:t>
            </a:r>
          </a:p>
        </p:txBody>
      </p:sp>
      <p:sp>
        <p:nvSpPr>
          <p:cNvPr id="219" name="Rectangle 33"/>
          <p:cNvSpPr>
            <a:spLocks noChangeArrowheads="1"/>
          </p:cNvSpPr>
          <p:nvPr/>
        </p:nvSpPr>
        <p:spPr bwMode="auto">
          <a:xfrm>
            <a:off x="6514814" y="4177565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33*</a:t>
            </a:r>
          </a:p>
        </p:txBody>
      </p:sp>
      <p:sp>
        <p:nvSpPr>
          <p:cNvPr id="220" name="Rectangle 34"/>
          <p:cNvSpPr>
            <a:spLocks noChangeArrowheads="1"/>
          </p:cNvSpPr>
          <p:nvPr/>
        </p:nvSpPr>
        <p:spPr bwMode="auto">
          <a:xfrm>
            <a:off x="6949789" y="4177565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34*</a:t>
            </a:r>
          </a:p>
        </p:txBody>
      </p:sp>
      <p:sp>
        <p:nvSpPr>
          <p:cNvPr id="221" name="Rectangle 35"/>
          <p:cNvSpPr>
            <a:spLocks noChangeArrowheads="1"/>
          </p:cNvSpPr>
          <p:nvPr/>
        </p:nvSpPr>
        <p:spPr bwMode="auto">
          <a:xfrm>
            <a:off x="7368889" y="416645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38*</a:t>
            </a:r>
          </a:p>
        </p:txBody>
      </p:sp>
      <p:sp>
        <p:nvSpPr>
          <p:cNvPr id="222" name="Rectangle 36"/>
          <p:cNvSpPr>
            <a:spLocks noChangeArrowheads="1"/>
          </p:cNvSpPr>
          <p:nvPr/>
        </p:nvSpPr>
        <p:spPr bwMode="auto">
          <a:xfrm>
            <a:off x="7803864" y="4155340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39*</a:t>
            </a:r>
          </a:p>
        </p:txBody>
      </p:sp>
      <p:sp>
        <p:nvSpPr>
          <p:cNvPr id="224" name="Arc 38"/>
          <p:cNvSpPr>
            <a:spLocks/>
          </p:cNvSpPr>
          <p:nvPr/>
        </p:nvSpPr>
        <p:spPr bwMode="auto">
          <a:xfrm rot="18420000">
            <a:off x="6214776" y="3863240"/>
            <a:ext cx="304800" cy="381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" name="Oval 89"/>
          <p:cNvSpPr/>
          <p:nvPr/>
        </p:nvSpPr>
        <p:spPr>
          <a:xfrm>
            <a:off x="5599495" y="3067547"/>
            <a:ext cx="1757750" cy="542131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>
            <a:off x="1133088" y="3179688"/>
            <a:ext cx="1757750" cy="542131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reeform 59"/>
          <p:cNvSpPr>
            <a:spLocks/>
          </p:cNvSpPr>
          <p:nvPr/>
        </p:nvSpPr>
        <p:spPr bwMode="auto">
          <a:xfrm>
            <a:off x="3314701" y="5183188"/>
            <a:ext cx="573087" cy="474662"/>
          </a:xfrm>
          <a:custGeom>
            <a:avLst/>
            <a:gdLst>
              <a:gd name="T0" fmla="*/ 0 w 361"/>
              <a:gd name="T1" fmla="*/ 298 h 299"/>
              <a:gd name="T2" fmla="*/ 0 w 361"/>
              <a:gd name="T3" fmla="*/ 0 h 299"/>
              <a:gd name="T4" fmla="*/ 360 w 361"/>
              <a:gd name="T5" fmla="*/ 0 h 299"/>
              <a:gd name="T6" fmla="*/ 360 w 361"/>
              <a:gd name="T7" fmla="*/ 298 h 299"/>
              <a:gd name="T8" fmla="*/ 0 w 361"/>
              <a:gd name="T9" fmla="*/ 298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1" h="299">
                <a:moveTo>
                  <a:pt x="0" y="298"/>
                </a:moveTo>
                <a:lnTo>
                  <a:pt x="0" y="0"/>
                </a:lnTo>
                <a:lnTo>
                  <a:pt x="360" y="0"/>
                </a:lnTo>
                <a:lnTo>
                  <a:pt x="360" y="298"/>
                </a:lnTo>
                <a:lnTo>
                  <a:pt x="0" y="29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" name="Freeform 60"/>
          <p:cNvSpPr>
            <a:spLocks/>
          </p:cNvSpPr>
          <p:nvPr/>
        </p:nvSpPr>
        <p:spPr bwMode="auto">
          <a:xfrm>
            <a:off x="3409951" y="5183188"/>
            <a:ext cx="1587" cy="474662"/>
          </a:xfrm>
          <a:custGeom>
            <a:avLst/>
            <a:gdLst>
              <a:gd name="T0" fmla="*/ 0 w 1"/>
              <a:gd name="T1" fmla="*/ 0 h 299"/>
              <a:gd name="T2" fmla="*/ 0 w 1"/>
              <a:gd name="T3" fmla="*/ 298 h 299"/>
              <a:gd name="T4" fmla="*/ 0 w 1"/>
              <a:gd name="T5" fmla="*/ 0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9">
                <a:moveTo>
                  <a:pt x="0" y="0"/>
                </a:moveTo>
                <a:lnTo>
                  <a:pt x="0" y="29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" name="Freeform 61"/>
          <p:cNvSpPr>
            <a:spLocks/>
          </p:cNvSpPr>
          <p:nvPr/>
        </p:nvSpPr>
        <p:spPr bwMode="auto">
          <a:xfrm>
            <a:off x="3886201" y="5183188"/>
            <a:ext cx="574675" cy="474662"/>
          </a:xfrm>
          <a:custGeom>
            <a:avLst/>
            <a:gdLst>
              <a:gd name="T0" fmla="*/ 0 w 362"/>
              <a:gd name="T1" fmla="*/ 298 h 299"/>
              <a:gd name="T2" fmla="*/ 0 w 362"/>
              <a:gd name="T3" fmla="*/ 0 h 299"/>
              <a:gd name="T4" fmla="*/ 361 w 362"/>
              <a:gd name="T5" fmla="*/ 0 h 299"/>
              <a:gd name="T6" fmla="*/ 361 w 362"/>
              <a:gd name="T7" fmla="*/ 298 h 299"/>
              <a:gd name="T8" fmla="*/ 0 w 362"/>
              <a:gd name="T9" fmla="*/ 298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2" h="299">
                <a:moveTo>
                  <a:pt x="0" y="298"/>
                </a:moveTo>
                <a:lnTo>
                  <a:pt x="0" y="0"/>
                </a:lnTo>
                <a:lnTo>
                  <a:pt x="361" y="0"/>
                </a:lnTo>
                <a:lnTo>
                  <a:pt x="361" y="298"/>
                </a:lnTo>
                <a:lnTo>
                  <a:pt x="0" y="29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" name="Freeform 62"/>
          <p:cNvSpPr>
            <a:spLocks/>
          </p:cNvSpPr>
          <p:nvPr/>
        </p:nvSpPr>
        <p:spPr bwMode="auto">
          <a:xfrm>
            <a:off x="3983038" y="5183188"/>
            <a:ext cx="1588" cy="474662"/>
          </a:xfrm>
          <a:custGeom>
            <a:avLst/>
            <a:gdLst>
              <a:gd name="T0" fmla="*/ 0 w 1"/>
              <a:gd name="T1" fmla="*/ 0 h 299"/>
              <a:gd name="T2" fmla="*/ 0 w 1"/>
              <a:gd name="T3" fmla="*/ 298 h 299"/>
              <a:gd name="T4" fmla="*/ 0 w 1"/>
              <a:gd name="T5" fmla="*/ 0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9">
                <a:moveTo>
                  <a:pt x="0" y="0"/>
                </a:moveTo>
                <a:lnTo>
                  <a:pt x="0" y="29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" name="Freeform 63"/>
          <p:cNvSpPr>
            <a:spLocks/>
          </p:cNvSpPr>
          <p:nvPr/>
        </p:nvSpPr>
        <p:spPr bwMode="auto">
          <a:xfrm>
            <a:off x="4459288" y="5183188"/>
            <a:ext cx="573088" cy="474662"/>
          </a:xfrm>
          <a:custGeom>
            <a:avLst/>
            <a:gdLst>
              <a:gd name="T0" fmla="*/ 0 w 361"/>
              <a:gd name="T1" fmla="*/ 298 h 299"/>
              <a:gd name="T2" fmla="*/ 0 w 361"/>
              <a:gd name="T3" fmla="*/ 0 h 299"/>
              <a:gd name="T4" fmla="*/ 360 w 361"/>
              <a:gd name="T5" fmla="*/ 0 h 299"/>
              <a:gd name="T6" fmla="*/ 360 w 361"/>
              <a:gd name="T7" fmla="*/ 298 h 299"/>
              <a:gd name="T8" fmla="*/ 0 w 361"/>
              <a:gd name="T9" fmla="*/ 298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1" h="299">
                <a:moveTo>
                  <a:pt x="0" y="298"/>
                </a:moveTo>
                <a:lnTo>
                  <a:pt x="0" y="0"/>
                </a:lnTo>
                <a:lnTo>
                  <a:pt x="360" y="0"/>
                </a:lnTo>
                <a:lnTo>
                  <a:pt x="360" y="298"/>
                </a:lnTo>
                <a:lnTo>
                  <a:pt x="0" y="29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Freeform 64"/>
          <p:cNvSpPr>
            <a:spLocks/>
          </p:cNvSpPr>
          <p:nvPr/>
        </p:nvSpPr>
        <p:spPr bwMode="auto">
          <a:xfrm>
            <a:off x="4554538" y="5183188"/>
            <a:ext cx="1588" cy="474662"/>
          </a:xfrm>
          <a:custGeom>
            <a:avLst/>
            <a:gdLst>
              <a:gd name="T0" fmla="*/ 0 w 1"/>
              <a:gd name="T1" fmla="*/ 0 h 299"/>
              <a:gd name="T2" fmla="*/ 0 w 1"/>
              <a:gd name="T3" fmla="*/ 298 h 299"/>
              <a:gd name="T4" fmla="*/ 0 w 1"/>
              <a:gd name="T5" fmla="*/ 0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9">
                <a:moveTo>
                  <a:pt x="0" y="0"/>
                </a:moveTo>
                <a:lnTo>
                  <a:pt x="0" y="29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Freeform 65"/>
          <p:cNvSpPr>
            <a:spLocks/>
          </p:cNvSpPr>
          <p:nvPr/>
        </p:nvSpPr>
        <p:spPr bwMode="auto">
          <a:xfrm>
            <a:off x="5030788" y="5183188"/>
            <a:ext cx="574675" cy="474662"/>
          </a:xfrm>
          <a:custGeom>
            <a:avLst/>
            <a:gdLst>
              <a:gd name="T0" fmla="*/ 0 w 362"/>
              <a:gd name="T1" fmla="*/ 298 h 299"/>
              <a:gd name="T2" fmla="*/ 0 w 362"/>
              <a:gd name="T3" fmla="*/ 0 h 299"/>
              <a:gd name="T4" fmla="*/ 361 w 362"/>
              <a:gd name="T5" fmla="*/ 0 h 299"/>
              <a:gd name="T6" fmla="*/ 361 w 362"/>
              <a:gd name="T7" fmla="*/ 298 h 299"/>
              <a:gd name="T8" fmla="*/ 0 w 362"/>
              <a:gd name="T9" fmla="*/ 298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2" h="299">
                <a:moveTo>
                  <a:pt x="0" y="298"/>
                </a:moveTo>
                <a:lnTo>
                  <a:pt x="0" y="0"/>
                </a:lnTo>
                <a:lnTo>
                  <a:pt x="361" y="0"/>
                </a:lnTo>
                <a:lnTo>
                  <a:pt x="361" y="298"/>
                </a:lnTo>
                <a:lnTo>
                  <a:pt x="0" y="29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" name="Freeform 66"/>
          <p:cNvSpPr>
            <a:spLocks/>
          </p:cNvSpPr>
          <p:nvPr/>
        </p:nvSpPr>
        <p:spPr bwMode="auto">
          <a:xfrm>
            <a:off x="5127626" y="5183188"/>
            <a:ext cx="1587" cy="474662"/>
          </a:xfrm>
          <a:custGeom>
            <a:avLst/>
            <a:gdLst>
              <a:gd name="T0" fmla="*/ 0 w 1"/>
              <a:gd name="T1" fmla="*/ 0 h 299"/>
              <a:gd name="T2" fmla="*/ 0 w 1"/>
              <a:gd name="T3" fmla="*/ 298 h 299"/>
              <a:gd name="T4" fmla="*/ 0 w 1"/>
              <a:gd name="T5" fmla="*/ 0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9">
                <a:moveTo>
                  <a:pt x="0" y="0"/>
                </a:moveTo>
                <a:lnTo>
                  <a:pt x="0" y="29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Freeform 67"/>
          <p:cNvSpPr>
            <a:spLocks/>
          </p:cNvSpPr>
          <p:nvPr/>
        </p:nvSpPr>
        <p:spPr bwMode="auto">
          <a:xfrm>
            <a:off x="5603876" y="5183188"/>
            <a:ext cx="98425" cy="474662"/>
          </a:xfrm>
          <a:custGeom>
            <a:avLst/>
            <a:gdLst>
              <a:gd name="T0" fmla="*/ 0 w 62"/>
              <a:gd name="T1" fmla="*/ 298 h 299"/>
              <a:gd name="T2" fmla="*/ 0 w 62"/>
              <a:gd name="T3" fmla="*/ 0 h 299"/>
              <a:gd name="T4" fmla="*/ 61 w 62"/>
              <a:gd name="T5" fmla="*/ 0 h 299"/>
              <a:gd name="T6" fmla="*/ 61 w 62"/>
              <a:gd name="T7" fmla="*/ 298 h 299"/>
              <a:gd name="T8" fmla="*/ 0 w 62"/>
              <a:gd name="T9" fmla="*/ 298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" h="299">
                <a:moveTo>
                  <a:pt x="0" y="298"/>
                </a:moveTo>
                <a:lnTo>
                  <a:pt x="0" y="0"/>
                </a:lnTo>
                <a:lnTo>
                  <a:pt x="61" y="0"/>
                </a:lnTo>
                <a:lnTo>
                  <a:pt x="61" y="298"/>
                </a:lnTo>
                <a:lnTo>
                  <a:pt x="0" y="29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" name="Rectangle 92"/>
          <p:cNvSpPr>
            <a:spLocks noChangeArrowheads="1"/>
          </p:cNvSpPr>
          <p:nvPr/>
        </p:nvSpPr>
        <p:spPr bwMode="auto">
          <a:xfrm>
            <a:off x="2317751" y="5024438"/>
            <a:ext cx="5857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125" name="Rectangle 94"/>
          <p:cNvSpPr>
            <a:spLocks noChangeArrowheads="1"/>
          </p:cNvSpPr>
          <p:nvPr/>
        </p:nvSpPr>
        <p:spPr bwMode="auto">
          <a:xfrm>
            <a:off x="4035426" y="5249863"/>
            <a:ext cx="3651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13</a:t>
            </a:r>
          </a:p>
        </p:txBody>
      </p:sp>
      <p:sp>
        <p:nvSpPr>
          <p:cNvPr id="126" name="Rectangle 95"/>
          <p:cNvSpPr>
            <a:spLocks noChangeArrowheads="1"/>
          </p:cNvSpPr>
          <p:nvPr/>
        </p:nvSpPr>
        <p:spPr bwMode="auto">
          <a:xfrm>
            <a:off x="3486151" y="5249863"/>
            <a:ext cx="27305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128" name="Line 97"/>
          <p:cNvSpPr>
            <a:spLocks noChangeShapeType="1"/>
          </p:cNvSpPr>
          <p:nvPr/>
        </p:nvSpPr>
        <p:spPr bwMode="auto">
          <a:xfrm>
            <a:off x="2598738" y="4876800"/>
            <a:ext cx="6858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30" name="Straight Arrow Connector 129"/>
          <p:cNvCxnSpPr>
            <a:endCxn id="96" idx="2"/>
          </p:cNvCxnSpPr>
          <p:nvPr/>
        </p:nvCxnSpPr>
        <p:spPr>
          <a:xfrm>
            <a:off x="2349500" y="3721819"/>
            <a:ext cx="2109789" cy="1461369"/>
          </a:xfrm>
          <a:prstGeom prst="straightConnector1">
            <a:avLst/>
          </a:prstGeom>
          <a:ln w="1270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/>
          <p:cNvCxnSpPr>
            <a:endCxn id="96" idx="2"/>
          </p:cNvCxnSpPr>
          <p:nvPr/>
        </p:nvCxnSpPr>
        <p:spPr>
          <a:xfrm flipH="1">
            <a:off x="4459289" y="3609678"/>
            <a:ext cx="1966625" cy="1573510"/>
          </a:xfrm>
          <a:prstGeom prst="straightConnector1">
            <a:avLst/>
          </a:prstGeom>
          <a:ln w="1270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53026" y="6324600"/>
            <a:ext cx="226818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Lacks a pointer for 30!</a:t>
            </a:r>
            <a:endParaRPr lang="en-US" dirty="0"/>
          </a:p>
        </p:txBody>
      </p:sp>
      <p:sp>
        <p:nvSpPr>
          <p:cNvPr id="142" name="Freeform 53"/>
          <p:cNvSpPr>
            <a:spLocks/>
          </p:cNvSpPr>
          <p:nvPr/>
        </p:nvSpPr>
        <p:spPr bwMode="auto">
          <a:xfrm>
            <a:off x="2919917" y="5624883"/>
            <a:ext cx="446088" cy="496888"/>
          </a:xfrm>
          <a:custGeom>
            <a:avLst/>
            <a:gdLst>
              <a:gd name="T0" fmla="*/ 444500 w 281"/>
              <a:gd name="T1" fmla="*/ 0 h 313"/>
              <a:gd name="T2" fmla="*/ 0 w 281"/>
              <a:gd name="T3" fmla="*/ 495300 h 313"/>
              <a:gd name="T4" fmla="*/ 444500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" name="Freeform 55"/>
          <p:cNvSpPr>
            <a:spLocks/>
          </p:cNvSpPr>
          <p:nvPr/>
        </p:nvSpPr>
        <p:spPr bwMode="auto">
          <a:xfrm>
            <a:off x="3915400" y="5615358"/>
            <a:ext cx="449262" cy="506413"/>
          </a:xfrm>
          <a:custGeom>
            <a:avLst/>
            <a:gdLst>
              <a:gd name="T0" fmla="*/ 0 w 283"/>
              <a:gd name="T1" fmla="*/ 0 h 319"/>
              <a:gd name="T2" fmla="*/ 447675 w 283"/>
              <a:gd name="T3" fmla="*/ 504825 h 319"/>
              <a:gd name="T4" fmla="*/ 0 w 283"/>
              <a:gd name="T5" fmla="*/ 0 h 319"/>
              <a:gd name="T6" fmla="*/ 0 60000 65536"/>
              <a:gd name="T7" fmla="*/ 0 60000 65536"/>
              <a:gd name="T8" fmla="*/ 0 60000 65536"/>
              <a:gd name="T9" fmla="*/ 0 w 283"/>
              <a:gd name="T10" fmla="*/ 0 h 319"/>
              <a:gd name="T11" fmla="*/ 283 w 283"/>
              <a:gd name="T12" fmla="*/ 319 h 31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3" h="319">
                <a:moveTo>
                  <a:pt x="0" y="0"/>
                </a:moveTo>
                <a:lnTo>
                  <a:pt x="282" y="318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" name="Freeform 57"/>
          <p:cNvSpPr>
            <a:spLocks/>
          </p:cNvSpPr>
          <p:nvPr/>
        </p:nvSpPr>
        <p:spPr bwMode="auto">
          <a:xfrm>
            <a:off x="4495178" y="5615358"/>
            <a:ext cx="1330325" cy="517525"/>
          </a:xfrm>
          <a:custGeom>
            <a:avLst/>
            <a:gdLst>
              <a:gd name="T0" fmla="*/ 0 w 838"/>
              <a:gd name="T1" fmla="*/ 0 h 326"/>
              <a:gd name="T2" fmla="*/ 1328738 w 838"/>
              <a:gd name="T3" fmla="*/ 515938 h 326"/>
              <a:gd name="T4" fmla="*/ 0 w 838"/>
              <a:gd name="T5" fmla="*/ 0 h 326"/>
              <a:gd name="T6" fmla="*/ 0 60000 65536"/>
              <a:gd name="T7" fmla="*/ 0 60000 65536"/>
              <a:gd name="T8" fmla="*/ 0 60000 65536"/>
              <a:gd name="T9" fmla="*/ 0 w 838"/>
              <a:gd name="T10" fmla="*/ 0 h 326"/>
              <a:gd name="T11" fmla="*/ 838 w 838"/>
              <a:gd name="T12" fmla="*/ 326 h 3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38" h="326">
                <a:moveTo>
                  <a:pt x="0" y="0"/>
                </a:moveTo>
                <a:lnTo>
                  <a:pt x="837" y="32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5" name="Freeform 54"/>
          <p:cNvSpPr>
            <a:spLocks/>
          </p:cNvSpPr>
          <p:nvPr/>
        </p:nvSpPr>
        <p:spPr bwMode="auto">
          <a:xfrm>
            <a:off x="2871787" y="6080495"/>
            <a:ext cx="87313" cy="93663"/>
          </a:xfrm>
          <a:custGeom>
            <a:avLst/>
            <a:gdLst>
              <a:gd name="T0" fmla="*/ 85725 w 55"/>
              <a:gd name="T1" fmla="*/ 33338 h 59"/>
              <a:gd name="T2" fmla="*/ 0 w 55"/>
              <a:gd name="T3" fmla="*/ 92075 h 59"/>
              <a:gd name="T4" fmla="*/ 47625 w 55"/>
              <a:gd name="T5" fmla="*/ 0 h 59"/>
              <a:gd name="T6" fmla="*/ 85725 w 55"/>
              <a:gd name="T7" fmla="*/ 33338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6" name="Freeform 56"/>
          <p:cNvSpPr>
            <a:spLocks/>
          </p:cNvSpPr>
          <p:nvPr/>
        </p:nvSpPr>
        <p:spPr bwMode="auto">
          <a:xfrm>
            <a:off x="4342215" y="6083848"/>
            <a:ext cx="88900" cy="92075"/>
          </a:xfrm>
          <a:custGeom>
            <a:avLst/>
            <a:gdLst>
              <a:gd name="T0" fmla="*/ 38100 w 56"/>
              <a:gd name="T1" fmla="*/ 0 h 58"/>
              <a:gd name="T2" fmla="*/ 87313 w 56"/>
              <a:gd name="T3" fmla="*/ 90488 h 58"/>
              <a:gd name="T4" fmla="*/ 0 w 56"/>
              <a:gd name="T5" fmla="*/ 33338 h 58"/>
              <a:gd name="T6" fmla="*/ 38100 w 56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6"/>
              <a:gd name="T13" fmla="*/ 0 h 58"/>
              <a:gd name="T14" fmla="*/ 56 w 56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" h="58">
                <a:moveTo>
                  <a:pt x="24" y="0"/>
                </a:moveTo>
                <a:lnTo>
                  <a:pt x="55" y="57"/>
                </a:lnTo>
                <a:lnTo>
                  <a:pt x="0" y="21"/>
                </a:lnTo>
                <a:lnTo>
                  <a:pt x="24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7" name="Freeform 58"/>
          <p:cNvSpPr>
            <a:spLocks/>
          </p:cNvSpPr>
          <p:nvPr/>
        </p:nvSpPr>
        <p:spPr bwMode="auto">
          <a:xfrm>
            <a:off x="5793295" y="6101021"/>
            <a:ext cx="104775" cy="61912"/>
          </a:xfrm>
          <a:custGeom>
            <a:avLst/>
            <a:gdLst>
              <a:gd name="T0" fmla="*/ 17463 w 66"/>
              <a:gd name="T1" fmla="*/ 0 h 39"/>
              <a:gd name="T2" fmla="*/ 103188 w 66"/>
              <a:gd name="T3" fmla="*/ 60325 h 39"/>
              <a:gd name="T4" fmla="*/ 0 w 66"/>
              <a:gd name="T5" fmla="*/ 47625 h 39"/>
              <a:gd name="T6" fmla="*/ 17463 w 66"/>
              <a:gd name="T7" fmla="*/ 0 h 39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39"/>
              <a:gd name="T14" fmla="*/ 66 w 66"/>
              <a:gd name="T15" fmla="*/ 39 h 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39">
                <a:moveTo>
                  <a:pt x="11" y="0"/>
                </a:moveTo>
                <a:lnTo>
                  <a:pt x="65" y="38"/>
                </a:lnTo>
                <a:lnTo>
                  <a:pt x="0" y="30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377584" y="5042975"/>
            <a:ext cx="267762" cy="901760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stCxn id="9" idx="2"/>
          </p:cNvCxnSpPr>
          <p:nvPr/>
        </p:nvCxnSpPr>
        <p:spPr>
          <a:xfrm>
            <a:off x="4511465" y="5944735"/>
            <a:ext cx="1246035" cy="381000"/>
          </a:xfrm>
          <a:prstGeom prst="straightConnector1">
            <a:avLst/>
          </a:prstGeom>
          <a:ln w="158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Rectangle 93"/>
          <p:cNvSpPr>
            <a:spLocks noChangeArrowheads="1"/>
          </p:cNvSpPr>
          <p:nvPr/>
        </p:nvSpPr>
        <p:spPr bwMode="auto">
          <a:xfrm>
            <a:off x="4645025" y="5257800"/>
            <a:ext cx="3651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 dirty="0">
                <a:solidFill>
                  <a:srgbClr val="000000"/>
                </a:solidFill>
                <a:latin typeface="Arial" pitchFamily="34" charset="0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370925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nimBg="1"/>
      <p:bldP spid="92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20" grpId="0" animBg="1"/>
      <p:bldP spid="121" grpId="0" animBg="1"/>
      <p:bldP spid="122" grpId="0" animBg="1"/>
      <p:bldP spid="123" grpId="0"/>
      <p:bldP spid="125" grpId="0"/>
      <p:bldP spid="126" grpId="0"/>
      <p:bldP spid="128" grpId="0" animBg="1"/>
      <p:bldP spid="5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9" grpId="0" animBg="1"/>
      <p:bldP spid="14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B+ Tree: Examples </a:t>
            </a:r>
            <a:r>
              <a:rPr lang="en-US" dirty="0" smtClean="0">
                <a:ea typeface="ＭＳ Ｐゴシック" pitchFamily="34" charset="-128"/>
              </a:rPr>
              <a:t>of Deletions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Delete </a:t>
            </a:r>
            <a:r>
              <a:rPr lang="en-US" dirty="0" smtClean="0">
                <a:solidFill>
                  <a:srgbClr val="FF0000"/>
                </a:solidFill>
              </a:rPr>
              <a:t>24*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101" name="Freeform 4"/>
          <p:cNvSpPr>
            <a:spLocks/>
          </p:cNvSpPr>
          <p:nvPr/>
        </p:nvSpPr>
        <p:spPr bwMode="auto">
          <a:xfrm>
            <a:off x="381000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" name="Freeform 5"/>
          <p:cNvSpPr>
            <a:spLocks/>
          </p:cNvSpPr>
          <p:nvPr/>
        </p:nvSpPr>
        <p:spPr bwMode="auto">
          <a:xfrm>
            <a:off x="706438" y="4086225"/>
            <a:ext cx="325437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Freeform 6"/>
          <p:cNvSpPr>
            <a:spLocks/>
          </p:cNvSpPr>
          <p:nvPr/>
        </p:nvSpPr>
        <p:spPr bwMode="auto">
          <a:xfrm>
            <a:off x="1030288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" name="Freeform 7"/>
          <p:cNvSpPr>
            <a:spLocks/>
          </p:cNvSpPr>
          <p:nvPr/>
        </p:nvSpPr>
        <p:spPr bwMode="auto">
          <a:xfrm>
            <a:off x="1355725" y="4086225"/>
            <a:ext cx="325438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" name="Rectangle 8"/>
          <p:cNvSpPr>
            <a:spLocks noChangeArrowheads="1"/>
          </p:cNvSpPr>
          <p:nvPr/>
        </p:nvSpPr>
        <p:spPr bwMode="auto">
          <a:xfrm>
            <a:off x="390525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2*</a:t>
            </a:r>
          </a:p>
        </p:txBody>
      </p:sp>
      <p:sp>
        <p:nvSpPr>
          <p:cNvPr id="106" name="Rectangle 9"/>
          <p:cNvSpPr>
            <a:spLocks noChangeArrowheads="1"/>
          </p:cNvSpPr>
          <p:nvPr/>
        </p:nvSpPr>
        <p:spPr bwMode="auto">
          <a:xfrm>
            <a:off x="715963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3*</a:t>
            </a:r>
          </a:p>
        </p:txBody>
      </p:sp>
      <p:sp>
        <p:nvSpPr>
          <p:cNvPr id="107" name="Freeform 10"/>
          <p:cNvSpPr>
            <a:spLocks/>
          </p:cNvSpPr>
          <p:nvPr/>
        </p:nvSpPr>
        <p:spPr bwMode="auto">
          <a:xfrm>
            <a:off x="3549650" y="246856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Freeform 11"/>
          <p:cNvSpPr>
            <a:spLocks/>
          </p:cNvSpPr>
          <p:nvPr/>
        </p:nvSpPr>
        <p:spPr bwMode="auto">
          <a:xfrm>
            <a:off x="3629025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Freeform 12"/>
          <p:cNvSpPr>
            <a:spLocks/>
          </p:cNvSpPr>
          <p:nvPr/>
        </p:nvSpPr>
        <p:spPr bwMode="auto">
          <a:xfrm>
            <a:off x="4035425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Freeform 13"/>
          <p:cNvSpPr>
            <a:spLocks/>
          </p:cNvSpPr>
          <p:nvPr/>
        </p:nvSpPr>
        <p:spPr bwMode="auto">
          <a:xfrm>
            <a:off x="4116388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Freeform 14"/>
          <p:cNvSpPr>
            <a:spLocks/>
          </p:cNvSpPr>
          <p:nvPr/>
        </p:nvSpPr>
        <p:spPr bwMode="auto">
          <a:xfrm>
            <a:off x="4522788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Freeform 15"/>
          <p:cNvSpPr>
            <a:spLocks/>
          </p:cNvSpPr>
          <p:nvPr/>
        </p:nvSpPr>
        <p:spPr bwMode="auto">
          <a:xfrm>
            <a:off x="4603750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Freeform 16"/>
          <p:cNvSpPr>
            <a:spLocks/>
          </p:cNvSpPr>
          <p:nvPr/>
        </p:nvSpPr>
        <p:spPr bwMode="auto">
          <a:xfrm>
            <a:off x="5010150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Freeform 17"/>
          <p:cNvSpPr>
            <a:spLocks/>
          </p:cNvSpPr>
          <p:nvPr/>
        </p:nvSpPr>
        <p:spPr bwMode="auto">
          <a:xfrm>
            <a:off x="5091113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Freeform 18"/>
          <p:cNvSpPr>
            <a:spLocks/>
          </p:cNvSpPr>
          <p:nvPr/>
        </p:nvSpPr>
        <p:spPr bwMode="auto">
          <a:xfrm>
            <a:off x="5497513" y="246856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Freeform 19"/>
          <p:cNvSpPr>
            <a:spLocks/>
          </p:cNvSpPr>
          <p:nvPr/>
        </p:nvSpPr>
        <p:spPr bwMode="auto">
          <a:xfrm>
            <a:off x="3162300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Freeform 20"/>
          <p:cNvSpPr>
            <a:spLocks/>
          </p:cNvSpPr>
          <p:nvPr/>
        </p:nvSpPr>
        <p:spPr bwMode="auto">
          <a:xfrm>
            <a:off x="348773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Freeform 21"/>
          <p:cNvSpPr>
            <a:spLocks/>
          </p:cNvSpPr>
          <p:nvPr/>
        </p:nvSpPr>
        <p:spPr bwMode="auto">
          <a:xfrm>
            <a:off x="3813175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Freeform 22"/>
          <p:cNvSpPr>
            <a:spLocks/>
          </p:cNvSpPr>
          <p:nvPr/>
        </p:nvSpPr>
        <p:spPr bwMode="auto">
          <a:xfrm>
            <a:off x="41370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Freeform 35"/>
          <p:cNvSpPr>
            <a:spLocks/>
          </p:cNvSpPr>
          <p:nvPr/>
        </p:nvSpPr>
        <p:spPr bwMode="auto">
          <a:xfrm>
            <a:off x="1428750" y="323691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" name="Freeform 36"/>
          <p:cNvSpPr>
            <a:spLocks/>
          </p:cNvSpPr>
          <p:nvPr/>
        </p:nvSpPr>
        <p:spPr bwMode="auto">
          <a:xfrm>
            <a:off x="15097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" name="Freeform 37"/>
          <p:cNvSpPr>
            <a:spLocks/>
          </p:cNvSpPr>
          <p:nvPr/>
        </p:nvSpPr>
        <p:spPr bwMode="auto">
          <a:xfrm>
            <a:off x="1914525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" name="Freeform 38"/>
          <p:cNvSpPr>
            <a:spLocks/>
          </p:cNvSpPr>
          <p:nvPr/>
        </p:nvSpPr>
        <p:spPr bwMode="auto">
          <a:xfrm>
            <a:off x="199548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" name="Freeform 39"/>
          <p:cNvSpPr>
            <a:spLocks/>
          </p:cNvSpPr>
          <p:nvPr/>
        </p:nvSpPr>
        <p:spPr bwMode="auto">
          <a:xfrm>
            <a:off x="2401888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" name="Freeform 40"/>
          <p:cNvSpPr>
            <a:spLocks/>
          </p:cNvSpPr>
          <p:nvPr/>
        </p:nvSpPr>
        <p:spPr bwMode="auto">
          <a:xfrm>
            <a:off x="2482850" y="32369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" name="Freeform 41"/>
          <p:cNvSpPr>
            <a:spLocks/>
          </p:cNvSpPr>
          <p:nvPr/>
        </p:nvSpPr>
        <p:spPr bwMode="auto">
          <a:xfrm>
            <a:off x="288925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" name="Freeform 42"/>
          <p:cNvSpPr>
            <a:spLocks/>
          </p:cNvSpPr>
          <p:nvPr/>
        </p:nvSpPr>
        <p:spPr bwMode="auto">
          <a:xfrm>
            <a:off x="29702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" name="Freeform 43"/>
          <p:cNvSpPr>
            <a:spLocks/>
          </p:cNvSpPr>
          <p:nvPr/>
        </p:nvSpPr>
        <p:spPr bwMode="auto">
          <a:xfrm>
            <a:off x="3376613" y="323691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" name="Freeform 53"/>
          <p:cNvSpPr>
            <a:spLocks/>
          </p:cNvSpPr>
          <p:nvPr/>
        </p:nvSpPr>
        <p:spPr bwMode="auto">
          <a:xfrm>
            <a:off x="1012825" y="3559175"/>
            <a:ext cx="446088" cy="496888"/>
          </a:xfrm>
          <a:custGeom>
            <a:avLst/>
            <a:gdLst>
              <a:gd name="T0" fmla="*/ 444500 w 281"/>
              <a:gd name="T1" fmla="*/ 0 h 313"/>
              <a:gd name="T2" fmla="*/ 0 w 281"/>
              <a:gd name="T3" fmla="*/ 495300 h 313"/>
              <a:gd name="T4" fmla="*/ 444500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" name="Freeform 54"/>
          <p:cNvSpPr>
            <a:spLocks/>
          </p:cNvSpPr>
          <p:nvPr/>
        </p:nvSpPr>
        <p:spPr bwMode="auto">
          <a:xfrm>
            <a:off x="1012825" y="3962400"/>
            <a:ext cx="87313" cy="93663"/>
          </a:xfrm>
          <a:custGeom>
            <a:avLst/>
            <a:gdLst>
              <a:gd name="T0" fmla="*/ 85725 w 55"/>
              <a:gd name="T1" fmla="*/ 33338 h 59"/>
              <a:gd name="T2" fmla="*/ 0 w 55"/>
              <a:gd name="T3" fmla="*/ 92075 h 59"/>
              <a:gd name="T4" fmla="*/ 47625 w 55"/>
              <a:gd name="T5" fmla="*/ 0 h 59"/>
              <a:gd name="T6" fmla="*/ 85725 w 55"/>
              <a:gd name="T7" fmla="*/ 33338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2" name="Freeform 55"/>
          <p:cNvSpPr>
            <a:spLocks/>
          </p:cNvSpPr>
          <p:nvPr/>
        </p:nvSpPr>
        <p:spPr bwMode="auto">
          <a:xfrm>
            <a:off x="1944688" y="3559175"/>
            <a:ext cx="449262" cy="506413"/>
          </a:xfrm>
          <a:custGeom>
            <a:avLst/>
            <a:gdLst>
              <a:gd name="T0" fmla="*/ 0 w 283"/>
              <a:gd name="T1" fmla="*/ 0 h 319"/>
              <a:gd name="T2" fmla="*/ 447675 w 283"/>
              <a:gd name="T3" fmla="*/ 504825 h 319"/>
              <a:gd name="T4" fmla="*/ 0 w 283"/>
              <a:gd name="T5" fmla="*/ 0 h 319"/>
              <a:gd name="T6" fmla="*/ 0 60000 65536"/>
              <a:gd name="T7" fmla="*/ 0 60000 65536"/>
              <a:gd name="T8" fmla="*/ 0 60000 65536"/>
              <a:gd name="T9" fmla="*/ 0 w 283"/>
              <a:gd name="T10" fmla="*/ 0 h 319"/>
              <a:gd name="T11" fmla="*/ 283 w 283"/>
              <a:gd name="T12" fmla="*/ 319 h 31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3" h="319">
                <a:moveTo>
                  <a:pt x="0" y="0"/>
                </a:moveTo>
                <a:lnTo>
                  <a:pt x="282" y="318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" name="Freeform 56"/>
          <p:cNvSpPr>
            <a:spLocks/>
          </p:cNvSpPr>
          <p:nvPr/>
        </p:nvSpPr>
        <p:spPr bwMode="auto">
          <a:xfrm>
            <a:off x="2305050" y="3973513"/>
            <a:ext cx="88900" cy="92075"/>
          </a:xfrm>
          <a:custGeom>
            <a:avLst/>
            <a:gdLst>
              <a:gd name="T0" fmla="*/ 38100 w 56"/>
              <a:gd name="T1" fmla="*/ 0 h 58"/>
              <a:gd name="T2" fmla="*/ 87313 w 56"/>
              <a:gd name="T3" fmla="*/ 90488 h 58"/>
              <a:gd name="T4" fmla="*/ 0 w 56"/>
              <a:gd name="T5" fmla="*/ 33338 h 58"/>
              <a:gd name="T6" fmla="*/ 38100 w 56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6"/>
              <a:gd name="T13" fmla="*/ 0 h 58"/>
              <a:gd name="T14" fmla="*/ 56 w 56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" h="58">
                <a:moveTo>
                  <a:pt x="24" y="0"/>
                </a:moveTo>
                <a:lnTo>
                  <a:pt x="55" y="57"/>
                </a:lnTo>
                <a:lnTo>
                  <a:pt x="0" y="21"/>
                </a:lnTo>
                <a:lnTo>
                  <a:pt x="24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" name="Freeform 57"/>
          <p:cNvSpPr>
            <a:spLocks/>
          </p:cNvSpPr>
          <p:nvPr/>
        </p:nvSpPr>
        <p:spPr bwMode="auto">
          <a:xfrm>
            <a:off x="2443163" y="3559175"/>
            <a:ext cx="1330325" cy="517525"/>
          </a:xfrm>
          <a:custGeom>
            <a:avLst/>
            <a:gdLst>
              <a:gd name="T0" fmla="*/ 0 w 838"/>
              <a:gd name="T1" fmla="*/ 0 h 326"/>
              <a:gd name="T2" fmla="*/ 1328738 w 838"/>
              <a:gd name="T3" fmla="*/ 515938 h 326"/>
              <a:gd name="T4" fmla="*/ 0 w 838"/>
              <a:gd name="T5" fmla="*/ 0 h 326"/>
              <a:gd name="T6" fmla="*/ 0 60000 65536"/>
              <a:gd name="T7" fmla="*/ 0 60000 65536"/>
              <a:gd name="T8" fmla="*/ 0 60000 65536"/>
              <a:gd name="T9" fmla="*/ 0 w 838"/>
              <a:gd name="T10" fmla="*/ 0 h 326"/>
              <a:gd name="T11" fmla="*/ 838 w 838"/>
              <a:gd name="T12" fmla="*/ 326 h 3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38" h="326">
                <a:moveTo>
                  <a:pt x="0" y="0"/>
                </a:moveTo>
                <a:lnTo>
                  <a:pt x="837" y="32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" name="Freeform 58"/>
          <p:cNvSpPr>
            <a:spLocks/>
          </p:cNvSpPr>
          <p:nvPr/>
        </p:nvSpPr>
        <p:spPr bwMode="auto">
          <a:xfrm>
            <a:off x="3668713" y="4014788"/>
            <a:ext cx="104775" cy="61912"/>
          </a:xfrm>
          <a:custGeom>
            <a:avLst/>
            <a:gdLst>
              <a:gd name="T0" fmla="*/ 17463 w 66"/>
              <a:gd name="T1" fmla="*/ 0 h 39"/>
              <a:gd name="T2" fmla="*/ 103188 w 66"/>
              <a:gd name="T3" fmla="*/ 60325 h 39"/>
              <a:gd name="T4" fmla="*/ 0 w 66"/>
              <a:gd name="T5" fmla="*/ 47625 h 39"/>
              <a:gd name="T6" fmla="*/ 17463 w 66"/>
              <a:gd name="T7" fmla="*/ 0 h 39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39"/>
              <a:gd name="T14" fmla="*/ 66 w 66"/>
              <a:gd name="T15" fmla="*/ 39 h 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39">
                <a:moveTo>
                  <a:pt x="11" y="0"/>
                </a:moveTo>
                <a:lnTo>
                  <a:pt x="65" y="38"/>
                </a:lnTo>
                <a:lnTo>
                  <a:pt x="0" y="30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" name="Freeform 65"/>
          <p:cNvSpPr>
            <a:spLocks/>
          </p:cNvSpPr>
          <p:nvPr/>
        </p:nvSpPr>
        <p:spPr bwMode="auto">
          <a:xfrm>
            <a:off x="2401888" y="2820988"/>
            <a:ext cx="1177925" cy="396875"/>
          </a:xfrm>
          <a:custGeom>
            <a:avLst/>
            <a:gdLst>
              <a:gd name="T0" fmla="*/ 1176338 w 742"/>
              <a:gd name="T1" fmla="*/ 0 h 250"/>
              <a:gd name="T2" fmla="*/ 0 w 742"/>
              <a:gd name="T3" fmla="*/ 395288 h 250"/>
              <a:gd name="T4" fmla="*/ 1176338 w 742"/>
              <a:gd name="T5" fmla="*/ 0 h 250"/>
              <a:gd name="T6" fmla="*/ 0 60000 65536"/>
              <a:gd name="T7" fmla="*/ 0 60000 65536"/>
              <a:gd name="T8" fmla="*/ 0 60000 65536"/>
              <a:gd name="T9" fmla="*/ 0 w 742"/>
              <a:gd name="T10" fmla="*/ 0 h 250"/>
              <a:gd name="T11" fmla="*/ 742 w 742"/>
              <a:gd name="T12" fmla="*/ 250 h 2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42" h="250">
                <a:moveTo>
                  <a:pt x="741" y="0"/>
                </a:moveTo>
                <a:lnTo>
                  <a:pt x="0" y="249"/>
                </a:lnTo>
                <a:lnTo>
                  <a:pt x="74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" name="Freeform 66"/>
          <p:cNvSpPr>
            <a:spLocks/>
          </p:cNvSpPr>
          <p:nvPr/>
        </p:nvSpPr>
        <p:spPr bwMode="auto">
          <a:xfrm>
            <a:off x="2401888" y="3159125"/>
            <a:ext cx="106362" cy="58738"/>
          </a:xfrm>
          <a:custGeom>
            <a:avLst/>
            <a:gdLst>
              <a:gd name="T0" fmla="*/ 104775 w 67"/>
              <a:gd name="T1" fmla="*/ 49213 h 37"/>
              <a:gd name="T2" fmla="*/ 0 w 67"/>
              <a:gd name="T3" fmla="*/ 57150 h 37"/>
              <a:gd name="T4" fmla="*/ 88900 w 67"/>
              <a:gd name="T5" fmla="*/ 0 h 37"/>
              <a:gd name="T6" fmla="*/ 104775 w 67"/>
              <a:gd name="T7" fmla="*/ 49213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66" y="31"/>
                </a:moveTo>
                <a:lnTo>
                  <a:pt x="0" y="36"/>
                </a:lnTo>
                <a:lnTo>
                  <a:pt x="56" y="0"/>
                </a:lnTo>
                <a:lnTo>
                  <a:pt x="66" y="3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" name="Freeform 67"/>
          <p:cNvSpPr>
            <a:spLocks/>
          </p:cNvSpPr>
          <p:nvPr/>
        </p:nvSpPr>
        <p:spPr bwMode="auto">
          <a:xfrm>
            <a:off x="4065588" y="2830513"/>
            <a:ext cx="1992312" cy="387350"/>
          </a:xfrm>
          <a:custGeom>
            <a:avLst/>
            <a:gdLst>
              <a:gd name="T0" fmla="*/ 0 w 1255"/>
              <a:gd name="T1" fmla="*/ 0 h 244"/>
              <a:gd name="T2" fmla="*/ 1990725 w 1255"/>
              <a:gd name="T3" fmla="*/ 385763 h 244"/>
              <a:gd name="T4" fmla="*/ 0 w 1255"/>
              <a:gd name="T5" fmla="*/ 0 h 244"/>
              <a:gd name="T6" fmla="*/ 0 60000 65536"/>
              <a:gd name="T7" fmla="*/ 0 60000 65536"/>
              <a:gd name="T8" fmla="*/ 0 60000 65536"/>
              <a:gd name="T9" fmla="*/ 0 w 1255"/>
              <a:gd name="T10" fmla="*/ 0 h 244"/>
              <a:gd name="T11" fmla="*/ 1255 w 1255"/>
              <a:gd name="T12" fmla="*/ 244 h 2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5" h="244">
                <a:moveTo>
                  <a:pt x="0" y="0"/>
                </a:moveTo>
                <a:lnTo>
                  <a:pt x="1254" y="243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" name="Freeform 69"/>
          <p:cNvSpPr>
            <a:spLocks/>
          </p:cNvSpPr>
          <p:nvPr/>
        </p:nvSpPr>
        <p:spPr bwMode="auto">
          <a:xfrm>
            <a:off x="176371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" name="Freeform 70"/>
          <p:cNvSpPr>
            <a:spLocks/>
          </p:cNvSpPr>
          <p:nvPr/>
        </p:nvSpPr>
        <p:spPr bwMode="auto">
          <a:xfrm>
            <a:off x="2087563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" name="Freeform 71"/>
          <p:cNvSpPr>
            <a:spLocks/>
          </p:cNvSpPr>
          <p:nvPr/>
        </p:nvSpPr>
        <p:spPr bwMode="auto">
          <a:xfrm>
            <a:off x="241300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" name="Freeform 72"/>
          <p:cNvSpPr>
            <a:spLocks/>
          </p:cNvSpPr>
          <p:nvPr/>
        </p:nvSpPr>
        <p:spPr bwMode="auto">
          <a:xfrm>
            <a:off x="273685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0" name="Rectangle 73"/>
          <p:cNvSpPr>
            <a:spLocks noChangeArrowheads="1"/>
          </p:cNvSpPr>
          <p:nvPr/>
        </p:nvSpPr>
        <p:spPr bwMode="auto">
          <a:xfrm>
            <a:off x="2916238" y="2362200"/>
            <a:ext cx="5889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u="none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171" name="Rectangle 74"/>
          <p:cNvSpPr>
            <a:spLocks noChangeArrowheads="1"/>
          </p:cNvSpPr>
          <p:nvPr/>
        </p:nvSpPr>
        <p:spPr bwMode="auto">
          <a:xfrm>
            <a:off x="3678238" y="249713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17</a:t>
            </a:r>
          </a:p>
        </p:txBody>
      </p:sp>
      <p:sp>
        <p:nvSpPr>
          <p:cNvPr id="174" name="Rectangle 77"/>
          <p:cNvSpPr>
            <a:spLocks noChangeArrowheads="1"/>
          </p:cNvSpPr>
          <p:nvPr/>
        </p:nvSpPr>
        <p:spPr bwMode="auto">
          <a:xfrm>
            <a:off x="312261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14*</a:t>
            </a:r>
          </a:p>
        </p:txBody>
      </p:sp>
      <p:sp>
        <p:nvSpPr>
          <p:cNvPr id="175" name="Rectangle 78"/>
          <p:cNvSpPr>
            <a:spLocks noChangeArrowheads="1"/>
          </p:cNvSpPr>
          <p:nvPr/>
        </p:nvSpPr>
        <p:spPr bwMode="auto">
          <a:xfrm>
            <a:off x="344646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16*</a:t>
            </a:r>
          </a:p>
        </p:txBody>
      </p:sp>
      <p:sp>
        <p:nvSpPr>
          <p:cNvPr id="186" name="Rectangle 89"/>
          <p:cNvSpPr>
            <a:spLocks noChangeArrowheads="1"/>
          </p:cNvSpPr>
          <p:nvPr/>
        </p:nvSpPr>
        <p:spPr bwMode="auto">
          <a:xfrm>
            <a:off x="2024063" y="326548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13</a:t>
            </a:r>
          </a:p>
        </p:txBody>
      </p:sp>
      <p:sp>
        <p:nvSpPr>
          <p:cNvPr id="187" name="Rectangle 90"/>
          <p:cNvSpPr>
            <a:spLocks noChangeArrowheads="1"/>
          </p:cNvSpPr>
          <p:nvPr/>
        </p:nvSpPr>
        <p:spPr bwMode="auto">
          <a:xfrm>
            <a:off x="1557338" y="3265488"/>
            <a:ext cx="2762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188" name="Rectangle 91"/>
          <p:cNvSpPr>
            <a:spLocks noChangeArrowheads="1"/>
          </p:cNvSpPr>
          <p:nvPr/>
        </p:nvSpPr>
        <p:spPr bwMode="auto">
          <a:xfrm>
            <a:off x="2095500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7*</a:t>
            </a:r>
          </a:p>
        </p:txBody>
      </p:sp>
      <p:sp>
        <p:nvSpPr>
          <p:cNvPr id="189" name="Rectangle 92"/>
          <p:cNvSpPr>
            <a:spLocks noChangeArrowheads="1"/>
          </p:cNvSpPr>
          <p:nvPr/>
        </p:nvSpPr>
        <p:spPr bwMode="auto">
          <a:xfrm>
            <a:off x="1773238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5*</a:t>
            </a:r>
          </a:p>
        </p:txBody>
      </p:sp>
      <p:sp>
        <p:nvSpPr>
          <p:cNvPr id="190" name="Rectangle 93"/>
          <p:cNvSpPr>
            <a:spLocks noChangeArrowheads="1"/>
          </p:cNvSpPr>
          <p:nvPr/>
        </p:nvSpPr>
        <p:spPr bwMode="auto">
          <a:xfrm>
            <a:off x="2411413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8*</a:t>
            </a:r>
          </a:p>
        </p:txBody>
      </p:sp>
      <p:sp>
        <p:nvSpPr>
          <p:cNvPr id="192" name="Arc 95"/>
          <p:cNvSpPr>
            <a:spLocks/>
          </p:cNvSpPr>
          <p:nvPr/>
        </p:nvSpPr>
        <p:spPr bwMode="auto">
          <a:xfrm rot="13440000">
            <a:off x="15351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3" name="Arc 96"/>
          <p:cNvSpPr>
            <a:spLocks/>
          </p:cNvSpPr>
          <p:nvPr/>
        </p:nvSpPr>
        <p:spPr bwMode="auto">
          <a:xfrm rot="13440000">
            <a:off x="29067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" name="Arc 97"/>
          <p:cNvSpPr>
            <a:spLocks/>
          </p:cNvSpPr>
          <p:nvPr/>
        </p:nvSpPr>
        <p:spPr bwMode="auto">
          <a:xfrm rot="13440000">
            <a:off x="43545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0" name="Freeform 6"/>
          <p:cNvSpPr>
            <a:spLocks/>
          </p:cNvSpPr>
          <p:nvPr/>
        </p:nvSpPr>
        <p:spPr bwMode="auto">
          <a:xfrm>
            <a:off x="4625689" y="4090252"/>
            <a:ext cx="436562" cy="376238"/>
          </a:xfrm>
          <a:custGeom>
            <a:avLst/>
            <a:gdLst>
              <a:gd name="T0" fmla="*/ 0 w 275"/>
              <a:gd name="T1" fmla="*/ 236 h 237"/>
              <a:gd name="T2" fmla="*/ 0 w 275"/>
              <a:gd name="T3" fmla="*/ 0 h 237"/>
              <a:gd name="T4" fmla="*/ 274 w 275"/>
              <a:gd name="T5" fmla="*/ 0 h 237"/>
              <a:gd name="T6" fmla="*/ 274 w 275"/>
              <a:gd name="T7" fmla="*/ 236 h 237"/>
              <a:gd name="T8" fmla="*/ 0 w 275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5" h="237">
                <a:moveTo>
                  <a:pt x="0" y="236"/>
                </a:moveTo>
                <a:lnTo>
                  <a:pt x="0" y="0"/>
                </a:lnTo>
                <a:lnTo>
                  <a:pt x="274" y="0"/>
                </a:lnTo>
                <a:lnTo>
                  <a:pt x="274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2" name="Freeform 7"/>
          <p:cNvSpPr>
            <a:spLocks/>
          </p:cNvSpPr>
          <p:nvPr/>
        </p:nvSpPr>
        <p:spPr bwMode="auto">
          <a:xfrm>
            <a:off x="5060664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" name="Freeform 8"/>
          <p:cNvSpPr>
            <a:spLocks/>
          </p:cNvSpPr>
          <p:nvPr/>
        </p:nvSpPr>
        <p:spPr bwMode="auto">
          <a:xfrm>
            <a:off x="5494051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" name="Freeform 9"/>
          <p:cNvSpPr>
            <a:spLocks/>
          </p:cNvSpPr>
          <p:nvPr/>
        </p:nvSpPr>
        <p:spPr bwMode="auto">
          <a:xfrm>
            <a:off x="5927439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8" name="Freeform 10"/>
          <p:cNvSpPr>
            <a:spLocks/>
          </p:cNvSpPr>
          <p:nvPr/>
        </p:nvSpPr>
        <p:spPr bwMode="auto">
          <a:xfrm>
            <a:off x="6524339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" name="Freeform 11"/>
          <p:cNvSpPr>
            <a:spLocks/>
          </p:cNvSpPr>
          <p:nvPr/>
        </p:nvSpPr>
        <p:spPr bwMode="auto">
          <a:xfrm>
            <a:off x="6957726" y="4090252"/>
            <a:ext cx="436563" cy="376238"/>
          </a:xfrm>
          <a:custGeom>
            <a:avLst/>
            <a:gdLst>
              <a:gd name="T0" fmla="*/ 0 w 275"/>
              <a:gd name="T1" fmla="*/ 236 h 237"/>
              <a:gd name="T2" fmla="*/ 0 w 275"/>
              <a:gd name="T3" fmla="*/ 0 h 237"/>
              <a:gd name="T4" fmla="*/ 274 w 275"/>
              <a:gd name="T5" fmla="*/ 0 h 237"/>
              <a:gd name="T6" fmla="*/ 274 w 275"/>
              <a:gd name="T7" fmla="*/ 236 h 237"/>
              <a:gd name="T8" fmla="*/ 0 w 275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5" h="237">
                <a:moveTo>
                  <a:pt x="0" y="236"/>
                </a:moveTo>
                <a:lnTo>
                  <a:pt x="0" y="0"/>
                </a:lnTo>
                <a:lnTo>
                  <a:pt x="274" y="0"/>
                </a:lnTo>
                <a:lnTo>
                  <a:pt x="274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" name="Freeform 12"/>
          <p:cNvSpPr>
            <a:spLocks/>
          </p:cNvSpPr>
          <p:nvPr/>
        </p:nvSpPr>
        <p:spPr bwMode="auto">
          <a:xfrm>
            <a:off x="7392701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" name="Freeform 13"/>
          <p:cNvSpPr>
            <a:spLocks/>
          </p:cNvSpPr>
          <p:nvPr/>
        </p:nvSpPr>
        <p:spPr bwMode="auto">
          <a:xfrm>
            <a:off x="7826089" y="4090252"/>
            <a:ext cx="436562" cy="376238"/>
          </a:xfrm>
          <a:custGeom>
            <a:avLst/>
            <a:gdLst>
              <a:gd name="T0" fmla="*/ 0 w 275"/>
              <a:gd name="T1" fmla="*/ 236 h 237"/>
              <a:gd name="T2" fmla="*/ 0 w 275"/>
              <a:gd name="T3" fmla="*/ 0 h 237"/>
              <a:gd name="T4" fmla="*/ 274 w 275"/>
              <a:gd name="T5" fmla="*/ 0 h 237"/>
              <a:gd name="T6" fmla="*/ 274 w 275"/>
              <a:gd name="T7" fmla="*/ 236 h 237"/>
              <a:gd name="T8" fmla="*/ 0 w 275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5" h="237">
                <a:moveTo>
                  <a:pt x="0" y="236"/>
                </a:moveTo>
                <a:lnTo>
                  <a:pt x="0" y="0"/>
                </a:lnTo>
                <a:lnTo>
                  <a:pt x="274" y="0"/>
                </a:lnTo>
                <a:lnTo>
                  <a:pt x="274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0" name="Freeform 14"/>
          <p:cNvSpPr>
            <a:spLocks/>
          </p:cNvSpPr>
          <p:nvPr/>
        </p:nvSpPr>
        <p:spPr bwMode="auto">
          <a:xfrm>
            <a:off x="6049676" y="3093302"/>
            <a:ext cx="652463" cy="469900"/>
          </a:xfrm>
          <a:custGeom>
            <a:avLst/>
            <a:gdLst>
              <a:gd name="T0" fmla="*/ 0 w 411"/>
              <a:gd name="T1" fmla="*/ 295 h 296"/>
              <a:gd name="T2" fmla="*/ 0 w 411"/>
              <a:gd name="T3" fmla="*/ 0 h 296"/>
              <a:gd name="T4" fmla="*/ 410 w 411"/>
              <a:gd name="T5" fmla="*/ 0 h 296"/>
              <a:gd name="T6" fmla="*/ 410 w 411"/>
              <a:gd name="T7" fmla="*/ 295 h 296"/>
              <a:gd name="T8" fmla="*/ 0 w 411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1" h="296">
                <a:moveTo>
                  <a:pt x="0" y="295"/>
                </a:moveTo>
                <a:lnTo>
                  <a:pt x="0" y="0"/>
                </a:lnTo>
                <a:lnTo>
                  <a:pt x="410" y="0"/>
                </a:lnTo>
                <a:lnTo>
                  <a:pt x="410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1" name="Freeform 15"/>
          <p:cNvSpPr>
            <a:spLocks/>
          </p:cNvSpPr>
          <p:nvPr/>
        </p:nvSpPr>
        <p:spPr bwMode="auto">
          <a:xfrm>
            <a:off x="6157626" y="3093302"/>
            <a:ext cx="1588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295 h 296"/>
              <a:gd name="T4" fmla="*/ 0 w 1"/>
              <a:gd name="T5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2" name="Freeform 16"/>
          <p:cNvSpPr>
            <a:spLocks/>
          </p:cNvSpPr>
          <p:nvPr/>
        </p:nvSpPr>
        <p:spPr bwMode="auto">
          <a:xfrm>
            <a:off x="6700551" y="3093302"/>
            <a:ext cx="654050" cy="469900"/>
          </a:xfrm>
          <a:custGeom>
            <a:avLst/>
            <a:gdLst>
              <a:gd name="T0" fmla="*/ 0 w 412"/>
              <a:gd name="T1" fmla="*/ 295 h 296"/>
              <a:gd name="T2" fmla="*/ 0 w 412"/>
              <a:gd name="T3" fmla="*/ 0 h 296"/>
              <a:gd name="T4" fmla="*/ 411 w 412"/>
              <a:gd name="T5" fmla="*/ 0 h 296"/>
              <a:gd name="T6" fmla="*/ 411 w 412"/>
              <a:gd name="T7" fmla="*/ 295 h 296"/>
              <a:gd name="T8" fmla="*/ 0 w 412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2" h="296">
                <a:moveTo>
                  <a:pt x="0" y="295"/>
                </a:moveTo>
                <a:lnTo>
                  <a:pt x="0" y="0"/>
                </a:lnTo>
                <a:lnTo>
                  <a:pt x="411" y="0"/>
                </a:lnTo>
                <a:lnTo>
                  <a:pt x="411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3" name="Freeform 17"/>
          <p:cNvSpPr>
            <a:spLocks/>
          </p:cNvSpPr>
          <p:nvPr/>
        </p:nvSpPr>
        <p:spPr bwMode="auto">
          <a:xfrm>
            <a:off x="6810089" y="3093302"/>
            <a:ext cx="1587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295 h 296"/>
              <a:gd name="T4" fmla="*/ 0 w 1"/>
              <a:gd name="T5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" name="Freeform 18"/>
          <p:cNvSpPr>
            <a:spLocks/>
          </p:cNvSpPr>
          <p:nvPr/>
        </p:nvSpPr>
        <p:spPr bwMode="auto">
          <a:xfrm>
            <a:off x="7353014" y="3093302"/>
            <a:ext cx="652462" cy="469900"/>
          </a:xfrm>
          <a:custGeom>
            <a:avLst/>
            <a:gdLst>
              <a:gd name="T0" fmla="*/ 0 w 411"/>
              <a:gd name="T1" fmla="*/ 295 h 296"/>
              <a:gd name="T2" fmla="*/ 0 w 411"/>
              <a:gd name="T3" fmla="*/ 0 h 296"/>
              <a:gd name="T4" fmla="*/ 410 w 411"/>
              <a:gd name="T5" fmla="*/ 0 h 296"/>
              <a:gd name="T6" fmla="*/ 410 w 411"/>
              <a:gd name="T7" fmla="*/ 295 h 296"/>
              <a:gd name="T8" fmla="*/ 0 w 411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1" h="296">
                <a:moveTo>
                  <a:pt x="0" y="295"/>
                </a:moveTo>
                <a:lnTo>
                  <a:pt x="0" y="0"/>
                </a:lnTo>
                <a:lnTo>
                  <a:pt x="410" y="0"/>
                </a:lnTo>
                <a:lnTo>
                  <a:pt x="410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" name="Freeform 19"/>
          <p:cNvSpPr>
            <a:spLocks/>
          </p:cNvSpPr>
          <p:nvPr/>
        </p:nvSpPr>
        <p:spPr bwMode="auto">
          <a:xfrm>
            <a:off x="7459376" y="3093302"/>
            <a:ext cx="1588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295 h 296"/>
              <a:gd name="T4" fmla="*/ 0 w 1"/>
              <a:gd name="T5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" name="Freeform 20"/>
          <p:cNvSpPr>
            <a:spLocks/>
          </p:cNvSpPr>
          <p:nvPr/>
        </p:nvSpPr>
        <p:spPr bwMode="auto">
          <a:xfrm>
            <a:off x="8003889" y="3093302"/>
            <a:ext cx="650875" cy="469900"/>
          </a:xfrm>
          <a:custGeom>
            <a:avLst/>
            <a:gdLst>
              <a:gd name="T0" fmla="*/ 0 w 410"/>
              <a:gd name="T1" fmla="*/ 295 h 296"/>
              <a:gd name="T2" fmla="*/ 0 w 410"/>
              <a:gd name="T3" fmla="*/ 0 h 296"/>
              <a:gd name="T4" fmla="*/ 409 w 410"/>
              <a:gd name="T5" fmla="*/ 0 h 296"/>
              <a:gd name="T6" fmla="*/ 409 w 410"/>
              <a:gd name="T7" fmla="*/ 295 h 296"/>
              <a:gd name="T8" fmla="*/ 0 w 410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0" h="296">
                <a:moveTo>
                  <a:pt x="0" y="295"/>
                </a:moveTo>
                <a:lnTo>
                  <a:pt x="0" y="0"/>
                </a:lnTo>
                <a:lnTo>
                  <a:pt x="409" y="0"/>
                </a:lnTo>
                <a:lnTo>
                  <a:pt x="409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7" name="Freeform 21"/>
          <p:cNvSpPr>
            <a:spLocks/>
          </p:cNvSpPr>
          <p:nvPr/>
        </p:nvSpPr>
        <p:spPr bwMode="auto">
          <a:xfrm>
            <a:off x="8111839" y="3093302"/>
            <a:ext cx="1587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295 h 296"/>
              <a:gd name="T4" fmla="*/ 0 w 1"/>
              <a:gd name="T5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8" name="Freeform 22"/>
          <p:cNvSpPr>
            <a:spLocks/>
          </p:cNvSpPr>
          <p:nvPr/>
        </p:nvSpPr>
        <p:spPr bwMode="auto">
          <a:xfrm>
            <a:off x="8653176" y="3093302"/>
            <a:ext cx="111125" cy="469900"/>
          </a:xfrm>
          <a:custGeom>
            <a:avLst/>
            <a:gdLst>
              <a:gd name="T0" fmla="*/ 0 w 70"/>
              <a:gd name="T1" fmla="*/ 295 h 296"/>
              <a:gd name="T2" fmla="*/ 0 w 70"/>
              <a:gd name="T3" fmla="*/ 0 h 296"/>
              <a:gd name="T4" fmla="*/ 69 w 70"/>
              <a:gd name="T5" fmla="*/ 0 h 296"/>
              <a:gd name="T6" fmla="*/ 69 w 70"/>
              <a:gd name="T7" fmla="*/ 295 h 296"/>
              <a:gd name="T8" fmla="*/ 0 w 70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" h="296">
                <a:moveTo>
                  <a:pt x="0" y="295"/>
                </a:moveTo>
                <a:lnTo>
                  <a:pt x="0" y="0"/>
                </a:lnTo>
                <a:lnTo>
                  <a:pt x="69" y="0"/>
                </a:lnTo>
                <a:lnTo>
                  <a:pt x="69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9" name="Freeform 23"/>
          <p:cNvSpPr>
            <a:spLocks/>
          </p:cNvSpPr>
          <p:nvPr/>
        </p:nvSpPr>
        <p:spPr bwMode="auto">
          <a:xfrm>
            <a:off x="5494051" y="3491765"/>
            <a:ext cx="598488" cy="576262"/>
          </a:xfrm>
          <a:custGeom>
            <a:avLst/>
            <a:gdLst>
              <a:gd name="T0" fmla="*/ 376 w 377"/>
              <a:gd name="T1" fmla="*/ 0 h 363"/>
              <a:gd name="T2" fmla="*/ 0 w 377"/>
              <a:gd name="T3" fmla="*/ 362 h 363"/>
              <a:gd name="T4" fmla="*/ 376 w 377"/>
              <a:gd name="T5" fmla="*/ 0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7" h="363">
                <a:moveTo>
                  <a:pt x="376" y="0"/>
                </a:moveTo>
                <a:lnTo>
                  <a:pt x="0" y="362"/>
                </a:lnTo>
                <a:lnTo>
                  <a:pt x="376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0" name="Freeform 24"/>
          <p:cNvSpPr>
            <a:spLocks/>
          </p:cNvSpPr>
          <p:nvPr/>
        </p:nvSpPr>
        <p:spPr bwMode="auto">
          <a:xfrm>
            <a:off x="5494051" y="3960077"/>
            <a:ext cx="115888" cy="107950"/>
          </a:xfrm>
          <a:custGeom>
            <a:avLst/>
            <a:gdLst>
              <a:gd name="T0" fmla="*/ 72 w 73"/>
              <a:gd name="T1" fmla="*/ 24 h 68"/>
              <a:gd name="T2" fmla="*/ 0 w 73"/>
              <a:gd name="T3" fmla="*/ 67 h 68"/>
              <a:gd name="T4" fmla="*/ 41 w 73"/>
              <a:gd name="T5" fmla="*/ 0 h 68"/>
              <a:gd name="T6" fmla="*/ 72 w 73"/>
              <a:gd name="T7" fmla="*/ 24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3" h="68">
                <a:moveTo>
                  <a:pt x="72" y="24"/>
                </a:moveTo>
                <a:lnTo>
                  <a:pt x="0" y="67"/>
                </a:lnTo>
                <a:lnTo>
                  <a:pt x="41" y="0"/>
                </a:lnTo>
                <a:lnTo>
                  <a:pt x="72" y="2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1" name="Freeform 25"/>
          <p:cNvSpPr>
            <a:spLocks/>
          </p:cNvSpPr>
          <p:nvPr/>
        </p:nvSpPr>
        <p:spPr bwMode="auto">
          <a:xfrm>
            <a:off x="6740239" y="3491765"/>
            <a:ext cx="614362" cy="552450"/>
          </a:xfrm>
          <a:custGeom>
            <a:avLst/>
            <a:gdLst>
              <a:gd name="T0" fmla="*/ 0 w 387"/>
              <a:gd name="T1" fmla="*/ 0 h 348"/>
              <a:gd name="T2" fmla="*/ 386 w 387"/>
              <a:gd name="T3" fmla="*/ 347 h 348"/>
              <a:gd name="T4" fmla="*/ 0 w 387"/>
              <a:gd name="T5" fmla="*/ 0 h 3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7" h="348">
                <a:moveTo>
                  <a:pt x="0" y="0"/>
                </a:moveTo>
                <a:lnTo>
                  <a:pt x="386" y="34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2" name="Freeform 26"/>
          <p:cNvSpPr>
            <a:spLocks/>
          </p:cNvSpPr>
          <p:nvPr/>
        </p:nvSpPr>
        <p:spPr bwMode="auto">
          <a:xfrm>
            <a:off x="7233951" y="3937852"/>
            <a:ext cx="120650" cy="106363"/>
          </a:xfrm>
          <a:custGeom>
            <a:avLst/>
            <a:gdLst>
              <a:gd name="T0" fmla="*/ 31 w 76"/>
              <a:gd name="T1" fmla="*/ 0 h 67"/>
              <a:gd name="T2" fmla="*/ 75 w 76"/>
              <a:gd name="T3" fmla="*/ 66 h 67"/>
              <a:gd name="T4" fmla="*/ 0 w 76"/>
              <a:gd name="T5" fmla="*/ 25 h 67"/>
              <a:gd name="T6" fmla="*/ 31 w 76"/>
              <a:gd name="T7" fmla="*/ 0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" h="67">
                <a:moveTo>
                  <a:pt x="31" y="0"/>
                </a:moveTo>
                <a:lnTo>
                  <a:pt x="75" y="66"/>
                </a:lnTo>
                <a:lnTo>
                  <a:pt x="0" y="25"/>
                </a:lnTo>
                <a:lnTo>
                  <a:pt x="31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4" name="Freeform 28"/>
          <p:cNvSpPr>
            <a:spLocks/>
          </p:cNvSpPr>
          <p:nvPr/>
        </p:nvSpPr>
        <p:spPr bwMode="auto">
          <a:xfrm>
            <a:off x="5982031" y="3177870"/>
            <a:ext cx="141288" cy="68263"/>
          </a:xfrm>
          <a:custGeom>
            <a:avLst/>
            <a:gdLst>
              <a:gd name="T0" fmla="*/ 14 w 89"/>
              <a:gd name="T1" fmla="*/ 0 h 43"/>
              <a:gd name="T2" fmla="*/ 88 w 89"/>
              <a:gd name="T3" fmla="*/ 42 h 43"/>
              <a:gd name="T4" fmla="*/ 0 w 89"/>
              <a:gd name="T5" fmla="*/ 34 h 43"/>
              <a:gd name="T6" fmla="*/ 14 w 89"/>
              <a:gd name="T7" fmla="*/ 0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9" h="43">
                <a:moveTo>
                  <a:pt x="14" y="0"/>
                </a:moveTo>
                <a:lnTo>
                  <a:pt x="88" y="42"/>
                </a:lnTo>
                <a:lnTo>
                  <a:pt x="0" y="34"/>
                </a:lnTo>
                <a:lnTo>
                  <a:pt x="14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" name="Rectangle 29"/>
          <p:cNvSpPr>
            <a:spLocks noChangeArrowheads="1"/>
          </p:cNvSpPr>
          <p:nvPr/>
        </p:nvSpPr>
        <p:spPr bwMode="auto">
          <a:xfrm>
            <a:off x="6243351" y="3217127"/>
            <a:ext cx="3651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30</a:t>
            </a:r>
          </a:p>
        </p:txBody>
      </p:sp>
      <p:sp>
        <p:nvSpPr>
          <p:cNvPr id="216" name="Rectangle 30"/>
          <p:cNvSpPr>
            <a:spLocks noChangeArrowheads="1"/>
          </p:cNvSpPr>
          <p:nvPr/>
        </p:nvSpPr>
        <p:spPr bwMode="auto">
          <a:xfrm>
            <a:off x="4628864" y="416645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22*</a:t>
            </a:r>
          </a:p>
        </p:txBody>
      </p:sp>
      <p:sp>
        <p:nvSpPr>
          <p:cNvPr id="217" name="Rectangle 31"/>
          <p:cNvSpPr>
            <a:spLocks noChangeArrowheads="1"/>
          </p:cNvSpPr>
          <p:nvPr/>
        </p:nvSpPr>
        <p:spPr bwMode="auto">
          <a:xfrm>
            <a:off x="5063839" y="416645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27*</a:t>
            </a:r>
          </a:p>
        </p:txBody>
      </p:sp>
      <p:sp>
        <p:nvSpPr>
          <p:cNvPr id="218" name="Rectangle 32"/>
          <p:cNvSpPr>
            <a:spLocks noChangeArrowheads="1"/>
          </p:cNvSpPr>
          <p:nvPr/>
        </p:nvSpPr>
        <p:spPr bwMode="auto">
          <a:xfrm>
            <a:off x="5482939" y="4177565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29*</a:t>
            </a:r>
          </a:p>
        </p:txBody>
      </p:sp>
      <p:sp>
        <p:nvSpPr>
          <p:cNvPr id="219" name="Rectangle 33"/>
          <p:cNvSpPr>
            <a:spLocks noChangeArrowheads="1"/>
          </p:cNvSpPr>
          <p:nvPr/>
        </p:nvSpPr>
        <p:spPr bwMode="auto">
          <a:xfrm>
            <a:off x="6514814" y="4177565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33*</a:t>
            </a:r>
          </a:p>
        </p:txBody>
      </p:sp>
      <p:sp>
        <p:nvSpPr>
          <p:cNvPr id="220" name="Rectangle 34"/>
          <p:cNvSpPr>
            <a:spLocks noChangeArrowheads="1"/>
          </p:cNvSpPr>
          <p:nvPr/>
        </p:nvSpPr>
        <p:spPr bwMode="auto">
          <a:xfrm>
            <a:off x="6949789" y="4177565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34*</a:t>
            </a:r>
          </a:p>
        </p:txBody>
      </p:sp>
      <p:sp>
        <p:nvSpPr>
          <p:cNvPr id="221" name="Rectangle 35"/>
          <p:cNvSpPr>
            <a:spLocks noChangeArrowheads="1"/>
          </p:cNvSpPr>
          <p:nvPr/>
        </p:nvSpPr>
        <p:spPr bwMode="auto">
          <a:xfrm>
            <a:off x="7368889" y="416645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38*</a:t>
            </a:r>
          </a:p>
        </p:txBody>
      </p:sp>
      <p:sp>
        <p:nvSpPr>
          <p:cNvPr id="222" name="Rectangle 36"/>
          <p:cNvSpPr>
            <a:spLocks noChangeArrowheads="1"/>
          </p:cNvSpPr>
          <p:nvPr/>
        </p:nvSpPr>
        <p:spPr bwMode="auto">
          <a:xfrm>
            <a:off x="7803864" y="4155340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39*</a:t>
            </a:r>
          </a:p>
        </p:txBody>
      </p:sp>
      <p:sp>
        <p:nvSpPr>
          <p:cNvPr id="224" name="Arc 38"/>
          <p:cNvSpPr>
            <a:spLocks/>
          </p:cNvSpPr>
          <p:nvPr/>
        </p:nvSpPr>
        <p:spPr bwMode="auto">
          <a:xfrm rot="18420000">
            <a:off x="6214776" y="3863240"/>
            <a:ext cx="304800" cy="381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" name="Oval 89"/>
          <p:cNvSpPr/>
          <p:nvPr/>
        </p:nvSpPr>
        <p:spPr>
          <a:xfrm>
            <a:off x="5599495" y="3067547"/>
            <a:ext cx="1757750" cy="542131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>
            <a:off x="1133088" y="3179688"/>
            <a:ext cx="1757750" cy="542131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reeform 59"/>
          <p:cNvSpPr>
            <a:spLocks/>
          </p:cNvSpPr>
          <p:nvPr/>
        </p:nvSpPr>
        <p:spPr bwMode="auto">
          <a:xfrm>
            <a:off x="3314701" y="5183188"/>
            <a:ext cx="573087" cy="474662"/>
          </a:xfrm>
          <a:custGeom>
            <a:avLst/>
            <a:gdLst>
              <a:gd name="T0" fmla="*/ 0 w 361"/>
              <a:gd name="T1" fmla="*/ 298 h 299"/>
              <a:gd name="T2" fmla="*/ 0 w 361"/>
              <a:gd name="T3" fmla="*/ 0 h 299"/>
              <a:gd name="T4" fmla="*/ 360 w 361"/>
              <a:gd name="T5" fmla="*/ 0 h 299"/>
              <a:gd name="T6" fmla="*/ 360 w 361"/>
              <a:gd name="T7" fmla="*/ 298 h 299"/>
              <a:gd name="T8" fmla="*/ 0 w 361"/>
              <a:gd name="T9" fmla="*/ 298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1" h="299">
                <a:moveTo>
                  <a:pt x="0" y="298"/>
                </a:moveTo>
                <a:lnTo>
                  <a:pt x="0" y="0"/>
                </a:lnTo>
                <a:lnTo>
                  <a:pt x="360" y="0"/>
                </a:lnTo>
                <a:lnTo>
                  <a:pt x="360" y="298"/>
                </a:lnTo>
                <a:lnTo>
                  <a:pt x="0" y="29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" name="Freeform 60"/>
          <p:cNvSpPr>
            <a:spLocks/>
          </p:cNvSpPr>
          <p:nvPr/>
        </p:nvSpPr>
        <p:spPr bwMode="auto">
          <a:xfrm>
            <a:off x="3409951" y="5183188"/>
            <a:ext cx="1587" cy="474662"/>
          </a:xfrm>
          <a:custGeom>
            <a:avLst/>
            <a:gdLst>
              <a:gd name="T0" fmla="*/ 0 w 1"/>
              <a:gd name="T1" fmla="*/ 0 h 299"/>
              <a:gd name="T2" fmla="*/ 0 w 1"/>
              <a:gd name="T3" fmla="*/ 298 h 299"/>
              <a:gd name="T4" fmla="*/ 0 w 1"/>
              <a:gd name="T5" fmla="*/ 0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9">
                <a:moveTo>
                  <a:pt x="0" y="0"/>
                </a:moveTo>
                <a:lnTo>
                  <a:pt x="0" y="29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" name="Freeform 61"/>
          <p:cNvSpPr>
            <a:spLocks/>
          </p:cNvSpPr>
          <p:nvPr/>
        </p:nvSpPr>
        <p:spPr bwMode="auto">
          <a:xfrm>
            <a:off x="3886201" y="5183188"/>
            <a:ext cx="574675" cy="474662"/>
          </a:xfrm>
          <a:custGeom>
            <a:avLst/>
            <a:gdLst>
              <a:gd name="T0" fmla="*/ 0 w 362"/>
              <a:gd name="T1" fmla="*/ 298 h 299"/>
              <a:gd name="T2" fmla="*/ 0 w 362"/>
              <a:gd name="T3" fmla="*/ 0 h 299"/>
              <a:gd name="T4" fmla="*/ 361 w 362"/>
              <a:gd name="T5" fmla="*/ 0 h 299"/>
              <a:gd name="T6" fmla="*/ 361 w 362"/>
              <a:gd name="T7" fmla="*/ 298 h 299"/>
              <a:gd name="T8" fmla="*/ 0 w 362"/>
              <a:gd name="T9" fmla="*/ 298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2" h="299">
                <a:moveTo>
                  <a:pt x="0" y="298"/>
                </a:moveTo>
                <a:lnTo>
                  <a:pt x="0" y="0"/>
                </a:lnTo>
                <a:lnTo>
                  <a:pt x="361" y="0"/>
                </a:lnTo>
                <a:lnTo>
                  <a:pt x="361" y="298"/>
                </a:lnTo>
                <a:lnTo>
                  <a:pt x="0" y="29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" name="Freeform 62"/>
          <p:cNvSpPr>
            <a:spLocks/>
          </p:cNvSpPr>
          <p:nvPr/>
        </p:nvSpPr>
        <p:spPr bwMode="auto">
          <a:xfrm>
            <a:off x="3983038" y="5183188"/>
            <a:ext cx="1588" cy="474662"/>
          </a:xfrm>
          <a:custGeom>
            <a:avLst/>
            <a:gdLst>
              <a:gd name="T0" fmla="*/ 0 w 1"/>
              <a:gd name="T1" fmla="*/ 0 h 299"/>
              <a:gd name="T2" fmla="*/ 0 w 1"/>
              <a:gd name="T3" fmla="*/ 298 h 299"/>
              <a:gd name="T4" fmla="*/ 0 w 1"/>
              <a:gd name="T5" fmla="*/ 0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9">
                <a:moveTo>
                  <a:pt x="0" y="0"/>
                </a:moveTo>
                <a:lnTo>
                  <a:pt x="0" y="29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" name="Freeform 63"/>
          <p:cNvSpPr>
            <a:spLocks/>
          </p:cNvSpPr>
          <p:nvPr/>
        </p:nvSpPr>
        <p:spPr bwMode="auto">
          <a:xfrm>
            <a:off x="4459288" y="5183188"/>
            <a:ext cx="573088" cy="474662"/>
          </a:xfrm>
          <a:custGeom>
            <a:avLst/>
            <a:gdLst>
              <a:gd name="T0" fmla="*/ 0 w 361"/>
              <a:gd name="T1" fmla="*/ 298 h 299"/>
              <a:gd name="T2" fmla="*/ 0 w 361"/>
              <a:gd name="T3" fmla="*/ 0 h 299"/>
              <a:gd name="T4" fmla="*/ 360 w 361"/>
              <a:gd name="T5" fmla="*/ 0 h 299"/>
              <a:gd name="T6" fmla="*/ 360 w 361"/>
              <a:gd name="T7" fmla="*/ 298 h 299"/>
              <a:gd name="T8" fmla="*/ 0 w 361"/>
              <a:gd name="T9" fmla="*/ 298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1" h="299">
                <a:moveTo>
                  <a:pt x="0" y="298"/>
                </a:moveTo>
                <a:lnTo>
                  <a:pt x="0" y="0"/>
                </a:lnTo>
                <a:lnTo>
                  <a:pt x="360" y="0"/>
                </a:lnTo>
                <a:lnTo>
                  <a:pt x="360" y="298"/>
                </a:lnTo>
                <a:lnTo>
                  <a:pt x="0" y="29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Freeform 64"/>
          <p:cNvSpPr>
            <a:spLocks/>
          </p:cNvSpPr>
          <p:nvPr/>
        </p:nvSpPr>
        <p:spPr bwMode="auto">
          <a:xfrm>
            <a:off x="4554538" y="5183188"/>
            <a:ext cx="1588" cy="474662"/>
          </a:xfrm>
          <a:custGeom>
            <a:avLst/>
            <a:gdLst>
              <a:gd name="T0" fmla="*/ 0 w 1"/>
              <a:gd name="T1" fmla="*/ 0 h 299"/>
              <a:gd name="T2" fmla="*/ 0 w 1"/>
              <a:gd name="T3" fmla="*/ 298 h 299"/>
              <a:gd name="T4" fmla="*/ 0 w 1"/>
              <a:gd name="T5" fmla="*/ 0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9">
                <a:moveTo>
                  <a:pt x="0" y="0"/>
                </a:moveTo>
                <a:lnTo>
                  <a:pt x="0" y="29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Freeform 65"/>
          <p:cNvSpPr>
            <a:spLocks/>
          </p:cNvSpPr>
          <p:nvPr/>
        </p:nvSpPr>
        <p:spPr bwMode="auto">
          <a:xfrm>
            <a:off x="5030788" y="5183188"/>
            <a:ext cx="574675" cy="474662"/>
          </a:xfrm>
          <a:custGeom>
            <a:avLst/>
            <a:gdLst>
              <a:gd name="T0" fmla="*/ 0 w 362"/>
              <a:gd name="T1" fmla="*/ 298 h 299"/>
              <a:gd name="T2" fmla="*/ 0 w 362"/>
              <a:gd name="T3" fmla="*/ 0 h 299"/>
              <a:gd name="T4" fmla="*/ 361 w 362"/>
              <a:gd name="T5" fmla="*/ 0 h 299"/>
              <a:gd name="T6" fmla="*/ 361 w 362"/>
              <a:gd name="T7" fmla="*/ 298 h 299"/>
              <a:gd name="T8" fmla="*/ 0 w 362"/>
              <a:gd name="T9" fmla="*/ 298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2" h="299">
                <a:moveTo>
                  <a:pt x="0" y="298"/>
                </a:moveTo>
                <a:lnTo>
                  <a:pt x="0" y="0"/>
                </a:lnTo>
                <a:lnTo>
                  <a:pt x="361" y="0"/>
                </a:lnTo>
                <a:lnTo>
                  <a:pt x="361" y="298"/>
                </a:lnTo>
                <a:lnTo>
                  <a:pt x="0" y="29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" name="Freeform 66"/>
          <p:cNvSpPr>
            <a:spLocks/>
          </p:cNvSpPr>
          <p:nvPr/>
        </p:nvSpPr>
        <p:spPr bwMode="auto">
          <a:xfrm>
            <a:off x="5127626" y="5183188"/>
            <a:ext cx="1587" cy="474662"/>
          </a:xfrm>
          <a:custGeom>
            <a:avLst/>
            <a:gdLst>
              <a:gd name="T0" fmla="*/ 0 w 1"/>
              <a:gd name="T1" fmla="*/ 0 h 299"/>
              <a:gd name="T2" fmla="*/ 0 w 1"/>
              <a:gd name="T3" fmla="*/ 298 h 299"/>
              <a:gd name="T4" fmla="*/ 0 w 1"/>
              <a:gd name="T5" fmla="*/ 0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9">
                <a:moveTo>
                  <a:pt x="0" y="0"/>
                </a:moveTo>
                <a:lnTo>
                  <a:pt x="0" y="29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Freeform 67"/>
          <p:cNvSpPr>
            <a:spLocks/>
          </p:cNvSpPr>
          <p:nvPr/>
        </p:nvSpPr>
        <p:spPr bwMode="auto">
          <a:xfrm>
            <a:off x="5603876" y="5183188"/>
            <a:ext cx="98425" cy="474662"/>
          </a:xfrm>
          <a:custGeom>
            <a:avLst/>
            <a:gdLst>
              <a:gd name="T0" fmla="*/ 0 w 62"/>
              <a:gd name="T1" fmla="*/ 298 h 299"/>
              <a:gd name="T2" fmla="*/ 0 w 62"/>
              <a:gd name="T3" fmla="*/ 0 h 299"/>
              <a:gd name="T4" fmla="*/ 61 w 62"/>
              <a:gd name="T5" fmla="*/ 0 h 299"/>
              <a:gd name="T6" fmla="*/ 61 w 62"/>
              <a:gd name="T7" fmla="*/ 298 h 299"/>
              <a:gd name="T8" fmla="*/ 0 w 62"/>
              <a:gd name="T9" fmla="*/ 298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" h="299">
                <a:moveTo>
                  <a:pt x="0" y="298"/>
                </a:moveTo>
                <a:lnTo>
                  <a:pt x="0" y="0"/>
                </a:lnTo>
                <a:lnTo>
                  <a:pt x="61" y="0"/>
                </a:lnTo>
                <a:lnTo>
                  <a:pt x="61" y="298"/>
                </a:lnTo>
                <a:lnTo>
                  <a:pt x="0" y="29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" name="Rectangle 92"/>
          <p:cNvSpPr>
            <a:spLocks noChangeArrowheads="1"/>
          </p:cNvSpPr>
          <p:nvPr/>
        </p:nvSpPr>
        <p:spPr bwMode="auto">
          <a:xfrm>
            <a:off x="2317751" y="5024438"/>
            <a:ext cx="5857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125" name="Rectangle 94"/>
          <p:cNvSpPr>
            <a:spLocks noChangeArrowheads="1"/>
          </p:cNvSpPr>
          <p:nvPr/>
        </p:nvSpPr>
        <p:spPr bwMode="auto">
          <a:xfrm>
            <a:off x="4035426" y="5249863"/>
            <a:ext cx="3651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13</a:t>
            </a:r>
          </a:p>
        </p:txBody>
      </p:sp>
      <p:sp>
        <p:nvSpPr>
          <p:cNvPr id="126" name="Rectangle 95"/>
          <p:cNvSpPr>
            <a:spLocks noChangeArrowheads="1"/>
          </p:cNvSpPr>
          <p:nvPr/>
        </p:nvSpPr>
        <p:spPr bwMode="auto">
          <a:xfrm>
            <a:off x="3486151" y="5249863"/>
            <a:ext cx="27305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128" name="Line 97"/>
          <p:cNvSpPr>
            <a:spLocks noChangeShapeType="1"/>
          </p:cNvSpPr>
          <p:nvPr/>
        </p:nvSpPr>
        <p:spPr bwMode="auto">
          <a:xfrm>
            <a:off x="2598738" y="4876800"/>
            <a:ext cx="6858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30" name="Straight Arrow Connector 129"/>
          <p:cNvCxnSpPr>
            <a:endCxn id="96" idx="2"/>
          </p:cNvCxnSpPr>
          <p:nvPr/>
        </p:nvCxnSpPr>
        <p:spPr>
          <a:xfrm>
            <a:off x="2349500" y="3721819"/>
            <a:ext cx="2109789" cy="1461369"/>
          </a:xfrm>
          <a:prstGeom prst="straightConnector1">
            <a:avLst/>
          </a:prstGeom>
          <a:ln w="1270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/>
          <p:cNvCxnSpPr>
            <a:endCxn id="96" idx="2"/>
          </p:cNvCxnSpPr>
          <p:nvPr/>
        </p:nvCxnSpPr>
        <p:spPr>
          <a:xfrm flipH="1">
            <a:off x="4459289" y="3609678"/>
            <a:ext cx="1966625" cy="1573510"/>
          </a:xfrm>
          <a:prstGeom prst="straightConnector1">
            <a:avLst/>
          </a:prstGeom>
          <a:ln w="1270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328730" y="6324600"/>
            <a:ext cx="4943276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Lacks a key value to create a complete index entry!</a:t>
            </a:r>
            <a:endParaRPr lang="en-US" dirty="0"/>
          </a:p>
        </p:txBody>
      </p:sp>
      <p:sp>
        <p:nvSpPr>
          <p:cNvPr id="142" name="Freeform 53"/>
          <p:cNvSpPr>
            <a:spLocks/>
          </p:cNvSpPr>
          <p:nvPr/>
        </p:nvSpPr>
        <p:spPr bwMode="auto">
          <a:xfrm>
            <a:off x="2919917" y="5624883"/>
            <a:ext cx="446088" cy="496888"/>
          </a:xfrm>
          <a:custGeom>
            <a:avLst/>
            <a:gdLst>
              <a:gd name="T0" fmla="*/ 444500 w 281"/>
              <a:gd name="T1" fmla="*/ 0 h 313"/>
              <a:gd name="T2" fmla="*/ 0 w 281"/>
              <a:gd name="T3" fmla="*/ 495300 h 313"/>
              <a:gd name="T4" fmla="*/ 444500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" name="Freeform 55"/>
          <p:cNvSpPr>
            <a:spLocks/>
          </p:cNvSpPr>
          <p:nvPr/>
        </p:nvSpPr>
        <p:spPr bwMode="auto">
          <a:xfrm>
            <a:off x="3915400" y="5615358"/>
            <a:ext cx="449262" cy="506413"/>
          </a:xfrm>
          <a:custGeom>
            <a:avLst/>
            <a:gdLst>
              <a:gd name="T0" fmla="*/ 0 w 283"/>
              <a:gd name="T1" fmla="*/ 0 h 319"/>
              <a:gd name="T2" fmla="*/ 447675 w 283"/>
              <a:gd name="T3" fmla="*/ 504825 h 319"/>
              <a:gd name="T4" fmla="*/ 0 w 283"/>
              <a:gd name="T5" fmla="*/ 0 h 319"/>
              <a:gd name="T6" fmla="*/ 0 60000 65536"/>
              <a:gd name="T7" fmla="*/ 0 60000 65536"/>
              <a:gd name="T8" fmla="*/ 0 60000 65536"/>
              <a:gd name="T9" fmla="*/ 0 w 283"/>
              <a:gd name="T10" fmla="*/ 0 h 319"/>
              <a:gd name="T11" fmla="*/ 283 w 283"/>
              <a:gd name="T12" fmla="*/ 319 h 31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3" h="319">
                <a:moveTo>
                  <a:pt x="0" y="0"/>
                </a:moveTo>
                <a:lnTo>
                  <a:pt x="282" y="318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" name="Freeform 57"/>
          <p:cNvSpPr>
            <a:spLocks/>
          </p:cNvSpPr>
          <p:nvPr/>
        </p:nvSpPr>
        <p:spPr bwMode="auto">
          <a:xfrm>
            <a:off x="4495178" y="5615358"/>
            <a:ext cx="1330325" cy="517525"/>
          </a:xfrm>
          <a:custGeom>
            <a:avLst/>
            <a:gdLst>
              <a:gd name="T0" fmla="*/ 0 w 838"/>
              <a:gd name="T1" fmla="*/ 0 h 326"/>
              <a:gd name="T2" fmla="*/ 1328738 w 838"/>
              <a:gd name="T3" fmla="*/ 515938 h 326"/>
              <a:gd name="T4" fmla="*/ 0 w 838"/>
              <a:gd name="T5" fmla="*/ 0 h 326"/>
              <a:gd name="T6" fmla="*/ 0 60000 65536"/>
              <a:gd name="T7" fmla="*/ 0 60000 65536"/>
              <a:gd name="T8" fmla="*/ 0 60000 65536"/>
              <a:gd name="T9" fmla="*/ 0 w 838"/>
              <a:gd name="T10" fmla="*/ 0 h 326"/>
              <a:gd name="T11" fmla="*/ 838 w 838"/>
              <a:gd name="T12" fmla="*/ 326 h 3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38" h="326">
                <a:moveTo>
                  <a:pt x="0" y="0"/>
                </a:moveTo>
                <a:lnTo>
                  <a:pt x="837" y="32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5" name="Freeform 54"/>
          <p:cNvSpPr>
            <a:spLocks/>
          </p:cNvSpPr>
          <p:nvPr/>
        </p:nvSpPr>
        <p:spPr bwMode="auto">
          <a:xfrm>
            <a:off x="2871787" y="6080495"/>
            <a:ext cx="87313" cy="93663"/>
          </a:xfrm>
          <a:custGeom>
            <a:avLst/>
            <a:gdLst>
              <a:gd name="T0" fmla="*/ 85725 w 55"/>
              <a:gd name="T1" fmla="*/ 33338 h 59"/>
              <a:gd name="T2" fmla="*/ 0 w 55"/>
              <a:gd name="T3" fmla="*/ 92075 h 59"/>
              <a:gd name="T4" fmla="*/ 47625 w 55"/>
              <a:gd name="T5" fmla="*/ 0 h 59"/>
              <a:gd name="T6" fmla="*/ 85725 w 55"/>
              <a:gd name="T7" fmla="*/ 33338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6" name="Freeform 56"/>
          <p:cNvSpPr>
            <a:spLocks/>
          </p:cNvSpPr>
          <p:nvPr/>
        </p:nvSpPr>
        <p:spPr bwMode="auto">
          <a:xfrm>
            <a:off x="4342215" y="6083848"/>
            <a:ext cx="88900" cy="92075"/>
          </a:xfrm>
          <a:custGeom>
            <a:avLst/>
            <a:gdLst>
              <a:gd name="T0" fmla="*/ 38100 w 56"/>
              <a:gd name="T1" fmla="*/ 0 h 58"/>
              <a:gd name="T2" fmla="*/ 87313 w 56"/>
              <a:gd name="T3" fmla="*/ 90488 h 58"/>
              <a:gd name="T4" fmla="*/ 0 w 56"/>
              <a:gd name="T5" fmla="*/ 33338 h 58"/>
              <a:gd name="T6" fmla="*/ 38100 w 56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6"/>
              <a:gd name="T13" fmla="*/ 0 h 58"/>
              <a:gd name="T14" fmla="*/ 56 w 56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" h="58">
                <a:moveTo>
                  <a:pt x="24" y="0"/>
                </a:moveTo>
                <a:lnTo>
                  <a:pt x="55" y="57"/>
                </a:lnTo>
                <a:lnTo>
                  <a:pt x="0" y="21"/>
                </a:lnTo>
                <a:lnTo>
                  <a:pt x="24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7" name="Freeform 58"/>
          <p:cNvSpPr>
            <a:spLocks/>
          </p:cNvSpPr>
          <p:nvPr/>
        </p:nvSpPr>
        <p:spPr bwMode="auto">
          <a:xfrm>
            <a:off x="5793295" y="6101021"/>
            <a:ext cx="104775" cy="61912"/>
          </a:xfrm>
          <a:custGeom>
            <a:avLst/>
            <a:gdLst>
              <a:gd name="T0" fmla="*/ 17463 w 66"/>
              <a:gd name="T1" fmla="*/ 0 h 39"/>
              <a:gd name="T2" fmla="*/ 103188 w 66"/>
              <a:gd name="T3" fmla="*/ 60325 h 39"/>
              <a:gd name="T4" fmla="*/ 0 w 66"/>
              <a:gd name="T5" fmla="*/ 47625 h 39"/>
              <a:gd name="T6" fmla="*/ 17463 w 66"/>
              <a:gd name="T7" fmla="*/ 0 h 39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39"/>
              <a:gd name="T14" fmla="*/ 66 w 66"/>
              <a:gd name="T15" fmla="*/ 39 h 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39">
                <a:moveTo>
                  <a:pt x="11" y="0"/>
                </a:moveTo>
                <a:lnTo>
                  <a:pt x="65" y="38"/>
                </a:lnTo>
                <a:lnTo>
                  <a:pt x="0" y="30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583906" y="5041840"/>
            <a:ext cx="426243" cy="901760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stCxn id="9" idx="2"/>
            <a:endCxn id="5" idx="0"/>
          </p:cNvCxnSpPr>
          <p:nvPr/>
        </p:nvCxnSpPr>
        <p:spPr>
          <a:xfrm>
            <a:off x="4797028" y="5943600"/>
            <a:ext cx="3340" cy="381000"/>
          </a:xfrm>
          <a:prstGeom prst="straightConnector1">
            <a:avLst/>
          </a:prstGeom>
          <a:ln w="158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Rectangle 93"/>
          <p:cNvSpPr>
            <a:spLocks noChangeArrowheads="1"/>
          </p:cNvSpPr>
          <p:nvPr/>
        </p:nvSpPr>
        <p:spPr bwMode="auto">
          <a:xfrm>
            <a:off x="5240338" y="5257800"/>
            <a:ext cx="3651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 dirty="0">
                <a:solidFill>
                  <a:srgbClr val="000000"/>
                </a:solidFill>
                <a:latin typeface="Arial" pitchFamily="34" charset="0"/>
              </a:rPr>
              <a:t>30</a:t>
            </a:r>
          </a:p>
        </p:txBody>
      </p:sp>
      <p:sp>
        <p:nvSpPr>
          <p:cNvPr id="124" name="Freeform 23"/>
          <p:cNvSpPr>
            <a:spLocks/>
          </p:cNvSpPr>
          <p:nvPr/>
        </p:nvSpPr>
        <p:spPr bwMode="auto">
          <a:xfrm>
            <a:off x="4492625" y="5624883"/>
            <a:ext cx="598488" cy="576262"/>
          </a:xfrm>
          <a:custGeom>
            <a:avLst/>
            <a:gdLst>
              <a:gd name="T0" fmla="*/ 376 w 377"/>
              <a:gd name="T1" fmla="*/ 0 h 363"/>
              <a:gd name="T2" fmla="*/ 0 w 377"/>
              <a:gd name="T3" fmla="*/ 362 h 363"/>
              <a:gd name="T4" fmla="*/ 376 w 377"/>
              <a:gd name="T5" fmla="*/ 0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7" h="363">
                <a:moveTo>
                  <a:pt x="376" y="0"/>
                </a:moveTo>
                <a:lnTo>
                  <a:pt x="0" y="362"/>
                </a:lnTo>
                <a:lnTo>
                  <a:pt x="376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7" name="Freeform 24"/>
          <p:cNvSpPr>
            <a:spLocks/>
          </p:cNvSpPr>
          <p:nvPr/>
        </p:nvSpPr>
        <p:spPr bwMode="auto">
          <a:xfrm>
            <a:off x="4492625" y="6093195"/>
            <a:ext cx="115888" cy="107950"/>
          </a:xfrm>
          <a:custGeom>
            <a:avLst/>
            <a:gdLst>
              <a:gd name="T0" fmla="*/ 72 w 73"/>
              <a:gd name="T1" fmla="*/ 24 h 68"/>
              <a:gd name="T2" fmla="*/ 0 w 73"/>
              <a:gd name="T3" fmla="*/ 67 h 68"/>
              <a:gd name="T4" fmla="*/ 41 w 73"/>
              <a:gd name="T5" fmla="*/ 0 h 68"/>
              <a:gd name="T6" fmla="*/ 72 w 73"/>
              <a:gd name="T7" fmla="*/ 24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3" h="68">
                <a:moveTo>
                  <a:pt x="72" y="24"/>
                </a:moveTo>
                <a:lnTo>
                  <a:pt x="0" y="67"/>
                </a:lnTo>
                <a:lnTo>
                  <a:pt x="41" y="0"/>
                </a:lnTo>
                <a:lnTo>
                  <a:pt x="72" y="2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" name="Freeform 25"/>
          <p:cNvSpPr>
            <a:spLocks/>
          </p:cNvSpPr>
          <p:nvPr/>
        </p:nvSpPr>
        <p:spPr bwMode="auto">
          <a:xfrm>
            <a:off x="5656738" y="5615358"/>
            <a:ext cx="614362" cy="552450"/>
          </a:xfrm>
          <a:custGeom>
            <a:avLst/>
            <a:gdLst>
              <a:gd name="T0" fmla="*/ 0 w 387"/>
              <a:gd name="T1" fmla="*/ 0 h 348"/>
              <a:gd name="T2" fmla="*/ 386 w 387"/>
              <a:gd name="T3" fmla="*/ 347 h 348"/>
              <a:gd name="T4" fmla="*/ 0 w 387"/>
              <a:gd name="T5" fmla="*/ 0 h 3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7" h="348">
                <a:moveTo>
                  <a:pt x="0" y="0"/>
                </a:moveTo>
                <a:lnTo>
                  <a:pt x="386" y="34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1" name="Freeform 26"/>
          <p:cNvSpPr>
            <a:spLocks/>
          </p:cNvSpPr>
          <p:nvPr/>
        </p:nvSpPr>
        <p:spPr bwMode="auto">
          <a:xfrm>
            <a:off x="6150450" y="6061445"/>
            <a:ext cx="120650" cy="106363"/>
          </a:xfrm>
          <a:custGeom>
            <a:avLst/>
            <a:gdLst>
              <a:gd name="T0" fmla="*/ 31 w 76"/>
              <a:gd name="T1" fmla="*/ 0 h 67"/>
              <a:gd name="T2" fmla="*/ 75 w 76"/>
              <a:gd name="T3" fmla="*/ 66 h 67"/>
              <a:gd name="T4" fmla="*/ 0 w 76"/>
              <a:gd name="T5" fmla="*/ 25 h 67"/>
              <a:gd name="T6" fmla="*/ 31 w 76"/>
              <a:gd name="T7" fmla="*/ 0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" h="67">
                <a:moveTo>
                  <a:pt x="31" y="0"/>
                </a:moveTo>
                <a:lnTo>
                  <a:pt x="75" y="66"/>
                </a:lnTo>
                <a:lnTo>
                  <a:pt x="0" y="25"/>
                </a:lnTo>
                <a:lnTo>
                  <a:pt x="31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737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B+ Tree: Examples </a:t>
            </a:r>
            <a:r>
              <a:rPr lang="en-US" dirty="0" smtClean="0">
                <a:ea typeface="ＭＳ Ｐゴシック" pitchFamily="34" charset="-128"/>
              </a:rPr>
              <a:t>of Deletions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Delete </a:t>
            </a:r>
            <a:r>
              <a:rPr lang="en-US" dirty="0" smtClean="0">
                <a:solidFill>
                  <a:srgbClr val="FF0000"/>
                </a:solidFill>
              </a:rPr>
              <a:t>24*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101" name="Freeform 4"/>
          <p:cNvSpPr>
            <a:spLocks/>
          </p:cNvSpPr>
          <p:nvPr/>
        </p:nvSpPr>
        <p:spPr bwMode="auto">
          <a:xfrm>
            <a:off x="381000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" name="Freeform 5"/>
          <p:cNvSpPr>
            <a:spLocks/>
          </p:cNvSpPr>
          <p:nvPr/>
        </p:nvSpPr>
        <p:spPr bwMode="auto">
          <a:xfrm>
            <a:off x="706438" y="4086225"/>
            <a:ext cx="325437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Freeform 6"/>
          <p:cNvSpPr>
            <a:spLocks/>
          </p:cNvSpPr>
          <p:nvPr/>
        </p:nvSpPr>
        <p:spPr bwMode="auto">
          <a:xfrm>
            <a:off x="1030288" y="4086225"/>
            <a:ext cx="327025" cy="325438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" name="Freeform 7"/>
          <p:cNvSpPr>
            <a:spLocks/>
          </p:cNvSpPr>
          <p:nvPr/>
        </p:nvSpPr>
        <p:spPr bwMode="auto">
          <a:xfrm>
            <a:off x="1355725" y="4086225"/>
            <a:ext cx="325438" cy="325438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" name="Rectangle 8"/>
          <p:cNvSpPr>
            <a:spLocks noChangeArrowheads="1"/>
          </p:cNvSpPr>
          <p:nvPr/>
        </p:nvSpPr>
        <p:spPr bwMode="auto">
          <a:xfrm>
            <a:off x="390525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2*</a:t>
            </a:r>
          </a:p>
        </p:txBody>
      </p:sp>
      <p:sp>
        <p:nvSpPr>
          <p:cNvPr id="106" name="Rectangle 9"/>
          <p:cNvSpPr>
            <a:spLocks noChangeArrowheads="1"/>
          </p:cNvSpPr>
          <p:nvPr/>
        </p:nvSpPr>
        <p:spPr bwMode="auto">
          <a:xfrm>
            <a:off x="715963" y="40655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3*</a:t>
            </a:r>
          </a:p>
        </p:txBody>
      </p:sp>
      <p:sp>
        <p:nvSpPr>
          <p:cNvPr id="107" name="Freeform 10"/>
          <p:cNvSpPr>
            <a:spLocks/>
          </p:cNvSpPr>
          <p:nvPr/>
        </p:nvSpPr>
        <p:spPr bwMode="auto">
          <a:xfrm>
            <a:off x="3549650" y="246856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Freeform 11"/>
          <p:cNvSpPr>
            <a:spLocks/>
          </p:cNvSpPr>
          <p:nvPr/>
        </p:nvSpPr>
        <p:spPr bwMode="auto">
          <a:xfrm>
            <a:off x="3629025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Freeform 12"/>
          <p:cNvSpPr>
            <a:spLocks/>
          </p:cNvSpPr>
          <p:nvPr/>
        </p:nvSpPr>
        <p:spPr bwMode="auto">
          <a:xfrm>
            <a:off x="4035425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Freeform 13"/>
          <p:cNvSpPr>
            <a:spLocks/>
          </p:cNvSpPr>
          <p:nvPr/>
        </p:nvSpPr>
        <p:spPr bwMode="auto">
          <a:xfrm>
            <a:off x="4116388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Freeform 14"/>
          <p:cNvSpPr>
            <a:spLocks/>
          </p:cNvSpPr>
          <p:nvPr/>
        </p:nvSpPr>
        <p:spPr bwMode="auto">
          <a:xfrm>
            <a:off x="4522788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Freeform 15"/>
          <p:cNvSpPr>
            <a:spLocks/>
          </p:cNvSpPr>
          <p:nvPr/>
        </p:nvSpPr>
        <p:spPr bwMode="auto">
          <a:xfrm>
            <a:off x="4603750" y="24685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Freeform 16"/>
          <p:cNvSpPr>
            <a:spLocks/>
          </p:cNvSpPr>
          <p:nvPr/>
        </p:nvSpPr>
        <p:spPr bwMode="auto">
          <a:xfrm>
            <a:off x="5010150" y="246856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Freeform 17"/>
          <p:cNvSpPr>
            <a:spLocks/>
          </p:cNvSpPr>
          <p:nvPr/>
        </p:nvSpPr>
        <p:spPr bwMode="auto">
          <a:xfrm>
            <a:off x="5091113" y="24685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Freeform 18"/>
          <p:cNvSpPr>
            <a:spLocks/>
          </p:cNvSpPr>
          <p:nvPr/>
        </p:nvSpPr>
        <p:spPr bwMode="auto">
          <a:xfrm>
            <a:off x="5497513" y="246856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Freeform 19"/>
          <p:cNvSpPr>
            <a:spLocks/>
          </p:cNvSpPr>
          <p:nvPr/>
        </p:nvSpPr>
        <p:spPr bwMode="auto">
          <a:xfrm>
            <a:off x="3162300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Freeform 20"/>
          <p:cNvSpPr>
            <a:spLocks/>
          </p:cNvSpPr>
          <p:nvPr/>
        </p:nvSpPr>
        <p:spPr bwMode="auto">
          <a:xfrm>
            <a:off x="3487738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Freeform 21"/>
          <p:cNvSpPr>
            <a:spLocks/>
          </p:cNvSpPr>
          <p:nvPr/>
        </p:nvSpPr>
        <p:spPr bwMode="auto">
          <a:xfrm>
            <a:off x="3813175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Freeform 22"/>
          <p:cNvSpPr>
            <a:spLocks/>
          </p:cNvSpPr>
          <p:nvPr/>
        </p:nvSpPr>
        <p:spPr bwMode="auto">
          <a:xfrm>
            <a:off x="4137025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Freeform 35"/>
          <p:cNvSpPr>
            <a:spLocks/>
          </p:cNvSpPr>
          <p:nvPr/>
        </p:nvSpPr>
        <p:spPr bwMode="auto">
          <a:xfrm>
            <a:off x="1428750" y="3236913"/>
            <a:ext cx="487363" cy="404812"/>
          </a:xfrm>
          <a:custGeom>
            <a:avLst/>
            <a:gdLst>
              <a:gd name="T0" fmla="*/ 0 w 307"/>
              <a:gd name="T1" fmla="*/ 403225 h 255"/>
              <a:gd name="T2" fmla="*/ 0 w 307"/>
              <a:gd name="T3" fmla="*/ 0 h 255"/>
              <a:gd name="T4" fmla="*/ 485775 w 307"/>
              <a:gd name="T5" fmla="*/ 0 h 255"/>
              <a:gd name="T6" fmla="*/ 485775 w 307"/>
              <a:gd name="T7" fmla="*/ 403225 h 255"/>
              <a:gd name="T8" fmla="*/ 0 w 307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" name="Freeform 36"/>
          <p:cNvSpPr>
            <a:spLocks/>
          </p:cNvSpPr>
          <p:nvPr/>
        </p:nvSpPr>
        <p:spPr bwMode="auto">
          <a:xfrm>
            <a:off x="15097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" name="Freeform 37"/>
          <p:cNvSpPr>
            <a:spLocks/>
          </p:cNvSpPr>
          <p:nvPr/>
        </p:nvSpPr>
        <p:spPr bwMode="auto">
          <a:xfrm>
            <a:off x="1914525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" name="Freeform 38"/>
          <p:cNvSpPr>
            <a:spLocks/>
          </p:cNvSpPr>
          <p:nvPr/>
        </p:nvSpPr>
        <p:spPr bwMode="auto">
          <a:xfrm>
            <a:off x="1995488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" name="Freeform 39"/>
          <p:cNvSpPr>
            <a:spLocks/>
          </p:cNvSpPr>
          <p:nvPr/>
        </p:nvSpPr>
        <p:spPr bwMode="auto">
          <a:xfrm>
            <a:off x="2401888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" name="Freeform 40"/>
          <p:cNvSpPr>
            <a:spLocks/>
          </p:cNvSpPr>
          <p:nvPr/>
        </p:nvSpPr>
        <p:spPr bwMode="auto">
          <a:xfrm>
            <a:off x="2482850" y="32369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" name="Freeform 41"/>
          <p:cNvSpPr>
            <a:spLocks/>
          </p:cNvSpPr>
          <p:nvPr/>
        </p:nvSpPr>
        <p:spPr bwMode="auto">
          <a:xfrm>
            <a:off x="2889250" y="3236913"/>
            <a:ext cx="488950" cy="404812"/>
          </a:xfrm>
          <a:custGeom>
            <a:avLst/>
            <a:gdLst>
              <a:gd name="T0" fmla="*/ 0 w 308"/>
              <a:gd name="T1" fmla="*/ 403225 h 255"/>
              <a:gd name="T2" fmla="*/ 0 w 308"/>
              <a:gd name="T3" fmla="*/ 0 h 255"/>
              <a:gd name="T4" fmla="*/ 487363 w 308"/>
              <a:gd name="T5" fmla="*/ 0 h 255"/>
              <a:gd name="T6" fmla="*/ 487363 w 308"/>
              <a:gd name="T7" fmla="*/ 403225 h 255"/>
              <a:gd name="T8" fmla="*/ 0 w 308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" name="Freeform 42"/>
          <p:cNvSpPr>
            <a:spLocks/>
          </p:cNvSpPr>
          <p:nvPr/>
        </p:nvSpPr>
        <p:spPr bwMode="auto">
          <a:xfrm>
            <a:off x="2970213" y="32369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403225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" name="Freeform 43"/>
          <p:cNvSpPr>
            <a:spLocks/>
          </p:cNvSpPr>
          <p:nvPr/>
        </p:nvSpPr>
        <p:spPr bwMode="auto">
          <a:xfrm>
            <a:off x="3376613" y="3236913"/>
            <a:ext cx="82550" cy="404812"/>
          </a:xfrm>
          <a:custGeom>
            <a:avLst/>
            <a:gdLst>
              <a:gd name="T0" fmla="*/ 0 w 52"/>
              <a:gd name="T1" fmla="*/ 403225 h 255"/>
              <a:gd name="T2" fmla="*/ 0 w 52"/>
              <a:gd name="T3" fmla="*/ 0 h 255"/>
              <a:gd name="T4" fmla="*/ 80963 w 52"/>
              <a:gd name="T5" fmla="*/ 0 h 255"/>
              <a:gd name="T6" fmla="*/ 80963 w 52"/>
              <a:gd name="T7" fmla="*/ 403225 h 255"/>
              <a:gd name="T8" fmla="*/ 0 w 52"/>
              <a:gd name="T9" fmla="*/ 403225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" name="Freeform 53"/>
          <p:cNvSpPr>
            <a:spLocks/>
          </p:cNvSpPr>
          <p:nvPr/>
        </p:nvSpPr>
        <p:spPr bwMode="auto">
          <a:xfrm>
            <a:off x="1012825" y="3559175"/>
            <a:ext cx="446088" cy="496888"/>
          </a:xfrm>
          <a:custGeom>
            <a:avLst/>
            <a:gdLst>
              <a:gd name="T0" fmla="*/ 444500 w 281"/>
              <a:gd name="T1" fmla="*/ 0 h 313"/>
              <a:gd name="T2" fmla="*/ 0 w 281"/>
              <a:gd name="T3" fmla="*/ 495300 h 313"/>
              <a:gd name="T4" fmla="*/ 444500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" name="Freeform 54"/>
          <p:cNvSpPr>
            <a:spLocks/>
          </p:cNvSpPr>
          <p:nvPr/>
        </p:nvSpPr>
        <p:spPr bwMode="auto">
          <a:xfrm>
            <a:off x="1012825" y="3962400"/>
            <a:ext cx="87313" cy="93663"/>
          </a:xfrm>
          <a:custGeom>
            <a:avLst/>
            <a:gdLst>
              <a:gd name="T0" fmla="*/ 85725 w 55"/>
              <a:gd name="T1" fmla="*/ 33338 h 59"/>
              <a:gd name="T2" fmla="*/ 0 w 55"/>
              <a:gd name="T3" fmla="*/ 92075 h 59"/>
              <a:gd name="T4" fmla="*/ 47625 w 55"/>
              <a:gd name="T5" fmla="*/ 0 h 59"/>
              <a:gd name="T6" fmla="*/ 85725 w 55"/>
              <a:gd name="T7" fmla="*/ 33338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2" name="Freeform 55"/>
          <p:cNvSpPr>
            <a:spLocks/>
          </p:cNvSpPr>
          <p:nvPr/>
        </p:nvSpPr>
        <p:spPr bwMode="auto">
          <a:xfrm>
            <a:off x="1944688" y="3559175"/>
            <a:ext cx="449262" cy="506413"/>
          </a:xfrm>
          <a:custGeom>
            <a:avLst/>
            <a:gdLst>
              <a:gd name="T0" fmla="*/ 0 w 283"/>
              <a:gd name="T1" fmla="*/ 0 h 319"/>
              <a:gd name="T2" fmla="*/ 447675 w 283"/>
              <a:gd name="T3" fmla="*/ 504825 h 319"/>
              <a:gd name="T4" fmla="*/ 0 w 283"/>
              <a:gd name="T5" fmla="*/ 0 h 319"/>
              <a:gd name="T6" fmla="*/ 0 60000 65536"/>
              <a:gd name="T7" fmla="*/ 0 60000 65536"/>
              <a:gd name="T8" fmla="*/ 0 60000 65536"/>
              <a:gd name="T9" fmla="*/ 0 w 283"/>
              <a:gd name="T10" fmla="*/ 0 h 319"/>
              <a:gd name="T11" fmla="*/ 283 w 283"/>
              <a:gd name="T12" fmla="*/ 319 h 31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3" h="319">
                <a:moveTo>
                  <a:pt x="0" y="0"/>
                </a:moveTo>
                <a:lnTo>
                  <a:pt x="282" y="318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" name="Freeform 56"/>
          <p:cNvSpPr>
            <a:spLocks/>
          </p:cNvSpPr>
          <p:nvPr/>
        </p:nvSpPr>
        <p:spPr bwMode="auto">
          <a:xfrm>
            <a:off x="2305050" y="3973513"/>
            <a:ext cx="88900" cy="92075"/>
          </a:xfrm>
          <a:custGeom>
            <a:avLst/>
            <a:gdLst>
              <a:gd name="T0" fmla="*/ 38100 w 56"/>
              <a:gd name="T1" fmla="*/ 0 h 58"/>
              <a:gd name="T2" fmla="*/ 87313 w 56"/>
              <a:gd name="T3" fmla="*/ 90488 h 58"/>
              <a:gd name="T4" fmla="*/ 0 w 56"/>
              <a:gd name="T5" fmla="*/ 33338 h 58"/>
              <a:gd name="T6" fmla="*/ 38100 w 56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6"/>
              <a:gd name="T13" fmla="*/ 0 h 58"/>
              <a:gd name="T14" fmla="*/ 56 w 56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" h="58">
                <a:moveTo>
                  <a:pt x="24" y="0"/>
                </a:moveTo>
                <a:lnTo>
                  <a:pt x="55" y="57"/>
                </a:lnTo>
                <a:lnTo>
                  <a:pt x="0" y="21"/>
                </a:lnTo>
                <a:lnTo>
                  <a:pt x="24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" name="Freeform 57"/>
          <p:cNvSpPr>
            <a:spLocks/>
          </p:cNvSpPr>
          <p:nvPr/>
        </p:nvSpPr>
        <p:spPr bwMode="auto">
          <a:xfrm>
            <a:off x="2443163" y="3559175"/>
            <a:ext cx="1330325" cy="517525"/>
          </a:xfrm>
          <a:custGeom>
            <a:avLst/>
            <a:gdLst>
              <a:gd name="T0" fmla="*/ 0 w 838"/>
              <a:gd name="T1" fmla="*/ 0 h 326"/>
              <a:gd name="T2" fmla="*/ 1328738 w 838"/>
              <a:gd name="T3" fmla="*/ 515938 h 326"/>
              <a:gd name="T4" fmla="*/ 0 w 838"/>
              <a:gd name="T5" fmla="*/ 0 h 326"/>
              <a:gd name="T6" fmla="*/ 0 60000 65536"/>
              <a:gd name="T7" fmla="*/ 0 60000 65536"/>
              <a:gd name="T8" fmla="*/ 0 60000 65536"/>
              <a:gd name="T9" fmla="*/ 0 w 838"/>
              <a:gd name="T10" fmla="*/ 0 h 326"/>
              <a:gd name="T11" fmla="*/ 838 w 838"/>
              <a:gd name="T12" fmla="*/ 326 h 3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38" h="326">
                <a:moveTo>
                  <a:pt x="0" y="0"/>
                </a:moveTo>
                <a:lnTo>
                  <a:pt x="837" y="32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" name="Freeform 58"/>
          <p:cNvSpPr>
            <a:spLocks/>
          </p:cNvSpPr>
          <p:nvPr/>
        </p:nvSpPr>
        <p:spPr bwMode="auto">
          <a:xfrm>
            <a:off x="3668713" y="4014788"/>
            <a:ext cx="104775" cy="61912"/>
          </a:xfrm>
          <a:custGeom>
            <a:avLst/>
            <a:gdLst>
              <a:gd name="T0" fmla="*/ 17463 w 66"/>
              <a:gd name="T1" fmla="*/ 0 h 39"/>
              <a:gd name="T2" fmla="*/ 103188 w 66"/>
              <a:gd name="T3" fmla="*/ 60325 h 39"/>
              <a:gd name="T4" fmla="*/ 0 w 66"/>
              <a:gd name="T5" fmla="*/ 47625 h 39"/>
              <a:gd name="T6" fmla="*/ 17463 w 66"/>
              <a:gd name="T7" fmla="*/ 0 h 39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39"/>
              <a:gd name="T14" fmla="*/ 66 w 66"/>
              <a:gd name="T15" fmla="*/ 39 h 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39">
                <a:moveTo>
                  <a:pt x="11" y="0"/>
                </a:moveTo>
                <a:lnTo>
                  <a:pt x="65" y="38"/>
                </a:lnTo>
                <a:lnTo>
                  <a:pt x="0" y="30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" name="Freeform 65"/>
          <p:cNvSpPr>
            <a:spLocks/>
          </p:cNvSpPr>
          <p:nvPr/>
        </p:nvSpPr>
        <p:spPr bwMode="auto">
          <a:xfrm>
            <a:off x="2401888" y="2820988"/>
            <a:ext cx="1177925" cy="396875"/>
          </a:xfrm>
          <a:custGeom>
            <a:avLst/>
            <a:gdLst>
              <a:gd name="T0" fmla="*/ 1176338 w 742"/>
              <a:gd name="T1" fmla="*/ 0 h 250"/>
              <a:gd name="T2" fmla="*/ 0 w 742"/>
              <a:gd name="T3" fmla="*/ 395288 h 250"/>
              <a:gd name="T4" fmla="*/ 1176338 w 742"/>
              <a:gd name="T5" fmla="*/ 0 h 250"/>
              <a:gd name="T6" fmla="*/ 0 60000 65536"/>
              <a:gd name="T7" fmla="*/ 0 60000 65536"/>
              <a:gd name="T8" fmla="*/ 0 60000 65536"/>
              <a:gd name="T9" fmla="*/ 0 w 742"/>
              <a:gd name="T10" fmla="*/ 0 h 250"/>
              <a:gd name="T11" fmla="*/ 742 w 742"/>
              <a:gd name="T12" fmla="*/ 250 h 2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42" h="250">
                <a:moveTo>
                  <a:pt x="741" y="0"/>
                </a:moveTo>
                <a:lnTo>
                  <a:pt x="0" y="249"/>
                </a:lnTo>
                <a:lnTo>
                  <a:pt x="74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" name="Freeform 66"/>
          <p:cNvSpPr>
            <a:spLocks/>
          </p:cNvSpPr>
          <p:nvPr/>
        </p:nvSpPr>
        <p:spPr bwMode="auto">
          <a:xfrm>
            <a:off x="2401888" y="3159125"/>
            <a:ext cx="106362" cy="58738"/>
          </a:xfrm>
          <a:custGeom>
            <a:avLst/>
            <a:gdLst>
              <a:gd name="T0" fmla="*/ 104775 w 67"/>
              <a:gd name="T1" fmla="*/ 49213 h 37"/>
              <a:gd name="T2" fmla="*/ 0 w 67"/>
              <a:gd name="T3" fmla="*/ 57150 h 37"/>
              <a:gd name="T4" fmla="*/ 88900 w 67"/>
              <a:gd name="T5" fmla="*/ 0 h 37"/>
              <a:gd name="T6" fmla="*/ 104775 w 67"/>
              <a:gd name="T7" fmla="*/ 49213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66" y="31"/>
                </a:moveTo>
                <a:lnTo>
                  <a:pt x="0" y="36"/>
                </a:lnTo>
                <a:lnTo>
                  <a:pt x="56" y="0"/>
                </a:lnTo>
                <a:lnTo>
                  <a:pt x="66" y="3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" name="Freeform 67"/>
          <p:cNvSpPr>
            <a:spLocks/>
          </p:cNvSpPr>
          <p:nvPr/>
        </p:nvSpPr>
        <p:spPr bwMode="auto">
          <a:xfrm>
            <a:off x="4065588" y="2830513"/>
            <a:ext cx="1992312" cy="387350"/>
          </a:xfrm>
          <a:custGeom>
            <a:avLst/>
            <a:gdLst>
              <a:gd name="T0" fmla="*/ 0 w 1255"/>
              <a:gd name="T1" fmla="*/ 0 h 244"/>
              <a:gd name="T2" fmla="*/ 1990725 w 1255"/>
              <a:gd name="T3" fmla="*/ 385763 h 244"/>
              <a:gd name="T4" fmla="*/ 0 w 1255"/>
              <a:gd name="T5" fmla="*/ 0 h 244"/>
              <a:gd name="T6" fmla="*/ 0 60000 65536"/>
              <a:gd name="T7" fmla="*/ 0 60000 65536"/>
              <a:gd name="T8" fmla="*/ 0 60000 65536"/>
              <a:gd name="T9" fmla="*/ 0 w 1255"/>
              <a:gd name="T10" fmla="*/ 0 h 244"/>
              <a:gd name="T11" fmla="*/ 1255 w 1255"/>
              <a:gd name="T12" fmla="*/ 244 h 2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5" h="244">
                <a:moveTo>
                  <a:pt x="0" y="0"/>
                </a:moveTo>
                <a:lnTo>
                  <a:pt x="1254" y="243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" name="Freeform 69"/>
          <p:cNvSpPr>
            <a:spLocks/>
          </p:cNvSpPr>
          <p:nvPr/>
        </p:nvSpPr>
        <p:spPr bwMode="auto">
          <a:xfrm>
            <a:off x="1763713" y="4094163"/>
            <a:ext cx="325437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" name="Freeform 70"/>
          <p:cNvSpPr>
            <a:spLocks/>
          </p:cNvSpPr>
          <p:nvPr/>
        </p:nvSpPr>
        <p:spPr bwMode="auto">
          <a:xfrm>
            <a:off x="2087563" y="4094163"/>
            <a:ext cx="327025" cy="325437"/>
          </a:xfrm>
          <a:custGeom>
            <a:avLst/>
            <a:gdLst>
              <a:gd name="T0" fmla="*/ 0 w 206"/>
              <a:gd name="T1" fmla="*/ 323850 h 205"/>
              <a:gd name="T2" fmla="*/ 0 w 206"/>
              <a:gd name="T3" fmla="*/ 0 h 205"/>
              <a:gd name="T4" fmla="*/ 325438 w 206"/>
              <a:gd name="T5" fmla="*/ 0 h 205"/>
              <a:gd name="T6" fmla="*/ 325438 w 206"/>
              <a:gd name="T7" fmla="*/ 323850 h 205"/>
              <a:gd name="T8" fmla="*/ 0 w 206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" name="Freeform 71"/>
          <p:cNvSpPr>
            <a:spLocks/>
          </p:cNvSpPr>
          <p:nvPr/>
        </p:nvSpPr>
        <p:spPr bwMode="auto">
          <a:xfrm>
            <a:off x="241300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" name="Freeform 72"/>
          <p:cNvSpPr>
            <a:spLocks/>
          </p:cNvSpPr>
          <p:nvPr/>
        </p:nvSpPr>
        <p:spPr bwMode="auto">
          <a:xfrm>
            <a:off x="2736850" y="4094163"/>
            <a:ext cx="325438" cy="325437"/>
          </a:xfrm>
          <a:custGeom>
            <a:avLst/>
            <a:gdLst>
              <a:gd name="T0" fmla="*/ 0 w 205"/>
              <a:gd name="T1" fmla="*/ 323850 h 205"/>
              <a:gd name="T2" fmla="*/ 0 w 205"/>
              <a:gd name="T3" fmla="*/ 0 h 205"/>
              <a:gd name="T4" fmla="*/ 323850 w 205"/>
              <a:gd name="T5" fmla="*/ 0 h 205"/>
              <a:gd name="T6" fmla="*/ 323850 w 205"/>
              <a:gd name="T7" fmla="*/ 323850 h 205"/>
              <a:gd name="T8" fmla="*/ 0 w 205"/>
              <a:gd name="T9" fmla="*/ 323850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0" name="Rectangle 73"/>
          <p:cNvSpPr>
            <a:spLocks noChangeArrowheads="1"/>
          </p:cNvSpPr>
          <p:nvPr/>
        </p:nvSpPr>
        <p:spPr bwMode="auto">
          <a:xfrm>
            <a:off x="2916238" y="2362200"/>
            <a:ext cx="5889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u="none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171" name="Rectangle 74"/>
          <p:cNvSpPr>
            <a:spLocks noChangeArrowheads="1"/>
          </p:cNvSpPr>
          <p:nvPr/>
        </p:nvSpPr>
        <p:spPr bwMode="auto">
          <a:xfrm>
            <a:off x="3678238" y="249713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 dirty="0">
                <a:solidFill>
                  <a:srgbClr val="000000"/>
                </a:solidFill>
                <a:latin typeface="Arial" pitchFamily="34" charset="0"/>
              </a:rPr>
              <a:t>17</a:t>
            </a:r>
          </a:p>
        </p:txBody>
      </p:sp>
      <p:sp>
        <p:nvSpPr>
          <p:cNvPr id="174" name="Rectangle 77"/>
          <p:cNvSpPr>
            <a:spLocks noChangeArrowheads="1"/>
          </p:cNvSpPr>
          <p:nvPr/>
        </p:nvSpPr>
        <p:spPr bwMode="auto">
          <a:xfrm>
            <a:off x="312261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14*</a:t>
            </a:r>
          </a:p>
        </p:txBody>
      </p:sp>
      <p:sp>
        <p:nvSpPr>
          <p:cNvPr id="175" name="Rectangle 78"/>
          <p:cNvSpPr>
            <a:spLocks noChangeArrowheads="1"/>
          </p:cNvSpPr>
          <p:nvPr/>
        </p:nvSpPr>
        <p:spPr bwMode="auto">
          <a:xfrm>
            <a:off x="3446463" y="4092575"/>
            <a:ext cx="431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16*</a:t>
            </a:r>
          </a:p>
        </p:txBody>
      </p:sp>
      <p:sp>
        <p:nvSpPr>
          <p:cNvPr id="186" name="Rectangle 89"/>
          <p:cNvSpPr>
            <a:spLocks noChangeArrowheads="1"/>
          </p:cNvSpPr>
          <p:nvPr/>
        </p:nvSpPr>
        <p:spPr bwMode="auto">
          <a:xfrm>
            <a:off x="2024063" y="326548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13</a:t>
            </a:r>
          </a:p>
        </p:txBody>
      </p:sp>
      <p:sp>
        <p:nvSpPr>
          <p:cNvPr id="187" name="Rectangle 90"/>
          <p:cNvSpPr>
            <a:spLocks noChangeArrowheads="1"/>
          </p:cNvSpPr>
          <p:nvPr/>
        </p:nvSpPr>
        <p:spPr bwMode="auto">
          <a:xfrm>
            <a:off x="1557338" y="3265488"/>
            <a:ext cx="2762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188" name="Rectangle 91"/>
          <p:cNvSpPr>
            <a:spLocks noChangeArrowheads="1"/>
          </p:cNvSpPr>
          <p:nvPr/>
        </p:nvSpPr>
        <p:spPr bwMode="auto">
          <a:xfrm>
            <a:off x="2095500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7*</a:t>
            </a:r>
          </a:p>
        </p:txBody>
      </p:sp>
      <p:sp>
        <p:nvSpPr>
          <p:cNvPr id="189" name="Rectangle 92"/>
          <p:cNvSpPr>
            <a:spLocks noChangeArrowheads="1"/>
          </p:cNvSpPr>
          <p:nvPr/>
        </p:nvSpPr>
        <p:spPr bwMode="auto">
          <a:xfrm>
            <a:off x="1773238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5*</a:t>
            </a:r>
          </a:p>
        </p:txBody>
      </p:sp>
      <p:sp>
        <p:nvSpPr>
          <p:cNvPr id="190" name="Rectangle 93"/>
          <p:cNvSpPr>
            <a:spLocks noChangeArrowheads="1"/>
          </p:cNvSpPr>
          <p:nvPr/>
        </p:nvSpPr>
        <p:spPr bwMode="auto">
          <a:xfrm>
            <a:off x="2411413" y="40719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u="none">
                <a:solidFill>
                  <a:srgbClr val="000000"/>
                </a:solidFill>
                <a:latin typeface="Arial" pitchFamily="34" charset="0"/>
              </a:rPr>
              <a:t>8*</a:t>
            </a:r>
          </a:p>
        </p:txBody>
      </p:sp>
      <p:sp>
        <p:nvSpPr>
          <p:cNvPr id="192" name="Arc 95"/>
          <p:cNvSpPr>
            <a:spLocks/>
          </p:cNvSpPr>
          <p:nvPr/>
        </p:nvSpPr>
        <p:spPr bwMode="auto">
          <a:xfrm rot="13440000">
            <a:off x="15351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3" name="Arc 96"/>
          <p:cNvSpPr>
            <a:spLocks/>
          </p:cNvSpPr>
          <p:nvPr/>
        </p:nvSpPr>
        <p:spPr bwMode="auto">
          <a:xfrm rot="13440000">
            <a:off x="29067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" name="Arc 97"/>
          <p:cNvSpPr>
            <a:spLocks/>
          </p:cNvSpPr>
          <p:nvPr/>
        </p:nvSpPr>
        <p:spPr bwMode="auto">
          <a:xfrm rot="13440000">
            <a:off x="4354513" y="3879850"/>
            <a:ext cx="304800" cy="304800"/>
          </a:xfrm>
          <a:custGeom>
            <a:avLst/>
            <a:gdLst>
              <a:gd name="T0" fmla="*/ 4301067 w 21600"/>
              <a:gd name="T1" fmla="*/ 0 h 21600"/>
              <a:gd name="T2" fmla="*/ 0 w 21600"/>
              <a:gd name="T3" fmla="*/ 430106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0" name="Freeform 6"/>
          <p:cNvSpPr>
            <a:spLocks/>
          </p:cNvSpPr>
          <p:nvPr/>
        </p:nvSpPr>
        <p:spPr bwMode="auto">
          <a:xfrm>
            <a:off x="4625689" y="4090252"/>
            <a:ext cx="436562" cy="376238"/>
          </a:xfrm>
          <a:custGeom>
            <a:avLst/>
            <a:gdLst>
              <a:gd name="T0" fmla="*/ 0 w 275"/>
              <a:gd name="T1" fmla="*/ 236 h 237"/>
              <a:gd name="T2" fmla="*/ 0 w 275"/>
              <a:gd name="T3" fmla="*/ 0 h 237"/>
              <a:gd name="T4" fmla="*/ 274 w 275"/>
              <a:gd name="T5" fmla="*/ 0 h 237"/>
              <a:gd name="T6" fmla="*/ 274 w 275"/>
              <a:gd name="T7" fmla="*/ 236 h 237"/>
              <a:gd name="T8" fmla="*/ 0 w 275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5" h="237">
                <a:moveTo>
                  <a:pt x="0" y="236"/>
                </a:moveTo>
                <a:lnTo>
                  <a:pt x="0" y="0"/>
                </a:lnTo>
                <a:lnTo>
                  <a:pt x="274" y="0"/>
                </a:lnTo>
                <a:lnTo>
                  <a:pt x="274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2" name="Freeform 7"/>
          <p:cNvSpPr>
            <a:spLocks/>
          </p:cNvSpPr>
          <p:nvPr/>
        </p:nvSpPr>
        <p:spPr bwMode="auto">
          <a:xfrm>
            <a:off x="5060664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" name="Freeform 8"/>
          <p:cNvSpPr>
            <a:spLocks/>
          </p:cNvSpPr>
          <p:nvPr/>
        </p:nvSpPr>
        <p:spPr bwMode="auto">
          <a:xfrm>
            <a:off x="5494051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" name="Freeform 9"/>
          <p:cNvSpPr>
            <a:spLocks/>
          </p:cNvSpPr>
          <p:nvPr/>
        </p:nvSpPr>
        <p:spPr bwMode="auto">
          <a:xfrm>
            <a:off x="5927439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8" name="Freeform 10"/>
          <p:cNvSpPr>
            <a:spLocks/>
          </p:cNvSpPr>
          <p:nvPr/>
        </p:nvSpPr>
        <p:spPr bwMode="auto">
          <a:xfrm>
            <a:off x="6524339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" name="Freeform 11"/>
          <p:cNvSpPr>
            <a:spLocks/>
          </p:cNvSpPr>
          <p:nvPr/>
        </p:nvSpPr>
        <p:spPr bwMode="auto">
          <a:xfrm>
            <a:off x="6957726" y="4090252"/>
            <a:ext cx="436563" cy="376238"/>
          </a:xfrm>
          <a:custGeom>
            <a:avLst/>
            <a:gdLst>
              <a:gd name="T0" fmla="*/ 0 w 275"/>
              <a:gd name="T1" fmla="*/ 236 h 237"/>
              <a:gd name="T2" fmla="*/ 0 w 275"/>
              <a:gd name="T3" fmla="*/ 0 h 237"/>
              <a:gd name="T4" fmla="*/ 274 w 275"/>
              <a:gd name="T5" fmla="*/ 0 h 237"/>
              <a:gd name="T6" fmla="*/ 274 w 275"/>
              <a:gd name="T7" fmla="*/ 236 h 237"/>
              <a:gd name="T8" fmla="*/ 0 w 275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5" h="237">
                <a:moveTo>
                  <a:pt x="0" y="236"/>
                </a:moveTo>
                <a:lnTo>
                  <a:pt x="0" y="0"/>
                </a:lnTo>
                <a:lnTo>
                  <a:pt x="274" y="0"/>
                </a:lnTo>
                <a:lnTo>
                  <a:pt x="274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" name="Freeform 12"/>
          <p:cNvSpPr>
            <a:spLocks/>
          </p:cNvSpPr>
          <p:nvPr/>
        </p:nvSpPr>
        <p:spPr bwMode="auto">
          <a:xfrm>
            <a:off x="7392701" y="4090252"/>
            <a:ext cx="434975" cy="376238"/>
          </a:xfrm>
          <a:custGeom>
            <a:avLst/>
            <a:gdLst>
              <a:gd name="T0" fmla="*/ 0 w 274"/>
              <a:gd name="T1" fmla="*/ 236 h 237"/>
              <a:gd name="T2" fmla="*/ 0 w 274"/>
              <a:gd name="T3" fmla="*/ 0 h 237"/>
              <a:gd name="T4" fmla="*/ 273 w 274"/>
              <a:gd name="T5" fmla="*/ 0 h 237"/>
              <a:gd name="T6" fmla="*/ 273 w 274"/>
              <a:gd name="T7" fmla="*/ 236 h 237"/>
              <a:gd name="T8" fmla="*/ 0 w 274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37">
                <a:moveTo>
                  <a:pt x="0" y="236"/>
                </a:moveTo>
                <a:lnTo>
                  <a:pt x="0" y="0"/>
                </a:lnTo>
                <a:lnTo>
                  <a:pt x="273" y="0"/>
                </a:lnTo>
                <a:lnTo>
                  <a:pt x="273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" name="Freeform 13"/>
          <p:cNvSpPr>
            <a:spLocks/>
          </p:cNvSpPr>
          <p:nvPr/>
        </p:nvSpPr>
        <p:spPr bwMode="auto">
          <a:xfrm>
            <a:off x="7826089" y="4090252"/>
            <a:ext cx="436562" cy="376238"/>
          </a:xfrm>
          <a:custGeom>
            <a:avLst/>
            <a:gdLst>
              <a:gd name="T0" fmla="*/ 0 w 275"/>
              <a:gd name="T1" fmla="*/ 236 h 237"/>
              <a:gd name="T2" fmla="*/ 0 w 275"/>
              <a:gd name="T3" fmla="*/ 0 h 237"/>
              <a:gd name="T4" fmla="*/ 274 w 275"/>
              <a:gd name="T5" fmla="*/ 0 h 237"/>
              <a:gd name="T6" fmla="*/ 274 w 275"/>
              <a:gd name="T7" fmla="*/ 236 h 237"/>
              <a:gd name="T8" fmla="*/ 0 w 275"/>
              <a:gd name="T9" fmla="*/ 236 h 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5" h="237">
                <a:moveTo>
                  <a:pt x="0" y="236"/>
                </a:moveTo>
                <a:lnTo>
                  <a:pt x="0" y="0"/>
                </a:lnTo>
                <a:lnTo>
                  <a:pt x="274" y="0"/>
                </a:lnTo>
                <a:lnTo>
                  <a:pt x="274" y="236"/>
                </a:lnTo>
                <a:lnTo>
                  <a:pt x="0" y="23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0" name="Freeform 14"/>
          <p:cNvSpPr>
            <a:spLocks/>
          </p:cNvSpPr>
          <p:nvPr/>
        </p:nvSpPr>
        <p:spPr bwMode="auto">
          <a:xfrm>
            <a:off x="6049676" y="3093302"/>
            <a:ext cx="652463" cy="469900"/>
          </a:xfrm>
          <a:custGeom>
            <a:avLst/>
            <a:gdLst>
              <a:gd name="T0" fmla="*/ 0 w 411"/>
              <a:gd name="T1" fmla="*/ 295 h 296"/>
              <a:gd name="T2" fmla="*/ 0 w 411"/>
              <a:gd name="T3" fmla="*/ 0 h 296"/>
              <a:gd name="T4" fmla="*/ 410 w 411"/>
              <a:gd name="T5" fmla="*/ 0 h 296"/>
              <a:gd name="T6" fmla="*/ 410 w 411"/>
              <a:gd name="T7" fmla="*/ 295 h 296"/>
              <a:gd name="T8" fmla="*/ 0 w 411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1" h="296">
                <a:moveTo>
                  <a:pt x="0" y="295"/>
                </a:moveTo>
                <a:lnTo>
                  <a:pt x="0" y="0"/>
                </a:lnTo>
                <a:lnTo>
                  <a:pt x="410" y="0"/>
                </a:lnTo>
                <a:lnTo>
                  <a:pt x="410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1" name="Freeform 15"/>
          <p:cNvSpPr>
            <a:spLocks/>
          </p:cNvSpPr>
          <p:nvPr/>
        </p:nvSpPr>
        <p:spPr bwMode="auto">
          <a:xfrm>
            <a:off x="6157626" y="3093302"/>
            <a:ext cx="1588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295 h 296"/>
              <a:gd name="T4" fmla="*/ 0 w 1"/>
              <a:gd name="T5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2" name="Freeform 16"/>
          <p:cNvSpPr>
            <a:spLocks/>
          </p:cNvSpPr>
          <p:nvPr/>
        </p:nvSpPr>
        <p:spPr bwMode="auto">
          <a:xfrm>
            <a:off x="6700551" y="3093302"/>
            <a:ext cx="654050" cy="469900"/>
          </a:xfrm>
          <a:custGeom>
            <a:avLst/>
            <a:gdLst>
              <a:gd name="T0" fmla="*/ 0 w 412"/>
              <a:gd name="T1" fmla="*/ 295 h 296"/>
              <a:gd name="T2" fmla="*/ 0 w 412"/>
              <a:gd name="T3" fmla="*/ 0 h 296"/>
              <a:gd name="T4" fmla="*/ 411 w 412"/>
              <a:gd name="T5" fmla="*/ 0 h 296"/>
              <a:gd name="T6" fmla="*/ 411 w 412"/>
              <a:gd name="T7" fmla="*/ 295 h 296"/>
              <a:gd name="T8" fmla="*/ 0 w 412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2" h="296">
                <a:moveTo>
                  <a:pt x="0" y="295"/>
                </a:moveTo>
                <a:lnTo>
                  <a:pt x="0" y="0"/>
                </a:lnTo>
                <a:lnTo>
                  <a:pt x="411" y="0"/>
                </a:lnTo>
                <a:lnTo>
                  <a:pt x="411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3" name="Freeform 17"/>
          <p:cNvSpPr>
            <a:spLocks/>
          </p:cNvSpPr>
          <p:nvPr/>
        </p:nvSpPr>
        <p:spPr bwMode="auto">
          <a:xfrm>
            <a:off x="6810089" y="3093302"/>
            <a:ext cx="1587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295 h 296"/>
              <a:gd name="T4" fmla="*/ 0 w 1"/>
              <a:gd name="T5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" name="Freeform 18"/>
          <p:cNvSpPr>
            <a:spLocks/>
          </p:cNvSpPr>
          <p:nvPr/>
        </p:nvSpPr>
        <p:spPr bwMode="auto">
          <a:xfrm>
            <a:off x="7353014" y="3093302"/>
            <a:ext cx="652462" cy="469900"/>
          </a:xfrm>
          <a:custGeom>
            <a:avLst/>
            <a:gdLst>
              <a:gd name="T0" fmla="*/ 0 w 411"/>
              <a:gd name="T1" fmla="*/ 295 h 296"/>
              <a:gd name="T2" fmla="*/ 0 w 411"/>
              <a:gd name="T3" fmla="*/ 0 h 296"/>
              <a:gd name="T4" fmla="*/ 410 w 411"/>
              <a:gd name="T5" fmla="*/ 0 h 296"/>
              <a:gd name="T6" fmla="*/ 410 w 411"/>
              <a:gd name="T7" fmla="*/ 295 h 296"/>
              <a:gd name="T8" fmla="*/ 0 w 411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1" h="296">
                <a:moveTo>
                  <a:pt x="0" y="295"/>
                </a:moveTo>
                <a:lnTo>
                  <a:pt x="0" y="0"/>
                </a:lnTo>
                <a:lnTo>
                  <a:pt x="410" y="0"/>
                </a:lnTo>
                <a:lnTo>
                  <a:pt x="410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" name="Freeform 19"/>
          <p:cNvSpPr>
            <a:spLocks/>
          </p:cNvSpPr>
          <p:nvPr/>
        </p:nvSpPr>
        <p:spPr bwMode="auto">
          <a:xfrm>
            <a:off x="7459376" y="3093302"/>
            <a:ext cx="1588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295 h 296"/>
              <a:gd name="T4" fmla="*/ 0 w 1"/>
              <a:gd name="T5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" name="Freeform 20"/>
          <p:cNvSpPr>
            <a:spLocks/>
          </p:cNvSpPr>
          <p:nvPr/>
        </p:nvSpPr>
        <p:spPr bwMode="auto">
          <a:xfrm>
            <a:off x="8003889" y="3093302"/>
            <a:ext cx="650875" cy="469900"/>
          </a:xfrm>
          <a:custGeom>
            <a:avLst/>
            <a:gdLst>
              <a:gd name="T0" fmla="*/ 0 w 410"/>
              <a:gd name="T1" fmla="*/ 295 h 296"/>
              <a:gd name="T2" fmla="*/ 0 w 410"/>
              <a:gd name="T3" fmla="*/ 0 h 296"/>
              <a:gd name="T4" fmla="*/ 409 w 410"/>
              <a:gd name="T5" fmla="*/ 0 h 296"/>
              <a:gd name="T6" fmla="*/ 409 w 410"/>
              <a:gd name="T7" fmla="*/ 295 h 296"/>
              <a:gd name="T8" fmla="*/ 0 w 410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0" h="296">
                <a:moveTo>
                  <a:pt x="0" y="295"/>
                </a:moveTo>
                <a:lnTo>
                  <a:pt x="0" y="0"/>
                </a:lnTo>
                <a:lnTo>
                  <a:pt x="409" y="0"/>
                </a:lnTo>
                <a:lnTo>
                  <a:pt x="409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7" name="Freeform 21"/>
          <p:cNvSpPr>
            <a:spLocks/>
          </p:cNvSpPr>
          <p:nvPr/>
        </p:nvSpPr>
        <p:spPr bwMode="auto">
          <a:xfrm>
            <a:off x="8111839" y="3093302"/>
            <a:ext cx="1587" cy="469900"/>
          </a:xfrm>
          <a:custGeom>
            <a:avLst/>
            <a:gdLst>
              <a:gd name="T0" fmla="*/ 0 w 1"/>
              <a:gd name="T1" fmla="*/ 0 h 296"/>
              <a:gd name="T2" fmla="*/ 0 w 1"/>
              <a:gd name="T3" fmla="*/ 295 h 296"/>
              <a:gd name="T4" fmla="*/ 0 w 1"/>
              <a:gd name="T5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6">
                <a:moveTo>
                  <a:pt x="0" y="0"/>
                </a:moveTo>
                <a:lnTo>
                  <a:pt x="0" y="29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8" name="Freeform 22"/>
          <p:cNvSpPr>
            <a:spLocks/>
          </p:cNvSpPr>
          <p:nvPr/>
        </p:nvSpPr>
        <p:spPr bwMode="auto">
          <a:xfrm>
            <a:off x="8653176" y="3093302"/>
            <a:ext cx="111125" cy="469900"/>
          </a:xfrm>
          <a:custGeom>
            <a:avLst/>
            <a:gdLst>
              <a:gd name="T0" fmla="*/ 0 w 70"/>
              <a:gd name="T1" fmla="*/ 295 h 296"/>
              <a:gd name="T2" fmla="*/ 0 w 70"/>
              <a:gd name="T3" fmla="*/ 0 h 296"/>
              <a:gd name="T4" fmla="*/ 69 w 70"/>
              <a:gd name="T5" fmla="*/ 0 h 296"/>
              <a:gd name="T6" fmla="*/ 69 w 70"/>
              <a:gd name="T7" fmla="*/ 295 h 296"/>
              <a:gd name="T8" fmla="*/ 0 w 70"/>
              <a:gd name="T9" fmla="*/ 295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" h="296">
                <a:moveTo>
                  <a:pt x="0" y="295"/>
                </a:moveTo>
                <a:lnTo>
                  <a:pt x="0" y="0"/>
                </a:lnTo>
                <a:lnTo>
                  <a:pt x="69" y="0"/>
                </a:lnTo>
                <a:lnTo>
                  <a:pt x="69" y="295"/>
                </a:lnTo>
                <a:lnTo>
                  <a:pt x="0" y="29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9" name="Freeform 23"/>
          <p:cNvSpPr>
            <a:spLocks/>
          </p:cNvSpPr>
          <p:nvPr/>
        </p:nvSpPr>
        <p:spPr bwMode="auto">
          <a:xfrm>
            <a:off x="5494051" y="3491765"/>
            <a:ext cx="598488" cy="576262"/>
          </a:xfrm>
          <a:custGeom>
            <a:avLst/>
            <a:gdLst>
              <a:gd name="T0" fmla="*/ 376 w 377"/>
              <a:gd name="T1" fmla="*/ 0 h 363"/>
              <a:gd name="T2" fmla="*/ 0 w 377"/>
              <a:gd name="T3" fmla="*/ 362 h 363"/>
              <a:gd name="T4" fmla="*/ 376 w 377"/>
              <a:gd name="T5" fmla="*/ 0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7" h="363">
                <a:moveTo>
                  <a:pt x="376" y="0"/>
                </a:moveTo>
                <a:lnTo>
                  <a:pt x="0" y="362"/>
                </a:lnTo>
                <a:lnTo>
                  <a:pt x="376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0" name="Freeform 24"/>
          <p:cNvSpPr>
            <a:spLocks/>
          </p:cNvSpPr>
          <p:nvPr/>
        </p:nvSpPr>
        <p:spPr bwMode="auto">
          <a:xfrm>
            <a:off x="5494051" y="3960077"/>
            <a:ext cx="115888" cy="107950"/>
          </a:xfrm>
          <a:custGeom>
            <a:avLst/>
            <a:gdLst>
              <a:gd name="T0" fmla="*/ 72 w 73"/>
              <a:gd name="T1" fmla="*/ 24 h 68"/>
              <a:gd name="T2" fmla="*/ 0 w 73"/>
              <a:gd name="T3" fmla="*/ 67 h 68"/>
              <a:gd name="T4" fmla="*/ 41 w 73"/>
              <a:gd name="T5" fmla="*/ 0 h 68"/>
              <a:gd name="T6" fmla="*/ 72 w 73"/>
              <a:gd name="T7" fmla="*/ 24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3" h="68">
                <a:moveTo>
                  <a:pt x="72" y="24"/>
                </a:moveTo>
                <a:lnTo>
                  <a:pt x="0" y="67"/>
                </a:lnTo>
                <a:lnTo>
                  <a:pt x="41" y="0"/>
                </a:lnTo>
                <a:lnTo>
                  <a:pt x="72" y="2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1" name="Freeform 25"/>
          <p:cNvSpPr>
            <a:spLocks/>
          </p:cNvSpPr>
          <p:nvPr/>
        </p:nvSpPr>
        <p:spPr bwMode="auto">
          <a:xfrm>
            <a:off x="6740239" y="3491765"/>
            <a:ext cx="614362" cy="552450"/>
          </a:xfrm>
          <a:custGeom>
            <a:avLst/>
            <a:gdLst>
              <a:gd name="T0" fmla="*/ 0 w 387"/>
              <a:gd name="T1" fmla="*/ 0 h 348"/>
              <a:gd name="T2" fmla="*/ 386 w 387"/>
              <a:gd name="T3" fmla="*/ 347 h 348"/>
              <a:gd name="T4" fmla="*/ 0 w 387"/>
              <a:gd name="T5" fmla="*/ 0 h 3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7" h="348">
                <a:moveTo>
                  <a:pt x="0" y="0"/>
                </a:moveTo>
                <a:lnTo>
                  <a:pt x="386" y="34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2" name="Freeform 26"/>
          <p:cNvSpPr>
            <a:spLocks/>
          </p:cNvSpPr>
          <p:nvPr/>
        </p:nvSpPr>
        <p:spPr bwMode="auto">
          <a:xfrm>
            <a:off x="7233951" y="3937852"/>
            <a:ext cx="120650" cy="106363"/>
          </a:xfrm>
          <a:custGeom>
            <a:avLst/>
            <a:gdLst>
              <a:gd name="T0" fmla="*/ 31 w 76"/>
              <a:gd name="T1" fmla="*/ 0 h 67"/>
              <a:gd name="T2" fmla="*/ 75 w 76"/>
              <a:gd name="T3" fmla="*/ 66 h 67"/>
              <a:gd name="T4" fmla="*/ 0 w 76"/>
              <a:gd name="T5" fmla="*/ 25 h 67"/>
              <a:gd name="T6" fmla="*/ 31 w 76"/>
              <a:gd name="T7" fmla="*/ 0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" h="67">
                <a:moveTo>
                  <a:pt x="31" y="0"/>
                </a:moveTo>
                <a:lnTo>
                  <a:pt x="75" y="66"/>
                </a:lnTo>
                <a:lnTo>
                  <a:pt x="0" y="25"/>
                </a:lnTo>
                <a:lnTo>
                  <a:pt x="31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4" name="Freeform 28"/>
          <p:cNvSpPr>
            <a:spLocks/>
          </p:cNvSpPr>
          <p:nvPr/>
        </p:nvSpPr>
        <p:spPr bwMode="auto">
          <a:xfrm>
            <a:off x="5982031" y="3177870"/>
            <a:ext cx="141288" cy="68263"/>
          </a:xfrm>
          <a:custGeom>
            <a:avLst/>
            <a:gdLst>
              <a:gd name="T0" fmla="*/ 14 w 89"/>
              <a:gd name="T1" fmla="*/ 0 h 43"/>
              <a:gd name="T2" fmla="*/ 88 w 89"/>
              <a:gd name="T3" fmla="*/ 42 h 43"/>
              <a:gd name="T4" fmla="*/ 0 w 89"/>
              <a:gd name="T5" fmla="*/ 34 h 43"/>
              <a:gd name="T6" fmla="*/ 14 w 89"/>
              <a:gd name="T7" fmla="*/ 0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9" h="43">
                <a:moveTo>
                  <a:pt x="14" y="0"/>
                </a:moveTo>
                <a:lnTo>
                  <a:pt x="88" y="42"/>
                </a:lnTo>
                <a:lnTo>
                  <a:pt x="0" y="34"/>
                </a:lnTo>
                <a:lnTo>
                  <a:pt x="14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" name="Rectangle 29"/>
          <p:cNvSpPr>
            <a:spLocks noChangeArrowheads="1"/>
          </p:cNvSpPr>
          <p:nvPr/>
        </p:nvSpPr>
        <p:spPr bwMode="auto">
          <a:xfrm>
            <a:off x="6243351" y="3217127"/>
            <a:ext cx="3651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30</a:t>
            </a:r>
          </a:p>
        </p:txBody>
      </p:sp>
      <p:sp>
        <p:nvSpPr>
          <p:cNvPr id="216" name="Rectangle 30"/>
          <p:cNvSpPr>
            <a:spLocks noChangeArrowheads="1"/>
          </p:cNvSpPr>
          <p:nvPr/>
        </p:nvSpPr>
        <p:spPr bwMode="auto">
          <a:xfrm>
            <a:off x="4628864" y="416645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22*</a:t>
            </a:r>
          </a:p>
        </p:txBody>
      </p:sp>
      <p:sp>
        <p:nvSpPr>
          <p:cNvPr id="217" name="Rectangle 31"/>
          <p:cNvSpPr>
            <a:spLocks noChangeArrowheads="1"/>
          </p:cNvSpPr>
          <p:nvPr/>
        </p:nvSpPr>
        <p:spPr bwMode="auto">
          <a:xfrm>
            <a:off x="5063839" y="416645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27*</a:t>
            </a:r>
          </a:p>
        </p:txBody>
      </p:sp>
      <p:sp>
        <p:nvSpPr>
          <p:cNvPr id="218" name="Rectangle 32"/>
          <p:cNvSpPr>
            <a:spLocks noChangeArrowheads="1"/>
          </p:cNvSpPr>
          <p:nvPr/>
        </p:nvSpPr>
        <p:spPr bwMode="auto">
          <a:xfrm>
            <a:off x="5482939" y="4177565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29*</a:t>
            </a:r>
          </a:p>
        </p:txBody>
      </p:sp>
      <p:sp>
        <p:nvSpPr>
          <p:cNvPr id="219" name="Rectangle 33"/>
          <p:cNvSpPr>
            <a:spLocks noChangeArrowheads="1"/>
          </p:cNvSpPr>
          <p:nvPr/>
        </p:nvSpPr>
        <p:spPr bwMode="auto">
          <a:xfrm>
            <a:off x="6514814" y="4177565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33*</a:t>
            </a:r>
          </a:p>
        </p:txBody>
      </p:sp>
      <p:sp>
        <p:nvSpPr>
          <p:cNvPr id="220" name="Rectangle 34"/>
          <p:cNvSpPr>
            <a:spLocks noChangeArrowheads="1"/>
          </p:cNvSpPr>
          <p:nvPr/>
        </p:nvSpPr>
        <p:spPr bwMode="auto">
          <a:xfrm>
            <a:off x="6949789" y="4177565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34*</a:t>
            </a:r>
          </a:p>
        </p:txBody>
      </p:sp>
      <p:sp>
        <p:nvSpPr>
          <p:cNvPr id="221" name="Rectangle 35"/>
          <p:cNvSpPr>
            <a:spLocks noChangeArrowheads="1"/>
          </p:cNvSpPr>
          <p:nvPr/>
        </p:nvSpPr>
        <p:spPr bwMode="auto">
          <a:xfrm>
            <a:off x="7368889" y="416645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38*</a:t>
            </a:r>
          </a:p>
        </p:txBody>
      </p:sp>
      <p:sp>
        <p:nvSpPr>
          <p:cNvPr id="222" name="Rectangle 36"/>
          <p:cNvSpPr>
            <a:spLocks noChangeArrowheads="1"/>
          </p:cNvSpPr>
          <p:nvPr/>
        </p:nvSpPr>
        <p:spPr bwMode="auto">
          <a:xfrm>
            <a:off x="7803864" y="4155340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39*</a:t>
            </a:r>
          </a:p>
        </p:txBody>
      </p:sp>
      <p:sp>
        <p:nvSpPr>
          <p:cNvPr id="224" name="Arc 38"/>
          <p:cNvSpPr>
            <a:spLocks/>
          </p:cNvSpPr>
          <p:nvPr/>
        </p:nvSpPr>
        <p:spPr bwMode="auto">
          <a:xfrm rot="18420000">
            <a:off x="6214776" y="3863240"/>
            <a:ext cx="304800" cy="381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" name="Oval 89"/>
          <p:cNvSpPr/>
          <p:nvPr/>
        </p:nvSpPr>
        <p:spPr>
          <a:xfrm>
            <a:off x="5599495" y="3067547"/>
            <a:ext cx="1757750" cy="542131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>
            <a:off x="1133088" y="3179688"/>
            <a:ext cx="1757750" cy="542131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reeform 59"/>
          <p:cNvSpPr>
            <a:spLocks/>
          </p:cNvSpPr>
          <p:nvPr/>
        </p:nvSpPr>
        <p:spPr bwMode="auto">
          <a:xfrm>
            <a:off x="3314701" y="5183188"/>
            <a:ext cx="573087" cy="474662"/>
          </a:xfrm>
          <a:custGeom>
            <a:avLst/>
            <a:gdLst>
              <a:gd name="T0" fmla="*/ 0 w 361"/>
              <a:gd name="T1" fmla="*/ 298 h 299"/>
              <a:gd name="T2" fmla="*/ 0 w 361"/>
              <a:gd name="T3" fmla="*/ 0 h 299"/>
              <a:gd name="T4" fmla="*/ 360 w 361"/>
              <a:gd name="T5" fmla="*/ 0 h 299"/>
              <a:gd name="T6" fmla="*/ 360 w 361"/>
              <a:gd name="T7" fmla="*/ 298 h 299"/>
              <a:gd name="T8" fmla="*/ 0 w 361"/>
              <a:gd name="T9" fmla="*/ 298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1" h="299">
                <a:moveTo>
                  <a:pt x="0" y="298"/>
                </a:moveTo>
                <a:lnTo>
                  <a:pt x="0" y="0"/>
                </a:lnTo>
                <a:lnTo>
                  <a:pt x="360" y="0"/>
                </a:lnTo>
                <a:lnTo>
                  <a:pt x="360" y="298"/>
                </a:lnTo>
                <a:lnTo>
                  <a:pt x="0" y="29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" name="Freeform 60"/>
          <p:cNvSpPr>
            <a:spLocks/>
          </p:cNvSpPr>
          <p:nvPr/>
        </p:nvSpPr>
        <p:spPr bwMode="auto">
          <a:xfrm>
            <a:off x="3409951" y="5183188"/>
            <a:ext cx="1587" cy="474662"/>
          </a:xfrm>
          <a:custGeom>
            <a:avLst/>
            <a:gdLst>
              <a:gd name="T0" fmla="*/ 0 w 1"/>
              <a:gd name="T1" fmla="*/ 0 h 299"/>
              <a:gd name="T2" fmla="*/ 0 w 1"/>
              <a:gd name="T3" fmla="*/ 298 h 299"/>
              <a:gd name="T4" fmla="*/ 0 w 1"/>
              <a:gd name="T5" fmla="*/ 0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9">
                <a:moveTo>
                  <a:pt x="0" y="0"/>
                </a:moveTo>
                <a:lnTo>
                  <a:pt x="0" y="29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" name="Freeform 61"/>
          <p:cNvSpPr>
            <a:spLocks/>
          </p:cNvSpPr>
          <p:nvPr/>
        </p:nvSpPr>
        <p:spPr bwMode="auto">
          <a:xfrm>
            <a:off x="3886201" y="5183188"/>
            <a:ext cx="574675" cy="474662"/>
          </a:xfrm>
          <a:custGeom>
            <a:avLst/>
            <a:gdLst>
              <a:gd name="T0" fmla="*/ 0 w 362"/>
              <a:gd name="T1" fmla="*/ 298 h 299"/>
              <a:gd name="T2" fmla="*/ 0 w 362"/>
              <a:gd name="T3" fmla="*/ 0 h 299"/>
              <a:gd name="T4" fmla="*/ 361 w 362"/>
              <a:gd name="T5" fmla="*/ 0 h 299"/>
              <a:gd name="T6" fmla="*/ 361 w 362"/>
              <a:gd name="T7" fmla="*/ 298 h 299"/>
              <a:gd name="T8" fmla="*/ 0 w 362"/>
              <a:gd name="T9" fmla="*/ 298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2" h="299">
                <a:moveTo>
                  <a:pt x="0" y="298"/>
                </a:moveTo>
                <a:lnTo>
                  <a:pt x="0" y="0"/>
                </a:lnTo>
                <a:lnTo>
                  <a:pt x="361" y="0"/>
                </a:lnTo>
                <a:lnTo>
                  <a:pt x="361" y="298"/>
                </a:lnTo>
                <a:lnTo>
                  <a:pt x="0" y="29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" name="Freeform 62"/>
          <p:cNvSpPr>
            <a:spLocks/>
          </p:cNvSpPr>
          <p:nvPr/>
        </p:nvSpPr>
        <p:spPr bwMode="auto">
          <a:xfrm>
            <a:off x="3983038" y="5183188"/>
            <a:ext cx="1588" cy="474662"/>
          </a:xfrm>
          <a:custGeom>
            <a:avLst/>
            <a:gdLst>
              <a:gd name="T0" fmla="*/ 0 w 1"/>
              <a:gd name="T1" fmla="*/ 0 h 299"/>
              <a:gd name="T2" fmla="*/ 0 w 1"/>
              <a:gd name="T3" fmla="*/ 298 h 299"/>
              <a:gd name="T4" fmla="*/ 0 w 1"/>
              <a:gd name="T5" fmla="*/ 0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9">
                <a:moveTo>
                  <a:pt x="0" y="0"/>
                </a:moveTo>
                <a:lnTo>
                  <a:pt x="0" y="29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" name="Freeform 63"/>
          <p:cNvSpPr>
            <a:spLocks/>
          </p:cNvSpPr>
          <p:nvPr/>
        </p:nvSpPr>
        <p:spPr bwMode="auto">
          <a:xfrm>
            <a:off x="4459288" y="5183188"/>
            <a:ext cx="573088" cy="474662"/>
          </a:xfrm>
          <a:custGeom>
            <a:avLst/>
            <a:gdLst>
              <a:gd name="T0" fmla="*/ 0 w 361"/>
              <a:gd name="T1" fmla="*/ 298 h 299"/>
              <a:gd name="T2" fmla="*/ 0 w 361"/>
              <a:gd name="T3" fmla="*/ 0 h 299"/>
              <a:gd name="T4" fmla="*/ 360 w 361"/>
              <a:gd name="T5" fmla="*/ 0 h 299"/>
              <a:gd name="T6" fmla="*/ 360 w 361"/>
              <a:gd name="T7" fmla="*/ 298 h 299"/>
              <a:gd name="T8" fmla="*/ 0 w 361"/>
              <a:gd name="T9" fmla="*/ 298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1" h="299">
                <a:moveTo>
                  <a:pt x="0" y="298"/>
                </a:moveTo>
                <a:lnTo>
                  <a:pt x="0" y="0"/>
                </a:lnTo>
                <a:lnTo>
                  <a:pt x="360" y="0"/>
                </a:lnTo>
                <a:lnTo>
                  <a:pt x="360" y="298"/>
                </a:lnTo>
                <a:lnTo>
                  <a:pt x="0" y="29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Freeform 64"/>
          <p:cNvSpPr>
            <a:spLocks/>
          </p:cNvSpPr>
          <p:nvPr/>
        </p:nvSpPr>
        <p:spPr bwMode="auto">
          <a:xfrm>
            <a:off x="4554538" y="5183188"/>
            <a:ext cx="1588" cy="474662"/>
          </a:xfrm>
          <a:custGeom>
            <a:avLst/>
            <a:gdLst>
              <a:gd name="T0" fmla="*/ 0 w 1"/>
              <a:gd name="T1" fmla="*/ 0 h 299"/>
              <a:gd name="T2" fmla="*/ 0 w 1"/>
              <a:gd name="T3" fmla="*/ 298 h 299"/>
              <a:gd name="T4" fmla="*/ 0 w 1"/>
              <a:gd name="T5" fmla="*/ 0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9">
                <a:moveTo>
                  <a:pt x="0" y="0"/>
                </a:moveTo>
                <a:lnTo>
                  <a:pt x="0" y="29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Freeform 65"/>
          <p:cNvSpPr>
            <a:spLocks/>
          </p:cNvSpPr>
          <p:nvPr/>
        </p:nvSpPr>
        <p:spPr bwMode="auto">
          <a:xfrm>
            <a:off x="5030788" y="5183188"/>
            <a:ext cx="574675" cy="474662"/>
          </a:xfrm>
          <a:custGeom>
            <a:avLst/>
            <a:gdLst>
              <a:gd name="T0" fmla="*/ 0 w 362"/>
              <a:gd name="T1" fmla="*/ 298 h 299"/>
              <a:gd name="T2" fmla="*/ 0 w 362"/>
              <a:gd name="T3" fmla="*/ 0 h 299"/>
              <a:gd name="T4" fmla="*/ 361 w 362"/>
              <a:gd name="T5" fmla="*/ 0 h 299"/>
              <a:gd name="T6" fmla="*/ 361 w 362"/>
              <a:gd name="T7" fmla="*/ 298 h 299"/>
              <a:gd name="T8" fmla="*/ 0 w 362"/>
              <a:gd name="T9" fmla="*/ 298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2" h="299">
                <a:moveTo>
                  <a:pt x="0" y="298"/>
                </a:moveTo>
                <a:lnTo>
                  <a:pt x="0" y="0"/>
                </a:lnTo>
                <a:lnTo>
                  <a:pt x="361" y="0"/>
                </a:lnTo>
                <a:lnTo>
                  <a:pt x="361" y="298"/>
                </a:lnTo>
                <a:lnTo>
                  <a:pt x="0" y="29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" name="Freeform 66"/>
          <p:cNvSpPr>
            <a:spLocks/>
          </p:cNvSpPr>
          <p:nvPr/>
        </p:nvSpPr>
        <p:spPr bwMode="auto">
          <a:xfrm>
            <a:off x="5127626" y="5183188"/>
            <a:ext cx="1587" cy="474662"/>
          </a:xfrm>
          <a:custGeom>
            <a:avLst/>
            <a:gdLst>
              <a:gd name="T0" fmla="*/ 0 w 1"/>
              <a:gd name="T1" fmla="*/ 0 h 299"/>
              <a:gd name="T2" fmla="*/ 0 w 1"/>
              <a:gd name="T3" fmla="*/ 298 h 299"/>
              <a:gd name="T4" fmla="*/ 0 w 1"/>
              <a:gd name="T5" fmla="*/ 0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9">
                <a:moveTo>
                  <a:pt x="0" y="0"/>
                </a:moveTo>
                <a:lnTo>
                  <a:pt x="0" y="29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Freeform 67"/>
          <p:cNvSpPr>
            <a:spLocks/>
          </p:cNvSpPr>
          <p:nvPr/>
        </p:nvSpPr>
        <p:spPr bwMode="auto">
          <a:xfrm>
            <a:off x="5603876" y="5183188"/>
            <a:ext cx="98425" cy="474662"/>
          </a:xfrm>
          <a:custGeom>
            <a:avLst/>
            <a:gdLst>
              <a:gd name="T0" fmla="*/ 0 w 62"/>
              <a:gd name="T1" fmla="*/ 298 h 299"/>
              <a:gd name="T2" fmla="*/ 0 w 62"/>
              <a:gd name="T3" fmla="*/ 0 h 299"/>
              <a:gd name="T4" fmla="*/ 61 w 62"/>
              <a:gd name="T5" fmla="*/ 0 h 299"/>
              <a:gd name="T6" fmla="*/ 61 w 62"/>
              <a:gd name="T7" fmla="*/ 298 h 299"/>
              <a:gd name="T8" fmla="*/ 0 w 62"/>
              <a:gd name="T9" fmla="*/ 298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" h="299">
                <a:moveTo>
                  <a:pt x="0" y="298"/>
                </a:moveTo>
                <a:lnTo>
                  <a:pt x="0" y="0"/>
                </a:lnTo>
                <a:lnTo>
                  <a:pt x="61" y="0"/>
                </a:lnTo>
                <a:lnTo>
                  <a:pt x="61" y="298"/>
                </a:lnTo>
                <a:lnTo>
                  <a:pt x="0" y="29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" name="Rectangle 92"/>
          <p:cNvSpPr>
            <a:spLocks noChangeArrowheads="1"/>
          </p:cNvSpPr>
          <p:nvPr/>
        </p:nvSpPr>
        <p:spPr bwMode="auto">
          <a:xfrm>
            <a:off x="2317751" y="5024438"/>
            <a:ext cx="5857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125" name="Rectangle 94"/>
          <p:cNvSpPr>
            <a:spLocks noChangeArrowheads="1"/>
          </p:cNvSpPr>
          <p:nvPr/>
        </p:nvSpPr>
        <p:spPr bwMode="auto">
          <a:xfrm>
            <a:off x="4035426" y="5249863"/>
            <a:ext cx="3651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13</a:t>
            </a:r>
          </a:p>
        </p:txBody>
      </p:sp>
      <p:sp>
        <p:nvSpPr>
          <p:cNvPr id="126" name="Rectangle 95"/>
          <p:cNvSpPr>
            <a:spLocks noChangeArrowheads="1"/>
          </p:cNvSpPr>
          <p:nvPr/>
        </p:nvSpPr>
        <p:spPr bwMode="auto">
          <a:xfrm>
            <a:off x="3486151" y="5249863"/>
            <a:ext cx="27305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128" name="Line 97"/>
          <p:cNvSpPr>
            <a:spLocks noChangeShapeType="1"/>
          </p:cNvSpPr>
          <p:nvPr/>
        </p:nvSpPr>
        <p:spPr bwMode="auto">
          <a:xfrm>
            <a:off x="2598738" y="4876800"/>
            <a:ext cx="6858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30" name="Straight Arrow Connector 129"/>
          <p:cNvCxnSpPr>
            <a:endCxn id="96" idx="2"/>
          </p:cNvCxnSpPr>
          <p:nvPr/>
        </p:nvCxnSpPr>
        <p:spPr>
          <a:xfrm>
            <a:off x="2349500" y="3721819"/>
            <a:ext cx="2109789" cy="1461369"/>
          </a:xfrm>
          <a:prstGeom prst="straightConnector1">
            <a:avLst/>
          </a:prstGeom>
          <a:ln w="1270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/>
          <p:cNvCxnSpPr>
            <a:endCxn id="96" idx="2"/>
          </p:cNvCxnSpPr>
          <p:nvPr/>
        </p:nvCxnSpPr>
        <p:spPr>
          <a:xfrm flipH="1">
            <a:off x="4459289" y="3609678"/>
            <a:ext cx="1966625" cy="1573510"/>
          </a:xfrm>
          <a:prstGeom prst="straightConnector1">
            <a:avLst/>
          </a:prstGeom>
          <a:ln w="1270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63919" y="4938538"/>
            <a:ext cx="1960881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“Pull down” 17!</a:t>
            </a:r>
            <a:endParaRPr lang="en-US" sz="2000" dirty="0"/>
          </a:p>
        </p:txBody>
      </p:sp>
      <p:sp>
        <p:nvSpPr>
          <p:cNvPr id="142" name="Freeform 53"/>
          <p:cNvSpPr>
            <a:spLocks/>
          </p:cNvSpPr>
          <p:nvPr/>
        </p:nvSpPr>
        <p:spPr bwMode="auto">
          <a:xfrm>
            <a:off x="2919917" y="5624883"/>
            <a:ext cx="446088" cy="496888"/>
          </a:xfrm>
          <a:custGeom>
            <a:avLst/>
            <a:gdLst>
              <a:gd name="T0" fmla="*/ 444500 w 281"/>
              <a:gd name="T1" fmla="*/ 0 h 313"/>
              <a:gd name="T2" fmla="*/ 0 w 281"/>
              <a:gd name="T3" fmla="*/ 495300 h 313"/>
              <a:gd name="T4" fmla="*/ 444500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" name="Freeform 55"/>
          <p:cNvSpPr>
            <a:spLocks/>
          </p:cNvSpPr>
          <p:nvPr/>
        </p:nvSpPr>
        <p:spPr bwMode="auto">
          <a:xfrm>
            <a:off x="3915400" y="5615358"/>
            <a:ext cx="449262" cy="506413"/>
          </a:xfrm>
          <a:custGeom>
            <a:avLst/>
            <a:gdLst>
              <a:gd name="T0" fmla="*/ 0 w 283"/>
              <a:gd name="T1" fmla="*/ 0 h 319"/>
              <a:gd name="T2" fmla="*/ 447675 w 283"/>
              <a:gd name="T3" fmla="*/ 504825 h 319"/>
              <a:gd name="T4" fmla="*/ 0 w 283"/>
              <a:gd name="T5" fmla="*/ 0 h 319"/>
              <a:gd name="T6" fmla="*/ 0 60000 65536"/>
              <a:gd name="T7" fmla="*/ 0 60000 65536"/>
              <a:gd name="T8" fmla="*/ 0 60000 65536"/>
              <a:gd name="T9" fmla="*/ 0 w 283"/>
              <a:gd name="T10" fmla="*/ 0 h 319"/>
              <a:gd name="T11" fmla="*/ 283 w 283"/>
              <a:gd name="T12" fmla="*/ 319 h 31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3" h="319">
                <a:moveTo>
                  <a:pt x="0" y="0"/>
                </a:moveTo>
                <a:lnTo>
                  <a:pt x="282" y="318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" name="Freeform 57"/>
          <p:cNvSpPr>
            <a:spLocks/>
          </p:cNvSpPr>
          <p:nvPr/>
        </p:nvSpPr>
        <p:spPr bwMode="auto">
          <a:xfrm>
            <a:off x="4495178" y="5615358"/>
            <a:ext cx="1330325" cy="517525"/>
          </a:xfrm>
          <a:custGeom>
            <a:avLst/>
            <a:gdLst>
              <a:gd name="T0" fmla="*/ 0 w 838"/>
              <a:gd name="T1" fmla="*/ 0 h 326"/>
              <a:gd name="T2" fmla="*/ 1328738 w 838"/>
              <a:gd name="T3" fmla="*/ 515938 h 326"/>
              <a:gd name="T4" fmla="*/ 0 w 838"/>
              <a:gd name="T5" fmla="*/ 0 h 326"/>
              <a:gd name="T6" fmla="*/ 0 60000 65536"/>
              <a:gd name="T7" fmla="*/ 0 60000 65536"/>
              <a:gd name="T8" fmla="*/ 0 60000 65536"/>
              <a:gd name="T9" fmla="*/ 0 w 838"/>
              <a:gd name="T10" fmla="*/ 0 h 326"/>
              <a:gd name="T11" fmla="*/ 838 w 838"/>
              <a:gd name="T12" fmla="*/ 326 h 3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38" h="326">
                <a:moveTo>
                  <a:pt x="0" y="0"/>
                </a:moveTo>
                <a:lnTo>
                  <a:pt x="837" y="325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5" name="Freeform 54"/>
          <p:cNvSpPr>
            <a:spLocks/>
          </p:cNvSpPr>
          <p:nvPr/>
        </p:nvSpPr>
        <p:spPr bwMode="auto">
          <a:xfrm>
            <a:off x="2871787" y="6080495"/>
            <a:ext cx="87313" cy="93663"/>
          </a:xfrm>
          <a:custGeom>
            <a:avLst/>
            <a:gdLst>
              <a:gd name="T0" fmla="*/ 85725 w 55"/>
              <a:gd name="T1" fmla="*/ 33338 h 59"/>
              <a:gd name="T2" fmla="*/ 0 w 55"/>
              <a:gd name="T3" fmla="*/ 92075 h 59"/>
              <a:gd name="T4" fmla="*/ 47625 w 55"/>
              <a:gd name="T5" fmla="*/ 0 h 59"/>
              <a:gd name="T6" fmla="*/ 85725 w 55"/>
              <a:gd name="T7" fmla="*/ 33338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6" name="Freeform 56"/>
          <p:cNvSpPr>
            <a:spLocks/>
          </p:cNvSpPr>
          <p:nvPr/>
        </p:nvSpPr>
        <p:spPr bwMode="auto">
          <a:xfrm>
            <a:off x="4342215" y="6083848"/>
            <a:ext cx="88900" cy="92075"/>
          </a:xfrm>
          <a:custGeom>
            <a:avLst/>
            <a:gdLst>
              <a:gd name="T0" fmla="*/ 38100 w 56"/>
              <a:gd name="T1" fmla="*/ 0 h 58"/>
              <a:gd name="T2" fmla="*/ 87313 w 56"/>
              <a:gd name="T3" fmla="*/ 90488 h 58"/>
              <a:gd name="T4" fmla="*/ 0 w 56"/>
              <a:gd name="T5" fmla="*/ 33338 h 58"/>
              <a:gd name="T6" fmla="*/ 38100 w 56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6"/>
              <a:gd name="T13" fmla="*/ 0 h 58"/>
              <a:gd name="T14" fmla="*/ 56 w 56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" h="58">
                <a:moveTo>
                  <a:pt x="24" y="0"/>
                </a:moveTo>
                <a:lnTo>
                  <a:pt x="55" y="57"/>
                </a:lnTo>
                <a:lnTo>
                  <a:pt x="0" y="21"/>
                </a:lnTo>
                <a:lnTo>
                  <a:pt x="24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7" name="Freeform 58"/>
          <p:cNvSpPr>
            <a:spLocks/>
          </p:cNvSpPr>
          <p:nvPr/>
        </p:nvSpPr>
        <p:spPr bwMode="auto">
          <a:xfrm>
            <a:off x="5793295" y="6101021"/>
            <a:ext cx="104775" cy="61912"/>
          </a:xfrm>
          <a:custGeom>
            <a:avLst/>
            <a:gdLst>
              <a:gd name="T0" fmla="*/ 17463 w 66"/>
              <a:gd name="T1" fmla="*/ 0 h 39"/>
              <a:gd name="T2" fmla="*/ 103188 w 66"/>
              <a:gd name="T3" fmla="*/ 60325 h 39"/>
              <a:gd name="T4" fmla="*/ 0 w 66"/>
              <a:gd name="T5" fmla="*/ 47625 h 39"/>
              <a:gd name="T6" fmla="*/ 17463 w 66"/>
              <a:gd name="T7" fmla="*/ 0 h 39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39"/>
              <a:gd name="T14" fmla="*/ 66 w 66"/>
              <a:gd name="T15" fmla="*/ 39 h 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39">
                <a:moveTo>
                  <a:pt x="11" y="0"/>
                </a:moveTo>
                <a:lnTo>
                  <a:pt x="65" y="38"/>
                </a:lnTo>
                <a:lnTo>
                  <a:pt x="0" y="30"/>
                </a:lnTo>
                <a:lnTo>
                  <a:pt x="11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8" name="Rectangle 93"/>
          <p:cNvSpPr>
            <a:spLocks noChangeArrowheads="1"/>
          </p:cNvSpPr>
          <p:nvPr/>
        </p:nvSpPr>
        <p:spPr bwMode="auto">
          <a:xfrm>
            <a:off x="5240338" y="5257800"/>
            <a:ext cx="3651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 dirty="0">
                <a:solidFill>
                  <a:srgbClr val="000000"/>
                </a:solidFill>
                <a:latin typeface="Arial" pitchFamily="34" charset="0"/>
              </a:rPr>
              <a:t>30</a:t>
            </a:r>
          </a:p>
        </p:txBody>
      </p:sp>
      <p:sp>
        <p:nvSpPr>
          <p:cNvPr id="124" name="Freeform 23"/>
          <p:cNvSpPr>
            <a:spLocks/>
          </p:cNvSpPr>
          <p:nvPr/>
        </p:nvSpPr>
        <p:spPr bwMode="auto">
          <a:xfrm>
            <a:off x="4492625" y="5624883"/>
            <a:ext cx="598488" cy="576262"/>
          </a:xfrm>
          <a:custGeom>
            <a:avLst/>
            <a:gdLst>
              <a:gd name="T0" fmla="*/ 376 w 377"/>
              <a:gd name="T1" fmla="*/ 0 h 363"/>
              <a:gd name="T2" fmla="*/ 0 w 377"/>
              <a:gd name="T3" fmla="*/ 362 h 363"/>
              <a:gd name="T4" fmla="*/ 376 w 377"/>
              <a:gd name="T5" fmla="*/ 0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7" h="363">
                <a:moveTo>
                  <a:pt x="376" y="0"/>
                </a:moveTo>
                <a:lnTo>
                  <a:pt x="0" y="362"/>
                </a:lnTo>
                <a:lnTo>
                  <a:pt x="376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7" name="Freeform 24"/>
          <p:cNvSpPr>
            <a:spLocks/>
          </p:cNvSpPr>
          <p:nvPr/>
        </p:nvSpPr>
        <p:spPr bwMode="auto">
          <a:xfrm>
            <a:off x="4492625" y="6093195"/>
            <a:ext cx="115888" cy="107950"/>
          </a:xfrm>
          <a:custGeom>
            <a:avLst/>
            <a:gdLst>
              <a:gd name="T0" fmla="*/ 72 w 73"/>
              <a:gd name="T1" fmla="*/ 24 h 68"/>
              <a:gd name="T2" fmla="*/ 0 w 73"/>
              <a:gd name="T3" fmla="*/ 67 h 68"/>
              <a:gd name="T4" fmla="*/ 41 w 73"/>
              <a:gd name="T5" fmla="*/ 0 h 68"/>
              <a:gd name="T6" fmla="*/ 72 w 73"/>
              <a:gd name="T7" fmla="*/ 24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3" h="68">
                <a:moveTo>
                  <a:pt x="72" y="24"/>
                </a:moveTo>
                <a:lnTo>
                  <a:pt x="0" y="67"/>
                </a:lnTo>
                <a:lnTo>
                  <a:pt x="41" y="0"/>
                </a:lnTo>
                <a:lnTo>
                  <a:pt x="72" y="2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" name="Freeform 25"/>
          <p:cNvSpPr>
            <a:spLocks/>
          </p:cNvSpPr>
          <p:nvPr/>
        </p:nvSpPr>
        <p:spPr bwMode="auto">
          <a:xfrm>
            <a:off x="5656738" y="5615358"/>
            <a:ext cx="614362" cy="552450"/>
          </a:xfrm>
          <a:custGeom>
            <a:avLst/>
            <a:gdLst>
              <a:gd name="T0" fmla="*/ 0 w 387"/>
              <a:gd name="T1" fmla="*/ 0 h 348"/>
              <a:gd name="T2" fmla="*/ 386 w 387"/>
              <a:gd name="T3" fmla="*/ 347 h 348"/>
              <a:gd name="T4" fmla="*/ 0 w 387"/>
              <a:gd name="T5" fmla="*/ 0 h 3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7" h="348">
                <a:moveTo>
                  <a:pt x="0" y="0"/>
                </a:moveTo>
                <a:lnTo>
                  <a:pt x="386" y="34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1" name="Freeform 26"/>
          <p:cNvSpPr>
            <a:spLocks/>
          </p:cNvSpPr>
          <p:nvPr/>
        </p:nvSpPr>
        <p:spPr bwMode="auto">
          <a:xfrm>
            <a:off x="6150450" y="6061445"/>
            <a:ext cx="120650" cy="106363"/>
          </a:xfrm>
          <a:custGeom>
            <a:avLst/>
            <a:gdLst>
              <a:gd name="T0" fmla="*/ 31 w 76"/>
              <a:gd name="T1" fmla="*/ 0 h 67"/>
              <a:gd name="T2" fmla="*/ 75 w 76"/>
              <a:gd name="T3" fmla="*/ 66 h 67"/>
              <a:gd name="T4" fmla="*/ 0 w 76"/>
              <a:gd name="T5" fmla="*/ 25 h 67"/>
              <a:gd name="T6" fmla="*/ 31 w 76"/>
              <a:gd name="T7" fmla="*/ 0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6" h="67">
                <a:moveTo>
                  <a:pt x="31" y="0"/>
                </a:moveTo>
                <a:lnTo>
                  <a:pt x="75" y="66"/>
                </a:lnTo>
                <a:lnTo>
                  <a:pt x="0" y="25"/>
                </a:lnTo>
                <a:lnTo>
                  <a:pt x="31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9" name="Oval 148"/>
          <p:cNvSpPr/>
          <p:nvPr/>
        </p:nvSpPr>
        <p:spPr>
          <a:xfrm>
            <a:off x="3333363" y="2399903"/>
            <a:ext cx="1031299" cy="542131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Arrow Connector 155"/>
          <p:cNvCxnSpPr>
            <a:stCxn id="149" idx="4"/>
            <a:endCxn id="98" idx="1"/>
          </p:cNvCxnSpPr>
          <p:nvPr/>
        </p:nvCxnSpPr>
        <p:spPr>
          <a:xfrm>
            <a:off x="3849013" y="2942034"/>
            <a:ext cx="610275" cy="2241154"/>
          </a:xfrm>
          <a:prstGeom prst="straightConnector1">
            <a:avLst/>
          </a:prstGeom>
          <a:ln w="1270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Rectangle 74"/>
          <p:cNvSpPr>
            <a:spLocks noChangeArrowheads="1"/>
          </p:cNvSpPr>
          <p:nvPr/>
        </p:nvSpPr>
        <p:spPr bwMode="auto">
          <a:xfrm>
            <a:off x="4608513" y="5249625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300" b="1" u="none" dirty="0">
                <a:solidFill>
                  <a:srgbClr val="000000"/>
                </a:solidFill>
                <a:latin typeface="Arial" pitchFamily="34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056135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B+ Tree: Examples </a:t>
            </a:r>
            <a:r>
              <a:rPr lang="en-US" dirty="0" smtClean="0">
                <a:ea typeface="ＭＳ Ｐゴシック" pitchFamily="34" charset="-128"/>
              </a:rPr>
              <a:t>of Deletions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Delete </a:t>
            </a:r>
            <a:r>
              <a:rPr lang="en-US" dirty="0" smtClean="0">
                <a:solidFill>
                  <a:srgbClr val="FF0000"/>
                </a:solidFill>
              </a:rPr>
              <a:t>24*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158" name="Freeform 39"/>
          <p:cNvSpPr>
            <a:spLocks/>
          </p:cNvSpPr>
          <p:nvPr/>
        </p:nvSpPr>
        <p:spPr bwMode="auto">
          <a:xfrm>
            <a:off x="485775" y="4086078"/>
            <a:ext cx="381000" cy="382587"/>
          </a:xfrm>
          <a:custGeom>
            <a:avLst/>
            <a:gdLst>
              <a:gd name="T0" fmla="*/ 0 w 240"/>
              <a:gd name="T1" fmla="*/ 240 h 241"/>
              <a:gd name="T2" fmla="*/ 0 w 240"/>
              <a:gd name="T3" fmla="*/ 0 h 241"/>
              <a:gd name="T4" fmla="*/ 239 w 240"/>
              <a:gd name="T5" fmla="*/ 0 h 241"/>
              <a:gd name="T6" fmla="*/ 239 w 240"/>
              <a:gd name="T7" fmla="*/ 240 h 241"/>
              <a:gd name="T8" fmla="*/ 0 w 240"/>
              <a:gd name="T9" fmla="*/ 240 h 2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0" h="241">
                <a:moveTo>
                  <a:pt x="0" y="240"/>
                </a:moveTo>
                <a:lnTo>
                  <a:pt x="0" y="0"/>
                </a:lnTo>
                <a:lnTo>
                  <a:pt x="239" y="0"/>
                </a:lnTo>
                <a:lnTo>
                  <a:pt x="239" y="240"/>
                </a:lnTo>
                <a:lnTo>
                  <a:pt x="0" y="24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" name="Freeform 40"/>
          <p:cNvSpPr>
            <a:spLocks/>
          </p:cNvSpPr>
          <p:nvPr/>
        </p:nvSpPr>
        <p:spPr bwMode="auto">
          <a:xfrm>
            <a:off x="865187" y="4086078"/>
            <a:ext cx="384175" cy="382587"/>
          </a:xfrm>
          <a:custGeom>
            <a:avLst/>
            <a:gdLst>
              <a:gd name="T0" fmla="*/ 0 w 242"/>
              <a:gd name="T1" fmla="*/ 240 h 241"/>
              <a:gd name="T2" fmla="*/ 0 w 242"/>
              <a:gd name="T3" fmla="*/ 0 h 241"/>
              <a:gd name="T4" fmla="*/ 241 w 242"/>
              <a:gd name="T5" fmla="*/ 0 h 241"/>
              <a:gd name="T6" fmla="*/ 241 w 242"/>
              <a:gd name="T7" fmla="*/ 240 h 241"/>
              <a:gd name="T8" fmla="*/ 0 w 242"/>
              <a:gd name="T9" fmla="*/ 240 h 2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" h="241">
                <a:moveTo>
                  <a:pt x="0" y="240"/>
                </a:moveTo>
                <a:lnTo>
                  <a:pt x="0" y="0"/>
                </a:lnTo>
                <a:lnTo>
                  <a:pt x="241" y="0"/>
                </a:lnTo>
                <a:lnTo>
                  <a:pt x="241" y="240"/>
                </a:lnTo>
                <a:lnTo>
                  <a:pt x="0" y="24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" name="Freeform 41"/>
          <p:cNvSpPr>
            <a:spLocks/>
          </p:cNvSpPr>
          <p:nvPr/>
        </p:nvSpPr>
        <p:spPr bwMode="auto">
          <a:xfrm>
            <a:off x="1247775" y="4086078"/>
            <a:ext cx="384175" cy="382587"/>
          </a:xfrm>
          <a:custGeom>
            <a:avLst/>
            <a:gdLst>
              <a:gd name="T0" fmla="*/ 0 w 242"/>
              <a:gd name="T1" fmla="*/ 240 h 241"/>
              <a:gd name="T2" fmla="*/ 0 w 242"/>
              <a:gd name="T3" fmla="*/ 0 h 241"/>
              <a:gd name="T4" fmla="*/ 241 w 242"/>
              <a:gd name="T5" fmla="*/ 0 h 241"/>
              <a:gd name="T6" fmla="*/ 241 w 242"/>
              <a:gd name="T7" fmla="*/ 240 h 241"/>
              <a:gd name="T8" fmla="*/ 0 w 242"/>
              <a:gd name="T9" fmla="*/ 240 h 2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" h="241">
                <a:moveTo>
                  <a:pt x="0" y="240"/>
                </a:moveTo>
                <a:lnTo>
                  <a:pt x="0" y="0"/>
                </a:lnTo>
                <a:lnTo>
                  <a:pt x="241" y="0"/>
                </a:lnTo>
                <a:lnTo>
                  <a:pt x="241" y="240"/>
                </a:lnTo>
                <a:lnTo>
                  <a:pt x="0" y="24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1" name="Freeform 42"/>
          <p:cNvSpPr>
            <a:spLocks/>
          </p:cNvSpPr>
          <p:nvPr/>
        </p:nvSpPr>
        <p:spPr bwMode="auto">
          <a:xfrm>
            <a:off x="1630362" y="4086078"/>
            <a:ext cx="382588" cy="382587"/>
          </a:xfrm>
          <a:custGeom>
            <a:avLst/>
            <a:gdLst>
              <a:gd name="T0" fmla="*/ 0 w 241"/>
              <a:gd name="T1" fmla="*/ 240 h 241"/>
              <a:gd name="T2" fmla="*/ 0 w 241"/>
              <a:gd name="T3" fmla="*/ 0 h 241"/>
              <a:gd name="T4" fmla="*/ 240 w 241"/>
              <a:gd name="T5" fmla="*/ 0 h 241"/>
              <a:gd name="T6" fmla="*/ 240 w 241"/>
              <a:gd name="T7" fmla="*/ 240 h 241"/>
              <a:gd name="T8" fmla="*/ 0 w 241"/>
              <a:gd name="T9" fmla="*/ 240 h 2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1" h="241">
                <a:moveTo>
                  <a:pt x="0" y="240"/>
                </a:moveTo>
                <a:lnTo>
                  <a:pt x="0" y="0"/>
                </a:lnTo>
                <a:lnTo>
                  <a:pt x="240" y="0"/>
                </a:lnTo>
                <a:lnTo>
                  <a:pt x="240" y="240"/>
                </a:lnTo>
                <a:lnTo>
                  <a:pt x="0" y="24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" name="Freeform 43"/>
          <p:cNvSpPr>
            <a:spLocks/>
          </p:cNvSpPr>
          <p:nvPr/>
        </p:nvSpPr>
        <p:spPr bwMode="auto">
          <a:xfrm>
            <a:off x="3800475" y="4098778"/>
            <a:ext cx="382587" cy="381000"/>
          </a:xfrm>
          <a:custGeom>
            <a:avLst/>
            <a:gdLst>
              <a:gd name="T0" fmla="*/ 0 w 241"/>
              <a:gd name="T1" fmla="*/ 239 h 240"/>
              <a:gd name="T2" fmla="*/ 0 w 241"/>
              <a:gd name="T3" fmla="*/ 0 h 240"/>
              <a:gd name="T4" fmla="*/ 240 w 241"/>
              <a:gd name="T5" fmla="*/ 0 h 240"/>
              <a:gd name="T6" fmla="*/ 240 w 241"/>
              <a:gd name="T7" fmla="*/ 239 h 240"/>
              <a:gd name="T8" fmla="*/ 0 w 241"/>
              <a:gd name="T9" fmla="*/ 239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1" h="240">
                <a:moveTo>
                  <a:pt x="0" y="239"/>
                </a:moveTo>
                <a:lnTo>
                  <a:pt x="0" y="0"/>
                </a:lnTo>
                <a:lnTo>
                  <a:pt x="240" y="0"/>
                </a:lnTo>
                <a:lnTo>
                  <a:pt x="240" y="239"/>
                </a:lnTo>
                <a:lnTo>
                  <a:pt x="0" y="23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3" name="Freeform 44"/>
          <p:cNvSpPr>
            <a:spLocks/>
          </p:cNvSpPr>
          <p:nvPr/>
        </p:nvSpPr>
        <p:spPr bwMode="auto">
          <a:xfrm>
            <a:off x="4181475" y="4098778"/>
            <a:ext cx="384175" cy="381000"/>
          </a:xfrm>
          <a:custGeom>
            <a:avLst/>
            <a:gdLst>
              <a:gd name="T0" fmla="*/ 0 w 242"/>
              <a:gd name="T1" fmla="*/ 239 h 240"/>
              <a:gd name="T2" fmla="*/ 0 w 242"/>
              <a:gd name="T3" fmla="*/ 0 h 240"/>
              <a:gd name="T4" fmla="*/ 241 w 242"/>
              <a:gd name="T5" fmla="*/ 0 h 240"/>
              <a:gd name="T6" fmla="*/ 241 w 242"/>
              <a:gd name="T7" fmla="*/ 239 h 240"/>
              <a:gd name="T8" fmla="*/ 0 w 242"/>
              <a:gd name="T9" fmla="*/ 239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" h="240">
                <a:moveTo>
                  <a:pt x="0" y="239"/>
                </a:moveTo>
                <a:lnTo>
                  <a:pt x="0" y="0"/>
                </a:lnTo>
                <a:lnTo>
                  <a:pt x="241" y="0"/>
                </a:lnTo>
                <a:lnTo>
                  <a:pt x="241" y="239"/>
                </a:lnTo>
                <a:lnTo>
                  <a:pt x="0" y="23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9" name="Freeform 45"/>
          <p:cNvSpPr>
            <a:spLocks/>
          </p:cNvSpPr>
          <p:nvPr/>
        </p:nvSpPr>
        <p:spPr bwMode="auto">
          <a:xfrm>
            <a:off x="4564062" y="4098778"/>
            <a:ext cx="382588" cy="381000"/>
          </a:xfrm>
          <a:custGeom>
            <a:avLst/>
            <a:gdLst>
              <a:gd name="T0" fmla="*/ 0 w 241"/>
              <a:gd name="T1" fmla="*/ 239 h 240"/>
              <a:gd name="T2" fmla="*/ 0 w 241"/>
              <a:gd name="T3" fmla="*/ 0 h 240"/>
              <a:gd name="T4" fmla="*/ 240 w 241"/>
              <a:gd name="T5" fmla="*/ 0 h 240"/>
              <a:gd name="T6" fmla="*/ 240 w 241"/>
              <a:gd name="T7" fmla="*/ 239 h 240"/>
              <a:gd name="T8" fmla="*/ 0 w 241"/>
              <a:gd name="T9" fmla="*/ 239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1" h="240">
                <a:moveTo>
                  <a:pt x="0" y="239"/>
                </a:moveTo>
                <a:lnTo>
                  <a:pt x="0" y="0"/>
                </a:lnTo>
                <a:lnTo>
                  <a:pt x="240" y="0"/>
                </a:lnTo>
                <a:lnTo>
                  <a:pt x="240" y="239"/>
                </a:lnTo>
                <a:lnTo>
                  <a:pt x="0" y="23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0" name="Freeform 46"/>
          <p:cNvSpPr>
            <a:spLocks/>
          </p:cNvSpPr>
          <p:nvPr/>
        </p:nvSpPr>
        <p:spPr bwMode="auto">
          <a:xfrm>
            <a:off x="4945062" y="4098778"/>
            <a:ext cx="384175" cy="381000"/>
          </a:xfrm>
          <a:custGeom>
            <a:avLst/>
            <a:gdLst>
              <a:gd name="T0" fmla="*/ 0 w 242"/>
              <a:gd name="T1" fmla="*/ 239 h 240"/>
              <a:gd name="T2" fmla="*/ 0 w 242"/>
              <a:gd name="T3" fmla="*/ 0 h 240"/>
              <a:gd name="T4" fmla="*/ 241 w 242"/>
              <a:gd name="T5" fmla="*/ 0 h 240"/>
              <a:gd name="T6" fmla="*/ 241 w 242"/>
              <a:gd name="T7" fmla="*/ 239 h 240"/>
              <a:gd name="T8" fmla="*/ 0 w 242"/>
              <a:gd name="T9" fmla="*/ 239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" h="240">
                <a:moveTo>
                  <a:pt x="0" y="239"/>
                </a:moveTo>
                <a:lnTo>
                  <a:pt x="0" y="0"/>
                </a:lnTo>
                <a:lnTo>
                  <a:pt x="241" y="0"/>
                </a:lnTo>
                <a:lnTo>
                  <a:pt x="241" y="239"/>
                </a:lnTo>
                <a:lnTo>
                  <a:pt x="0" y="23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1" name="Freeform 47"/>
          <p:cNvSpPr>
            <a:spLocks/>
          </p:cNvSpPr>
          <p:nvPr/>
        </p:nvSpPr>
        <p:spPr bwMode="auto">
          <a:xfrm>
            <a:off x="5457825" y="4098778"/>
            <a:ext cx="382587" cy="381000"/>
          </a:xfrm>
          <a:custGeom>
            <a:avLst/>
            <a:gdLst>
              <a:gd name="T0" fmla="*/ 0 w 241"/>
              <a:gd name="T1" fmla="*/ 239 h 240"/>
              <a:gd name="T2" fmla="*/ 0 w 241"/>
              <a:gd name="T3" fmla="*/ 0 h 240"/>
              <a:gd name="T4" fmla="*/ 240 w 241"/>
              <a:gd name="T5" fmla="*/ 0 h 240"/>
              <a:gd name="T6" fmla="*/ 240 w 241"/>
              <a:gd name="T7" fmla="*/ 239 h 240"/>
              <a:gd name="T8" fmla="*/ 0 w 241"/>
              <a:gd name="T9" fmla="*/ 239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1" h="240">
                <a:moveTo>
                  <a:pt x="0" y="239"/>
                </a:moveTo>
                <a:lnTo>
                  <a:pt x="0" y="0"/>
                </a:lnTo>
                <a:lnTo>
                  <a:pt x="240" y="0"/>
                </a:lnTo>
                <a:lnTo>
                  <a:pt x="240" y="239"/>
                </a:lnTo>
                <a:lnTo>
                  <a:pt x="0" y="23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2" name="Freeform 48"/>
          <p:cNvSpPr>
            <a:spLocks/>
          </p:cNvSpPr>
          <p:nvPr/>
        </p:nvSpPr>
        <p:spPr bwMode="auto">
          <a:xfrm>
            <a:off x="5838825" y="4098778"/>
            <a:ext cx="384175" cy="381000"/>
          </a:xfrm>
          <a:custGeom>
            <a:avLst/>
            <a:gdLst>
              <a:gd name="T0" fmla="*/ 0 w 242"/>
              <a:gd name="T1" fmla="*/ 239 h 240"/>
              <a:gd name="T2" fmla="*/ 0 w 242"/>
              <a:gd name="T3" fmla="*/ 0 h 240"/>
              <a:gd name="T4" fmla="*/ 241 w 242"/>
              <a:gd name="T5" fmla="*/ 0 h 240"/>
              <a:gd name="T6" fmla="*/ 241 w 242"/>
              <a:gd name="T7" fmla="*/ 239 h 240"/>
              <a:gd name="T8" fmla="*/ 0 w 242"/>
              <a:gd name="T9" fmla="*/ 239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" h="240">
                <a:moveTo>
                  <a:pt x="0" y="239"/>
                </a:moveTo>
                <a:lnTo>
                  <a:pt x="0" y="0"/>
                </a:lnTo>
                <a:lnTo>
                  <a:pt x="241" y="0"/>
                </a:lnTo>
                <a:lnTo>
                  <a:pt x="241" y="239"/>
                </a:lnTo>
                <a:lnTo>
                  <a:pt x="0" y="23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3" name="Freeform 49"/>
          <p:cNvSpPr>
            <a:spLocks/>
          </p:cNvSpPr>
          <p:nvPr/>
        </p:nvSpPr>
        <p:spPr bwMode="auto">
          <a:xfrm>
            <a:off x="6221412" y="4098778"/>
            <a:ext cx="382588" cy="381000"/>
          </a:xfrm>
          <a:custGeom>
            <a:avLst/>
            <a:gdLst>
              <a:gd name="T0" fmla="*/ 0 w 241"/>
              <a:gd name="T1" fmla="*/ 239 h 240"/>
              <a:gd name="T2" fmla="*/ 0 w 241"/>
              <a:gd name="T3" fmla="*/ 0 h 240"/>
              <a:gd name="T4" fmla="*/ 240 w 241"/>
              <a:gd name="T5" fmla="*/ 0 h 240"/>
              <a:gd name="T6" fmla="*/ 240 w 241"/>
              <a:gd name="T7" fmla="*/ 239 h 240"/>
              <a:gd name="T8" fmla="*/ 0 w 241"/>
              <a:gd name="T9" fmla="*/ 239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1" h="240">
                <a:moveTo>
                  <a:pt x="0" y="239"/>
                </a:moveTo>
                <a:lnTo>
                  <a:pt x="0" y="0"/>
                </a:lnTo>
                <a:lnTo>
                  <a:pt x="240" y="0"/>
                </a:lnTo>
                <a:lnTo>
                  <a:pt x="240" y="239"/>
                </a:lnTo>
                <a:lnTo>
                  <a:pt x="0" y="23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" name="Freeform 50"/>
          <p:cNvSpPr>
            <a:spLocks/>
          </p:cNvSpPr>
          <p:nvPr/>
        </p:nvSpPr>
        <p:spPr bwMode="auto">
          <a:xfrm>
            <a:off x="6602412" y="4098778"/>
            <a:ext cx="384175" cy="381000"/>
          </a:xfrm>
          <a:custGeom>
            <a:avLst/>
            <a:gdLst>
              <a:gd name="T0" fmla="*/ 0 w 242"/>
              <a:gd name="T1" fmla="*/ 239 h 240"/>
              <a:gd name="T2" fmla="*/ 0 w 242"/>
              <a:gd name="T3" fmla="*/ 0 h 240"/>
              <a:gd name="T4" fmla="*/ 241 w 242"/>
              <a:gd name="T5" fmla="*/ 0 h 240"/>
              <a:gd name="T6" fmla="*/ 241 w 242"/>
              <a:gd name="T7" fmla="*/ 239 h 240"/>
              <a:gd name="T8" fmla="*/ 0 w 242"/>
              <a:gd name="T9" fmla="*/ 239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" h="240">
                <a:moveTo>
                  <a:pt x="0" y="239"/>
                </a:moveTo>
                <a:lnTo>
                  <a:pt x="0" y="0"/>
                </a:lnTo>
                <a:lnTo>
                  <a:pt x="241" y="0"/>
                </a:lnTo>
                <a:lnTo>
                  <a:pt x="241" y="239"/>
                </a:lnTo>
                <a:lnTo>
                  <a:pt x="0" y="23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" name="Freeform 51"/>
          <p:cNvSpPr>
            <a:spLocks/>
          </p:cNvSpPr>
          <p:nvPr/>
        </p:nvSpPr>
        <p:spPr bwMode="auto">
          <a:xfrm>
            <a:off x="7115175" y="4098778"/>
            <a:ext cx="382587" cy="381000"/>
          </a:xfrm>
          <a:custGeom>
            <a:avLst/>
            <a:gdLst>
              <a:gd name="T0" fmla="*/ 0 w 241"/>
              <a:gd name="T1" fmla="*/ 239 h 240"/>
              <a:gd name="T2" fmla="*/ 0 w 241"/>
              <a:gd name="T3" fmla="*/ 0 h 240"/>
              <a:gd name="T4" fmla="*/ 240 w 241"/>
              <a:gd name="T5" fmla="*/ 0 h 240"/>
              <a:gd name="T6" fmla="*/ 240 w 241"/>
              <a:gd name="T7" fmla="*/ 239 h 240"/>
              <a:gd name="T8" fmla="*/ 0 w 241"/>
              <a:gd name="T9" fmla="*/ 239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1" h="240">
                <a:moveTo>
                  <a:pt x="0" y="239"/>
                </a:moveTo>
                <a:lnTo>
                  <a:pt x="0" y="0"/>
                </a:lnTo>
                <a:lnTo>
                  <a:pt x="240" y="0"/>
                </a:lnTo>
                <a:lnTo>
                  <a:pt x="240" y="239"/>
                </a:lnTo>
                <a:lnTo>
                  <a:pt x="0" y="23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1" name="Freeform 52"/>
          <p:cNvSpPr>
            <a:spLocks/>
          </p:cNvSpPr>
          <p:nvPr/>
        </p:nvSpPr>
        <p:spPr bwMode="auto">
          <a:xfrm>
            <a:off x="7496175" y="4098778"/>
            <a:ext cx="384175" cy="381000"/>
          </a:xfrm>
          <a:custGeom>
            <a:avLst/>
            <a:gdLst>
              <a:gd name="T0" fmla="*/ 0 w 242"/>
              <a:gd name="T1" fmla="*/ 239 h 240"/>
              <a:gd name="T2" fmla="*/ 0 w 242"/>
              <a:gd name="T3" fmla="*/ 0 h 240"/>
              <a:gd name="T4" fmla="*/ 241 w 242"/>
              <a:gd name="T5" fmla="*/ 0 h 240"/>
              <a:gd name="T6" fmla="*/ 241 w 242"/>
              <a:gd name="T7" fmla="*/ 239 h 240"/>
              <a:gd name="T8" fmla="*/ 0 w 242"/>
              <a:gd name="T9" fmla="*/ 239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" h="240">
                <a:moveTo>
                  <a:pt x="0" y="239"/>
                </a:moveTo>
                <a:lnTo>
                  <a:pt x="0" y="0"/>
                </a:lnTo>
                <a:lnTo>
                  <a:pt x="241" y="0"/>
                </a:lnTo>
                <a:lnTo>
                  <a:pt x="241" y="239"/>
                </a:lnTo>
                <a:lnTo>
                  <a:pt x="0" y="23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" name="Freeform 53"/>
          <p:cNvSpPr>
            <a:spLocks/>
          </p:cNvSpPr>
          <p:nvPr/>
        </p:nvSpPr>
        <p:spPr bwMode="auto">
          <a:xfrm>
            <a:off x="7878762" y="4098778"/>
            <a:ext cx="384175" cy="381000"/>
          </a:xfrm>
          <a:custGeom>
            <a:avLst/>
            <a:gdLst>
              <a:gd name="T0" fmla="*/ 0 w 242"/>
              <a:gd name="T1" fmla="*/ 239 h 240"/>
              <a:gd name="T2" fmla="*/ 0 w 242"/>
              <a:gd name="T3" fmla="*/ 0 h 240"/>
              <a:gd name="T4" fmla="*/ 241 w 242"/>
              <a:gd name="T5" fmla="*/ 0 h 240"/>
              <a:gd name="T6" fmla="*/ 241 w 242"/>
              <a:gd name="T7" fmla="*/ 239 h 240"/>
              <a:gd name="T8" fmla="*/ 0 w 242"/>
              <a:gd name="T9" fmla="*/ 239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" h="240">
                <a:moveTo>
                  <a:pt x="0" y="239"/>
                </a:moveTo>
                <a:lnTo>
                  <a:pt x="0" y="0"/>
                </a:lnTo>
                <a:lnTo>
                  <a:pt x="241" y="0"/>
                </a:lnTo>
                <a:lnTo>
                  <a:pt x="241" y="239"/>
                </a:lnTo>
                <a:lnTo>
                  <a:pt x="0" y="23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9" name="Freeform 54"/>
          <p:cNvSpPr>
            <a:spLocks/>
          </p:cNvSpPr>
          <p:nvPr/>
        </p:nvSpPr>
        <p:spPr bwMode="auto">
          <a:xfrm>
            <a:off x="8261350" y="4098778"/>
            <a:ext cx="381000" cy="381000"/>
          </a:xfrm>
          <a:custGeom>
            <a:avLst/>
            <a:gdLst>
              <a:gd name="T0" fmla="*/ 0 w 240"/>
              <a:gd name="T1" fmla="*/ 239 h 240"/>
              <a:gd name="T2" fmla="*/ 0 w 240"/>
              <a:gd name="T3" fmla="*/ 0 h 240"/>
              <a:gd name="T4" fmla="*/ 239 w 240"/>
              <a:gd name="T5" fmla="*/ 0 h 240"/>
              <a:gd name="T6" fmla="*/ 239 w 240"/>
              <a:gd name="T7" fmla="*/ 239 h 240"/>
              <a:gd name="T8" fmla="*/ 0 w 240"/>
              <a:gd name="T9" fmla="*/ 239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0" h="240">
                <a:moveTo>
                  <a:pt x="0" y="239"/>
                </a:moveTo>
                <a:lnTo>
                  <a:pt x="0" y="0"/>
                </a:lnTo>
                <a:lnTo>
                  <a:pt x="239" y="0"/>
                </a:lnTo>
                <a:lnTo>
                  <a:pt x="239" y="239"/>
                </a:lnTo>
                <a:lnTo>
                  <a:pt x="0" y="23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3" name="Freeform 55"/>
          <p:cNvSpPr>
            <a:spLocks/>
          </p:cNvSpPr>
          <p:nvPr/>
        </p:nvSpPr>
        <p:spPr bwMode="auto">
          <a:xfrm>
            <a:off x="2152650" y="4098778"/>
            <a:ext cx="384175" cy="381000"/>
          </a:xfrm>
          <a:custGeom>
            <a:avLst/>
            <a:gdLst>
              <a:gd name="T0" fmla="*/ 0 w 242"/>
              <a:gd name="T1" fmla="*/ 239 h 240"/>
              <a:gd name="T2" fmla="*/ 0 w 242"/>
              <a:gd name="T3" fmla="*/ 0 h 240"/>
              <a:gd name="T4" fmla="*/ 241 w 242"/>
              <a:gd name="T5" fmla="*/ 0 h 240"/>
              <a:gd name="T6" fmla="*/ 241 w 242"/>
              <a:gd name="T7" fmla="*/ 239 h 240"/>
              <a:gd name="T8" fmla="*/ 0 w 242"/>
              <a:gd name="T9" fmla="*/ 239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" h="240">
                <a:moveTo>
                  <a:pt x="0" y="239"/>
                </a:moveTo>
                <a:lnTo>
                  <a:pt x="0" y="0"/>
                </a:lnTo>
                <a:lnTo>
                  <a:pt x="241" y="0"/>
                </a:lnTo>
                <a:lnTo>
                  <a:pt x="241" y="239"/>
                </a:lnTo>
                <a:lnTo>
                  <a:pt x="0" y="23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3" name="Freeform 56"/>
          <p:cNvSpPr>
            <a:spLocks/>
          </p:cNvSpPr>
          <p:nvPr/>
        </p:nvSpPr>
        <p:spPr bwMode="auto">
          <a:xfrm>
            <a:off x="2535237" y="4098778"/>
            <a:ext cx="384175" cy="381000"/>
          </a:xfrm>
          <a:custGeom>
            <a:avLst/>
            <a:gdLst>
              <a:gd name="T0" fmla="*/ 0 w 242"/>
              <a:gd name="T1" fmla="*/ 239 h 240"/>
              <a:gd name="T2" fmla="*/ 0 w 242"/>
              <a:gd name="T3" fmla="*/ 0 h 240"/>
              <a:gd name="T4" fmla="*/ 241 w 242"/>
              <a:gd name="T5" fmla="*/ 0 h 240"/>
              <a:gd name="T6" fmla="*/ 241 w 242"/>
              <a:gd name="T7" fmla="*/ 239 h 240"/>
              <a:gd name="T8" fmla="*/ 0 w 242"/>
              <a:gd name="T9" fmla="*/ 239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" h="240">
                <a:moveTo>
                  <a:pt x="0" y="239"/>
                </a:moveTo>
                <a:lnTo>
                  <a:pt x="0" y="0"/>
                </a:lnTo>
                <a:lnTo>
                  <a:pt x="241" y="0"/>
                </a:lnTo>
                <a:lnTo>
                  <a:pt x="241" y="239"/>
                </a:lnTo>
                <a:lnTo>
                  <a:pt x="0" y="23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" name="Freeform 57"/>
          <p:cNvSpPr>
            <a:spLocks/>
          </p:cNvSpPr>
          <p:nvPr/>
        </p:nvSpPr>
        <p:spPr bwMode="auto">
          <a:xfrm>
            <a:off x="2917825" y="4098778"/>
            <a:ext cx="382587" cy="381000"/>
          </a:xfrm>
          <a:custGeom>
            <a:avLst/>
            <a:gdLst>
              <a:gd name="T0" fmla="*/ 0 w 241"/>
              <a:gd name="T1" fmla="*/ 239 h 240"/>
              <a:gd name="T2" fmla="*/ 0 w 241"/>
              <a:gd name="T3" fmla="*/ 0 h 240"/>
              <a:gd name="T4" fmla="*/ 240 w 241"/>
              <a:gd name="T5" fmla="*/ 0 h 240"/>
              <a:gd name="T6" fmla="*/ 240 w 241"/>
              <a:gd name="T7" fmla="*/ 239 h 240"/>
              <a:gd name="T8" fmla="*/ 0 w 241"/>
              <a:gd name="T9" fmla="*/ 239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1" h="240">
                <a:moveTo>
                  <a:pt x="0" y="239"/>
                </a:moveTo>
                <a:lnTo>
                  <a:pt x="0" y="0"/>
                </a:lnTo>
                <a:lnTo>
                  <a:pt x="240" y="0"/>
                </a:lnTo>
                <a:lnTo>
                  <a:pt x="240" y="239"/>
                </a:lnTo>
                <a:lnTo>
                  <a:pt x="0" y="23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6" name="Freeform 58"/>
          <p:cNvSpPr>
            <a:spLocks/>
          </p:cNvSpPr>
          <p:nvPr/>
        </p:nvSpPr>
        <p:spPr bwMode="auto">
          <a:xfrm>
            <a:off x="3298825" y="4098778"/>
            <a:ext cx="384175" cy="381000"/>
          </a:xfrm>
          <a:custGeom>
            <a:avLst/>
            <a:gdLst>
              <a:gd name="T0" fmla="*/ 0 w 242"/>
              <a:gd name="T1" fmla="*/ 239 h 240"/>
              <a:gd name="T2" fmla="*/ 0 w 242"/>
              <a:gd name="T3" fmla="*/ 0 h 240"/>
              <a:gd name="T4" fmla="*/ 241 w 242"/>
              <a:gd name="T5" fmla="*/ 0 h 240"/>
              <a:gd name="T6" fmla="*/ 241 w 242"/>
              <a:gd name="T7" fmla="*/ 239 h 240"/>
              <a:gd name="T8" fmla="*/ 0 w 242"/>
              <a:gd name="T9" fmla="*/ 239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" h="240">
                <a:moveTo>
                  <a:pt x="0" y="239"/>
                </a:moveTo>
                <a:lnTo>
                  <a:pt x="0" y="0"/>
                </a:lnTo>
                <a:lnTo>
                  <a:pt x="241" y="0"/>
                </a:lnTo>
                <a:lnTo>
                  <a:pt x="241" y="239"/>
                </a:lnTo>
                <a:lnTo>
                  <a:pt x="0" y="23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7" name="Freeform 59"/>
          <p:cNvSpPr>
            <a:spLocks/>
          </p:cNvSpPr>
          <p:nvPr/>
        </p:nvSpPr>
        <p:spPr bwMode="auto">
          <a:xfrm>
            <a:off x="3359150" y="2708128"/>
            <a:ext cx="573087" cy="474662"/>
          </a:xfrm>
          <a:custGeom>
            <a:avLst/>
            <a:gdLst>
              <a:gd name="T0" fmla="*/ 0 w 361"/>
              <a:gd name="T1" fmla="*/ 298 h 299"/>
              <a:gd name="T2" fmla="*/ 0 w 361"/>
              <a:gd name="T3" fmla="*/ 0 h 299"/>
              <a:gd name="T4" fmla="*/ 360 w 361"/>
              <a:gd name="T5" fmla="*/ 0 h 299"/>
              <a:gd name="T6" fmla="*/ 360 w 361"/>
              <a:gd name="T7" fmla="*/ 298 h 299"/>
              <a:gd name="T8" fmla="*/ 0 w 361"/>
              <a:gd name="T9" fmla="*/ 298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1" h="299">
                <a:moveTo>
                  <a:pt x="0" y="298"/>
                </a:moveTo>
                <a:lnTo>
                  <a:pt x="0" y="0"/>
                </a:lnTo>
                <a:lnTo>
                  <a:pt x="360" y="0"/>
                </a:lnTo>
                <a:lnTo>
                  <a:pt x="360" y="298"/>
                </a:lnTo>
                <a:lnTo>
                  <a:pt x="0" y="29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8" name="Freeform 60"/>
          <p:cNvSpPr>
            <a:spLocks/>
          </p:cNvSpPr>
          <p:nvPr/>
        </p:nvSpPr>
        <p:spPr bwMode="auto">
          <a:xfrm>
            <a:off x="3454400" y="2708128"/>
            <a:ext cx="1587" cy="474662"/>
          </a:xfrm>
          <a:custGeom>
            <a:avLst/>
            <a:gdLst>
              <a:gd name="T0" fmla="*/ 0 w 1"/>
              <a:gd name="T1" fmla="*/ 0 h 299"/>
              <a:gd name="T2" fmla="*/ 0 w 1"/>
              <a:gd name="T3" fmla="*/ 298 h 299"/>
              <a:gd name="T4" fmla="*/ 0 w 1"/>
              <a:gd name="T5" fmla="*/ 0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9">
                <a:moveTo>
                  <a:pt x="0" y="0"/>
                </a:moveTo>
                <a:lnTo>
                  <a:pt x="0" y="29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9" name="Freeform 61"/>
          <p:cNvSpPr>
            <a:spLocks/>
          </p:cNvSpPr>
          <p:nvPr/>
        </p:nvSpPr>
        <p:spPr bwMode="auto">
          <a:xfrm>
            <a:off x="3930650" y="2708128"/>
            <a:ext cx="574675" cy="474662"/>
          </a:xfrm>
          <a:custGeom>
            <a:avLst/>
            <a:gdLst>
              <a:gd name="T0" fmla="*/ 0 w 362"/>
              <a:gd name="T1" fmla="*/ 298 h 299"/>
              <a:gd name="T2" fmla="*/ 0 w 362"/>
              <a:gd name="T3" fmla="*/ 0 h 299"/>
              <a:gd name="T4" fmla="*/ 361 w 362"/>
              <a:gd name="T5" fmla="*/ 0 h 299"/>
              <a:gd name="T6" fmla="*/ 361 w 362"/>
              <a:gd name="T7" fmla="*/ 298 h 299"/>
              <a:gd name="T8" fmla="*/ 0 w 362"/>
              <a:gd name="T9" fmla="*/ 298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2" h="299">
                <a:moveTo>
                  <a:pt x="0" y="298"/>
                </a:moveTo>
                <a:lnTo>
                  <a:pt x="0" y="0"/>
                </a:lnTo>
                <a:lnTo>
                  <a:pt x="361" y="0"/>
                </a:lnTo>
                <a:lnTo>
                  <a:pt x="361" y="298"/>
                </a:lnTo>
                <a:lnTo>
                  <a:pt x="0" y="29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0" name="Freeform 62"/>
          <p:cNvSpPr>
            <a:spLocks/>
          </p:cNvSpPr>
          <p:nvPr/>
        </p:nvSpPr>
        <p:spPr bwMode="auto">
          <a:xfrm>
            <a:off x="4027487" y="2708128"/>
            <a:ext cx="1588" cy="474662"/>
          </a:xfrm>
          <a:custGeom>
            <a:avLst/>
            <a:gdLst>
              <a:gd name="T0" fmla="*/ 0 w 1"/>
              <a:gd name="T1" fmla="*/ 0 h 299"/>
              <a:gd name="T2" fmla="*/ 0 w 1"/>
              <a:gd name="T3" fmla="*/ 298 h 299"/>
              <a:gd name="T4" fmla="*/ 0 w 1"/>
              <a:gd name="T5" fmla="*/ 0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9">
                <a:moveTo>
                  <a:pt x="0" y="0"/>
                </a:moveTo>
                <a:lnTo>
                  <a:pt x="0" y="29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1" name="Freeform 63"/>
          <p:cNvSpPr>
            <a:spLocks/>
          </p:cNvSpPr>
          <p:nvPr/>
        </p:nvSpPr>
        <p:spPr bwMode="auto">
          <a:xfrm>
            <a:off x="4503737" y="2708128"/>
            <a:ext cx="573088" cy="474662"/>
          </a:xfrm>
          <a:custGeom>
            <a:avLst/>
            <a:gdLst>
              <a:gd name="T0" fmla="*/ 0 w 361"/>
              <a:gd name="T1" fmla="*/ 298 h 299"/>
              <a:gd name="T2" fmla="*/ 0 w 361"/>
              <a:gd name="T3" fmla="*/ 0 h 299"/>
              <a:gd name="T4" fmla="*/ 360 w 361"/>
              <a:gd name="T5" fmla="*/ 0 h 299"/>
              <a:gd name="T6" fmla="*/ 360 w 361"/>
              <a:gd name="T7" fmla="*/ 298 h 299"/>
              <a:gd name="T8" fmla="*/ 0 w 361"/>
              <a:gd name="T9" fmla="*/ 298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1" h="299">
                <a:moveTo>
                  <a:pt x="0" y="298"/>
                </a:moveTo>
                <a:lnTo>
                  <a:pt x="0" y="0"/>
                </a:lnTo>
                <a:lnTo>
                  <a:pt x="360" y="0"/>
                </a:lnTo>
                <a:lnTo>
                  <a:pt x="360" y="298"/>
                </a:lnTo>
                <a:lnTo>
                  <a:pt x="0" y="29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2" name="Freeform 64"/>
          <p:cNvSpPr>
            <a:spLocks/>
          </p:cNvSpPr>
          <p:nvPr/>
        </p:nvSpPr>
        <p:spPr bwMode="auto">
          <a:xfrm>
            <a:off x="4598987" y="2708128"/>
            <a:ext cx="1588" cy="474662"/>
          </a:xfrm>
          <a:custGeom>
            <a:avLst/>
            <a:gdLst>
              <a:gd name="T0" fmla="*/ 0 w 1"/>
              <a:gd name="T1" fmla="*/ 0 h 299"/>
              <a:gd name="T2" fmla="*/ 0 w 1"/>
              <a:gd name="T3" fmla="*/ 298 h 299"/>
              <a:gd name="T4" fmla="*/ 0 w 1"/>
              <a:gd name="T5" fmla="*/ 0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9">
                <a:moveTo>
                  <a:pt x="0" y="0"/>
                </a:moveTo>
                <a:lnTo>
                  <a:pt x="0" y="29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3" name="Freeform 65"/>
          <p:cNvSpPr>
            <a:spLocks/>
          </p:cNvSpPr>
          <p:nvPr/>
        </p:nvSpPr>
        <p:spPr bwMode="auto">
          <a:xfrm>
            <a:off x="5075237" y="2708128"/>
            <a:ext cx="574675" cy="474662"/>
          </a:xfrm>
          <a:custGeom>
            <a:avLst/>
            <a:gdLst>
              <a:gd name="T0" fmla="*/ 0 w 362"/>
              <a:gd name="T1" fmla="*/ 298 h 299"/>
              <a:gd name="T2" fmla="*/ 0 w 362"/>
              <a:gd name="T3" fmla="*/ 0 h 299"/>
              <a:gd name="T4" fmla="*/ 361 w 362"/>
              <a:gd name="T5" fmla="*/ 0 h 299"/>
              <a:gd name="T6" fmla="*/ 361 w 362"/>
              <a:gd name="T7" fmla="*/ 298 h 299"/>
              <a:gd name="T8" fmla="*/ 0 w 362"/>
              <a:gd name="T9" fmla="*/ 298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2" h="299">
                <a:moveTo>
                  <a:pt x="0" y="298"/>
                </a:moveTo>
                <a:lnTo>
                  <a:pt x="0" y="0"/>
                </a:lnTo>
                <a:lnTo>
                  <a:pt x="361" y="0"/>
                </a:lnTo>
                <a:lnTo>
                  <a:pt x="361" y="298"/>
                </a:lnTo>
                <a:lnTo>
                  <a:pt x="0" y="29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4" name="Freeform 66"/>
          <p:cNvSpPr>
            <a:spLocks/>
          </p:cNvSpPr>
          <p:nvPr/>
        </p:nvSpPr>
        <p:spPr bwMode="auto">
          <a:xfrm>
            <a:off x="5172075" y="2708128"/>
            <a:ext cx="1587" cy="474662"/>
          </a:xfrm>
          <a:custGeom>
            <a:avLst/>
            <a:gdLst>
              <a:gd name="T0" fmla="*/ 0 w 1"/>
              <a:gd name="T1" fmla="*/ 0 h 299"/>
              <a:gd name="T2" fmla="*/ 0 w 1"/>
              <a:gd name="T3" fmla="*/ 298 h 299"/>
              <a:gd name="T4" fmla="*/ 0 w 1"/>
              <a:gd name="T5" fmla="*/ 0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9">
                <a:moveTo>
                  <a:pt x="0" y="0"/>
                </a:moveTo>
                <a:lnTo>
                  <a:pt x="0" y="29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" name="Freeform 67"/>
          <p:cNvSpPr>
            <a:spLocks/>
          </p:cNvSpPr>
          <p:nvPr/>
        </p:nvSpPr>
        <p:spPr bwMode="auto">
          <a:xfrm>
            <a:off x="5648325" y="2708128"/>
            <a:ext cx="98425" cy="474662"/>
          </a:xfrm>
          <a:custGeom>
            <a:avLst/>
            <a:gdLst>
              <a:gd name="T0" fmla="*/ 0 w 62"/>
              <a:gd name="T1" fmla="*/ 298 h 299"/>
              <a:gd name="T2" fmla="*/ 0 w 62"/>
              <a:gd name="T3" fmla="*/ 0 h 299"/>
              <a:gd name="T4" fmla="*/ 61 w 62"/>
              <a:gd name="T5" fmla="*/ 0 h 299"/>
              <a:gd name="T6" fmla="*/ 61 w 62"/>
              <a:gd name="T7" fmla="*/ 298 h 299"/>
              <a:gd name="T8" fmla="*/ 0 w 62"/>
              <a:gd name="T9" fmla="*/ 298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2" h="299">
                <a:moveTo>
                  <a:pt x="0" y="298"/>
                </a:moveTo>
                <a:lnTo>
                  <a:pt x="0" y="0"/>
                </a:lnTo>
                <a:lnTo>
                  <a:pt x="61" y="0"/>
                </a:lnTo>
                <a:lnTo>
                  <a:pt x="61" y="298"/>
                </a:lnTo>
                <a:lnTo>
                  <a:pt x="0" y="29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" name="Freeform 68"/>
          <p:cNvSpPr>
            <a:spLocks/>
          </p:cNvSpPr>
          <p:nvPr/>
        </p:nvSpPr>
        <p:spPr bwMode="auto">
          <a:xfrm>
            <a:off x="1235075" y="3111353"/>
            <a:ext cx="2173287" cy="963612"/>
          </a:xfrm>
          <a:custGeom>
            <a:avLst/>
            <a:gdLst>
              <a:gd name="T0" fmla="*/ 1368 w 1369"/>
              <a:gd name="T1" fmla="*/ 0 h 607"/>
              <a:gd name="T2" fmla="*/ 0 w 1369"/>
              <a:gd name="T3" fmla="*/ 606 h 607"/>
              <a:gd name="T4" fmla="*/ 1368 w 1369"/>
              <a:gd name="T5" fmla="*/ 0 h 6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69" h="607">
                <a:moveTo>
                  <a:pt x="1368" y="0"/>
                </a:moveTo>
                <a:lnTo>
                  <a:pt x="0" y="606"/>
                </a:lnTo>
                <a:lnTo>
                  <a:pt x="1368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7" name="Freeform 69"/>
          <p:cNvSpPr>
            <a:spLocks/>
          </p:cNvSpPr>
          <p:nvPr/>
        </p:nvSpPr>
        <p:spPr bwMode="auto">
          <a:xfrm>
            <a:off x="1235075" y="3998765"/>
            <a:ext cx="123825" cy="76200"/>
          </a:xfrm>
          <a:custGeom>
            <a:avLst/>
            <a:gdLst>
              <a:gd name="T0" fmla="*/ 77 w 78"/>
              <a:gd name="T1" fmla="*/ 33 h 48"/>
              <a:gd name="T2" fmla="*/ 0 w 78"/>
              <a:gd name="T3" fmla="*/ 47 h 48"/>
              <a:gd name="T4" fmla="*/ 61 w 78"/>
              <a:gd name="T5" fmla="*/ 0 h 48"/>
              <a:gd name="T6" fmla="*/ 77 w 78"/>
              <a:gd name="T7" fmla="*/ 33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8" h="48">
                <a:moveTo>
                  <a:pt x="77" y="33"/>
                </a:moveTo>
                <a:lnTo>
                  <a:pt x="0" y="47"/>
                </a:lnTo>
                <a:lnTo>
                  <a:pt x="61" y="0"/>
                </a:lnTo>
                <a:lnTo>
                  <a:pt x="77" y="33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8" name="Freeform 70"/>
          <p:cNvSpPr>
            <a:spLocks/>
          </p:cNvSpPr>
          <p:nvPr/>
        </p:nvSpPr>
        <p:spPr bwMode="auto">
          <a:xfrm>
            <a:off x="2928937" y="3111353"/>
            <a:ext cx="1039813" cy="963612"/>
          </a:xfrm>
          <a:custGeom>
            <a:avLst/>
            <a:gdLst>
              <a:gd name="T0" fmla="*/ 654 w 655"/>
              <a:gd name="T1" fmla="*/ 0 h 607"/>
              <a:gd name="T2" fmla="*/ 0 w 655"/>
              <a:gd name="T3" fmla="*/ 606 h 607"/>
              <a:gd name="T4" fmla="*/ 654 w 655"/>
              <a:gd name="T5" fmla="*/ 0 h 6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5" h="607">
                <a:moveTo>
                  <a:pt x="654" y="0"/>
                </a:moveTo>
                <a:lnTo>
                  <a:pt x="0" y="606"/>
                </a:lnTo>
                <a:lnTo>
                  <a:pt x="654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9" name="Freeform 71"/>
          <p:cNvSpPr>
            <a:spLocks/>
          </p:cNvSpPr>
          <p:nvPr/>
        </p:nvSpPr>
        <p:spPr bwMode="auto">
          <a:xfrm>
            <a:off x="2928937" y="3970190"/>
            <a:ext cx="109538" cy="104775"/>
          </a:xfrm>
          <a:custGeom>
            <a:avLst/>
            <a:gdLst>
              <a:gd name="T0" fmla="*/ 68 w 69"/>
              <a:gd name="T1" fmla="*/ 28 h 66"/>
              <a:gd name="T2" fmla="*/ 0 w 69"/>
              <a:gd name="T3" fmla="*/ 65 h 66"/>
              <a:gd name="T4" fmla="*/ 43 w 69"/>
              <a:gd name="T5" fmla="*/ 0 h 66"/>
              <a:gd name="T6" fmla="*/ 68 w 69"/>
              <a:gd name="T7" fmla="*/ 28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9" h="66">
                <a:moveTo>
                  <a:pt x="68" y="28"/>
                </a:moveTo>
                <a:lnTo>
                  <a:pt x="0" y="65"/>
                </a:lnTo>
                <a:lnTo>
                  <a:pt x="43" y="0"/>
                </a:lnTo>
                <a:lnTo>
                  <a:pt x="68" y="2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0" name="Freeform 72"/>
          <p:cNvSpPr>
            <a:spLocks/>
          </p:cNvSpPr>
          <p:nvPr/>
        </p:nvSpPr>
        <p:spPr bwMode="auto">
          <a:xfrm>
            <a:off x="4538662" y="3124053"/>
            <a:ext cx="1588" cy="963612"/>
          </a:xfrm>
          <a:custGeom>
            <a:avLst/>
            <a:gdLst>
              <a:gd name="T0" fmla="*/ 0 w 1"/>
              <a:gd name="T1" fmla="*/ 0 h 607"/>
              <a:gd name="T2" fmla="*/ 0 w 1"/>
              <a:gd name="T3" fmla="*/ 606 h 607"/>
              <a:gd name="T4" fmla="*/ 0 w 1"/>
              <a:gd name="T5" fmla="*/ 0 h 6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607">
                <a:moveTo>
                  <a:pt x="0" y="0"/>
                </a:moveTo>
                <a:lnTo>
                  <a:pt x="0" y="606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1" name="Freeform 73"/>
          <p:cNvSpPr>
            <a:spLocks/>
          </p:cNvSpPr>
          <p:nvPr/>
        </p:nvSpPr>
        <p:spPr bwMode="auto">
          <a:xfrm>
            <a:off x="4508500" y="3967015"/>
            <a:ext cx="63500" cy="120650"/>
          </a:xfrm>
          <a:custGeom>
            <a:avLst/>
            <a:gdLst>
              <a:gd name="T0" fmla="*/ 39 w 40"/>
              <a:gd name="T1" fmla="*/ 0 h 76"/>
              <a:gd name="T2" fmla="*/ 19 w 40"/>
              <a:gd name="T3" fmla="*/ 75 h 76"/>
              <a:gd name="T4" fmla="*/ 0 w 40"/>
              <a:gd name="T5" fmla="*/ 0 h 76"/>
              <a:gd name="T6" fmla="*/ 39 w 40"/>
              <a:gd name="T7" fmla="*/ 0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0" h="76">
                <a:moveTo>
                  <a:pt x="39" y="0"/>
                </a:moveTo>
                <a:lnTo>
                  <a:pt x="19" y="75"/>
                </a:lnTo>
                <a:lnTo>
                  <a:pt x="0" y="0"/>
                </a:lnTo>
                <a:lnTo>
                  <a:pt x="39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2" name="Freeform 74"/>
          <p:cNvSpPr>
            <a:spLocks/>
          </p:cNvSpPr>
          <p:nvPr/>
        </p:nvSpPr>
        <p:spPr bwMode="auto">
          <a:xfrm>
            <a:off x="5122862" y="3124053"/>
            <a:ext cx="1087438" cy="963612"/>
          </a:xfrm>
          <a:custGeom>
            <a:avLst/>
            <a:gdLst>
              <a:gd name="T0" fmla="*/ 0 w 685"/>
              <a:gd name="T1" fmla="*/ 0 h 607"/>
              <a:gd name="T2" fmla="*/ 684 w 685"/>
              <a:gd name="T3" fmla="*/ 606 h 607"/>
              <a:gd name="T4" fmla="*/ 0 w 685"/>
              <a:gd name="T5" fmla="*/ 0 h 6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85" h="607">
                <a:moveTo>
                  <a:pt x="0" y="0"/>
                </a:moveTo>
                <a:lnTo>
                  <a:pt x="684" y="606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3" name="Freeform 75"/>
          <p:cNvSpPr>
            <a:spLocks/>
          </p:cNvSpPr>
          <p:nvPr/>
        </p:nvSpPr>
        <p:spPr bwMode="auto">
          <a:xfrm>
            <a:off x="6100762" y="3984478"/>
            <a:ext cx="109538" cy="103187"/>
          </a:xfrm>
          <a:custGeom>
            <a:avLst/>
            <a:gdLst>
              <a:gd name="T0" fmla="*/ 24 w 69"/>
              <a:gd name="T1" fmla="*/ 0 h 65"/>
              <a:gd name="T2" fmla="*/ 68 w 69"/>
              <a:gd name="T3" fmla="*/ 64 h 65"/>
              <a:gd name="T4" fmla="*/ 0 w 69"/>
              <a:gd name="T5" fmla="*/ 28 h 65"/>
              <a:gd name="T6" fmla="*/ 24 w 69"/>
              <a:gd name="T7" fmla="*/ 0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9" h="65">
                <a:moveTo>
                  <a:pt x="24" y="0"/>
                </a:moveTo>
                <a:lnTo>
                  <a:pt x="68" y="64"/>
                </a:lnTo>
                <a:lnTo>
                  <a:pt x="0" y="28"/>
                </a:lnTo>
                <a:lnTo>
                  <a:pt x="24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4" name="Freeform 76"/>
          <p:cNvSpPr>
            <a:spLocks/>
          </p:cNvSpPr>
          <p:nvPr/>
        </p:nvSpPr>
        <p:spPr bwMode="auto">
          <a:xfrm>
            <a:off x="5683250" y="3124053"/>
            <a:ext cx="2197100" cy="950912"/>
          </a:xfrm>
          <a:custGeom>
            <a:avLst/>
            <a:gdLst>
              <a:gd name="T0" fmla="*/ 0 w 1384"/>
              <a:gd name="T1" fmla="*/ 0 h 599"/>
              <a:gd name="T2" fmla="*/ 1383 w 1384"/>
              <a:gd name="T3" fmla="*/ 598 h 599"/>
              <a:gd name="T4" fmla="*/ 0 w 1384"/>
              <a:gd name="T5" fmla="*/ 0 h 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84" h="599">
                <a:moveTo>
                  <a:pt x="0" y="0"/>
                </a:moveTo>
                <a:lnTo>
                  <a:pt x="1383" y="59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" name="Freeform 77"/>
          <p:cNvSpPr>
            <a:spLocks/>
          </p:cNvSpPr>
          <p:nvPr/>
        </p:nvSpPr>
        <p:spPr bwMode="auto">
          <a:xfrm>
            <a:off x="7758112" y="3998765"/>
            <a:ext cx="122238" cy="76200"/>
          </a:xfrm>
          <a:custGeom>
            <a:avLst/>
            <a:gdLst>
              <a:gd name="T0" fmla="*/ 15 w 77"/>
              <a:gd name="T1" fmla="*/ 0 h 48"/>
              <a:gd name="T2" fmla="*/ 76 w 77"/>
              <a:gd name="T3" fmla="*/ 47 h 48"/>
              <a:gd name="T4" fmla="*/ 0 w 77"/>
              <a:gd name="T5" fmla="*/ 35 h 48"/>
              <a:gd name="T6" fmla="*/ 15 w 77"/>
              <a:gd name="T7" fmla="*/ 0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7" h="48">
                <a:moveTo>
                  <a:pt x="15" y="0"/>
                </a:moveTo>
                <a:lnTo>
                  <a:pt x="76" y="47"/>
                </a:lnTo>
                <a:lnTo>
                  <a:pt x="0" y="35"/>
                </a:lnTo>
                <a:lnTo>
                  <a:pt x="15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" name="Rectangle 78"/>
          <p:cNvSpPr>
            <a:spLocks noChangeArrowheads="1"/>
          </p:cNvSpPr>
          <p:nvPr/>
        </p:nvSpPr>
        <p:spPr bwMode="auto">
          <a:xfrm>
            <a:off x="488950" y="4105128"/>
            <a:ext cx="33655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2*</a:t>
            </a:r>
          </a:p>
        </p:txBody>
      </p:sp>
      <p:sp>
        <p:nvSpPr>
          <p:cNvPr id="247" name="Rectangle 79"/>
          <p:cNvSpPr>
            <a:spLocks noChangeArrowheads="1"/>
          </p:cNvSpPr>
          <p:nvPr/>
        </p:nvSpPr>
        <p:spPr bwMode="auto">
          <a:xfrm>
            <a:off x="882650" y="4094015"/>
            <a:ext cx="336550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3*</a:t>
            </a:r>
          </a:p>
        </p:txBody>
      </p:sp>
      <p:sp>
        <p:nvSpPr>
          <p:cNvPr id="248" name="Rectangle 80"/>
          <p:cNvSpPr>
            <a:spLocks noChangeArrowheads="1"/>
          </p:cNvSpPr>
          <p:nvPr/>
        </p:nvSpPr>
        <p:spPr bwMode="auto">
          <a:xfrm>
            <a:off x="2565400" y="4105128"/>
            <a:ext cx="33655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7*</a:t>
            </a:r>
          </a:p>
        </p:txBody>
      </p:sp>
      <p:sp>
        <p:nvSpPr>
          <p:cNvPr id="249" name="Rectangle 81"/>
          <p:cNvSpPr>
            <a:spLocks noChangeArrowheads="1"/>
          </p:cNvSpPr>
          <p:nvPr/>
        </p:nvSpPr>
        <p:spPr bwMode="auto">
          <a:xfrm>
            <a:off x="3768725" y="4128940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14*</a:t>
            </a:r>
          </a:p>
        </p:txBody>
      </p:sp>
      <p:sp>
        <p:nvSpPr>
          <p:cNvPr id="250" name="Rectangle 82"/>
          <p:cNvSpPr>
            <a:spLocks noChangeArrowheads="1"/>
          </p:cNvSpPr>
          <p:nvPr/>
        </p:nvSpPr>
        <p:spPr bwMode="auto">
          <a:xfrm>
            <a:off x="4151312" y="4128940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16*</a:t>
            </a:r>
          </a:p>
        </p:txBody>
      </p:sp>
      <p:sp>
        <p:nvSpPr>
          <p:cNvPr id="251" name="Rectangle 83"/>
          <p:cNvSpPr>
            <a:spLocks noChangeArrowheads="1"/>
          </p:cNvSpPr>
          <p:nvPr/>
        </p:nvSpPr>
        <p:spPr bwMode="auto">
          <a:xfrm>
            <a:off x="5449887" y="4105128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22*</a:t>
            </a:r>
          </a:p>
        </p:txBody>
      </p:sp>
      <p:sp>
        <p:nvSpPr>
          <p:cNvPr id="252" name="Rectangle 84"/>
          <p:cNvSpPr>
            <a:spLocks noChangeArrowheads="1"/>
          </p:cNvSpPr>
          <p:nvPr/>
        </p:nvSpPr>
        <p:spPr bwMode="auto">
          <a:xfrm>
            <a:off x="5832475" y="4117828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27*</a:t>
            </a:r>
          </a:p>
        </p:txBody>
      </p:sp>
      <p:sp>
        <p:nvSpPr>
          <p:cNvPr id="253" name="Rectangle 85"/>
          <p:cNvSpPr>
            <a:spLocks noChangeArrowheads="1"/>
          </p:cNvSpPr>
          <p:nvPr/>
        </p:nvSpPr>
        <p:spPr bwMode="auto">
          <a:xfrm>
            <a:off x="6226175" y="4128940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29*</a:t>
            </a:r>
          </a:p>
        </p:txBody>
      </p:sp>
      <p:sp>
        <p:nvSpPr>
          <p:cNvPr id="254" name="Rectangle 86"/>
          <p:cNvSpPr>
            <a:spLocks noChangeArrowheads="1"/>
          </p:cNvSpPr>
          <p:nvPr/>
        </p:nvSpPr>
        <p:spPr bwMode="auto">
          <a:xfrm>
            <a:off x="7096125" y="4117828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33*</a:t>
            </a:r>
          </a:p>
        </p:txBody>
      </p:sp>
      <p:sp>
        <p:nvSpPr>
          <p:cNvPr id="255" name="Rectangle 87"/>
          <p:cNvSpPr>
            <a:spLocks noChangeArrowheads="1"/>
          </p:cNvSpPr>
          <p:nvPr/>
        </p:nvSpPr>
        <p:spPr bwMode="auto">
          <a:xfrm>
            <a:off x="7478712" y="4117828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34*</a:t>
            </a:r>
          </a:p>
        </p:txBody>
      </p:sp>
      <p:sp>
        <p:nvSpPr>
          <p:cNvPr id="256" name="Rectangle 88"/>
          <p:cNvSpPr>
            <a:spLocks noChangeArrowheads="1"/>
          </p:cNvSpPr>
          <p:nvPr/>
        </p:nvSpPr>
        <p:spPr bwMode="auto">
          <a:xfrm>
            <a:off x="7848600" y="4105128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38*</a:t>
            </a:r>
          </a:p>
        </p:txBody>
      </p:sp>
      <p:sp>
        <p:nvSpPr>
          <p:cNvPr id="257" name="Rectangle 89"/>
          <p:cNvSpPr>
            <a:spLocks noChangeArrowheads="1"/>
          </p:cNvSpPr>
          <p:nvPr/>
        </p:nvSpPr>
        <p:spPr bwMode="auto">
          <a:xfrm>
            <a:off x="8229600" y="4094015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39*</a:t>
            </a:r>
          </a:p>
        </p:txBody>
      </p:sp>
      <p:sp>
        <p:nvSpPr>
          <p:cNvPr id="258" name="Rectangle 90"/>
          <p:cNvSpPr>
            <a:spLocks noChangeArrowheads="1"/>
          </p:cNvSpPr>
          <p:nvPr/>
        </p:nvSpPr>
        <p:spPr bwMode="auto">
          <a:xfrm>
            <a:off x="2182812" y="4105128"/>
            <a:ext cx="33655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5*</a:t>
            </a:r>
          </a:p>
        </p:txBody>
      </p:sp>
      <p:sp>
        <p:nvSpPr>
          <p:cNvPr id="259" name="Rectangle 91"/>
          <p:cNvSpPr>
            <a:spLocks noChangeArrowheads="1"/>
          </p:cNvSpPr>
          <p:nvPr/>
        </p:nvSpPr>
        <p:spPr bwMode="auto">
          <a:xfrm>
            <a:off x="2933700" y="4105128"/>
            <a:ext cx="33655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8*</a:t>
            </a:r>
          </a:p>
        </p:txBody>
      </p:sp>
      <p:sp>
        <p:nvSpPr>
          <p:cNvPr id="260" name="Rectangle 92"/>
          <p:cNvSpPr>
            <a:spLocks noChangeArrowheads="1"/>
          </p:cNvSpPr>
          <p:nvPr/>
        </p:nvSpPr>
        <p:spPr bwMode="auto">
          <a:xfrm>
            <a:off x="2362200" y="2549378"/>
            <a:ext cx="5857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261" name="Rectangle 93"/>
          <p:cNvSpPr>
            <a:spLocks noChangeArrowheads="1"/>
          </p:cNvSpPr>
          <p:nvPr/>
        </p:nvSpPr>
        <p:spPr bwMode="auto">
          <a:xfrm>
            <a:off x="5284787" y="2785915"/>
            <a:ext cx="3651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30</a:t>
            </a:r>
          </a:p>
        </p:txBody>
      </p:sp>
      <p:sp>
        <p:nvSpPr>
          <p:cNvPr id="262" name="Rectangle 94"/>
          <p:cNvSpPr>
            <a:spLocks noChangeArrowheads="1"/>
          </p:cNvSpPr>
          <p:nvPr/>
        </p:nvSpPr>
        <p:spPr bwMode="auto">
          <a:xfrm>
            <a:off x="4079875" y="2774803"/>
            <a:ext cx="3651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13</a:t>
            </a:r>
          </a:p>
        </p:txBody>
      </p:sp>
      <p:sp>
        <p:nvSpPr>
          <p:cNvPr id="263" name="Rectangle 95"/>
          <p:cNvSpPr>
            <a:spLocks noChangeArrowheads="1"/>
          </p:cNvSpPr>
          <p:nvPr/>
        </p:nvSpPr>
        <p:spPr bwMode="auto">
          <a:xfrm>
            <a:off x="3530600" y="2774803"/>
            <a:ext cx="27305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264" name="Rectangle 96"/>
          <p:cNvSpPr>
            <a:spLocks noChangeArrowheads="1"/>
          </p:cNvSpPr>
          <p:nvPr/>
        </p:nvSpPr>
        <p:spPr bwMode="auto">
          <a:xfrm>
            <a:off x="4664075" y="2785915"/>
            <a:ext cx="3651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17</a:t>
            </a:r>
          </a:p>
        </p:txBody>
      </p:sp>
      <p:sp>
        <p:nvSpPr>
          <p:cNvPr id="265" name="Line 97"/>
          <p:cNvSpPr>
            <a:spLocks noChangeShapeType="1"/>
          </p:cNvSpPr>
          <p:nvPr/>
        </p:nvSpPr>
        <p:spPr bwMode="auto">
          <a:xfrm>
            <a:off x="2643187" y="2401740"/>
            <a:ext cx="6858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" name="Arc 98"/>
          <p:cNvSpPr>
            <a:spLocks/>
          </p:cNvSpPr>
          <p:nvPr/>
        </p:nvSpPr>
        <p:spPr bwMode="auto">
          <a:xfrm rot="18420000">
            <a:off x="1957387" y="3857478"/>
            <a:ext cx="304800" cy="381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7" name="Arc 99"/>
          <p:cNvSpPr>
            <a:spLocks/>
          </p:cNvSpPr>
          <p:nvPr/>
        </p:nvSpPr>
        <p:spPr bwMode="auto">
          <a:xfrm rot="18420000">
            <a:off x="3633787" y="3857478"/>
            <a:ext cx="304800" cy="381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8" name="Arc 100"/>
          <p:cNvSpPr>
            <a:spLocks/>
          </p:cNvSpPr>
          <p:nvPr/>
        </p:nvSpPr>
        <p:spPr bwMode="auto">
          <a:xfrm rot="18420000">
            <a:off x="5233987" y="3857478"/>
            <a:ext cx="304800" cy="381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" name="Arc 101"/>
          <p:cNvSpPr>
            <a:spLocks/>
          </p:cNvSpPr>
          <p:nvPr/>
        </p:nvSpPr>
        <p:spPr bwMode="auto">
          <a:xfrm rot="18420000">
            <a:off x="6834187" y="3857478"/>
            <a:ext cx="304800" cy="381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Text Box 63"/>
          <p:cNvSpPr txBox="1">
            <a:spLocks noChangeArrowheads="1"/>
          </p:cNvSpPr>
          <p:nvPr/>
        </p:nvSpPr>
        <p:spPr bwMode="auto">
          <a:xfrm>
            <a:off x="3376613" y="4876800"/>
            <a:ext cx="2171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 b="1" u="sng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/>
            <a:r>
              <a:rPr lang="en-US" u="none" dirty="0">
                <a:solidFill>
                  <a:srgbClr val="00B050"/>
                </a:solidFill>
              </a:rPr>
              <a:t>FINAL </a:t>
            </a:r>
            <a:r>
              <a:rPr lang="en-US" u="none" dirty="0" smtClean="0">
                <a:solidFill>
                  <a:srgbClr val="00B050"/>
                </a:solidFill>
              </a:rPr>
              <a:t>TREE!</a:t>
            </a:r>
            <a:endParaRPr lang="en-US" u="none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40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B+ Tree: Bulk Loading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953000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Assume a collection of data records </a:t>
            </a:r>
            <a:r>
              <a:rPr lang="en-US" sz="2800" dirty="0"/>
              <a:t>with an </a:t>
            </a:r>
            <a:r>
              <a:rPr lang="en-US" sz="2800" i="1" u="sng" dirty="0" smtClean="0"/>
              <a:t>existing</a:t>
            </a:r>
            <a:r>
              <a:rPr lang="en-US" sz="2800" dirty="0" smtClean="0"/>
              <a:t> B+ tree index on it</a:t>
            </a:r>
            <a:endParaRPr lang="en-US" sz="2600" dirty="0"/>
          </a:p>
          <a:p>
            <a:pPr lvl="1">
              <a:buFont typeface="Wingdings" pitchFamily="2" charset="2"/>
              <a:buChar char="§"/>
            </a:pPr>
            <a:r>
              <a:rPr lang="en-US" sz="2600" dirty="0" smtClean="0"/>
              <a:t>How to add a new record to it?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 smtClean="0"/>
              <a:t>Use the B+ tree insert() function</a:t>
            </a:r>
          </a:p>
          <a:p>
            <a:pPr lvl="1">
              <a:buFont typeface="Wingdings" pitchFamily="2" charset="2"/>
              <a:buChar char="§"/>
            </a:pPr>
            <a:endParaRPr lang="en-US" sz="2200" dirty="0"/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What if we have a collection of data records for which we want to create a B+ tree index? (i.e., we want to </a:t>
            </a:r>
            <a:r>
              <a:rPr lang="en-US" sz="2800" i="1" dirty="0" smtClean="0">
                <a:solidFill>
                  <a:srgbClr val="0070C0"/>
                </a:solidFill>
              </a:rPr>
              <a:t>bulk load </a:t>
            </a:r>
            <a:r>
              <a:rPr lang="en-US" sz="2800" dirty="0" smtClean="0"/>
              <a:t>the B+ tree)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/>
              <a:t>Starting with an empty tree and using the insert() function for each data record, </a:t>
            </a:r>
            <a:r>
              <a:rPr lang="en-US" sz="2600" i="1" dirty="0" smtClean="0"/>
              <a:t>one at a time</a:t>
            </a:r>
            <a:r>
              <a:rPr lang="en-US" sz="2600" dirty="0" smtClean="0"/>
              <a:t>, is expensive!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 smtClean="0"/>
              <a:t>This is because for each entry we would require starting again from the root and going down to the appropriate leaf page </a:t>
            </a:r>
          </a:p>
          <a:p>
            <a:pPr lvl="1">
              <a:buFont typeface="Wingdings" pitchFamily="2" charset="2"/>
              <a:buChar char="§"/>
            </a:pPr>
            <a:endParaRPr lang="en-US" sz="2400" dirty="0" smtClean="0"/>
          </a:p>
          <a:p>
            <a:pPr marL="457200" lvl="1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472486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B+ Tree: Bulk Loading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What to do?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i="1" dirty="0"/>
              <a:t>Initialization</a:t>
            </a:r>
            <a:r>
              <a:rPr lang="en-US" sz="2400" dirty="0"/>
              <a:t>:  Sort all data entries, insert pointer to first (leaf) page in a new (root) page</a:t>
            </a:r>
          </a:p>
          <a:p>
            <a:pPr lvl="1">
              <a:buFont typeface="Wingdings" pitchFamily="2" charset="2"/>
              <a:buChar char="§"/>
            </a:pPr>
            <a:endParaRPr lang="en-US" sz="2400" dirty="0" smtClean="0"/>
          </a:p>
          <a:p>
            <a:pPr marL="457200" lvl="1" indent="0">
              <a:buNone/>
            </a:pPr>
            <a:endParaRPr lang="en-US" sz="2200" dirty="0"/>
          </a:p>
        </p:txBody>
      </p:sp>
      <p:sp>
        <p:nvSpPr>
          <p:cNvPr id="4" name="Freeform 6"/>
          <p:cNvSpPr>
            <a:spLocks/>
          </p:cNvSpPr>
          <p:nvPr/>
        </p:nvSpPr>
        <p:spPr bwMode="auto">
          <a:xfrm>
            <a:off x="1511300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1803400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Freeform 8"/>
          <p:cNvSpPr>
            <a:spLocks/>
          </p:cNvSpPr>
          <p:nvPr/>
        </p:nvSpPr>
        <p:spPr bwMode="auto">
          <a:xfrm>
            <a:off x="2212975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Freeform 9"/>
          <p:cNvSpPr>
            <a:spLocks/>
          </p:cNvSpPr>
          <p:nvPr/>
        </p:nvSpPr>
        <p:spPr bwMode="auto">
          <a:xfrm>
            <a:off x="2505075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Freeform 10"/>
          <p:cNvSpPr>
            <a:spLocks/>
          </p:cNvSpPr>
          <p:nvPr/>
        </p:nvSpPr>
        <p:spPr bwMode="auto">
          <a:xfrm>
            <a:off x="2916238" y="5020468"/>
            <a:ext cx="585787" cy="368300"/>
          </a:xfrm>
          <a:custGeom>
            <a:avLst/>
            <a:gdLst>
              <a:gd name="T0" fmla="*/ 0 w 369"/>
              <a:gd name="T1" fmla="*/ 231 h 232"/>
              <a:gd name="T2" fmla="*/ 0 w 369"/>
              <a:gd name="T3" fmla="*/ 0 h 232"/>
              <a:gd name="T4" fmla="*/ 368 w 369"/>
              <a:gd name="T5" fmla="*/ 0 h 232"/>
              <a:gd name="T6" fmla="*/ 368 w 369"/>
              <a:gd name="T7" fmla="*/ 231 h 232"/>
              <a:gd name="T8" fmla="*/ 0 w 369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Freeform 11"/>
          <p:cNvSpPr>
            <a:spLocks/>
          </p:cNvSpPr>
          <p:nvPr/>
        </p:nvSpPr>
        <p:spPr bwMode="auto">
          <a:xfrm>
            <a:off x="3208338" y="5020468"/>
            <a:ext cx="1587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Freeform 12"/>
          <p:cNvSpPr>
            <a:spLocks/>
          </p:cNvSpPr>
          <p:nvPr/>
        </p:nvSpPr>
        <p:spPr bwMode="auto">
          <a:xfrm>
            <a:off x="3606800" y="5020468"/>
            <a:ext cx="585788" cy="368300"/>
          </a:xfrm>
          <a:custGeom>
            <a:avLst/>
            <a:gdLst>
              <a:gd name="T0" fmla="*/ 0 w 369"/>
              <a:gd name="T1" fmla="*/ 231 h 232"/>
              <a:gd name="T2" fmla="*/ 0 w 369"/>
              <a:gd name="T3" fmla="*/ 0 h 232"/>
              <a:gd name="T4" fmla="*/ 368 w 369"/>
              <a:gd name="T5" fmla="*/ 0 h 232"/>
              <a:gd name="T6" fmla="*/ 368 w 369"/>
              <a:gd name="T7" fmla="*/ 231 h 232"/>
              <a:gd name="T8" fmla="*/ 0 w 369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Freeform 13"/>
          <p:cNvSpPr>
            <a:spLocks/>
          </p:cNvSpPr>
          <p:nvPr/>
        </p:nvSpPr>
        <p:spPr bwMode="auto">
          <a:xfrm>
            <a:off x="3898900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Freeform 14"/>
          <p:cNvSpPr>
            <a:spLocks/>
          </p:cNvSpPr>
          <p:nvPr/>
        </p:nvSpPr>
        <p:spPr bwMode="auto">
          <a:xfrm>
            <a:off x="4306888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Freeform 15"/>
          <p:cNvSpPr>
            <a:spLocks/>
          </p:cNvSpPr>
          <p:nvPr/>
        </p:nvSpPr>
        <p:spPr bwMode="auto">
          <a:xfrm>
            <a:off x="4602163" y="5020468"/>
            <a:ext cx="1587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Freeform 16"/>
          <p:cNvSpPr>
            <a:spLocks/>
          </p:cNvSpPr>
          <p:nvPr/>
        </p:nvSpPr>
        <p:spPr bwMode="auto">
          <a:xfrm>
            <a:off x="5010150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Freeform 17"/>
          <p:cNvSpPr>
            <a:spLocks/>
          </p:cNvSpPr>
          <p:nvPr/>
        </p:nvSpPr>
        <p:spPr bwMode="auto">
          <a:xfrm>
            <a:off x="5303838" y="5020468"/>
            <a:ext cx="1587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Freeform 18"/>
          <p:cNvSpPr>
            <a:spLocks/>
          </p:cNvSpPr>
          <p:nvPr/>
        </p:nvSpPr>
        <p:spPr bwMode="auto">
          <a:xfrm>
            <a:off x="5713413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Freeform 19"/>
          <p:cNvSpPr>
            <a:spLocks/>
          </p:cNvSpPr>
          <p:nvPr/>
        </p:nvSpPr>
        <p:spPr bwMode="auto">
          <a:xfrm>
            <a:off x="6007100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Freeform 20"/>
          <p:cNvSpPr>
            <a:spLocks/>
          </p:cNvSpPr>
          <p:nvPr/>
        </p:nvSpPr>
        <p:spPr bwMode="auto">
          <a:xfrm>
            <a:off x="6403975" y="5020468"/>
            <a:ext cx="585788" cy="368300"/>
          </a:xfrm>
          <a:custGeom>
            <a:avLst/>
            <a:gdLst>
              <a:gd name="T0" fmla="*/ 0 w 369"/>
              <a:gd name="T1" fmla="*/ 231 h 232"/>
              <a:gd name="T2" fmla="*/ 0 w 369"/>
              <a:gd name="T3" fmla="*/ 0 h 232"/>
              <a:gd name="T4" fmla="*/ 368 w 369"/>
              <a:gd name="T5" fmla="*/ 0 h 232"/>
              <a:gd name="T6" fmla="*/ 368 w 369"/>
              <a:gd name="T7" fmla="*/ 231 h 232"/>
              <a:gd name="T8" fmla="*/ 0 w 369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Freeform 21"/>
          <p:cNvSpPr>
            <a:spLocks/>
          </p:cNvSpPr>
          <p:nvPr/>
        </p:nvSpPr>
        <p:spPr bwMode="auto">
          <a:xfrm>
            <a:off x="6696075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Freeform 22"/>
          <p:cNvSpPr>
            <a:spLocks/>
          </p:cNvSpPr>
          <p:nvPr/>
        </p:nvSpPr>
        <p:spPr bwMode="auto">
          <a:xfrm>
            <a:off x="7083425" y="5020468"/>
            <a:ext cx="585788" cy="368300"/>
          </a:xfrm>
          <a:custGeom>
            <a:avLst/>
            <a:gdLst>
              <a:gd name="T0" fmla="*/ 0 w 369"/>
              <a:gd name="T1" fmla="*/ 231 h 232"/>
              <a:gd name="T2" fmla="*/ 0 w 369"/>
              <a:gd name="T3" fmla="*/ 0 h 232"/>
              <a:gd name="T4" fmla="*/ 368 w 369"/>
              <a:gd name="T5" fmla="*/ 0 h 232"/>
              <a:gd name="T6" fmla="*/ 368 w 369"/>
              <a:gd name="T7" fmla="*/ 231 h 232"/>
              <a:gd name="T8" fmla="*/ 0 w 369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Freeform 23"/>
          <p:cNvSpPr>
            <a:spLocks/>
          </p:cNvSpPr>
          <p:nvPr/>
        </p:nvSpPr>
        <p:spPr bwMode="auto">
          <a:xfrm>
            <a:off x="7375525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Freeform 24"/>
          <p:cNvSpPr>
            <a:spLocks/>
          </p:cNvSpPr>
          <p:nvPr/>
        </p:nvSpPr>
        <p:spPr bwMode="auto">
          <a:xfrm>
            <a:off x="2143125" y="3779043"/>
            <a:ext cx="927100" cy="423863"/>
          </a:xfrm>
          <a:custGeom>
            <a:avLst/>
            <a:gdLst>
              <a:gd name="T0" fmla="*/ 0 w 584"/>
              <a:gd name="T1" fmla="*/ 266 h 267"/>
              <a:gd name="T2" fmla="*/ 0 w 584"/>
              <a:gd name="T3" fmla="*/ 0 h 267"/>
              <a:gd name="T4" fmla="*/ 583 w 584"/>
              <a:gd name="T5" fmla="*/ 0 h 267"/>
              <a:gd name="T6" fmla="*/ 583 w 584"/>
              <a:gd name="T7" fmla="*/ 266 h 267"/>
              <a:gd name="T8" fmla="*/ 0 w 584"/>
              <a:gd name="T9" fmla="*/ 266 h 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84" h="267">
                <a:moveTo>
                  <a:pt x="0" y="266"/>
                </a:moveTo>
                <a:lnTo>
                  <a:pt x="0" y="0"/>
                </a:lnTo>
                <a:lnTo>
                  <a:pt x="583" y="0"/>
                </a:lnTo>
                <a:lnTo>
                  <a:pt x="583" y="266"/>
                </a:lnTo>
                <a:lnTo>
                  <a:pt x="0" y="26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Freeform 25"/>
          <p:cNvSpPr>
            <a:spLocks/>
          </p:cNvSpPr>
          <p:nvPr/>
        </p:nvSpPr>
        <p:spPr bwMode="auto">
          <a:xfrm>
            <a:off x="2565400" y="3779043"/>
            <a:ext cx="1588" cy="409575"/>
          </a:xfrm>
          <a:custGeom>
            <a:avLst/>
            <a:gdLst>
              <a:gd name="T0" fmla="*/ 0 w 1"/>
              <a:gd name="T1" fmla="*/ 0 h 258"/>
              <a:gd name="T2" fmla="*/ 0 w 1"/>
              <a:gd name="T3" fmla="*/ 257 h 258"/>
              <a:gd name="T4" fmla="*/ 0 w 1"/>
              <a:gd name="T5" fmla="*/ 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8">
                <a:moveTo>
                  <a:pt x="0" y="0"/>
                </a:moveTo>
                <a:lnTo>
                  <a:pt x="0" y="25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Freeform 26"/>
          <p:cNvSpPr>
            <a:spLocks/>
          </p:cNvSpPr>
          <p:nvPr/>
        </p:nvSpPr>
        <p:spPr bwMode="auto">
          <a:xfrm>
            <a:off x="2973388" y="3791743"/>
            <a:ext cx="1587" cy="411163"/>
          </a:xfrm>
          <a:custGeom>
            <a:avLst/>
            <a:gdLst>
              <a:gd name="T0" fmla="*/ 0 w 1"/>
              <a:gd name="T1" fmla="*/ 0 h 259"/>
              <a:gd name="T2" fmla="*/ 0 w 1"/>
              <a:gd name="T3" fmla="*/ 258 h 259"/>
              <a:gd name="T4" fmla="*/ 0 w 1"/>
              <a:gd name="T5" fmla="*/ 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9">
                <a:moveTo>
                  <a:pt x="0" y="0"/>
                </a:moveTo>
                <a:lnTo>
                  <a:pt x="0" y="25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Freeform 27"/>
          <p:cNvSpPr>
            <a:spLocks/>
          </p:cNvSpPr>
          <p:nvPr/>
        </p:nvSpPr>
        <p:spPr bwMode="auto">
          <a:xfrm>
            <a:off x="2236788" y="3759993"/>
            <a:ext cx="1587" cy="428625"/>
          </a:xfrm>
          <a:custGeom>
            <a:avLst/>
            <a:gdLst>
              <a:gd name="T0" fmla="*/ 0 w 1"/>
              <a:gd name="T1" fmla="*/ 0 h 270"/>
              <a:gd name="T2" fmla="*/ 0 w 1"/>
              <a:gd name="T3" fmla="*/ 269 h 270"/>
              <a:gd name="T4" fmla="*/ 0 w 1"/>
              <a:gd name="T5" fmla="*/ 0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70">
                <a:moveTo>
                  <a:pt x="0" y="0"/>
                </a:moveTo>
                <a:lnTo>
                  <a:pt x="0" y="269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Freeform 28"/>
          <p:cNvSpPr>
            <a:spLocks/>
          </p:cNvSpPr>
          <p:nvPr/>
        </p:nvSpPr>
        <p:spPr bwMode="auto">
          <a:xfrm>
            <a:off x="2659063" y="3779043"/>
            <a:ext cx="1587" cy="409575"/>
          </a:xfrm>
          <a:custGeom>
            <a:avLst/>
            <a:gdLst>
              <a:gd name="T0" fmla="*/ 0 w 1"/>
              <a:gd name="T1" fmla="*/ 0 h 258"/>
              <a:gd name="T2" fmla="*/ 0 w 1"/>
              <a:gd name="T3" fmla="*/ 257 h 258"/>
              <a:gd name="T4" fmla="*/ 0 w 1"/>
              <a:gd name="T5" fmla="*/ 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8">
                <a:moveTo>
                  <a:pt x="0" y="0"/>
                </a:moveTo>
                <a:lnTo>
                  <a:pt x="0" y="25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Freeform 31"/>
          <p:cNvSpPr>
            <a:spLocks/>
          </p:cNvSpPr>
          <p:nvPr/>
        </p:nvSpPr>
        <p:spPr bwMode="auto">
          <a:xfrm>
            <a:off x="2154238" y="4876006"/>
            <a:ext cx="5597525" cy="647700"/>
          </a:xfrm>
          <a:custGeom>
            <a:avLst/>
            <a:gdLst>
              <a:gd name="T0" fmla="*/ 0 w 3526"/>
              <a:gd name="T1" fmla="*/ 407 h 408"/>
              <a:gd name="T2" fmla="*/ 0 w 3526"/>
              <a:gd name="T3" fmla="*/ 0 h 408"/>
              <a:gd name="T4" fmla="*/ 3525 w 3526"/>
              <a:gd name="T5" fmla="*/ 0 h 408"/>
              <a:gd name="T6" fmla="*/ 3525 w 3526"/>
              <a:gd name="T7" fmla="*/ 407 h 408"/>
              <a:gd name="T8" fmla="*/ 0 w 3526"/>
              <a:gd name="T9" fmla="*/ 407 h 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26" h="408">
                <a:moveTo>
                  <a:pt x="0" y="407"/>
                </a:moveTo>
                <a:lnTo>
                  <a:pt x="0" y="0"/>
                </a:lnTo>
                <a:lnTo>
                  <a:pt x="3525" y="0"/>
                </a:lnTo>
                <a:lnTo>
                  <a:pt x="3525" y="407"/>
                </a:lnTo>
                <a:lnTo>
                  <a:pt x="0" y="40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0" name="Group 49"/>
          <p:cNvGrpSpPr>
            <a:grpSpLocks/>
          </p:cNvGrpSpPr>
          <p:nvPr/>
        </p:nvGrpSpPr>
        <p:grpSpPr bwMode="auto">
          <a:xfrm>
            <a:off x="1492250" y="5031581"/>
            <a:ext cx="5953125" cy="303212"/>
            <a:chOff x="916" y="3723"/>
            <a:chExt cx="3750" cy="191"/>
          </a:xfrm>
        </p:grpSpPr>
        <p:sp>
          <p:nvSpPr>
            <p:cNvPr id="31" name="Rectangle 32"/>
            <p:cNvSpPr>
              <a:spLocks noChangeArrowheads="1"/>
            </p:cNvSpPr>
            <p:nvPr/>
          </p:nvSpPr>
          <p:spPr bwMode="auto">
            <a:xfrm>
              <a:off x="916" y="3723"/>
              <a:ext cx="21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3*</a:t>
              </a:r>
            </a:p>
          </p:txBody>
        </p:sp>
        <p:sp>
          <p:nvSpPr>
            <p:cNvPr id="32" name="Rectangle 33"/>
            <p:cNvSpPr>
              <a:spLocks noChangeArrowheads="1"/>
            </p:cNvSpPr>
            <p:nvPr/>
          </p:nvSpPr>
          <p:spPr bwMode="auto">
            <a:xfrm>
              <a:off x="1098" y="3733"/>
              <a:ext cx="21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4*</a:t>
              </a:r>
            </a:p>
          </p:txBody>
        </p:sp>
        <p:sp>
          <p:nvSpPr>
            <p:cNvPr id="33" name="Rectangle 34"/>
            <p:cNvSpPr>
              <a:spLocks noChangeArrowheads="1"/>
            </p:cNvSpPr>
            <p:nvPr/>
          </p:nvSpPr>
          <p:spPr bwMode="auto">
            <a:xfrm>
              <a:off x="1357" y="3723"/>
              <a:ext cx="21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6*</a:t>
              </a:r>
            </a:p>
          </p:txBody>
        </p:sp>
        <p:sp>
          <p:nvSpPr>
            <p:cNvPr id="34" name="Rectangle 35"/>
            <p:cNvSpPr>
              <a:spLocks noChangeArrowheads="1"/>
            </p:cNvSpPr>
            <p:nvPr/>
          </p:nvSpPr>
          <p:spPr bwMode="auto">
            <a:xfrm>
              <a:off x="1542" y="3723"/>
              <a:ext cx="21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9*</a:t>
              </a:r>
            </a:p>
          </p:txBody>
        </p:sp>
        <p:sp>
          <p:nvSpPr>
            <p:cNvPr id="35" name="Rectangle 36"/>
            <p:cNvSpPr>
              <a:spLocks noChangeArrowheads="1"/>
            </p:cNvSpPr>
            <p:nvPr/>
          </p:nvSpPr>
          <p:spPr bwMode="auto">
            <a:xfrm>
              <a:off x="1771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10*</a:t>
              </a:r>
            </a:p>
          </p:txBody>
        </p:sp>
        <p:sp>
          <p:nvSpPr>
            <p:cNvPr id="36" name="Rectangle 37"/>
            <p:cNvSpPr>
              <a:spLocks noChangeArrowheads="1"/>
            </p:cNvSpPr>
            <p:nvPr/>
          </p:nvSpPr>
          <p:spPr bwMode="auto">
            <a:xfrm>
              <a:off x="1955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11*</a:t>
              </a:r>
            </a:p>
          </p:txBody>
        </p:sp>
        <p:sp>
          <p:nvSpPr>
            <p:cNvPr id="37" name="Rectangle 38"/>
            <p:cNvSpPr>
              <a:spLocks noChangeArrowheads="1"/>
            </p:cNvSpPr>
            <p:nvPr/>
          </p:nvSpPr>
          <p:spPr bwMode="auto">
            <a:xfrm>
              <a:off x="2213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12*</a:t>
              </a:r>
            </a:p>
          </p:txBody>
        </p:sp>
        <p:sp>
          <p:nvSpPr>
            <p:cNvPr id="38" name="Rectangle 39"/>
            <p:cNvSpPr>
              <a:spLocks noChangeArrowheads="1"/>
            </p:cNvSpPr>
            <p:nvPr/>
          </p:nvSpPr>
          <p:spPr bwMode="auto">
            <a:xfrm>
              <a:off x="2397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13*</a:t>
              </a:r>
            </a:p>
          </p:txBody>
        </p:sp>
        <p:sp>
          <p:nvSpPr>
            <p:cNvPr id="39" name="Rectangle 40"/>
            <p:cNvSpPr>
              <a:spLocks noChangeArrowheads="1"/>
            </p:cNvSpPr>
            <p:nvPr/>
          </p:nvSpPr>
          <p:spPr bwMode="auto">
            <a:xfrm>
              <a:off x="2656" y="373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20*</a:t>
              </a:r>
            </a:p>
          </p:txBody>
        </p:sp>
        <p:sp>
          <p:nvSpPr>
            <p:cNvPr id="40" name="Rectangle 41"/>
            <p:cNvSpPr>
              <a:spLocks noChangeArrowheads="1"/>
            </p:cNvSpPr>
            <p:nvPr/>
          </p:nvSpPr>
          <p:spPr bwMode="auto">
            <a:xfrm>
              <a:off x="2833" y="373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22*</a:t>
              </a:r>
            </a:p>
          </p:txBody>
        </p:sp>
        <p:sp>
          <p:nvSpPr>
            <p:cNvPr id="41" name="Rectangle 42"/>
            <p:cNvSpPr>
              <a:spLocks noChangeArrowheads="1"/>
            </p:cNvSpPr>
            <p:nvPr/>
          </p:nvSpPr>
          <p:spPr bwMode="auto">
            <a:xfrm>
              <a:off x="3091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23*</a:t>
              </a:r>
            </a:p>
          </p:txBody>
        </p:sp>
        <p:sp>
          <p:nvSpPr>
            <p:cNvPr id="42" name="Rectangle 43"/>
            <p:cNvSpPr>
              <a:spLocks noChangeArrowheads="1"/>
            </p:cNvSpPr>
            <p:nvPr/>
          </p:nvSpPr>
          <p:spPr bwMode="auto">
            <a:xfrm>
              <a:off x="3282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31*</a:t>
              </a:r>
            </a:p>
          </p:txBody>
        </p:sp>
        <p:sp>
          <p:nvSpPr>
            <p:cNvPr id="43" name="Rectangle 44"/>
            <p:cNvSpPr>
              <a:spLocks noChangeArrowheads="1"/>
            </p:cNvSpPr>
            <p:nvPr/>
          </p:nvSpPr>
          <p:spPr bwMode="auto">
            <a:xfrm>
              <a:off x="3532" y="373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35*</a:t>
              </a:r>
            </a:p>
          </p:txBody>
        </p:sp>
        <p:sp>
          <p:nvSpPr>
            <p:cNvPr id="44" name="Rectangle 45"/>
            <p:cNvSpPr>
              <a:spLocks noChangeArrowheads="1"/>
            </p:cNvSpPr>
            <p:nvPr/>
          </p:nvSpPr>
          <p:spPr bwMode="auto">
            <a:xfrm>
              <a:off x="3710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36*</a:t>
              </a:r>
            </a:p>
          </p:txBody>
        </p:sp>
        <p:sp>
          <p:nvSpPr>
            <p:cNvPr id="45" name="Rectangle 46"/>
            <p:cNvSpPr>
              <a:spLocks noChangeArrowheads="1"/>
            </p:cNvSpPr>
            <p:nvPr/>
          </p:nvSpPr>
          <p:spPr bwMode="auto">
            <a:xfrm>
              <a:off x="3975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38*</a:t>
              </a:r>
            </a:p>
          </p:txBody>
        </p:sp>
        <p:sp>
          <p:nvSpPr>
            <p:cNvPr id="46" name="Rectangle 47"/>
            <p:cNvSpPr>
              <a:spLocks noChangeArrowheads="1"/>
            </p:cNvSpPr>
            <p:nvPr/>
          </p:nvSpPr>
          <p:spPr bwMode="auto">
            <a:xfrm>
              <a:off x="4152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41*</a:t>
              </a:r>
            </a:p>
          </p:txBody>
        </p:sp>
        <p:sp>
          <p:nvSpPr>
            <p:cNvPr id="47" name="Rectangle 48"/>
            <p:cNvSpPr>
              <a:spLocks noChangeArrowheads="1"/>
            </p:cNvSpPr>
            <p:nvPr/>
          </p:nvSpPr>
          <p:spPr bwMode="auto">
            <a:xfrm>
              <a:off x="4396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44*</a:t>
              </a:r>
            </a:p>
          </p:txBody>
        </p:sp>
      </p:grpSp>
      <p:sp>
        <p:nvSpPr>
          <p:cNvPr id="48" name="Rectangle 50"/>
          <p:cNvSpPr>
            <a:spLocks noChangeArrowheads="1"/>
          </p:cNvSpPr>
          <p:nvPr/>
        </p:nvSpPr>
        <p:spPr bwMode="auto">
          <a:xfrm>
            <a:off x="3997325" y="3779043"/>
            <a:ext cx="474328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latin typeface="Arial" pitchFamily="34" charset="0"/>
              </a:rPr>
              <a:t>Sorted pages of data entries; not yet in B+ tree</a:t>
            </a:r>
          </a:p>
        </p:txBody>
      </p:sp>
      <p:sp>
        <p:nvSpPr>
          <p:cNvPr id="49" name="Rectangle 51"/>
          <p:cNvSpPr>
            <a:spLocks noChangeArrowheads="1"/>
          </p:cNvSpPr>
          <p:nvPr/>
        </p:nvSpPr>
        <p:spPr bwMode="auto">
          <a:xfrm>
            <a:off x="1300232" y="3631406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50" name="Line 52"/>
          <p:cNvSpPr>
            <a:spLocks noChangeShapeType="1"/>
          </p:cNvSpPr>
          <p:nvPr/>
        </p:nvSpPr>
        <p:spPr bwMode="auto">
          <a:xfrm>
            <a:off x="1714500" y="3540918"/>
            <a:ext cx="3810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Arc 53"/>
          <p:cNvSpPr>
            <a:spLocks/>
          </p:cNvSpPr>
          <p:nvPr/>
        </p:nvSpPr>
        <p:spPr bwMode="auto">
          <a:xfrm>
            <a:off x="3394075" y="4082256"/>
            <a:ext cx="914400" cy="762000"/>
          </a:xfrm>
          <a:custGeom>
            <a:avLst/>
            <a:gdLst>
              <a:gd name="G0" fmla="+- 21599 0 0"/>
              <a:gd name="G1" fmla="+- 21600 0 0"/>
              <a:gd name="G2" fmla="+- 21600 0 0"/>
              <a:gd name="T0" fmla="*/ 0 w 21599"/>
              <a:gd name="T1" fmla="*/ 21420 h 21600"/>
              <a:gd name="T2" fmla="*/ 21561 w 21599"/>
              <a:gd name="T3" fmla="*/ 0 h 21600"/>
              <a:gd name="T4" fmla="*/ 21599 w 21599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99" h="21600" fill="none" extrusionOk="0">
                <a:moveTo>
                  <a:pt x="-1" y="21419"/>
                </a:moveTo>
                <a:cubicBezTo>
                  <a:pt x="98" y="9576"/>
                  <a:pt x="9716" y="20"/>
                  <a:pt x="21561" y="0"/>
                </a:cubicBezTo>
              </a:path>
              <a:path w="21599" h="21600" stroke="0" extrusionOk="0">
                <a:moveTo>
                  <a:pt x="-1" y="21419"/>
                </a:moveTo>
                <a:cubicBezTo>
                  <a:pt x="98" y="9576"/>
                  <a:pt x="9716" y="20"/>
                  <a:pt x="21561" y="0"/>
                </a:cubicBezTo>
                <a:lnTo>
                  <a:pt x="21599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52" name="Straight Arrow Connector 51"/>
          <p:cNvCxnSpPr/>
          <p:nvPr/>
        </p:nvCxnSpPr>
        <p:spPr>
          <a:xfrm flipH="1">
            <a:off x="1804988" y="4201318"/>
            <a:ext cx="338137" cy="8191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91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9" grpId="0" animBg="1"/>
      <p:bldP spid="48" grpId="0"/>
      <p:bldP spid="49" grpId="0"/>
      <p:bldP spid="50" grpId="0" animBg="1"/>
      <p:bldP spid="5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B+ Tree: Bulk Loading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What to do?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 smtClean="0"/>
              <a:t>Add one entry to the root page for each subsequent page of the sorted data entries </a:t>
            </a:r>
            <a:r>
              <a:rPr lang="en-US" sz="2400" i="1" dirty="0" smtClean="0"/>
              <a:t>(i.e., &lt;lowest key value on page, pointer to the page&gt;)</a:t>
            </a:r>
            <a:endParaRPr lang="en-US" sz="2400" dirty="0"/>
          </a:p>
          <a:p>
            <a:pPr lvl="1">
              <a:buFont typeface="Wingdings" pitchFamily="2" charset="2"/>
              <a:buChar char="§"/>
            </a:pPr>
            <a:endParaRPr lang="en-US" sz="2400" dirty="0" smtClean="0"/>
          </a:p>
          <a:p>
            <a:pPr marL="457200" lvl="1" indent="0">
              <a:buNone/>
            </a:pPr>
            <a:endParaRPr lang="en-US" sz="2200" dirty="0"/>
          </a:p>
        </p:txBody>
      </p:sp>
      <p:sp>
        <p:nvSpPr>
          <p:cNvPr id="58" name="Freeform 6"/>
          <p:cNvSpPr>
            <a:spLocks/>
          </p:cNvSpPr>
          <p:nvPr/>
        </p:nvSpPr>
        <p:spPr bwMode="auto">
          <a:xfrm>
            <a:off x="1511300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Freeform 7"/>
          <p:cNvSpPr>
            <a:spLocks/>
          </p:cNvSpPr>
          <p:nvPr/>
        </p:nvSpPr>
        <p:spPr bwMode="auto">
          <a:xfrm>
            <a:off x="1803400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Freeform 8"/>
          <p:cNvSpPr>
            <a:spLocks/>
          </p:cNvSpPr>
          <p:nvPr/>
        </p:nvSpPr>
        <p:spPr bwMode="auto">
          <a:xfrm>
            <a:off x="2212975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Freeform 9"/>
          <p:cNvSpPr>
            <a:spLocks/>
          </p:cNvSpPr>
          <p:nvPr/>
        </p:nvSpPr>
        <p:spPr bwMode="auto">
          <a:xfrm>
            <a:off x="2505075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Freeform 10"/>
          <p:cNvSpPr>
            <a:spLocks/>
          </p:cNvSpPr>
          <p:nvPr/>
        </p:nvSpPr>
        <p:spPr bwMode="auto">
          <a:xfrm>
            <a:off x="2916238" y="5020468"/>
            <a:ext cx="585787" cy="368300"/>
          </a:xfrm>
          <a:custGeom>
            <a:avLst/>
            <a:gdLst>
              <a:gd name="T0" fmla="*/ 0 w 369"/>
              <a:gd name="T1" fmla="*/ 231 h 232"/>
              <a:gd name="T2" fmla="*/ 0 w 369"/>
              <a:gd name="T3" fmla="*/ 0 h 232"/>
              <a:gd name="T4" fmla="*/ 368 w 369"/>
              <a:gd name="T5" fmla="*/ 0 h 232"/>
              <a:gd name="T6" fmla="*/ 368 w 369"/>
              <a:gd name="T7" fmla="*/ 231 h 232"/>
              <a:gd name="T8" fmla="*/ 0 w 369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" name="Freeform 11"/>
          <p:cNvSpPr>
            <a:spLocks/>
          </p:cNvSpPr>
          <p:nvPr/>
        </p:nvSpPr>
        <p:spPr bwMode="auto">
          <a:xfrm>
            <a:off x="3208338" y="5020468"/>
            <a:ext cx="1587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Freeform 12"/>
          <p:cNvSpPr>
            <a:spLocks/>
          </p:cNvSpPr>
          <p:nvPr/>
        </p:nvSpPr>
        <p:spPr bwMode="auto">
          <a:xfrm>
            <a:off x="3606800" y="5020468"/>
            <a:ext cx="585788" cy="368300"/>
          </a:xfrm>
          <a:custGeom>
            <a:avLst/>
            <a:gdLst>
              <a:gd name="T0" fmla="*/ 0 w 369"/>
              <a:gd name="T1" fmla="*/ 231 h 232"/>
              <a:gd name="T2" fmla="*/ 0 w 369"/>
              <a:gd name="T3" fmla="*/ 0 h 232"/>
              <a:gd name="T4" fmla="*/ 368 w 369"/>
              <a:gd name="T5" fmla="*/ 0 h 232"/>
              <a:gd name="T6" fmla="*/ 368 w 369"/>
              <a:gd name="T7" fmla="*/ 231 h 232"/>
              <a:gd name="T8" fmla="*/ 0 w 369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" name="Freeform 13"/>
          <p:cNvSpPr>
            <a:spLocks/>
          </p:cNvSpPr>
          <p:nvPr/>
        </p:nvSpPr>
        <p:spPr bwMode="auto">
          <a:xfrm>
            <a:off x="3898900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Freeform 14"/>
          <p:cNvSpPr>
            <a:spLocks/>
          </p:cNvSpPr>
          <p:nvPr/>
        </p:nvSpPr>
        <p:spPr bwMode="auto">
          <a:xfrm>
            <a:off x="4306888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" name="Freeform 15"/>
          <p:cNvSpPr>
            <a:spLocks/>
          </p:cNvSpPr>
          <p:nvPr/>
        </p:nvSpPr>
        <p:spPr bwMode="auto">
          <a:xfrm>
            <a:off x="4602163" y="5020468"/>
            <a:ext cx="1587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Freeform 16"/>
          <p:cNvSpPr>
            <a:spLocks/>
          </p:cNvSpPr>
          <p:nvPr/>
        </p:nvSpPr>
        <p:spPr bwMode="auto">
          <a:xfrm>
            <a:off x="5010150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" name="Freeform 17"/>
          <p:cNvSpPr>
            <a:spLocks/>
          </p:cNvSpPr>
          <p:nvPr/>
        </p:nvSpPr>
        <p:spPr bwMode="auto">
          <a:xfrm>
            <a:off x="5303838" y="5020468"/>
            <a:ext cx="1587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" name="Freeform 18"/>
          <p:cNvSpPr>
            <a:spLocks/>
          </p:cNvSpPr>
          <p:nvPr/>
        </p:nvSpPr>
        <p:spPr bwMode="auto">
          <a:xfrm>
            <a:off x="5713413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Freeform 19"/>
          <p:cNvSpPr>
            <a:spLocks/>
          </p:cNvSpPr>
          <p:nvPr/>
        </p:nvSpPr>
        <p:spPr bwMode="auto">
          <a:xfrm>
            <a:off x="6007100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" name="Freeform 20"/>
          <p:cNvSpPr>
            <a:spLocks/>
          </p:cNvSpPr>
          <p:nvPr/>
        </p:nvSpPr>
        <p:spPr bwMode="auto">
          <a:xfrm>
            <a:off x="6403975" y="5020468"/>
            <a:ext cx="585788" cy="368300"/>
          </a:xfrm>
          <a:custGeom>
            <a:avLst/>
            <a:gdLst>
              <a:gd name="T0" fmla="*/ 0 w 369"/>
              <a:gd name="T1" fmla="*/ 231 h 232"/>
              <a:gd name="T2" fmla="*/ 0 w 369"/>
              <a:gd name="T3" fmla="*/ 0 h 232"/>
              <a:gd name="T4" fmla="*/ 368 w 369"/>
              <a:gd name="T5" fmla="*/ 0 h 232"/>
              <a:gd name="T6" fmla="*/ 368 w 369"/>
              <a:gd name="T7" fmla="*/ 231 h 232"/>
              <a:gd name="T8" fmla="*/ 0 w 369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Freeform 21"/>
          <p:cNvSpPr>
            <a:spLocks/>
          </p:cNvSpPr>
          <p:nvPr/>
        </p:nvSpPr>
        <p:spPr bwMode="auto">
          <a:xfrm>
            <a:off x="6696075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Freeform 22"/>
          <p:cNvSpPr>
            <a:spLocks/>
          </p:cNvSpPr>
          <p:nvPr/>
        </p:nvSpPr>
        <p:spPr bwMode="auto">
          <a:xfrm>
            <a:off x="7083425" y="5020468"/>
            <a:ext cx="585788" cy="368300"/>
          </a:xfrm>
          <a:custGeom>
            <a:avLst/>
            <a:gdLst>
              <a:gd name="T0" fmla="*/ 0 w 369"/>
              <a:gd name="T1" fmla="*/ 231 h 232"/>
              <a:gd name="T2" fmla="*/ 0 w 369"/>
              <a:gd name="T3" fmla="*/ 0 h 232"/>
              <a:gd name="T4" fmla="*/ 368 w 369"/>
              <a:gd name="T5" fmla="*/ 0 h 232"/>
              <a:gd name="T6" fmla="*/ 368 w 369"/>
              <a:gd name="T7" fmla="*/ 231 h 232"/>
              <a:gd name="T8" fmla="*/ 0 w 369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" name="Freeform 23"/>
          <p:cNvSpPr>
            <a:spLocks/>
          </p:cNvSpPr>
          <p:nvPr/>
        </p:nvSpPr>
        <p:spPr bwMode="auto">
          <a:xfrm>
            <a:off x="7375525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" name="Freeform 24"/>
          <p:cNvSpPr>
            <a:spLocks/>
          </p:cNvSpPr>
          <p:nvPr/>
        </p:nvSpPr>
        <p:spPr bwMode="auto">
          <a:xfrm>
            <a:off x="2143125" y="3779043"/>
            <a:ext cx="927100" cy="423863"/>
          </a:xfrm>
          <a:custGeom>
            <a:avLst/>
            <a:gdLst>
              <a:gd name="T0" fmla="*/ 0 w 584"/>
              <a:gd name="T1" fmla="*/ 266 h 267"/>
              <a:gd name="T2" fmla="*/ 0 w 584"/>
              <a:gd name="T3" fmla="*/ 0 h 267"/>
              <a:gd name="T4" fmla="*/ 583 w 584"/>
              <a:gd name="T5" fmla="*/ 0 h 267"/>
              <a:gd name="T6" fmla="*/ 583 w 584"/>
              <a:gd name="T7" fmla="*/ 266 h 267"/>
              <a:gd name="T8" fmla="*/ 0 w 584"/>
              <a:gd name="T9" fmla="*/ 266 h 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84" h="267">
                <a:moveTo>
                  <a:pt x="0" y="266"/>
                </a:moveTo>
                <a:lnTo>
                  <a:pt x="0" y="0"/>
                </a:lnTo>
                <a:lnTo>
                  <a:pt x="583" y="0"/>
                </a:lnTo>
                <a:lnTo>
                  <a:pt x="583" y="266"/>
                </a:lnTo>
                <a:lnTo>
                  <a:pt x="0" y="26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" name="Freeform 25"/>
          <p:cNvSpPr>
            <a:spLocks/>
          </p:cNvSpPr>
          <p:nvPr/>
        </p:nvSpPr>
        <p:spPr bwMode="auto">
          <a:xfrm>
            <a:off x="2565400" y="3779043"/>
            <a:ext cx="1588" cy="409575"/>
          </a:xfrm>
          <a:custGeom>
            <a:avLst/>
            <a:gdLst>
              <a:gd name="T0" fmla="*/ 0 w 1"/>
              <a:gd name="T1" fmla="*/ 0 h 258"/>
              <a:gd name="T2" fmla="*/ 0 w 1"/>
              <a:gd name="T3" fmla="*/ 257 h 258"/>
              <a:gd name="T4" fmla="*/ 0 w 1"/>
              <a:gd name="T5" fmla="*/ 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8">
                <a:moveTo>
                  <a:pt x="0" y="0"/>
                </a:moveTo>
                <a:lnTo>
                  <a:pt x="0" y="25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" name="Freeform 26"/>
          <p:cNvSpPr>
            <a:spLocks/>
          </p:cNvSpPr>
          <p:nvPr/>
        </p:nvSpPr>
        <p:spPr bwMode="auto">
          <a:xfrm>
            <a:off x="2973388" y="3791743"/>
            <a:ext cx="1587" cy="411163"/>
          </a:xfrm>
          <a:custGeom>
            <a:avLst/>
            <a:gdLst>
              <a:gd name="T0" fmla="*/ 0 w 1"/>
              <a:gd name="T1" fmla="*/ 0 h 259"/>
              <a:gd name="T2" fmla="*/ 0 w 1"/>
              <a:gd name="T3" fmla="*/ 258 h 259"/>
              <a:gd name="T4" fmla="*/ 0 w 1"/>
              <a:gd name="T5" fmla="*/ 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9">
                <a:moveTo>
                  <a:pt x="0" y="0"/>
                </a:moveTo>
                <a:lnTo>
                  <a:pt x="0" y="25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" name="Freeform 27"/>
          <p:cNvSpPr>
            <a:spLocks/>
          </p:cNvSpPr>
          <p:nvPr/>
        </p:nvSpPr>
        <p:spPr bwMode="auto">
          <a:xfrm>
            <a:off x="2236788" y="3759993"/>
            <a:ext cx="1587" cy="428625"/>
          </a:xfrm>
          <a:custGeom>
            <a:avLst/>
            <a:gdLst>
              <a:gd name="T0" fmla="*/ 0 w 1"/>
              <a:gd name="T1" fmla="*/ 0 h 270"/>
              <a:gd name="T2" fmla="*/ 0 w 1"/>
              <a:gd name="T3" fmla="*/ 269 h 270"/>
              <a:gd name="T4" fmla="*/ 0 w 1"/>
              <a:gd name="T5" fmla="*/ 0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70">
                <a:moveTo>
                  <a:pt x="0" y="0"/>
                </a:moveTo>
                <a:lnTo>
                  <a:pt x="0" y="269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" name="Freeform 28"/>
          <p:cNvSpPr>
            <a:spLocks/>
          </p:cNvSpPr>
          <p:nvPr/>
        </p:nvSpPr>
        <p:spPr bwMode="auto">
          <a:xfrm>
            <a:off x="2659063" y="3779043"/>
            <a:ext cx="1587" cy="409575"/>
          </a:xfrm>
          <a:custGeom>
            <a:avLst/>
            <a:gdLst>
              <a:gd name="T0" fmla="*/ 0 w 1"/>
              <a:gd name="T1" fmla="*/ 0 h 258"/>
              <a:gd name="T2" fmla="*/ 0 w 1"/>
              <a:gd name="T3" fmla="*/ 257 h 258"/>
              <a:gd name="T4" fmla="*/ 0 w 1"/>
              <a:gd name="T5" fmla="*/ 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8">
                <a:moveTo>
                  <a:pt x="0" y="0"/>
                </a:moveTo>
                <a:lnTo>
                  <a:pt x="0" y="25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" name="Freeform 31"/>
          <p:cNvSpPr>
            <a:spLocks/>
          </p:cNvSpPr>
          <p:nvPr/>
        </p:nvSpPr>
        <p:spPr bwMode="auto">
          <a:xfrm>
            <a:off x="2154238" y="4876006"/>
            <a:ext cx="5597525" cy="647700"/>
          </a:xfrm>
          <a:custGeom>
            <a:avLst/>
            <a:gdLst>
              <a:gd name="T0" fmla="*/ 0 w 3526"/>
              <a:gd name="T1" fmla="*/ 407 h 408"/>
              <a:gd name="T2" fmla="*/ 0 w 3526"/>
              <a:gd name="T3" fmla="*/ 0 h 408"/>
              <a:gd name="T4" fmla="*/ 3525 w 3526"/>
              <a:gd name="T5" fmla="*/ 0 h 408"/>
              <a:gd name="T6" fmla="*/ 3525 w 3526"/>
              <a:gd name="T7" fmla="*/ 407 h 408"/>
              <a:gd name="T8" fmla="*/ 0 w 3526"/>
              <a:gd name="T9" fmla="*/ 407 h 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26" h="408">
                <a:moveTo>
                  <a:pt x="0" y="407"/>
                </a:moveTo>
                <a:lnTo>
                  <a:pt x="0" y="0"/>
                </a:lnTo>
                <a:lnTo>
                  <a:pt x="3525" y="0"/>
                </a:lnTo>
                <a:lnTo>
                  <a:pt x="3525" y="407"/>
                </a:lnTo>
                <a:lnTo>
                  <a:pt x="0" y="40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82" name="Group 49"/>
          <p:cNvGrpSpPr>
            <a:grpSpLocks/>
          </p:cNvGrpSpPr>
          <p:nvPr/>
        </p:nvGrpSpPr>
        <p:grpSpPr bwMode="auto">
          <a:xfrm>
            <a:off x="1492250" y="5031581"/>
            <a:ext cx="5953125" cy="303212"/>
            <a:chOff x="916" y="3723"/>
            <a:chExt cx="3750" cy="191"/>
          </a:xfrm>
        </p:grpSpPr>
        <p:sp>
          <p:nvSpPr>
            <p:cNvPr id="83" name="Rectangle 32"/>
            <p:cNvSpPr>
              <a:spLocks noChangeArrowheads="1"/>
            </p:cNvSpPr>
            <p:nvPr/>
          </p:nvSpPr>
          <p:spPr bwMode="auto">
            <a:xfrm>
              <a:off x="916" y="3723"/>
              <a:ext cx="21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3*</a:t>
              </a:r>
            </a:p>
          </p:txBody>
        </p:sp>
        <p:sp>
          <p:nvSpPr>
            <p:cNvPr id="84" name="Rectangle 33"/>
            <p:cNvSpPr>
              <a:spLocks noChangeArrowheads="1"/>
            </p:cNvSpPr>
            <p:nvPr/>
          </p:nvSpPr>
          <p:spPr bwMode="auto">
            <a:xfrm>
              <a:off x="1098" y="3733"/>
              <a:ext cx="21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4*</a:t>
              </a:r>
            </a:p>
          </p:txBody>
        </p:sp>
        <p:sp>
          <p:nvSpPr>
            <p:cNvPr id="85" name="Rectangle 34"/>
            <p:cNvSpPr>
              <a:spLocks noChangeArrowheads="1"/>
            </p:cNvSpPr>
            <p:nvPr/>
          </p:nvSpPr>
          <p:spPr bwMode="auto">
            <a:xfrm>
              <a:off x="1357" y="3723"/>
              <a:ext cx="21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6*</a:t>
              </a:r>
            </a:p>
          </p:txBody>
        </p:sp>
        <p:sp>
          <p:nvSpPr>
            <p:cNvPr id="86" name="Rectangle 35"/>
            <p:cNvSpPr>
              <a:spLocks noChangeArrowheads="1"/>
            </p:cNvSpPr>
            <p:nvPr/>
          </p:nvSpPr>
          <p:spPr bwMode="auto">
            <a:xfrm>
              <a:off x="1542" y="3723"/>
              <a:ext cx="21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9*</a:t>
              </a:r>
            </a:p>
          </p:txBody>
        </p:sp>
        <p:sp>
          <p:nvSpPr>
            <p:cNvPr id="87" name="Rectangle 36"/>
            <p:cNvSpPr>
              <a:spLocks noChangeArrowheads="1"/>
            </p:cNvSpPr>
            <p:nvPr/>
          </p:nvSpPr>
          <p:spPr bwMode="auto">
            <a:xfrm>
              <a:off x="1771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10*</a:t>
              </a:r>
            </a:p>
          </p:txBody>
        </p:sp>
        <p:sp>
          <p:nvSpPr>
            <p:cNvPr id="88" name="Rectangle 37"/>
            <p:cNvSpPr>
              <a:spLocks noChangeArrowheads="1"/>
            </p:cNvSpPr>
            <p:nvPr/>
          </p:nvSpPr>
          <p:spPr bwMode="auto">
            <a:xfrm>
              <a:off x="1955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11*</a:t>
              </a:r>
            </a:p>
          </p:txBody>
        </p:sp>
        <p:sp>
          <p:nvSpPr>
            <p:cNvPr id="89" name="Rectangle 38"/>
            <p:cNvSpPr>
              <a:spLocks noChangeArrowheads="1"/>
            </p:cNvSpPr>
            <p:nvPr/>
          </p:nvSpPr>
          <p:spPr bwMode="auto">
            <a:xfrm>
              <a:off x="2213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12*</a:t>
              </a:r>
            </a:p>
          </p:txBody>
        </p:sp>
        <p:sp>
          <p:nvSpPr>
            <p:cNvPr id="90" name="Rectangle 39"/>
            <p:cNvSpPr>
              <a:spLocks noChangeArrowheads="1"/>
            </p:cNvSpPr>
            <p:nvPr/>
          </p:nvSpPr>
          <p:spPr bwMode="auto">
            <a:xfrm>
              <a:off x="2397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13*</a:t>
              </a:r>
            </a:p>
          </p:txBody>
        </p:sp>
        <p:sp>
          <p:nvSpPr>
            <p:cNvPr id="91" name="Rectangle 40"/>
            <p:cNvSpPr>
              <a:spLocks noChangeArrowheads="1"/>
            </p:cNvSpPr>
            <p:nvPr/>
          </p:nvSpPr>
          <p:spPr bwMode="auto">
            <a:xfrm>
              <a:off x="2656" y="373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20*</a:t>
              </a:r>
            </a:p>
          </p:txBody>
        </p:sp>
        <p:sp>
          <p:nvSpPr>
            <p:cNvPr id="92" name="Rectangle 41"/>
            <p:cNvSpPr>
              <a:spLocks noChangeArrowheads="1"/>
            </p:cNvSpPr>
            <p:nvPr/>
          </p:nvSpPr>
          <p:spPr bwMode="auto">
            <a:xfrm>
              <a:off x="2833" y="373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22*</a:t>
              </a:r>
            </a:p>
          </p:txBody>
        </p:sp>
        <p:sp>
          <p:nvSpPr>
            <p:cNvPr id="93" name="Rectangle 42"/>
            <p:cNvSpPr>
              <a:spLocks noChangeArrowheads="1"/>
            </p:cNvSpPr>
            <p:nvPr/>
          </p:nvSpPr>
          <p:spPr bwMode="auto">
            <a:xfrm>
              <a:off x="3091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23*</a:t>
              </a:r>
            </a:p>
          </p:txBody>
        </p:sp>
        <p:sp>
          <p:nvSpPr>
            <p:cNvPr id="94" name="Rectangle 43"/>
            <p:cNvSpPr>
              <a:spLocks noChangeArrowheads="1"/>
            </p:cNvSpPr>
            <p:nvPr/>
          </p:nvSpPr>
          <p:spPr bwMode="auto">
            <a:xfrm>
              <a:off x="3282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31*</a:t>
              </a:r>
            </a:p>
          </p:txBody>
        </p:sp>
        <p:sp>
          <p:nvSpPr>
            <p:cNvPr id="95" name="Rectangle 44"/>
            <p:cNvSpPr>
              <a:spLocks noChangeArrowheads="1"/>
            </p:cNvSpPr>
            <p:nvPr/>
          </p:nvSpPr>
          <p:spPr bwMode="auto">
            <a:xfrm>
              <a:off x="3532" y="373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35*</a:t>
              </a:r>
            </a:p>
          </p:txBody>
        </p:sp>
        <p:sp>
          <p:nvSpPr>
            <p:cNvPr id="96" name="Rectangle 45"/>
            <p:cNvSpPr>
              <a:spLocks noChangeArrowheads="1"/>
            </p:cNvSpPr>
            <p:nvPr/>
          </p:nvSpPr>
          <p:spPr bwMode="auto">
            <a:xfrm>
              <a:off x="3710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36*</a:t>
              </a:r>
            </a:p>
          </p:txBody>
        </p:sp>
        <p:sp>
          <p:nvSpPr>
            <p:cNvPr id="97" name="Rectangle 46"/>
            <p:cNvSpPr>
              <a:spLocks noChangeArrowheads="1"/>
            </p:cNvSpPr>
            <p:nvPr/>
          </p:nvSpPr>
          <p:spPr bwMode="auto">
            <a:xfrm>
              <a:off x="3975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38*</a:t>
              </a:r>
            </a:p>
          </p:txBody>
        </p:sp>
        <p:sp>
          <p:nvSpPr>
            <p:cNvPr id="98" name="Rectangle 47"/>
            <p:cNvSpPr>
              <a:spLocks noChangeArrowheads="1"/>
            </p:cNvSpPr>
            <p:nvPr/>
          </p:nvSpPr>
          <p:spPr bwMode="auto">
            <a:xfrm>
              <a:off x="4152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41*</a:t>
              </a:r>
            </a:p>
          </p:txBody>
        </p:sp>
        <p:sp>
          <p:nvSpPr>
            <p:cNvPr id="99" name="Rectangle 48"/>
            <p:cNvSpPr>
              <a:spLocks noChangeArrowheads="1"/>
            </p:cNvSpPr>
            <p:nvPr/>
          </p:nvSpPr>
          <p:spPr bwMode="auto">
            <a:xfrm>
              <a:off x="4396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44*</a:t>
              </a:r>
            </a:p>
          </p:txBody>
        </p:sp>
      </p:grpSp>
      <p:sp>
        <p:nvSpPr>
          <p:cNvPr id="100" name="Rectangle 50"/>
          <p:cNvSpPr>
            <a:spLocks noChangeArrowheads="1"/>
          </p:cNvSpPr>
          <p:nvPr/>
        </p:nvSpPr>
        <p:spPr bwMode="auto">
          <a:xfrm>
            <a:off x="3997325" y="3779043"/>
            <a:ext cx="474328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latin typeface="Arial" pitchFamily="34" charset="0"/>
              </a:rPr>
              <a:t>Sorted pages of data entries; not yet in B+ tree</a:t>
            </a:r>
          </a:p>
        </p:txBody>
      </p:sp>
      <p:sp>
        <p:nvSpPr>
          <p:cNvPr id="101" name="Rectangle 51"/>
          <p:cNvSpPr>
            <a:spLocks noChangeArrowheads="1"/>
          </p:cNvSpPr>
          <p:nvPr/>
        </p:nvSpPr>
        <p:spPr bwMode="auto">
          <a:xfrm>
            <a:off x="1300232" y="3631406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102" name="Line 52"/>
          <p:cNvSpPr>
            <a:spLocks noChangeShapeType="1"/>
          </p:cNvSpPr>
          <p:nvPr/>
        </p:nvSpPr>
        <p:spPr bwMode="auto">
          <a:xfrm>
            <a:off x="1714500" y="3540918"/>
            <a:ext cx="3810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Arc 53"/>
          <p:cNvSpPr>
            <a:spLocks/>
          </p:cNvSpPr>
          <p:nvPr/>
        </p:nvSpPr>
        <p:spPr bwMode="auto">
          <a:xfrm>
            <a:off x="3394075" y="4082256"/>
            <a:ext cx="914400" cy="762000"/>
          </a:xfrm>
          <a:custGeom>
            <a:avLst/>
            <a:gdLst>
              <a:gd name="G0" fmla="+- 21599 0 0"/>
              <a:gd name="G1" fmla="+- 21600 0 0"/>
              <a:gd name="G2" fmla="+- 21600 0 0"/>
              <a:gd name="T0" fmla="*/ 0 w 21599"/>
              <a:gd name="T1" fmla="*/ 21420 h 21600"/>
              <a:gd name="T2" fmla="*/ 21561 w 21599"/>
              <a:gd name="T3" fmla="*/ 0 h 21600"/>
              <a:gd name="T4" fmla="*/ 21599 w 21599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99" h="21600" fill="none" extrusionOk="0">
                <a:moveTo>
                  <a:pt x="-1" y="21419"/>
                </a:moveTo>
                <a:cubicBezTo>
                  <a:pt x="98" y="9576"/>
                  <a:pt x="9716" y="20"/>
                  <a:pt x="21561" y="0"/>
                </a:cubicBezTo>
              </a:path>
              <a:path w="21599" h="21600" stroke="0" extrusionOk="0">
                <a:moveTo>
                  <a:pt x="-1" y="21419"/>
                </a:moveTo>
                <a:cubicBezTo>
                  <a:pt x="98" y="9576"/>
                  <a:pt x="9716" y="20"/>
                  <a:pt x="21561" y="0"/>
                </a:cubicBezTo>
                <a:lnTo>
                  <a:pt x="21599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04" name="Straight Arrow Connector 103"/>
          <p:cNvCxnSpPr/>
          <p:nvPr/>
        </p:nvCxnSpPr>
        <p:spPr>
          <a:xfrm flipH="1">
            <a:off x="1804988" y="4201318"/>
            <a:ext cx="338137" cy="8191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078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B+ Tree: Bulk Loading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What to do?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 smtClean="0"/>
              <a:t>Add one entry to the root page for each </a:t>
            </a:r>
            <a:r>
              <a:rPr lang="en-US" sz="2400" dirty="0"/>
              <a:t>subsequent </a:t>
            </a:r>
            <a:r>
              <a:rPr lang="en-US" sz="2400" dirty="0" smtClean="0"/>
              <a:t>page of the sorted data entries </a:t>
            </a:r>
            <a:r>
              <a:rPr lang="en-US" sz="2400" i="1" dirty="0" smtClean="0"/>
              <a:t>(i.e., &lt;lowest key value on page, pointer to the page&gt;)</a:t>
            </a:r>
            <a:endParaRPr lang="en-US" sz="2400" dirty="0"/>
          </a:p>
          <a:p>
            <a:pPr lvl="1">
              <a:buFont typeface="Wingdings" pitchFamily="2" charset="2"/>
              <a:buChar char="§"/>
            </a:pPr>
            <a:endParaRPr lang="en-US" sz="2400" dirty="0" smtClean="0"/>
          </a:p>
          <a:p>
            <a:pPr marL="457200" lvl="1" indent="0">
              <a:buNone/>
            </a:pPr>
            <a:endParaRPr lang="en-US" sz="2200" dirty="0"/>
          </a:p>
        </p:txBody>
      </p:sp>
      <p:sp>
        <p:nvSpPr>
          <p:cNvPr id="4" name="Freeform 6"/>
          <p:cNvSpPr>
            <a:spLocks/>
          </p:cNvSpPr>
          <p:nvPr/>
        </p:nvSpPr>
        <p:spPr bwMode="auto">
          <a:xfrm>
            <a:off x="1511300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1803400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Freeform 8"/>
          <p:cNvSpPr>
            <a:spLocks/>
          </p:cNvSpPr>
          <p:nvPr/>
        </p:nvSpPr>
        <p:spPr bwMode="auto">
          <a:xfrm>
            <a:off x="2212975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Freeform 9"/>
          <p:cNvSpPr>
            <a:spLocks/>
          </p:cNvSpPr>
          <p:nvPr/>
        </p:nvSpPr>
        <p:spPr bwMode="auto">
          <a:xfrm>
            <a:off x="2505075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Freeform 10"/>
          <p:cNvSpPr>
            <a:spLocks/>
          </p:cNvSpPr>
          <p:nvPr/>
        </p:nvSpPr>
        <p:spPr bwMode="auto">
          <a:xfrm>
            <a:off x="2916238" y="5020468"/>
            <a:ext cx="585787" cy="368300"/>
          </a:xfrm>
          <a:custGeom>
            <a:avLst/>
            <a:gdLst>
              <a:gd name="T0" fmla="*/ 0 w 369"/>
              <a:gd name="T1" fmla="*/ 231 h 232"/>
              <a:gd name="T2" fmla="*/ 0 w 369"/>
              <a:gd name="T3" fmla="*/ 0 h 232"/>
              <a:gd name="T4" fmla="*/ 368 w 369"/>
              <a:gd name="T5" fmla="*/ 0 h 232"/>
              <a:gd name="T6" fmla="*/ 368 w 369"/>
              <a:gd name="T7" fmla="*/ 231 h 232"/>
              <a:gd name="T8" fmla="*/ 0 w 369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Freeform 11"/>
          <p:cNvSpPr>
            <a:spLocks/>
          </p:cNvSpPr>
          <p:nvPr/>
        </p:nvSpPr>
        <p:spPr bwMode="auto">
          <a:xfrm>
            <a:off x="3208338" y="5020468"/>
            <a:ext cx="1587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Freeform 12"/>
          <p:cNvSpPr>
            <a:spLocks/>
          </p:cNvSpPr>
          <p:nvPr/>
        </p:nvSpPr>
        <p:spPr bwMode="auto">
          <a:xfrm>
            <a:off x="3606800" y="5020468"/>
            <a:ext cx="585788" cy="368300"/>
          </a:xfrm>
          <a:custGeom>
            <a:avLst/>
            <a:gdLst>
              <a:gd name="T0" fmla="*/ 0 w 369"/>
              <a:gd name="T1" fmla="*/ 231 h 232"/>
              <a:gd name="T2" fmla="*/ 0 w 369"/>
              <a:gd name="T3" fmla="*/ 0 h 232"/>
              <a:gd name="T4" fmla="*/ 368 w 369"/>
              <a:gd name="T5" fmla="*/ 0 h 232"/>
              <a:gd name="T6" fmla="*/ 368 w 369"/>
              <a:gd name="T7" fmla="*/ 231 h 232"/>
              <a:gd name="T8" fmla="*/ 0 w 369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Freeform 13"/>
          <p:cNvSpPr>
            <a:spLocks/>
          </p:cNvSpPr>
          <p:nvPr/>
        </p:nvSpPr>
        <p:spPr bwMode="auto">
          <a:xfrm>
            <a:off x="3898900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Freeform 14"/>
          <p:cNvSpPr>
            <a:spLocks/>
          </p:cNvSpPr>
          <p:nvPr/>
        </p:nvSpPr>
        <p:spPr bwMode="auto">
          <a:xfrm>
            <a:off x="4306888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Freeform 15"/>
          <p:cNvSpPr>
            <a:spLocks/>
          </p:cNvSpPr>
          <p:nvPr/>
        </p:nvSpPr>
        <p:spPr bwMode="auto">
          <a:xfrm>
            <a:off x="4602163" y="5020468"/>
            <a:ext cx="1587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Freeform 16"/>
          <p:cNvSpPr>
            <a:spLocks/>
          </p:cNvSpPr>
          <p:nvPr/>
        </p:nvSpPr>
        <p:spPr bwMode="auto">
          <a:xfrm>
            <a:off x="5010150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Freeform 17"/>
          <p:cNvSpPr>
            <a:spLocks/>
          </p:cNvSpPr>
          <p:nvPr/>
        </p:nvSpPr>
        <p:spPr bwMode="auto">
          <a:xfrm>
            <a:off x="5303838" y="5020468"/>
            <a:ext cx="1587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Freeform 18"/>
          <p:cNvSpPr>
            <a:spLocks/>
          </p:cNvSpPr>
          <p:nvPr/>
        </p:nvSpPr>
        <p:spPr bwMode="auto">
          <a:xfrm>
            <a:off x="5713413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Freeform 19"/>
          <p:cNvSpPr>
            <a:spLocks/>
          </p:cNvSpPr>
          <p:nvPr/>
        </p:nvSpPr>
        <p:spPr bwMode="auto">
          <a:xfrm>
            <a:off x="6007100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Freeform 20"/>
          <p:cNvSpPr>
            <a:spLocks/>
          </p:cNvSpPr>
          <p:nvPr/>
        </p:nvSpPr>
        <p:spPr bwMode="auto">
          <a:xfrm>
            <a:off x="6403975" y="5020468"/>
            <a:ext cx="585788" cy="368300"/>
          </a:xfrm>
          <a:custGeom>
            <a:avLst/>
            <a:gdLst>
              <a:gd name="T0" fmla="*/ 0 w 369"/>
              <a:gd name="T1" fmla="*/ 231 h 232"/>
              <a:gd name="T2" fmla="*/ 0 w 369"/>
              <a:gd name="T3" fmla="*/ 0 h 232"/>
              <a:gd name="T4" fmla="*/ 368 w 369"/>
              <a:gd name="T5" fmla="*/ 0 h 232"/>
              <a:gd name="T6" fmla="*/ 368 w 369"/>
              <a:gd name="T7" fmla="*/ 231 h 232"/>
              <a:gd name="T8" fmla="*/ 0 w 369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Freeform 21"/>
          <p:cNvSpPr>
            <a:spLocks/>
          </p:cNvSpPr>
          <p:nvPr/>
        </p:nvSpPr>
        <p:spPr bwMode="auto">
          <a:xfrm>
            <a:off x="6696075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Freeform 22"/>
          <p:cNvSpPr>
            <a:spLocks/>
          </p:cNvSpPr>
          <p:nvPr/>
        </p:nvSpPr>
        <p:spPr bwMode="auto">
          <a:xfrm>
            <a:off x="7083425" y="5020468"/>
            <a:ext cx="585788" cy="368300"/>
          </a:xfrm>
          <a:custGeom>
            <a:avLst/>
            <a:gdLst>
              <a:gd name="T0" fmla="*/ 0 w 369"/>
              <a:gd name="T1" fmla="*/ 231 h 232"/>
              <a:gd name="T2" fmla="*/ 0 w 369"/>
              <a:gd name="T3" fmla="*/ 0 h 232"/>
              <a:gd name="T4" fmla="*/ 368 w 369"/>
              <a:gd name="T5" fmla="*/ 0 h 232"/>
              <a:gd name="T6" fmla="*/ 368 w 369"/>
              <a:gd name="T7" fmla="*/ 231 h 232"/>
              <a:gd name="T8" fmla="*/ 0 w 369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Freeform 23"/>
          <p:cNvSpPr>
            <a:spLocks/>
          </p:cNvSpPr>
          <p:nvPr/>
        </p:nvSpPr>
        <p:spPr bwMode="auto">
          <a:xfrm>
            <a:off x="7375525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Freeform 24"/>
          <p:cNvSpPr>
            <a:spLocks/>
          </p:cNvSpPr>
          <p:nvPr/>
        </p:nvSpPr>
        <p:spPr bwMode="auto">
          <a:xfrm>
            <a:off x="2143125" y="3779043"/>
            <a:ext cx="927100" cy="423863"/>
          </a:xfrm>
          <a:custGeom>
            <a:avLst/>
            <a:gdLst>
              <a:gd name="T0" fmla="*/ 0 w 584"/>
              <a:gd name="T1" fmla="*/ 266 h 267"/>
              <a:gd name="T2" fmla="*/ 0 w 584"/>
              <a:gd name="T3" fmla="*/ 0 h 267"/>
              <a:gd name="T4" fmla="*/ 583 w 584"/>
              <a:gd name="T5" fmla="*/ 0 h 267"/>
              <a:gd name="T6" fmla="*/ 583 w 584"/>
              <a:gd name="T7" fmla="*/ 266 h 267"/>
              <a:gd name="T8" fmla="*/ 0 w 584"/>
              <a:gd name="T9" fmla="*/ 266 h 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84" h="267">
                <a:moveTo>
                  <a:pt x="0" y="266"/>
                </a:moveTo>
                <a:lnTo>
                  <a:pt x="0" y="0"/>
                </a:lnTo>
                <a:lnTo>
                  <a:pt x="583" y="0"/>
                </a:lnTo>
                <a:lnTo>
                  <a:pt x="583" y="266"/>
                </a:lnTo>
                <a:lnTo>
                  <a:pt x="0" y="26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Freeform 25"/>
          <p:cNvSpPr>
            <a:spLocks/>
          </p:cNvSpPr>
          <p:nvPr/>
        </p:nvSpPr>
        <p:spPr bwMode="auto">
          <a:xfrm>
            <a:off x="2565400" y="3779043"/>
            <a:ext cx="1588" cy="409575"/>
          </a:xfrm>
          <a:custGeom>
            <a:avLst/>
            <a:gdLst>
              <a:gd name="T0" fmla="*/ 0 w 1"/>
              <a:gd name="T1" fmla="*/ 0 h 258"/>
              <a:gd name="T2" fmla="*/ 0 w 1"/>
              <a:gd name="T3" fmla="*/ 257 h 258"/>
              <a:gd name="T4" fmla="*/ 0 w 1"/>
              <a:gd name="T5" fmla="*/ 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8">
                <a:moveTo>
                  <a:pt x="0" y="0"/>
                </a:moveTo>
                <a:lnTo>
                  <a:pt x="0" y="25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Freeform 26"/>
          <p:cNvSpPr>
            <a:spLocks/>
          </p:cNvSpPr>
          <p:nvPr/>
        </p:nvSpPr>
        <p:spPr bwMode="auto">
          <a:xfrm>
            <a:off x="2973388" y="3791743"/>
            <a:ext cx="1587" cy="411163"/>
          </a:xfrm>
          <a:custGeom>
            <a:avLst/>
            <a:gdLst>
              <a:gd name="T0" fmla="*/ 0 w 1"/>
              <a:gd name="T1" fmla="*/ 0 h 259"/>
              <a:gd name="T2" fmla="*/ 0 w 1"/>
              <a:gd name="T3" fmla="*/ 258 h 259"/>
              <a:gd name="T4" fmla="*/ 0 w 1"/>
              <a:gd name="T5" fmla="*/ 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9">
                <a:moveTo>
                  <a:pt x="0" y="0"/>
                </a:moveTo>
                <a:lnTo>
                  <a:pt x="0" y="25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Freeform 27"/>
          <p:cNvSpPr>
            <a:spLocks/>
          </p:cNvSpPr>
          <p:nvPr/>
        </p:nvSpPr>
        <p:spPr bwMode="auto">
          <a:xfrm>
            <a:off x="2236788" y="3759993"/>
            <a:ext cx="1587" cy="428625"/>
          </a:xfrm>
          <a:custGeom>
            <a:avLst/>
            <a:gdLst>
              <a:gd name="T0" fmla="*/ 0 w 1"/>
              <a:gd name="T1" fmla="*/ 0 h 270"/>
              <a:gd name="T2" fmla="*/ 0 w 1"/>
              <a:gd name="T3" fmla="*/ 269 h 270"/>
              <a:gd name="T4" fmla="*/ 0 w 1"/>
              <a:gd name="T5" fmla="*/ 0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70">
                <a:moveTo>
                  <a:pt x="0" y="0"/>
                </a:moveTo>
                <a:lnTo>
                  <a:pt x="0" y="269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Freeform 28"/>
          <p:cNvSpPr>
            <a:spLocks/>
          </p:cNvSpPr>
          <p:nvPr/>
        </p:nvSpPr>
        <p:spPr bwMode="auto">
          <a:xfrm>
            <a:off x="2659063" y="3779043"/>
            <a:ext cx="1587" cy="409575"/>
          </a:xfrm>
          <a:custGeom>
            <a:avLst/>
            <a:gdLst>
              <a:gd name="T0" fmla="*/ 0 w 1"/>
              <a:gd name="T1" fmla="*/ 0 h 258"/>
              <a:gd name="T2" fmla="*/ 0 w 1"/>
              <a:gd name="T3" fmla="*/ 257 h 258"/>
              <a:gd name="T4" fmla="*/ 0 w 1"/>
              <a:gd name="T5" fmla="*/ 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8">
                <a:moveTo>
                  <a:pt x="0" y="0"/>
                </a:moveTo>
                <a:lnTo>
                  <a:pt x="0" y="25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Freeform 31"/>
          <p:cNvSpPr>
            <a:spLocks/>
          </p:cNvSpPr>
          <p:nvPr/>
        </p:nvSpPr>
        <p:spPr bwMode="auto">
          <a:xfrm>
            <a:off x="2849563" y="4876006"/>
            <a:ext cx="4902200" cy="647700"/>
          </a:xfrm>
          <a:custGeom>
            <a:avLst/>
            <a:gdLst>
              <a:gd name="T0" fmla="*/ 0 w 3526"/>
              <a:gd name="T1" fmla="*/ 407 h 408"/>
              <a:gd name="T2" fmla="*/ 0 w 3526"/>
              <a:gd name="T3" fmla="*/ 0 h 408"/>
              <a:gd name="T4" fmla="*/ 3525 w 3526"/>
              <a:gd name="T5" fmla="*/ 0 h 408"/>
              <a:gd name="T6" fmla="*/ 3525 w 3526"/>
              <a:gd name="T7" fmla="*/ 407 h 408"/>
              <a:gd name="T8" fmla="*/ 0 w 3526"/>
              <a:gd name="T9" fmla="*/ 407 h 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26" h="408">
                <a:moveTo>
                  <a:pt x="0" y="407"/>
                </a:moveTo>
                <a:lnTo>
                  <a:pt x="0" y="0"/>
                </a:lnTo>
                <a:lnTo>
                  <a:pt x="3525" y="0"/>
                </a:lnTo>
                <a:lnTo>
                  <a:pt x="3525" y="407"/>
                </a:lnTo>
                <a:lnTo>
                  <a:pt x="0" y="40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0" name="Group 49"/>
          <p:cNvGrpSpPr>
            <a:grpSpLocks/>
          </p:cNvGrpSpPr>
          <p:nvPr/>
        </p:nvGrpSpPr>
        <p:grpSpPr bwMode="auto">
          <a:xfrm>
            <a:off x="1492250" y="5031581"/>
            <a:ext cx="5953125" cy="303212"/>
            <a:chOff x="916" y="3723"/>
            <a:chExt cx="3750" cy="191"/>
          </a:xfrm>
        </p:grpSpPr>
        <p:sp>
          <p:nvSpPr>
            <p:cNvPr id="31" name="Rectangle 32"/>
            <p:cNvSpPr>
              <a:spLocks noChangeArrowheads="1"/>
            </p:cNvSpPr>
            <p:nvPr/>
          </p:nvSpPr>
          <p:spPr bwMode="auto">
            <a:xfrm>
              <a:off x="916" y="3723"/>
              <a:ext cx="21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3*</a:t>
              </a:r>
            </a:p>
          </p:txBody>
        </p:sp>
        <p:sp>
          <p:nvSpPr>
            <p:cNvPr id="32" name="Rectangle 33"/>
            <p:cNvSpPr>
              <a:spLocks noChangeArrowheads="1"/>
            </p:cNvSpPr>
            <p:nvPr/>
          </p:nvSpPr>
          <p:spPr bwMode="auto">
            <a:xfrm>
              <a:off x="1098" y="3733"/>
              <a:ext cx="21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4*</a:t>
              </a:r>
            </a:p>
          </p:txBody>
        </p:sp>
        <p:sp>
          <p:nvSpPr>
            <p:cNvPr id="33" name="Rectangle 34"/>
            <p:cNvSpPr>
              <a:spLocks noChangeArrowheads="1"/>
            </p:cNvSpPr>
            <p:nvPr/>
          </p:nvSpPr>
          <p:spPr bwMode="auto">
            <a:xfrm>
              <a:off x="1357" y="3723"/>
              <a:ext cx="21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 dirty="0">
                  <a:solidFill>
                    <a:srgbClr val="000000"/>
                  </a:solidFill>
                  <a:latin typeface="Arial" pitchFamily="34" charset="0"/>
                </a:rPr>
                <a:t>6*</a:t>
              </a:r>
            </a:p>
          </p:txBody>
        </p:sp>
        <p:sp>
          <p:nvSpPr>
            <p:cNvPr id="34" name="Rectangle 35"/>
            <p:cNvSpPr>
              <a:spLocks noChangeArrowheads="1"/>
            </p:cNvSpPr>
            <p:nvPr/>
          </p:nvSpPr>
          <p:spPr bwMode="auto">
            <a:xfrm>
              <a:off x="1542" y="3723"/>
              <a:ext cx="21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9*</a:t>
              </a:r>
            </a:p>
          </p:txBody>
        </p:sp>
        <p:sp>
          <p:nvSpPr>
            <p:cNvPr id="35" name="Rectangle 36"/>
            <p:cNvSpPr>
              <a:spLocks noChangeArrowheads="1"/>
            </p:cNvSpPr>
            <p:nvPr/>
          </p:nvSpPr>
          <p:spPr bwMode="auto">
            <a:xfrm>
              <a:off x="1771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10*</a:t>
              </a:r>
            </a:p>
          </p:txBody>
        </p:sp>
        <p:sp>
          <p:nvSpPr>
            <p:cNvPr id="36" name="Rectangle 37"/>
            <p:cNvSpPr>
              <a:spLocks noChangeArrowheads="1"/>
            </p:cNvSpPr>
            <p:nvPr/>
          </p:nvSpPr>
          <p:spPr bwMode="auto">
            <a:xfrm>
              <a:off x="1955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11*</a:t>
              </a:r>
            </a:p>
          </p:txBody>
        </p:sp>
        <p:sp>
          <p:nvSpPr>
            <p:cNvPr id="37" name="Rectangle 38"/>
            <p:cNvSpPr>
              <a:spLocks noChangeArrowheads="1"/>
            </p:cNvSpPr>
            <p:nvPr/>
          </p:nvSpPr>
          <p:spPr bwMode="auto">
            <a:xfrm>
              <a:off x="2213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12*</a:t>
              </a:r>
            </a:p>
          </p:txBody>
        </p:sp>
        <p:sp>
          <p:nvSpPr>
            <p:cNvPr id="38" name="Rectangle 39"/>
            <p:cNvSpPr>
              <a:spLocks noChangeArrowheads="1"/>
            </p:cNvSpPr>
            <p:nvPr/>
          </p:nvSpPr>
          <p:spPr bwMode="auto">
            <a:xfrm>
              <a:off x="2397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13*</a:t>
              </a:r>
            </a:p>
          </p:txBody>
        </p:sp>
        <p:sp>
          <p:nvSpPr>
            <p:cNvPr id="39" name="Rectangle 40"/>
            <p:cNvSpPr>
              <a:spLocks noChangeArrowheads="1"/>
            </p:cNvSpPr>
            <p:nvPr/>
          </p:nvSpPr>
          <p:spPr bwMode="auto">
            <a:xfrm>
              <a:off x="2656" y="373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20*</a:t>
              </a:r>
            </a:p>
          </p:txBody>
        </p:sp>
        <p:sp>
          <p:nvSpPr>
            <p:cNvPr id="40" name="Rectangle 41"/>
            <p:cNvSpPr>
              <a:spLocks noChangeArrowheads="1"/>
            </p:cNvSpPr>
            <p:nvPr/>
          </p:nvSpPr>
          <p:spPr bwMode="auto">
            <a:xfrm>
              <a:off x="2833" y="373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22*</a:t>
              </a:r>
            </a:p>
          </p:txBody>
        </p:sp>
        <p:sp>
          <p:nvSpPr>
            <p:cNvPr id="41" name="Rectangle 42"/>
            <p:cNvSpPr>
              <a:spLocks noChangeArrowheads="1"/>
            </p:cNvSpPr>
            <p:nvPr/>
          </p:nvSpPr>
          <p:spPr bwMode="auto">
            <a:xfrm>
              <a:off x="3091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23*</a:t>
              </a:r>
            </a:p>
          </p:txBody>
        </p:sp>
        <p:sp>
          <p:nvSpPr>
            <p:cNvPr id="42" name="Rectangle 43"/>
            <p:cNvSpPr>
              <a:spLocks noChangeArrowheads="1"/>
            </p:cNvSpPr>
            <p:nvPr/>
          </p:nvSpPr>
          <p:spPr bwMode="auto">
            <a:xfrm>
              <a:off x="3282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31*</a:t>
              </a:r>
            </a:p>
          </p:txBody>
        </p:sp>
        <p:sp>
          <p:nvSpPr>
            <p:cNvPr id="43" name="Rectangle 44"/>
            <p:cNvSpPr>
              <a:spLocks noChangeArrowheads="1"/>
            </p:cNvSpPr>
            <p:nvPr/>
          </p:nvSpPr>
          <p:spPr bwMode="auto">
            <a:xfrm>
              <a:off x="3532" y="373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35*</a:t>
              </a:r>
            </a:p>
          </p:txBody>
        </p:sp>
        <p:sp>
          <p:nvSpPr>
            <p:cNvPr id="44" name="Rectangle 45"/>
            <p:cNvSpPr>
              <a:spLocks noChangeArrowheads="1"/>
            </p:cNvSpPr>
            <p:nvPr/>
          </p:nvSpPr>
          <p:spPr bwMode="auto">
            <a:xfrm>
              <a:off x="3710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36*</a:t>
              </a:r>
            </a:p>
          </p:txBody>
        </p:sp>
        <p:sp>
          <p:nvSpPr>
            <p:cNvPr id="45" name="Rectangle 46"/>
            <p:cNvSpPr>
              <a:spLocks noChangeArrowheads="1"/>
            </p:cNvSpPr>
            <p:nvPr/>
          </p:nvSpPr>
          <p:spPr bwMode="auto">
            <a:xfrm>
              <a:off x="3975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38*</a:t>
              </a:r>
            </a:p>
          </p:txBody>
        </p:sp>
        <p:sp>
          <p:nvSpPr>
            <p:cNvPr id="46" name="Rectangle 47"/>
            <p:cNvSpPr>
              <a:spLocks noChangeArrowheads="1"/>
            </p:cNvSpPr>
            <p:nvPr/>
          </p:nvSpPr>
          <p:spPr bwMode="auto">
            <a:xfrm>
              <a:off x="4152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41*</a:t>
              </a:r>
            </a:p>
          </p:txBody>
        </p:sp>
        <p:sp>
          <p:nvSpPr>
            <p:cNvPr id="47" name="Rectangle 48"/>
            <p:cNvSpPr>
              <a:spLocks noChangeArrowheads="1"/>
            </p:cNvSpPr>
            <p:nvPr/>
          </p:nvSpPr>
          <p:spPr bwMode="auto">
            <a:xfrm>
              <a:off x="4396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44*</a:t>
              </a:r>
            </a:p>
          </p:txBody>
        </p:sp>
      </p:grpSp>
      <p:sp>
        <p:nvSpPr>
          <p:cNvPr id="49" name="Rectangle 51"/>
          <p:cNvSpPr>
            <a:spLocks noChangeArrowheads="1"/>
          </p:cNvSpPr>
          <p:nvPr/>
        </p:nvSpPr>
        <p:spPr bwMode="auto">
          <a:xfrm>
            <a:off x="1300232" y="3631406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50" name="Line 52"/>
          <p:cNvSpPr>
            <a:spLocks noChangeShapeType="1"/>
          </p:cNvSpPr>
          <p:nvPr/>
        </p:nvSpPr>
        <p:spPr bwMode="auto">
          <a:xfrm>
            <a:off x="1714500" y="3540918"/>
            <a:ext cx="3810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3" name="Straight Arrow Connector 2"/>
          <p:cNvCxnSpPr>
            <a:stCxn id="22" idx="0"/>
          </p:cNvCxnSpPr>
          <p:nvPr/>
        </p:nvCxnSpPr>
        <p:spPr>
          <a:xfrm flipH="1">
            <a:off x="1804988" y="4201318"/>
            <a:ext cx="338137" cy="8191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2486025" y="4207616"/>
            <a:ext cx="120651" cy="8128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34"/>
          <p:cNvSpPr>
            <a:spLocks noChangeArrowheads="1"/>
          </p:cNvSpPr>
          <p:nvPr/>
        </p:nvSpPr>
        <p:spPr bwMode="auto">
          <a:xfrm>
            <a:off x="2255467" y="3841379"/>
            <a:ext cx="275718" cy="289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 dirty="0" smtClean="0">
                <a:solidFill>
                  <a:srgbClr val="000000"/>
                </a:solidFill>
                <a:latin typeface="Arial" pitchFamily="34" charset="0"/>
              </a:rPr>
              <a:t>6</a:t>
            </a:r>
            <a:endParaRPr lang="en-US" sz="1300" b="1" dirty="0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581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B+ Tree: Bulk Loading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What to do?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/>
              <a:t>Add one entry to the root page for each subsequent </a:t>
            </a:r>
            <a:r>
              <a:rPr lang="en-US" sz="2400" dirty="0" smtClean="0"/>
              <a:t>page </a:t>
            </a:r>
            <a:r>
              <a:rPr lang="en-US" sz="2400" dirty="0"/>
              <a:t>of the sorted data entries </a:t>
            </a:r>
            <a:r>
              <a:rPr lang="en-US" sz="2400" i="1" dirty="0"/>
              <a:t>(i.e., &lt;</a:t>
            </a:r>
            <a:r>
              <a:rPr lang="en-US" sz="2400" i="1" dirty="0" smtClean="0"/>
              <a:t>lowest </a:t>
            </a:r>
            <a:r>
              <a:rPr lang="en-US" sz="2400" i="1" dirty="0"/>
              <a:t>key value on page, pointer to </a:t>
            </a:r>
            <a:r>
              <a:rPr lang="en-US" sz="2400" i="1" dirty="0" smtClean="0"/>
              <a:t>the </a:t>
            </a:r>
            <a:r>
              <a:rPr lang="en-US" sz="2400" i="1" dirty="0"/>
              <a:t>page&gt;)</a:t>
            </a:r>
            <a:endParaRPr lang="en-US" sz="2400" dirty="0"/>
          </a:p>
          <a:p>
            <a:pPr lvl="1">
              <a:buFont typeface="Wingdings" pitchFamily="2" charset="2"/>
              <a:buChar char="§"/>
            </a:pPr>
            <a:endParaRPr lang="en-US" sz="2400" dirty="0" smtClean="0"/>
          </a:p>
          <a:p>
            <a:pPr marL="457200" lvl="1" indent="0">
              <a:buNone/>
            </a:pPr>
            <a:endParaRPr lang="en-US" sz="2200" dirty="0"/>
          </a:p>
        </p:txBody>
      </p:sp>
      <p:sp>
        <p:nvSpPr>
          <p:cNvPr id="4" name="Freeform 6"/>
          <p:cNvSpPr>
            <a:spLocks/>
          </p:cNvSpPr>
          <p:nvPr/>
        </p:nvSpPr>
        <p:spPr bwMode="auto">
          <a:xfrm>
            <a:off x="1511300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1803400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Freeform 8"/>
          <p:cNvSpPr>
            <a:spLocks/>
          </p:cNvSpPr>
          <p:nvPr/>
        </p:nvSpPr>
        <p:spPr bwMode="auto">
          <a:xfrm>
            <a:off x="2212975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Freeform 9"/>
          <p:cNvSpPr>
            <a:spLocks/>
          </p:cNvSpPr>
          <p:nvPr/>
        </p:nvSpPr>
        <p:spPr bwMode="auto">
          <a:xfrm>
            <a:off x="2505075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Freeform 10"/>
          <p:cNvSpPr>
            <a:spLocks/>
          </p:cNvSpPr>
          <p:nvPr/>
        </p:nvSpPr>
        <p:spPr bwMode="auto">
          <a:xfrm>
            <a:off x="2916238" y="5020468"/>
            <a:ext cx="585787" cy="368300"/>
          </a:xfrm>
          <a:custGeom>
            <a:avLst/>
            <a:gdLst>
              <a:gd name="T0" fmla="*/ 0 w 369"/>
              <a:gd name="T1" fmla="*/ 231 h 232"/>
              <a:gd name="T2" fmla="*/ 0 w 369"/>
              <a:gd name="T3" fmla="*/ 0 h 232"/>
              <a:gd name="T4" fmla="*/ 368 w 369"/>
              <a:gd name="T5" fmla="*/ 0 h 232"/>
              <a:gd name="T6" fmla="*/ 368 w 369"/>
              <a:gd name="T7" fmla="*/ 231 h 232"/>
              <a:gd name="T8" fmla="*/ 0 w 369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Freeform 11"/>
          <p:cNvSpPr>
            <a:spLocks/>
          </p:cNvSpPr>
          <p:nvPr/>
        </p:nvSpPr>
        <p:spPr bwMode="auto">
          <a:xfrm>
            <a:off x="3208338" y="5020468"/>
            <a:ext cx="1587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Freeform 12"/>
          <p:cNvSpPr>
            <a:spLocks/>
          </p:cNvSpPr>
          <p:nvPr/>
        </p:nvSpPr>
        <p:spPr bwMode="auto">
          <a:xfrm>
            <a:off x="3606800" y="5020468"/>
            <a:ext cx="585788" cy="368300"/>
          </a:xfrm>
          <a:custGeom>
            <a:avLst/>
            <a:gdLst>
              <a:gd name="T0" fmla="*/ 0 w 369"/>
              <a:gd name="T1" fmla="*/ 231 h 232"/>
              <a:gd name="T2" fmla="*/ 0 w 369"/>
              <a:gd name="T3" fmla="*/ 0 h 232"/>
              <a:gd name="T4" fmla="*/ 368 w 369"/>
              <a:gd name="T5" fmla="*/ 0 h 232"/>
              <a:gd name="T6" fmla="*/ 368 w 369"/>
              <a:gd name="T7" fmla="*/ 231 h 232"/>
              <a:gd name="T8" fmla="*/ 0 w 369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Freeform 13"/>
          <p:cNvSpPr>
            <a:spLocks/>
          </p:cNvSpPr>
          <p:nvPr/>
        </p:nvSpPr>
        <p:spPr bwMode="auto">
          <a:xfrm>
            <a:off x="3898900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Freeform 14"/>
          <p:cNvSpPr>
            <a:spLocks/>
          </p:cNvSpPr>
          <p:nvPr/>
        </p:nvSpPr>
        <p:spPr bwMode="auto">
          <a:xfrm>
            <a:off x="4306888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Freeform 15"/>
          <p:cNvSpPr>
            <a:spLocks/>
          </p:cNvSpPr>
          <p:nvPr/>
        </p:nvSpPr>
        <p:spPr bwMode="auto">
          <a:xfrm>
            <a:off x="4602163" y="5020468"/>
            <a:ext cx="1587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Freeform 16"/>
          <p:cNvSpPr>
            <a:spLocks/>
          </p:cNvSpPr>
          <p:nvPr/>
        </p:nvSpPr>
        <p:spPr bwMode="auto">
          <a:xfrm>
            <a:off x="5010150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Freeform 17"/>
          <p:cNvSpPr>
            <a:spLocks/>
          </p:cNvSpPr>
          <p:nvPr/>
        </p:nvSpPr>
        <p:spPr bwMode="auto">
          <a:xfrm>
            <a:off x="5303838" y="5020468"/>
            <a:ext cx="1587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Freeform 18"/>
          <p:cNvSpPr>
            <a:spLocks/>
          </p:cNvSpPr>
          <p:nvPr/>
        </p:nvSpPr>
        <p:spPr bwMode="auto">
          <a:xfrm>
            <a:off x="5713413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Freeform 19"/>
          <p:cNvSpPr>
            <a:spLocks/>
          </p:cNvSpPr>
          <p:nvPr/>
        </p:nvSpPr>
        <p:spPr bwMode="auto">
          <a:xfrm>
            <a:off x="6007100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Freeform 20"/>
          <p:cNvSpPr>
            <a:spLocks/>
          </p:cNvSpPr>
          <p:nvPr/>
        </p:nvSpPr>
        <p:spPr bwMode="auto">
          <a:xfrm>
            <a:off x="6403975" y="5020468"/>
            <a:ext cx="585788" cy="368300"/>
          </a:xfrm>
          <a:custGeom>
            <a:avLst/>
            <a:gdLst>
              <a:gd name="T0" fmla="*/ 0 w 369"/>
              <a:gd name="T1" fmla="*/ 231 h 232"/>
              <a:gd name="T2" fmla="*/ 0 w 369"/>
              <a:gd name="T3" fmla="*/ 0 h 232"/>
              <a:gd name="T4" fmla="*/ 368 w 369"/>
              <a:gd name="T5" fmla="*/ 0 h 232"/>
              <a:gd name="T6" fmla="*/ 368 w 369"/>
              <a:gd name="T7" fmla="*/ 231 h 232"/>
              <a:gd name="T8" fmla="*/ 0 w 369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Freeform 21"/>
          <p:cNvSpPr>
            <a:spLocks/>
          </p:cNvSpPr>
          <p:nvPr/>
        </p:nvSpPr>
        <p:spPr bwMode="auto">
          <a:xfrm>
            <a:off x="6696075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Freeform 22"/>
          <p:cNvSpPr>
            <a:spLocks/>
          </p:cNvSpPr>
          <p:nvPr/>
        </p:nvSpPr>
        <p:spPr bwMode="auto">
          <a:xfrm>
            <a:off x="7083425" y="5020468"/>
            <a:ext cx="585788" cy="368300"/>
          </a:xfrm>
          <a:custGeom>
            <a:avLst/>
            <a:gdLst>
              <a:gd name="T0" fmla="*/ 0 w 369"/>
              <a:gd name="T1" fmla="*/ 231 h 232"/>
              <a:gd name="T2" fmla="*/ 0 w 369"/>
              <a:gd name="T3" fmla="*/ 0 h 232"/>
              <a:gd name="T4" fmla="*/ 368 w 369"/>
              <a:gd name="T5" fmla="*/ 0 h 232"/>
              <a:gd name="T6" fmla="*/ 368 w 369"/>
              <a:gd name="T7" fmla="*/ 231 h 232"/>
              <a:gd name="T8" fmla="*/ 0 w 369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Freeform 23"/>
          <p:cNvSpPr>
            <a:spLocks/>
          </p:cNvSpPr>
          <p:nvPr/>
        </p:nvSpPr>
        <p:spPr bwMode="auto">
          <a:xfrm>
            <a:off x="7375525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Freeform 24"/>
          <p:cNvSpPr>
            <a:spLocks/>
          </p:cNvSpPr>
          <p:nvPr/>
        </p:nvSpPr>
        <p:spPr bwMode="auto">
          <a:xfrm>
            <a:off x="2143125" y="3779043"/>
            <a:ext cx="927100" cy="423863"/>
          </a:xfrm>
          <a:custGeom>
            <a:avLst/>
            <a:gdLst>
              <a:gd name="T0" fmla="*/ 0 w 584"/>
              <a:gd name="T1" fmla="*/ 266 h 267"/>
              <a:gd name="T2" fmla="*/ 0 w 584"/>
              <a:gd name="T3" fmla="*/ 0 h 267"/>
              <a:gd name="T4" fmla="*/ 583 w 584"/>
              <a:gd name="T5" fmla="*/ 0 h 267"/>
              <a:gd name="T6" fmla="*/ 583 w 584"/>
              <a:gd name="T7" fmla="*/ 266 h 267"/>
              <a:gd name="T8" fmla="*/ 0 w 584"/>
              <a:gd name="T9" fmla="*/ 266 h 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84" h="267">
                <a:moveTo>
                  <a:pt x="0" y="266"/>
                </a:moveTo>
                <a:lnTo>
                  <a:pt x="0" y="0"/>
                </a:lnTo>
                <a:lnTo>
                  <a:pt x="583" y="0"/>
                </a:lnTo>
                <a:lnTo>
                  <a:pt x="583" y="266"/>
                </a:lnTo>
                <a:lnTo>
                  <a:pt x="0" y="26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Freeform 25"/>
          <p:cNvSpPr>
            <a:spLocks/>
          </p:cNvSpPr>
          <p:nvPr/>
        </p:nvSpPr>
        <p:spPr bwMode="auto">
          <a:xfrm>
            <a:off x="2565400" y="3779043"/>
            <a:ext cx="1588" cy="409575"/>
          </a:xfrm>
          <a:custGeom>
            <a:avLst/>
            <a:gdLst>
              <a:gd name="T0" fmla="*/ 0 w 1"/>
              <a:gd name="T1" fmla="*/ 0 h 258"/>
              <a:gd name="T2" fmla="*/ 0 w 1"/>
              <a:gd name="T3" fmla="*/ 257 h 258"/>
              <a:gd name="T4" fmla="*/ 0 w 1"/>
              <a:gd name="T5" fmla="*/ 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8">
                <a:moveTo>
                  <a:pt x="0" y="0"/>
                </a:moveTo>
                <a:lnTo>
                  <a:pt x="0" y="25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Freeform 26"/>
          <p:cNvSpPr>
            <a:spLocks/>
          </p:cNvSpPr>
          <p:nvPr/>
        </p:nvSpPr>
        <p:spPr bwMode="auto">
          <a:xfrm>
            <a:off x="2973388" y="3791743"/>
            <a:ext cx="1587" cy="411163"/>
          </a:xfrm>
          <a:custGeom>
            <a:avLst/>
            <a:gdLst>
              <a:gd name="T0" fmla="*/ 0 w 1"/>
              <a:gd name="T1" fmla="*/ 0 h 259"/>
              <a:gd name="T2" fmla="*/ 0 w 1"/>
              <a:gd name="T3" fmla="*/ 258 h 259"/>
              <a:gd name="T4" fmla="*/ 0 w 1"/>
              <a:gd name="T5" fmla="*/ 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9">
                <a:moveTo>
                  <a:pt x="0" y="0"/>
                </a:moveTo>
                <a:lnTo>
                  <a:pt x="0" y="25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Freeform 27"/>
          <p:cNvSpPr>
            <a:spLocks/>
          </p:cNvSpPr>
          <p:nvPr/>
        </p:nvSpPr>
        <p:spPr bwMode="auto">
          <a:xfrm>
            <a:off x="2236788" y="3759993"/>
            <a:ext cx="1587" cy="428625"/>
          </a:xfrm>
          <a:custGeom>
            <a:avLst/>
            <a:gdLst>
              <a:gd name="T0" fmla="*/ 0 w 1"/>
              <a:gd name="T1" fmla="*/ 0 h 270"/>
              <a:gd name="T2" fmla="*/ 0 w 1"/>
              <a:gd name="T3" fmla="*/ 269 h 270"/>
              <a:gd name="T4" fmla="*/ 0 w 1"/>
              <a:gd name="T5" fmla="*/ 0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70">
                <a:moveTo>
                  <a:pt x="0" y="0"/>
                </a:moveTo>
                <a:lnTo>
                  <a:pt x="0" y="269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Freeform 28"/>
          <p:cNvSpPr>
            <a:spLocks/>
          </p:cNvSpPr>
          <p:nvPr/>
        </p:nvSpPr>
        <p:spPr bwMode="auto">
          <a:xfrm>
            <a:off x="2659063" y="3779043"/>
            <a:ext cx="1587" cy="409575"/>
          </a:xfrm>
          <a:custGeom>
            <a:avLst/>
            <a:gdLst>
              <a:gd name="T0" fmla="*/ 0 w 1"/>
              <a:gd name="T1" fmla="*/ 0 h 258"/>
              <a:gd name="T2" fmla="*/ 0 w 1"/>
              <a:gd name="T3" fmla="*/ 257 h 258"/>
              <a:gd name="T4" fmla="*/ 0 w 1"/>
              <a:gd name="T5" fmla="*/ 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8">
                <a:moveTo>
                  <a:pt x="0" y="0"/>
                </a:moveTo>
                <a:lnTo>
                  <a:pt x="0" y="25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Freeform 31"/>
          <p:cNvSpPr>
            <a:spLocks/>
          </p:cNvSpPr>
          <p:nvPr/>
        </p:nvSpPr>
        <p:spPr bwMode="auto">
          <a:xfrm>
            <a:off x="3551237" y="4876006"/>
            <a:ext cx="4200525" cy="647700"/>
          </a:xfrm>
          <a:custGeom>
            <a:avLst/>
            <a:gdLst>
              <a:gd name="T0" fmla="*/ 0 w 3526"/>
              <a:gd name="T1" fmla="*/ 407 h 408"/>
              <a:gd name="T2" fmla="*/ 0 w 3526"/>
              <a:gd name="T3" fmla="*/ 0 h 408"/>
              <a:gd name="T4" fmla="*/ 3525 w 3526"/>
              <a:gd name="T5" fmla="*/ 0 h 408"/>
              <a:gd name="T6" fmla="*/ 3525 w 3526"/>
              <a:gd name="T7" fmla="*/ 407 h 408"/>
              <a:gd name="T8" fmla="*/ 0 w 3526"/>
              <a:gd name="T9" fmla="*/ 407 h 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26" h="408">
                <a:moveTo>
                  <a:pt x="0" y="407"/>
                </a:moveTo>
                <a:lnTo>
                  <a:pt x="0" y="0"/>
                </a:lnTo>
                <a:lnTo>
                  <a:pt x="3525" y="0"/>
                </a:lnTo>
                <a:lnTo>
                  <a:pt x="3525" y="407"/>
                </a:lnTo>
                <a:lnTo>
                  <a:pt x="0" y="40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0" name="Group 49"/>
          <p:cNvGrpSpPr>
            <a:grpSpLocks/>
          </p:cNvGrpSpPr>
          <p:nvPr/>
        </p:nvGrpSpPr>
        <p:grpSpPr bwMode="auto">
          <a:xfrm>
            <a:off x="1492250" y="5031581"/>
            <a:ext cx="5953125" cy="303212"/>
            <a:chOff x="916" y="3723"/>
            <a:chExt cx="3750" cy="191"/>
          </a:xfrm>
        </p:grpSpPr>
        <p:sp>
          <p:nvSpPr>
            <p:cNvPr id="31" name="Rectangle 32"/>
            <p:cNvSpPr>
              <a:spLocks noChangeArrowheads="1"/>
            </p:cNvSpPr>
            <p:nvPr/>
          </p:nvSpPr>
          <p:spPr bwMode="auto">
            <a:xfrm>
              <a:off x="916" y="3723"/>
              <a:ext cx="21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3*</a:t>
              </a:r>
            </a:p>
          </p:txBody>
        </p:sp>
        <p:sp>
          <p:nvSpPr>
            <p:cNvPr id="32" name="Rectangle 33"/>
            <p:cNvSpPr>
              <a:spLocks noChangeArrowheads="1"/>
            </p:cNvSpPr>
            <p:nvPr/>
          </p:nvSpPr>
          <p:spPr bwMode="auto">
            <a:xfrm>
              <a:off x="1098" y="3733"/>
              <a:ext cx="21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4*</a:t>
              </a:r>
            </a:p>
          </p:txBody>
        </p:sp>
        <p:sp>
          <p:nvSpPr>
            <p:cNvPr id="33" name="Rectangle 34"/>
            <p:cNvSpPr>
              <a:spLocks noChangeArrowheads="1"/>
            </p:cNvSpPr>
            <p:nvPr/>
          </p:nvSpPr>
          <p:spPr bwMode="auto">
            <a:xfrm>
              <a:off x="1357" y="3723"/>
              <a:ext cx="21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 dirty="0">
                  <a:solidFill>
                    <a:srgbClr val="000000"/>
                  </a:solidFill>
                  <a:latin typeface="Arial" pitchFamily="34" charset="0"/>
                </a:rPr>
                <a:t>6*</a:t>
              </a:r>
            </a:p>
          </p:txBody>
        </p:sp>
        <p:sp>
          <p:nvSpPr>
            <p:cNvPr id="34" name="Rectangle 35"/>
            <p:cNvSpPr>
              <a:spLocks noChangeArrowheads="1"/>
            </p:cNvSpPr>
            <p:nvPr/>
          </p:nvSpPr>
          <p:spPr bwMode="auto">
            <a:xfrm>
              <a:off x="1542" y="3723"/>
              <a:ext cx="21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9*</a:t>
              </a:r>
            </a:p>
          </p:txBody>
        </p:sp>
        <p:sp>
          <p:nvSpPr>
            <p:cNvPr id="35" name="Rectangle 36"/>
            <p:cNvSpPr>
              <a:spLocks noChangeArrowheads="1"/>
            </p:cNvSpPr>
            <p:nvPr/>
          </p:nvSpPr>
          <p:spPr bwMode="auto">
            <a:xfrm>
              <a:off x="1771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 dirty="0">
                  <a:solidFill>
                    <a:srgbClr val="000000"/>
                  </a:solidFill>
                  <a:latin typeface="Arial" pitchFamily="34" charset="0"/>
                </a:rPr>
                <a:t>10*</a:t>
              </a:r>
            </a:p>
          </p:txBody>
        </p:sp>
        <p:sp>
          <p:nvSpPr>
            <p:cNvPr id="36" name="Rectangle 37"/>
            <p:cNvSpPr>
              <a:spLocks noChangeArrowheads="1"/>
            </p:cNvSpPr>
            <p:nvPr/>
          </p:nvSpPr>
          <p:spPr bwMode="auto">
            <a:xfrm>
              <a:off x="1955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11*</a:t>
              </a:r>
            </a:p>
          </p:txBody>
        </p:sp>
        <p:sp>
          <p:nvSpPr>
            <p:cNvPr id="37" name="Rectangle 38"/>
            <p:cNvSpPr>
              <a:spLocks noChangeArrowheads="1"/>
            </p:cNvSpPr>
            <p:nvPr/>
          </p:nvSpPr>
          <p:spPr bwMode="auto">
            <a:xfrm>
              <a:off x="2213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12*</a:t>
              </a:r>
            </a:p>
          </p:txBody>
        </p:sp>
        <p:sp>
          <p:nvSpPr>
            <p:cNvPr id="38" name="Rectangle 39"/>
            <p:cNvSpPr>
              <a:spLocks noChangeArrowheads="1"/>
            </p:cNvSpPr>
            <p:nvPr/>
          </p:nvSpPr>
          <p:spPr bwMode="auto">
            <a:xfrm>
              <a:off x="2397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13*</a:t>
              </a:r>
            </a:p>
          </p:txBody>
        </p:sp>
        <p:sp>
          <p:nvSpPr>
            <p:cNvPr id="39" name="Rectangle 40"/>
            <p:cNvSpPr>
              <a:spLocks noChangeArrowheads="1"/>
            </p:cNvSpPr>
            <p:nvPr/>
          </p:nvSpPr>
          <p:spPr bwMode="auto">
            <a:xfrm>
              <a:off x="2656" y="373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20*</a:t>
              </a:r>
            </a:p>
          </p:txBody>
        </p:sp>
        <p:sp>
          <p:nvSpPr>
            <p:cNvPr id="40" name="Rectangle 41"/>
            <p:cNvSpPr>
              <a:spLocks noChangeArrowheads="1"/>
            </p:cNvSpPr>
            <p:nvPr/>
          </p:nvSpPr>
          <p:spPr bwMode="auto">
            <a:xfrm>
              <a:off x="2833" y="373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22*</a:t>
              </a:r>
            </a:p>
          </p:txBody>
        </p:sp>
        <p:sp>
          <p:nvSpPr>
            <p:cNvPr id="41" name="Rectangle 42"/>
            <p:cNvSpPr>
              <a:spLocks noChangeArrowheads="1"/>
            </p:cNvSpPr>
            <p:nvPr/>
          </p:nvSpPr>
          <p:spPr bwMode="auto">
            <a:xfrm>
              <a:off x="3091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23*</a:t>
              </a:r>
            </a:p>
          </p:txBody>
        </p:sp>
        <p:sp>
          <p:nvSpPr>
            <p:cNvPr id="42" name="Rectangle 43"/>
            <p:cNvSpPr>
              <a:spLocks noChangeArrowheads="1"/>
            </p:cNvSpPr>
            <p:nvPr/>
          </p:nvSpPr>
          <p:spPr bwMode="auto">
            <a:xfrm>
              <a:off x="3282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31*</a:t>
              </a:r>
            </a:p>
          </p:txBody>
        </p:sp>
        <p:sp>
          <p:nvSpPr>
            <p:cNvPr id="43" name="Rectangle 44"/>
            <p:cNvSpPr>
              <a:spLocks noChangeArrowheads="1"/>
            </p:cNvSpPr>
            <p:nvPr/>
          </p:nvSpPr>
          <p:spPr bwMode="auto">
            <a:xfrm>
              <a:off x="3532" y="373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35*</a:t>
              </a:r>
            </a:p>
          </p:txBody>
        </p:sp>
        <p:sp>
          <p:nvSpPr>
            <p:cNvPr id="44" name="Rectangle 45"/>
            <p:cNvSpPr>
              <a:spLocks noChangeArrowheads="1"/>
            </p:cNvSpPr>
            <p:nvPr/>
          </p:nvSpPr>
          <p:spPr bwMode="auto">
            <a:xfrm>
              <a:off x="3710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36*</a:t>
              </a:r>
            </a:p>
          </p:txBody>
        </p:sp>
        <p:sp>
          <p:nvSpPr>
            <p:cNvPr id="45" name="Rectangle 46"/>
            <p:cNvSpPr>
              <a:spLocks noChangeArrowheads="1"/>
            </p:cNvSpPr>
            <p:nvPr/>
          </p:nvSpPr>
          <p:spPr bwMode="auto">
            <a:xfrm>
              <a:off x="3975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38*</a:t>
              </a:r>
            </a:p>
          </p:txBody>
        </p:sp>
        <p:sp>
          <p:nvSpPr>
            <p:cNvPr id="46" name="Rectangle 47"/>
            <p:cNvSpPr>
              <a:spLocks noChangeArrowheads="1"/>
            </p:cNvSpPr>
            <p:nvPr/>
          </p:nvSpPr>
          <p:spPr bwMode="auto">
            <a:xfrm>
              <a:off x="4152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41*</a:t>
              </a:r>
            </a:p>
          </p:txBody>
        </p:sp>
        <p:sp>
          <p:nvSpPr>
            <p:cNvPr id="47" name="Rectangle 48"/>
            <p:cNvSpPr>
              <a:spLocks noChangeArrowheads="1"/>
            </p:cNvSpPr>
            <p:nvPr/>
          </p:nvSpPr>
          <p:spPr bwMode="auto">
            <a:xfrm>
              <a:off x="4396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44*</a:t>
              </a:r>
            </a:p>
          </p:txBody>
        </p:sp>
      </p:grpSp>
      <p:sp>
        <p:nvSpPr>
          <p:cNvPr id="49" name="Rectangle 51"/>
          <p:cNvSpPr>
            <a:spLocks noChangeArrowheads="1"/>
          </p:cNvSpPr>
          <p:nvPr/>
        </p:nvSpPr>
        <p:spPr bwMode="auto">
          <a:xfrm>
            <a:off x="1300232" y="3631406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50" name="Line 52"/>
          <p:cNvSpPr>
            <a:spLocks noChangeShapeType="1"/>
          </p:cNvSpPr>
          <p:nvPr/>
        </p:nvSpPr>
        <p:spPr bwMode="auto">
          <a:xfrm>
            <a:off x="1714500" y="3540918"/>
            <a:ext cx="3810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Rectangle 34"/>
          <p:cNvSpPr>
            <a:spLocks noChangeArrowheads="1"/>
          </p:cNvSpPr>
          <p:nvPr/>
        </p:nvSpPr>
        <p:spPr bwMode="auto">
          <a:xfrm>
            <a:off x="2255467" y="3841379"/>
            <a:ext cx="275718" cy="289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 dirty="0" smtClean="0">
                <a:solidFill>
                  <a:srgbClr val="000000"/>
                </a:solidFill>
                <a:latin typeface="Arial" pitchFamily="34" charset="0"/>
              </a:rPr>
              <a:t>6</a:t>
            </a:r>
            <a:endParaRPr lang="en-US" sz="1300" b="1" dirty="0">
              <a:solidFill>
                <a:srgbClr val="000000"/>
              </a:solidFill>
              <a:latin typeface="Arial" pitchFamily="34" charset="0"/>
            </a:endParaRPr>
          </a:p>
        </p:txBody>
      </p:sp>
      <p:cxnSp>
        <p:nvCxnSpPr>
          <p:cNvPr id="3" name="Straight Arrow Connector 2"/>
          <p:cNvCxnSpPr>
            <a:stCxn id="22" idx="0"/>
          </p:cNvCxnSpPr>
          <p:nvPr/>
        </p:nvCxnSpPr>
        <p:spPr>
          <a:xfrm flipH="1">
            <a:off x="1804988" y="4201318"/>
            <a:ext cx="338137" cy="8191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2486025" y="4207616"/>
            <a:ext cx="120651" cy="8128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6"/>
          <p:cNvSpPr>
            <a:spLocks noChangeArrowheads="1"/>
          </p:cNvSpPr>
          <p:nvPr/>
        </p:nvSpPr>
        <p:spPr bwMode="auto">
          <a:xfrm>
            <a:off x="2633054" y="3856274"/>
            <a:ext cx="368692" cy="289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 dirty="0" smtClean="0">
                <a:solidFill>
                  <a:srgbClr val="000000"/>
                </a:solidFill>
                <a:latin typeface="Arial" pitchFamily="34" charset="0"/>
              </a:rPr>
              <a:t>10</a:t>
            </a:r>
            <a:endParaRPr lang="en-US" sz="1300" b="1" dirty="0">
              <a:solidFill>
                <a:srgbClr val="000000"/>
              </a:solidFill>
              <a:latin typeface="Arial" pitchFamily="34" charset="0"/>
            </a:endParaRP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3036890" y="4179867"/>
            <a:ext cx="173035" cy="8128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1105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B+ Tree: Bulk Loading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What to do?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 smtClean="0"/>
              <a:t>Split the root and create a new root page</a:t>
            </a:r>
            <a:endParaRPr lang="en-US" sz="2400" dirty="0"/>
          </a:p>
          <a:p>
            <a:pPr lvl="1">
              <a:buFont typeface="Wingdings" pitchFamily="2" charset="2"/>
              <a:buChar char="§"/>
            </a:pPr>
            <a:endParaRPr lang="en-US" sz="2400" dirty="0" smtClean="0"/>
          </a:p>
          <a:p>
            <a:pPr marL="457200" lvl="1" indent="0">
              <a:buNone/>
            </a:pPr>
            <a:endParaRPr lang="en-US" sz="2200" dirty="0"/>
          </a:p>
        </p:txBody>
      </p:sp>
      <p:sp>
        <p:nvSpPr>
          <p:cNvPr id="4" name="Freeform 6"/>
          <p:cNvSpPr>
            <a:spLocks/>
          </p:cNvSpPr>
          <p:nvPr/>
        </p:nvSpPr>
        <p:spPr bwMode="auto">
          <a:xfrm>
            <a:off x="1511300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1803400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Freeform 8"/>
          <p:cNvSpPr>
            <a:spLocks/>
          </p:cNvSpPr>
          <p:nvPr/>
        </p:nvSpPr>
        <p:spPr bwMode="auto">
          <a:xfrm>
            <a:off x="2212975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Freeform 9"/>
          <p:cNvSpPr>
            <a:spLocks/>
          </p:cNvSpPr>
          <p:nvPr/>
        </p:nvSpPr>
        <p:spPr bwMode="auto">
          <a:xfrm>
            <a:off x="2505075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Freeform 10"/>
          <p:cNvSpPr>
            <a:spLocks/>
          </p:cNvSpPr>
          <p:nvPr/>
        </p:nvSpPr>
        <p:spPr bwMode="auto">
          <a:xfrm>
            <a:off x="2916238" y="5020468"/>
            <a:ext cx="585787" cy="368300"/>
          </a:xfrm>
          <a:custGeom>
            <a:avLst/>
            <a:gdLst>
              <a:gd name="T0" fmla="*/ 0 w 369"/>
              <a:gd name="T1" fmla="*/ 231 h 232"/>
              <a:gd name="T2" fmla="*/ 0 w 369"/>
              <a:gd name="T3" fmla="*/ 0 h 232"/>
              <a:gd name="T4" fmla="*/ 368 w 369"/>
              <a:gd name="T5" fmla="*/ 0 h 232"/>
              <a:gd name="T6" fmla="*/ 368 w 369"/>
              <a:gd name="T7" fmla="*/ 231 h 232"/>
              <a:gd name="T8" fmla="*/ 0 w 369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Freeform 11"/>
          <p:cNvSpPr>
            <a:spLocks/>
          </p:cNvSpPr>
          <p:nvPr/>
        </p:nvSpPr>
        <p:spPr bwMode="auto">
          <a:xfrm>
            <a:off x="3208338" y="5020468"/>
            <a:ext cx="1587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Freeform 12"/>
          <p:cNvSpPr>
            <a:spLocks/>
          </p:cNvSpPr>
          <p:nvPr/>
        </p:nvSpPr>
        <p:spPr bwMode="auto">
          <a:xfrm>
            <a:off x="3606800" y="5020468"/>
            <a:ext cx="585788" cy="368300"/>
          </a:xfrm>
          <a:custGeom>
            <a:avLst/>
            <a:gdLst>
              <a:gd name="T0" fmla="*/ 0 w 369"/>
              <a:gd name="T1" fmla="*/ 231 h 232"/>
              <a:gd name="T2" fmla="*/ 0 w 369"/>
              <a:gd name="T3" fmla="*/ 0 h 232"/>
              <a:gd name="T4" fmla="*/ 368 w 369"/>
              <a:gd name="T5" fmla="*/ 0 h 232"/>
              <a:gd name="T6" fmla="*/ 368 w 369"/>
              <a:gd name="T7" fmla="*/ 231 h 232"/>
              <a:gd name="T8" fmla="*/ 0 w 369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Freeform 13"/>
          <p:cNvSpPr>
            <a:spLocks/>
          </p:cNvSpPr>
          <p:nvPr/>
        </p:nvSpPr>
        <p:spPr bwMode="auto">
          <a:xfrm>
            <a:off x="3898900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Freeform 14"/>
          <p:cNvSpPr>
            <a:spLocks/>
          </p:cNvSpPr>
          <p:nvPr/>
        </p:nvSpPr>
        <p:spPr bwMode="auto">
          <a:xfrm>
            <a:off x="4306888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Freeform 15"/>
          <p:cNvSpPr>
            <a:spLocks/>
          </p:cNvSpPr>
          <p:nvPr/>
        </p:nvSpPr>
        <p:spPr bwMode="auto">
          <a:xfrm>
            <a:off x="4602163" y="5020468"/>
            <a:ext cx="1587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Freeform 16"/>
          <p:cNvSpPr>
            <a:spLocks/>
          </p:cNvSpPr>
          <p:nvPr/>
        </p:nvSpPr>
        <p:spPr bwMode="auto">
          <a:xfrm>
            <a:off x="5010150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Freeform 17"/>
          <p:cNvSpPr>
            <a:spLocks/>
          </p:cNvSpPr>
          <p:nvPr/>
        </p:nvSpPr>
        <p:spPr bwMode="auto">
          <a:xfrm>
            <a:off x="5303838" y="5020468"/>
            <a:ext cx="1587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Freeform 18"/>
          <p:cNvSpPr>
            <a:spLocks/>
          </p:cNvSpPr>
          <p:nvPr/>
        </p:nvSpPr>
        <p:spPr bwMode="auto">
          <a:xfrm>
            <a:off x="5713413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Freeform 19"/>
          <p:cNvSpPr>
            <a:spLocks/>
          </p:cNvSpPr>
          <p:nvPr/>
        </p:nvSpPr>
        <p:spPr bwMode="auto">
          <a:xfrm>
            <a:off x="6007100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Freeform 20"/>
          <p:cNvSpPr>
            <a:spLocks/>
          </p:cNvSpPr>
          <p:nvPr/>
        </p:nvSpPr>
        <p:spPr bwMode="auto">
          <a:xfrm>
            <a:off x="6403975" y="5020468"/>
            <a:ext cx="585788" cy="368300"/>
          </a:xfrm>
          <a:custGeom>
            <a:avLst/>
            <a:gdLst>
              <a:gd name="T0" fmla="*/ 0 w 369"/>
              <a:gd name="T1" fmla="*/ 231 h 232"/>
              <a:gd name="T2" fmla="*/ 0 w 369"/>
              <a:gd name="T3" fmla="*/ 0 h 232"/>
              <a:gd name="T4" fmla="*/ 368 w 369"/>
              <a:gd name="T5" fmla="*/ 0 h 232"/>
              <a:gd name="T6" fmla="*/ 368 w 369"/>
              <a:gd name="T7" fmla="*/ 231 h 232"/>
              <a:gd name="T8" fmla="*/ 0 w 369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Freeform 21"/>
          <p:cNvSpPr>
            <a:spLocks/>
          </p:cNvSpPr>
          <p:nvPr/>
        </p:nvSpPr>
        <p:spPr bwMode="auto">
          <a:xfrm>
            <a:off x="6696075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Freeform 22"/>
          <p:cNvSpPr>
            <a:spLocks/>
          </p:cNvSpPr>
          <p:nvPr/>
        </p:nvSpPr>
        <p:spPr bwMode="auto">
          <a:xfrm>
            <a:off x="7083425" y="5020468"/>
            <a:ext cx="585788" cy="368300"/>
          </a:xfrm>
          <a:custGeom>
            <a:avLst/>
            <a:gdLst>
              <a:gd name="T0" fmla="*/ 0 w 369"/>
              <a:gd name="T1" fmla="*/ 231 h 232"/>
              <a:gd name="T2" fmla="*/ 0 w 369"/>
              <a:gd name="T3" fmla="*/ 0 h 232"/>
              <a:gd name="T4" fmla="*/ 368 w 369"/>
              <a:gd name="T5" fmla="*/ 0 h 232"/>
              <a:gd name="T6" fmla="*/ 368 w 369"/>
              <a:gd name="T7" fmla="*/ 231 h 232"/>
              <a:gd name="T8" fmla="*/ 0 w 369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Freeform 23"/>
          <p:cNvSpPr>
            <a:spLocks/>
          </p:cNvSpPr>
          <p:nvPr/>
        </p:nvSpPr>
        <p:spPr bwMode="auto">
          <a:xfrm>
            <a:off x="7375525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Freeform 24"/>
          <p:cNvSpPr>
            <a:spLocks/>
          </p:cNvSpPr>
          <p:nvPr/>
        </p:nvSpPr>
        <p:spPr bwMode="auto">
          <a:xfrm>
            <a:off x="2143125" y="3779043"/>
            <a:ext cx="927100" cy="423863"/>
          </a:xfrm>
          <a:custGeom>
            <a:avLst/>
            <a:gdLst>
              <a:gd name="T0" fmla="*/ 0 w 584"/>
              <a:gd name="T1" fmla="*/ 266 h 267"/>
              <a:gd name="T2" fmla="*/ 0 w 584"/>
              <a:gd name="T3" fmla="*/ 0 h 267"/>
              <a:gd name="T4" fmla="*/ 583 w 584"/>
              <a:gd name="T5" fmla="*/ 0 h 267"/>
              <a:gd name="T6" fmla="*/ 583 w 584"/>
              <a:gd name="T7" fmla="*/ 266 h 267"/>
              <a:gd name="T8" fmla="*/ 0 w 584"/>
              <a:gd name="T9" fmla="*/ 266 h 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84" h="267">
                <a:moveTo>
                  <a:pt x="0" y="266"/>
                </a:moveTo>
                <a:lnTo>
                  <a:pt x="0" y="0"/>
                </a:lnTo>
                <a:lnTo>
                  <a:pt x="583" y="0"/>
                </a:lnTo>
                <a:lnTo>
                  <a:pt x="583" y="266"/>
                </a:lnTo>
                <a:lnTo>
                  <a:pt x="0" y="26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Freeform 25"/>
          <p:cNvSpPr>
            <a:spLocks/>
          </p:cNvSpPr>
          <p:nvPr/>
        </p:nvSpPr>
        <p:spPr bwMode="auto">
          <a:xfrm>
            <a:off x="2565400" y="3779043"/>
            <a:ext cx="1588" cy="409575"/>
          </a:xfrm>
          <a:custGeom>
            <a:avLst/>
            <a:gdLst>
              <a:gd name="T0" fmla="*/ 0 w 1"/>
              <a:gd name="T1" fmla="*/ 0 h 258"/>
              <a:gd name="T2" fmla="*/ 0 w 1"/>
              <a:gd name="T3" fmla="*/ 257 h 258"/>
              <a:gd name="T4" fmla="*/ 0 w 1"/>
              <a:gd name="T5" fmla="*/ 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8">
                <a:moveTo>
                  <a:pt x="0" y="0"/>
                </a:moveTo>
                <a:lnTo>
                  <a:pt x="0" y="25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Freeform 26"/>
          <p:cNvSpPr>
            <a:spLocks/>
          </p:cNvSpPr>
          <p:nvPr/>
        </p:nvSpPr>
        <p:spPr bwMode="auto">
          <a:xfrm>
            <a:off x="2973388" y="3791743"/>
            <a:ext cx="1587" cy="411163"/>
          </a:xfrm>
          <a:custGeom>
            <a:avLst/>
            <a:gdLst>
              <a:gd name="T0" fmla="*/ 0 w 1"/>
              <a:gd name="T1" fmla="*/ 0 h 259"/>
              <a:gd name="T2" fmla="*/ 0 w 1"/>
              <a:gd name="T3" fmla="*/ 258 h 259"/>
              <a:gd name="T4" fmla="*/ 0 w 1"/>
              <a:gd name="T5" fmla="*/ 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9">
                <a:moveTo>
                  <a:pt x="0" y="0"/>
                </a:moveTo>
                <a:lnTo>
                  <a:pt x="0" y="25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Freeform 27"/>
          <p:cNvSpPr>
            <a:spLocks/>
          </p:cNvSpPr>
          <p:nvPr/>
        </p:nvSpPr>
        <p:spPr bwMode="auto">
          <a:xfrm>
            <a:off x="2236788" y="3759993"/>
            <a:ext cx="1587" cy="428625"/>
          </a:xfrm>
          <a:custGeom>
            <a:avLst/>
            <a:gdLst>
              <a:gd name="T0" fmla="*/ 0 w 1"/>
              <a:gd name="T1" fmla="*/ 0 h 270"/>
              <a:gd name="T2" fmla="*/ 0 w 1"/>
              <a:gd name="T3" fmla="*/ 269 h 270"/>
              <a:gd name="T4" fmla="*/ 0 w 1"/>
              <a:gd name="T5" fmla="*/ 0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70">
                <a:moveTo>
                  <a:pt x="0" y="0"/>
                </a:moveTo>
                <a:lnTo>
                  <a:pt x="0" y="269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Freeform 28"/>
          <p:cNvSpPr>
            <a:spLocks/>
          </p:cNvSpPr>
          <p:nvPr/>
        </p:nvSpPr>
        <p:spPr bwMode="auto">
          <a:xfrm>
            <a:off x="2659063" y="3779043"/>
            <a:ext cx="1587" cy="409575"/>
          </a:xfrm>
          <a:custGeom>
            <a:avLst/>
            <a:gdLst>
              <a:gd name="T0" fmla="*/ 0 w 1"/>
              <a:gd name="T1" fmla="*/ 0 h 258"/>
              <a:gd name="T2" fmla="*/ 0 w 1"/>
              <a:gd name="T3" fmla="*/ 257 h 258"/>
              <a:gd name="T4" fmla="*/ 0 w 1"/>
              <a:gd name="T5" fmla="*/ 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8">
                <a:moveTo>
                  <a:pt x="0" y="0"/>
                </a:moveTo>
                <a:lnTo>
                  <a:pt x="0" y="25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Freeform 31"/>
          <p:cNvSpPr>
            <a:spLocks/>
          </p:cNvSpPr>
          <p:nvPr/>
        </p:nvSpPr>
        <p:spPr bwMode="auto">
          <a:xfrm>
            <a:off x="4271963" y="4876006"/>
            <a:ext cx="3479799" cy="647700"/>
          </a:xfrm>
          <a:custGeom>
            <a:avLst/>
            <a:gdLst>
              <a:gd name="T0" fmla="*/ 0 w 3526"/>
              <a:gd name="T1" fmla="*/ 407 h 408"/>
              <a:gd name="T2" fmla="*/ 0 w 3526"/>
              <a:gd name="T3" fmla="*/ 0 h 408"/>
              <a:gd name="T4" fmla="*/ 3525 w 3526"/>
              <a:gd name="T5" fmla="*/ 0 h 408"/>
              <a:gd name="T6" fmla="*/ 3525 w 3526"/>
              <a:gd name="T7" fmla="*/ 407 h 408"/>
              <a:gd name="T8" fmla="*/ 0 w 3526"/>
              <a:gd name="T9" fmla="*/ 407 h 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26" h="408">
                <a:moveTo>
                  <a:pt x="0" y="407"/>
                </a:moveTo>
                <a:lnTo>
                  <a:pt x="0" y="0"/>
                </a:lnTo>
                <a:lnTo>
                  <a:pt x="3525" y="0"/>
                </a:lnTo>
                <a:lnTo>
                  <a:pt x="3525" y="407"/>
                </a:lnTo>
                <a:lnTo>
                  <a:pt x="0" y="40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0" name="Group 49"/>
          <p:cNvGrpSpPr>
            <a:grpSpLocks/>
          </p:cNvGrpSpPr>
          <p:nvPr/>
        </p:nvGrpSpPr>
        <p:grpSpPr bwMode="auto">
          <a:xfrm>
            <a:off x="1492250" y="5031581"/>
            <a:ext cx="5953125" cy="303212"/>
            <a:chOff x="916" y="3723"/>
            <a:chExt cx="3750" cy="191"/>
          </a:xfrm>
        </p:grpSpPr>
        <p:sp>
          <p:nvSpPr>
            <p:cNvPr id="31" name="Rectangle 32"/>
            <p:cNvSpPr>
              <a:spLocks noChangeArrowheads="1"/>
            </p:cNvSpPr>
            <p:nvPr/>
          </p:nvSpPr>
          <p:spPr bwMode="auto">
            <a:xfrm>
              <a:off x="916" y="3723"/>
              <a:ext cx="21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3*</a:t>
              </a:r>
            </a:p>
          </p:txBody>
        </p:sp>
        <p:sp>
          <p:nvSpPr>
            <p:cNvPr id="32" name="Rectangle 33"/>
            <p:cNvSpPr>
              <a:spLocks noChangeArrowheads="1"/>
            </p:cNvSpPr>
            <p:nvPr/>
          </p:nvSpPr>
          <p:spPr bwMode="auto">
            <a:xfrm>
              <a:off x="1098" y="3733"/>
              <a:ext cx="21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4*</a:t>
              </a:r>
            </a:p>
          </p:txBody>
        </p:sp>
        <p:sp>
          <p:nvSpPr>
            <p:cNvPr id="33" name="Rectangle 34"/>
            <p:cNvSpPr>
              <a:spLocks noChangeArrowheads="1"/>
            </p:cNvSpPr>
            <p:nvPr/>
          </p:nvSpPr>
          <p:spPr bwMode="auto">
            <a:xfrm>
              <a:off x="1357" y="3723"/>
              <a:ext cx="21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 dirty="0">
                  <a:solidFill>
                    <a:srgbClr val="000000"/>
                  </a:solidFill>
                  <a:latin typeface="Arial" pitchFamily="34" charset="0"/>
                </a:rPr>
                <a:t>6*</a:t>
              </a:r>
            </a:p>
          </p:txBody>
        </p:sp>
        <p:sp>
          <p:nvSpPr>
            <p:cNvPr id="34" name="Rectangle 35"/>
            <p:cNvSpPr>
              <a:spLocks noChangeArrowheads="1"/>
            </p:cNvSpPr>
            <p:nvPr/>
          </p:nvSpPr>
          <p:spPr bwMode="auto">
            <a:xfrm>
              <a:off x="1542" y="3723"/>
              <a:ext cx="21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9*</a:t>
              </a:r>
            </a:p>
          </p:txBody>
        </p:sp>
        <p:sp>
          <p:nvSpPr>
            <p:cNvPr id="35" name="Rectangle 36"/>
            <p:cNvSpPr>
              <a:spLocks noChangeArrowheads="1"/>
            </p:cNvSpPr>
            <p:nvPr/>
          </p:nvSpPr>
          <p:spPr bwMode="auto">
            <a:xfrm>
              <a:off x="1771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 dirty="0">
                  <a:solidFill>
                    <a:srgbClr val="000000"/>
                  </a:solidFill>
                  <a:latin typeface="Arial" pitchFamily="34" charset="0"/>
                </a:rPr>
                <a:t>10*</a:t>
              </a:r>
            </a:p>
          </p:txBody>
        </p:sp>
        <p:sp>
          <p:nvSpPr>
            <p:cNvPr id="36" name="Rectangle 37"/>
            <p:cNvSpPr>
              <a:spLocks noChangeArrowheads="1"/>
            </p:cNvSpPr>
            <p:nvPr/>
          </p:nvSpPr>
          <p:spPr bwMode="auto">
            <a:xfrm>
              <a:off x="1955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11*</a:t>
              </a:r>
            </a:p>
          </p:txBody>
        </p:sp>
        <p:sp>
          <p:nvSpPr>
            <p:cNvPr id="37" name="Rectangle 38"/>
            <p:cNvSpPr>
              <a:spLocks noChangeArrowheads="1"/>
            </p:cNvSpPr>
            <p:nvPr/>
          </p:nvSpPr>
          <p:spPr bwMode="auto">
            <a:xfrm>
              <a:off x="2213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12*</a:t>
              </a:r>
            </a:p>
          </p:txBody>
        </p:sp>
        <p:sp>
          <p:nvSpPr>
            <p:cNvPr id="38" name="Rectangle 39"/>
            <p:cNvSpPr>
              <a:spLocks noChangeArrowheads="1"/>
            </p:cNvSpPr>
            <p:nvPr/>
          </p:nvSpPr>
          <p:spPr bwMode="auto">
            <a:xfrm>
              <a:off x="2397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13*</a:t>
              </a:r>
            </a:p>
          </p:txBody>
        </p:sp>
        <p:sp>
          <p:nvSpPr>
            <p:cNvPr id="39" name="Rectangle 40"/>
            <p:cNvSpPr>
              <a:spLocks noChangeArrowheads="1"/>
            </p:cNvSpPr>
            <p:nvPr/>
          </p:nvSpPr>
          <p:spPr bwMode="auto">
            <a:xfrm>
              <a:off x="2656" y="373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20*</a:t>
              </a:r>
            </a:p>
          </p:txBody>
        </p:sp>
        <p:sp>
          <p:nvSpPr>
            <p:cNvPr id="40" name="Rectangle 41"/>
            <p:cNvSpPr>
              <a:spLocks noChangeArrowheads="1"/>
            </p:cNvSpPr>
            <p:nvPr/>
          </p:nvSpPr>
          <p:spPr bwMode="auto">
            <a:xfrm>
              <a:off x="2833" y="373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22*</a:t>
              </a:r>
            </a:p>
          </p:txBody>
        </p:sp>
        <p:sp>
          <p:nvSpPr>
            <p:cNvPr id="41" name="Rectangle 42"/>
            <p:cNvSpPr>
              <a:spLocks noChangeArrowheads="1"/>
            </p:cNvSpPr>
            <p:nvPr/>
          </p:nvSpPr>
          <p:spPr bwMode="auto">
            <a:xfrm>
              <a:off x="3091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23*</a:t>
              </a:r>
            </a:p>
          </p:txBody>
        </p:sp>
        <p:sp>
          <p:nvSpPr>
            <p:cNvPr id="42" name="Rectangle 43"/>
            <p:cNvSpPr>
              <a:spLocks noChangeArrowheads="1"/>
            </p:cNvSpPr>
            <p:nvPr/>
          </p:nvSpPr>
          <p:spPr bwMode="auto">
            <a:xfrm>
              <a:off x="3282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31*</a:t>
              </a:r>
            </a:p>
          </p:txBody>
        </p:sp>
        <p:sp>
          <p:nvSpPr>
            <p:cNvPr id="43" name="Rectangle 44"/>
            <p:cNvSpPr>
              <a:spLocks noChangeArrowheads="1"/>
            </p:cNvSpPr>
            <p:nvPr/>
          </p:nvSpPr>
          <p:spPr bwMode="auto">
            <a:xfrm>
              <a:off x="3532" y="373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35*</a:t>
              </a:r>
            </a:p>
          </p:txBody>
        </p:sp>
        <p:sp>
          <p:nvSpPr>
            <p:cNvPr id="44" name="Rectangle 45"/>
            <p:cNvSpPr>
              <a:spLocks noChangeArrowheads="1"/>
            </p:cNvSpPr>
            <p:nvPr/>
          </p:nvSpPr>
          <p:spPr bwMode="auto">
            <a:xfrm>
              <a:off x="3710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36*</a:t>
              </a:r>
            </a:p>
          </p:txBody>
        </p:sp>
        <p:sp>
          <p:nvSpPr>
            <p:cNvPr id="45" name="Rectangle 46"/>
            <p:cNvSpPr>
              <a:spLocks noChangeArrowheads="1"/>
            </p:cNvSpPr>
            <p:nvPr/>
          </p:nvSpPr>
          <p:spPr bwMode="auto">
            <a:xfrm>
              <a:off x="3975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38*</a:t>
              </a:r>
            </a:p>
          </p:txBody>
        </p:sp>
        <p:sp>
          <p:nvSpPr>
            <p:cNvPr id="46" name="Rectangle 47"/>
            <p:cNvSpPr>
              <a:spLocks noChangeArrowheads="1"/>
            </p:cNvSpPr>
            <p:nvPr/>
          </p:nvSpPr>
          <p:spPr bwMode="auto">
            <a:xfrm>
              <a:off x="4152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41*</a:t>
              </a:r>
            </a:p>
          </p:txBody>
        </p:sp>
        <p:sp>
          <p:nvSpPr>
            <p:cNvPr id="47" name="Rectangle 48"/>
            <p:cNvSpPr>
              <a:spLocks noChangeArrowheads="1"/>
            </p:cNvSpPr>
            <p:nvPr/>
          </p:nvSpPr>
          <p:spPr bwMode="auto">
            <a:xfrm>
              <a:off x="4396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44*</a:t>
              </a:r>
            </a:p>
          </p:txBody>
        </p:sp>
      </p:grpSp>
      <p:sp>
        <p:nvSpPr>
          <p:cNvPr id="49" name="Rectangle 51"/>
          <p:cNvSpPr>
            <a:spLocks noChangeArrowheads="1"/>
          </p:cNvSpPr>
          <p:nvPr/>
        </p:nvSpPr>
        <p:spPr bwMode="auto">
          <a:xfrm>
            <a:off x="1300232" y="3631406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50" name="Line 52"/>
          <p:cNvSpPr>
            <a:spLocks noChangeShapeType="1"/>
          </p:cNvSpPr>
          <p:nvPr/>
        </p:nvSpPr>
        <p:spPr bwMode="auto">
          <a:xfrm>
            <a:off x="1714500" y="3540918"/>
            <a:ext cx="3810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Rectangle 34"/>
          <p:cNvSpPr>
            <a:spLocks noChangeArrowheads="1"/>
          </p:cNvSpPr>
          <p:nvPr/>
        </p:nvSpPr>
        <p:spPr bwMode="auto">
          <a:xfrm>
            <a:off x="2255467" y="3841379"/>
            <a:ext cx="275718" cy="289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 dirty="0" smtClean="0">
                <a:solidFill>
                  <a:srgbClr val="000000"/>
                </a:solidFill>
                <a:latin typeface="Arial" pitchFamily="34" charset="0"/>
              </a:rPr>
              <a:t>6</a:t>
            </a:r>
            <a:endParaRPr lang="en-US" sz="1300" b="1" dirty="0">
              <a:solidFill>
                <a:srgbClr val="000000"/>
              </a:solidFill>
              <a:latin typeface="Arial" pitchFamily="34" charset="0"/>
            </a:endParaRPr>
          </a:p>
        </p:txBody>
      </p:sp>
      <p:cxnSp>
        <p:nvCxnSpPr>
          <p:cNvPr id="3" name="Straight Arrow Connector 2"/>
          <p:cNvCxnSpPr>
            <a:stCxn id="22" idx="0"/>
          </p:cNvCxnSpPr>
          <p:nvPr/>
        </p:nvCxnSpPr>
        <p:spPr>
          <a:xfrm flipH="1">
            <a:off x="1804988" y="4201318"/>
            <a:ext cx="338137" cy="8191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2486025" y="4207616"/>
            <a:ext cx="120651" cy="8128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6"/>
          <p:cNvSpPr>
            <a:spLocks noChangeArrowheads="1"/>
          </p:cNvSpPr>
          <p:nvPr/>
        </p:nvSpPr>
        <p:spPr bwMode="auto">
          <a:xfrm>
            <a:off x="2633054" y="3856274"/>
            <a:ext cx="368692" cy="289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 dirty="0" smtClean="0">
                <a:solidFill>
                  <a:srgbClr val="000000"/>
                </a:solidFill>
                <a:latin typeface="Arial" pitchFamily="34" charset="0"/>
              </a:rPr>
              <a:t>10</a:t>
            </a:r>
            <a:endParaRPr lang="en-US" sz="1300" b="1" dirty="0">
              <a:solidFill>
                <a:srgbClr val="000000"/>
              </a:solidFill>
              <a:latin typeface="Arial" pitchFamily="34" charset="0"/>
            </a:endParaRP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3036890" y="4179867"/>
            <a:ext cx="173035" cy="8128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060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B+ Tree: Bulk Loading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What to do?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/>
              <a:t>Split the root and create a new root page</a:t>
            </a:r>
          </a:p>
          <a:p>
            <a:pPr lvl="1">
              <a:buFont typeface="Wingdings" pitchFamily="2" charset="2"/>
              <a:buChar char="§"/>
            </a:pPr>
            <a:endParaRPr lang="en-US" sz="2400" dirty="0" smtClean="0"/>
          </a:p>
          <a:p>
            <a:pPr marL="457200" lvl="1" indent="0">
              <a:buNone/>
            </a:pPr>
            <a:endParaRPr lang="en-US" sz="2200" dirty="0"/>
          </a:p>
        </p:txBody>
      </p:sp>
      <p:sp>
        <p:nvSpPr>
          <p:cNvPr id="4" name="Freeform 6"/>
          <p:cNvSpPr>
            <a:spLocks/>
          </p:cNvSpPr>
          <p:nvPr/>
        </p:nvSpPr>
        <p:spPr bwMode="auto">
          <a:xfrm>
            <a:off x="1511300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1803400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Freeform 8"/>
          <p:cNvSpPr>
            <a:spLocks/>
          </p:cNvSpPr>
          <p:nvPr/>
        </p:nvSpPr>
        <p:spPr bwMode="auto">
          <a:xfrm>
            <a:off x="2212975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Freeform 9"/>
          <p:cNvSpPr>
            <a:spLocks/>
          </p:cNvSpPr>
          <p:nvPr/>
        </p:nvSpPr>
        <p:spPr bwMode="auto">
          <a:xfrm>
            <a:off x="2505075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Freeform 10"/>
          <p:cNvSpPr>
            <a:spLocks/>
          </p:cNvSpPr>
          <p:nvPr/>
        </p:nvSpPr>
        <p:spPr bwMode="auto">
          <a:xfrm>
            <a:off x="2916238" y="5020468"/>
            <a:ext cx="585787" cy="368300"/>
          </a:xfrm>
          <a:custGeom>
            <a:avLst/>
            <a:gdLst>
              <a:gd name="T0" fmla="*/ 0 w 369"/>
              <a:gd name="T1" fmla="*/ 231 h 232"/>
              <a:gd name="T2" fmla="*/ 0 w 369"/>
              <a:gd name="T3" fmla="*/ 0 h 232"/>
              <a:gd name="T4" fmla="*/ 368 w 369"/>
              <a:gd name="T5" fmla="*/ 0 h 232"/>
              <a:gd name="T6" fmla="*/ 368 w 369"/>
              <a:gd name="T7" fmla="*/ 231 h 232"/>
              <a:gd name="T8" fmla="*/ 0 w 369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Freeform 11"/>
          <p:cNvSpPr>
            <a:spLocks/>
          </p:cNvSpPr>
          <p:nvPr/>
        </p:nvSpPr>
        <p:spPr bwMode="auto">
          <a:xfrm>
            <a:off x="3208338" y="5020468"/>
            <a:ext cx="1587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Freeform 12"/>
          <p:cNvSpPr>
            <a:spLocks/>
          </p:cNvSpPr>
          <p:nvPr/>
        </p:nvSpPr>
        <p:spPr bwMode="auto">
          <a:xfrm>
            <a:off x="3606800" y="5020468"/>
            <a:ext cx="585788" cy="368300"/>
          </a:xfrm>
          <a:custGeom>
            <a:avLst/>
            <a:gdLst>
              <a:gd name="T0" fmla="*/ 0 w 369"/>
              <a:gd name="T1" fmla="*/ 231 h 232"/>
              <a:gd name="T2" fmla="*/ 0 w 369"/>
              <a:gd name="T3" fmla="*/ 0 h 232"/>
              <a:gd name="T4" fmla="*/ 368 w 369"/>
              <a:gd name="T5" fmla="*/ 0 h 232"/>
              <a:gd name="T6" fmla="*/ 368 w 369"/>
              <a:gd name="T7" fmla="*/ 231 h 232"/>
              <a:gd name="T8" fmla="*/ 0 w 369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Freeform 13"/>
          <p:cNvSpPr>
            <a:spLocks/>
          </p:cNvSpPr>
          <p:nvPr/>
        </p:nvSpPr>
        <p:spPr bwMode="auto">
          <a:xfrm>
            <a:off x="3898900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Freeform 14"/>
          <p:cNvSpPr>
            <a:spLocks/>
          </p:cNvSpPr>
          <p:nvPr/>
        </p:nvSpPr>
        <p:spPr bwMode="auto">
          <a:xfrm>
            <a:off x="4306888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Freeform 15"/>
          <p:cNvSpPr>
            <a:spLocks/>
          </p:cNvSpPr>
          <p:nvPr/>
        </p:nvSpPr>
        <p:spPr bwMode="auto">
          <a:xfrm>
            <a:off x="4602163" y="5020468"/>
            <a:ext cx="1587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Freeform 16"/>
          <p:cNvSpPr>
            <a:spLocks/>
          </p:cNvSpPr>
          <p:nvPr/>
        </p:nvSpPr>
        <p:spPr bwMode="auto">
          <a:xfrm>
            <a:off x="5010150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Freeform 17"/>
          <p:cNvSpPr>
            <a:spLocks/>
          </p:cNvSpPr>
          <p:nvPr/>
        </p:nvSpPr>
        <p:spPr bwMode="auto">
          <a:xfrm>
            <a:off x="5303838" y="5020468"/>
            <a:ext cx="1587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Freeform 18"/>
          <p:cNvSpPr>
            <a:spLocks/>
          </p:cNvSpPr>
          <p:nvPr/>
        </p:nvSpPr>
        <p:spPr bwMode="auto">
          <a:xfrm>
            <a:off x="5713413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Freeform 19"/>
          <p:cNvSpPr>
            <a:spLocks/>
          </p:cNvSpPr>
          <p:nvPr/>
        </p:nvSpPr>
        <p:spPr bwMode="auto">
          <a:xfrm>
            <a:off x="6007100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Freeform 20"/>
          <p:cNvSpPr>
            <a:spLocks/>
          </p:cNvSpPr>
          <p:nvPr/>
        </p:nvSpPr>
        <p:spPr bwMode="auto">
          <a:xfrm>
            <a:off x="6403975" y="5020468"/>
            <a:ext cx="585788" cy="368300"/>
          </a:xfrm>
          <a:custGeom>
            <a:avLst/>
            <a:gdLst>
              <a:gd name="T0" fmla="*/ 0 w 369"/>
              <a:gd name="T1" fmla="*/ 231 h 232"/>
              <a:gd name="T2" fmla="*/ 0 w 369"/>
              <a:gd name="T3" fmla="*/ 0 h 232"/>
              <a:gd name="T4" fmla="*/ 368 w 369"/>
              <a:gd name="T5" fmla="*/ 0 h 232"/>
              <a:gd name="T6" fmla="*/ 368 w 369"/>
              <a:gd name="T7" fmla="*/ 231 h 232"/>
              <a:gd name="T8" fmla="*/ 0 w 369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Freeform 21"/>
          <p:cNvSpPr>
            <a:spLocks/>
          </p:cNvSpPr>
          <p:nvPr/>
        </p:nvSpPr>
        <p:spPr bwMode="auto">
          <a:xfrm>
            <a:off x="6696075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Freeform 22"/>
          <p:cNvSpPr>
            <a:spLocks/>
          </p:cNvSpPr>
          <p:nvPr/>
        </p:nvSpPr>
        <p:spPr bwMode="auto">
          <a:xfrm>
            <a:off x="7083425" y="5020468"/>
            <a:ext cx="585788" cy="368300"/>
          </a:xfrm>
          <a:custGeom>
            <a:avLst/>
            <a:gdLst>
              <a:gd name="T0" fmla="*/ 0 w 369"/>
              <a:gd name="T1" fmla="*/ 231 h 232"/>
              <a:gd name="T2" fmla="*/ 0 w 369"/>
              <a:gd name="T3" fmla="*/ 0 h 232"/>
              <a:gd name="T4" fmla="*/ 368 w 369"/>
              <a:gd name="T5" fmla="*/ 0 h 232"/>
              <a:gd name="T6" fmla="*/ 368 w 369"/>
              <a:gd name="T7" fmla="*/ 231 h 232"/>
              <a:gd name="T8" fmla="*/ 0 w 369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Freeform 23"/>
          <p:cNvSpPr>
            <a:spLocks/>
          </p:cNvSpPr>
          <p:nvPr/>
        </p:nvSpPr>
        <p:spPr bwMode="auto">
          <a:xfrm>
            <a:off x="7375525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Freeform 24"/>
          <p:cNvSpPr>
            <a:spLocks/>
          </p:cNvSpPr>
          <p:nvPr/>
        </p:nvSpPr>
        <p:spPr bwMode="auto">
          <a:xfrm>
            <a:off x="2143125" y="3779043"/>
            <a:ext cx="927100" cy="423863"/>
          </a:xfrm>
          <a:custGeom>
            <a:avLst/>
            <a:gdLst>
              <a:gd name="T0" fmla="*/ 0 w 584"/>
              <a:gd name="T1" fmla="*/ 266 h 267"/>
              <a:gd name="T2" fmla="*/ 0 w 584"/>
              <a:gd name="T3" fmla="*/ 0 h 267"/>
              <a:gd name="T4" fmla="*/ 583 w 584"/>
              <a:gd name="T5" fmla="*/ 0 h 267"/>
              <a:gd name="T6" fmla="*/ 583 w 584"/>
              <a:gd name="T7" fmla="*/ 266 h 267"/>
              <a:gd name="T8" fmla="*/ 0 w 584"/>
              <a:gd name="T9" fmla="*/ 266 h 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84" h="267">
                <a:moveTo>
                  <a:pt x="0" y="266"/>
                </a:moveTo>
                <a:lnTo>
                  <a:pt x="0" y="0"/>
                </a:lnTo>
                <a:lnTo>
                  <a:pt x="583" y="0"/>
                </a:lnTo>
                <a:lnTo>
                  <a:pt x="583" y="266"/>
                </a:lnTo>
                <a:lnTo>
                  <a:pt x="0" y="26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Freeform 25"/>
          <p:cNvSpPr>
            <a:spLocks/>
          </p:cNvSpPr>
          <p:nvPr/>
        </p:nvSpPr>
        <p:spPr bwMode="auto">
          <a:xfrm>
            <a:off x="2565400" y="3779043"/>
            <a:ext cx="1588" cy="409575"/>
          </a:xfrm>
          <a:custGeom>
            <a:avLst/>
            <a:gdLst>
              <a:gd name="T0" fmla="*/ 0 w 1"/>
              <a:gd name="T1" fmla="*/ 0 h 258"/>
              <a:gd name="T2" fmla="*/ 0 w 1"/>
              <a:gd name="T3" fmla="*/ 257 h 258"/>
              <a:gd name="T4" fmla="*/ 0 w 1"/>
              <a:gd name="T5" fmla="*/ 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8">
                <a:moveTo>
                  <a:pt x="0" y="0"/>
                </a:moveTo>
                <a:lnTo>
                  <a:pt x="0" y="25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Freeform 26"/>
          <p:cNvSpPr>
            <a:spLocks/>
          </p:cNvSpPr>
          <p:nvPr/>
        </p:nvSpPr>
        <p:spPr bwMode="auto">
          <a:xfrm>
            <a:off x="2973388" y="3791743"/>
            <a:ext cx="1587" cy="411163"/>
          </a:xfrm>
          <a:custGeom>
            <a:avLst/>
            <a:gdLst>
              <a:gd name="T0" fmla="*/ 0 w 1"/>
              <a:gd name="T1" fmla="*/ 0 h 259"/>
              <a:gd name="T2" fmla="*/ 0 w 1"/>
              <a:gd name="T3" fmla="*/ 258 h 259"/>
              <a:gd name="T4" fmla="*/ 0 w 1"/>
              <a:gd name="T5" fmla="*/ 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9">
                <a:moveTo>
                  <a:pt x="0" y="0"/>
                </a:moveTo>
                <a:lnTo>
                  <a:pt x="0" y="25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Freeform 27"/>
          <p:cNvSpPr>
            <a:spLocks/>
          </p:cNvSpPr>
          <p:nvPr/>
        </p:nvSpPr>
        <p:spPr bwMode="auto">
          <a:xfrm>
            <a:off x="2236788" y="3759993"/>
            <a:ext cx="1587" cy="428625"/>
          </a:xfrm>
          <a:custGeom>
            <a:avLst/>
            <a:gdLst>
              <a:gd name="T0" fmla="*/ 0 w 1"/>
              <a:gd name="T1" fmla="*/ 0 h 270"/>
              <a:gd name="T2" fmla="*/ 0 w 1"/>
              <a:gd name="T3" fmla="*/ 269 h 270"/>
              <a:gd name="T4" fmla="*/ 0 w 1"/>
              <a:gd name="T5" fmla="*/ 0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70">
                <a:moveTo>
                  <a:pt x="0" y="0"/>
                </a:moveTo>
                <a:lnTo>
                  <a:pt x="0" y="269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Freeform 28"/>
          <p:cNvSpPr>
            <a:spLocks/>
          </p:cNvSpPr>
          <p:nvPr/>
        </p:nvSpPr>
        <p:spPr bwMode="auto">
          <a:xfrm>
            <a:off x="2659063" y="3779043"/>
            <a:ext cx="1587" cy="409575"/>
          </a:xfrm>
          <a:custGeom>
            <a:avLst/>
            <a:gdLst>
              <a:gd name="T0" fmla="*/ 0 w 1"/>
              <a:gd name="T1" fmla="*/ 0 h 258"/>
              <a:gd name="T2" fmla="*/ 0 w 1"/>
              <a:gd name="T3" fmla="*/ 257 h 258"/>
              <a:gd name="T4" fmla="*/ 0 w 1"/>
              <a:gd name="T5" fmla="*/ 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8">
                <a:moveTo>
                  <a:pt x="0" y="0"/>
                </a:moveTo>
                <a:lnTo>
                  <a:pt x="0" y="25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Freeform 31"/>
          <p:cNvSpPr>
            <a:spLocks/>
          </p:cNvSpPr>
          <p:nvPr/>
        </p:nvSpPr>
        <p:spPr bwMode="auto">
          <a:xfrm>
            <a:off x="4271963" y="4876006"/>
            <a:ext cx="3479799" cy="647700"/>
          </a:xfrm>
          <a:custGeom>
            <a:avLst/>
            <a:gdLst>
              <a:gd name="T0" fmla="*/ 0 w 3526"/>
              <a:gd name="T1" fmla="*/ 407 h 408"/>
              <a:gd name="T2" fmla="*/ 0 w 3526"/>
              <a:gd name="T3" fmla="*/ 0 h 408"/>
              <a:gd name="T4" fmla="*/ 3525 w 3526"/>
              <a:gd name="T5" fmla="*/ 0 h 408"/>
              <a:gd name="T6" fmla="*/ 3525 w 3526"/>
              <a:gd name="T7" fmla="*/ 407 h 408"/>
              <a:gd name="T8" fmla="*/ 0 w 3526"/>
              <a:gd name="T9" fmla="*/ 407 h 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26" h="408">
                <a:moveTo>
                  <a:pt x="0" y="407"/>
                </a:moveTo>
                <a:lnTo>
                  <a:pt x="0" y="0"/>
                </a:lnTo>
                <a:lnTo>
                  <a:pt x="3525" y="0"/>
                </a:lnTo>
                <a:lnTo>
                  <a:pt x="3525" y="407"/>
                </a:lnTo>
                <a:lnTo>
                  <a:pt x="0" y="40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0" name="Group 49"/>
          <p:cNvGrpSpPr>
            <a:grpSpLocks/>
          </p:cNvGrpSpPr>
          <p:nvPr/>
        </p:nvGrpSpPr>
        <p:grpSpPr bwMode="auto">
          <a:xfrm>
            <a:off x="1492250" y="5031581"/>
            <a:ext cx="5953125" cy="303212"/>
            <a:chOff x="916" y="3723"/>
            <a:chExt cx="3750" cy="191"/>
          </a:xfrm>
        </p:grpSpPr>
        <p:sp>
          <p:nvSpPr>
            <p:cNvPr id="31" name="Rectangle 32"/>
            <p:cNvSpPr>
              <a:spLocks noChangeArrowheads="1"/>
            </p:cNvSpPr>
            <p:nvPr/>
          </p:nvSpPr>
          <p:spPr bwMode="auto">
            <a:xfrm>
              <a:off x="916" y="3723"/>
              <a:ext cx="21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3*</a:t>
              </a:r>
            </a:p>
          </p:txBody>
        </p:sp>
        <p:sp>
          <p:nvSpPr>
            <p:cNvPr id="32" name="Rectangle 33"/>
            <p:cNvSpPr>
              <a:spLocks noChangeArrowheads="1"/>
            </p:cNvSpPr>
            <p:nvPr/>
          </p:nvSpPr>
          <p:spPr bwMode="auto">
            <a:xfrm>
              <a:off x="1098" y="3733"/>
              <a:ext cx="21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4*</a:t>
              </a:r>
            </a:p>
          </p:txBody>
        </p:sp>
        <p:sp>
          <p:nvSpPr>
            <p:cNvPr id="33" name="Rectangle 34"/>
            <p:cNvSpPr>
              <a:spLocks noChangeArrowheads="1"/>
            </p:cNvSpPr>
            <p:nvPr/>
          </p:nvSpPr>
          <p:spPr bwMode="auto">
            <a:xfrm>
              <a:off x="1357" y="3723"/>
              <a:ext cx="21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 dirty="0">
                  <a:solidFill>
                    <a:srgbClr val="000000"/>
                  </a:solidFill>
                  <a:latin typeface="Arial" pitchFamily="34" charset="0"/>
                </a:rPr>
                <a:t>6*</a:t>
              </a:r>
            </a:p>
          </p:txBody>
        </p:sp>
        <p:sp>
          <p:nvSpPr>
            <p:cNvPr id="34" name="Rectangle 35"/>
            <p:cNvSpPr>
              <a:spLocks noChangeArrowheads="1"/>
            </p:cNvSpPr>
            <p:nvPr/>
          </p:nvSpPr>
          <p:spPr bwMode="auto">
            <a:xfrm>
              <a:off x="1542" y="3723"/>
              <a:ext cx="21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9*</a:t>
              </a:r>
            </a:p>
          </p:txBody>
        </p:sp>
        <p:sp>
          <p:nvSpPr>
            <p:cNvPr id="35" name="Rectangle 36"/>
            <p:cNvSpPr>
              <a:spLocks noChangeArrowheads="1"/>
            </p:cNvSpPr>
            <p:nvPr/>
          </p:nvSpPr>
          <p:spPr bwMode="auto">
            <a:xfrm>
              <a:off x="1771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 dirty="0">
                  <a:solidFill>
                    <a:srgbClr val="000000"/>
                  </a:solidFill>
                  <a:latin typeface="Arial" pitchFamily="34" charset="0"/>
                </a:rPr>
                <a:t>10*</a:t>
              </a:r>
            </a:p>
          </p:txBody>
        </p:sp>
        <p:sp>
          <p:nvSpPr>
            <p:cNvPr id="36" name="Rectangle 37"/>
            <p:cNvSpPr>
              <a:spLocks noChangeArrowheads="1"/>
            </p:cNvSpPr>
            <p:nvPr/>
          </p:nvSpPr>
          <p:spPr bwMode="auto">
            <a:xfrm>
              <a:off x="1955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11*</a:t>
              </a:r>
            </a:p>
          </p:txBody>
        </p:sp>
        <p:sp>
          <p:nvSpPr>
            <p:cNvPr id="37" name="Rectangle 38"/>
            <p:cNvSpPr>
              <a:spLocks noChangeArrowheads="1"/>
            </p:cNvSpPr>
            <p:nvPr/>
          </p:nvSpPr>
          <p:spPr bwMode="auto">
            <a:xfrm>
              <a:off x="2213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12*</a:t>
              </a:r>
            </a:p>
          </p:txBody>
        </p:sp>
        <p:sp>
          <p:nvSpPr>
            <p:cNvPr id="38" name="Rectangle 39"/>
            <p:cNvSpPr>
              <a:spLocks noChangeArrowheads="1"/>
            </p:cNvSpPr>
            <p:nvPr/>
          </p:nvSpPr>
          <p:spPr bwMode="auto">
            <a:xfrm>
              <a:off x="2397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13*</a:t>
              </a:r>
            </a:p>
          </p:txBody>
        </p:sp>
        <p:sp>
          <p:nvSpPr>
            <p:cNvPr id="39" name="Rectangle 40"/>
            <p:cNvSpPr>
              <a:spLocks noChangeArrowheads="1"/>
            </p:cNvSpPr>
            <p:nvPr/>
          </p:nvSpPr>
          <p:spPr bwMode="auto">
            <a:xfrm>
              <a:off x="2656" y="373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20*</a:t>
              </a:r>
            </a:p>
          </p:txBody>
        </p:sp>
        <p:sp>
          <p:nvSpPr>
            <p:cNvPr id="40" name="Rectangle 41"/>
            <p:cNvSpPr>
              <a:spLocks noChangeArrowheads="1"/>
            </p:cNvSpPr>
            <p:nvPr/>
          </p:nvSpPr>
          <p:spPr bwMode="auto">
            <a:xfrm>
              <a:off x="2833" y="373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22*</a:t>
              </a:r>
            </a:p>
          </p:txBody>
        </p:sp>
        <p:sp>
          <p:nvSpPr>
            <p:cNvPr id="41" name="Rectangle 42"/>
            <p:cNvSpPr>
              <a:spLocks noChangeArrowheads="1"/>
            </p:cNvSpPr>
            <p:nvPr/>
          </p:nvSpPr>
          <p:spPr bwMode="auto">
            <a:xfrm>
              <a:off x="3091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23*</a:t>
              </a:r>
            </a:p>
          </p:txBody>
        </p:sp>
        <p:sp>
          <p:nvSpPr>
            <p:cNvPr id="42" name="Rectangle 43"/>
            <p:cNvSpPr>
              <a:spLocks noChangeArrowheads="1"/>
            </p:cNvSpPr>
            <p:nvPr/>
          </p:nvSpPr>
          <p:spPr bwMode="auto">
            <a:xfrm>
              <a:off x="3282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31*</a:t>
              </a:r>
            </a:p>
          </p:txBody>
        </p:sp>
        <p:sp>
          <p:nvSpPr>
            <p:cNvPr id="43" name="Rectangle 44"/>
            <p:cNvSpPr>
              <a:spLocks noChangeArrowheads="1"/>
            </p:cNvSpPr>
            <p:nvPr/>
          </p:nvSpPr>
          <p:spPr bwMode="auto">
            <a:xfrm>
              <a:off x="3532" y="373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35*</a:t>
              </a:r>
            </a:p>
          </p:txBody>
        </p:sp>
        <p:sp>
          <p:nvSpPr>
            <p:cNvPr id="44" name="Rectangle 45"/>
            <p:cNvSpPr>
              <a:spLocks noChangeArrowheads="1"/>
            </p:cNvSpPr>
            <p:nvPr/>
          </p:nvSpPr>
          <p:spPr bwMode="auto">
            <a:xfrm>
              <a:off x="3710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36*</a:t>
              </a:r>
            </a:p>
          </p:txBody>
        </p:sp>
        <p:sp>
          <p:nvSpPr>
            <p:cNvPr id="45" name="Rectangle 46"/>
            <p:cNvSpPr>
              <a:spLocks noChangeArrowheads="1"/>
            </p:cNvSpPr>
            <p:nvPr/>
          </p:nvSpPr>
          <p:spPr bwMode="auto">
            <a:xfrm>
              <a:off x="3975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38*</a:t>
              </a:r>
            </a:p>
          </p:txBody>
        </p:sp>
        <p:sp>
          <p:nvSpPr>
            <p:cNvPr id="46" name="Rectangle 47"/>
            <p:cNvSpPr>
              <a:spLocks noChangeArrowheads="1"/>
            </p:cNvSpPr>
            <p:nvPr/>
          </p:nvSpPr>
          <p:spPr bwMode="auto">
            <a:xfrm>
              <a:off x="4152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41*</a:t>
              </a:r>
            </a:p>
          </p:txBody>
        </p:sp>
        <p:sp>
          <p:nvSpPr>
            <p:cNvPr id="47" name="Rectangle 48"/>
            <p:cNvSpPr>
              <a:spLocks noChangeArrowheads="1"/>
            </p:cNvSpPr>
            <p:nvPr/>
          </p:nvSpPr>
          <p:spPr bwMode="auto">
            <a:xfrm>
              <a:off x="4396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44*</a:t>
              </a:r>
            </a:p>
          </p:txBody>
        </p:sp>
      </p:grpSp>
      <p:sp>
        <p:nvSpPr>
          <p:cNvPr id="49" name="Rectangle 51"/>
          <p:cNvSpPr>
            <a:spLocks noChangeArrowheads="1"/>
          </p:cNvSpPr>
          <p:nvPr/>
        </p:nvSpPr>
        <p:spPr bwMode="auto">
          <a:xfrm>
            <a:off x="1841199" y="2986088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50" name="Line 52"/>
          <p:cNvSpPr>
            <a:spLocks noChangeShapeType="1"/>
          </p:cNvSpPr>
          <p:nvPr/>
        </p:nvSpPr>
        <p:spPr bwMode="auto">
          <a:xfrm>
            <a:off x="2255467" y="2895600"/>
            <a:ext cx="3810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Rectangle 34"/>
          <p:cNvSpPr>
            <a:spLocks noChangeArrowheads="1"/>
          </p:cNvSpPr>
          <p:nvPr/>
        </p:nvSpPr>
        <p:spPr bwMode="auto">
          <a:xfrm>
            <a:off x="2255467" y="3841379"/>
            <a:ext cx="275718" cy="289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 dirty="0" smtClean="0">
                <a:solidFill>
                  <a:srgbClr val="000000"/>
                </a:solidFill>
                <a:latin typeface="Arial" pitchFamily="34" charset="0"/>
              </a:rPr>
              <a:t>6</a:t>
            </a:r>
            <a:endParaRPr lang="en-US" sz="1300" b="1" dirty="0">
              <a:solidFill>
                <a:srgbClr val="000000"/>
              </a:solidFill>
              <a:latin typeface="Arial" pitchFamily="34" charset="0"/>
            </a:endParaRPr>
          </a:p>
        </p:txBody>
      </p:sp>
      <p:cxnSp>
        <p:nvCxnSpPr>
          <p:cNvPr id="3" name="Straight Arrow Connector 2"/>
          <p:cNvCxnSpPr>
            <a:stCxn id="22" idx="0"/>
          </p:cNvCxnSpPr>
          <p:nvPr/>
        </p:nvCxnSpPr>
        <p:spPr>
          <a:xfrm flipH="1">
            <a:off x="1804988" y="4201318"/>
            <a:ext cx="338137" cy="8191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2486025" y="4207616"/>
            <a:ext cx="120651" cy="8128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Freeform 24"/>
          <p:cNvSpPr>
            <a:spLocks/>
          </p:cNvSpPr>
          <p:nvPr/>
        </p:nvSpPr>
        <p:spPr bwMode="auto">
          <a:xfrm>
            <a:off x="3435350" y="3777455"/>
            <a:ext cx="927100" cy="423863"/>
          </a:xfrm>
          <a:custGeom>
            <a:avLst/>
            <a:gdLst>
              <a:gd name="T0" fmla="*/ 0 w 584"/>
              <a:gd name="T1" fmla="*/ 266 h 267"/>
              <a:gd name="T2" fmla="*/ 0 w 584"/>
              <a:gd name="T3" fmla="*/ 0 h 267"/>
              <a:gd name="T4" fmla="*/ 583 w 584"/>
              <a:gd name="T5" fmla="*/ 0 h 267"/>
              <a:gd name="T6" fmla="*/ 583 w 584"/>
              <a:gd name="T7" fmla="*/ 266 h 267"/>
              <a:gd name="T8" fmla="*/ 0 w 584"/>
              <a:gd name="T9" fmla="*/ 266 h 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84" h="267">
                <a:moveTo>
                  <a:pt x="0" y="266"/>
                </a:moveTo>
                <a:lnTo>
                  <a:pt x="0" y="0"/>
                </a:lnTo>
                <a:lnTo>
                  <a:pt x="583" y="0"/>
                </a:lnTo>
                <a:lnTo>
                  <a:pt x="583" y="266"/>
                </a:lnTo>
                <a:lnTo>
                  <a:pt x="0" y="26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" name="Freeform 25"/>
          <p:cNvSpPr>
            <a:spLocks/>
          </p:cNvSpPr>
          <p:nvPr/>
        </p:nvSpPr>
        <p:spPr bwMode="auto">
          <a:xfrm>
            <a:off x="3857625" y="3777455"/>
            <a:ext cx="1588" cy="409575"/>
          </a:xfrm>
          <a:custGeom>
            <a:avLst/>
            <a:gdLst>
              <a:gd name="T0" fmla="*/ 0 w 1"/>
              <a:gd name="T1" fmla="*/ 0 h 258"/>
              <a:gd name="T2" fmla="*/ 0 w 1"/>
              <a:gd name="T3" fmla="*/ 257 h 258"/>
              <a:gd name="T4" fmla="*/ 0 w 1"/>
              <a:gd name="T5" fmla="*/ 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8">
                <a:moveTo>
                  <a:pt x="0" y="0"/>
                </a:moveTo>
                <a:lnTo>
                  <a:pt x="0" y="25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" name="Freeform 26"/>
          <p:cNvSpPr>
            <a:spLocks/>
          </p:cNvSpPr>
          <p:nvPr/>
        </p:nvSpPr>
        <p:spPr bwMode="auto">
          <a:xfrm>
            <a:off x="4265613" y="3790155"/>
            <a:ext cx="1587" cy="411163"/>
          </a:xfrm>
          <a:custGeom>
            <a:avLst/>
            <a:gdLst>
              <a:gd name="T0" fmla="*/ 0 w 1"/>
              <a:gd name="T1" fmla="*/ 0 h 259"/>
              <a:gd name="T2" fmla="*/ 0 w 1"/>
              <a:gd name="T3" fmla="*/ 258 h 259"/>
              <a:gd name="T4" fmla="*/ 0 w 1"/>
              <a:gd name="T5" fmla="*/ 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9">
                <a:moveTo>
                  <a:pt x="0" y="0"/>
                </a:moveTo>
                <a:lnTo>
                  <a:pt x="0" y="25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Freeform 27"/>
          <p:cNvSpPr>
            <a:spLocks/>
          </p:cNvSpPr>
          <p:nvPr/>
        </p:nvSpPr>
        <p:spPr bwMode="auto">
          <a:xfrm>
            <a:off x="3529013" y="3758405"/>
            <a:ext cx="1587" cy="428625"/>
          </a:xfrm>
          <a:custGeom>
            <a:avLst/>
            <a:gdLst>
              <a:gd name="T0" fmla="*/ 0 w 1"/>
              <a:gd name="T1" fmla="*/ 0 h 270"/>
              <a:gd name="T2" fmla="*/ 0 w 1"/>
              <a:gd name="T3" fmla="*/ 269 h 270"/>
              <a:gd name="T4" fmla="*/ 0 w 1"/>
              <a:gd name="T5" fmla="*/ 0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70">
                <a:moveTo>
                  <a:pt x="0" y="0"/>
                </a:moveTo>
                <a:lnTo>
                  <a:pt x="0" y="269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Freeform 28"/>
          <p:cNvSpPr>
            <a:spLocks/>
          </p:cNvSpPr>
          <p:nvPr/>
        </p:nvSpPr>
        <p:spPr bwMode="auto">
          <a:xfrm>
            <a:off x="3951288" y="3777455"/>
            <a:ext cx="1587" cy="409575"/>
          </a:xfrm>
          <a:custGeom>
            <a:avLst/>
            <a:gdLst>
              <a:gd name="T0" fmla="*/ 0 w 1"/>
              <a:gd name="T1" fmla="*/ 0 h 258"/>
              <a:gd name="T2" fmla="*/ 0 w 1"/>
              <a:gd name="T3" fmla="*/ 257 h 258"/>
              <a:gd name="T4" fmla="*/ 0 w 1"/>
              <a:gd name="T5" fmla="*/ 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8">
                <a:moveTo>
                  <a:pt x="0" y="0"/>
                </a:moveTo>
                <a:lnTo>
                  <a:pt x="0" y="25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Rectangle 34"/>
          <p:cNvSpPr>
            <a:spLocks noChangeArrowheads="1"/>
          </p:cNvSpPr>
          <p:nvPr/>
        </p:nvSpPr>
        <p:spPr bwMode="auto">
          <a:xfrm>
            <a:off x="3547692" y="3839791"/>
            <a:ext cx="368692" cy="289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 dirty="0" smtClean="0">
                <a:solidFill>
                  <a:srgbClr val="000000"/>
                </a:solidFill>
                <a:latin typeface="Arial" pitchFamily="34" charset="0"/>
              </a:rPr>
              <a:t>12</a:t>
            </a:r>
            <a:endParaRPr lang="en-US" sz="13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63" name="Freeform 24"/>
          <p:cNvSpPr>
            <a:spLocks/>
          </p:cNvSpPr>
          <p:nvPr/>
        </p:nvSpPr>
        <p:spPr bwMode="auto">
          <a:xfrm>
            <a:off x="2782888" y="3110145"/>
            <a:ext cx="927100" cy="423863"/>
          </a:xfrm>
          <a:custGeom>
            <a:avLst/>
            <a:gdLst>
              <a:gd name="T0" fmla="*/ 0 w 584"/>
              <a:gd name="T1" fmla="*/ 266 h 267"/>
              <a:gd name="T2" fmla="*/ 0 w 584"/>
              <a:gd name="T3" fmla="*/ 0 h 267"/>
              <a:gd name="T4" fmla="*/ 583 w 584"/>
              <a:gd name="T5" fmla="*/ 0 h 267"/>
              <a:gd name="T6" fmla="*/ 583 w 584"/>
              <a:gd name="T7" fmla="*/ 266 h 267"/>
              <a:gd name="T8" fmla="*/ 0 w 584"/>
              <a:gd name="T9" fmla="*/ 266 h 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84" h="267">
                <a:moveTo>
                  <a:pt x="0" y="266"/>
                </a:moveTo>
                <a:lnTo>
                  <a:pt x="0" y="0"/>
                </a:lnTo>
                <a:lnTo>
                  <a:pt x="583" y="0"/>
                </a:lnTo>
                <a:lnTo>
                  <a:pt x="583" y="266"/>
                </a:lnTo>
                <a:lnTo>
                  <a:pt x="0" y="26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Freeform 25"/>
          <p:cNvSpPr>
            <a:spLocks/>
          </p:cNvSpPr>
          <p:nvPr/>
        </p:nvSpPr>
        <p:spPr bwMode="auto">
          <a:xfrm>
            <a:off x="3205163" y="3110145"/>
            <a:ext cx="1588" cy="409575"/>
          </a:xfrm>
          <a:custGeom>
            <a:avLst/>
            <a:gdLst>
              <a:gd name="T0" fmla="*/ 0 w 1"/>
              <a:gd name="T1" fmla="*/ 0 h 258"/>
              <a:gd name="T2" fmla="*/ 0 w 1"/>
              <a:gd name="T3" fmla="*/ 257 h 258"/>
              <a:gd name="T4" fmla="*/ 0 w 1"/>
              <a:gd name="T5" fmla="*/ 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8">
                <a:moveTo>
                  <a:pt x="0" y="0"/>
                </a:moveTo>
                <a:lnTo>
                  <a:pt x="0" y="25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" name="Freeform 26"/>
          <p:cNvSpPr>
            <a:spLocks/>
          </p:cNvSpPr>
          <p:nvPr/>
        </p:nvSpPr>
        <p:spPr bwMode="auto">
          <a:xfrm>
            <a:off x="3613151" y="3122845"/>
            <a:ext cx="1587" cy="411163"/>
          </a:xfrm>
          <a:custGeom>
            <a:avLst/>
            <a:gdLst>
              <a:gd name="T0" fmla="*/ 0 w 1"/>
              <a:gd name="T1" fmla="*/ 0 h 259"/>
              <a:gd name="T2" fmla="*/ 0 w 1"/>
              <a:gd name="T3" fmla="*/ 258 h 259"/>
              <a:gd name="T4" fmla="*/ 0 w 1"/>
              <a:gd name="T5" fmla="*/ 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9">
                <a:moveTo>
                  <a:pt x="0" y="0"/>
                </a:moveTo>
                <a:lnTo>
                  <a:pt x="0" y="25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Freeform 27"/>
          <p:cNvSpPr>
            <a:spLocks/>
          </p:cNvSpPr>
          <p:nvPr/>
        </p:nvSpPr>
        <p:spPr bwMode="auto">
          <a:xfrm>
            <a:off x="2876551" y="3091095"/>
            <a:ext cx="1587" cy="428625"/>
          </a:xfrm>
          <a:custGeom>
            <a:avLst/>
            <a:gdLst>
              <a:gd name="T0" fmla="*/ 0 w 1"/>
              <a:gd name="T1" fmla="*/ 0 h 270"/>
              <a:gd name="T2" fmla="*/ 0 w 1"/>
              <a:gd name="T3" fmla="*/ 269 h 270"/>
              <a:gd name="T4" fmla="*/ 0 w 1"/>
              <a:gd name="T5" fmla="*/ 0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70">
                <a:moveTo>
                  <a:pt x="0" y="0"/>
                </a:moveTo>
                <a:lnTo>
                  <a:pt x="0" y="269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" name="Freeform 28"/>
          <p:cNvSpPr>
            <a:spLocks/>
          </p:cNvSpPr>
          <p:nvPr/>
        </p:nvSpPr>
        <p:spPr bwMode="auto">
          <a:xfrm>
            <a:off x="3298826" y="3110145"/>
            <a:ext cx="1587" cy="409575"/>
          </a:xfrm>
          <a:custGeom>
            <a:avLst/>
            <a:gdLst>
              <a:gd name="T0" fmla="*/ 0 w 1"/>
              <a:gd name="T1" fmla="*/ 0 h 258"/>
              <a:gd name="T2" fmla="*/ 0 w 1"/>
              <a:gd name="T3" fmla="*/ 257 h 258"/>
              <a:gd name="T4" fmla="*/ 0 w 1"/>
              <a:gd name="T5" fmla="*/ 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8">
                <a:moveTo>
                  <a:pt x="0" y="0"/>
                </a:moveTo>
                <a:lnTo>
                  <a:pt x="0" y="25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Rectangle 34"/>
          <p:cNvSpPr>
            <a:spLocks noChangeArrowheads="1"/>
          </p:cNvSpPr>
          <p:nvPr/>
        </p:nvSpPr>
        <p:spPr bwMode="auto">
          <a:xfrm>
            <a:off x="2895230" y="3172481"/>
            <a:ext cx="368692" cy="289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 dirty="0" smtClean="0">
                <a:solidFill>
                  <a:srgbClr val="000000"/>
                </a:solidFill>
                <a:latin typeface="Arial" pitchFamily="34" charset="0"/>
              </a:rPr>
              <a:t>10</a:t>
            </a:r>
            <a:endParaRPr lang="en-US" sz="1300" b="1" dirty="0">
              <a:solidFill>
                <a:srgbClr val="000000"/>
              </a:solidFill>
              <a:latin typeface="Arial" pitchFamily="34" charset="0"/>
            </a:endParaRPr>
          </a:p>
        </p:txBody>
      </p:sp>
      <p:cxnSp>
        <p:nvCxnSpPr>
          <p:cNvPr id="70" name="Straight Arrow Connector 69"/>
          <p:cNvCxnSpPr/>
          <p:nvPr/>
        </p:nvCxnSpPr>
        <p:spPr>
          <a:xfrm flipH="1">
            <a:off x="3246438" y="4187030"/>
            <a:ext cx="273844" cy="8128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H="1">
            <a:off x="3898900" y="4179867"/>
            <a:ext cx="794" cy="8128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flipH="1">
            <a:off x="2606675" y="3501941"/>
            <a:ext cx="245445" cy="2564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>
            <a:off x="3262315" y="3534008"/>
            <a:ext cx="636585" cy="2243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4749800" y="3299940"/>
            <a:ext cx="2444002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smtClean="0"/>
              <a:t>‘push up’ the middle key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628809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B+ Tree: Bulk Loading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What to do?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/>
              <a:t>Continue by inserting entries into the right-most index page just above the leaf </a:t>
            </a:r>
            <a:r>
              <a:rPr lang="en-US" sz="2400" dirty="0" smtClean="0"/>
              <a:t>page; split when fills up</a:t>
            </a:r>
            <a:endParaRPr lang="en-US" sz="2400" dirty="0"/>
          </a:p>
          <a:p>
            <a:pPr lvl="1">
              <a:buFont typeface="Wingdings" pitchFamily="2" charset="2"/>
              <a:buChar char="§"/>
            </a:pPr>
            <a:endParaRPr lang="en-US" sz="2400" dirty="0" smtClean="0"/>
          </a:p>
          <a:p>
            <a:pPr marL="457200" lvl="1" indent="0">
              <a:buNone/>
            </a:pPr>
            <a:endParaRPr lang="en-US" sz="2200" dirty="0"/>
          </a:p>
        </p:txBody>
      </p:sp>
      <p:sp>
        <p:nvSpPr>
          <p:cNvPr id="4" name="Freeform 6"/>
          <p:cNvSpPr>
            <a:spLocks/>
          </p:cNvSpPr>
          <p:nvPr/>
        </p:nvSpPr>
        <p:spPr bwMode="auto">
          <a:xfrm>
            <a:off x="1511300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1803400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Freeform 8"/>
          <p:cNvSpPr>
            <a:spLocks/>
          </p:cNvSpPr>
          <p:nvPr/>
        </p:nvSpPr>
        <p:spPr bwMode="auto">
          <a:xfrm>
            <a:off x="2212975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Freeform 9"/>
          <p:cNvSpPr>
            <a:spLocks/>
          </p:cNvSpPr>
          <p:nvPr/>
        </p:nvSpPr>
        <p:spPr bwMode="auto">
          <a:xfrm>
            <a:off x="2505075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Freeform 10"/>
          <p:cNvSpPr>
            <a:spLocks/>
          </p:cNvSpPr>
          <p:nvPr/>
        </p:nvSpPr>
        <p:spPr bwMode="auto">
          <a:xfrm>
            <a:off x="2916238" y="5020468"/>
            <a:ext cx="585787" cy="368300"/>
          </a:xfrm>
          <a:custGeom>
            <a:avLst/>
            <a:gdLst>
              <a:gd name="T0" fmla="*/ 0 w 369"/>
              <a:gd name="T1" fmla="*/ 231 h 232"/>
              <a:gd name="T2" fmla="*/ 0 w 369"/>
              <a:gd name="T3" fmla="*/ 0 h 232"/>
              <a:gd name="T4" fmla="*/ 368 w 369"/>
              <a:gd name="T5" fmla="*/ 0 h 232"/>
              <a:gd name="T6" fmla="*/ 368 w 369"/>
              <a:gd name="T7" fmla="*/ 231 h 232"/>
              <a:gd name="T8" fmla="*/ 0 w 369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Freeform 11"/>
          <p:cNvSpPr>
            <a:spLocks/>
          </p:cNvSpPr>
          <p:nvPr/>
        </p:nvSpPr>
        <p:spPr bwMode="auto">
          <a:xfrm>
            <a:off x="3208338" y="5020468"/>
            <a:ext cx="1587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Freeform 12"/>
          <p:cNvSpPr>
            <a:spLocks/>
          </p:cNvSpPr>
          <p:nvPr/>
        </p:nvSpPr>
        <p:spPr bwMode="auto">
          <a:xfrm>
            <a:off x="3606800" y="5020468"/>
            <a:ext cx="585788" cy="368300"/>
          </a:xfrm>
          <a:custGeom>
            <a:avLst/>
            <a:gdLst>
              <a:gd name="T0" fmla="*/ 0 w 369"/>
              <a:gd name="T1" fmla="*/ 231 h 232"/>
              <a:gd name="T2" fmla="*/ 0 w 369"/>
              <a:gd name="T3" fmla="*/ 0 h 232"/>
              <a:gd name="T4" fmla="*/ 368 w 369"/>
              <a:gd name="T5" fmla="*/ 0 h 232"/>
              <a:gd name="T6" fmla="*/ 368 w 369"/>
              <a:gd name="T7" fmla="*/ 231 h 232"/>
              <a:gd name="T8" fmla="*/ 0 w 369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Freeform 13"/>
          <p:cNvSpPr>
            <a:spLocks/>
          </p:cNvSpPr>
          <p:nvPr/>
        </p:nvSpPr>
        <p:spPr bwMode="auto">
          <a:xfrm>
            <a:off x="3898900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Freeform 14"/>
          <p:cNvSpPr>
            <a:spLocks/>
          </p:cNvSpPr>
          <p:nvPr/>
        </p:nvSpPr>
        <p:spPr bwMode="auto">
          <a:xfrm>
            <a:off x="4306888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Freeform 15"/>
          <p:cNvSpPr>
            <a:spLocks/>
          </p:cNvSpPr>
          <p:nvPr/>
        </p:nvSpPr>
        <p:spPr bwMode="auto">
          <a:xfrm>
            <a:off x="4602163" y="5020468"/>
            <a:ext cx="1587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Freeform 16"/>
          <p:cNvSpPr>
            <a:spLocks/>
          </p:cNvSpPr>
          <p:nvPr/>
        </p:nvSpPr>
        <p:spPr bwMode="auto">
          <a:xfrm>
            <a:off x="5010150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Freeform 17"/>
          <p:cNvSpPr>
            <a:spLocks/>
          </p:cNvSpPr>
          <p:nvPr/>
        </p:nvSpPr>
        <p:spPr bwMode="auto">
          <a:xfrm>
            <a:off x="5303838" y="5020468"/>
            <a:ext cx="1587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Freeform 18"/>
          <p:cNvSpPr>
            <a:spLocks/>
          </p:cNvSpPr>
          <p:nvPr/>
        </p:nvSpPr>
        <p:spPr bwMode="auto">
          <a:xfrm>
            <a:off x="5713413" y="5020468"/>
            <a:ext cx="587375" cy="368300"/>
          </a:xfrm>
          <a:custGeom>
            <a:avLst/>
            <a:gdLst>
              <a:gd name="T0" fmla="*/ 0 w 370"/>
              <a:gd name="T1" fmla="*/ 231 h 232"/>
              <a:gd name="T2" fmla="*/ 0 w 370"/>
              <a:gd name="T3" fmla="*/ 0 h 232"/>
              <a:gd name="T4" fmla="*/ 369 w 370"/>
              <a:gd name="T5" fmla="*/ 0 h 232"/>
              <a:gd name="T6" fmla="*/ 369 w 370"/>
              <a:gd name="T7" fmla="*/ 231 h 232"/>
              <a:gd name="T8" fmla="*/ 0 w 370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Freeform 19"/>
          <p:cNvSpPr>
            <a:spLocks/>
          </p:cNvSpPr>
          <p:nvPr/>
        </p:nvSpPr>
        <p:spPr bwMode="auto">
          <a:xfrm>
            <a:off x="6007100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Freeform 20"/>
          <p:cNvSpPr>
            <a:spLocks/>
          </p:cNvSpPr>
          <p:nvPr/>
        </p:nvSpPr>
        <p:spPr bwMode="auto">
          <a:xfrm>
            <a:off x="6403975" y="5020468"/>
            <a:ext cx="585788" cy="368300"/>
          </a:xfrm>
          <a:custGeom>
            <a:avLst/>
            <a:gdLst>
              <a:gd name="T0" fmla="*/ 0 w 369"/>
              <a:gd name="T1" fmla="*/ 231 h 232"/>
              <a:gd name="T2" fmla="*/ 0 w 369"/>
              <a:gd name="T3" fmla="*/ 0 h 232"/>
              <a:gd name="T4" fmla="*/ 368 w 369"/>
              <a:gd name="T5" fmla="*/ 0 h 232"/>
              <a:gd name="T6" fmla="*/ 368 w 369"/>
              <a:gd name="T7" fmla="*/ 231 h 232"/>
              <a:gd name="T8" fmla="*/ 0 w 369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Freeform 21"/>
          <p:cNvSpPr>
            <a:spLocks/>
          </p:cNvSpPr>
          <p:nvPr/>
        </p:nvSpPr>
        <p:spPr bwMode="auto">
          <a:xfrm>
            <a:off x="6696075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Freeform 22"/>
          <p:cNvSpPr>
            <a:spLocks/>
          </p:cNvSpPr>
          <p:nvPr/>
        </p:nvSpPr>
        <p:spPr bwMode="auto">
          <a:xfrm>
            <a:off x="7083425" y="5020468"/>
            <a:ext cx="585788" cy="368300"/>
          </a:xfrm>
          <a:custGeom>
            <a:avLst/>
            <a:gdLst>
              <a:gd name="T0" fmla="*/ 0 w 369"/>
              <a:gd name="T1" fmla="*/ 231 h 232"/>
              <a:gd name="T2" fmla="*/ 0 w 369"/>
              <a:gd name="T3" fmla="*/ 0 h 232"/>
              <a:gd name="T4" fmla="*/ 368 w 369"/>
              <a:gd name="T5" fmla="*/ 0 h 232"/>
              <a:gd name="T6" fmla="*/ 368 w 369"/>
              <a:gd name="T7" fmla="*/ 231 h 232"/>
              <a:gd name="T8" fmla="*/ 0 w 369"/>
              <a:gd name="T9" fmla="*/ 231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Freeform 23"/>
          <p:cNvSpPr>
            <a:spLocks/>
          </p:cNvSpPr>
          <p:nvPr/>
        </p:nvSpPr>
        <p:spPr bwMode="auto">
          <a:xfrm>
            <a:off x="7375525" y="5020468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31 h 232"/>
              <a:gd name="T4" fmla="*/ 0 w 1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Freeform 24"/>
          <p:cNvSpPr>
            <a:spLocks/>
          </p:cNvSpPr>
          <p:nvPr/>
        </p:nvSpPr>
        <p:spPr bwMode="auto">
          <a:xfrm>
            <a:off x="2143125" y="3779043"/>
            <a:ext cx="927100" cy="423863"/>
          </a:xfrm>
          <a:custGeom>
            <a:avLst/>
            <a:gdLst>
              <a:gd name="T0" fmla="*/ 0 w 584"/>
              <a:gd name="T1" fmla="*/ 266 h 267"/>
              <a:gd name="T2" fmla="*/ 0 w 584"/>
              <a:gd name="T3" fmla="*/ 0 h 267"/>
              <a:gd name="T4" fmla="*/ 583 w 584"/>
              <a:gd name="T5" fmla="*/ 0 h 267"/>
              <a:gd name="T6" fmla="*/ 583 w 584"/>
              <a:gd name="T7" fmla="*/ 266 h 267"/>
              <a:gd name="T8" fmla="*/ 0 w 584"/>
              <a:gd name="T9" fmla="*/ 266 h 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84" h="267">
                <a:moveTo>
                  <a:pt x="0" y="266"/>
                </a:moveTo>
                <a:lnTo>
                  <a:pt x="0" y="0"/>
                </a:lnTo>
                <a:lnTo>
                  <a:pt x="583" y="0"/>
                </a:lnTo>
                <a:lnTo>
                  <a:pt x="583" y="266"/>
                </a:lnTo>
                <a:lnTo>
                  <a:pt x="0" y="26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Freeform 25"/>
          <p:cNvSpPr>
            <a:spLocks/>
          </p:cNvSpPr>
          <p:nvPr/>
        </p:nvSpPr>
        <p:spPr bwMode="auto">
          <a:xfrm>
            <a:off x="2565400" y="3779043"/>
            <a:ext cx="1588" cy="409575"/>
          </a:xfrm>
          <a:custGeom>
            <a:avLst/>
            <a:gdLst>
              <a:gd name="T0" fmla="*/ 0 w 1"/>
              <a:gd name="T1" fmla="*/ 0 h 258"/>
              <a:gd name="T2" fmla="*/ 0 w 1"/>
              <a:gd name="T3" fmla="*/ 257 h 258"/>
              <a:gd name="T4" fmla="*/ 0 w 1"/>
              <a:gd name="T5" fmla="*/ 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8">
                <a:moveTo>
                  <a:pt x="0" y="0"/>
                </a:moveTo>
                <a:lnTo>
                  <a:pt x="0" y="25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Freeform 26"/>
          <p:cNvSpPr>
            <a:spLocks/>
          </p:cNvSpPr>
          <p:nvPr/>
        </p:nvSpPr>
        <p:spPr bwMode="auto">
          <a:xfrm>
            <a:off x="2973388" y="3791743"/>
            <a:ext cx="1587" cy="411163"/>
          </a:xfrm>
          <a:custGeom>
            <a:avLst/>
            <a:gdLst>
              <a:gd name="T0" fmla="*/ 0 w 1"/>
              <a:gd name="T1" fmla="*/ 0 h 259"/>
              <a:gd name="T2" fmla="*/ 0 w 1"/>
              <a:gd name="T3" fmla="*/ 258 h 259"/>
              <a:gd name="T4" fmla="*/ 0 w 1"/>
              <a:gd name="T5" fmla="*/ 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9">
                <a:moveTo>
                  <a:pt x="0" y="0"/>
                </a:moveTo>
                <a:lnTo>
                  <a:pt x="0" y="25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Freeform 27"/>
          <p:cNvSpPr>
            <a:spLocks/>
          </p:cNvSpPr>
          <p:nvPr/>
        </p:nvSpPr>
        <p:spPr bwMode="auto">
          <a:xfrm>
            <a:off x="2236788" y="3759993"/>
            <a:ext cx="1587" cy="428625"/>
          </a:xfrm>
          <a:custGeom>
            <a:avLst/>
            <a:gdLst>
              <a:gd name="T0" fmla="*/ 0 w 1"/>
              <a:gd name="T1" fmla="*/ 0 h 270"/>
              <a:gd name="T2" fmla="*/ 0 w 1"/>
              <a:gd name="T3" fmla="*/ 269 h 270"/>
              <a:gd name="T4" fmla="*/ 0 w 1"/>
              <a:gd name="T5" fmla="*/ 0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70">
                <a:moveTo>
                  <a:pt x="0" y="0"/>
                </a:moveTo>
                <a:lnTo>
                  <a:pt x="0" y="269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Freeform 28"/>
          <p:cNvSpPr>
            <a:spLocks/>
          </p:cNvSpPr>
          <p:nvPr/>
        </p:nvSpPr>
        <p:spPr bwMode="auto">
          <a:xfrm>
            <a:off x="2659063" y="3779043"/>
            <a:ext cx="1587" cy="409575"/>
          </a:xfrm>
          <a:custGeom>
            <a:avLst/>
            <a:gdLst>
              <a:gd name="T0" fmla="*/ 0 w 1"/>
              <a:gd name="T1" fmla="*/ 0 h 258"/>
              <a:gd name="T2" fmla="*/ 0 w 1"/>
              <a:gd name="T3" fmla="*/ 257 h 258"/>
              <a:gd name="T4" fmla="*/ 0 w 1"/>
              <a:gd name="T5" fmla="*/ 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8">
                <a:moveTo>
                  <a:pt x="0" y="0"/>
                </a:moveTo>
                <a:lnTo>
                  <a:pt x="0" y="25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Freeform 31"/>
          <p:cNvSpPr>
            <a:spLocks/>
          </p:cNvSpPr>
          <p:nvPr/>
        </p:nvSpPr>
        <p:spPr bwMode="auto">
          <a:xfrm>
            <a:off x="4271963" y="4876006"/>
            <a:ext cx="3479799" cy="647700"/>
          </a:xfrm>
          <a:custGeom>
            <a:avLst/>
            <a:gdLst>
              <a:gd name="T0" fmla="*/ 0 w 3526"/>
              <a:gd name="T1" fmla="*/ 407 h 408"/>
              <a:gd name="T2" fmla="*/ 0 w 3526"/>
              <a:gd name="T3" fmla="*/ 0 h 408"/>
              <a:gd name="T4" fmla="*/ 3525 w 3526"/>
              <a:gd name="T5" fmla="*/ 0 h 408"/>
              <a:gd name="T6" fmla="*/ 3525 w 3526"/>
              <a:gd name="T7" fmla="*/ 407 h 408"/>
              <a:gd name="T8" fmla="*/ 0 w 3526"/>
              <a:gd name="T9" fmla="*/ 407 h 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26" h="408">
                <a:moveTo>
                  <a:pt x="0" y="407"/>
                </a:moveTo>
                <a:lnTo>
                  <a:pt x="0" y="0"/>
                </a:lnTo>
                <a:lnTo>
                  <a:pt x="3525" y="0"/>
                </a:lnTo>
                <a:lnTo>
                  <a:pt x="3525" y="407"/>
                </a:lnTo>
                <a:lnTo>
                  <a:pt x="0" y="40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0" name="Group 49"/>
          <p:cNvGrpSpPr>
            <a:grpSpLocks/>
          </p:cNvGrpSpPr>
          <p:nvPr/>
        </p:nvGrpSpPr>
        <p:grpSpPr bwMode="auto">
          <a:xfrm>
            <a:off x="1492250" y="5031581"/>
            <a:ext cx="5953125" cy="303212"/>
            <a:chOff x="916" y="3723"/>
            <a:chExt cx="3750" cy="191"/>
          </a:xfrm>
        </p:grpSpPr>
        <p:sp>
          <p:nvSpPr>
            <p:cNvPr id="31" name="Rectangle 32"/>
            <p:cNvSpPr>
              <a:spLocks noChangeArrowheads="1"/>
            </p:cNvSpPr>
            <p:nvPr/>
          </p:nvSpPr>
          <p:spPr bwMode="auto">
            <a:xfrm>
              <a:off x="916" y="3723"/>
              <a:ext cx="21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3*</a:t>
              </a:r>
            </a:p>
          </p:txBody>
        </p:sp>
        <p:sp>
          <p:nvSpPr>
            <p:cNvPr id="32" name="Rectangle 33"/>
            <p:cNvSpPr>
              <a:spLocks noChangeArrowheads="1"/>
            </p:cNvSpPr>
            <p:nvPr/>
          </p:nvSpPr>
          <p:spPr bwMode="auto">
            <a:xfrm>
              <a:off x="1098" y="3733"/>
              <a:ext cx="21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4*</a:t>
              </a:r>
            </a:p>
          </p:txBody>
        </p:sp>
        <p:sp>
          <p:nvSpPr>
            <p:cNvPr id="33" name="Rectangle 34"/>
            <p:cNvSpPr>
              <a:spLocks noChangeArrowheads="1"/>
            </p:cNvSpPr>
            <p:nvPr/>
          </p:nvSpPr>
          <p:spPr bwMode="auto">
            <a:xfrm>
              <a:off x="1357" y="3723"/>
              <a:ext cx="21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 dirty="0">
                  <a:solidFill>
                    <a:srgbClr val="000000"/>
                  </a:solidFill>
                  <a:latin typeface="Arial" pitchFamily="34" charset="0"/>
                </a:rPr>
                <a:t>6*</a:t>
              </a:r>
            </a:p>
          </p:txBody>
        </p:sp>
        <p:sp>
          <p:nvSpPr>
            <p:cNvPr id="34" name="Rectangle 35"/>
            <p:cNvSpPr>
              <a:spLocks noChangeArrowheads="1"/>
            </p:cNvSpPr>
            <p:nvPr/>
          </p:nvSpPr>
          <p:spPr bwMode="auto">
            <a:xfrm>
              <a:off x="1542" y="3723"/>
              <a:ext cx="21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9*</a:t>
              </a:r>
            </a:p>
          </p:txBody>
        </p:sp>
        <p:sp>
          <p:nvSpPr>
            <p:cNvPr id="35" name="Rectangle 36"/>
            <p:cNvSpPr>
              <a:spLocks noChangeArrowheads="1"/>
            </p:cNvSpPr>
            <p:nvPr/>
          </p:nvSpPr>
          <p:spPr bwMode="auto">
            <a:xfrm>
              <a:off x="1771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 dirty="0">
                  <a:solidFill>
                    <a:srgbClr val="000000"/>
                  </a:solidFill>
                  <a:latin typeface="Arial" pitchFamily="34" charset="0"/>
                </a:rPr>
                <a:t>10*</a:t>
              </a:r>
            </a:p>
          </p:txBody>
        </p:sp>
        <p:sp>
          <p:nvSpPr>
            <p:cNvPr id="36" name="Rectangle 37"/>
            <p:cNvSpPr>
              <a:spLocks noChangeArrowheads="1"/>
            </p:cNvSpPr>
            <p:nvPr/>
          </p:nvSpPr>
          <p:spPr bwMode="auto">
            <a:xfrm>
              <a:off x="1955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11*</a:t>
              </a:r>
            </a:p>
          </p:txBody>
        </p:sp>
        <p:sp>
          <p:nvSpPr>
            <p:cNvPr id="37" name="Rectangle 38"/>
            <p:cNvSpPr>
              <a:spLocks noChangeArrowheads="1"/>
            </p:cNvSpPr>
            <p:nvPr/>
          </p:nvSpPr>
          <p:spPr bwMode="auto">
            <a:xfrm>
              <a:off x="2213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12*</a:t>
              </a:r>
            </a:p>
          </p:txBody>
        </p:sp>
        <p:sp>
          <p:nvSpPr>
            <p:cNvPr id="38" name="Rectangle 39"/>
            <p:cNvSpPr>
              <a:spLocks noChangeArrowheads="1"/>
            </p:cNvSpPr>
            <p:nvPr/>
          </p:nvSpPr>
          <p:spPr bwMode="auto">
            <a:xfrm>
              <a:off x="2397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13*</a:t>
              </a:r>
            </a:p>
          </p:txBody>
        </p:sp>
        <p:sp>
          <p:nvSpPr>
            <p:cNvPr id="39" name="Rectangle 40"/>
            <p:cNvSpPr>
              <a:spLocks noChangeArrowheads="1"/>
            </p:cNvSpPr>
            <p:nvPr/>
          </p:nvSpPr>
          <p:spPr bwMode="auto">
            <a:xfrm>
              <a:off x="2656" y="373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20*</a:t>
              </a:r>
            </a:p>
          </p:txBody>
        </p:sp>
        <p:sp>
          <p:nvSpPr>
            <p:cNvPr id="40" name="Rectangle 41"/>
            <p:cNvSpPr>
              <a:spLocks noChangeArrowheads="1"/>
            </p:cNvSpPr>
            <p:nvPr/>
          </p:nvSpPr>
          <p:spPr bwMode="auto">
            <a:xfrm>
              <a:off x="2833" y="373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22*</a:t>
              </a:r>
            </a:p>
          </p:txBody>
        </p:sp>
        <p:sp>
          <p:nvSpPr>
            <p:cNvPr id="41" name="Rectangle 42"/>
            <p:cNvSpPr>
              <a:spLocks noChangeArrowheads="1"/>
            </p:cNvSpPr>
            <p:nvPr/>
          </p:nvSpPr>
          <p:spPr bwMode="auto">
            <a:xfrm>
              <a:off x="3091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23*</a:t>
              </a:r>
            </a:p>
          </p:txBody>
        </p:sp>
        <p:sp>
          <p:nvSpPr>
            <p:cNvPr id="42" name="Rectangle 43"/>
            <p:cNvSpPr>
              <a:spLocks noChangeArrowheads="1"/>
            </p:cNvSpPr>
            <p:nvPr/>
          </p:nvSpPr>
          <p:spPr bwMode="auto">
            <a:xfrm>
              <a:off x="3282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31*</a:t>
              </a:r>
            </a:p>
          </p:txBody>
        </p:sp>
        <p:sp>
          <p:nvSpPr>
            <p:cNvPr id="43" name="Rectangle 44"/>
            <p:cNvSpPr>
              <a:spLocks noChangeArrowheads="1"/>
            </p:cNvSpPr>
            <p:nvPr/>
          </p:nvSpPr>
          <p:spPr bwMode="auto">
            <a:xfrm>
              <a:off x="3532" y="373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35*</a:t>
              </a:r>
            </a:p>
          </p:txBody>
        </p:sp>
        <p:sp>
          <p:nvSpPr>
            <p:cNvPr id="44" name="Rectangle 45"/>
            <p:cNvSpPr>
              <a:spLocks noChangeArrowheads="1"/>
            </p:cNvSpPr>
            <p:nvPr/>
          </p:nvSpPr>
          <p:spPr bwMode="auto">
            <a:xfrm>
              <a:off x="3710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36*</a:t>
              </a:r>
            </a:p>
          </p:txBody>
        </p:sp>
        <p:sp>
          <p:nvSpPr>
            <p:cNvPr id="45" name="Rectangle 46"/>
            <p:cNvSpPr>
              <a:spLocks noChangeArrowheads="1"/>
            </p:cNvSpPr>
            <p:nvPr/>
          </p:nvSpPr>
          <p:spPr bwMode="auto">
            <a:xfrm>
              <a:off x="3975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38*</a:t>
              </a:r>
            </a:p>
          </p:txBody>
        </p:sp>
        <p:sp>
          <p:nvSpPr>
            <p:cNvPr id="46" name="Rectangle 47"/>
            <p:cNvSpPr>
              <a:spLocks noChangeArrowheads="1"/>
            </p:cNvSpPr>
            <p:nvPr/>
          </p:nvSpPr>
          <p:spPr bwMode="auto">
            <a:xfrm>
              <a:off x="4152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41*</a:t>
              </a:r>
            </a:p>
          </p:txBody>
        </p:sp>
        <p:sp>
          <p:nvSpPr>
            <p:cNvPr id="47" name="Rectangle 48"/>
            <p:cNvSpPr>
              <a:spLocks noChangeArrowheads="1"/>
            </p:cNvSpPr>
            <p:nvPr/>
          </p:nvSpPr>
          <p:spPr bwMode="auto">
            <a:xfrm>
              <a:off x="4396" y="3723"/>
              <a:ext cx="2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300" b="1">
                  <a:solidFill>
                    <a:srgbClr val="000000"/>
                  </a:solidFill>
                  <a:latin typeface="Arial" pitchFamily="34" charset="0"/>
                </a:rPr>
                <a:t>44*</a:t>
              </a:r>
            </a:p>
          </p:txBody>
        </p:sp>
      </p:grpSp>
      <p:sp>
        <p:nvSpPr>
          <p:cNvPr id="49" name="Rectangle 51"/>
          <p:cNvSpPr>
            <a:spLocks noChangeArrowheads="1"/>
          </p:cNvSpPr>
          <p:nvPr/>
        </p:nvSpPr>
        <p:spPr bwMode="auto">
          <a:xfrm>
            <a:off x="1841199" y="2986088"/>
            <a:ext cx="64921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50" name="Line 52"/>
          <p:cNvSpPr>
            <a:spLocks noChangeShapeType="1"/>
          </p:cNvSpPr>
          <p:nvPr/>
        </p:nvSpPr>
        <p:spPr bwMode="auto">
          <a:xfrm>
            <a:off x="2255467" y="2895600"/>
            <a:ext cx="3810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Rectangle 34"/>
          <p:cNvSpPr>
            <a:spLocks noChangeArrowheads="1"/>
          </p:cNvSpPr>
          <p:nvPr/>
        </p:nvSpPr>
        <p:spPr bwMode="auto">
          <a:xfrm>
            <a:off x="2255467" y="3841379"/>
            <a:ext cx="275718" cy="289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 dirty="0" smtClean="0">
                <a:solidFill>
                  <a:srgbClr val="000000"/>
                </a:solidFill>
                <a:latin typeface="Arial" pitchFamily="34" charset="0"/>
              </a:rPr>
              <a:t>6</a:t>
            </a:r>
            <a:endParaRPr lang="en-US" sz="1300" b="1" dirty="0">
              <a:solidFill>
                <a:srgbClr val="000000"/>
              </a:solidFill>
              <a:latin typeface="Arial" pitchFamily="34" charset="0"/>
            </a:endParaRPr>
          </a:p>
        </p:txBody>
      </p:sp>
      <p:cxnSp>
        <p:nvCxnSpPr>
          <p:cNvPr id="3" name="Straight Arrow Connector 2"/>
          <p:cNvCxnSpPr>
            <a:stCxn id="22" idx="0"/>
          </p:cNvCxnSpPr>
          <p:nvPr/>
        </p:nvCxnSpPr>
        <p:spPr>
          <a:xfrm flipH="1">
            <a:off x="1804988" y="4201318"/>
            <a:ext cx="338137" cy="8191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2486025" y="4207616"/>
            <a:ext cx="120651" cy="8128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Freeform 24"/>
          <p:cNvSpPr>
            <a:spLocks/>
          </p:cNvSpPr>
          <p:nvPr/>
        </p:nvSpPr>
        <p:spPr bwMode="auto">
          <a:xfrm>
            <a:off x="3435350" y="3777455"/>
            <a:ext cx="927100" cy="423863"/>
          </a:xfrm>
          <a:custGeom>
            <a:avLst/>
            <a:gdLst>
              <a:gd name="T0" fmla="*/ 0 w 584"/>
              <a:gd name="T1" fmla="*/ 266 h 267"/>
              <a:gd name="T2" fmla="*/ 0 w 584"/>
              <a:gd name="T3" fmla="*/ 0 h 267"/>
              <a:gd name="T4" fmla="*/ 583 w 584"/>
              <a:gd name="T5" fmla="*/ 0 h 267"/>
              <a:gd name="T6" fmla="*/ 583 w 584"/>
              <a:gd name="T7" fmla="*/ 266 h 267"/>
              <a:gd name="T8" fmla="*/ 0 w 584"/>
              <a:gd name="T9" fmla="*/ 266 h 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84" h="267">
                <a:moveTo>
                  <a:pt x="0" y="266"/>
                </a:moveTo>
                <a:lnTo>
                  <a:pt x="0" y="0"/>
                </a:lnTo>
                <a:lnTo>
                  <a:pt x="583" y="0"/>
                </a:lnTo>
                <a:lnTo>
                  <a:pt x="583" y="266"/>
                </a:lnTo>
                <a:lnTo>
                  <a:pt x="0" y="26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" name="Freeform 25"/>
          <p:cNvSpPr>
            <a:spLocks/>
          </p:cNvSpPr>
          <p:nvPr/>
        </p:nvSpPr>
        <p:spPr bwMode="auto">
          <a:xfrm>
            <a:off x="3857625" y="3777455"/>
            <a:ext cx="1588" cy="409575"/>
          </a:xfrm>
          <a:custGeom>
            <a:avLst/>
            <a:gdLst>
              <a:gd name="T0" fmla="*/ 0 w 1"/>
              <a:gd name="T1" fmla="*/ 0 h 258"/>
              <a:gd name="T2" fmla="*/ 0 w 1"/>
              <a:gd name="T3" fmla="*/ 257 h 258"/>
              <a:gd name="T4" fmla="*/ 0 w 1"/>
              <a:gd name="T5" fmla="*/ 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8">
                <a:moveTo>
                  <a:pt x="0" y="0"/>
                </a:moveTo>
                <a:lnTo>
                  <a:pt x="0" y="25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" name="Freeform 26"/>
          <p:cNvSpPr>
            <a:spLocks/>
          </p:cNvSpPr>
          <p:nvPr/>
        </p:nvSpPr>
        <p:spPr bwMode="auto">
          <a:xfrm>
            <a:off x="4265613" y="3790155"/>
            <a:ext cx="1587" cy="411163"/>
          </a:xfrm>
          <a:custGeom>
            <a:avLst/>
            <a:gdLst>
              <a:gd name="T0" fmla="*/ 0 w 1"/>
              <a:gd name="T1" fmla="*/ 0 h 259"/>
              <a:gd name="T2" fmla="*/ 0 w 1"/>
              <a:gd name="T3" fmla="*/ 258 h 259"/>
              <a:gd name="T4" fmla="*/ 0 w 1"/>
              <a:gd name="T5" fmla="*/ 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9">
                <a:moveTo>
                  <a:pt x="0" y="0"/>
                </a:moveTo>
                <a:lnTo>
                  <a:pt x="0" y="25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Freeform 27"/>
          <p:cNvSpPr>
            <a:spLocks/>
          </p:cNvSpPr>
          <p:nvPr/>
        </p:nvSpPr>
        <p:spPr bwMode="auto">
          <a:xfrm>
            <a:off x="3529013" y="3758405"/>
            <a:ext cx="1587" cy="428625"/>
          </a:xfrm>
          <a:custGeom>
            <a:avLst/>
            <a:gdLst>
              <a:gd name="T0" fmla="*/ 0 w 1"/>
              <a:gd name="T1" fmla="*/ 0 h 270"/>
              <a:gd name="T2" fmla="*/ 0 w 1"/>
              <a:gd name="T3" fmla="*/ 269 h 270"/>
              <a:gd name="T4" fmla="*/ 0 w 1"/>
              <a:gd name="T5" fmla="*/ 0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70">
                <a:moveTo>
                  <a:pt x="0" y="0"/>
                </a:moveTo>
                <a:lnTo>
                  <a:pt x="0" y="269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Freeform 28"/>
          <p:cNvSpPr>
            <a:spLocks/>
          </p:cNvSpPr>
          <p:nvPr/>
        </p:nvSpPr>
        <p:spPr bwMode="auto">
          <a:xfrm>
            <a:off x="3951288" y="3777455"/>
            <a:ext cx="1587" cy="409575"/>
          </a:xfrm>
          <a:custGeom>
            <a:avLst/>
            <a:gdLst>
              <a:gd name="T0" fmla="*/ 0 w 1"/>
              <a:gd name="T1" fmla="*/ 0 h 258"/>
              <a:gd name="T2" fmla="*/ 0 w 1"/>
              <a:gd name="T3" fmla="*/ 257 h 258"/>
              <a:gd name="T4" fmla="*/ 0 w 1"/>
              <a:gd name="T5" fmla="*/ 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8">
                <a:moveTo>
                  <a:pt x="0" y="0"/>
                </a:moveTo>
                <a:lnTo>
                  <a:pt x="0" y="25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Rectangle 34"/>
          <p:cNvSpPr>
            <a:spLocks noChangeArrowheads="1"/>
          </p:cNvSpPr>
          <p:nvPr/>
        </p:nvSpPr>
        <p:spPr bwMode="auto">
          <a:xfrm>
            <a:off x="3547692" y="3839791"/>
            <a:ext cx="368692" cy="289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 dirty="0" smtClean="0">
                <a:solidFill>
                  <a:srgbClr val="000000"/>
                </a:solidFill>
                <a:latin typeface="Arial" pitchFamily="34" charset="0"/>
              </a:rPr>
              <a:t>12</a:t>
            </a:r>
            <a:endParaRPr lang="en-US" sz="13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63" name="Freeform 24"/>
          <p:cNvSpPr>
            <a:spLocks/>
          </p:cNvSpPr>
          <p:nvPr/>
        </p:nvSpPr>
        <p:spPr bwMode="auto">
          <a:xfrm>
            <a:off x="2782888" y="3110145"/>
            <a:ext cx="927100" cy="423863"/>
          </a:xfrm>
          <a:custGeom>
            <a:avLst/>
            <a:gdLst>
              <a:gd name="T0" fmla="*/ 0 w 584"/>
              <a:gd name="T1" fmla="*/ 266 h 267"/>
              <a:gd name="T2" fmla="*/ 0 w 584"/>
              <a:gd name="T3" fmla="*/ 0 h 267"/>
              <a:gd name="T4" fmla="*/ 583 w 584"/>
              <a:gd name="T5" fmla="*/ 0 h 267"/>
              <a:gd name="T6" fmla="*/ 583 w 584"/>
              <a:gd name="T7" fmla="*/ 266 h 267"/>
              <a:gd name="T8" fmla="*/ 0 w 584"/>
              <a:gd name="T9" fmla="*/ 266 h 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84" h="267">
                <a:moveTo>
                  <a:pt x="0" y="266"/>
                </a:moveTo>
                <a:lnTo>
                  <a:pt x="0" y="0"/>
                </a:lnTo>
                <a:lnTo>
                  <a:pt x="583" y="0"/>
                </a:lnTo>
                <a:lnTo>
                  <a:pt x="583" y="266"/>
                </a:lnTo>
                <a:lnTo>
                  <a:pt x="0" y="26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Freeform 25"/>
          <p:cNvSpPr>
            <a:spLocks/>
          </p:cNvSpPr>
          <p:nvPr/>
        </p:nvSpPr>
        <p:spPr bwMode="auto">
          <a:xfrm>
            <a:off x="3205163" y="3110145"/>
            <a:ext cx="1588" cy="409575"/>
          </a:xfrm>
          <a:custGeom>
            <a:avLst/>
            <a:gdLst>
              <a:gd name="T0" fmla="*/ 0 w 1"/>
              <a:gd name="T1" fmla="*/ 0 h 258"/>
              <a:gd name="T2" fmla="*/ 0 w 1"/>
              <a:gd name="T3" fmla="*/ 257 h 258"/>
              <a:gd name="T4" fmla="*/ 0 w 1"/>
              <a:gd name="T5" fmla="*/ 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8">
                <a:moveTo>
                  <a:pt x="0" y="0"/>
                </a:moveTo>
                <a:lnTo>
                  <a:pt x="0" y="25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" name="Freeform 26"/>
          <p:cNvSpPr>
            <a:spLocks/>
          </p:cNvSpPr>
          <p:nvPr/>
        </p:nvSpPr>
        <p:spPr bwMode="auto">
          <a:xfrm>
            <a:off x="3613151" y="3122845"/>
            <a:ext cx="1587" cy="411163"/>
          </a:xfrm>
          <a:custGeom>
            <a:avLst/>
            <a:gdLst>
              <a:gd name="T0" fmla="*/ 0 w 1"/>
              <a:gd name="T1" fmla="*/ 0 h 259"/>
              <a:gd name="T2" fmla="*/ 0 w 1"/>
              <a:gd name="T3" fmla="*/ 258 h 259"/>
              <a:gd name="T4" fmla="*/ 0 w 1"/>
              <a:gd name="T5" fmla="*/ 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9">
                <a:moveTo>
                  <a:pt x="0" y="0"/>
                </a:moveTo>
                <a:lnTo>
                  <a:pt x="0" y="25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Freeform 27"/>
          <p:cNvSpPr>
            <a:spLocks/>
          </p:cNvSpPr>
          <p:nvPr/>
        </p:nvSpPr>
        <p:spPr bwMode="auto">
          <a:xfrm>
            <a:off x="2876551" y="3091095"/>
            <a:ext cx="1587" cy="428625"/>
          </a:xfrm>
          <a:custGeom>
            <a:avLst/>
            <a:gdLst>
              <a:gd name="T0" fmla="*/ 0 w 1"/>
              <a:gd name="T1" fmla="*/ 0 h 270"/>
              <a:gd name="T2" fmla="*/ 0 w 1"/>
              <a:gd name="T3" fmla="*/ 269 h 270"/>
              <a:gd name="T4" fmla="*/ 0 w 1"/>
              <a:gd name="T5" fmla="*/ 0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70">
                <a:moveTo>
                  <a:pt x="0" y="0"/>
                </a:moveTo>
                <a:lnTo>
                  <a:pt x="0" y="269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" name="Freeform 28"/>
          <p:cNvSpPr>
            <a:spLocks/>
          </p:cNvSpPr>
          <p:nvPr/>
        </p:nvSpPr>
        <p:spPr bwMode="auto">
          <a:xfrm>
            <a:off x="3298826" y="3110145"/>
            <a:ext cx="1587" cy="409575"/>
          </a:xfrm>
          <a:custGeom>
            <a:avLst/>
            <a:gdLst>
              <a:gd name="T0" fmla="*/ 0 w 1"/>
              <a:gd name="T1" fmla="*/ 0 h 258"/>
              <a:gd name="T2" fmla="*/ 0 w 1"/>
              <a:gd name="T3" fmla="*/ 257 h 258"/>
              <a:gd name="T4" fmla="*/ 0 w 1"/>
              <a:gd name="T5" fmla="*/ 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58">
                <a:moveTo>
                  <a:pt x="0" y="0"/>
                </a:moveTo>
                <a:lnTo>
                  <a:pt x="0" y="25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Rectangle 34"/>
          <p:cNvSpPr>
            <a:spLocks noChangeArrowheads="1"/>
          </p:cNvSpPr>
          <p:nvPr/>
        </p:nvSpPr>
        <p:spPr bwMode="auto">
          <a:xfrm>
            <a:off x="2895230" y="3172481"/>
            <a:ext cx="368692" cy="289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 dirty="0" smtClean="0">
                <a:solidFill>
                  <a:srgbClr val="000000"/>
                </a:solidFill>
                <a:latin typeface="Arial" pitchFamily="34" charset="0"/>
              </a:rPr>
              <a:t>10</a:t>
            </a:r>
            <a:endParaRPr lang="en-US" sz="1300" b="1" dirty="0">
              <a:solidFill>
                <a:srgbClr val="000000"/>
              </a:solidFill>
              <a:latin typeface="Arial" pitchFamily="34" charset="0"/>
            </a:endParaRPr>
          </a:p>
        </p:txBody>
      </p:sp>
      <p:cxnSp>
        <p:nvCxnSpPr>
          <p:cNvPr id="70" name="Straight Arrow Connector 69"/>
          <p:cNvCxnSpPr/>
          <p:nvPr/>
        </p:nvCxnSpPr>
        <p:spPr>
          <a:xfrm flipH="1">
            <a:off x="3246438" y="4187030"/>
            <a:ext cx="273844" cy="8128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H="1">
            <a:off x="3898900" y="4179867"/>
            <a:ext cx="794" cy="8128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flipH="1">
            <a:off x="2606675" y="3501941"/>
            <a:ext cx="245445" cy="2564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>
            <a:off x="3262315" y="3534008"/>
            <a:ext cx="636585" cy="2243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930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B+ Tree: Bulk Loading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What to do?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/>
              <a:t>Continue by inserting entries into the right-most index page just above the leaf page; split when fills up</a:t>
            </a:r>
          </a:p>
          <a:p>
            <a:pPr lvl="1">
              <a:buFont typeface="Wingdings" pitchFamily="2" charset="2"/>
              <a:buChar char="§"/>
            </a:pPr>
            <a:endParaRPr lang="en-US" sz="2400" dirty="0" smtClean="0"/>
          </a:p>
          <a:p>
            <a:pPr marL="457200" lvl="1" indent="0">
              <a:buNone/>
            </a:pPr>
            <a:endParaRPr lang="en-US" sz="2200" dirty="0"/>
          </a:p>
        </p:txBody>
      </p:sp>
      <p:sp>
        <p:nvSpPr>
          <p:cNvPr id="69" name="Freeform 6"/>
          <p:cNvSpPr>
            <a:spLocks/>
          </p:cNvSpPr>
          <p:nvPr/>
        </p:nvSpPr>
        <p:spPr bwMode="auto">
          <a:xfrm>
            <a:off x="1703388" y="5256212"/>
            <a:ext cx="534987" cy="290513"/>
          </a:xfrm>
          <a:custGeom>
            <a:avLst/>
            <a:gdLst>
              <a:gd name="T0" fmla="*/ 0 w 337"/>
              <a:gd name="T1" fmla="*/ 182 h 183"/>
              <a:gd name="T2" fmla="*/ 0 w 337"/>
              <a:gd name="T3" fmla="*/ 0 h 183"/>
              <a:gd name="T4" fmla="*/ 336 w 337"/>
              <a:gd name="T5" fmla="*/ 0 h 183"/>
              <a:gd name="T6" fmla="*/ 336 w 337"/>
              <a:gd name="T7" fmla="*/ 182 h 183"/>
              <a:gd name="T8" fmla="*/ 0 w 337"/>
              <a:gd name="T9" fmla="*/ 182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7" h="183">
                <a:moveTo>
                  <a:pt x="0" y="182"/>
                </a:moveTo>
                <a:lnTo>
                  <a:pt x="0" y="0"/>
                </a:lnTo>
                <a:lnTo>
                  <a:pt x="336" y="0"/>
                </a:lnTo>
                <a:lnTo>
                  <a:pt x="336" y="182"/>
                </a:lnTo>
                <a:lnTo>
                  <a:pt x="0" y="18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Freeform 7"/>
          <p:cNvSpPr>
            <a:spLocks/>
          </p:cNvSpPr>
          <p:nvPr/>
        </p:nvSpPr>
        <p:spPr bwMode="auto">
          <a:xfrm>
            <a:off x="1970088" y="5256212"/>
            <a:ext cx="1587" cy="290513"/>
          </a:xfrm>
          <a:custGeom>
            <a:avLst/>
            <a:gdLst>
              <a:gd name="T0" fmla="*/ 0 w 1"/>
              <a:gd name="T1" fmla="*/ 0 h 183"/>
              <a:gd name="T2" fmla="*/ 0 w 1"/>
              <a:gd name="T3" fmla="*/ 182 h 183"/>
              <a:gd name="T4" fmla="*/ 0 w 1"/>
              <a:gd name="T5" fmla="*/ 0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3">
                <a:moveTo>
                  <a:pt x="0" y="0"/>
                </a:moveTo>
                <a:lnTo>
                  <a:pt x="0" y="18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" name="Freeform 8"/>
          <p:cNvSpPr>
            <a:spLocks/>
          </p:cNvSpPr>
          <p:nvPr/>
        </p:nvSpPr>
        <p:spPr bwMode="auto">
          <a:xfrm>
            <a:off x="2343150" y="5256212"/>
            <a:ext cx="531813" cy="290513"/>
          </a:xfrm>
          <a:custGeom>
            <a:avLst/>
            <a:gdLst>
              <a:gd name="T0" fmla="*/ 0 w 335"/>
              <a:gd name="T1" fmla="*/ 182 h 183"/>
              <a:gd name="T2" fmla="*/ 0 w 335"/>
              <a:gd name="T3" fmla="*/ 0 h 183"/>
              <a:gd name="T4" fmla="*/ 334 w 335"/>
              <a:gd name="T5" fmla="*/ 0 h 183"/>
              <a:gd name="T6" fmla="*/ 334 w 335"/>
              <a:gd name="T7" fmla="*/ 182 h 183"/>
              <a:gd name="T8" fmla="*/ 0 w 335"/>
              <a:gd name="T9" fmla="*/ 182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5" h="183">
                <a:moveTo>
                  <a:pt x="0" y="182"/>
                </a:moveTo>
                <a:lnTo>
                  <a:pt x="0" y="0"/>
                </a:lnTo>
                <a:lnTo>
                  <a:pt x="334" y="0"/>
                </a:lnTo>
                <a:lnTo>
                  <a:pt x="334" y="182"/>
                </a:lnTo>
                <a:lnTo>
                  <a:pt x="0" y="18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" name="Freeform 9"/>
          <p:cNvSpPr>
            <a:spLocks/>
          </p:cNvSpPr>
          <p:nvPr/>
        </p:nvSpPr>
        <p:spPr bwMode="auto">
          <a:xfrm>
            <a:off x="2608263" y="5256212"/>
            <a:ext cx="1587" cy="290513"/>
          </a:xfrm>
          <a:custGeom>
            <a:avLst/>
            <a:gdLst>
              <a:gd name="T0" fmla="*/ 0 w 1"/>
              <a:gd name="T1" fmla="*/ 0 h 183"/>
              <a:gd name="T2" fmla="*/ 0 w 1"/>
              <a:gd name="T3" fmla="*/ 182 h 183"/>
              <a:gd name="T4" fmla="*/ 0 w 1"/>
              <a:gd name="T5" fmla="*/ 0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3">
                <a:moveTo>
                  <a:pt x="0" y="0"/>
                </a:moveTo>
                <a:lnTo>
                  <a:pt x="0" y="18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" name="Freeform 10"/>
          <p:cNvSpPr>
            <a:spLocks/>
          </p:cNvSpPr>
          <p:nvPr/>
        </p:nvSpPr>
        <p:spPr bwMode="auto">
          <a:xfrm>
            <a:off x="2981325" y="5256212"/>
            <a:ext cx="534988" cy="290513"/>
          </a:xfrm>
          <a:custGeom>
            <a:avLst/>
            <a:gdLst>
              <a:gd name="T0" fmla="*/ 0 w 337"/>
              <a:gd name="T1" fmla="*/ 182 h 183"/>
              <a:gd name="T2" fmla="*/ 0 w 337"/>
              <a:gd name="T3" fmla="*/ 0 h 183"/>
              <a:gd name="T4" fmla="*/ 336 w 337"/>
              <a:gd name="T5" fmla="*/ 0 h 183"/>
              <a:gd name="T6" fmla="*/ 336 w 337"/>
              <a:gd name="T7" fmla="*/ 182 h 183"/>
              <a:gd name="T8" fmla="*/ 0 w 337"/>
              <a:gd name="T9" fmla="*/ 182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7" h="183">
                <a:moveTo>
                  <a:pt x="0" y="182"/>
                </a:moveTo>
                <a:lnTo>
                  <a:pt x="0" y="0"/>
                </a:lnTo>
                <a:lnTo>
                  <a:pt x="336" y="0"/>
                </a:lnTo>
                <a:lnTo>
                  <a:pt x="336" y="182"/>
                </a:lnTo>
                <a:lnTo>
                  <a:pt x="0" y="18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" name="Freeform 11"/>
          <p:cNvSpPr>
            <a:spLocks/>
          </p:cNvSpPr>
          <p:nvPr/>
        </p:nvSpPr>
        <p:spPr bwMode="auto">
          <a:xfrm>
            <a:off x="3246438" y="5256212"/>
            <a:ext cx="1587" cy="290513"/>
          </a:xfrm>
          <a:custGeom>
            <a:avLst/>
            <a:gdLst>
              <a:gd name="T0" fmla="*/ 0 w 1"/>
              <a:gd name="T1" fmla="*/ 0 h 183"/>
              <a:gd name="T2" fmla="*/ 0 w 1"/>
              <a:gd name="T3" fmla="*/ 182 h 183"/>
              <a:gd name="T4" fmla="*/ 0 w 1"/>
              <a:gd name="T5" fmla="*/ 0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3">
                <a:moveTo>
                  <a:pt x="0" y="0"/>
                </a:moveTo>
                <a:lnTo>
                  <a:pt x="0" y="18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" name="Freeform 12"/>
          <p:cNvSpPr>
            <a:spLocks/>
          </p:cNvSpPr>
          <p:nvPr/>
        </p:nvSpPr>
        <p:spPr bwMode="auto">
          <a:xfrm>
            <a:off x="3608388" y="5256212"/>
            <a:ext cx="534987" cy="290513"/>
          </a:xfrm>
          <a:custGeom>
            <a:avLst/>
            <a:gdLst>
              <a:gd name="T0" fmla="*/ 0 w 337"/>
              <a:gd name="T1" fmla="*/ 182 h 183"/>
              <a:gd name="T2" fmla="*/ 0 w 337"/>
              <a:gd name="T3" fmla="*/ 0 h 183"/>
              <a:gd name="T4" fmla="*/ 336 w 337"/>
              <a:gd name="T5" fmla="*/ 0 h 183"/>
              <a:gd name="T6" fmla="*/ 336 w 337"/>
              <a:gd name="T7" fmla="*/ 182 h 183"/>
              <a:gd name="T8" fmla="*/ 0 w 337"/>
              <a:gd name="T9" fmla="*/ 182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7" h="183">
                <a:moveTo>
                  <a:pt x="0" y="182"/>
                </a:moveTo>
                <a:lnTo>
                  <a:pt x="0" y="0"/>
                </a:lnTo>
                <a:lnTo>
                  <a:pt x="336" y="0"/>
                </a:lnTo>
                <a:lnTo>
                  <a:pt x="336" y="182"/>
                </a:lnTo>
                <a:lnTo>
                  <a:pt x="0" y="18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" name="Freeform 13"/>
          <p:cNvSpPr>
            <a:spLocks/>
          </p:cNvSpPr>
          <p:nvPr/>
        </p:nvSpPr>
        <p:spPr bwMode="auto">
          <a:xfrm>
            <a:off x="3875088" y="5256212"/>
            <a:ext cx="1587" cy="290513"/>
          </a:xfrm>
          <a:custGeom>
            <a:avLst/>
            <a:gdLst>
              <a:gd name="T0" fmla="*/ 0 w 1"/>
              <a:gd name="T1" fmla="*/ 0 h 183"/>
              <a:gd name="T2" fmla="*/ 0 w 1"/>
              <a:gd name="T3" fmla="*/ 182 h 183"/>
              <a:gd name="T4" fmla="*/ 0 w 1"/>
              <a:gd name="T5" fmla="*/ 0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3">
                <a:moveTo>
                  <a:pt x="0" y="0"/>
                </a:moveTo>
                <a:lnTo>
                  <a:pt x="0" y="18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" name="Freeform 14"/>
          <p:cNvSpPr>
            <a:spLocks/>
          </p:cNvSpPr>
          <p:nvPr/>
        </p:nvSpPr>
        <p:spPr bwMode="auto">
          <a:xfrm>
            <a:off x="4246563" y="5256212"/>
            <a:ext cx="533400" cy="290513"/>
          </a:xfrm>
          <a:custGeom>
            <a:avLst/>
            <a:gdLst>
              <a:gd name="T0" fmla="*/ 0 w 336"/>
              <a:gd name="T1" fmla="*/ 182 h 183"/>
              <a:gd name="T2" fmla="*/ 0 w 336"/>
              <a:gd name="T3" fmla="*/ 0 h 183"/>
              <a:gd name="T4" fmla="*/ 335 w 336"/>
              <a:gd name="T5" fmla="*/ 0 h 183"/>
              <a:gd name="T6" fmla="*/ 335 w 336"/>
              <a:gd name="T7" fmla="*/ 182 h 183"/>
              <a:gd name="T8" fmla="*/ 0 w 336"/>
              <a:gd name="T9" fmla="*/ 182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6" h="183">
                <a:moveTo>
                  <a:pt x="0" y="182"/>
                </a:moveTo>
                <a:lnTo>
                  <a:pt x="0" y="0"/>
                </a:lnTo>
                <a:lnTo>
                  <a:pt x="335" y="0"/>
                </a:lnTo>
                <a:lnTo>
                  <a:pt x="335" y="182"/>
                </a:lnTo>
                <a:lnTo>
                  <a:pt x="0" y="18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" name="Freeform 15"/>
          <p:cNvSpPr>
            <a:spLocks/>
          </p:cNvSpPr>
          <p:nvPr/>
        </p:nvSpPr>
        <p:spPr bwMode="auto">
          <a:xfrm>
            <a:off x="4513263" y="5256212"/>
            <a:ext cx="1587" cy="290513"/>
          </a:xfrm>
          <a:custGeom>
            <a:avLst/>
            <a:gdLst>
              <a:gd name="T0" fmla="*/ 0 w 1"/>
              <a:gd name="T1" fmla="*/ 0 h 183"/>
              <a:gd name="T2" fmla="*/ 0 w 1"/>
              <a:gd name="T3" fmla="*/ 182 h 183"/>
              <a:gd name="T4" fmla="*/ 0 w 1"/>
              <a:gd name="T5" fmla="*/ 0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3">
                <a:moveTo>
                  <a:pt x="0" y="0"/>
                </a:moveTo>
                <a:lnTo>
                  <a:pt x="0" y="18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" name="Freeform 16"/>
          <p:cNvSpPr>
            <a:spLocks/>
          </p:cNvSpPr>
          <p:nvPr/>
        </p:nvSpPr>
        <p:spPr bwMode="auto">
          <a:xfrm>
            <a:off x="4884738" y="5256212"/>
            <a:ext cx="533400" cy="290513"/>
          </a:xfrm>
          <a:custGeom>
            <a:avLst/>
            <a:gdLst>
              <a:gd name="T0" fmla="*/ 0 w 336"/>
              <a:gd name="T1" fmla="*/ 182 h 183"/>
              <a:gd name="T2" fmla="*/ 0 w 336"/>
              <a:gd name="T3" fmla="*/ 0 h 183"/>
              <a:gd name="T4" fmla="*/ 335 w 336"/>
              <a:gd name="T5" fmla="*/ 0 h 183"/>
              <a:gd name="T6" fmla="*/ 335 w 336"/>
              <a:gd name="T7" fmla="*/ 182 h 183"/>
              <a:gd name="T8" fmla="*/ 0 w 336"/>
              <a:gd name="T9" fmla="*/ 182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6" h="183">
                <a:moveTo>
                  <a:pt x="0" y="182"/>
                </a:moveTo>
                <a:lnTo>
                  <a:pt x="0" y="0"/>
                </a:lnTo>
                <a:lnTo>
                  <a:pt x="335" y="0"/>
                </a:lnTo>
                <a:lnTo>
                  <a:pt x="335" y="182"/>
                </a:lnTo>
                <a:lnTo>
                  <a:pt x="0" y="18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" name="Freeform 17"/>
          <p:cNvSpPr>
            <a:spLocks/>
          </p:cNvSpPr>
          <p:nvPr/>
        </p:nvSpPr>
        <p:spPr bwMode="auto">
          <a:xfrm>
            <a:off x="5153025" y="5256212"/>
            <a:ext cx="1588" cy="290513"/>
          </a:xfrm>
          <a:custGeom>
            <a:avLst/>
            <a:gdLst>
              <a:gd name="T0" fmla="*/ 0 w 1"/>
              <a:gd name="T1" fmla="*/ 0 h 183"/>
              <a:gd name="T2" fmla="*/ 0 w 1"/>
              <a:gd name="T3" fmla="*/ 182 h 183"/>
              <a:gd name="T4" fmla="*/ 0 w 1"/>
              <a:gd name="T5" fmla="*/ 0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3">
                <a:moveTo>
                  <a:pt x="0" y="0"/>
                </a:moveTo>
                <a:lnTo>
                  <a:pt x="0" y="18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" name="Freeform 18"/>
          <p:cNvSpPr>
            <a:spLocks/>
          </p:cNvSpPr>
          <p:nvPr/>
        </p:nvSpPr>
        <p:spPr bwMode="auto">
          <a:xfrm>
            <a:off x="5524500" y="5256212"/>
            <a:ext cx="534988" cy="290513"/>
          </a:xfrm>
          <a:custGeom>
            <a:avLst/>
            <a:gdLst>
              <a:gd name="T0" fmla="*/ 0 w 337"/>
              <a:gd name="T1" fmla="*/ 182 h 183"/>
              <a:gd name="T2" fmla="*/ 0 w 337"/>
              <a:gd name="T3" fmla="*/ 0 h 183"/>
              <a:gd name="T4" fmla="*/ 336 w 337"/>
              <a:gd name="T5" fmla="*/ 0 h 183"/>
              <a:gd name="T6" fmla="*/ 336 w 337"/>
              <a:gd name="T7" fmla="*/ 182 h 183"/>
              <a:gd name="T8" fmla="*/ 0 w 337"/>
              <a:gd name="T9" fmla="*/ 182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7" h="183">
                <a:moveTo>
                  <a:pt x="0" y="182"/>
                </a:moveTo>
                <a:lnTo>
                  <a:pt x="0" y="0"/>
                </a:lnTo>
                <a:lnTo>
                  <a:pt x="336" y="0"/>
                </a:lnTo>
                <a:lnTo>
                  <a:pt x="336" y="182"/>
                </a:lnTo>
                <a:lnTo>
                  <a:pt x="0" y="18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" name="Freeform 19"/>
          <p:cNvSpPr>
            <a:spLocks/>
          </p:cNvSpPr>
          <p:nvPr/>
        </p:nvSpPr>
        <p:spPr bwMode="auto">
          <a:xfrm>
            <a:off x="5791200" y="5256212"/>
            <a:ext cx="1588" cy="290513"/>
          </a:xfrm>
          <a:custGeom>
            <a:avLst/>
            <a:gdLst>
              <a:gd name="T0" fmla="*/ 0 w 1"/>
              <a:gd name="T1" fmla="*/ 0 h 183"/>
              <a:gd name="T2" fmla="*/ 0 w 1"/>
              <a:gd name="T3" fmla="*/ 182 h 183"/>
              <a:gd name="T4" fmla="*/ 0 w 1"/>
              <a:gd name="T5" fmla="*/ 0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3">
                <a:moveTo>
                  <a:pt x="0" y="0"/>
                </a:moveTo>
                <a:lnTo>
                  <a:pt x="0" y="18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" name="Freeform 20"/>
          <p:cNvSpPr>
            <a:spLocks/>
          </p:cNvSpPr>
          <p:nvPr/>
        </p:nvSpPr>
        <p:spPr bwMode="auto">
          <a:xfrm>
            <a:off x="6153150" y="5256212"/>
            <a:ext cx="533400" cy="290513"/>
          </a:xfrm>
          <a:custGeom>
            <a:avLst/>
            <a:gdLst>
              <a:gd name="T0" fmla="*/ 0 w 336"/>
              <a:gd name="T1" fmla="*/ 182 h 183"/>
              <a:gd name="T2" fmla="*/ 0 w 336"/>
              <a:gd name="T3" fmla="*/ 0 h 183"/>
              <a:gd name="T4" fmla="*/ 335 w 336"/>
              <a:gd name="T5" fmla="*/ 0 h 183"/>
              <a:gd name="T6" fmla="*/ 335 w 336"/>
              <a:gd name="T7" fmla="*/ 182 h 183"/>
              <a:gd name="T8" fmla="*/ 0 w 336"/>
              <a:gd name="T9" fmla="*/ 182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6" h="183">
                <a:moveTo>
                  <a:pt x="0" y="182"/>
                </a:moveTo>
                <a:lnTo>
                  <a:pt x="0" y="0"/>
                </a:lnTo>
                <a:lnTo>
                  <a:pt x="335" y="0"/>
                </a:lnTo>
                <a:lnTo>
                  <a:pt x="335" y="182"/>
                </a:lnTo>
                <a:lnTo>
                  <a:pt x="0" y="18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" name="Freeform 21"/>
          <p:cNvSpPr>
            <a:spLocks/>
          </p:cNvSpPr>
          <p:nvPr/>
        </p:nvSpPr>
        <p:spPr bwMode="auto">
          <a:xfrm>
            <a:off x="6418263" y="5256212"/>
            <a:ext cx="1587" cy="290513"/>
          </a:xfrm>
          <a:custGeom>
            <a:avLst/>
            <a:gdLst>
              <a:gd name="T0" fmla="*/ 0 w 1"/>
              <a:gd name="T1" fmla="*/ 0 h 183"/>
              <a:gd name="T2" fmla="*/ 0 w 1"/>
              <a:gd name="T3" fmla="*/ 182 h 183"/>
              <a:gd name="T4" fmla="*/ 0 w 1"/>
              <a:gd name="T5" fmla="*/ 0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3">
                <a:moveTo>
                  <a:pt x="0" y="0"/>
                </a:moveTo>
                <a:lnTo>
                  <a:pt x="0" y="18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" name="Freeform 22"/>
          <p:cNvSpPr>
            <a:spLocks/>
          </p:cNvSpPr>
          <p:nvPr/>
        </p:nvSpPr>
        <p:spPr bwMode="auto">
          <a:xfrm>
            <a:off x="6769100" y="5256212"/>
            <a:ext cx="534988" cy="290513"/>
          </a:xfrm>
          <a:custGeom>
            <a:avLst/>
            <a:gdLst>
              <a:gd name="T0" fmla="*/ 0 w 337"/>
              <a:gd name="T1" fmla="*/ 182 h 183"/>
              <a:gd name="T2" fmla="*/ 0 w 337"/>
              <a:gd name="T3" fmla="*/ 0 h 183"/>
              <a:gd name="T4" fmla="*/ 336 w 337"/>
              <a:gd name="T5" fmla="*/ 0 h 183"/>
              <a:gd name="T6" fmla="*/ 336 w 337"/>
              <a:gd name="T7" fmla="*/ 182 h 183"/>
              <a:gd name="T8" fmla="*/ 0 w 337"/>
              <a:gd name="T9" fmla="*/ 182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7" h="183">
                <a:moveTo>
                  <a:pt x="0" y="182"/>
                </a:moveTo>
                <a:lnTo>
                  <a:pt x="0" y="0"/>
                </a:lnTo>
                <a:lnTo>
                  <a:pt x="336" y="0"/>
                </a:lnTo>
                <a:lnTo>
                  <a:pt x="336" y="182"/>
                </a:lnTo>
                <a:lnTo>
                  <a:pt x="0" y="18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" name="Freeform 23"/>
          <p:cNvSpPr>
            <a:spLocks/>
          </p:cNvSpPr>
          <p:nvPr/>
        </p:nvSpPr>
        <p:spPr bwMode="auto">
          <a:xfrm>
            <a:off x="7035800" y="5256212"/>
            <a:ext cx="1588" cy="290513"/>
          </a:xfrm>
          <a:custGeom>
            <a:avLst/>
            <a:gdLst>
              <a:gd name="T0" fmla="*/ 0 w 1"/>
              <a:gd name="T1" fmla="*/ 0 h 183"/>
              <a:gd name="T2" fmla="*/ 0 w 1"/>
              <a:gd name="T3" fmla="*/ 182 h 183"/>
              <a:gd name="T4" fmla="*/ 0 w 1"/>
              <a:gd name="T5" fmla="*/ 0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3">
                <a:moveTo>
                  <a:pt x="0" y="0"/>
                </a:moveTo>
                <a:lnTo>
                  <a:pt x="0" y="18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1" name="Freeform 24"/>
          <p:cNvSpPr>
            <a:spLocks/>
          </p:cNvSpPr>
          <p:nvPr/>
        </p:nvSpPr>
        <p:spPr bwMode="auto">
          <a:xfrm>
            <a:off x="2279650" y="4278312"/>
            <a:ext cx="841375" cy="336550"/>
          </a:xfrm>
          <a:custGeom>
            <a:avLst/>
            <a:gdLst>
              <a:gd name="T0" fmla="*/ 0 w 530"/>
              <a:gd name="T1" fmla="*/ 211 h 212"/>
              <a:gd name="T2" fmla="*/ 0 w 530"/>
              <a:gd name="T3" fmla="*/ 0 h 212"/>
              <a:gd name="T4" fmla="*/ 529 w 530"/>
              <a:gd name="T5" fmla="*/ 0 h 212"/>
              <a:gd name="T6" fmla="*/ 529 w 530"/>
              <a:gd name="T7" fmla="*/ 211 h 212"/>
              <a:gd name="T8" fmla="*/ 0 w 530"/>
              <a:gd name="T9" fmla="*/ 211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0" h="212">
                <a:moveTo>
                  <a:pt x="0" y="211"/>
                </a:moveTo>
                <a:lnTo>
                  <a:pt x="0" y="0"/>
                </a:lnTo>
                <a:lnTo>
                  <a:pt x="529" y="0"/>
                </a:lnTo>
                <a:lnTo>
                  <a:pt x="529" y="211"/>
                </a:lnTo>
                <a:lnTo>
                  <a:pt x="0" y="21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" name="Freeform 25"/>
          <p:cNvSpPr>
            <a:spLocks/>
          </p:cNvSpPr>
          <p:nvPr/>
        </p:nvSpPr>
        <p:spPr bwMode="auto">
          <a:xfrm>
            <a:off x="2660650" y="4278312"/>
            <a:ext cx="1588" cy="323850"/>
          </a:xfrm>
          <a:custGeom>
            <a:avLst/>
            <a:gdLst>
              <a:gd name="T0" fmla="*/ 0 w 1"/>
              <a:gd name="T1" fmla="*/ 0 h 204"/>
              <a:gd name="T2" fmla="*/ 0 w 1"/>
              <a:gd name="T3" fmla="*/ 203 h 204"/>
              <a:gd name="T4" fmla="*/ 0 w 1"/>
              <a:gd name="T5" fmla="*/ 0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04">
                <a:moveTo>
                  <a:pt x="0" y="0"/>
                </a:moveTo>
                <a:lnTo>
                  <a:pt x="0" y="203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" name="Freeform 26"/>
          <p:cNvSpPr>
            <a:spLocks/>
          </p:cNvSpPr>
          <p:nvPr/>
        </p:nvSpPr>
        <p:spPr bwMode="auto">
          <a:xfrm>
            <a:off x="3035300" y="4289425"/>
            <a:ext cx="1588" cy="325437"/>
          </a:xfrm>
          <a:custGeom>
            <a:avLst/>
            <a:gdLst>
              <a:gd name="T0" fmla="*/ 0 w 1"/>
              <a:gd name="T1" fmla="*/ 0 h 205"/>
              <a:gd name="T2" fmla="*/ 0 w 1"/>
              <a:gd name="T3" fmla="*/ 204 h 205"/>
              <a:gd name="T4" fmla="*/ 0 w 1"/>
              <a:gd name="T5" fmla="*/ 0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05">
                <a:moveTo>
                  <a:pt x="0" y="0"/>
                </a:moveTo>
                <a:lnTo>
                  <a:pt x="0" y="204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" name="Freeform 27"/>
          <p:cNvSpPr>
            <a:spLocks/>
          </p:cNvSpPr>
          <p:nvPr/>
        </p:nvSpPr>
        <p:spPr bwMode="auto">
          <a:xfrm>
            <a:off x="2362200" y="4265612"/>
            <a:ext cx="1588" cy="336550"/>
          </a:xfrm>
          <a:custGeom>
            <a:avLst/>
            <a:gdLst>
              <a:gd name="T0" fmla="*/ 0 w 1"/>
              <a:gd name="T1" fmla="*/ 0 h 212"/>
              <a:gd name="T2" fmla="*/ 0 w 1"/>
              <a:gd name="T3" fmla="*/ 211 h 212"/>
              <a:gd name="T4" fmla="*/ 0 w 1"/>
              <a:gd name="T5" fmla="*/ 0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12">
                <a:moveTo>
                  <a:pt x="0" y="0"/>
                </a:moveTo>
                <a:lnTo>
                  <a:pt x="0" y="21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" name="Freeform 28"/>
          <p:cNvSpPr>
            <a:spLocks/>
          </p:cNvSpPr>
          <p:nvPr/>
        </p:nvSpPr>
        <p:spPr bwMode="auto">
          <a:xfrm>
            <a:off x="2747963" y="4278312"/>
            <a:ext cx="1587" cy="323850"/>
          </a:xfrm>
          <a:custGeom>
            <a:avLst/>
            <a:gdLst>
              <a:gd name="T0" fmla="*/ 0 w 1"/>
              <a:gd name="T1" fmla="*/ 0 h 204"/>
              <a:gd name="T2" fmla="*/ 0 w 1"/>
              <a:gd name="T3" fmla="*/ 203 h 204"/>
              <a:gd name="T4" fmla="*/ 0 w 1"/>
              <a:gd name="T5" fmla="*/ 0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04">
                <a:moveTo>
                  <a:pt x="0" y="0"/>
                </a:moveTo>
                <a:lnTo>
                  <a:pt x="0" y="203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" name="Freeform 29"/>
          <p:cNvSpPr>
            <a:spLocks/>
          </p:cNvSpPr>
          <p:nvPr/>
        </p:nvSpPr>
        <p:spPr bwMode="auto">
          <a:xfrm>
            <a:off x="1981200" y="4554537"/>
            <a:ext cx="331788" cy="646113"/>
          </a:xfrm>
          <a:custGeom>
            <a:avLst/>
            <a:gdLst>
              <a:gd name="T0" fmla="*/ 208 w 209"/>
              <a:gd name="T1" fmla="*/ 0 h 407"/>
              <a:gd name="T2" fmla="*/ 0 w 209"/>
              <a:gd name="T3" fmla="*/ 406 h 407"/>
              <a:gd name="T4" fmla="*/ 208 w 209"/>
              <a:gd name="T5" fmla="*/ 0 h 4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9" h="407">
                <a:moveTo>
                  <a:pt x="208" y="0"/>
                </a:moveTo>
                <a:lnTo>
                  <a:pt x="0" y="406"/>
                </a:lnTo>
                <a:lnTo>
                  <a:pt x="208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" name="Freeform 30"/>
          <p:cNvSpPr>
            <a:spLocks/>
          </p:cNvSpPr>
          <p:nvPr/>
        </p:nvSpPr>
        <p:spPr bwMode="auto">
          <a:xfrm>
            <a:off x="1981200" y="5086350"/>
            <a:ext cx="74613" cy="114300"/>
          </a:xfrm>
          <a:custGeom>
            <a:avLst/>
            <a:gdLst>
              <a:gd name="T0" fmla="*/ 46 w 47"/>
              <a:gd name="T1" fmla="*/ 18 h 72"/>
              <a:gd name="T2" fmla="*/ 0 w 47"/>
              <a:gd name="T3" fmla="*/ 71 h 72"/>
              <a:gd name="T4" fmla="*/ 17 w 47"/>
              <a:gd name="T5" fmla="*/ 0 h 72"/>
              <a:gd name="T6" fmla="*/ 46 w 47"/>
              <a:gd name="T7" fmla="*/ 18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7" h="72">
                <a:moveTo>
                  <a:pt x="46" y="18"/>
                </a:moveTo>
                <a:lnTo>
                  <a:pt x="0" y="71"/>
                </a:lnTo>
                <a:lnTo>
                  <a:pt x="17" y="0"/>
                </a:lnTo>
                <a:lnTo>
                  <a:pt x="46" y="1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" name="Freeform 31"/>
          <p:cNvSpPr>
            <a:spLocks/>
          </p:cNvSpPr>
          <p:nvPr/>
        </p:nvSpPr>
        <p:spPr bwMode="auto">
          <a:xfrm>
            <a:off x="2619375" y="4567237"/>
            <a:ext cx="76200" cy="657225"/>
          </a:xfrm>
          <a:custGeom>
            <a:avLst/>
            <a:gdLst>
              <a:gd name="T0" fmla="*/ 47 w 48"/>
              <a:gd name="T1" fmla="*/ 0 h 414"/>
              <a:gd name="T2" fmla="*/ 0 w 48"/>
              <a:gd name="T3" fmla="*/ 413 h 414"/>
              <a:gd name="T4" fmla="*/ 47 w 48"/>
              <a:gd name="T5" fmla="*/ 0 h 4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8" h="414">
                <a:moveTo>
                  <a:pt x="47" y="0"/>
                </a:moveTo>
                <a:lnTo>
                  <a:pt x="0" y="413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Freeform 32"/>
          <p:cNvSpPr>
            <a:spLocks/>
          </p:cNvSpPr>
          <p:nvPr/>
        </p:nvSpPr>
        <p:spPr bwMode="auto">
          <a:xfrm>
            <a:off x="2605088" y="5105400"/>
            <a:ext cx="53975" cy="119062"/>
          </a:xfrm>
          <a:custGeom>
            <a:avLst/>
            <a:gdLst>
              <a:gd name="T0" fmla="*/ 33 w 34"/>
              <a:gd name="T1" fmla="*/ 5 h 75"/>
              <a:gd name="T2" fmla="*/ 8 w 34"/>
              <a:gd name="T3" fmla="*/ 74 h 75"/>
              <a:gd name="T4" fmla="*/ 0 w 34"/>
              <a:gd name="T5" fmla="*/ 0 h 75"/>
              <a:gd name="T6" fmla="*/ 33 w 34"/>
              <a:gd name="T7" fmla="*/ 5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" h="75">
                <a:moveTo>
                  <a:pt x="33" y="5"/>
                </a:moveTo>
                <a:lnTo>
                  <a:pt x="8" y="74"/>
                </a:lnTo>
                <a:lnTo>
                  <a:pt x="0" y="0"/>
                </a:lnTo>
                <a:lnTo>
                  <a:pt x="33" y="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" name="Freeform 33"/>
          <p:cNvSpPr>
            <a:spLocks/>
          </p:cNvSpPr>
          <p:nvPr/>
        </p:nvSpPr>
        <p:spPr bwMode="auto">
          <a:xfrm>
            <a:off x="3257550" y="4567237"/>
            <a:ext cx="214313" cy="646113"/>
          </a:xfrm>
          <a:custGeom>
            <a:avLst/>
            <a:gdLst>
              <a:gd name="T0" fmla="*/ 134 w 135"/>
              <a:gd name="T1" fmla="*/ 0 h 407"/>
              <a:gd name="T2" fmla="*/ 0 w 135"/>
              <a:gd name="T3" fmla="*/ 406 h 407"/>
              <a:gd name="T4" fmla="*/ 134 w 135"/>
              <a:gd name="T5" fmla="*/ 0 h 4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5" h="407">
                <a:moveTo>
                  <a:pt x="134" y="0"/>
                </a:moveTo>
                <a:lnTo>
                  <a:pt x="0" y="406"/>
                </a:lnTo>
                <a:lnTo>
                  <a:pt x="134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" name="Freeform 34"/>
          <p:cNvSpPr>
            <a:spLocks/>
          </p:cNvSpPr>
          <p:nvPr/>
        </p:nvSpPr>
        <p:spPr bwMode="auto">
          <a:xfrm>
            <a:off x="3257550" y="5094287"/>
            <a:ext cx="61913" cy="119063"/>
          </a:xfrm>
          <a:custGeom>
            <a:avLst/>
            <a:gdLst>
              <a:gd name="T0" fmla="*/ 38 w 39"/>
              <a:gd name="T1" fmla="*/ 12 h 75"/>
              <a:gd name="T2" fmla="*/ 0 w 39"/>
              <a:gd name="T3" fmla="*/ 74 h 75"/>
              <a:gd name="T4" fmla="*/ 7 w 39"/>
              <a:gd name="T5" fmla="*/ 0 h 75"/>
              <a:gd name="T6" fmla="*/ 38 w 39"/>
              <a:gd name="T7" fmla="*/ 12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9" h="75">
                <a:moveTo>
                  <a:pt x="38" y="12"/>
                </a:moveTo>
                <a:lnTo>
                  <a:pt x="0" y="74"/>
                </a:lnTo>
                <a:lnTo>
                  <a:pt x="7" y="0"/>
                </a:lnTo>
                <a:lnTo>
                  <a:pt x="38" y="1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" name="Freeform 35"/>
          <p:cNvSpPr>
            <a:spLocks/>
          </p:cNvSpPr>
          <p:nvPr/>
        </p:nvSpPr>
        <p:spPr bwMode="auto">
          <a:xfrm>
            <a:off x="3854450" y="4567237"/>
            <a:ext cx="1588" cy="646113"/>
          </a:xfrm>
          <a:custGeom>
            <a:avLst/>
            <a:gdLst>
              <a:gd name="T0" fmla="*/ 0 w 1"/>
              <a:gd name="T1" fmla="*/ 0 h 407"/>
              <a:gd name="T2" fmla="*/ 0 w 1"/>
              <a:gd name="T3" fmla="*/ 406 h 407"/>
              <a:gd name="T4" fmla="*/ 0 w 1"/>
              <a:gd name="T5" fmla="*/ 0 h 4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407">
                <a:moveTo>
                  <a:pt x="0" y="0"/>
                </a:moveTo>
                <a:lnTo>
                  <a:pt x="0" y="406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Freeform 36"/>
          <p:cNvSpPr>
            <a:spLocks/>
          </p:cNvSpPr>
          <p:nvPr/>
        </p:nvSpPr>
        <p:spPr bwMode="auto">
          <a:xfrm>
            <a:off x="3827463" y="5097462"/>
            <a:ext cx="53975" cy="115888"/>
          </a:xfrm>
          <a:custGeom>
            <a:avLst/>
            <a:gdLst>
              <a:gd name="T0" fmla="*/ 33 w 34"/>
              <a:gd name="T1" fmla="*/ 0 h 73"/>
              <a:gd name="T2" fmla="*/ 17 w 34"/>
              <a:gd name="T3" fmla="*/ 72 h 73"/>
              <a:gd name="T4" fmla="*/ 0 w 34"/>
              <a:gd name="T5" fmla="*/ 0 h 73"/>
              <a:gd name="T6" fmla="*/ 33 w 34"/>
              <a:gd name="T7" fmla="*/ 0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" h="73">
                <a:moveTo>
                  <a:pt x="33" y="0"/>
                </a:moveTo>
                <a:lnTo>
                  <a:pt x="17" y="72"/>
                </a:lnTo>
                <a:lnTo>
                  <a:pt x="0" y="0"/>
                </a:lnTo>
                <a:lnTo>
                  <a:pt x="33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" name="Freeform 37"/>
          <p:cNvSpPr>
            <a:spLocks/>
          </p:cNvSpPr>
          <p:nvPr/>
        </p:nvSpPr>
        <p:spPr bwMode="auto">
          <a:xfrm>
            <a:off x="3405188" y="3451225"/>
            <a:ext cx="842962" cy="333375"/>
          </a:xfrm>
          <a:custGeom>
            <a:avLst/>
            <a:gdLst>
              <a:gd name="T0" fmla="*/ 0 w 531"/>
              <a:gd name="T1" fmla="*/ 209 h 210"/>
              <a:gd name="T2" fmla="*/ 0 w 531"/>
              <a:gd name="T3" fmla="*/ 0 h 210"/>
              <a:gd name="T4" fmla="*/ 530 w 531"/>
              <a:gd name="T5" fmla="*/ 0 h 210"/>
              <a:gd name="T6" fmla="*/ 530 w 531"/>
              <a:gd name="T7" fmla="*/ 209 h 210"/>
              <a:gd name="T8" fmla="*/ 0 w 531"/>
              <a:gd name="T9" fmla="*/ 209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1" h="210">
                <a:moveTo>
                  <a:pt x="0" y="209"/>
                </a:moveTo>
                <a:lnTo>
                  <a:pt x="0" y="0"/>
                </a:lnTo>
                <a:lnTo>
                  <a:pt x="530" y="0"/>
                </a:lnTo>
                <a:lnTo>
                  <a:pt x="530" y="209"/>
                </a:lnTo>
                <a:lnTo>
                  <a:pt x="0" y="20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" name="Freeform 38"/>
          <p:cNvSpPr>
            <a:spLocks/>
          </p:cNvSpPr>
          <p:nvPr/>
        </p:nvSpPr>
        <p:spPr bwMode="auto">
          <a:xfrm>
            <a:off x="3789363" y="3451225"/>
            <a:ext cx="1587" cy="322262"/>
          </a:xfrm>
          <a:custGeom>
            <a:avLst/>
            <a:gdLst>
              <a:gd name="T0" fmla="*/ 0 w 1"/>
              <a:gd name="T1" fmla="*/ 0 h 203"/>
              <a:gd name="T2" fmla="*/ 0 w 1"/>
              <a:gd name="T3" fmla="*/ 202 h 203"/>
              <a:gd name="T4" fmla="*/ 0 w 1"/>
              <a:gd name="T5" fmla="*/ 0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03">
                <a:moveTo>
                  <a:pt x="0" y="0"/>
                </a:moveTo>
                <a:lnTo>
                  <a:pt x="0" y="20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" name="Freeform 39"/>
          <p:cNvSpPr>
            <a:spLocks/>
          </p:cNvSpPr>
          <p:nvPr/>
        </p:nvSpPr>
        <p:spPr bwMode="auto">
          <a:xfrm>
            <a:off x="4162425" y="3462337"/>
            <a:ext cx="1588" cy="322263"/>
          </a:xfrm>
          <a:custGeom>
            <a:avLst/>
            <a:gdLst>
              <a:gd name="T0" fmla="*/ 0 w 1"/>
              <a:gd name="T1" fmla="*/ 0 h 203"/>
              <a:gd name="T2" fmla="*/ 0 w 1"/>
              <a:gd name="T3" fmla="*/ 202 h 203"/>
              <a:gd name="T4" fmla="*/ 0 w 1"/>
              <a:gd name="T5" fmla="*/ 0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03">
                <a:moveTo>
                  <a:pt x="0" y="0"/>
                </a:moveTo>
                <a:lnTo>
                  <a:pt x="0" y="20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" name="Freeform 40"/>
          <p:cNvSpPr>
            <a:spLocks/>
          </p:cNvSpPr>
          <p:nvPr/>
        </p:nvSpPr>
        <p:spPr bwMode="auto">
          <a:xfrm>
            <a:off x="3492500" y="3436937"/>
            <a:ext cx="1588" cy="336550"/>
          </a:xfrm>
          <a:custGeom>
            <a:avLst/>
            <a:gdLst>
              <a:gd name="T0" fmla="*/ 0 w 1"/>
              <a:gd name="T1" fmla="*/ 0 h 212"/>
              <a:gd name="T2" fmla="*/ 0 w 1"/>
              <a:gd name="T3" fmla="*/ 211 h 212"/>
              <a:gd name="T4" fmla="*/ 0 w 1"/>
              <a:gd name="T5" fmla="*/ 0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12">
                <a:moveTo>
                  <a:pt x="0" y="0"/>
                </a:moveTo>
                <a:lnTo>
                  <a:pt x="0" y="21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Freeform 41"/>
          <p:cNvSpPr>
            <a:spLocks/>
          </p:cNvSpPr>
          <p:nvPr/>
        </p:nvSpPr>
        <p:spPr bwMode="auto">
          <a:xfrm>
            <a:off x="3875088" y="3451225"/>
            <a:ext cx="1587" cy="322262"/>
          </a:xfrm>
          <a:custGeom>
            <a:avLst/>
            <a:gdLst>
              <a:gd name="T0" fmla="*/ 0 w 1"/>
              <a:gd name="T1" fmla="*/ 0 h 203"/>
              <a:gd name="T2" fmla="*/ 0 w 1"/>
              <a:gd name="T3" fmla="*/ 202 h 203"/>
              <a:gd name="T4" fmla="*/ 0 w 1"/>
              <a:gd name="T5" fmla="*/ 0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03">
                <a:moveTo>
                  <a:pt x="0" y="0"/>
                </a:moveTo>
                <a:lnTo>
                  <a:pt x="0" y="20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Freeform 42"/>
          <p:cNvSpPr>
            <a:spLocks/>
          </p:cNvSpPr>
          <p:nvPr/>
        </p:nvSpPr>
        <p:spPr bwMode="auto">
          <a:xfrm>
            <a:off x="3429000" y="4289425"/>
            <a:ext cx="841375" cy="336550"/>
          </a:xfrm>
          <a:custGeom>
            <a:avLst/>
            <a:gdLst>
              <a:gd name="T0" fmla="*/ 0 w 530"/>
              <a:gd name="T1" fmla="*/ 211 h 212"/>
              <a:gd name="T2" fmla="*/ 0 w 530"/>
              <a:gd name="T3" fmla="*/ 0 h 212"/>
              <a:gd name="T4" fmla="*/ 529 w 530"/>
              <a:gd name="T5" fmla="*/ 0 h 212"/>
              <a:gd name="T6" fmla="*/ 529 w 530"/>
              <a:gd name="T7" fmla="*/ 211 h 212"/>
              <a:gd name="T8" fmla="*/ 0 w 530"/>
              <a:gd name="T9" fmla="*/ 211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0" h="212">
                <a:moveTo>
                  <a:pt x="0" y="211"/>
                </a:moveTo>
                <a:lnTo>
                  <a:pt x="0" y="0"/>
                </a:lnTo>
                <a:lnTo>
                  <a:pt x="529" y="0"/>
                </a:lnTo>
                <a:lnTo>
                  <a:pt x="529" y="211"/>
                </a:lnTo>
                <a:lnTo>
                  <a:pt x="0" y="21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Freeform 43"/>
          <p:cNvSpPr>
            <a:spLocks/>
          </p:cNvSpPr>
          <p:nvPr/>
        </p:nvSpPr>
        <p:spPr bwMode="auto">
          <a:xfrm>
            <a:off x="3811588" y="4289425"/>
            <a:ext cx="1587" cy="325437"/>
          </a:xfrm>
          <a:custGeom>
            <a:avLst/>
            <a:gdLst>
              <a:gd name="T0" fmla="*/ 0 w 1"/>
              <a:gd name="T1" fmla="*/ 0 h 205"/>
              <a:gd name="T2" fmla="*/ 0 w 1"/>
              <a:gd name="T3" fmla="*/ 204 h 205"/>
              <a:gd name="T4" fmla="*/ 0 w 1"/>
              <a:gd name="T5" fmla="*/ 0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05">
                <a:moveTo>
                  <a:pt x="0" y="0"/>
                </a:moveTo>
                <a:lnTo>
                  <a:pt x="0" y="204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Freeform 44"/>
          <p:cNvSpPr>
            <a:spLocks/>
          </p:cNvSpPr>
          <p:nvPr/>
        </p:nvSpPr>
        <p:spPr bwMode="auto">
          <a:xfrm>
            <a:off x="4183063" y="4302125"/>
            <a:ext cx="1587" cy="323850"/>
          </a:xfrm>
          <a:custGeom>
            <a:avLst/>
            <a:gdLst>
              <a:gd name="T0" fmla="*/ 0 w 1"/>
              <a:gd name="T1" fmla="*/ 0 h 204"/>
              <a:gd name="T2" fmla="*/ 0 w 1"/>
              <a:gd name="T3" fmla="*/ 203 h 204"/>
              <a:gd name="T4" fmla="*/ 0 w 1"/>
              <a:gd name="T5" fmla="*/ 0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04">
                <a:moveTo>
                  <a:pt x="0" y="0"/>
                </a:moveTo>
                <a:lnTo>
                  <a:pt x="0" y="203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Freeform 45"/>
          <p:cNvSpPr>
            <a:spLocks/>
          </p:cNvSpPr>
          <p:nvPr/>
        </p:nvSpPr>
        <p:spPr bwMode="auto">
          <a:xfrm>
            <a:off x="3514725" y="4278312"/>
            <a:ext cx="1588" cy="336550"/>
          </a:xfrm>
          <a:custGeom>
            <a:avLst/>
            <a:gdLst>
              <a:gd name="T0" fmla="*/ 0 w 1"/>
              <a:gd name="T1" fmla="*/ 0 h 212"/>
              <a:gd name="T2" fmla="*/ 0 w 1"/>
              <a:gd name="T3" fmla="*/ 211 h 212"/>
              <a:gd name="T4" fmla="*/ 0 w 1"/>
              <a:gd name="T5" fmla="*/ 0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12">
                <a:moveTo>
                  <a:pt x="0" y="0"/>
                </a:moveTo>
                <a:lnTo>
                  <a:pt x="0" y="21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Freeform 46"/>
          <p:cNvSpPr>
            <a:spLocks/>
          </p:cNvSpPr>
          <p:nvPr/>
        </p:nvSpPr>
        <p:spPr bwMode="auto">
          <a:xfrm>
            <a:off x="3895725" y="4289425"/>
            <a:ext cx="1588" cy="325437"/>
          </a:xfrm>
          <a:custGeom>
            <a:avLst/>
            <a:gdLst>
              <a:gd name="T0" fmla="*/ 0 w 1"/>
              <a:gd name="T1" fmla="*/ 0 h 205"/>
              <a:gd name="T2" fmla="*/ 0 w 1"/>
              <a:gd name="T3" fmla="*/ 204 h 205"/>
              <a:gd name="T4" fmla="*/ 0 w 1"/>
              <a:gd name="T5" fmla="*/ 0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05">
                <a:moveTo>
                  <a:pt x="0" y="0"/>
                </a:moveTo>
                <a:lnTo>
                  <a:pt x="0" y="204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Freeform 47"/>
          <p:cNvSpPr>
            <a:spLocks/>
          </p:cNvSpPr>
          <p:nvPr/>
        </p:nvSpPr>
        <p:spPr bwMode="auto">
          <a:xfrm>
            <a:off x="6100763" y="5154612"/>
            <a:ext cx="1266825" cy="484188"/>
          </a:xfrm>
          <a:custGeom>
            <a:avLst/>
            <a:gdLst>
              <a:gd name="T0" fmla="*/ 0 w 798"/>
              <a:gd name="T1" fmla="*/ 304 h 305"/>
              <a:gd name="T2" fmla="*/ 0 w 798"/>
              <a:gd name="T3" fmla="*/ 0 h 305"/>
              <a:gd name="T4" fmla="*/ 797 w 798"/>
              <a:gd name="T5" fmla="*/ 0 h 305"/>
              <a:gd name="T6" fmla="*/ 797 w 798"/>
              <a:gd name="T7" fmla="*/ 304 h 305"/>
              <a:gd name="T8" fmla="*/ 0 w 798"/>
              <a:gd name="T9" fmla="*/ 304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8" h="305">
                <a:moveTo>
                  <a:pt x="0" y="304"/>
                </a:moveTo>
                <a:lnTo>
                  <a:pt x="0" y="0"/>
                </a:lnTo>
                <a:lnTo>
                  <a:pt x="797" y="0"/>
                </a:lnTo>
                <a:lnTo>
                  <a:pt x="797" y="304"/>
                </a:lnTo>
                <a:lnTo>
                  <a:pt x="0" y="30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Freeform 48"/>
          <p:cNvSpPr>
            <a:spLocks/>
          </p:cNvSpPr>
          <p:nvPr/>
        </p:nvSpPr>
        <p:spPr bwMode="auto">
          <a:xfrm>
            <a:off x="4587875" y="4278312"/>
            <a:ext cx="841375" cy="336550"/>
          </a:xfrm>
          <a:custGeom>
            <a:avLst/>
            <a:gdLst>
              <a:gd name="T0" fmla="*/ 0 w 530"/>
              <a:gd name="T1" fmla="*/ 211 h 212"/>
              <a:gd name="T2" fmla="*/ 0 w 530"/>
              <a:gd name="T3" fmla="*/ 0 h 212"/>
              <a:gd name="T4" fmla="*/ 529 w 530"/>
              <a:gd name="T5" fmla="*/ 0 h 212"/>
              <a:gd name="T6" fmla="*/ 529 w 530"/>
              <a:gd name="T7" fmla="*/ 211 h 212"/>
              <a:gd name="T8" fmla="*/ 0 w 530"/>
              <a:gd name="T9" fmla="*/ 211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0" h="212">
                <a:moveTo>
                  <a:pt x="0" y="211"/>
                </a:moveTo>
                <a:lnTo>
                  <a:pt x="0" y="0"/>
                </a:lnTo>
                <a:lnTo>
                  <a:pt x="529" y="0"/>
                </a:lnTo>
                <a:lnTo>
                  <a:pt x="529" y="211"/>
                </a:lnTo>
                <a:lnTo>
                  <a:pt x="0" y="21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Freeform 49"/>
          <p:cNvSpPr>
            <a:spLocks/>
          </p:cNvSpPr>
          <p:nvPr/>
        </p:nvSpPr>
        <p:spPr bwMode="auto">
          <a:xfrm>
            <a:off x="4972050" y="4278312"/>
            <a:ext cx="1588" cy="323850"/>
          </a:xfrm>
          <a:custGeom>
            <a:avLst/>
            <a:gdLst>
              <a:gd name="T0" fmla="*/ 0 w 1"/>
              <a:gd name="T1" fmla="*/ 0 h 204"/>
              <a:gd name="T2" fmla="*/ 0 w 1"/>
              <a:gd name="T3" fmla="*/ 203 h 204"/>
              <a:gd name="T4" fmla="*/ 0 w 1"/>
              <a:gd name="T5" fmla="*/ 0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04">
                <a:moveTo>
                  <a:pt x="0" y="0"/>
                </a:moveTo>
                <a:lnTo>
                  <a:pt x="0" y="203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Freeform 50"/>
          <p:cNvSpPr>
            <a:spLocks/>
          </p:cNvSpPr>
          <p:nvPr/>
        </p:nvSpPr>
        <p:spPr bwMode="auto">
          <a:xfrm>
            <a:off x="5343525" y="4289425"/>
            <a:ext cx="1588" cy="325437"/>
          </a:xfrm>
          <a:custGeom>
            <a:avLst/>
            <a:gdLst>
              <a:gd name="T0" fmla="*/ 0 w 1"/>
              <a:gd name="T1" fmla="*/ 0 h 205"/>
              <a:gd name="T2" fmla="*/ 0 w 1"/>
              <a:gd name="T3" fmla="*/ 204 h 205"/>
              <a:gd name="T4" fmla="*/ 0 w 1"/>
              <a:gd name="T5" fmla="*/ 0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05">
                <a:moveTo>
                  <a:pt x="0" y="0"/>
                </a:moveTo>
                <a:lnTo>
                  <a:pt x="0" y="204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Freeform 51"/>
          <p:cNvSpPr>
            <a:spLocks/>
          </p:cNvSpPr>
          <p:nvPr/>
        </p:nvSpPr>
        <p:spPr bwMode="auto">
          <a:xfrm>
            <a:off x="4673600" y="4265612"/>
            <a:ext cx="1588" cy="336550"/>
          </a:xfrm>
          <a:custGeom>
            <a:avLst/>
            <a:gdLst>
              <a:gd name="T0" fmla="*/ 0 w 1"/>
              <a:gd name="T1" fmla="*/ 0 h 212"/>
              <a:gd name="T2" fmla="*/ 0 w 1"/>
              <a:gd name="T3" fmla="*/ 211 h 212"/>
              <a:gd name="T4" fmla="*/ 0 w 1"/>
              <a:gd name="T5" fmla="*/ 0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12">
                <a:moveTo>
                  <a:pt x="0" y="0"/>
                </a:moveTo>
                <a:lnTo>
                  <a:pt x="0" y="21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Freeform 52"/>
          <p:cNvSpPr>
            <a:spLocks/>
          </p:cNvSpPr>
          <p:nvPr/>
        </p:nvSpPr>
        <p:spPr bwMode="auto">
          <a:xfrm>
            <a:off x="5056188" y="4278312"/>
            <a:ext cx="1587" cy="323850"/>
          </a:xfrm>
          <a:custGeom>
            <a:avLst/>
            <a:gdLst>
              <a:gd name="T0" fmla="*/ 0 w 1"/>
              <a:gd name="T1" fmla="*/ 0 h 204"/>
              <a:gd name="T2" fmla="*/ 0 w 1"/>
              <a:gd name="T3" fmla="*/ 203 h 204"/>
              <a:gd name="T4" fmla="*/ 0 w 1"/>
              <a:gd name="T5" fmla="*/ 0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04">
                <a:moveTo>
                  <a:pt x="0" y="0"/>
                </a:moveTo>
                <a:lnTo>
                  <a:pt x="0" y="203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Freeform 53"/>
          <p:cNvSpPr>
            <a:spLocks/>
          </p:cNvSpPr>
          <p:nvPr/>
        </p:nvSpPr>
        <p:spPr bwMode="auto">
          <a:xfrm>
            <a:off x="4492625" y="4567237"/>
            <a:ext cx="130175" cy="668338"/>
          </a:xfrm>
          <a:custGeom>
            <a:avLst/>
            <a:gdLst>
              <a:gd name="T0" fmla="*/ 81 w 82"/>
              <a:gd name="T1" fmla="*/ 0 h 421"/>
              <a:gd name="T2" fmla="*/ 0 w 82"/>
              <a:gd name="T3" fmla="*/ 420 h 421"/>
              <a:gd name="T4" fmla="*/ 81 w 82"/>
              <a:gd name="T5" fmla="*/ 0 h 4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2" h="421">
                <a:moveTo>
                  <a:pt x="81" y="0"/>
                </a:moveTo>
                <a:lnTo>
                  <a:pt x="0" y="420"/>
                </a:lnTo>
                <a:lnTo>
                  <a:pt x="81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" name="Freeform 54"/>
          <p:cNvSpPr>
            <a:spLocks/>
          </p:cNvSpPr>
          <p:nvPr/>
        </p:nvSpPr>
        <p:spPr bwMode="auto">
          <a:xfrm>
            <a:off x="4487863" y="5116512"/>
            <a:ext cx="53975" cy="119063"/>
          </a:xfrm>
          <a:custGeom>
            <a:avLst/>
            <a:gdLst>
              <a:gd name="T0" fmla="*/ 33 w 34"/>
              <a:gd name="T1" fmla="*/ 7 h 75"/>
              <a:gd name="T2" fmla="*/ 3 w 34"/>
              <a:gd name="T3" fmla="*/ 74 h 75"/>
              <a:gd name="T4" fmla="*/ 0 w 34"/>
              <a:gd name="T5" fmla="*/ 0 h 75"/>
              <a:gd name="T6" fmla="*/ 33 w 34"/>
              <a:gd name="T7" fmla="*/ 7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" h="75">
                <a:moveTo>
                  <a:pt x="33" y="7"/>
                </a:moveTo>
                <a:lnTo>
                  <a:pt x="3" y="74"/>
                </a:lnTo>
                <a:lnTo>
                  <a:pt x="0" y="0"/>
                </a:lnTo>
                <a:lnTo>
                  <a:pt x="33" y="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Freeform 55"/>
          <p:cNvSpPr>
            <a:spLocks/>
          </p:cNvSpPr>
          <p:nvPr/>
        </p:nvSpPr>
        <p:spPr bwMode="auto">
          <a:xfrm>
            <a:off x="5014913" y="4554537"/>
            <a:ext cx="1587" cy="669925"/>
          </a:xfrm>
          <a:custGeom>
            <a:avLst/>
            <a:gdLst>
              <a:gd name="T0" fmla="*/ 0 w 1"/>
              <a:gd name="T1" fmla="*/ 0 h 422"/>
              <a:gd name="T2" fmla="*/ 0 w 1"/>
              <a:gd name="T3" fmla="*/ 421 h 422"/>
              <a:gd name="T4" fmla="*/ 0 w 1"/>
              <a:gd name="T5" fmla="*/ 0 h 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422">
                <a:moveTo>
                  <a:pt x="0" y="0"/>
                </a:moveTo>
                <a:lnTo>
                  <a:pt x="0" y="42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" name="Freeform 56"/>
          <p:cNvSpPr>
            <a:spLocks/>
          </p:cNvSpPr>
          <p:nvPr/>
        </p:nvSpPr>
        <p:spPr bwMode="auto">
          <a:xfrm>
            <a:off x="4987925" y="5108575"/>
            <a:ext cx="53975" cy="115887"/>
          </a:xfrm>
          <a:custGeom>
            <a:avLst/>
            <a:gdLst>
              <a:gd name="T0" fmla="*/ 33 w 34"/>
              <a:gd name="T1" fmla="*/ 0 h 73"/>
              <a:gd name="T2" fmla="*/ 17 w 34"/>
              <a:gd name="T3" fmla="*/ 72 h 73"/>
              <a:gd name="T4" fmla="*/ 0 w 34"/>
              <a:gd name="T5" fmla="*/ 0 h 73"/>
              <a:gd name="T6" fmla="*/ 33 w 34"/>
              <a:gd name="T7" fmla="*/ 0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" h="73">
                <a:moveTo>
                  <a:pt x="33" y="0"/>
                </a:moveTo>
                <a:lnTo>
                  <a:pt x="17" y="72"/>
                </a:lnTo>
                <a:lnTo>
                  <a:pt x="0" y="0"/>
                </a:lnTo>
                <a:lnTo>
                  <a:pt x="33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" name="Freeform 57"/>
          <p:cNvSpPr>
            <a:spLocks/>
          </p:cNvSpPr>
          <p:nvPr/>
        </p:nvSpPr>
        <p:spPr bwMode="auto">
          <a:xfrm>
            <a:off x="5386388" y="4554537"/>
            <a:ext cx="225425" cy="658813"/>
          </a:xfrm>
          <a:custGeom>
            <a:avLst/>
            <a:gdLst>
              <a:gd name="T0" fmla="*/ 0 w 142"/>
              <a:gd name="T1" fmla="*/ 0 h 415"/>
              <a:gd name="T2" fmla="*/ 141 w 142"/>
              <a:gd name="T3" fmla="*/ 414 h 415"/>
              <a:gd name="T4" fmla="*/ 0 w 142"/>
              <a:gd name="T5" fmla="*/ 0 h 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2" h="415">
                <a:moveTo>
                  <a:pt x="0" y="0"/>
                </a:moveTo>
                <a:lnTo>
                  <a:pt x="141" y="414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" name="Freeform 58"/>
          <p:cNvSpPr>
            <a:spLocks/>
          </p:cNvSpPr>
          <p:nvPr/>
        </p:nvSpPr>
        <p:spPr bwMode="auto">
          <a:xfrm>
            <a:off x="5548313" y="5094287"/>
            <a:ext cx="63500" cy="119063"/>
          </a:xfrm>
          <a:custGeom>
            <a:avLst/>
            <a:gdLst>
              <a:gd name="T0" fmla="*/ 31 w 40"/>
              <a:gd name="T1" fmla="*/ 0 h 75"/>
              <a:gd name="T2" fmla="*/ 39 w 40"/>
              <a:gd name="T3" fmla="*/ 74 h 75"/>
              <a:gd name="T4" fmla="*/ 0 w 40"/>
              <a:gd name="T5" fmla="*/ 13 h 75"/>
              <a:gd name="T6" fmla="*/ 31 w 40"/>
              <a:gd name="T7" fmla="*/ 0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0" h="75">
                <a:moveTo>
                  <a:pt x="31" y="0"/>
                </a:moveTo>
                <a:lnTo>
                  <a:pt x="39" y="74"/>
                </a:lnTo>
                <a:lnTo>
                  <a:pt x="0" y="13"/>
                </a:lnTo>
                <a:lnTo>
                  <a:pt x="31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" name="Freeform 59"/>
          <p:cNvSpPr>
            <a:spLocks/>
          </p:cNvSpPr>
          <p:nvPr/>
        </p:nvSpPr>
        <p:spPr bwMode="auto">
          <a:xfrm>
            <a:off x="2736850" y="3714750"/>
            <a:ext cx="703263" cy="541337"/>
          </a:xfrm>
          <a:custGeom>
            <a:avLst/>
            <a:gdLst>
              <a:gd name="T0" fmla="*/ 442 w 443"/>
              <a:gd name="T1" fmla="*/ 0 h 341"/>
              <a:gd name="T2" fmla="*/ 0 w 443"/>
              <a:gd name="T3" fmla="*/ 340 h 341"/>
              <a:gd name="T4" fmla="*/ 442 w 443"/>
              <a:gd name="T5" fmla="*/ 0 h 3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43" h="341">
                <a:moveTo>
                  <a:pt x="442" y="0"/>
                </a:moveTo>
                <a:lnTo>
                  <a:pt x="0" y="340"/>
                </a:lnTo>
                <a:lnTo>
                  <a:pt x="442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7" name="Freeform 60"/>
          <p:cNvSpPr>
            <a:spLocks/>
          </p:cNvSpPr>
          <p:nvPr/>
        </p:nvSpPr>
        <p:spPr bwMode="auto">
          <a:xfrm>
            <a:off x="2736850" y="4165600"/>
            <a:ext cx="103188" cy="90487"/>
          </a:xfrm>
          <a:custGeom>
            <a:avLst/>
            <a:gdLst>
              <a:gd name="T0" fmla="*/ 64 w 65"/>
              <a:gd name="T1" fmla="*/ 29 h 57"/>
              <a:gd name="T2" fmla="*/ 0 w 65"/>
              <a:gd name="T3" fmla="*/ 56 h 57"/>
              <a:gd name="T4" fmla="*/ 45 w 65"/>
              <a:gd name="T5" fmla="*/ 0 h 57"/>
              <a:gd name="T6" fmla="*/ 64 w 65"/>
              <a:gd name="T7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5" h="57">
                <a:moveTo>
                  <a:pt x="64" y="29"/>
                </a:moveTo>
                <a:lnTo>
                  <a:pt x="0" y="56"/>
                </a:lnTo>
                <a:lnTo>
                  <a:pt x="45" y="0"/>
                </a:lnTo>
                <a:lnTo>
                  <a:pt x="64" y="2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" name="Freeform 61"/>
          <p:cNvSpPr>
            <a:spLocks/>
          </p:cNvSpPr>
          <p:nvPr/>
        </p:nvSpPr>
        <p:spPr bwMode="auto">
          <a:xfrm>
            <a:off x="3822700" y="3736975"/>
            <a:ext cx="1588" cy="519112"/>
          </a:xfrm>
          <a:custGeom>
            <a:avLst/>
            <a:gdLst>
              <a:gd name="T0" fmla="*/ 0 w 1"/>
              <a:gd name="T1" fmla="*/ 0 h 327"/>
              <a:gd name="T2" fmla="*/ 0 w 1"/>
              <a:gd name="T3" fmla="*/ 326 h 327"/>
              <a:gd name="T4" fmla="*/ 0 w 1"/>
              <a:gd name="T5" fmla="*/ 0 h 3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27">
                <a:moveTo>
                  <a:pt x="0" y="0"/>
                </a:moveTo>
                <a:lnTo>
                  <a:pt x="0" y="326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" name="Freeform 62"/>
          <p:cNvSpPr>
            <a:spLocks/>
          </p:cNvSpPr>
          <p:nvPr/>
        </p:nvSpPr>
        <p:spPr bwMode="auto">
          <a:xfrm>
            <a:off x="3794125" y="4140200"/>
            <a:ext cx="55563" cy="115887"/>
          </a:xfrm>
          <a:custGeom>
            <a:avLst/>
            <a:gdLst>
              <a:gd name="T0" fmla="*/ 34 w 35"/>
              <a:gd name="T1" fmla="*/ 0 h 73"/>
              <a:gd name="T2" fmla="*/ 18 w 35"/>
              <a:gd name="T3" fmla="*/ 72 h 73"/>
              <a:gd name="T4" fmla="*/ 0 w 35"/>
              <a:gd name="T5" fmla="*/ 0 h 73"/>
              <a:gd name="T6" fmla="*/ 34 w 35"/>
              <a:gd name="T7" fmla="*/ 0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" h="73">
                <a:moveTo>
                  <a:pt x="34" y="0"/>
                </a:moveTo>
                <a:lnTo>
                  <a:pt x="18" y="72"/>
                </a:lnTo>
                <a:lnTo>
                  <a:pt x="0" y="0"/>
                </a:lnTo>
                <a:lnTo>
                  <a:pt x="34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Freeform 63"/>
          <p:cNvSpPr>
            <a:spLocks/>
          </p:cNvSpPr>
          <p:nvPr/>
        </p:nvSpPr>
        <p:spPr bwMode="auto">
          <a:xfrm>
            <a:off x="4203700" y="3736975"/>
            <a:ext cx="769938" cy="530225"/>
          </a:xfrm>
          <a:custGeom>
            <a:avLst/>
            <a:gdLst>
              <a:gd name="T0" fmla="*/ 0 w 485"/>
              <a:gd name="T1" fmla="*/ 0 h 334"/>
              <a:gd name="T2" fmla="*/ 484 w 485"/>
              <a:gd name="T3" fmla="*/ 333 h 334"/>
              <a:gd name="T4" fmla="*/ 0 w 485"/>
              <a:gd name="T5" fmla="*/ 0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85" h="334">
                <a:moveTo>
                  <a:pt x="0" y="0"/>
                </a:moveTo>
                <a:lnTo>
                  <a:pt x="484" y="333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" name="Freeform 64"/>
          <p:cNvSpPr>
            <a:spLocks/>
          </p:cNvSpPr>
          <p:nvPr/>
        </p:nvSpPr>
        <p:spPr bwMode="auto">
          <a:xfrm>
            <a:off x="4867275" y="4179887"/>
            <a:ext cx="106363" cy="87313"/>
          </a:xfrm>
          <a:custGeom>
            <a:avLst/>
            <a:gdLst>
              <a:gd name="T0" fmla="*/ 17 w 67"/>
              <a:gd name="T1" fmla="*/ 0 h 55"/>
              <a:gd name="T2" fmla="*/ 66 w 67"/>
              <a:gd name="T3" fmla="*/ 54 h 55"/>
              <a:gd name="T4" fmla="*/ 0 w 67"/>
              <a:gd name="T5" fmla="*/ 31 h 55"/>
              <a:gd name="T6" fmla="*/ 17 w 67"/>
              <a:gd name="T7" fmla="*/ 0 h 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7" h="55">
                <a:moveTo>
                  <a:pt x="17" y="0"/>
                </a:moveTo>
                <a:lnTo>
                  <a:pt x="66" y="54"/>
                </a:lnTo>
                <a:lnTo>
                  <a:pt x="0" y="31"/>
                </a:lnTo>
                <a:lnTo>
                  <a:pt x="17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Freeform 65"/>
          <p:cNvSpPr>
            <a:spLocks/>
          </p:cNvSpPr>
          <p:nvPr/>
        </p:nvSpPr>
        <p:spPr bwMode="auto">
          <a:xfrm>
            <a:off x="2176463" y="5165725"/>
            <a:ext cx="85725" cy="93662"/>
          </a:xfrm>
          <a:custGeom>
            <a:avLst/>
            <a:gdLst>
              <a:gd name="T0" fmla="*/ 53 w 54"/>
              <a:gd name="T1" fmla="*/ 23 h 59"/>
              <a:gd name="T2" fmla="*/ 0 w 54"/>
              <a:gd name="T3" fmla="*/ 58 h 59"/>
              <a:gd name="T4" fmla="*/ 32 w 54"/>
              <a:gd name="T5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" h="59">
                <a:moveTo>
                  <a:pt x="53" y="23"/>
                </a:moveTo>
                <a:lnTo>
                  <a:pt x="0" y="58"/>
                </a:lnTo>
                <a:lnTo>
                  <a:pt x="32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" name="Line 66"/>
          <p:cNvSpPr>
            <a:spLocks noChangeShapeType="1"/>
          </p:cNvSpPr>
          <p:nvPr/>
        </p:nvSpPr>
        <p:spPr bwMode="auto">
          <a:xfrm flipV="1">
            <a:off x="2170113" y="5186362"/>
            <a:ext cx="58737" cy="650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" name="Line 67"/>
          <p:cNvSpPr>
            <a:spLocks noChangeShapeType="1"/>
          </p:cNvSpPr>
          <p:nvPr/>
        </p:nvSpPr>
        <p:spPr bwMode="auto">
          <a:xfrm flipV="1">
            <a:off x="2228850" y="5162550"/>
            <a:ext cx="30163" cy="238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" name="Line 68"/>
          <p:cNvSpPr>
            <a:spLocks noChangeShapeType="1"/>
          </p:cNvSpPr>
          <p:nvPr/>
        </p:nvSpPr>
        <p:spPr bwMode="auto">
          <a:xfrm flipV="1">
            <a:off x="2265363" y="5154612"/>
            <a:ext cx="31750" cy="79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" name="Line 69"/>
          <p:cNvSpPr>
            <a:spLocks noChangeShapeType="1"/>
          </p:cNvSpPr>
          <p:nvPr/>
        </p:nvSpPr>
        <p:spPr bwMode="auto">
          <a:xfrm>
            <a:off x="2297113" y="5160962"/>
            <a:ext cx="26987" cy="79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" name="Line 70"/>
          <p:cNvSpPr>
            <a:spLocks noChangeShapeType="1"/>
          </p:cNvSpPr>
          <p:nvPr/>
        </p:nvSpPr>
        <p:spPr bwMode="auto">
          <a:xfrm>
            <a:off x="2324100" y="5168900"/>
            <a:ext cx="31750" cy="238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" name="Line 71"/>
          <p:cNvSpPr>
            <a:spLocks noChangeShapeType="1"/>
          </p:cNvSpPr>
          <p:nvPr/>
        </p:nvSpPr>
        <p:spPr bwMode="auto">
          <a:xfrm>
            <a:off x="2355850" y="5192712"/>
            <a:ext cx="60325" cy="650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" name="Freeform 72"/>
          <p:cNvSpPr>
            <a:spLocks/>
          </p:cNvSpPr>
          <p:nvPr/>
        </p:nvSpPr>
        <p:spPr bwMode="auto">
          <a:xfrm>
            <a:off x="2332038" y="5165725"/>
            <a:ext cx="85725" cy="93662"/>
          </a:xfrm>
          <a:custGeom>
            <a:avLst/>
            <a:gdLst>
              <a:gd name="T0" fmla="*/ 21 w 54"/>
              <a:gd name="T1" fmla="*/ 0 h 59"/>
              <a:gd name="T2" fmla="*/ 53 w 54"/>
              <a:gd name="T3" fmla="*/ 58 h 59"/>
              <a:gd name="T4" fmla="*/ 0 w 54"/>
              <a:gd name="T5" fmla="*/ 23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" h="59">
                <a:moveTo>
                  <a:pt x="21" y="0"/>
                </a:moveTo>
                <a:lnTo>
                  <a:pt x="53" y="58"/>
                </a:lnTo>
                <a:lnTo>
                  <a:pt x="0" y="23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" name="Freeform 73"/>
          <p:cNvSpPr>
            <a:spLocks/>
          </p:cNvSpPr>
          <p:nvPr/>
        </p:nvSpPr>
        <p:spPr bwMode="auto">
          <a:xfrm>
            <a:off x="2836863" y="5165725"/>
            <a:ext cx="85725" cy="93662"/>
          </a:xfrm>
          <a:custGeom>
            <a:avLst/>
            <a:gdLst>
              <a:gd name="T0" fmla="*/ 53 w 54"/>
              <a:gd name="T1" fmla="*/ 23 h 59"/>
              <a:gd name="T2" fmla="*/ 0 w 54"/>
              <a:gd name="T3" fmla="*/ 58 h 59"/>
              <a:gd name="T4" fmla="*/ 32 w 54"/>
              <a:gd name="T5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" h="59">
                <a:moveTo>
                  <a:pt x="53" y="23"/>
                </a:moveTo>
                <a:lnTo>
                  <a:pt x="0" y="58"/>
                </a:lnTo>
                <a:lnTo>
                  <a:pt x="32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1" name="Line 74"/>
          <p:cNvSpPr>
            <a:spLocks noChangeShapeType="1"/>
          </p:cNvSpPr>
          <p:nvPr/>
        </p:nvSpPr>
        <p:spPr bwMode="auto">
          <a:xfrm flipV="1">
            <a:off x="2836863" y="5186362"/>
            <a:ext cx="60325" cy="650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2" name="Line 75"/>
          <p:cNvSpPr>
            <a:spLocks noChangeShapeType="1"/>
          </p:cNvSpPr>
          <p:nvPr/>
        </p:nvSpPr>
        <p:spPr bwMode="auto">
          <a:xfrm flipV="1">
            <a:off x="2890838" y="5162550"/>
            <a:ext cx="30162" cy="238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" name="Line 76"/>
          <p:cNvSpPr>
            <a:spLocks noChangeShapeType="1"/>
          </p:cNvSpPr>
          <p:nvPr/>
        </p:nvSpPr>
        <p:spPr bwMode="auto">
          <a:xfrm flipV="1">
            <a:off x="2927350" y="5154612"/>
            <a:ext cx="28575" cy="79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" name="Line 77"/>
          <p:cNvSpPr>
            <a:spLocks noChangeShapeType="1"/>
          </p:cNvSpPr>
          <p:nvPr/>
        </p:nvSpPr>
        <p:spPr bwMode="auto">
          <a:xfrm>
            <a:off x="2955925" y="5160962"/>
            <a:ext cx="31750" cy="79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5" name="Line 78"/>
          <p:cNvSpPr>
            <a:spLocks noChangeShapeType="1"/>
          </p:cNvSpPr>
          <p:nvPr/>
        </p:nvSpPr>
        <p:spPr bwMode="auto">
          <a:xfrm>
            <a:off x="2987675" y="5168900"/>
            <a:ext cx="30163" cy="238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6" name="Line 79"/>
          <p:cNvSpPr>
            <a:spLocks noChangeShapeType="1"/>
          </p:cNvSpPr>
          <p:nvPr/>
        </p:nvSpPr>
        <p:spPr bwMode="auto">
          <a:xfrm>
            <a:off x="3017838" y="5192712"/>
            <a:ext cx="58737" cy="650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7" name="Freeform 80"/>
          <p:cNvSpPr>
            <a:spLocks/>
          </p:cNvSpPr>
          <p:nvPr/>
        </p:nvSpPr>
        <p:spPr bwMode="auto">
          <a:xfrm>
            <a:off x="2990850" y="5165725"/>
            <a:ext cx="87313" cy="93662"/>
          </a:xfrm>
          <a:custGeom>
            <a:avLst/>
            <a:gdLst>
              <a:gd name="T0" fmla="*/ 21 w 55"/>
              <a:gd name="T1" fmla="*/ 0 h 59"/>
              <a:gd name="T2" fmla="*/ 54 w 55"/>
              <a:gd name="T3" fmla="*/ 58 h 59"/>
              <a:gd name="T4" fmla="*/ 0 w 55"/>
              <a:gd name="T5" fmla="*/ 23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5" h="59">
                <a:moveTo>
                  <a:pt x="21" y="0"/>
                </a:moveTo>
                <a:lnTo>
                  <a:pt x="54" y="58"/>
                </a:lnTo>
                <a:lnTo>
                  <a:pt x="0" y="23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8" name="Freeform 81"/>
          <p:cNvSpPr>
            <a:spLocks/>
          </p:cNvSpPr>
          <p:nvPr/>
        </p:nvSpPr>
        <p:spPr bwMode="auto">
          <a:xfrm>
            <a:off x="3438525" y="5165725"/>
            <a:ext cx="85725" cy="93662"/>
          </a:xfrm>
          <a:custGeom>
            <a:avLst/>
            <a:gdLst>
              <a:gd name="T0" fmla="*/ 53 w 54"/>
              <a:gd name="T1" fmla="*/ 23 h 59"/>
              <a:gd name="T2" fmla="*/ 0 w 54"/>
              <a:gd name="T3" fmla="*/ 58 h 59"/>
              <a:gd name="T4" fmla="*/ 31 w 54"/>
              <a:gd name="T5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" h="59">
                <a:moveTo>
                  <a:pt x="53" y="23"/>
                </a:moveTo>
                <a:lnTo>
                  <a:pt x="0" y="58"/>
                </a:lnTo>
                <a:lnTo>
                  <a:pt x="31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9" name="Line 82"/>
          <p:cNvSpPr>
            <a:spLocks noChangeShapeType="1"/>
          </p:cNvSpPr>
          <p:nvPr/>
        </p:nvSpPr>
        <p:spPr bwMode="auto">
          <a:xfrm flipV="1">
            <a:off x="3432175" y="5186362"/>
            <a:ext cx="58738" cy="650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" name="Line 83"/>
          <p:cNvSpPr>
            <a:spLocks noChangeShapeType="1"/>
          </p:cNvSpPr>
          <p:nvPr/>
        </p:nvSpPr>
        <p:spPr bwMode="auto">
          <a:xfrm flipV="1">
            <a:off x="3490913" y="5162550"/>
            <a:ext cx="30162" cy="238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" name="Line 84"/>
          <p:cNvSpPr>
            <a:spLocks noChangeShapeType="1"/>
          </p:cNvSpPr>
          <p:nvPr/>
        </p:nvSpPr>
        <p:spPr bwMode="auto">
          <a:xfrm flipV="1">
            <a:off x="3521075" y="5154612"/>
            <a:ext cx="30163" cy="79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2" name="Line 85"/>
          <p:cNvSpPr>
            <a:spLocks noChangeShapeType="1"/>
          </p:cNvSpPr>
          <p:nvPr/>
        </p:nvSpPr>
        <p:spPr bwMode="auto">
          <a:xfrm>
            <a:off x="3557588" y="5160962"/>
            <a:ext cx="30162" cy="79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" name="Line 86"/>
          <p:cNvSpPr>
            <a:spLocks noChangeShapeType="1"/>
          </p:cNvSpPr>
          <p:nvPr/>
        </p:nvSpPr>
        <p:spPr bwMode="auto">
          <a:xfrm>
            <a:off x="3587750" y="5168900"/>
            <a:ext cx="30163" cy="238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" name="Line 87"/>
          <p:cNvSpPr>
            <a:spLocks noChangeShapeType="1"/>
          </p:cNvSpPr>
          <p:nvPr/>
        </p:nvSpPr>
        <p:spPr bwMode="auto">
          <a:xfrm>
            <a:off x="3617913" y="5192712"/>
            <a:ext cx="58737" cy="650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" name="Freeform 88"/>
          <p:cNvSpPr>
            <a:spLocks/>
          </p:cNvSpPr>
          <p:nvPr/>
        </p:nvSpPr>
        <p:spPr bwMode="auto">
          <a:xfrm>
            <a:off x="3592513" y="5165725"/>
            <a:ext cx="85725" cy="93662"/>
          </a:xfrm>
          <a:custGeom>
            <a:avLst/>
            <a:gdLst>
              <a:gd name="T0" fmla="*/ 22 w 54"/>
              <a:gd name="T1" fmla="*/ 0 h 59"/>
              <a:gd name="T2" fmla="*/ 53 w 54"/>
              <a:gd name="T3" fmla="*/ 58 h 59"/>
              <a:gd name="T4" fmla="*/ 0 w 54"/>
              <a:gd name="T5" fmla="*/ 23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" h="59">
                <a:moveTo>
                  <a:pt x="22" y="0"/>
                </a:moveTo>
                <a:lnTo>
                  <a:pt x="53" y="58"/>
                </a:lnTo>
                <a:lnTo>
                  <a:pt x="0" y="23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" name="Freeform 89"/>
          <p:cNvSpPr>
            <a:spLocks/>
          </p:cNvSpPr>
          <p:nvPr/>
        </p:nvSpPr>
        <p:spPr bwMode="auto">
          <a:xfrm>
            <a:off x="4098925" y="5165725"/>
            <a:ext cx="85725" cy="93662"/>
          </a:xfrm>
          <a:custGeom>
            <a:avLst/>
            <a:gdLst>
              <a:gd name="T0" fmla="*/ 53 w 54"/>
              <a:gd name="T1" fmla="*/ 23 h 59"/>
              <a:gd name="T2" fmla="*/ 0 w 54"/>
              <a:gd name="T3" fmla="*/ 58 h 59"/>
              <a:gd name="T4" fmla="*/ 32 w 54"/>
              <a:gd name="T5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" h="59">
                <a:moveTo>
                  <a:pt x="53" y="23"/>
                </a:moveTo>
                <a:lnTo>
                  <a:pt x="0" y="58"/>
                </a:lnTo>
                <a:lnTo>
                  <a:pt x="32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" name="Line 90"/>
          <p:cNvSpPr>
            <a:spLocks noChangeShapeType="1"/>
          </p:cNvSpPr>
          <p:nvPr/>
        </p:nvSpPr>
        <p:spPr bwMode="auto">
          <a:xfrm flipV="1">
            <a:off x="4098925" y="5186362"/>
            <a:ext cx="60325" cy="650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" name="Line 91"/>
          <p:cNvSpPr>
            <a:spLocks noChangeShapeType="1"/>
          </p:cNvSpPr>
          <p:nvPr/>
        </p:nvSpPr>
        <p:spPr bwMode="auto">
          <a:xfrm flipV="1">
            <a:off x="4152900" y="5162550"/>
            <a:ext cx="30163" cy="238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" name="Line 92"/>
          <p:cNvSpPr>
            <a:spLocks noChangeShapeType="1"/>
          </p:cNvSpPr>
          <p:nvPr/>
        </p:nvSpPr>
        <p:spPr bwMode="auto">
          <a:xfrm flipV="1">
            <a:off x="4183063" y="5154612"/>
            <a:ext cx="30162" cy="79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" name="Line 93"/>
          <p:cNvSpPr>
            <a:spLocks noChangeShapeType="1"/>
          </p:cNvSpPr>
          <p:nvPr/>
        </p:nvSpPr>
        <p:spPr bwMode="auto">
          <a:xfrm>
            <a:off x="4219575" y="5160962"/>
            <a:ext cx="28575" cy="79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1" name="Line 94"/>
          <p:cNvSpPr>
            <a:spLocks noChangeShapeType="1"/>
          </p:cNvSpPr>
          <p:nvPr/>
        </p:nvSpPr>
        <p:spPr bwMode="auto">
          <a:xfrm>
            <a:off x="4248150" y="5168900"/>
            <a:ext cx="31750" cy="238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" name="Line 95"/>
          <p:cNvSpPr>
            <a:spLocks noChangeShapeType="1"/>
          </p:cNvSpPr>
          <p:nvPr/>
        </p:nvSpPr>
        <p:spPr bwMode="auto">
          <a:xfrm>
            <a:off x="4279900" y="5192712"/>
            <a:ext cx="60325" cy="650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" name="Freeform 96"/>
          <p:cNvSpPr>
            <a:spLocks/>
          </p:cNvSpPr>
          <p:nvPr/>
        </p:nvSpPr>
        <p:spPr bwMode="auto">
          <a:xfrm>
            <a:off x="4254500" y="5165725"/>
            <a:ext cx="87313" cy="93662"/>
          </a:xfrm>
          <a:custGeom>
            <a:avLst/>
            <a:gdLst>
              <a:gd name="T0" fmla="*/ 21 w 55"/>
              <a:gd name="T1" fmla="*/ 0 h 59"/>
              <a:gd name="T2" fmla="*/ 54 w 55"/>
              <a:gd name="T3" fmla="*/ 58 h 59"/>
              <a:gd name="T4" fmla="*/ 0 w 55"/>
              <a:gd name="T5" fmla="*/ 23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5" h="59">
                <a:moveTo>
                  <a:pt x="21" y="0"/>
                </a:moveTo>
                <a:lnTo>
                  <a:pt x="54" y="58"/>
                </a:lnTo>
                <a:lnTo>
                  <a:pt x="0" y="23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" name="Freeform 97"/>
          <p:cNvSpPr>
            <a:spLocks/>
          </p:cNvSpPr>
          <p:nvPr/>
        </p:nvSpPr>
        <p:spPr bwMode="auto">
          <a:xfrm>
            <a:off x="4700588" y="5165725"/>
            <a:ext cx="85725" cy="93662"/>
          </a:xfrm>
          <a:custGeom>
            <a:avLst/>
            <a:gdLst>
              <a:gd name="T0" fmla="*/ 53 w 54"/>
              <a:gd name="T1" fmla="*/ 23 h 59"/>
              <a:gd name="T2" fmla="*/ 0 w 54"/>
              <a:gd name="T3" fmla="*/ 58 h 59"/>
              <a:gd name="T4" fmla="*/ 32 w 54"/>
              <a:gd name="T5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" h="59">
                <a:moveTo>
                  <a:pt x="53" y="23"/>
                </a:moveTo>
                <a:lnTo>
                  <a:pt x="0" y="58"/>
                </a:lnTo>
                <a:lnTo>
                  <a:pt x="32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" name="Line 98"/>
          <p:cNvSpPr>
            <a:spLocks noChangeShapeType="1"/>
          </p:cNvSpPr>
          <p:nvPr/>
        </p:nvSpPr>
        <p:spPr bwMode="auto">
          <a:xfrm flipV="1">
            <a:off x="4694238" y="5186362"/>
            <a:ext cx="58737" cy="650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" name="Line 99"/>
          <p:cNvSpPr>
            <a:spLocks noChangeShapeType="1"/>
          </p:cNvSpPr>
          <p:nvPr/>
        </p:nvSpPr>
        <p:spPr bwMode="auto">
          <a:xfrm flipV="1">
            <a:off x="4759325" y="5162550"/>
            <a:ext cx="31750" cy="238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" name="Line 100"/>
          <p:cNvSpPr>
            <a:spLocks noChangeShapeType="1"/>
          </p:cNvSpPr>
          <p:nvPr/>
        </p:nvSpPr>
        <p:spPr bwMode="auto">
          <a:xfrm flipV="1">
            <a:off x="4784725" y="5154612"/>
            <a:ext cx="30163" cy="79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" name="Line 101"/>
          <p:cNvSpPr>
            <a:spLocks noChangeShapeType="1"/>
          </p:cNvSpPr>
          <p:nvPr/>
        </p:nvSpPr>
        <p:spPr bwMode="auto">
          <a:xfrm>
            <a:off x="4821238" y="5160962"/>
            <a:ext cx="28575" cy="79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" name="Line 102"/>
          <p:cNvSpPr>
            <a:spLocks noChangeShapeType="1"/>
          </p:cNvSpPr>
          <p:nvPr/>
        </p:nvSpPr>
        <p:spPr bwMode="auto">
          <a:xfrm>
            <a:off x="4849813" y="5168900"/>
            <a:ext cx="30162" cy="238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0" name="Line 103"/>
          <p:cNvSpPr>
            <a:spLocks noChangeShapeType="1"/>
          </p:cNvSpPr>
          <p:nvPr/>
        </p:nvSpPr>
        <p:spPr bwMode="auto">
          <a:xfrm>
            <a:off x="4879975" y="5192712"/>
            <a:ext cx="61913" cy="650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1" name="Freeform 104"/>
          <p:cNvSpPr>
            <a:spLocks/>
          </p:cNvSpPr>
          <p:nvPr/>
        </p:nvSpPr>
        <p:spPr bwMode="auto">
          <a:xfrm>
            <a:off x="4856163" y="5165725"/>
            <a:ext cx="87312" cy="93662"/>
          </a:xfrm>
          <a:custGeom>
            <a:avLst/>
            <a:gdLst>
              <a:gd name="T0" fmla="*/ 21 w 55"/>
              <a:gd name="T1" fmla="*/ 0 h 59"/>
              <a:gd name="T2" fmla="*/ 54 w 55"/>
              <a:gd name="T3" fmla="*/ 58 h 59"/>
              <a:gd name="T4" fmla="*/ 0 w 55"/>
              <a:gd name="T5" fmla="*/ 23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5" h="59">
                <a:moveTo>
                  <a:pt x="21" y="0"/>
                </a:moveTo>
                <a:lnTo>
                  <a:pt x="54" y="58"/>
                </a:lnTo>
                <a:lnTo>
                  <a:pt x="0" y="23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2" name="Freeform 105"/>
          <p:cNvSpPr>
            <a:spLocks/>
          </p:cNvSpPr>
          <p:nvPr/>
        </p:nvSpPr>
        <p:spPr bwMode="auto">
          <a:xfrm>
            <a:off x="5360988" y="5165725"/>
            <a:ext cx="87312" cy="93662"/>
          </a:xfrm>
          <a:custGeom>
            <a:avLst/>
            <a:gdLst>
              <a:gd name="T0" fmla="*/ 54 w 55"/>
              <a:gd name="T1" fmla="*/ 23 h 59"/>
              <a:gd name="T2" fmla="*/ 0 w 55"/>
              <a:gd name="T3" fmla="*/ 58 h 59"/>
              <a:gd name="T4" fmla="*/ 32 w 55"/>
              <a:gd name="T5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5" h="59">
                <a:moveTo>
                  <a:pt x="54" y="23"/>
                </a:moveTo>
                <a:lnTo>
                  <a:pt x="0" y="58"/>
                </a:lnTo>
                <a:lnTo>
                  <a:pt x="32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3" name="Line 106"/>
          <p:cNvSpPr>
            <a:spLocks noChangeShapeType="1"/>
          </p:cNvSpPr>
          <p:nvPr/>
        </p:nvSpPr>
        <p:spPr bwMode="auto">
          <a:xfrm flipV="1">
            <a:off x="5360988" y="5186362"/>
            <a:ext cx="60325" cy="650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" name="Line 107"/>
          <p:cNvSpPr>
            <a:spLocks noChangeShapeType="1"/>
          </p:cNvSpPr>
          <p:nvPr/>
        </p:nvSpPr>
        <p:spPr bwMode="auto">
          <a:xfrm flipV="1">
            <a:off x="5414963" y="5162550"/>
            <a:ext cx="30162" cy="238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" name="Line 108"/>
          <p:cNvSpPr>
            <a:spLocks noChangeShapeType="1"/>
          </p:cNvSpPr>
          <p:nvPr/>
        </p:nvSpPr>
        <p:spPr bwMode="auto">
          <a:xfrm flipV="1">
            <a:off x="5445125" y="5154612"/>
            <a:ext cx="30163" cy="79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" name="Line 109"/>
          <p:cNvSpPr>
            <a:spLocks noChangeShapeType="1"/>
          </p:cNvSpPr>
          <p:nvPr/>
        </p:nvSpPr>
        <p:spPr bwMode="auto">
          <a:xfrm>
            <a:off x="5481638" y="5160962"/>
            <a:ext cx="31750" cy="79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" name="Line 110"/>
          <p:cNvSpPr>
            <a:spLocks noChangeShapeType="1"/>
          </p:cNvSpPr>
          <p:nvPr/>
        </p:nvSpPr>
        <p:spPr bwMode="auto">
          <a:xfrm>
            <a:off x="5513388" y="5168900"/>
            <a:ext cx="28575" cy="238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8" name="Line 111"/>
          <p:cNvSpPr>
            <a:spLocks noChangeShapeType="1"/>
          </p:cNvSpPr>
          <p:nvPr/>
        </p:nvSpPr>
        <p:spPr bwMode="auto">
          <a:xfrm>
            <a:off x="5541963" y="5192712"/>
            <a:ext cx="60325" cy="650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9" name="Freeform 112"/>
          <p:cNvSpPr>
            <a:spLocks/>
          </p:cNvSpPr>
          <p:nvPr/>
        </p:nvSpPr>
        <p:spPr bwMode="auto">
          <a:xfrm>
            <a:off x="5516563" y="5165725"/>
            <a:ext cx="87312" cy="93662"/>
          </a:xfrm>
          <a:custGeom>
            <a:avLst/>
            <a:gdLst>
              <a:gd name="T0" fmla="*/ 21 w 55"/>
              <a:gd name="T1" fmla="*/ 0 h 59"/>
              <a:gd name="T2" fmla="*/ 54 w 55"/>
              <a:gd name="T3" fmla="*/ 58 h 59"/>
              <a:gd name="T4" fmla="*/ 0 w 55"/>
              <a:gd name="T5" fmla="*/ 23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5" h="59">
                <a:moveTo>
                  <a:pt x="21" y="0"/>
                </a:moveTo>
                <a:lnTo>
                  <a:pt x="54" y="58"/>
                </a:lnTo>
                <a:lnTo>
                  <a:pt x="0" y="23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0" name="Rectangle 113"/>
          <p:cNvSpPr>
            <a:spLocks noChangeArrowheads="1"/>
          </p:cNvSpPr>
          <p:nvPr/>
        </p:nvSpPr>
        <p:spPr bwMode="auto">
          <a:xfrm>
            <a:off x="1676400" y="5237162"/>
            <a:ext cx="336550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3*</a:t>
            </a:r>
          </a:p>
        </p:txBody>
      </p:sp>
      <p:sp>
        <p:nvSpPr>
          <p:cNvPr id="181" name="Rectangle 114"/>
          <p:cNvSpPr>
            <a:spLocks noChangeArrowheads="1"/>
          </p:cNvSpPr>
          <p:nvPr/>
        </p:nvSpPr>
        <p:spPr bwMode="auto">
          <a:xfrm>
            <a:off x="1943100" y="5246687"/>
            <a:ext cx="336550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4*</a:t>
            </a:r>
          </a:p>
        </p:txBody>
      </p:sp>
      <p:sp>
        <p:nvSpPr>
          <p:cNvPr id="182" name="Rectangle 115"/>
          <p:cNvSpPr>
            <a:spLocks noChangeArrowheads="1"/>
          </p:cNvSpPr>
          <p:nvPr/>
        </p:nvSpPr>
        <p:spPr bwMode="auto">
          <a:xfrm>
            <a:off x="2314575" y="5237162"/>
            <a:ext cx="336550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6*</a:t>
            </a:r>
          </a:p>
        </p:txBody>
      </p:sp>
      <p:sp>
        <p:nvSpPr>
          <p:cNvPr id="183" name="Rectangle 116"/>
          <p:cNvSpPr>
            <a:spLocks noChangeArrowheads="1"/>
          </p:cNvSpPr>
          <p:nvPr/>
        </p:nvSpPr>
        <p:spPr bwMode="auto">
          <a:xfrm>
            <a:off x="2581275" y="5237162"/>
            <a:ext cx="336550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9*</a:t>
            </a:r>
          </a:p>
        </p:txBody>
      </p:sp>
      <p:sp>
        <p:nvSpPr>
          <p:cNvPr id="184" name="Rectangle 117"/>
          <p:cNvSpPr>
            <a:spLocks noChangeArrowheads="1"/>
          </p:cNvSpPr>
          <p:nvPr/>
        </p:nvSpPr>
        <p:spPr bwMode="auto">
          <a:xfrm>
            <a:off x="2911475" y="523716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10*</a:t>
            </a:r>
          </a:p>
        </p:txBody>
      </p:sp>
      <p:sp>
        <p:nvSpPr>
          <p:cNvPr id="185" name="Rectangle 118"/>
          <p:cNvSpPr>
            <a:spLocks noChangeArrowheads="1"/>
          </p:cNvSpPr>
          <p:nvPr/>
        </p:nvSpPr>
        <p:spPr bwMode="auto">
          <a:xfrm>
            <a:off x="3178175" y="523716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11*</a:t>
            </a:r>
          </a:p>
        </p:txBody>
      </p:sp>
      <p:sp>
        <p:nvSpPr>
          <p:cNvPr id="186" name="Rectangle 119"/>
          <p:cNvSpPr>
            <a:spLocks noChangeArrowheads="1"/>
          </p:cNvSpPr>
          <p:nvPr/>
        </p:nvSpPr>
        <p:spPr bwMode="auto">
          <a:xfrm>
            <a:off x="3549650" y="523716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12*</a:t>
            </a:r>
          </a:p>
        </p:txBody>
      </p:sp>
      <p:sp>
        <p:nvSpPr>
          <p:cNvPr id="187" name="Rectangle 120"/>
          <p:cNvSpPr>
            <a:spLocks noChangeArrowheads="1"/>
          </p:cNvSpPr>
          <p:nvPr/>
        </p:nvSpPr>
        <p:spPr bwMode="auto">
          <a:xfrm>
            <a:off x="3816350" y="523716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13*</a:t>
            </a:r>
          </a:p>
        </p:txBody>
      </p:sp>
      <p:sp>
        <p:nvSpPr>
          <p:cNvPr id="188" name="Rectangle 121"/>
          <p:cNvSpPr>
            <a:spLocks noChangeArrowheads="1"/>
          </p:cNvSpPr>
          <p:nvPr/>
        </p:nvSpPr>
        <p:spPr bwMode="auto">
          <a:xfrm>
            <a:off x="4189413" y="5246687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20*</a:t>
            </a:r>
          </a:p>
        </p:txBody>
      </p:sp>
      <p:sp>
        <p:nvSpPr>
          <p:cNvPr id="189" name="Rectangle 122"/>
          <p:cNvSpPr>
            <a:spLocks noChangeArrowheads="1"/>
          </p:cNvSpPr>
          <p:nvPr/>
        </p:nvSpPr>
        <p:spPr bwMode="auto">
          <a:xfrm>
            <a:off x="4445000" y="5246687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22*</a:t>
            </a:r>
          </a:p>
        </p:txBody>
      </p:sp>
      <p:sp>
        <p:nvSpPr>
          <p:cNvPr id="190" name="Rectangle 123"/>
          <p:cNvSpPr>
            <a:spLocks noChangeArrowheads="1"/>
          </p:cNvSpPr>
          <p:nvPr/>
        </p:nvSpPr>
        <p:spPr bwMode="auto">
          <a:xfrm>
            <a:off x="4816475" y="523716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23*</a:t>
            </a:r>
          </a:p>
        </p:txBody>
      </p:sp>
      <p:sp>
        <p:nvSpPr>
          <p:cNvPr id="191" name="Rectangle 124"/>
          <p:cNvSpPr>
            <a:spLocks noChangeArrowheads="1"/>
          </p:cNvSpPr>
          <p:nvPr/>
        </p:nvSpPr>
        <p:spPr bwMode="auto">
          <a:xfrm>
            <a:off x="5094288" y="523716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31*</a:t>
            </a:r>
          </a:p>
        </p:txBody>
      </p:sp>
      <p:sp>
        <p:nvSpPr>
          <p:cNvPr id="192" name="Rectangle 125"/>
          <p:cNvSpPr>
            <a:spLocks noChangeArrowheads="1"/>
          </p:cNvSpPr>
          <p:nvPr/>
        </p:nvSpPr>
        <p:spPr bwMode="auto">
          <a:xfrm>
            <a:off x="5456238" y="5246687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35*</a:t>
            </a:r>
          </a:p>
        </p:txBody>
      </p:sp>
      <p:sp>
        <p:nvSpPr>
          <p:cNvPr id="193" name="Rectangle 126"/>
          <p:cNvSpPr>
            <a:spLocks noChangeArrowheads="1"/>
          </p:cNvSpPr>
          <p:nvPr/>
        </p:nvSpPr>
        <p:spPr bwMode="auto">
          <a:xfrm>
            <a:off x="5711825" y="523716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36*</a:t>
            </a:r>
          </a:p>
        </p:txBody>
      </p:sp>
      <p:sp>
        <p:nvSpPr>
          <p:cNvPr id="194" name="Rectangle 127"/>
          <p:cNvSpPr>
            <a:spLocks noChangeArrowheads="1"/>
          </p:cNvSpPr>
          <p:nvPr/>
        </p:nvSpPr>
        <p:spPr bwMode="auto">
          <a:xfrm>
            <a:off x="6094413" y="523716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38*</a:t>
            </a:r>
          </a:p>
        </p:txBody>
      </p:sp>
      <p:sp>
        <p:nvSpPr>
          <p:cNvPr id="195" name="Rectangle 128"/>
          <p:cNvSpPr>
            <a:spLocks noChangeArrowheads="1"/>
          </p:cNvSpPr>
          <p:nvPr/>
        </p:nvSpPr>
        <p:spPr bwMode="auto">
          <a:xfrm>
            <a:off x="6350000" y="523716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41*</a:t>
            </a:r>
          </a:p>
        </p:txBody>
      </p:sp>
      <p:sp>
        <p:nvSpPr>
          <p:cNvPr id="196" name="Rectangle 129"/>
          <p:cNvSpPr>
            <a:spLocks noChangeArrowheads="1"/>
          </p:cNvSpPr>
          <p:nvPr/>
        </p:nvSpPr>
        <p:spPr bwMode="auto">
          <a:xfrm>
            <a:off x="6702425" y="5237162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44*</a:t>
            </a:r>
          </a:p>
        </p:txBody>
      </p:sp>
      <p:sp>
        <p:nvSpPr>
          <p:cNvPr id="197" name="Rectangle 130"/>
          <p:cNvSpPr>
            <a:spLocks noChangeArrowheads="1"/>
          </p:cNvSpPr>
          <p:nvPr/>
        </p:nvSpPr>
        <p:spPr bwMode="auto">
          <a:xfrm>
            <a:off x="2741613" y="3392487"/>
            <a:ext cx="5857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198" name="Rectangle 131"/>
          <p:cNvSpPr>
            <a:spLocks noChangeArrowheads="1"/>
          </p:cNvSpPr>
          <p:nvPr/>
        </p:nvSpPr>
        <p:spPr bwMode="auto">
          <a:xfrm>
            <a:off x="5988050" y="4117975"/>
            <a:ext cx="16637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Arial" pitchFamily="34" charset="0"/>
              </a:rPr>
              <a:t>Data entry pages </a:t>
            </a:r>
          </a:p>
        </p:txBody>
      </p:sp>
      <p:sp>
        <p:nvSpPr>
          <p:cNvPr id="199" name="Rectangle 132"/>
          <p:cNvSpPr>
            <a:spLocks noChangeArrowheads="1"/>
          </p:cNvSpPr>
          <p:nvPr/>
        </p:nvSpPr>
        <p:spPr bwMode="auto">
          <a:xfrm>
            <a:off x="6029325" y="4394200"/>
            <a:ext cx="162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Arial" pitchFamily="34" charset="0"/>
              </a:rPr>
              <a:t>not yet in B+ tree</a:t>
            </a:r>
          </a:p>
        </p:txBody>
      </p:sp>
      <p:sp>
        <p:nvSpPr>
          <p:cNvPr id="200" name="Rectangle 133"/>
          <p:cNvSpPr>
            <a:spLocks noChangeArrowheads="1"/>
          </p:cNvSpPr>
          <p:nvPr/>
        </p:nvSpPr>
        <p:spPr bwMode="auto">
          <a:xfrm>
            <a:off x="5030788" y="4295775"/>
            <a:ext cx="3651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chemeClr val="tx2"/>
                </a:solidFill>
                <a:latin typeface="Arial" pitchFamily="34" charset="0"/>
              </a:rPr>
              <a:t>35</a:t>
            </a:r>
          </a:p>
        </p:txBody>
      </p:sp>
      <p:sp>
        <p:nvSpPr>
          <p:cNvPr id="201" name="Rectangle 134"/>
          <p:cNvSpPr>
            <a:spLocks noChangeArrowheads="1"/>
          </p:cNvSpPr>
          <p:nvPr/>
        </p:nvSpPr>
        <p:spPr bwMode="auto">
          <a:xfrm>
            <a:off x="4668838" y="4295775"/>
            <a:ext cx="3651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23</a:t>
            </a:r>
          </a:p>
        </p:txBody>
      </p:sp>
      <p:sp>
        <p:nvSpPr>
          <p:cNvPr id="202" name="Rectangle 135"/>
          <p:cNvSpPr>
            <a:spLocks noChangeArrowheads="1"/>
          </p:cNvSpPr>
          <p:nvPr/>
        </p:nvSpPr>
        <p:spPr bwMode="auto">
          <a:xfrm>
            <a:off x="3467100" y="4295775"/>
            <a:ext cx="3651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12</a:t>
            </a:r>
          </a:p>
        </p:txBody>
      </p:sp>
      <p:sp>
        <p:nvSpPr>
          <p:cNvPr id="203" name="Rectangle 136"/>
          <p:cNvSpPr>
            <a:spLocks noChangeArrowheads="1"/>
          </p:cNvSpPr>
          <p:nvPr/>
        </p:nvSpPr>
        <p:spPr bwMode="auto">
          <a:xfrm>
            <a:off x="2386013" y="4295775"/>
            <a:ext cx="27305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6</a:t>
            </a:r>
          </a:p>
        </p:txBody>
      </p:sp>
      <p:sp>
        <p:nvSpPr>
          <p:cNvPr id="204" name="Rectangle 137"/>
          <p:cNvSpPr>
            <a:spLocks noChangeArrowheads="1"/>
          </p:cNvSpPr>
          <p:nvPr/>
        </p:nvSpPr>
        <p:spPr bwMode="auto">
          <a:xfrm>
            <a:off x="3467100" y="3448050"/>
            <a:ext cx="3651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10</a:t>
            </a:r>
          </a:p>
        </p:txBody>
      </p:sp>
      <p:sp>
        <p:nvSpPr>
          <p:cNvPr id="205" name="Rectangle 138"/>
          <p:cNvSpPr>
            <a:spLocks noChangeArrowheads="1"/>
          </p:cNvSpPr>
          <p:nvPr/>
        </p:nvSpPr>
        <p:spPr bwMode="auto">
          <a:xfrm>
            <a:off x="3829050" y="3448050"/>
            <a:ext cx="3651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20</a:t>
            </a:r>
          </a:p>
        </p:txBody>
      </p:sp>
      <p:sp>
        <p:nvSpPr>
          <p:cNvPr id="206" name="Line 139"/>
          <p:cNvSpPr>
            <a:spLocks noChangeShapeType="1"/>
          </p:cNvSpPr>
          <p:nvPr/>
        </p:nvSpPr>
        <p:spPr bwMode="auto">
          <a:xfrm>
            <a:off x="2908300" y="3275012"/>
            <a:ext cx="4572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7" name="Arc 140"/>
          <p:cNvSpPr>
            <a:spLocks/>
          </p:cNvSpPr>
          <p:nvPr/>
        </p:nvSpPr>
        <p:spPr bwMode="auto">
          <a:xfrm>
            <a:off x="6188075" y="4725987"/>
            <a:ext cx="228600" cy="457200"/>
          </a:xfrm>
          <a:custGeom>
            <a:avLst/>
            <a:gdLst>
              <a:gd name="G0" fmla="+- 21598 0 0"/>
              <a:gd name="G1" fmla="+- 21599 0 0"/>
              <a:gd name="G2" fmla="+- 21600 0 0"/>
              <a:gd name="T0" fmla="*/ 0 w 21598"/>
              <a:gd name="T1" fmla="*/ 21299 h 21599"/>
              <a:gd name="T2" fmla="*/ 21448 w 21598"/>
              <a:gd name="T3" fmla="*/ 0 h 21599"/>
              <a:gd name="T4" fmla="*/ 21598 w 21598"/>
              <a:gd name="T5" fmla="*/ 21599 h 21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98" h="21599" fill="none" extrusionOk="0">
                <a:moveTo>
                  <a:pt x="0" y="21299"/>
                </a:moveTo>
                <a:cubicBezTo>
                  <a:pt x="163" y="9546"/>
                  <a:pt x="9694" y="81"/>
                  <a:pt x="21447" y="-1"/>
                </a:cubicBezTo>
              </a:path>
              <a:path w="21598" h="21599" stroke="0" extrusionOk="0">
                <a:moveTo>
                  <a:pt x="0" y="21299"/>
                </a:moveTo>
                <a:cubicBezTo>
                  <a:pt x="163" y="9546"/>
                  <a:pt x="9694" y="81"/>
                  <a:pt x="21447" y="-1"/>
                </a:cubicBezTo>
                <a:lnTo>
                  <a:pt x="21598" y="21599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3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B+ Tree: Bulk Loading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What to do?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/>
              <a:t>Continue by inserting entries into the right-most index page just above the leaf page; split when fills up</a:t>
            </a:r>
          </a:p>
          <a:p>
            <a:pPr lvl="1">
              <a:buFont typeface="Wingdings" pitchFamily="2" charset="2"/>
              <a:buChar char="§"/>
            </a:pPr>
            <a:endParaRPr lang="en-US" sz="2400" dirty="0" smtClean="0"/>
          </a:p>
          <a:p>
            <a:pPr marL="457200" lvl="1" indent="0">
              <a:buNone/>
            </a:pPr>
            <a:endParaRPr lang="en-US" sz="2200" dirty="0"/>
          </a:p>
        </p:txBody>
      </p:sp>
      <p:sp>
        <p:nvSpPr>
          <p:cNvPr id="208" name="Rectangle 3"/>
          <p:cNvSpPr>
            <a:spLocks noChangeArrowheads="1"/>
          </p:cNvSpPr>
          <p:nvPr/>
        </p:nvSpPr>
        <p:spPr bwMode="auto">
          <a:xfrm>
            <a:off x="1908175" y="5486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9" name="Freeform 141"/>
          <p:cNvSpPr>
            <a:spLocks/>
          </p:cNvSpPr>
          <p:nvPr/>
        </p:nvSpPr>
        <p:spPr bwMode="auto">
          <a:xfrm>
            <a:off x="1701800" y="5648325"/>
            <a:ext cx="542925" cy="257175"/>
          </a:xfrm>
          <a:custGeom>
            <a:avLst/>
            <a:gdLst>
              <a:gd name="T0" fmla="*/ 0 w 342"/>
              <a:gd name="T1" fmla="*/ 161 h 162"/>
              <a:gd name="T2" fmla="*/ 0 w 342"/>
              <a:gd name="T3" fmla="*/ 0 h 162"/>
              <a:gd name="T4" fmla="*/ 341 w 342"/>
              <a:gd name="T5" fmla="*/ 0 h 162"/>
              <a:gd name="T6" fmla="*/ 341 w 342"/>
              <a:gd name="T7" fmla="*/ 161 h 162"/>
              <a:gd name="T8" fmla="*/ 0 w 342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2" h="162">
                <a:moveTo>
                  <a:pt x="0" y="161"/>
                </a:moveTo>
                <a:lnTo>
                  <a:pt x="0" y="0"/>
                </a:lnTo>
                <a:lnTo>
                  <a:pt x="341" y="0"/>
                </a:lnTo>
                <a:lnTo>
                  <a:pt x="341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0" name="Freeform 142"/>
          <p:cNvSpPr>
            <a:spLocks/>
          </p:cNvSpPr>
          <p:nvPr/>
        </p:nvSpPr>
        <p:spPr bwMode="auto">
          <a:xfrm>
            <a:off x="1973263" y="5648325"/>
            <a:ext cx="1587" cy="257175"/>
          </a:xfrm>
          <a:custGeom>
            <a:avLst/>
            <a:gdLst>
              <a:gd name="T0" fmla="*/ 0 w 1"/>
              <a:gd name="T1" fmla="*/ 0 h 162"/>
              <a:gd name="T2" fmla="*/ 0 w 1"/>
              <a:gd name="T3" fmla="*/ 161 h 162"/>
              <a:gd name="T4" fmla="*/ 0 w 1"/>
              <a:gd name="T5" fmla="*/ 0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62">
                <a:moveTo>
                  <a:pt x="0" y="0"/>
                </a:moveTo>
                <a:lnTo>
                  <a:pt x="0" y="16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1" name="Freeform 143"/>
          <p:cNvSpPr>
            <a:spLocks/>
          </p:cNvSpPr>
          <p:nvPr/>
        </p:nvSpPr>
        <p:spPr bwMode="auto">
          <a:xfrm>
            <a:off x="2351088" y="5648325"/>
            <a:ext cx="542925" cy="257175"/>
          </a:xfrm>
          <a:custGeom>
            <a:avLst/>
            <a:gdLst>
              <a:gd name="T0" fmla="*/ 0 w 342"/>
              <a:gd name="T1" fmla="*/ 161 h 162"/>
              <a:gd name="T2" fmla="*/ 0 w 342"/>
              <a:gd name="T3" fmla="*/ 0 h 162"/>
              <a:gd name="T4" fmla="*/ 341 w 342"/>
              <a:gd name="T5" fmla="*/ 0 h 162"/>
              <a:gd name="T6" fmla="*/ 341 w 342"/>
              <a:gd name="T7" fmla="*/ 161 h 162"/>
              <a:gd name="T8" fmla="*/ 0 w 342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2" h="162">
                <a:moveTo>
                  <a:pt x="0" y="161"/>
                </a:moveTo>
                <a:lnTo>
                  <a:pt x="0" y="0"/>
                </a:lnTo>
                <a:lnTo>
                  <a:pt x="341" y="0"/>
                </a:lnTo>
                <a:lnTo>
                  <a:pt x="341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2" name="Freeform 144"/>
          <p:cNvSpPr>
            <a:spLocks/>
          </p:cNvSpPr>
          <p:nvPr/>
        </p:nvSpPr>
        <p:spPr bwMode="auto">
          <a:xfrm>
            <a:off x="2622550" y="5648325"/>
            <a:ext cx="1588" cy="257175"/>
          </a:xfrm>
          <a:custGeom>
            <a:avLst/>
            <a:gdLst>
              <a:gd name="T0" fmla="*/ 0 w 1"/>
              <a:gd name="T1" fmla="*/ 0 h 162"/>
              <a:gd name="T2" fmla="*/ 0 w 1"/>
              <a:gd name="T3" fmla="*/ 161 h 162"/>
              <a:gd name="T4" fmla="*/ 0 w 1"/>
              <a:gd name="T5" fmla="*/ 0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62">
                <a:moveTo>
                  <a:pt x="0" y="0"/>
                </a:moveTo>
                <a:lnTo>
                  <a:pt x="0" y="16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3" name="Freeform 145"/>
          <p:cNvSpPr>
            <a:spLocks/>
          </p:cNvSpPr>
          <p:nvPr/>
        </p:nvSpPr>
        <p:spPr bwMode="auto">
          <a:xfrm>
            <a:off x="2998788" y="5648325"/>
            <a:ext cx="544512" cy="257175"/>
          </a:xfrm>
          <a:custGeom>
            <a:avLst/>
            <a:gdLst>
              <a:gd name="T0" fmla="*/ 0 w 343"/>
              <a:gd name="T1" fmla="*/ 161 h 162"/>
              <a:gd name="T2" fmla="*/ 0 w 343"/>
              <a:gd name="T3" fmla="*/ 0 h 162"/>
              <a:gd name="T4" fmla="*/ 342 w 343"/>
              <a:gd name="T5" fmla="*/ 0 h 162"/>
              <a:gd name="T6" fmla="*/ 342 w 343"/>
              <a:gd name="T7" fmla="*/ 161 h 162"/>
              <a:gd name="T8" fmla="*/ 0 w 343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3" h="162">
                <a:moveTo>
                  <a:pt x="0" y="161"/>
                </a:moveTo>
                <a:lnTo>
                  <a:pt x="0" y="0"/>
                </a:lnTo>
                <a:lnTo>
                  <a:pt x="342" y="0"/>
                </a:lnTo>
                <a:lnTo>
                  <a:pt x="342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4" name="Freeform 146"/>
          <p:cNvSpPr>
            <a:spLocks/>
          </p:cNvSpPr>
          <p:nvPr/>
        </p:nvSpPr>
        <p:spPr bwMode="auto">
          <a:xfrm>
            <a:off x="3271838" y="5648325"/>
            <a:ext cx="1587" cy="257175"/>
          </a:xfrm>
          <a:custGeom>
            <a:avLst/>
            <a:gdLst>
              <a:gd name="T0" fmla="*/ 0 w 1"/>
              <a:gd name="T1" fmla="*/ 0 h 162"/>
              <a:gd name="T2" fmla="*/ 0 w 1"/>
              <a:gd name="T3" fmla="*/ 161 h 162"/>
              <a:gd name="T4" fmla="*/ 0 w 1"/>
              <a:gd name="T5" fmla="*/ 0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62">
                <a:moveTo>
                  <a:pt x="0" y="0"/>
                </a:moveTo>
                <a:lnTo>
                  <a:pt x="0" y="16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" name="Freeform 147"/>
          <p:cNvSpPr>
            <a:spLocks/>
          </p:cNvSpPr>
          <p:nvPr/>
        </p:nvSpPr>
        <p:spPr bwMode="auto">
          <a:xfrm>
            <a:off x="3638550" y="5648325"/>
            <a:ext cx="541338" cy="257175"/>
          </a:xfrm>
          <a:custGeom>
            <a:avLst/>
            <a:gdLst>
              <a:gd name="T0" fmla="*/ 0 w 341"/>
              <a:gd name="T1" fmla="*/ 161 h 162"/>
              <a:gd name="T2" fmla="*/ 0 w 341"/>
              <a:gd name="T3" fmla="*/ 0 h 162"/>
              <a:gd name="T4" fmla="*/ 340 w 341"/>
              <a:gd name="T5" fmla="*/ 0 h 162"/>
              <a:gd name="T6" fmla="*/ 340 w 341"/>
              <a:gd name="T7" fmla="*/ 161 h 162"/>
              <a:gd name="T8" fmla="*/ 0 w 34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1" h="162">
                <a:moveTo>
                  <a:pt x="0" y="161"/>
                </a:moveTo>
                <a:lnTo>
                  <a:pt x="0" y="0"/>
                </a:lnTo>
                <a:lnTo>
                  <a:pt x="340" y="0"/>
                </a:lnTo>
                <a:lnTo>
                  <a:pt x="34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" name="Freeform 148"/>
          <p:cNvSpPr>
            <a:spLocks/>
          </p:cNvSpPr>
          <p:nvPr/>
        </p:nvSpPr>
        <p:spPr bwMode="auto">
          <a:xfrm>
            <a:off x="3908425" y="5648325"/>
            <a:ext cx="1588" cy="257175"/>
          </a:xfrm>
          <a:custGeom>
            <a:avLst/>
            <a:gdLst>
              <a:gd name="T0" fmla="*/ 0 w 1"/>
              <a:gd name="T1" fmla="*/ 0 h 162"/>
              <a:gd name="T2" fmla="*/ 0 w 1"/>
              <a:gd name="T3" fmla="*/ 161 h 162"/>
              <a:gd name="T4" fmla="*/ 0 w 1"/>
              <a:gd name="T5" fmla="*/ 0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62">
                <a:moveTo>
                  <a:pt x="0" y="0"/>
                </a:moveTo>
                <a:lnTo>
                  <a:pt x="0" y="16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7" name="Freeform 149"/>
          <p:cNvSpPr>
            <a:spLocks/>
          </p:cNvSpPr>
          <p:nvPr/>
        </p:nvSpPr>
        <p:spPr bwMode="auto">
          <a:xfrm>
            <a:off x="4287838" y="5648325"/>
            <a:ext cx="541337" cy="257175"/>
          </a:xfrm>
          <a:custGeom>
            <a:avLst/>
            <a:gdLst>
              <a:gd name="T0" fmla="*/ 0 w 341"/>
              <a:gd name="T1" fmla="*/ 161 h 162"/>
              <a:gd name="T2" fmla="*/ 0 w 341"/>
              <a:gd name="T3" fmla="*/ 0 h 162"/>
              <a:gd name="T4" fmla="*/ 340 w 341"/>
              <a:gd name="T5" fmla="*/ 0 h 162"/>
              <a:gd name="T6" fmla="*/ 340 w 341"/>
              <a:gd name="T7" fmla="*/ 161 h 162"/>
              <a:gd name="T8" fmla="*/ 0 w 34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1" h="162">
                <a:moveTo>
                  <a:pt x="0" y="161"/>
                </a:moveTo>
                <a:lnTo>
                  <a:pt x="0" y="0"/>
                </a:lnTo>
                <a:lnTo>
                  <a:pt x="340" y="0"/>
                </a:lnTo>
                <a:lnTo>
                  <a:pt x="34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8" name="Freeform 150"/>
          <p:cNvSpPr>
            <a:spLocks/>
          </p:cNvSpPr>
          <p:nvPr/>
        </p:nvSpPr>
        <p:spPr bwMode="auto">
          <a:xfrm>
            <a:off x="4557713" y="5648325"/>
            <a:ext cx="1587" cy="257175"/>
          </a:xfrm>
          <a:custGeom>
            <a:avLst/>
            <a:gdLst>
              <a:gd name="T0" fmla="*/ 0 w 1"/>
              <a:gd name="T1" fmla="*/ 0 h 162"/>
              <a:gd name="T2" fmla="*/ 0 w 1"/>
              <a:gd name="T3" fmla="*/ 161 h 162"/>
              <a:gd name="T4" fmla="*/ 0 w 1"/>
              <a:gd name="T5" fmla="*/ 0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62">
                <a:moveTo>
                  <a:pt x="0" y="0"/>
                </a:moveTo>
                <a:lnTo>
                  <a:pt x="0" y="16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9" name="Freeform 151"/>
          <p:cNvSpPr>
            <a:spLocks/>
          </p:cNvSpPr>
          <p:nvPr/>
        </p:nvSpPr>
        <p:spPr bwMode="auto">
          <a:xfrm>
            <a:off x="4935538" y="5648325"/>
            <a:ext cx="541337" cy="257175"/>
          </a:xfrm>
          <a:custGeom>
            <a:avLst/>
            <a:gdLst>
              <a:gd name="T0" fmla="*/ 0 w 341"/>
              <a:gd name="T1" fmla="*/ 161 h 162"/>
              <a:gd name="T2" fmla="*/ 0 w 341"/>
              <a:gd name="T3" fmla="*/ 0 h 162"/>
              <a:gd name="T4" fmla="*/ 340 w 341"/>
              <a:gd name="T5" fmla="*/ 0 h 162"/>
              <a:gd name="T6" fmla="*/ 340 w 341"/>
              <a:gd name="T7" fmla="*/ 161 h 162"/>
              <a:gd name="T8" fmla="*/ 0 w 34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1" h="162">
                <a:moveTo>
                  <a:pt x="0" y="161"/>
                </a:moveTo>
                <a:lnTo>
                  <a:pt x="0" y="0"/>
                </a:lnTo>
                <a:lnTo>
                  <a:pt x="340" y="0"/>
                </a:lnTo>
                <a:lnTo>
                  <a:pt x="34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0" name="Freeform 152"/>
          <p:cNvSpPr>
            <a:spLocks/>
          </p:cNvSpPr>
          <p:nvPr/>
        </p:nvSpPr>
        <p:spPr bwMode="auto">
          <a:xfrm>
            <a:off x="5205413" y="5648325"/>
            <a:ext cx="1587" cy="257175"/>
          </a:xfrm>
          <a:custGeom>
            <a:avLst/>
            <a:gdLst>
              <a:gd name="T0" fmla="*/ 0 w 1"/>
              <a:gd name="T1" fmla="*/ 0 h 162"/>
              <a:gd name="T2" fmla="*/ 0 w 1"/>
              <a:gd name="T3" fmla="*/ 161 h 162"/>
              <a:gd name="T4" fmla="*/ 0 w 1"/>
              <a:gd name="T5" fmla="*/ 0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62">
                <a:moveTo>
                  <a:pt x="0" y="0"/>
                </a:moveTo>
                <a:lnTo>
                  <a:pt x="0" y="16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1" name="Freeform 153"/>
          <p:cNvSpPr>
            <a:spLocks/>
          </p:cNvSpPr>
          <p:nvPr/>
        </p:nvSpPr>
        <p:spPr bwMode="auto">
          <a:xfrm>
            <a:off x="5586413" y="5648325"/>
            <a:ext cx="541337" cy="257175"/>
          </a:xfrm>
          <a:custGeom>
            <a:avLst/>
            <a:gdLst>
              <a:gd name="T0" fmla="*/ 0 w 341"/>
              <a:gd name="T1" fmla="*/ 161 h 162"/>
              <a:gd name="T2" fmla="*/ 0 w 341"/>
              <a:gd name="T3" fmla="*/ 0 h 162"/>
              <a:gd name="T4" fmla="*/ 340 w 341"/>
              <a:gd name="T5" fmla="*/ 0 h 162"/>
              <a:gd name="T6" fmla="*/ 340 w 341"/>
              <a:gd name="T7" fmla="*/ 161 h 162"/>
              <a:gd name="T8" fmla="*/ 0 w 34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1" h="162">
                <a:moveTo>
                  <a:pt x="0" y="161"/>
                </a:moveTo>
                <a:lnTo>
                  <a:pt x="0" y="0"/>
                </a:lnTo>
                <a:lnTo>
                  <a:pt x="340" y="0"/>
                </a:lnTo>
                <a:lnTo>
                  <a:pt x="34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2" name="Freeform 154"/>
          <p:cNvSpPr>
            <a:spLocks/>
          </p:cNvSpPr>
          <p:nvPr/>
        </p:nvSpPr>
        <p:spPr bwMode="auto">
          <a:xfrm>
            <a:off x="5854700" y="5648325"/>
            <a:ext cx="1588" cy="257175"/>
          </a:xfrm>
          <a:custGeom>
            <a:avLst/>
            <a:gdLst>
              <a:gd name="T0" fmla="*/ 0 w 1"/>
              <a:gd name="T1" fmla="*/ 0 h 162"/>
              <a:gd name="T2" fmla="*/ 0 w 1"/>
              <a:gd name="T3" fmla="*/ 161 h 162"/>
              <a:gd name="T4" fmla="*/ 0 w 1"/>
              <a:gd name="T5" fmla="*/ 0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62">
                <a:moveTo>
                  <a:pt x="0" y="0"/>
                </a:moveTo>
                <a:lnTo>
                  <a:pt x="0" y="16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3" name="Freeform 155"/>
          <p:cNvSpPr>
            <a:spLocks/>
          </p:cNvSpPr>
          <p:nvPr/>
        </p:nvSpPr>
        <p:spPr bwMode="auto">
          <a:xfrm>
            <a:off x="6223000" y="5648325"/>
            <a:ext cx="542925" cy="257175"/>
          </a:xfrm>
          <a:custGeom>
            <a:avLst/>
            <a:gdLst>
              <a:gd name="T0" fmla="*/ 0 w 342"/>
              <a:gd name="T1" fmla="*/ 161 h 162"/>
              <a:gd name="T2" fmla="*/ 0 w 342"/>
              <a:gd name="T3" fmla="*/ 0 h 162"/>
              <a:gd name="T4" fmla="*/ 341 w 342"/>
              <a:gd name="T5" fmla="*/ 0 h 162"/>
              <a:gd name="T6" fmla="*/ 341 w 342"/>
              <a:gd name="T7" fmla="*/ 161 h 162"/>
              <a:gd name="T8" fmla="*/ 0 w 342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2" h="162">
                <a:moveTo>
                  <a:pt x="0" y="161"/>
                </a:moveTo>
                <a:lnTo>
                  <a:pt x="0" y="0"/>
                </a:lnTo>
                <a:lnTo>
                  <a:pt x="341" y="0"/>
                </a:lnTo>
                <a:lnTo>
                  <a:pt x="341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4" name="Freeform 156"/>
          <p:cNvSpPr>
            <a:spLocks/>
          </p:cNvSpPr>
          <p:nvPr/>
        </p:nvSpPr>
        <p:spPr bwMode="auto">
          <a:xfrm>
            <a:off x="6491288" y="5648325"/>
            <a:ext cx="1587" cy="257175"/>
          </a:xfrm>
          <a:custGeom>
            <a:avLst/>
            <a:gdLst>
              <a:gd name="T0" fmla="*/ 0 w 1"/>
              <a:gd name="T1" fmla="*/ 0 h 162"/>
              <a:gd name="T2" fmla="*/ 0 w 1"/>
              <a:gd name="T3" fmla="*/ 161 h 162"/>
              <a:gd name="T4" fmla="*/ 0 w 1"/>
              <a:gd name="T5" fmla="*/ 0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62">
                <a:moveTo>
                  <a:pt x="0" y="0"/>
                </a:moveTo>
                <a:lnTo>
                  <a:pt x="0" y="16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" name="Freeform 157"/>
          <p:cNvSpPr>
            <a:spLocks/>
          </p:cNvSpPr>
          <p:nvPr/>
        </p:nvSpPr>
        <p:spPr bwMode="auto">
          <a:xfrm>
            <a:off x="6850063" y="5648325"/>
            <a:ext cx="541337" cy="257175"/>
          </a:xfrm>
          <a:custGeom>
            <a:avLst/>
            <a:gdLst>
              <a:gd name="T0" fmla="*/ 0 w 341"/>
              <a:gd name="T1" fmla="*/ 161 h 162"/>
              <a:gd name="T2" fmla="*/ 0 w 341"/>
              <a:gd name="T3" fmla="*/ 0 h 162"/>
              <a:gd name="T4" fmla="*/ 340 w 341"/>
              <a:gd name="T5" fmla="*/ 0 h 162"/>
              <a:gd name="T6" fmla="*/ 340 w 341"/>
              <a:gd name="T7" fmla="*/ 161 h 162"/>
              <a:gd name="T8" fmla="*/ 0 w 341"/>
              <a:gd name="T9" fmla="*/ 161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1" h="162">
                <a:moveTo>
                  <a:pt x="0" y="161"/>
                </a:moveTo>
                <a:lnTo>
                  <a:pt x="0" y="0"/>
                </a:lnTo>
                <a:lnTo>
                  <a:pt x="340" y="0"/>
                </a:lnTo>
                <a:lnTo>
                  <a:pt x="340" y="161"/>
                </a:lnTo>
                <a:lnTo>
                  <a:pt x="0" y="16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6" name="Freeform 158"/>
          <p:cNvSpPr>
            <a:spLocks/>
          </p:cNvSpPr>
          <p:nvPr/>
        </p:nvSpPr>
        <p:spPr bwMode="auto">
          <a:xfrm>
            <a:off x="7119938" y="5648325"/>
            <a:ext cx="1587" cy="257175"/>
          </a:xfrm>
          <a:custGeom>
            <a:avLst/>
            <a:gdLst>
              <a:gd name="T0" fmla="*/ 0 w 1"/>
              <a:gd name="T1" fmla="*/ 0 h 162"/>
              <a:gd name="T2" fmla="*/ 0 w 1"/>
              <a:gd name="T3" fmla="*/ 161 h 162"/>
              <a:gd name="T4" fmla="*/ 0 w 1"/>
              <a:gd name="T5" fmla="*/ 0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62">
                <a:moveTo>
                  <a:pt x="0" y="0"/>
                </a:moveTo>
                <a:lnTo>
                  <a:pt x="0" y="16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7" name="Freeform 159"/>
          <p:cNvSpPr>
            <a:spLocks/>
          </p:cNvSpPr>
          <p:nvPr/>
        </p:nvSpPr>
        <p:spPr bwMode="auto">
          <a:xfrm>
            <a:off x="2286000" y="4779963"/>
            <a:ext cx="855663" cy="296862"/>
          </a:xfrm>
          <a:custGeom>
            <a:avLst/>
            <a:gdLst>
              <a:gd name="T0" fmla="*/ 0 w 539"/>
              <a:gd name="T1" fmla="*/ 186 h 187"/>
              <a:gd name="T2" fmla="*/ 0 w 539"/>
              <a:gd name="T3" fmla="*/ 0 h 187"/>
              <a:gd name="T4" fmla="*/ 538 w 539"/>
              <a:gd name="T5" fmla="*/ 0 h 187"/>
              <a:gd name="T6" fmla="*/ 538 w 539"/>
              <a:gd name="T7" fmla="*/ 186 h 187"/>
              <a:gd name="T8" fmla="*/ 0 w 539"/>
              <a:gd name="T9" fmla="*/ 186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9" h="187">
                <a:moveTo>
                  <a:pt x="0" y="186"/>
                </a:moveTo>
                <a:lnTo>
                  <a:pt x="0" y="0"/>
                </a:lnTo>
                <a:lnTo>
                  <a:pt x="538" y="0"/>
                </a:lnTo>
                <a:lnTo>
                  <a:pt x="538" y="186"/>
                </a:lnTo>
                <a:lnTo>
                  <a:pt x="0" y="18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8" name="Freeform 160"/>
          <p:cNvSpPr>
            <a:spLocks/>
          </p:cNvSpPr>
          <p:nvPr/>
        </p:nvSpPr>
        <p:spPr bwMode="auto">
          <a:xfrm>
            <a:off x="2674938" y="4779963"/>
            <a:ext cx="1587" cy="285750"/>
          </a:xfrm>
          <a:custGeom>
            <a:avLst/>
            <a:gdLst>
              <a:gd name="T0" fmla="*/ 0 w 1"/>
              <a:gd name="T1" fmla="*/ 0 h 180"/>
              <a:gd name="T2" fmla="*/ 0 w 1"/>
              <a:gd name="T3" fmla="*/ 179 h 180"/>
              <a:gd name="T4" fmla="*/ 0 w 1"/>
              <a:gd name="T5" fmla="*/ 0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0">
                <a:moveTo>
                  <a:pt x="0" y="0"/>
                </a:moveTo>
                <a:lnTo>
                  <a:pt x="0" y="179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9" name="Freeform 161"/>
          <p:cNvSpPr>
            <a:spLocks/>
          </p:cNvSpPr>
          <p:nvPr/>
        </p:nvSpPr>
        <p:spPr bwMode="auto">
          <a:xfrm>
            <a:off x="3054350" y="4789488"/>
            <a:ext cx="1588" cy="287337"/>
          </a:xfrm>
          <a:custGeom>
            <a:avLst/>
            <a:gdLst>
              <a:gd name="T0" fmla="*/ 0 w 1"/>
              <a:gd name="T1" fmla="*/ 0 h 181"/>
              <a:gd name="T2" fmla="*/ 0 w 1"/>
              <a:gd name="T3" fmla="*/ 180 h 181"/>
              <a:gd name="T4" fmla="*/ 0 w 1"/>
              <a:gd name="T5" fmla="*/ 0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1">
                <a:moveTo>
                  <a:pt x="0" y="0"/>
                </a:moveTo>
                <a:lnTo>
                  <a:pt x="0" y="18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0" name="Freeform 162"/>
          <p:cNvSpPr>
            <a:spLocks/>
          </p:cNvSpPr>
          <p:nvPr/>
        </p:nvSpPr>
        <p:spPr bwMode="auto">
          <a:xfrm>
            <a:off x="2373313" y="4770438"/>
            <a:ext cx="1587" cy="295275"/>
          </a:xfrm>
          <a:custGeom>
            <a:avLst/>
            <a:gdLst>
              <a:gd name="T0" fmla="*/ 0 w 1"/>
              <a:gd name="T1" fmla="*/ 0 h 186"/>
              <a:gd name="T2" fmla="*/ 0 w 1"/>
              <a:gd name="T3" fmla="*/ 185 h 186"/>
              <a:gd name="T4" fmla="*/ 0 w 1"/>
              <a:gd name="T5" fmla="*/ 0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6">
                <a:moveTo>
                  <a:pt x="0" y="0"/>
                </a:moveTo>
                <a:lnTo>
                  <a:pt x="0" y="18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1" name="Freeform 163"/>
          <p:cNvSpPr>
            <a:spLocks/>
          </p:cNvSpPr>
          <p:nvPr/>
        </p:nvSpPr>
        <p:spPr bwMode="auto">
          <a:xfrm>
            <a:off x="2762250" y="4779963"/>
            <a:ext cx="1588" cy="285750"/>
          </a:xfrm>
          <a:custGeom>
            <a:avLst/>
            <a:gdLst>
              <a:gd name="T0" fmla="*/ 0 w 1"/>
              <a:gd name="T1" fmla="*/ 0 h 180"/>
              <a:gd name="T2" fmla="*/ 0 w 1"/>
              <a:gd name="T3" fmla="*/ 179 h 180"/>
              <a:gd name="T4" fmla="*/ 0 w 1"/>
              <a:gd name="T5" fmla="*/ 0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0">
                <a:moveTo>
                  <a:pt x="0" y="0"/>
                </a:moveTo>
                <a:lnTo>
                  <a:pt x="0" y="179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2" name="Freeform 164"/>
          <p:cNvSpPr>
            <a:spLocks/>
          </p:cNvSpPr>
          <p:nvPr/>
        </p:nvSpPr>
        <p:spPr bwMode="auto">
          <a:xfrm>
            <a:off x="1982788" y="5024438"/>
            <a:ext cx="338137" cy="573087"/>
          </a:xfrm>
          <a:custGeom>
            <a:avLst/>
            <a:gdLst>
              <a:gd name="T0" fmla="*/ 212 w 213"/>
              <a:gd name="T1" fmla="*/ 0 h 361"/>
              <a:gd name="T2" fmla="*/ 0 w 213"/>
              <a:gd name="T3" fmla="*/ 360 h 361"/>
              <a:gd name="T4" fmla="*/ 212 w 213"/>
              <a:gd name="T5" fmla="*/ 0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3" h="361">
                <a:moveTo>
                  <a:pt x="212" y="0"/>
                </a:moveTo>
                <a:lnTo>
                  <a:pt x="0" y="360"/>
                </a:lnTo>
                <a:lnTo>
                  <a:pt x="212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3" name="Freeform 165"/>
          <p:cNvSpPr>
            <a:spLocks/>
          </p:cNvSpPr>
          <p:nvPr/>
        </p:nvSpPr>
        <p:spPr bwMode="auto">
          <a:xfrm>
            <a:off x="1982788" y="5495925"/>
            <a:ext cx="77787" cy="101600"/>
          </a:xfrm>
          <a:custGeom>
            <a:avLst/>
            <a:gdLst>
              <a:gd name="T0" fmla="*/ 48 w 49"/>
              <a:gd name="T1" fmla="*/ 16 h 64"/>
              <a:gd name="T2" fmla="*/ 0 w 49"/>
              <a:gd name="T3" fmla="*/ 63 h 64"/>
              <a:gd name="T4" fmla="*/ 18 w 49"/>
              <a:gd name="T5" fmla="*/ 0 h 64"/>
              <a:gd name="T6" fmla="*/ 48 w 49"/>
              <a:gd name="T7" fmla="*/ 16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9" h="64">
                <a:moveTo>
                  <a:pt x="48" y="16"/>
                </a:moveTo>
                <a:lnTo>
                  <a:pt x="0" y="63"/>
                </a:lnTo>
                <a:lnTo>
                  <a:pt x="18" y="0"/>
                </a:lnTo>
                <a:lnTo>
                  <a:pt x="48" y="1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4" name="Freeform 166"/>
          <p:cNvSpPr>
            <a:spLocks/>
          </p:cNvSpPr>
          <p:nvPr/>
        </p:nvSpPr>
        <p:spPr bwMode="auto">
          <a:xfrm>
            <a:off x="2632075" y="5033963"/>
            <a:ext cx="77788" cy="584200"/>
          </a:xfrm>
          <a:custGeom>
            <a:avLst/>
            <a:gdLst>
              <a:gd name="T0" fmla="*/ 48 w 49"/>
              <a:gd name="T1" fmla="*/ 0 h 368"/>
              <a:gd name="T2" fmla="*/ 0 w 49"/>
              <a:gd name="T3" fmla="*/ 367 h 368"/>
              <a:gd name="T4" fmla="*/ 48 w 49"/>
              <a:gd name="T5" fmla="*/ 0 h 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9" h="368">
                <a:moveTo>
                  <a:pt x="48" y="0"/>
                </a:moveTo>
                <a:lnTo>
                  <a:pt x="0" y="367"/>
                </a:lnTo>
                <a:lnTo>
                  <a:pt x="48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" name="Freeform 167"/>
          <p:cNvSpPr>
            <a:spLocks/>
          </p:cNvSpPr>
          <p:nvPr/>
        </p:nvSpPr>
        <p:spPr bwMode="auto">
          <a:xfrm>
            <a:off x="2617788" y="5511800"/>
            <a:ext cx="55562" cy="106363"/>
          </a:xfrm>
          <a:custGeom>
            <a:avLst/>
            <a:gdLst>
              <a:gd name="T0" fmla="*/ 34 w 35"/>
              <a:gd name="T1" fmla="*/ 4 h 67"/>
              <a:gd name="T2" fmla="*/ 10 w 35"/>
              <a:gd name="T3" fmla="*/ 66 h 67"/>
              <a:gd name="T4" fmla="*/ 0 w 35"/>
              <a:gd name="T5" fmla="*/ 0 h 67"/>
              <a:gd name="T6" fmla="*/ 34 w 35"/>
              <a:gd name="T7" fmla="*/ 4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" h="67">
                <a:moveTo>
                  <a:pt x="34" y="4"/>
                </a:moveTo>
                <a:lnTo>
                  <a:pt x="10" y="66"/>
                </a:lnTo>
                <a:lnTo>
                  <a:pt x="0" y="0"/>
                </a:lnTo>
                <a:lnTo>
                  <a:pt x="34" y="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" name="Freeform 168"/>
          <p:cNvSpPr>
            <a:spLocks/>
          </p:cNvSpPr>
          <p:nvPr/>
        </p:nvSpPr>
        <p:spPr bwMode="auto">
          <a:xfrm>
            <a:off x="3279775" y="5033963"/>
            <a:ext cx="219075" cy="573087"/>
          </a:xfrm>
          <a:custGeom>
            <a:avLst/>
            <a:gdLst>
              <a:gd name="T0" fmla="*/ 137 w 138"/>
              <a:gd name="T1" fmla="*/ 0 h 361"/>
              <a:gd name="T2" fmla="*/ 0 w 138"/>
              <a:gd name="T3" fmla="*/ 360 h 361"/>
              <a:gd name="T4" fmla="*/ 137 w 138"/>
              <a:gd name="T5" fmla="*/ 0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8" h="361">
                <a:moveTo>
                  <a:pt x="137" y="0"/>
                </a:moveTo>
                <a:lnTo>
                  <a:pt x="0" y="360"/>
                </a:lnTo>
                <a:lnTo>
                  <a:pt x="137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7" name="Freeform 169"/>
          <p:cNvSpPr>
            <a:spLocks/>
          </p:cNvSpPr>
          <p:nvPr/>
        </p:nvSpPr>
        <p:spPr bwMode="auto">
          <a:xfrm>
            <a:off x="3279775" y="5502275"/>
            <a:ext cx="63500" cy="104775"/>
          </a:xfrm>
          <a:custGeom>
            <a:avLst/>
            <a:gdLst>
              <a:gd name="T0" fmla="*/ 39 w 40"/>
              <a:gd name="T1" fmla="*/ 11 h 66"/>
              <a:gd name="T2" fmla="*/ 0 w 40"/>
              <a:gd name="T3" fmla="*/ 65 h 66"/>
              <a:gd name="T4" fmla="*/ 8 w 40"/>
              <a:gd name="T5" fmla="*/ 0 h 66"/>
              <a:gd name="T6" fmla="*/ 39 w 40"/>
              <a:gd name="T7" fmla="*/ 11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0" h="66">
                <a:moveTo>
                  <a:pt x="39" y="11"/>
                </a:moveTo>
                <a:lnTo>
                  <a:pt x="0" y="65"/>
                </a:lnTo>
                <a:lnTo>
                  <a:pt x="8" y="0"/>
                </a:lnTo>
                <a:lnTo>
                  <a:pt x="39" y="1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8" name="Freeform 170"/>
          <p:cNvSpPr>
            <a:spLocks/>
          </p:cNvSpPr>
          <p:nvPr/>
        </p:nvSpPr>
        <p:spPr bwMode="auto">
          <a:xfrm>
            <a:off x="3886200" y="5033963"/>
            <a:ext cx="1588" cy="573087"/>
          </a:xfrm>
          <a:custGeom>
            <a:avLst/>
            <a:gdLst>
              <a:gd name="T0" fmla="*/ 0 w 1"/>
              <a:gd name="T1" fmla="*/ 0 h 361"/>
              <a:gd name="T2" fmla="*/ 0 w 1"/>
              <a:gd name="T3" fmla="*/ 360 h 361"/>
              <a:gd name="T4" fmla="*/ 0 w 1"/>
              <a:gd name="T5" fmla="*/ 0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61">
                <a:moveTo>
                  <a:pt x="0" y="0"/>
                </a:moveTo>
                <a:lnTo>
                  <a:pt x="0" y="36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9" name="Freeform 171"/>
          <p:cNvSpPr>
            <a:spLocks/>
          </p:cNvSpPr>
          <p:nvPr/>
        </p:nvSpPr>
        <p:spPr bwMode="auto">
          <a:xfrm>
            <a:off x="3859213" y="5505450"/>
            <a:ext cx="57150" cy="101600"/>
          </a:xfrm>
          <a:custGeom>
            <a:avLst/>
            <a:gdLst>
              <a:gd name="T0" fmla="*/ 35 w 36"/>
              <a:gd name="T1" fmla="*/ 0 h 64"/>
              <a:gd name="T2" fmla="*/ 17 w 36"/>
              <a:gd name="T3" fmla="*/ 63 h 64"/>
              <a:gd name="T4" fmla="*/ 0 w 36"/>
              <a:gd name="T5" fmla="*/ 0 h 64"/>
              <a:gd name="T6" fmla="*/ 35 w 36"/>
              <a:gd name="T7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" h="64">
                <a:moveTo>
                  <a:pt x="35" y="0"/>
                </a:moveTo>
                <a:lnTo>
                  <a:pt x="17" y="63"/>
                </a:lnTo>
                <a:lnTo>
                  <a:pt x="0" y="0"/>
                </a:lnTo>
                <a:lnTo>
                  <a:pt x="35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0" name="Freeform 172"/>
          <p:cNvSpPr>
            <a:spLocks/>
          </p:cNvSpPr>
          <p:nvPr/>
        </p:nvSpPr>
        <p:spPr bwMode="auto">
          <a:xfrm>
            <a:off x="3292475" y="4043363"/>
            <a:ext cx="854075" cy="298450"/>
          </a:xfrm>
          <a:custGeom>
            <a:avLst/>
            <a:gdLst>
              <a:gd name="T0" fmla="*/ 0 w 538"/>
              <a:gd name="T1" fmla="*/ 187 h 188"/>
              <a:gd name="T2" fmla="*/ 0 w 538"/>
              <a:gd name="T3" fmla="*/ 0 h 188"/>
              <a:gd name="T4" fmla="*/ 537 w 538"/>
              <a:gd name="T5" fmla="*/ 0 h 188"/>
              <a:gd name="T6" fmla="*/ 537 w 538"/>
              <a:gd name="T7" fmla="*/ 187 h 188"/>
              <a:gd name="T8" fmla="*/ 0 w 538"/>
              <a:gd name="T9" fmla="*/ 187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8" h="188">
                <a:moveTo>
                  <a:pt x="0" y="187"/>
                </a:moveTo>
                <a:lnTo>
                  <a:pt x="0" y="0"/>
                </a:lnTo>
                <a:lnTo>
                  <a:pt x="537" y="0"/>
                </a:lnTo>
                <a:lnTo>
                  <a:pt x="537" y="187"/>
                </a:lnTo>
                <a:lnTo>
                  <a:pt x="0" y="18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1" name="Freeform 173"/>
          <p:cNvSpPr>
            <a:spLocks/>
          </p:cNvSpPr>
          <p:nvPr/>
        </p:nvSpPr>
        <p:spPr bwMode="auto">
          <a:xfrm>
            <a:off x="3679825" y="4043363"/>
            <a:ext cx="1588" cy="288925"/>
          </a:xfrm>
          <a:custGeom>
            <a:avLst/>
            <a:gdLst>
              <a:gd name="T0" fmla="*/ 0 w 1"/>
              <a:gd name="T1" fmla="*/ 0 h 182"/>
              <a:gd name="T2" fmla="*/ 0 w 1"/>
              <a:gd name="T3" fmla="*/ 181 h 182"/>
              <a:gd name="T4" fmla="*/ 0 w 1"/>
              <a:gd name="T5" fmla="*/ 0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2">
                <a:moveTo>
                  <a:pt x="0" y="0"/>
                </a:moveTo>
                <a:lnTo>
                  <a:pt x="0" y="18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2" name="Freeform 174"/>
          <p:cNvSpPr>
            <a:spLocks/>
          </p:cNvSpPr>
          <p:nvPr/>
        </p:nvSpPr>
        <p:spPr bwMode="auto">
          <a:xfrm>
            <a:off x="4060825" y="4052888"/>
            <a:ext cx="1588" cy="288925"/>
          </a:xfrm>
          <a:custGeom>
            <a:avLst/>
            <a:gdLst>
              <a:gd name="T0" fmla="*/ 0 w 1"/>
              <a:gd name="T1" fmla="*/ 0 h 182"/>
              <a:gd name="T2" fmla="*/ 0 w 1"/>
              <a:gd name="T3" fmla="*/ 181 h 182"/>
              <a:gd name="T4" fmla="*/ 0 w 1"/>
              <a:gd name="T5" fmla="*/ 0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2">
                <a:moveTo>
                  <a:pt x="0" y="0"/>
                </a:moveTo>
                <a:lnTo>
                  <a:pt x="0" y="18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3" name="Freeform 175"/>
          <p:cNvSpPr>
            <a:spLocks/>
          </p:cNvSpPr>
          <p:nvPr/>
        </p:nvSpPr>
        <p:spPr bwMode="auto">
          <a:xfrm>
            <a:off x="3378200" y="4032250"/>
            <a:ext cx="1588" cy="300038"/>
          </a:xfrm>
          <a:custGeom>
            <a:avLst/>
            <a:gdLst>
              <a:gd name="T0" fmla="*/ 0 w 1"/>
              <a:gd name="T1" fmla="*/ 0 h 189"/>
              <a:gd name="T2" fmla="*/ 0 w 1"/>
              <a:gd name="T3" fmla="*/ 188 h 189"/>
              <a:gd name="T4" fmla="*/ 0 w 1"/>
              <a:gd name="T5" fmla="*/ 0 h 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9">
                <a:moveTo>
                  <a:pt x="0" y="0"/>
                </a:moveTo>
                <a:lnTo>
                  <a:pt x="0" y="18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4" name="Freeform 176"/>
          <p:cNvSpPr>
            <a:spLocks/>
          </p:cNvSpPr>
          <p:nvPr/>
        </p:nvSpPr>
        <p:spPr bwMode="auto">
          <a:xfrm>
            <a:off x="3767138" y="4043363"/>
            <a:ext cx="1587" cy="288925"/>
          </a:xfrm>
          <a:custGeom>
            <a:avLst/>
            <a:gdLst>
              <a:gd name="T0" fmla="*/ 0 w 1"/>
              <a:gd name="T1" fmla="*/ 0 h 182"/>
              <a:gd name="T2" fmla="*/ 0 w 1"/>
              <a:gd name="T3" fmla="*/ 181 h 182"/>
              <a:gd name="T4" fmla="*/ 0 w 1"/>
              <a:gd name="T5" fmla="*/ 0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2">
                <a:moveTo>
                  <a:pt x="0" y="0"/>
                </a:moveTo>
                <a:lnTo>
                  <a:pt x="0" y="18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" name="Freeform 177"/>
          <p:cNvSpPr>
            <a:spLocks/>
          </p:cNvSpPr>
          <p:nvPr/>
        </p:nvSpPr>
        <p:spPr bwMode="auto">
          <a:xfrm>
            <a:off x="3455988" y="4789488"/>
            <a:ext cx="854075" cy="298450"/>
          </a:xfrm>
          <a:custGeom>
            <a:avLst/>
            <a:gdLst>
              <a:gd name="T0" fmla="*/ 0 w 538"/>
              <a:gd name="T1" fmla="*/ 187 h 188"/>
              <a:gd name="T2" fmla="*/ 0 w 538"/>
              <a:gd name="T3" fmla="*/ 0 h 188"/>
              <a:gd name="T4" fmla="*/ 537 w 538"/>
              <a:gd name="T5" fmla="*/ 0 h 188"/>
              <a:gd name="T6" fmla="*/ 537 w 538"/>
              <a:gd name="T7" fmla="*/ 187 h 188"/>
              <a:gd name="T8" fmla="*/ 0 w 538"/>
              <a:gd name="T9" fmla="*/ 187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8" h="188">
                <a:moveTo>
                  <a:pt x="0" y="187"/>
                </a:moveTo>
                <a:lnTo>
                  <a:pt x="0" y="0"/>
                </a:lnTo>
                <a:lnTo>
                  <a:pt x="537" y="0"/>
                </a:lnTo>
                <a:lnTo>
                  <a:pt x="537" y="187"/>
                </a:lnTo>
                <a:lnTo>
                  <a:pt x="0" y="18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" name="Freeform 178"/>
          <p:cNvSpPr>
            <a:spLocks/>
          </p:cNvSpPr>
          <p:nvPr/>
        </p:nvSpPr>
        <p:spPr bwMode="auto">
          <a:xfrm>
            <a:off x="3843338" y="4789488"/>
            <a:ext cx="1587" cy="287337"/>
          </a:xfrm>
          <a:custGeom>
            <a:avLst/>
            <a:gdLst>
              <a:gd name="T0" fmla="*/ 0 w 1"/>
              <a:gd name="T1" fmla="*/ 0 h 181"/>
              <a:gd name="T2" fmla="*/ 0 w 1"/>
              <a:gd name="T3" fmla="*/ 180 h 181"/>
              <a:gd name="T4" fmla="*/ 0 w 1"/>
              <a:gd name="T5" fmla="*/ 0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1">
                <a:moveTo>
                  <a:pt x="0" y="0"/>
                </a:moveTo>
                <a:lnTo>
                  <a:pt x="0" y="18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" name="Freeform 179"/>
          <p:cNvSpPr>
            <a:spLocks/>
          </p:cNvSpPr>
          <p:nvPr/>
        </p:nvSpPr>
        <p:spPr bwMode="auto">
          <a:xfrm>
            <a:off x="4221163" y="4800600"/>
            <a:ext cx="1587" cy="287338"/>
          </a:xfrm>
          <a:custGeom>
            <a:avLst/>
            <a:gdLst>
              <a:gd name="T0" fmla="*/ 0 w 1"/>
              <a:gd name="T1" fmla="*/ 0 h 181"/>
              <a:gd name="T2" fmla="*/ 0 w 1"/>
              <a:gd name="T3" fmla="*/ 180 h 181"/>
              <a:gd name="T4" fmla="*/ 0 w 1"/>
              <a:gd name="T5" fmla="*/ 0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1">
                <a:moveTo>
                  <a:pt x="0" y="0"/>
                </a:moveTo>
                <a:lnTo>
                  <a:pt x="0" y="18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8" name="Freeform 180"/>
          <p:cNvSpPr>
            <a:spLocks/>
          </p:cNvSpPr>
          <p:nvPr/>
        </p:nvSpPr>
        <p:spPr bwMode="auto">
          <a:xfrm>
            <a:off x="3541713" y="4779963"/>
            <a:ext cx="1587" cy="296862"/>
          </a:xfrm>
          <a:custGeom>
            <a:avLst/>
            <a:gdLst>
              <a:gd name="T0" fmla="*/ 0 w 1"/>
              <a:gd name="T1" fmla="*/ 0 h 187"/>
              <a:gd name="T2" fmla="*/ 0 w 1"/>
              <a:gd name="T3" fmla="*/ 186 h 187"/>
              <a:gd name="T4" fmla="*/ 0 w 1"/>
              <a:gd name="T5" fmla="*/ 0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7">
                <a:moveTo>
                  <a:pt x="0" y="0"/>
                </a:moveTo>
                <a:lnTo>
                  <a:pt x="0" y="186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9" name="Freeform 181"/>
          <p:cNvSpPr>
            <a:spLocks/>
          </p:cNvSpPr>
          <p:nvPr/>
        </p:nvSpPr>
        <p:spPr bwMode="auto">
          <a:xfrm>
            <a:off x="3930650" y="4789488"/>
            <a:ext cx="1588" cy="287337"/>
          </a:xfrm>
          <a:custGeom>
            <a:avLst/>
            <a:gdLst>
              <a:gd name="T0" fmla="*/ 0 w 1"/>
              <a:gd name="T1" fmla="*/ 0 h 181"/>
              <a:gd name="T2" fmla="*/ 0 w 1"/>
              <a:gd name="T3" fmla="*/ 180 h 181"/>
              <a:gd name="T4" fmla="*/ 0 w 1"/>
              <a:gd name="T5" fmla="*/ 0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1">
                <a:moveTo>
                  <a:pt x="0" y="0"/>
                </a:moveTo>
                <a:lnTo>
                  <a:pt x="0" y="18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0" name="Freeform 182"/>
          <p:cNvSpPr>
            <a:spLocks/>
          </p:cNvSpPr>
          <p:nvPr/>
        </p:nvSpPr>
        <p:spPr bwMode="auto">
          <a:xfrm>
            <a:off x="4537075" y="5033963"/>
            <a:ext cx="128588" cy="593725"/>
          </a:xfrm>
          <a:custGeom>
            <a:avLst/>
            <a:gdLst>
              <a:gd name="T0" fmla="*/ 80 w 81"/>
              <a:gd name="T1" fmla="*/ 0 h 374"/>
              <a:gd name="T2" fmla="*/ 0 w 81"/>
              <a:gd name="T3" fmla="*/ 373 h 374"/>
              <a:gd name="T4" fmla="*/ 80 w 81"/>
              <a:gd name="T5" fmla="*/ 0 h 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1" h="374">
                <a:moveTo>
                  <a:pt x="80" y="0"/>
                </a:moveTo>
                <a:lnTo>
                  <a:pt x="0" y="373"/>
                </a:lnTo>
                <a:lnTo>
                  <a:pt x="8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1" name="Freeform 183"/>
          <p:cNvSpPr>
            <a:spLocks/>
          </p:cNvSpPr>
          <p:nvPr/>
        </p:nvSpPr>
        <p:spPr bwMode="auto">
          <a:xfrm>
            <a:off x="4530725" y="5521325"/>
            <a:ext cx="53975" cy="106363"/>
          </a:xfrm>
          <a:custGeom>
            <a:avLst/>
            <a:gdLst>
              <a:gd name="T0" fmla="*/ 33 w 34"/>
              <a:gd name="T1" fmla="*/ 7 h 67"/>
              <a:gd name="T2" fmla="*/ 3 w 34"/>
              <a:gd name="T3" fmla="*/ 66 h 67"/>
              <a:gd name="T4" fmla="*/ 0 w 34"/>
              <a:gd name="T5" fmla="*/ 0 h 67"/>
              <a:gd name="T6" fmla="*/ 33 w 34"/>
              <a:gd name="T7" fmla="*/ 7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" h="67">
                <a:moveTo>
                  <a:pt x="33" y="7"/>
                </a:moveTo>
                <a:lnTo>
                  <a:pt x="3" y="66"/>
                </a:lnTo>
                <a:lnTo>
                  <a:pt x="0" y="0"/>
                </a:lnTo>
                <a:lnTo>
                  <a:pt x="33" y="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2" name="Freeform 184"/>
          <p:cNvSpPr>
            <a:spLocks/>
          </p:cNvSpPr>
          <p:nvPr/>
        </p:nvSpPr>
        <p:spPr bwMode="auto">
          <a:xfrm>
            <a:off x="5065713" y="5024438"/>
            <a:ext cx="1587" cy="593725"/>
          </a:xfrm>
          <a:custGeom>
            <a:avLst/>
            <a:gdLst>
              <a:gd name="T0" fmla="*/ 0 w 1"/>
              <a:gd name="T1" fmla="*/ 0 h 374"/>
              <a:gd name="T2" fmla="*/ 0 w 1"/>
              <a:gd name="T3" fmla="*/ 373 h 374"/>
              <a:gd name="T4" fmla="*/ 0 w 1"/>
              <a:gd name="T5" fmla="*/ 0 h 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374">
                <a:moveTo>
                  <a:pt x="0" y="0"/>
                </a:moveTo>
                <a:lnTo>
                  <a:pt x="0" y="373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3" name="Freeform 185"/>
          <p:cNvSpPr>
            <a:spLocks/>
          </p:cNvSpPr>
          <p:nvPr/>
        </p:nvSpPr>
        <p:spPr bwMode="auto">
          <a:xfrm>
            <a:off x="5038725" y="5514975"/>
            <a:ext cx="55563" cy="103188"/>
          </a:xfrm>
          <a:custGeom>
            <a:avLst/>
            <a:gdLst>
              <a:gd name="T0" fmla="*/ 34 w 35"/>
              <a:gd name="T1" fmla="*/ 0 h 65"/>
              <a:gd name="T2" fmla="*/ 17 w 35"/>
              <a:gd name="T3" fmla="*/ 64 h 65"/>
              <a:gd name="T4" fmla="*/ 0 w 35"/>
              <a:gd name="T5" fmla="*/ 0 h 65"/>
              <a:gd name="T6" fmla="*/ 34 w 35"/>
              <a:gd name="T7" fmla="*/ 0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" h="65">
                <a:moveTo>
                  <a:pt x="34" y="0"/>
                </a:moveTo>
                <a:lnTo>
                  <a:pt x="17" y="64"/>
                </a:lnTo>
                <a:lnTo>
                  <a:pt x="0" y="0"/>
                </a:lnTo>
                <a:lnTo>
                  <a:pt x="34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4" name="Freeform 186"/>
          <p:cNvSpPr>
            <a:spLocks/>
          </p:cNvSpPr>
          <p:nvPr/>
        </p:nvSpPr>
        <p:spPr bwMode="auto">
          <a:xfrm>
            <a:off x="4632325" y="4779963"/>
            <a:ext cx="855663" cy="296862"/>
          </a:xfrm>
          <a:custGeom>
            <a:avLst/>
            <a:gdLst>
              <a:gd name="T0" fmla="*/ 0 w 539"/>
              <a:gd name="T1" fmla="*/ 186 h 187"/>
              <a:gd name="T2" fmla="*/ 0 w 539"/>
              <a:gd name="T3" fmla="*/ 0 h 187"/>
              <a:gd name="T4" fmla="*/ 538 w 539"/>
              <a:gd name="T5" fmla="*/ 0 h 187"/>
              <a:gd name="T6" fmla="*/ 538 w 539"/>
              <a:gd name="T7" fmla="*/ 186 h 187"/>
              <a:gd name="T8" fmla="*/ 0 w 539"/>
              <a:gd name="T9" fmla="*/ 186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9" h="187">
                <a:moveTo>
                  <a:pt x="0" y="186"/>
                </a:moveTo>
                <a:lnTo>
                  <a:pt x="0" y="0"/>
                </a:lnTo>
                <a:lnTo>
                  <a:pt x="538" y="0"/>
                </a:lnTo>
                <a:lnTo>
                  <a:pt x="538" y="186"/>
                </a:lnTo>
                <a:lnTo>
                  <a:pt x="0" y="18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5" name="Freeform 187"/>
          <p:cNvSpPr>
            <a:spLocks/>
          </p:cNvSpPr>
          <p:nvPr/>
        </p:nvSpPr>
        <p:spPr bwMode="auto">
          <a:xfrm>
            <a:off x="5022850" y="4779963"/>
            <a:ext cx="1588" cy="285750"/>
          </a:xfrm>
          <a:custGeom>
            <a:avLst/>
            <a:gdLst>
              <a:gd name="T0" fmla="*/ 0 w 1"/>
              <a:gd name="T1" fmla="*/ 0 h 180"/>
              <a:gd name="T2" fmla="*/ 0 w 1"/>
              <a:gd name="T3" fmla="*/ 179 h 180"/>
              <a:gd name="T4" fmla="*/ 0 w 1"/>
              <a:gd name="T5" fmla="*/ 0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0">
                <a:moveTo>
                  <a:pt x="0" y="0"/>
                </a:moveTo>
                <a:lnTo>
                  <a:pt x="0" y="179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" name="Freeform 188"/>
          <p:cNvSpPr>
            <a:spLocks/>
          </p:cNvSpPr>
          <p:nvPr/>
        </p:nvSpPr>
        <p:spPr bwMode="auto">
          <a:xfrm>
            <a:off x="5400675" y="4789488"/>
            <a:ext cx="1588" cy="287337"/>
          </a:xfrm>
          <a:custGeom>
            <a:avLst/>
            <a:gdLst>
              <a:gd name="T0" fmla="*/ 0 w 1"/>
              <a:gd name="T1" fmla="*/ 0 h 181"/>
              <a:gd name="T2" fmla="*/ 0 w 1"/>
              <a:gd name="T3" fmla="*/ 180 h 181"/>
              <a:gd name="T4" fmla="*/ 0 w 1"/>
              <a:gd name="T5" fmla="*/ 0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1">
                <a:moveTo>
                  <a:pt x="0" y="0"/>
                </a:moveTo>
                <a:lnTo>
                  <a:pt x="0" y="18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7" name="Freeform 189"/>
          <p:cNvSpPr>
            <a:spLocks/>
          </p:cNvSpPr>
          <p:nvPr/>
        </p:nvSpPr>
        <p:spPr bwMode="auto">
          <a:xfrm>
            <a:off x="4721225" y="4770438"/>
            <a:ext cx="1588" cy="295275"/>
          </a:xfrm>
          <a:custGeom>
            <a:avLst/>
            <a:gdLst>
              <a:gd name="T0" fmla="*/ 0 w 1"/>
              <a:gd name="T1" fmla="*/ 0 h 186"/>
              <a:gd name="T2" fmla="*/ 0 w 1"/>
              <a:gd name="T3" fmla="*/ 185 h 186"/>
              <a:gd name="T4" fmla="*/ 0 w 1"/>
              <a:gd name="T5" fmla="*/ 0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6">
                <a:moveTo>
                  <a:pt x="0" y="0"/>
                </a:moveTo>
                <a:lnTo>
                  <a:pt x="0" y="18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8" name="Freeform 190"/>
          <p:cNvSpPr>
            <a:spLocks/>
          </p:cNvSpPr>
          <p:nvPr/>
        </p:nvSpPr>
        <p:spPr bwMode="auto">
          <a:xfrm>
            <a:off x="5108575" y="4779963"/>
            <a:ext cx="1588" cy="285750"/>
          </a:xfrm>
          <a:custGeom>
            <a:avLst/>
            <a:gdLst>
              <a:gd name="T0" fmla="*/ 0 w 1"/>
              <a:gd name="T1" fmla="*/ 0 h 180"/>
              <a:gd name="T2" fmla="*/ 0 w 1"/>
              <a:gd name="T3" fmla="*/ 179 h 180"/>
              <a:gd name="T4" fmla="*/ 0 w 1"/>
              <a:gd name="T5" fmla="*/ 0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0">
                <a:moveTo>
                  <a:pt x="0" y="0"/>
                </a:moveTo>
                <a:lnTo>
                  <a:pt x="0" y="179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9" name="Freeform 191"/>
          <p:cNvSpPr>
            <a:spLocks/>
          </p:cNvSpPr>
          <p:nvPr/>
        </p:nvSpPr>
        <p:spPr bwMode="auto">
          <a:xfrm>
            <a:off x="6796088" y="5565775"/>
            <a:ext cx="650875" cy="411163"/>
          </a:xfrm>
          <a:custGeom>
            <a:avLst/>
            <a:gdLst>
              <a:gd name="T0" fmla="*/ 0 w 410"/>
              <a:gd name="T1" fmla="*/ 258 h 259"/>
              <a:gd name="T2" fmla="*/ 0 w 410"/>
              <a:gd name="T3" fmla="*/ 0 h 259"/>
              <a:gd name="T4" fmla="*/ 409 w 410"/>
              <a:gd name="T5" fmla="*/ 0 h 259"/>
              <a:gd name="T6" fmla="*/ 409 w 410"/>
              <a:gd name="T7" fmla="*/ 258 h 259"/>
              <a:gd name="T8" fmla="*/ 0 w 410"/>
              <a:gd name="T9" fmla="*/ 258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0" h="259">
                <a:moveTo>
                  <a:pt x="0" y="258"/>
                </a:moveTo>
                <a:lnTo>
                  <a:pt x="0" y="0"/>
                </a:lnTo>
                <a:lnTo>
                  <a:pt x="409" y="0"/>
                </a:lnTo>
                <a:lnTo>
                  <a:pt x="409" y="258"/>
                </a:lnTo>
                <a:lnTo>
                  <a:pt x="0" y="25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0" name="Freeform 192"/>
          <p:cNvSpPr>
            <a:spLocks/>
          </p:cNvSpPr>
          <p:nvPr/>
        </p:nvSpPr>
        <p:spPr bwMode="auto">
          <a:xfrm>
            <a:off x="5822950" y="4779963"/>
            <a:ext cx="854075" cy="296862"/>
          </a:xfrm>
          <a:custGeom>
            <a:avLst/>
            <a:gdLst>
              <a:gd name="T0" fmla="*/ 0 w 538"/>
              <a:gd name="T1" fmla="*/ 186 h 187"/>
              <a:gd name="T2" fmla="*/ 0 w 538"/>
              <a:gd name="T3" fmla="*/ 0 h 187"/>
              <a:gd name="T4" fmla="*/ 537 w 538"/>
              <a:gd name="T5" fmla="*/ 0 h 187"/>
              <a:gd name="T6" fmla="*/ 537 w 538"/>
              <a:gd name="T7" fmla="*/ 186 h 187"/>
              <a:gd name="T8" fmla="*/ 0 w 538"/>
              <a:gd name="T9" fmla="*/ 186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8" h="187">
                <a:moveTo>
                  <a:pt x="0" y="186"/>
                </a:moveTo>
                <a:lnTo>
                  <a:pt x="0" y="0"/>
                </a:lnTo>
                <a:lnTo>
                  <a:pt x="537" y="0"/>
                </a:lnTo>
                <a:lnTo>
                  <a:pt x="537" y="186"/>
                </a:lnTo>
                <a:lnTo>
                  <a:pt x="0" y="18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1" name="Freeform 193"/>
          <p:cNvSpPr>
            <a:spLocks/>
          </p:cNvSpPr>
          <p:nvPr/>
        </p:nvSpPr>
        <p:spPr bwMode="auto">
          <a:xfrm>
            <a:off x="6211888" y="4779963"/>
            <a:ext cx="1587" cy="285750"/>
          </a:xfrm>
          <a:custGeom>
            <a:avLst/>
            <a:gdLst>
              <a:gd name="T0" fmla="*/ 0 w 1"/>
              <a:gd name="T1" fmla="*/ 0 h 180"/>
              <a:gd name="T2" fmla="*/ 0 w 1"/>
              <a:gd name="T3" fmla="*/ 179 h 180"/>
              <a:gd name="T4" fmla="*/ 0 w 1"/>
              <a:gd name="T5" fmla="*/ 0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0">
                <a:moveTo>
                  <a:pt x="0" y="0"/>
                </a:moveTo>
                <a:lnTo>
                  <a:pt x="0" y="179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2" name="Freeform 194"/>
          <p:cNvSpPr>
            <a:spLocks/>
          </p:cNvSpPr>
          <p:nvPr/>
        </p:nvSpPr>
        <p:spPr bwMode="auto">
          <a:xfrm>
            <a:off x="6589713" y="4789488"/>
            <a:ext cx="1587" cy="287337"/>
          </a:xfrm>
          <a:custGeom>
            <a:avLst/>
            <a:gdLst>
              <a:gd name="T0" fmla="*/ 0 w 1"/>
              <a:gd name="T1" fmla="*/ 0 h 181"/>
              <a:gd name="T2" fmla="*/ 0 w 1"/>
              <a:gd name="T3" fmla="*/ 180 h 181"/>
              <a:gd name="T4" fmla="*/ 0 w 1"/>
              <a:gd name="T5" fmla="*/ 0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1">
                <a:moveTo>
                  <a:pt x="0" y="0"/>
                </a:moveTo>
                <a:lnTo>
                  <a:pt x="0" y="18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3" name="Freeform 195"/>
          <p:cNvSpPr>
            <a:spLocks/>
          </p:cNvSpPr>
          <p:nvPr/>
        </p:nvSpPr>
        <p:spPr bwMode="auto">
          <a:xfrm>
            <a:off x="5908675" y="4770438"/>
            <a:ext cx="1588" cy="295275"/>
          </a:xfrm>
          <a:custGeom>
            <a:avLst/>
            <a:gdLst>
              <a:gd name="T0" fmla="*/ 0 w 1"/>
              <a:gd name="T1" fmla="*/ 0 h 186"/>
              <a:gd name="T2" fmla="*/ 0 w 1"/>
              <a:gd name="T3" fmla="*/ 185 h 186"/>
              <a:gd name="T4" fmla="*/ 0 w 1"/>
              <a:gd name="T5" fmla="*/ 0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6">
                <a:moveTo>
                  <a:pt x="0" y="0"/>
                </a:moveTo>
                <a:lnTo>
                  <a:pt x="0" y="185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4" name="Freeform 196"/>
          <p:cNvSpPr>
            <a:spLocks/>
          </p:cNvSpPr>
          <p:nvPr/>
        </p:nvSpPr>
        <p:spPr bwMode="auto">
          <a:xfrm>
            <a:off x="6299200" y="4779963"/>
            <a:ext cx="1588" cy="285750"/>
          </a:xfrm>
          <a:custGeom>
            <a:avLst/>
            <a:gdLst>
              <a:gd name="T0" fmla="*/ 0 w 1"/>
              <a:gd name="T1" fmla="*/ 0 h 180"/>
              <a:gd name="T2" fmla="*/ 0 w 1"/>
              <a:gd name="T3" fmla="*/ 179 h 180"/>
              <a:gd name="T4" fmla="*/ 0 w 1"/>
              <a:gd name="T5" fmla="*/ 0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0">
                <a:moveTo>
                  <a:pt x="0" y="0"/>
                </a:moveTo>
                <a:lnTo>
                  <a:pt x="0" y="179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5" name="Freeform 197"/>
          <p:cNvSpPr>
            <a:spLocks/>
          </p:cNvSpPr>
          <p:nvPr/>
        </p:nvSpPr>
        <p:spPr bwMode="auto">
          <a:xfrm>
            <a:off x="4827588" y="4043363"/>
            <a:ext cx="857250" cy="298450"/>
          </a:xfrm>
          <a:custGeom>
            <a:avLst/>
            <a:gdLst>
              <a:gd name="T0" fmla="*/ 0 w 540"/>
              <a:gd name="T1" fmla="*/ 187 h 188"/>
              <a:gd name="T2" fmla="*/ 0 w 540"/>
              <a:gd name="T3" fmla="*/ 0 h 188"/>
              <a:gd name="T4" fmla="*/ 539 w 540"/>
              <a:gd name="T5" fmla="*/ 0 h 188"/>
              <a:gd name="T6" fmla="*/ 539 w 540"/>
              <a:gd name="T7" fmla="*/ 187 h 188"/>
              <a:gd name="T8" fmla="*/ 0 w 540"/>
              <a:gd name="T9" fmla="*/ 187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0" h="188">
                <a:moveTo>
                  <a:pt x="0" y="187"/>
                </a:moveTo>
                <a:lnTo>
                  <a:pt x="0" y="0"/>
                </a:lnTo>
                <a:lnTo>
                  <a:pt x="539" y="0"/>
                </a:lnTo>
                <a:lnTo>
                  <a:pt x="539" y="187"/>
                </a:lnTo>
                <a:lnTo>
                  <a:pt x="0" y="18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" name="Freeform 198"/>
          <p:cNvSpPr>
            <a:spLocks/>
          </p:cNvSpPr>
          <p:nvPr/>
        </p:nvSpPr>
        <p:spPr bwMode="auto">
          <a:xfrm>
            <a:off x="5218113" y="4043363"/>
            <a:ext cx="1587" cy="288925"/>
          </a:xfrm>
          <a:custGeom>
            <a:avLst/>
            <a:gdLst>
              <a:gd name="T0" fmla="*/ 0 w 1"/>
              <a:gd name="T1" fmla="*/ 0 h 182"/>
              <a:gd name="T2" fmla="*/ 0 w 1"/>
              <a:gd name="T3" fmla="*/ 181 h 182"/>
              <a:gd name="T4" fmla="*/ 0 w 1"/>
              <a:gd name="T5" fmla="*/ 0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2">
                <a:moveTo>
                  <a:pt x="0" y="0"/>
                </a:moveTo>
                <a:lnTo>
                  <a:pt x="0" y="18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7" name="Freeform 199"/>
          <p:cNvSpPr>
            <a:spLocks/>
          </p:cNvSpPr>
          <p:nvPr/>
        </p:nvSpPr>
        <p:spPr bwMode="auto">
          <a:xfrm>
            <a:off x="5594350" y="4052888"/>
            <a:ext cx="1588" cy="288925"/>
          </a:xfrm>
          <a:custGeom>
            <a:avLst/>
            <a:gdLst>
              <a:gd name="T0" fmla="*/ 0 w 1"/>
              <a:gd name="T1" fmla="*/ 0 h 182"/>
              <a:gd name="T2" fmla="*/ 0 w 1"/>
              <a:gd name="T3" fmla="*/ 181 h 182"/>
              <a:gd name="T4" fmla="*/ 0 w 1"/>
              <a:gd name="T5" fmla="*/ 0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2">
                <a:moveTo>
                  <a:pt x="0" y="0"/>
                </a:moveTo>
                <a:lnTo>
                  <a:pt x="0" y="18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8" name="Freeform 200"/>
          <p:cNvSpPr>
            <a:spLocks/>
          </p:cNvSpPr>
          <p:nvPr/>
        </p:nvSpPr>
        <p:spPr bwMode="auto">
          <a:xfrm>
            <a:off x="4913313" y="4032250"/>
            <a:ext cx="1587" cy="300038"/>
          </a:xfrm>
          <a:custGeom>
            <a:avLst/>
            <a:gdLst>
              <a:gd name="T0" fmla="*/ 0 w 1"/>
              <a:gd name="T1" fmla="*/ 0 h 189"/>
              <a:gd name="T2" fmla="*/ 0 w 1"/>
              <a:gd name="T3" fmla="*/ 188 h 189"/>
              <a:gd name="T4" fmla="*/ 0 w 1"/>
              <a:gd name="T5" fmla="*/ 0 h 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9">
                <a:moveTo>
                  <a:pt x="0" y="0"/>
                </a:moveTo>
                <a:lnTo>
                  <a:pt x="0" y="18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9" name="Freeform 201"/>
          <p:cNvSpPr>
            <a:spLocks/>
          </p:cNvSpPr>
          <p:nvPr/>
        </p:nvSpPr>
        <p:spPr bwMode="auto">
          <a:xfrm>
            <a:off x="5303838" y="4043363"/>
            <a:ext cx="1587" cy="288925"/>
          </a:xfrm>
          <a:custGeom>
            <a:avLst/>
            <a:gdLst>
              <a:gd name="T0" fmla="*/ 0 w 1"/>
              <a:gd name="T1" fmla="*/ 0 h 182"/>
              <a:gd name="T2" fmla="*/ 0 w 1"/>
              <a:gd name="T3" fmla="*/ 181 h 182"/>
              <a:gd name="T4" fmla="*/ 0 w 1"/>
              <a:gd name="T5" fmla="*/ 0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2">
                <a:moveTo>
                  <a:pt x="0" y="0"/>
                </a:moveTo>
                <a:lnTo>
                  <a:pt x="0" y="18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0" name="Freeform 202"/>
          <p:cNvSpPr>
            <a:spLocks/>
          </p:cNvSpPr>
          <p:nvPr/>
        </p:nvSpPr>
        <p:spPr bwMode="auto">
          <a:xfrm>
            <a:off x="4070350" y="3389313"/>
            <a:ext cx="855663" cy="298450"/>
          </a:xfrm>
          <a:custGeom>
            <a:avLst/>
            <a:gdLst>
              <a:gd name="T0" fmla="*/ 0 w 539"/>
              <a:gd name="T1" fmla="*/ 187 h 188"/>
              <a:gd name="T2" fmla="*/ 0 w 539"/>
              <a:gd name="T3" fmla="*/ 0 h 188"/>
              <a:gd name="T4" fmla="*/ 538 w 539"/>
              <a:gd name="T5" fmla="*/ 0 h 188"/>
              <a:gd name="T6" fmla="*/ 538 w 539"/>
              <a:gd name="T7" fmla="*/ 187 h 188"/>
              <a:gd name="T8" fmla="*/ 0 w 539"/>
              <a:gd name="T9" fmla="*/ 187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9" h="188">
                <a:moveTo>
                  <a:pt x="0" y="187"/>
                </a:moveTo>
                <a:lnTo>
                  <a:pt x="0" y="0"/>
                </a:lnTo>
                <a:lnTo>
                  <a:pt x="538" y="0"/>
                </a:lnTo>
                <a:lnTo>
                  <a:pt x="538" y="187"/>
                </a:lnTo>
                <a:lnTo>
                  <a:pt x="0" y="18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1" name="Freeform 203"/>
          <p:cNvSpPr>
            <a:spLocks/>
          </p:cNvSpPr>
          <p:nvPr/>
        </p:nvSpPr>
        <p:spPr bwMode="auto">
          <a:xfrm>
            <a:off x="4460875" y="3389313"/>
            <a:ext cx="1588" cy="288925"/>
          </a:xfrm>
          <a:custGeom>
            <a:avLst/>
            <a:gdLst>
              <a:gd name="T0" fmla="*/ 0 w 1"/>
              <a:gd name="T1" fmla="*/ 0 h 182"/>
              <a:gd name="T2" fmla="*/ 0 w 1"/>
              <a:gd name="T3" fmla="*/ 181 h 182"/>
              <a:gd name="T4" fmla="*/ 0 w 1"/>
              <a:gd name="T5" fmla="*/ 0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2">
                <a:moveTo>
                  <a:pt x="0" y="0"/>
                </a:moveTo>
                <a:lnTo>
                  <a:pt x="0" y="18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2" name="Freeform 204"/>
          <p:cNvSpPr>
            <a:spLocks/>
          </p:cNvSpPr>
          <p:nvPr/>
        </p:nvSpPr>
        <p:spPr bwMode="auto">
          <a:xfrm>
            <a:off x="4838700" y="3400425"/>
            <a:ext cx="1588" cy="287338"/>
          </a:xfrm>
          <a:custGeom>
            <a:avLst/>
            <a:gdLst>
              <a:gd name="T0" fmla="*/ 0 w 1"/>
              <a:gd name="T1" fmla="*/ 0 h 181"/>
              <a:gd name="T2" fmla="*/ 0 w 1"/>
              <a:gd name="T3" fmla="*/ 180 h 181"/>
              <a:gd name="T4" fmla="*/ 0 w 1"/>
              <a:gd name="T5" fmla="*/ 0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1">
                <a:moveTo>
                  <a:pt x="0" y="0"/>
                </a:moveTo>
                <a:lnTo>
                  <a:pt x="0" y="180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3" name="Freeform 205"/>
          <p:cNvSpPr>
            <a:spLocks/>
          </p:cNvSpPr>
          <p:nvPr/>
        </p:nvSpPr>
        <p:spPr bwMode="auto">
          <a:xfrm>
            <a:off x="4157663" y="3378200"/>
            <a:ext cx="1587" cy="300038"/>
          </a:xfrm>
          <a:custGeom>
            <a:avLst/>
            <a:gdLst>
              <a:gd name="T0" fmla="*/ 0 w 1"/>
              <a:gd name="T1" fmla="*/ 0 h 189"/>
              <a:gd name="T2" fmla="*/ 0 w 1"/>
              <a:gd name="T3" fmla="*/ 188 h 189"/>
              <a:gd name="T4" fmla="*/ 0 w 1"/>
              <a:gd name="T5" fmla="*/ 0 h 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9">
                <a:moveTo>
                  <a:pt x="0" y="0"/>
                </a:moveTo>
                <a:lnTo>
                  <a:pt x="0" y="188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4" name="Freeform 206"/>
          <p:cNvSpPr>
            <a:spLocks/>
          </p:cNvSpPr>
          <p:nvPr/>
        </p:nvSpPr>
        <p:spPr bwMode="auto">
          <a:xfrm>
            <a:off x="4545013" y="3389313"/>
            <a:ext cx="1587" cy="288925"/>
          </a:xfrm>
          <a:custGeom>
            <a:avLst/>
            <a:gdLst>
              <a:gd name="T0" fmla="*/ 0 w 1"/>
              <a:gd name="T1" fmla="*/ 0 h 182"/>
              <a:gd name="T2" fmla="*/ 0 w 1"/>
              <a:gd name="T3" fmla="*/ 181 h 182"/>
              <a:gd name="T4" fmla="*/ 0 w 1"/>
              <a:gd name="T5" fmla="*/ 0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82">
                <a:moveTo>
                  <a:pt x="0" y="0"/>
                </a:moveTo>
                <a:lnTo>
                  <a:pt x="0" y="181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5" name="Freeform 207"/>
          <p:cNvSpPr>
            <a:spLocks/>
          </p:cNvSpPr>
          <p:nvPr/>
        </p:nvSpPr>
        <p:spPr bwMode="auto">
          <a:xfrm>
            <a:off x="2728913" y="4289425"/>
            <a:ext cx="608012" cy="471488"/>
          </a:xfrm>
          <a:custGeom>
            <a:avLst/>
            <a:gdLst>
              <a:gd name="T0" fmla="*/ 382 w 383"/>
              <a:gd name="T1" fmla="*/ 0 h 297"/>
              <a:gd name="T2" fmla="*/ 0 w 383"/>
              <a:gd name="T3" fmla="*/ 296 h 297"/>
              <a:gd name="T4" fmla="*/ 382 w 383"/>
              <a:gd name="T5" fmla="*/ 0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3" h="297">
                <a:moveTo>
                  <a:pt x="382" y="0"/>
                </a:moveTo>
                <a:lnTo>
                  <a:pt x="0" y="296"/>
                </a:lnTo>
                <a:lnTo>
                  <a:pt x="382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" name="Freeform 208"/>
          <p:cNvSpPr>
            <a:spLocks/>
          </p:cNvSpPr>
          <p:nvPr/>
        </p:nvSpPr>
        <p:spPr bwMode="auto">
          <a:xfrm>
            <a:off x="2728913" y="4673600"/>
            <a:ext cx="103187" cy="87313"/>
          </a:xfrm>
          <a:custGeom>
            <a:avLst/>
            <a:gdLst>
              <a:gd name="T0" fmla="*/ 64 w 65"/>
              <a:gd name="T1" fmla="*/ 25 h 55"/>
              <a:gd name="T2" fmla="*/ 0 w 65"/>
              <a:gd name="T3" fmla="*/ 54 h 55"/>
              <a:gd name="T4" fmla="*/ 42 w 65"/>
              <a:gd name="T5" fmla="*/ 0 h 55"/>
              <a:gd name="T6" fmla="*/ 64 w 65"/>
              <a:gd name="T7" fmla="*/ 25 h 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5" h="55">
                <a:moveTo>
                  <a:pt x="64" y="25"/>
                </a:moveTo>
                <a:lnTo>
                  <a:pt x="0" y="54"/>
                </a:lnTo>
                <a:lnTo>
                  <a:pt x="42" y="0"/>
                </a:lnTo>
                <a:lnTo>
                  <a:pt x="64" y="2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" name="Freeform 209"/>
          <p:cNvSpPr>
            <a:spLocks/>
          </p:cNvSpPr>
          <p:nvPr/>
        </p:nvSpPr>
        <p:spPr bwMode="auto">
          <a:xfrm>
            <a:off x="3713163" y="4289425"/>
            <a:ext cx="174625" cy="471488"/>
          </a:xfrm>
          <a:custGeom>
            <a:avLst/>
            <a:gdLst>
              <a:gd name="T0" fmla="*/ 0 w 110"/>
              <a:gd name="T1" fmla="*/ 0 h 297"/>
              <a:gd name="T2" fmla="*/ 109 w 110"/>
              <a:gd name="T3" fmla="*/ 296 h 297"/>
              <a:gd name="T4" fmla="*/ 0 w 110"/>
              <a:gd name="T5" fmla="*/ 0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0" h="297">
                <a:moveTo>
                  <a:pt x="0" y="0"/>
                </a:moveTo>
                <a:lnTo>
                  <a:pt x="109" y="296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8" name="Freeform 210"/>
          <p:cNvSpPr>
            <a:spLocks/>
          </p:cNvSpPr>
          <p:nvPr/>
        </p:nvSpPr>
        <p:spPr bwMode="auto">
          <a:xfrm>
            <a:off x="3825875" y="4654550"/>
            <a:ext cx="61913" cy="106363"/>
          </a:xfrm>
          <a:custGeom>
            <a:avLst/>
            <a:gdLst>
              <a:gd name="T0" fmla="*/ 33 w 39"/>
              <a:gd name="T1" fmla="*/ 0 h 67"/>
              <a:gd name="T2" fmla="*/ 38 w 39"/>
              <a:gd name="T3" fmla="*/ 66 h 67"/>
              <a:gd name="T4" fmla="*/ 0 w 39"/>
              <a:gd name="T5" fmla="*/ 11 h 67"/>
              <a:gd name="T6" fmla="*/ 33 w 39"/>
              <a:gd name="T7" fmla="*/ 0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9" h="67">
                <a:moveTo>
                  <a:pt x="33" y="0"/>
                </a:moveTo>
                <a:lnTo>
                  <a:pt x="38" y="66"/>
                </a:lnTo>
                <a:lnTo>
                  <a:pt x="0" y="11"/>
                </a:lnTo>
                <a:lnTo>
                  <a:pt x="33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9" name="Freeform 211"/>
          <p:cNvSpPr>
            <a:spLocks/>
          </p:cNvSpPr>
          <p:nvPr/>
        </p:nvSpPr>
        <p:spPr bwMode="auto">
          <a:xfrm>
            <a:off x="4870450" y="4300538"/>
            <a:ext cx="1588" cy="460375"/>
          </a:xfrm>
          <a:custGeom>
            <a:avLst/>
            <a:gdLst>
              <a:gd name="T0" fmla="*/ 0 w 1"/>
              <a:gd name="T1" fmla="*/ 0 h 290"/>
              <a:gd name="T2" fmla="*/ 0 w 1"/>
              <a:gd name="T3" fmla="*/ 289 h 290"/>
              <a:gd name="T4" fmla="*/ 0 w 1"/>
              <a:gd name="T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290">
                <a:moveTo>
                  <a:pt x="0" y="0"/>
                </a:moveTo>
                <a:lnTo>
                  <a:pt x="0" y="289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0" name="Freeform 212"/>
          <p:cNvSpPr>
            <a:spLocks/>
          </p:cNvSpPr>
          <p:nvPr/>
        </p:nvSpPr>
        <p:spPr bwMode="auto">
          <a:xfrm>
            <a:off x="4843463" y="4657725"/>
            <a:ext cx="55562" cy="103188"/>
          </a:xfrm>
          <a:custGeom>
            <a:avLst/>
            <a:gdLst>
              <a:gd name="T0" fmla="*/ 34 w 35"/>
              <a:gd name="T1" fmla="*/ 0 h 65"/>
              <a:gd name="T2" fmla="*/ 17 w 35"/>
              <a:gd name="T3" fmla="*/ 64 h 65"/>
              <a:gd name="T4" fmla="*/ 0 w 35"/>
              <a:gd name="T5" fmla="*/ 0 h 65"/>
              <a:gd name="T6" fmla="*/ 34 w 35"/>
              <a:gd name="T7" fmla="*/ 0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" h="65">
                <a:moveTo>
                  <a:pt x="34" y="0"/>
                </a:moveTo>
                <a:lnTo>
                  <a:pt x="17" y="64"/>
                </a:lnTo>
                <a:lnTo>
                  <a:pt x="0" y="0"/>
                </a:lnTo>
                <a:lnTo>
                  <a:pt x="34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1" name="Freeform 213"/>
          <p:cNvSpPr>
            <a:spLocks/>
          </p:cNvSpPr>
          <p:nvPr/>
        </p:nvSpPr>
        <p:spPr bwMode="auto">
          <a:xfrm>
            <a:off x="5259388" y="4270375"/>
            <a:ext cx="846137" cy="481013"/>
          </a:xfrm>
          <a:custGeom>
            <a:avLst/>
            <a:gdLst>
              <a:gd name="T0" fmla="*/ 0 w 533"/>
              <a:gd name="T1" fmla="*/ 0 h 303"/>
              <a:gd name="T2" fmla="*/ 532 w 533"/>
              <a:gd name="T3" fmla="*/ 302 h 303"/>
              <a:gd name="T4" fmla="*/ 0 w 533"/>
              <a:gd name="T5" fmla="*/ 0 h 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33" h="303">
                <a:moveTo>
                  <a:pt x="0" y="0"/>
                </a:moveTo>
                <a:lnTo>
                  <a:pt x="532" y="302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2" name="Freeform 214"/>
          <p:cNvSpPr>
            <a:spLocks/>
          </p:cNvSpPr>
          <p:nvPr/>
        </p:nvSpPr>
        <p:spPr bwMode="auto">
          <a:xfrm>
            <a:off x="5995988" y="4673600"/>
            <a:ext cx="109537" cy="77788"/>
          </a:xfrm>
          <a:custGeom>
            <a:avLst/>
            <a:gdLst>
              <a:gd name="T0" fmla="*/ 18 w 69"/>
              <a:gd name="T1" fmla="*/ 0 h 49"/>
              <a:gd name="T2" fmla="*/ 68 w 69"/>
              <a:gd name="T3" fmla="*/ 48 h 49"/>
              <a:gd name="T4" fmla="*/ 0 w 69"/>
              <a:gd name="T5" fmla="*/ 29 h 49"/>
              <a:gd name="T6" fmla="*/ 18 w 69"/>
              <a:gd name="T7" fmla="*/ 0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9" h="49">
                <a:moveTo>
                  <a:pt x="18" y="0"/>
                </a:moveTo>
                <a:lnTo>
                  <a:pt x="68" y="48"/>
                </a:lnTo>
                <a:lnTo>
                  <a:pt x="0" y="29"/>
                </a:lnTo>
                <a:lnTo>
                  <a:pt x="18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3" name="Freeform 215"/>
          <p:cNvSpPr>
            <a:spLocks/>
          </p:cNvSpPr>
          <p:nvPr/>
        </p:nvSpPr>
        <p:spPr bwMode="auto">
          <a:xfrm>
            <a:off x="5745163" y="5033963"/>
            <a:ext cx="111125" cy="573087"/>
          </a:xfrm>
          <a:custGeom>
            <a:avLst/>
            <a:gdLst>
              <a:gd name="T0" fmla="*/ 69 w 70"/>
              <a:gd name="T1" fmla="*/ 0 h 361"/>
              <a:gd name="T2" fmla="*/ 0 w 70"/>
              <a:gd name="T3" fmla="*/ 360 h 361"/>
              <a:gd name="T4" fmla="*/ 69 w 70"/>
              <a:gd name="T5" fmla="*/ 0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0" h="361">
                <a:moveTo>
                  <a:pt x="69" y="0"/>
                </a:moveTo>
                <a:lnTo>
                  <a:pt x="0" y="360"/>
                </a:lnTo>
                <a:lnTo>
                  <a:pt x="69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4" name="Freeform 216"/>
          <p:cNvSpPr>
            <a:spLocks/>
          </p:cNvSpPr>
          <p:nvPr/>
        </p:nvSpPr>
        <p:spPr bwMode="auto">
          <a:xfrm>
            <a:off x="5740400" y="5502275"/>
            <a:ext cx="53975" cy="104775"/>
          </a:xfrm>
          <a:custGeom>
            <a:avLst/>
            <a:gdLst>
              <a:gd name="T0" fmla="*/ 33 w 34"/>
              <a:gd name="T1" fmla="*/ 5 h 66"/>
              <a:gd name="T2" fmla="*/ 4 w 34"/>
              <a:gd name="T3" fmla="*/ 65 h 66"/>
              <a:gd name="T4" fmla="*/ 0 w 34"/>
              <a:gd name="T5" fmla="*/ 0 h 66"/>
              <a:gd name="T6" fmla="*/ 33 w 34"/>
              <a:gd name="T7" fmla="*/ 5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" h="66">
                <a:moveTo>
                  <a:pt x="33" y="5"/>
                </a:moveTo>
                <a:lnTo>
                  <a:pt x="4" y="65"/>
                </a:lnTo>
                <a:lnTo>
                  <a:pt x="0" y="0"/>
                </a:lnTo>
                <a:lnTo>
                  <a:pt x="33" y="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5" name="Freeform 217"/>
          <p:cNvSpPr>
            <a:spLocks/>
          </p:cNvSpPr>
          <p:nvPr/>
        </p:nvSpPr>
        <p:spPr bwMode="auto">
          <a:xfrm>
            <a:off x="6254750" y="5033963"/>
            <a:ext cx="206375" cy="584200"/>
          </a:xfrm>
          <a:custGeom>
            <a:avLst/>
            <a:gdLst>
              <a:gd name="T0" fmla="*/ 0 w 130"/>
              <a:gd name="T1" fmla="*/ 0 h 368"/>
              <a:gd name="T2" fmla="*/ 129 w 130"/>
              <a:gd name="T3" fmla="*/ 367 h 368"/>
              <a:gd name="T4" fmla="*/ 0 w 130"/>
              <a:gd name="T5" fmla="*/ 0 h 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0" h="368">
                <a:moveTo>
                  <a:pt x="0" y="0"/>
                </a:moveTo>
                <a:lnTo>
                  <a:pt x="129" y="367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" name="Freeform 218"/>
          <p:cNvSpPr>
            <a:spLocks/>
          </p:cNvSpPr>
          <p:nvPr/>
        </p:nvSpPr>
        <p:spPr bwMode="auto">
          <a:xfrm>
            <a:off x="6400800" y="5511800"/>
            <a:ext cx="60325" cy="106363"/>
          </a:xfrm>
          <a:custGeom>
            <a:avLst/>
            <a:gdLst>
              <a:gd name="T0" fmla="*/ 32 w 38"/>
              <a:gd name="T1" fmla="*/ 0 h 67"/>
              <a:gd name="T2" fmla="*/ 37 w 38"/>
              <a:gd name="T3" fmla="*/ 66 h 67"/>
              <a:gd name="T4" fmla="*/ 0 w 38"/>
              <a:gd name="T5" fmla="*/ 10 h 67"/>
              <a:gd name="T6" fmla="*/ 32 w 38"/>
              <a:gd name="T7" fmla="*/ 0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8" h="67">
                <a:moveTo>
                  <a:pt x="32" y="0"/>
                </a:moveTo>
                <a:lnTo>
                  <a:pt x="37" y="66"/>
                </a:lnTo>
                <a:lnTo>
                  <a:pt x="0" y="10"/>
                </a:lnTo>
                <a:lnTo>
                  <a:pt x="32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" name="Freeform 219"/>
          <p:cNvSpPr>
            <a:spLocks/>
          </p:cNvSpPr>
          <p:nvPr/>
        </p:nvSpPr>
        <p:spPr bwMode="auto">
          <a:xfrm>
            <a:off x="4513263" y="3646488"/>
            <a:ext cx="585787" cy="387350"/>
          </a:xfrm>
          <a:custGeom>
            <a:avLst/>
            <a:gdLst>
              <a:gd name="T0" fmla="*/ 0 w 369"/>
              <a:gd name="T1" fmla="*/ 0 h 244"/>
              <a:gd name="T2" fmla="*/ 368 w 369"/>
              <a:gd name="T3" fmla="*/ 243 h 244"/>
              <a:gd name="T4" fmla="*/ 0 w 369"/>
              <a:gd name="T5" fmla="*/ 0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9" h="244">
                <a:moveTo>
                  <a:pt x="0" y="0"/>
                </a:moveTo>
                <a:lnTo>
                  <a:pt x="368" y="243"/>
                </a:lnTo>
                <a:lnTo>
                  <a:pt x="0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8" name="Freeform 220"/>
          <p:cNvSpPr>
            <a:spLocks/>
          </p:cNvSpPr>
          <p:nvPr/>
        </p:nvSpPr>
        <p:spPr bwMode="auto">
          <a:xfrm>
            <a:off x="4995863" y="3954463"/>
            <a:ext cx="103187" cy="79375"/>
          </a:xfrm>
          <a:custGeom>
            <a:avLst/>
            <a:gdLst>
              <a:gd name="T0" fmla="*/ 19 w 65"/>
              <a:gd name="T1" fmla="*/ 0 h 50"/>
              <a:gd name="T2" fmla="*/ 64 w 65"/>
              <a:gd name="T3" fmla="*/ 49 h 50"/>
              <a:gd name="T4" fmla="*/ 0 w 65"/>
              <a:gd name="T5" fmla="*/ 25 h 50"/>
              <a:gd name="T6" fmla="*/ 19 w 65"/>
              <a:gd name="T7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5" h="50">
                <a:moveTo>
                  <a:pt x="19" y="0"/>
                </a:moveTo>
                <a:lnTo>
                  <a:pt x="64" y="49"/>
                </a:lnTo>
                <a:lnTo>
                  <a:pt x="0" y="25"/>
                </a:lnTo>
                <a:lnTo>
                  <a:pt x="19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9" name="Freeform 221"/>
          <p:cNvSpPr>
            <a:spLocks/>
          </p:cNvSpPr>
          <p:nvPr/>
        </p:nvSpPr>
        <p:spPr bwMode="auto">
          <a:xfrm>
            <a:off x="3757613" y="3635375"/>
            <a:ext cx="347662" cy="398463"/>
          </a:xfrm>
          <a:custGeom>
            <a:avLst/>
            <a:gdLst>
              <a:gd name="T0" fmla="*/ 218 w 219"/>
              <a:gd name="T1" fmla="*/ 0 h 251"/>
              <a:gd name="T2" fmla="*/ 0 w 219"/>
              <a:gd name="T3" fmla="*/ 250 h 251"/>
              <a:gd name="T4" fmla="*/ 218 w 219"/>
              <a:gd name="T5" fmla="*/ 0 h 2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9" h="251">
                <a:moveTo>
                  <a:pt x="218" y="0"/>
                </a:moveTo>
                <a:lnTo>
                  <a:pt x="0" y="250"/>
                </a:lnTo>
                <a:lnTo>
                  <a:pt x="218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0" name="Freeform 222"/>
          <p:cNvSpPr>
            <a:spLocks/>
          </p:cNvSpPr>
          <p:nvPr/>
        </p:nvSpPr>
        <p:spPr bwMode="auto">
          <a:xfrm>
            <a:off x="3757613" y="3937000"/>
            <a:ext cx="90487" cy="96838"/>
          </a:xfrm>
          <a:custGeom>
            <a:avLst/>
            <a:gdLst>
              <a:gd name="T0" fmla="*/ 56 w 57"/>
              <a:gd name="T1" fmla="*/ 20 h 61"/>
              <a:gd name="T2" fmla="*/ 0 w 57"/>
              <a:gd name="T3" fmla="*/ 60 h 61"/>
              <a:gd name="T4" fmla="*/ 29 w 57"/>
              <a:gd name="T5" fmla="*/ 0 h 61"/>
              <a:gd name="T6" fmla="*/ 56 w 57"/>
              <a:gd name="T7" fmla="*/ 20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7" h="61">
                <a:moveTo>
                  <a:pt x="56" y="20"/>
                </a:moveTo>
                <a:lnTo>
                  <a:pt x="0" y="60"/>
                </a:lnTo>
                <a:lnTo>
                  <a:pt x="29" y="0"/>
                </a:lnTo>
                <a:lnTo>
                  <a:pt x="56" y="2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1" name="Freeform 223"/>
          <p:cNvSpPr>
            <a:spLocks/>
          </p:cNvSpPr>
          <p:nvPr/>
        </p:nvSpPr>
        <p:spPr bwMode="auto">
          <a:xfrm>
            <a:off x="2182813" y="5567363"/>
            <a:ext cx="87312" cy="82550"/>
          </a:xfrm>
          <a:custGeom>
            <a:avLst/>
            <a:gdLst>
              <a:gd name="T0" fmla="*/ 54 w 55"/>
              <a:gd name="T1" fmla="*/ 21 h 52"/>
              <a:gd name="T2" fmla="*/ 0 w 55"/>
              <a:gd name="T3" fmla="*/ 51 h 52"/>
              <a:gd name="T4" fmla="*/ 32 w 55"/>
              <a:gd name="T5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5" h="52">
                <a:moveTo>
                  <a:pt x="54" y="21"/>
                </a:moveTo>
                <a:lnTo>
                  <a:pt x="0" y="51"/>
                </a:lnTo>
                <a:lnTo>
                  <a:pt x="32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2" name="Line 224"/>
          <p:cNvSpPr>
            <a:spLocks noChangeShapeType="1"/>
          </p:cNvSpPr>
          <p:nvPr/>
        </p:nvSpPr>
        <p:spPr bwMode="auto">
          <a:xfrm flipV="1">
            <a:off x="2182813" y="5591175"/>
            <a:ext cx="60325" cy="571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3" name="Line 225"/>
          <p:cNvSpPr>
            <a:spLocks noChangeShapeType="1"/>
          </p:cNvSpPr>
          <p:nvPr/>
        </p:nvSpPr>
        <p:spPr bwMode="auto">
          <a:xfrm flipV="1">
            <a:off x="2236788" y="5568950"/>
            <a:ext cx="30162" cy="222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4" name="Line 226"/>
          <p:cNvSpPr>
            <a:spLocks noChangeShapeType="1"/>
          </p:cNvSpPr>
          <p:nvPr/>
        </p:nvSpPr>
        <p:spPr bwMode="auto">
          <a:xfrm flipV="1">
            <a:off x="2273300" y="5557838"/>
            <a:ext cx="31750" cy="47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5" name="Line 227"/>
          <p:cNvSpPr>
            <a:spLocks noChangeShapeType="1"/>
          </p:cNvSpPr>
          <p:nvPr/>
        </p:nvSpPr>
        <p:spPr bwMode="auto">
          <a:xfrm>
            <a:off x="2305050" y="5564188"/>
            <a:ext cx="28575" cy="47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6" name="Line 228"/>
          <p:cNvSpPr>
            <a:spLocks noChangeShapeType="1"/>
          </p:cNvSpPr>
          <p:nvPr/>
        </p:nvSpPr>
        <p:spPr bwMode="auto">
          <a:xfrm>
            <a:off x="2333625" y="5568950"/>
            <a:ext cx="31750" cy="222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" name="Line 229"/>
          <p:cNvSpPr>
            <a:spLocks noChangeShapeType="1"/>
          </p:cNvSpPr>
          <p:nvPr/>
        </p:nvSpPr>
        <p:spPr bwMode="auto">
          <a:xfrm>
            <a:off x="2365375" y="5591175"/>
            <a:ext cx="60325" cy="571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8" name="Freeform 230"/>
          <p:cNvSpPr>
            <a:spLocks/>
          </p:cNvSpPr>
          <p:nvPr/>
        </p:nvSpPr>
        <p:spPr bwMode="auto">
          <a:xfrm>
            <a:off x="2339975" y="5567363"/>
            <a:ext cx="87313" cy="82550"/>
          </a:xfrm>
          <a:custGeom>
            <a:avLst/>
            <a:gdLst>
              <a:gd name="T0" fmla="*/ 21 w 55"/>
              <a:gd name="T1" fmla="*/ 0 h 52"/>
              <a:gd name="T2" fmla="*/ 54 w 55"/>
              <a:gd name="T3" fmla="*/ 51 h 52"/>
              <a:gd name="T4" fmla="*/ 0 w 55"/>
              <a:gd name="T5" fmla="*/ 21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5" h="52">
                <a:moveTo>
                  <a:pt x="21" y="0"/>
                </a:moveTo>
                <a:lnTo>
                  <a:pt x="54" y="51"/>
                </a:lnTo>
                <a:lnTo>
                  <a:pt x="0" y="2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9" name="Freeform 231"/>
          <p:cNvSpPr>
            <a:spLocks/>
          </p:cNvSpPr>
          <p:nvPr/>
        </p:nvSpPr>
        <p:spPr bwMode="auto">
          <a:xfrm>
            <a:off x="2852738" y="5567363"/>
            <a:ext cx="87312" cy="82550"/>
          </a:xfrm>
          <a:custGeom>
            <a:avLst/>
            <a:gdLst>
              <a:gd name="T0" fmla="*/ 54 w 55"/>
              <a:gd name="T1" fmla="*/ 21 h 52"/>
              <a:gd name="T2" fmla="*/ 0 w 55"/>
              <a:gd name="T3" fmla="*/ 51 h 52"/>
              <a:gd name="T4" fmla="*/ 33 w 55"/>
              <a:gd name="T5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5" h="52">
                <a:moveTo>
                  <a:pt x="54" y="21"/>
                </a:moveTo>
                <a:lnTo>
                  <a:pt x="0" y="51"/>
                </a:lnTo>
                <a:lnTo>
                  <a:pt x="33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0" name="Line 232"/>
          <p:cNvSpPr>
            <a:spLocks noChangeShapeType="1"/>
          </p:cNvSpPr>
          <p:nvPr/>
        </p:nvSpPr>
        <p:spPr bwMode="auto">
          <a:xfrm flipV="1">
            <a:off x="2846388" y="5591175"/>
            <a:ext cx="61912" cy="571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1" name="Line 233"/>
          <p:cNvSpPr>
            <a:spLocks noChangeShapeType="1"/>
          </p:cNvSpPr>
          <p:nvPr/>
        </p:nvSpPr>
        <p:spPr bwMode="auto">
          <a:xfrm flipV="1">
            <a:off x="2908300" y="5568950"/>
            <a:ext cx="30163" cy="222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2" name="Line 234"/>
          <p:cNvSpPr>
            <a:spLocks noChangeShapeType="1"/>
          </p:cNvSpPr>
          <p:nvPr/>
        </p:nvSpPr>
        <p:spPr bwMode="auto">
          <a:xfrm flipV="1">
            <a:off x="2938463" y="5557838"/>
            <a:ext cx="30162" cy="47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3" name="Line 235"/>
          <p:cNvSpPr>
            <a:spLocks noChangeShapeType="1"/>
          </p:cNvSpPr>
          <p:nvPr/>
        </p:nvSpPr>
        <p:spPr bwMode="auto">
          <a:xfrm>
            <a:off x="2974975" y="5564188"/>
            <a:ext cx="30163" cy="47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4" name="Line 236"/>
          <p:cNvSpPr>
            <a:spLocks noChangeShapeType="1"/>
          </p:cNvSpPr>
          <p:nvPr/>
        </p:nvSpPr>
        <p:spPr bwMode="auto">
          <a:xfrm>
            <a:off x="3005138" y="5568950"/>
            <a:ext cx="30162" cy="222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5" name="Line 237"/>
          <p:cNvSpPr>
            <a:spLocks noChangeShapeType="1"/>
          </p:cNvSpPr>
          <p:nvPr/>
        </p:nvSpPr>
        <p:spPr bwMode="auto">
          <a:xfrm>
            <a:off x="3035300" y="5591175"/>
            <a:ext cx="61913" cy="571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6" name="Freeform 238"/>
          <p:cNvSpPr>
            <a:spLocks/>
          </p:cNvSpPr>
          <p:nvPr/>
        </p:nvSpPr>
        <p:spPr bwMode="auto">
          <a:xfrm>
            <a:off x="3011488" y="5567363"/>
            <a:ext cx="87312" cy="82550"/>
          </a:xfrm>
          <a:custGeom>
            <a:avLst/>
            <a:gdLst>
              <a:gd name="T0" fmla="*/ 22 w 55"/>
              <a:gd name="T1" fmla="*/ 0 h 52"/>
              <a:gd name="T2" fmla="*/ 54 w 55"/>
              <a:gd name="T3" fmla="*/ 51 h 52"/>
              <a:gd name="T4" fmla="*/ 0 w 55"/>
              <a:gd name="T5" fmla="*/ 21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5" h="52">
                <a:moveTo>
                  <a:pt x="22" y="0"/>
                </a:moveTo>
                <a:lnTo>
                  <a:pt x="54" y="51"/>
                </a:lnTo>
                <a:lnTo>
                  <a:pt x="0" y="2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" name="Freeform 239"/>
          <p:cNvSpPr>
            <a:spLocks/>
          </p:cNvSpPr>
          <p:nvPr/>
        </p:nvSpPr>
        <p:spPr bwMode="auto">
          <a:xfrm>
            <a:off x="3463925" y="5567363"/>
            <a:ext cx="87313" cy="82550"/>
          </a:xfrm>
          <a:custGeom>
            <a:avLst/>
            <a:gdLst>
              <a:gd name="T0" fmla="*/ 54 w 55"/>
              <a:gd name="T1" fmla="*/ 21 h 52"/>
              <a:gd name="T2" fmla="*/ 0 w 55"/>
              <a:gd name="T3" fmla="*/ 51 h 52"/>
              <a:gd name="T4" fmla="*/ 32 w 55"/>
              <a:gd name="T5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5" h="52">
                <a:moveTo>
                  <a:pt x="54" y="21"/>
                </a:moveTo>
                <a:lnTo>
                  <a:pt x="0" y="51"/>
                </a:lnTo>
                <a:lnTo>
                  <a:pt x="32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" name="Line 240"/>
          <p:cNvSpPr>
            <a:spLocks noChangeShapeType="1"/>
          </p:cNvSpPr>
          <p:nvPr/>
        </p:nvSpPr>
        <p:spPr bwMode="auto">
          <a:xfrm flipV="1">
            <a:off x="3463925" y="5591175"/>
            <a:ext cx="60325" cy="571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" name="Line 241"/>
          <p:cNvSpPr>
            <a:spLocks noChangeShapeType="1"/>
          </p:cNvSpPr>
          <p:nvPr/>
        </p:nvSpPr>
        <p:spPr bwMode="auto">
          <a:xfrm flipV="1">
            <a:off x="3517900" y="5568950"/>
            <a:ext cx="30163" cy="222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" name="Line 242"/>
          <p:cNvSpPr>
            <a:spLocks noChangeShapeType="1"/>
          </p:cNvSpPr>
          <p:nvPr/>
        </p:nvSpPr>
        <p:spPr bwMode="auto">
          <a:xfrm flipV="1">
            <a:off x="3554413" y="5557838"/>
            <a:ext cx="31750" cy="47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1" name="Line 243"/>
          <p:cNvSpPr>
            <a:spLocks noChangeShapeType="1"/>
          </p:cNvSpPr>
          <p:nvPr/>
        </p:nvSpPr>
        <p:spPr bwMode="auto">
          <a:xfrm>
            <a:off x="3586163" y="5564188"/>
            <a:ext cx="30162" cy="47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2" name="Line 244"/>
          <p:cNvSpPr>
            <a:spLocks noChangeShapeType="1"/>
          </p:cNvSpPr>
          <p:nvPr/>
        </p:nvSpPr>
        <p:spPr bwMode="auto">
          <a:xfrm>
            <a:off x="3616325" y="5568950"/>
            <a:ext cx="30163" cy="222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3" name="Line 245"/>
          <p:cNvSpPr>
            <a:spLocks noChangeShapeType="1"/>
          </p:cNvSpPr>
          <p:nvPr/>
        </p:nvSpPr>
        <p:spPr bwMode="auto">
          <a:xfrm>
            <a:off x="3646488" y="5591175"/>
            <a:ext cx="61912" cy="571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4" name="Freeform 246"/>
          <p:cNvSpPr>
            <a:spLocks/>
          </p:cNvSpPr>
          <p:nvPr/>
        </p:nvSpPr>
        <p:spPr bwMode="auto">
          <a:xfrm>
            <a:off x="3621088" y="5567363"/>
            <a:ext cx="88900" cy="82550"/>
          </a:xfrm>
          <a:custGeom>
            <a:avLst/>
            <a:gdLst>
              <a:gd name="T0" fmla="*/ 22 w 56"/>
              <a:gd name="T1" fmla="*/ 0 h 52"/>
              <a:gd name="T2" fmla="*/ 55 w 56"/>
              <a:gd name="T3" fmla="*/ 51 h 52"/>
              <a:gd name="T4" fmla="*/ 0 w 56"/>
              <a:gd name="T5" fmla="*/ 21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6" h="52">
                <a:moveTo>
                  <a:pt x="22" y="0"/>
                </a:moveTo>
                <a:lnTo>
                  <a:pt x="55" y="51"/>
                </a:lnTo>
                <a:lnTo>
                  <a:pt x="0" y="2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5" name="Freeform 247"/>
          <p:cNvSpPr>
            <a:spLocks/>
          </p:cNvSpPr>
          <p:nvPr/>
        </p:nvSpPr>
        <p:spPr bwMode="auto">
          <a:xfrm>
            <a:off x="4137025" y="5567363"/>
            <a:ext cx="85725" cy="82550"/>
          </a:xfrm>
          <a:custGeom>
            <a:avLst/>
            <a:gdLst>
              <a:gd name="T0" fmla="*/ 53 w 54"/>
              <a:gd name="T1" fmla="*/ 21 h 52"/>
              <a:gd name="T2" fmla="*/ 0 w 54"/>
              <a:gd name="T3" fmla="*/ 51 h 52"/>
              <a:gd name="T4" fmla="*/ 31 w 54"/>
              <a:gd name="T5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" h="52">
                <a:moveTo>
                  <a:pt x="53" y="21"/>
                </a:moveTo>
                <a:lnTo>
                  <a:pt x="0" y="51"/>
                </a:lnTo>
                <a:lnTo>
                  <a:pt x="31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6" name="Line 248"/>
          <p:cNvSpPr>
            <a:spLocks noChangeShapeType="1"/>
          </p:cNvSpPr>
          <p:nvPr/>
        </p:nvSpPr>
        <p:spPr bwMode="auto">
          <a:xfrm flipV="1">
            <a:off x="4137025" y="5591175"/>
            <a:ext cx="60325" cy="571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" name="Line 249"/>
          <p:cNvSpPr>
            <a:spLocks noChangeShapeType="1"/>
          </p:cNvSpPr>
          <p:nvPr/>
        </p:nvSpPr>
        <p:spPr bwMode="auto">
          <a:xfrm flipV="1">
            <a:off x="4191000" y="5568950"/>
            <a:ext cx="30163" cy="222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" name="Line 250"/>
          <p:cNvSpPr>
            <a:spLocks noChangeShapeType="1"/>
          </p:cNvSpPr>
          <p:nvPr/>
        </p:nvSpPr>
        <p:spPr bwMode="auto">
          <a:xfrm flipV="1">
            <a:off x="4227513" y="5557838"/>
            <a:ext cx="31750" cy="47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" name="Line 251"/>
          <p:cNvSpPr>
            <a:spLocks noChangeShapeType="1"/>
          </p:cNvSpPr>
          <p:nvPr/>
        </p:nvSpPr>
        <p:spPr bwMode="auto">
          <a:xfrm>
            <a:off x="4259263" y="5564188"/>
            <a:ext cx="28575" cy="47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0" name="Line 252"/>
          <p:cNvSpPr>
            <a:spLocks noChangeShapeType="1"/>
          </p:cNvSpPr>
          <p:nvPr/>
        </p:nvSpPr>
        <p:spPr bwMode="auto">
          <a:xfrm>
            <a:off x="4287838" y="5568950"/>
            <a:ext cx="31750" cy="222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1" name="Line 253"/>
          <p:cNvSpPr>
            <a:spLocks noChangeShapeType="1"/>
          </p:cNvSpPr>
          <p:nvPr/>
        </p:nvSpPr>
        <p:spPr bwMode="auto">
          <a:xfrm>
            <a:off x="4319588" y="5591175"/>
            <a:ext cx="60325" cy="571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2" name="Freeform 254"/>
          <p:cNvSpPr>
            <a:spLocks/>
          </p:cNvSpPr>
          <p:nvPr/>
        </p:nvSpPr>
        <p:spPr bwMode="auto">
          <a:xfrm>
            <a:off x="4292600" y="5567363"/>
            <a:ext cx="88900" cy="82550"/>
          </a:xfrm>
          <a:custGeom>
            <a:avLst/>
            <a:gdLst>
              <a:gd name="T0" fmla="*/ 22 w 56"/>
              <a:gd name="T1" fmla="*/ 0 h 52"/>
              <a:gd name="T2" fmla="*/ 55 w 56"/>
              <a:gd name="T3" fmla="*/ 51 h 52"/>
              <a:gd name="T4" fmla="*/ 0 w 56"/>
              <a:gd name="T5" fmla="*/ 21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6" h="52">
                <a:moveTo>
                  <a:pt x="22" y="0"/>
                </a:moveTo>
                <a:lnTo>
                  <a:pt x="55" y="51"/>
                </a:lnTo>
                <a:lnTo>
                  <a:pt x="0" y="2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3" name="Freeform 255"/>
          <p:cNvSpPr>
            <a:spLocks/>
          </p:cNvSpPr>
          <p:nvPr/>
        </p:nvSpPr>
        <p:spPr bwMode="auto">
          <a:xfrm>
            <a:off x="5418138" y="5567363"/>
            <a:ext cx="88900" cy="82550"/>
          </a:xfrm>
          <a:custGeom>
            <a:avLst/>
            <a:gdLst>
              <a:gd name="T0" fmla="*/ 55 w 56"/>
              <a:gd name="T1" fmla="*/ 21 h 52"/>
              <a:gd name="T2" fmla="*/ 0 w 56"/>
              <a:gd name="T3" fmla="*/ 51 h 52"/>
              <a:gd name="T4" fmla="*/ 33 w 56"/>
              <a:gd name="T5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6" h="52">
                <a:moveTo>
                  <a:pt x="55" y="21"/>
                </a:moveTo>
                <a:lnTo>
                  <a:pt x="0" y="51"/>
                </a:lnTo>
                <a:lnTo>
                  <a:pt x="33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4" name="Line 256"/>
          <p:cNvSpPr>
            <a:spLocks noChangeShapeType="1"/>
          </p:cNvSpPr>
          <p:nvPr/>
        </p:nvSpPr>
        <p:spPr bwMode="auto">
          <a:xfrm flipV="1">
            <a:off x="5411788" y="5591175"/>
            <a:ext cx="61912" cy="571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5" name="Line 257"/>
          <p:cNvSpPr>
            <a:spLocks noChangeShapeType="1"/>
          </p:cNvSpPr>
          <p:nvPr/>
        </p:nvSpPr>
        <p:spPr bwMode="auto">
          <a:xfrm flipV="1">
            <a:off x="5480050" y="5568950"/>
            <a:ext cx="28575" cy="222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6" name="Line 258"/>
          <p:cNvSpPr>
            <a:spLocks noChangeShapeType="1"/>
          </p:cNvSpPr>
          <p:nvPr/>
        </p:nvSpPr>
        <p:spPr bwMode="auto">
          <a:xfrm flipV="1">
            <a:off x="5508625" y="5557838"/>
            <a:ext cx="31750" cy="47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" name="Line 259"/>
          <p:cNvSpPr>
            <a:spLocks noChangeShapeType="1"/>
          </p:cNvSpPr>
          <p:nvPr/>
        </p:nvSpPr>
        <p:spPr bwMode="auto">
          <a:xfrm>
            <a:off x="5540375" y="5564188"/>
            <a:ext cx="31750" cy="47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" name="Line 260"/>
          <p:cNvSpPr>
            <a:spLocks noChangeShapeType="1"/>
          </p:cNvSpPr>
          <p:nvPr/>
        </p:nvSpPr>
        <p:spPr bwMode="auto">
          <a:xfrm>
            <a:off x="5572125" y="5568950"/>
            <a:ext cx="30163" cy="222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" name="Line 261"/>
          <p:cNvSpPr>
            <a:spLocks noChangeShapeType="1"/>
          </p:cNvSpPr>
          <p:nvPr/>
        </p:nvSpPr>
        <p:spPr bwMode="auto">
          <a:xfrm>
            <a:off x="5602288" y="5591175"/>
            <a:ext cx="60325" cy="571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0" name="Freeform 262"/>
          <p:cNvSpPr>
            <a:spLocks/>
          </p:cNvSpPr>
          <p:nvPr/>
        </p:nvSpPr>
        <p:spPr bwMode="auto">
          <a:xfrm>
            <a:off x="5576888" y="5567363"/>
            <a:ext cx="87312" cy="82550"/>
          </a:xfrm>
          <a:custGeom>
            <a:avLst/>
            <a:gdLst>
              <a:gd name="T0" fmla="*/ 22 w 55"/>
              <a:gd name="T1" fmla="*/ 0 h 52"/>
              <a:gd name="T2" fmla="*/ 54 w 55"/>
              <a:gd name="T3" fmla="*/ 51 h 52"/>
              <a:gd name="T4" fmla="*/ 0 w 55"/>
              <a:gd name="T5" fmla="*/ 21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5" h="52">
                <a:moveTo>
                  <a:pt x="22" y="0"/>
                </a:moveTo>
                <a:lnTo>
                  <a:pt x="54" y="51"/>
                </a:lnTo>
                <a:lnTo>
                  <a:pt x="0" y="2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1" name="Freeform 263"/>
          <p:cNvSpPr>
            <a:spLocks/>
          </p:cNvSpPr>
          <p:nvPr/>
        </p:nvSpPr>
        <p:spPr bwMode="auto">
          <a:xfrm>
            <a:off x="6089650" y="5567363"/>
            <a:ext cx="88900" cy="82550"/>
          </a:xfrm>
          <a:custGeom>
            <a:avLst/>
            <a:gdLst>
              <a:gd name="T0" fmla="*/ 55 w 56"/>
              <a:gd name="T1" fmla="*/ 21 h 52"/>
              <a:gd name="T2" fmla="*/ 0 w 56"/>
              <a:gd name="T3" fmla="*/ 51 h 52"/>
              <a:gd name="T4" fmla="*/ 34 w 56"/>
              <a:gd name="T5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6" h="52">
                <a:moveTo>
                  <a:pt x="55" y="21"/>
                </a:moveTo>
                <a:lnTo>
                  <a:pt x="0" y="51"/>
                </a:lnTo>
                <a:lnTo>
                  <a:pt x="34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2" name="Line 264"/>
          <p:cNvSpPr>
            <a:spLocks noChangeShapeType="1"/>
          </p:cNvSpPr>
          <p:nvPr/>
        </p:nvSpPr>
        <p:spPr bwMode="auto">
          <a:xfrm flipV="1">
            <a:off x="6089650" y="5591175"/>
            <a:ext cx="60325" cy="571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3" name="Line 265"/>
          <p:cNvSpPr>
            <a:spLocks noChangeShapeType="1"/>
          </p:cNvSpPr>
          <p:nvPr/>
        </p:nvSpPr>
        <p:spPr bwMode="auto">
          <a:xfrm flipV="1">
            <a:off x="6143625" y="5568950"/>
            <a:ext cx="33338" cy="222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4" name="Line 266"/>
          <p:cNvSpPr>
            <a:spLocks noChangeShapeType="1"/>
          </p:cNvSpPr>
          <p:nvPr/>
        </p:nvSpPr>
        <p:spPr bwMode="auto">
          <a:xfrm flipV="1">
            <a:off x="6176963" y="5557838"/>
            <a:ext cx="30162" cy="47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5" name="Line 267"/>
          <p:cNvSpPr>
            <a:spLocks noChangeShapeType="1"/>
          </p:cNvSpPr>
          <p:nvPr/>
        </p:nvSpPr>
        <p:spPr bwMode="auto">
          <a:xfrm>
            <a:off x="6213475" y="5564188"/>
            <a:ext cx="28575" cy="47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6" name="Line 268"/>
          <p:cNvSpPr>
            <a:spLocks noChangeShapeType="1"/>
          </p:cNvSpPr>
          <p:nvPr/>
        </p:nvSpPr>
        <p:spPr bwMode="auto">
          <a:xfrm>
            <a:off x="6242050" y="5568950"/>
            <a:ext cx="30163" cy="222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" name="Line 269"/>
          <p:cNvSpPr>
            <a:spLocks noChangeShapeType="1"/>
          </p:cNvSpPr>
          <p:nvPr/>
        </p:nvSpPr>
        <p:spPr bwMode="auto">
          <a:xfrm>
            <a:off x="6272213" y="5591175"/>
            <a:ext cx="63500" cy="571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" name="Freeform 270"/>
          <p:cNvSpPr>
            <a:spLocks/>
          </p:cNvSpPr>
          <p:nvPr/>
        </p:nvSpPr>
        <p:spPr bwMode="auto">
          <a:xfrm>
            <a:off x="6248400" y="5567363"/>
            <a:ext cx="88900" cy="82550"/>
          </a:xfrm>
          <a:custGeom>
            <a:avLst/>
            <a:gdLst>
              <a:gd name="T0" fmla="*/ 22 w 56"/>
              <a:gd name="T1" fmla="*/ 0 h 52"/>
              <a:gd name="T2" fmla="*/ 55 w 56"/>
              <a:gd name="T3" fmla="*/ 51 h 52"/>
              <a:gd name="T4" fmla="*/ 0 w 56"/>
              <a:gd name="T5" fmla="*/ 21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6" h="52">
                <a:moveTo>
                  <a:pt x="22" y="0"/>
                </a:moveTo>
                <a:lnTo>
                  <a:pt x="55" y="51"/>
                </a:lnTo>
                <a:lnTo>
                  <a:pt x="0" y="2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" name="Freeform 271"/>
          <p:cNvSpPr>
            <a:spLocks/>
          </p:cNvSpPr>
          <p:nvPr/>
        </p:nvSpPr>
        <p:spPr bwMode="auto">
          <a:xfrm>
            <a:off x="4746625" y="5567363"/>
            <a:ext cx="87313" cy="82550"/>
          </a:xfrm>
          <a:custGeom>
            <a:avLst/>
            <a:gdLst>
              <a:gd name="T0" fmla="*/ 54 w 55"/>
              <a:gd name="T1" fmla="*/ 21 h 52"/>
              <a:gd name="T2" fmla="*/ 0 w 55"/>
              <a:gd name="T3" fmla="*/ 51 h 52"/>
              <a:gd name="T4" fmla="*/ 32 w 55"/>
              <a:gd name="T5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5" h="52">
                <a:moveTo>
                  <a:pt x="54" y="21"/>
                </a:moveTo>
                <a:lnTo>
                  <a:pt x="0" y="51"/>
                </a:lnTo>
                <a:lnTo>
                  <a:pt x="32" y="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" name="Line 272"/>
          <p:cNvSpPr>
            <a:spLocks noChangeShapeType="1"/>
          </p:cNvSpPr>
          <p:nvPr/>
        </p:nvSpPr>
        <p:spPr bwMode="auto">
          <a:xfrm flipV="1">
            <a:off x="4740275" y="5591175"/>
            <a:ext cx="61913" cy="571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1" name="Line 273"/>
          <p:cNvSpPr>
            <a:spLocks noChangeShapeType="1"/>
          </p:cNvSpPr>
          <p:nvPr/>
        </p:nvSpPr>
        <p:spPr bwMode="auto">
          <a:xfrm flipV="1">
            <a:off x="4802188" y="5568950"/>
            <a:ext cx="30162" cy="222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2" name="Line 274"/>
          <p:cNvSpPr>
            <a:spLocks noChangeShapeType="1"/>
          </p:cNvSpPr>
          <p:nvPr/>
        </p:nvSpPr>
        <p:spPr bwMode="auto">
          <a:xfrm flipV="1">
            <a:off x="4832350" y="5557838"/>
            <a:ext cx="30163" cy="47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3" name="Line 275"/>
          <p:cNvSpPr>
            <a:spLocks noChangeShapeType="1"/>
          </p:cNvSpPr>
          <p:nvPr/>
        </p:nvSpPr>
        <p:spPr bwMode="auto">
          <a:xfrm>
            <a:off x="4868863" y="5564188"/>
            <a:ext cx="30162" cy="47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4" name="Line 276"/>
          <p:cNvSpPr>
            <a:spLocks noChangeShapeType="1"/>
          </p:cNvSpPr>
          <p:nvPr/>
        </p:nvSpPr>
        <p:spPr bwMode="auto">
          <a:xfrm>
            <a:off x="4899025" y="5568950"/>
            <a:ext cx="31750" cy="222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5" name="Line 277"/>
          <p:cNvSpPr>
            <a:spLocks noChangeShapeType="1"/>
          </p:cNvSpPr>
          <p:nvPr/>
        </p:nvSpPr>
        <p:spPr bwMode="auto">
          <a:xfrm>
            <a:off x="4930775" y="5591175"/>
            <a:ext cx="61913" cy="571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6" name="Freeform 278"/>
          <p:cNvSpPr>
            <a:spLocks/>
          </p:cNvSpPr>
          <p:nvPr/>
        </p:nvSpPr>
        <p:spPr bwMode="auto">
          <a:xfrm>
            <a:off x="4905375" y="5567363"/>
            <a:ext cx="88900" cy="82550"/>
          </a:xfrm>
          <a:custGeom>
            <a:avLst/>
            <a:gdLst>
              <a:gd name="T0" fmla="*/ 22 w 56"/>
              <a:gd name="T1" fmla="*/ 0 h 52"/>
              <a:gd name="T2" fmla="*/ 55 w 56"/>
              <a:gd name="T3" fmla="*/ 51 h 52"/>
              <a:gd name="T4" fmla="*/ 0 w 56"/>
              <a:gd name="T5" fmla="*/ 21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6" h="52">
                <a:moveTo>
                  <a:pt x="22" y="0"/>
                </a:moveTo>
                <a:lnTo>
                  <a:pt x="55" y="51"/>
                </a:lnTo>
                <a:lnTo>
                  <a:pt x="0" y="2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7" name="Rectangle 279"/>
          <p:cNvSpPr>
            <a:spLocks noChangeArrowheads="1"/>
          </p:cNvSpPr>
          <p:nvPr/>
        </p:nvSpPr>
        <p:spPr bwMode="auto">
          <a:xfrm>
            <a:off x="1676400" y="5622925"/>
            <a:ext cx="336550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3*</a:t>
            </a:r>
          </a:p>
        </p:txBody>
      </p:sp>
      <p:sp>
        <p:nvSpPr>
          <p:cNvPr id="348" name="Rectangle 280"/>
          <p:cNvSpPr>
            <a:spLocks noChangeArrowheads="1"/>
          </p:cNvSpPr>
          <p:nvPr/>
        </p:nvSpPr>
        <p:spPr bwMode="auto">
          <a:xfrm>
            <a:off x="1944688" y="5634038"/>
            <a:ext cx="33655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4*</a:t>
            </a:r>
          </a:p>
        </p:txBody>
      </p:sp>
      <p:sp>
        <p:nvSpPr>
          <p:cNvPr id="349" name="Rectangle 281"/>
          <p:cNvSpPr>
            <a:spLocks noChangeArrowheads="1"/>
          </p:cNvSpPr>
          <p:nvPr/>
        </p:nvSpPr>
        <p:spPr bwMode="auto">
          <a:xfrm>
            <a:off x="2324100" y="5622925"/>
            <a:ext cx="336550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6*</a:t>
            </a:r>
          </a:p>
        </p:txBody>
      </p:sp>
      <p:sp>
        <p:nvSpPr>
          <p:cNvPr id="350" name="Rectangle 282"/>
          <p:cNvSpPr>
            <a:spLocks noChangeArrowheads="1"/>
          </p:cNvSpPr>
          <p:nvPr/>
        </p:nvSpPr>
        <p:spPr bwMode="auto">
          <a:xfrm>
            <a:off x="2593975" y="5622925"/>
            <a:ext cx="336550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9*</a:t>
            </a:r>
          </a:p>
        </p:txBody>
      </p:sp>
      <p:sp>
        <p:nvSpPr>
          <p:cNvPr id="351" name="Rectangle 283"/>
          <p:cNvSpPr>
            <a:spLocks noChangeArrowheads="1"/>
          </p:cNvSpPr>
          <p:nvPr/>
        </p:nvSpPr>
        <p:spPr bwMode="auto">
          <a:xfrm>
            <a:off x="2930525" y="5622925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10*</a:t>
            </a:r>
          </a:p>
        </p:txBody>
      </p:sp>
      <p:sp>
        <p:nvSpPr>
          <p:cNvPr id="352" name="Rectangle 284"/>
          <p:cNvSpPr>
            <a:spLocks noChangeArrowheads="1"/>
          </p:cNvSpPr>
          <p:nvPr/>
        </p:nvSpPr>
        <p:spPr bwMode="auto">
          <a:xfrm>
            <a:off x="3201988" y="5622925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11*</a:t>
            </a:r>
          </a:p>
        </p:txBody>
      </p:sp>
      <p:sp>
        <p:nvSpPr>
          <p:cNvPr id="353" name="Rectangle 285"/>
          <p:cNvSpPr>
            <a:spLocks noChangeArrowheads="1"/>
          </p:cNvSpPr>
          <p:nvPr/>
        </p:nvSpPr>
        <p:spPr bwMode="auto">
          <a:xfrm>
            <a:off x="3581400" y="5622925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12*</a:t>
            </a:r>
          </a:p>
        </p:txBody>
      </p:sp>
      <p:sp>
        <p:nvSpPr>
          <p:cNvPr id="354" name="Rectangle 286"/>
          <p:cNvSpPr>
            <a:spLocks noChangeArrowheads="1"/>
          </p:cNvSpPr>
          <p:nvPr/>
        </p:nvSpPr>
        <p:spPr bwMode="auto">
          <a:xfrm>
            <a:off x="3849688" y="5622925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13*</a:t>
            </a:r>
          </a:p>
        </p:txBody>
      </p:sp>
      <p:sp>
        <p:nvSpPr>
          <p:cNvPr id="355" name="Rectangle 287"/>
          <p:cNvSpPr>
            <a:spLocks noChangeArrowheads="1"/>
          </p:cNvSpPr>
          <p:nvPr/>
        </p:nvSpPr>
        <p:spPr bwMode="auto">
          <a:xfrm>
            <a:off x="4229100" y="5634038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20*</a:t>
            </a:r>
          </a:p>
        </p:txBody>
      </p:sp>
      <p:sp>
        <p:nvSpPr>
          <p:cNvPr id="356" name="Rectangle 288"/>
          <p:cNvSpPr>
            <a:spLocks noChangeArrowheads="1"/>
          </p:cNvSpPr>
          <p:nvPr/>
        </p:nvSpPr>
        <p:spPr bwMode="auto">
          <a:xfrm>
            <a:off x="4487863" y="5634038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22*</a:t>
            </a:r>
          </a:p>
        </p:txBody>
      </p:sp>
      <p:sp>
        <p:nvSpPr>
          <p:cNvPr id="357" name="Rectangle 289"/>
          <p:cNvSpPr>
            <a:spLocks noChangeArrowheads="1"/>
          </p:cNvSpPr>
          <p:nvPr/>
        </p:nvSpPr>
        <p:spPr bwMode="auto">
          <a:xfrm>
            <a:off x="4867275" y="5622925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23*</a:t>
            </a:r>
          </a:p>
        </p:txBody>
      </p:sp>
      <p:sp>
        <p:nvSpPr>
          <p:cNvPr id="358" name="Rectangle 290"/>
          <p:cNvSpPr>
            <a:spLocks noChangeArrowheads="1"/>
          </p:cNvSpPr>
          <p:nvPr/>
        </p:nvSpPr>
        <p:spPr bwMode="auto">
          <a:xfrm>
            <a:off x="5148263" y="5622925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31*</a:t>
            </a:r>
          </a:p>
        </p:txBody>
      </p:sp>
      <p:sp>
        <p:nvSpPr>
          <p:cNvPr id="359" name="Rectangle 291"/>
          <p:cNvSpPr>
            <a:spLocks noChangeArrowheads="1"/>
          </p:cNvSpPr>
          <p:nvPr/>
        </p:nvSpPr>
        <p:spPr bwMode="auto">
          <a:xfrm>
            <a:off x="5516563" y="5634038"/>
            <a:ext cx="4286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35*</a:t>
            </a:r>
          </a:p>
        </p:txBody>
      </p:sp>
      <p:sp>
        <p:nvSpPr>
          <p:cNvPr id="360" name="Rectangle 292"/>
          <p:cNvSpPr>
            <a:spLocks noChangeArrowheads="1"/>
          </p:cNvSpPr>
          <p:nvPr/>
        </p:nvSpPr>
        <p:spPr bwMode="auto">
          <a:xfrm>
            <a:off x="5775325" y="5622925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36*</a:t>
            </a:r>
          </a:p>
        </p:txBody>
      </p:sp>
      <p:sp>
        <p:nvSpPr>
          <p:cNvPr id="361" name="Rectangle 293"/>
          <p:cNvSpPr>
            <a:spLocks noChangeArrowheads="1"/>
          </p:cNvSpPr>
          <p:nvPr/>
        </p:nvSpPr>
        <p:spPr bwMode="auto">
          <a:xfrm>
            <a:off x="6164263" y="5622925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38*</a:t>
            </a:r>
          </a:p>
        </p:txBody>
      </p:sp>
      <p:sp>
        <p:nvSpPr>
          <p:cNvPr id="362" name="Rectangle 294"/>
          <p:cNvSpPr>
            <a:spLocks noChangeArrowheads="1"/>
          </p:cNvSpPr>
          <p:nvPr/>
        </p:nvSpPr>
        <p:spPr bwMode="auto">
          <a:xfrm>
            <a:off x="6424613" y="5622925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41*</a:t>
            </a:r>
          </a:p>
        </p:txBody>
      </p:sp>
      <p:sp>
        <p:nvSpPr>
          <p:cNvPr id="363" name="Rectangle 295"/>
          <p:cNvSpPr>
            <a:spLocks noChangeArrowheads="1"/>
          </p:cNvSpPr>
          <p:nvPr/>
        </p:nvSpPr>
        <p:spPr bwMode="auto">
          <a:xfrm>
            <a:off x="6781800" y="5622925"/>
            <a:ext cx="4286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44*</a:t>
            </a:r>
          </a:p>
        </p:txBody>
      </p:sp>
      <p:sp>
        <p:nvSpPr>
          <p:cNvPr id="364" name="Rectangle 296"/>
          <p:cNvSpPr>
            <a:spLocks noChangeArrowheads="1"/>
          </p:cNvSpPr>
          <p:nvPr/>
        </p:nvSpPr>
        <p:spPr bwMode="auto">
          <a:xfrm>
            <a:off x="2389188" y="4765675"/>
            <a:ext cx="273050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6</a:t>
            </a:r>
          </a:p>
        </p:txBody>
      </p:sp>
      <p:sp>
        <p:nvSpPr>
          <p:cNvPr id="365" name="Rectangle 297"/>
          <p:cNvSpPr>
            <a:spLocks noChangeArrowheads="1"/>
          </p:cNvSpPr>
          <p:nvPr/>
        </p:nvSpPr>
        <p:spPr bwMode="auto">
          <a:xfrm>
            <a:off x="3384550" y="3343275"/>
            <a:ext cx="5857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Arial" pitchFamily="34" charset="0"/>
              </a:rPr>
              <a:t>Root</a:t>
            </a:r>
          </a:p>
        </p:txBody>
      </p:sp>
      <p:sp>
        <p:nvSpPr>
          <p:cNvPr id="366" name="Rectangle 298"/>
          <p:cNvSpPr>
            <a:spLocks noChangeArrowheads="1"/>
          </p:cNvSpPr>
          <p:nvPr/>
        </p:nvSpPr>
        <p:spPr bwMode="auto">
          <a:xfrm>
            <a:off x="3373438" y="4029075"/>
            <a:ext cx="3651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10</a:t>
            </a:r>
          </a:p>
        </p:txBody>
      </p:sp>
      <p:sp>
        <p:nvSpPr>
          <p:cNvPr id="367" name="Rectangle 299"/>
          <p:cNvSpPr>
            <a:spLocks noChangeArrowheads="1"/>
          </p:cNvSpPr>
          <p:nvPr/>
        </p:nvSpPr>
        <p:spPr bwMode="auto">
          <a:xfrm>
            <a:off x="3514725" y="4775200"/>
            <a:ext cx="3651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12</a:t>
            </a:r>
          </a:p>
        </p:txBody>
      </p:sp>
      <p:sp>
        <p:nvSpPr>
          <p:cNvPr id="368" name="Rectangle 300"/>
          <p:cNvSpPr>
            <a:spLocks noChangeArrowheads="1"/>
          </p:cNvSpPr>
          <p:nvPr/>
        </p:nvSpPr>
        <p:spPr bwMode="auto">
          <a:xfrm>
            <a:off x="4703763" y="4765675"/>
            <a:ext cx="3651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23</a:t>
            </a:r>
          </a:p>
        </p:txBody>
      </p:sp>
      <p:sp>
        <p:nvSpPr>
          <p:cNvPr id="369" name="Rectangle 301"/>
          <p:cNvSpPr>
            <a:spLocks noChangeArrowheads="1"/>
          </p:cNvSpPr>
          <p:nvPr/>
        </p:nvSpPr>
        <p:spPr bwMode="auto">
          <a:xfrm>
            <a:off x="4151313" y="3384550"/>
            <a:ext cx="3651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20</a:t>
            </a:r>
          </a:p>
        </p:txBody>
      </p:sp>
      <p:sp>
        <p:nvSpPr>
          <p:cNvPr id="370" name="Rectangle 302"/>
          <p:cNvSpPr>
            <a:spLocks noChangeArrowheads="1"/>
          </p:cNvSpPr>
          <p:nvPr/>
        </p:nvSpPr>
        <p:spPr bwMode="auto">
          <a:xfrm>
            <a:off x="4911725" y="4038600"/>
            <a:ext cx="3651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35</a:t>
            </a:r>
          </a:p>
        </p:txBody>
      </p:sp>
      <p:sp>
        <p:nvSpPr>
          <p:cNvPr id="371" name="Rectangle 303"/>
          <p:cNvSpPr>
            <a:spLocks noChangeArrowheads="1"/>
          </p:cNvSpPr>
          <p:nvPr/>
        </p:nvSpPr>
        <p:spPr bwMode="auto">
          <a:xfrm>
            <a:off x="5892800" y="4775200"/>
            <a:ext cx="365125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pitchFamily="34" charset="0"/>
              </a:rPr>
              <a:t>38</a:t>
            </a:r>
          </a:p>
        </p:txBody>
      </p:sp>
      <p:sp>
        <p:nvSpPr>
          <p:cNvPr id="372" name="Rectangle 304"/>
          <p:cNvSpPr>
            <a:spLocks noChangeArrowheads="1"/>
          </p:cNvSpPr>
          <p:nvPr/>
        </p:nvSpPr>
        <p:spPr bwMode="auto">
          <a:xfrm>
            <a:off x="6181725" y="4257675"/>
            <a:ext cx="162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Arial" pitchFamily="34" charset="0"/>
              </a:rPr>
              <a:t>not yet in B+ tree</a:t>
            </a:r>
          </a:p>
        </p:txBody>
      </p:sp>
      <p:sp>
        <p:nvSpPr>
          <p:cNvPr id="373" name="Rectangle 305"/>
          <p:cNvSpPr>
            <a:spLocks noChangeArrowheads="1"/>
          </p:cNvSpPr>
          <p:nvPr/>
        </p:nvSpPr>
        <p:spPr bwMode="auto">
          <a:xfrm>
            <a:off x="6181725" y="4029075"/>
            <a:ext cx="16637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Arial" pitchFamily="34" charset="0"/>
              </a:rPr>
              <a:t>Data entry pages </a:t>
            </a:r>
          </a:p>
        </p:txBody>
      </p:sp>
      <p:sp>
        <p:nvSpPr>
          <p:cNvPr id="374" name="Line 306"/>
          <p:cNvSpPr>
            <a:spLocks noChangeShapeType="1"/>
          </p:cNvSpPr>
          <p:nvPr/>
        </p:nvSpPr>
        <p:spPr bwMode="auto">
          <a:xfrm>
            <a:off x="3508375" y="3200400"/>
            <a:ext cx="533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5" name="Arc 307"/>
          <p:cNvSpPr>
            <a:spLocks/>
          </p:cNvSpPr>
          <p:nvPr/>
        </p:nvSpPr>
        <p:spPr bwMode="auto">
          <a:xfrm>
            <a:off x="6864350" y="4575175"/>
            <a:ext cx="304800" cy="990600"/>
          </a:xfrm>
          <a:custGeom>
            <a:avLst/>
            <a:gdLst>
              <a:gd name="G0" fmla="+- 21599 0 0"/>
              <a:gd name="G1" fmla="+- 21600 0 0"/>
              <a:gd name="G2" fmla="+- 21600 0 0"/>
              <a:gd name="T0" fmla="*/ 0 w 21599"/>
              <a:gd name="T1" fmla="*/ 21358 h 21600"/>
              <a:gd name="T2" fmla="*/ 21487 w 21599"/>
              <a:gd name="T3" fmla="*/ 0 h 21600"/>
              <a:gd name="T4" fmla="*/ 21599 w 21599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99" h="21600" fill="none" extrusionOk="0">
                <a:moveTo>
                  <a:pt x="0" y="21358"/>
                </a:moveTo>
                <a:cubicBezTo>
                  <a:pt x="132" y="9567"/>
                  <a:pt x="9695" y="61"/>
                  <a:pt x="21487" y="0"/>
                </a:cubicBezTo>
              </a:path>
              <a:path w="21599" h="21600" stroke="0" extrusionOk="0">
                <a:moveTo>
                  <a:pt x="0" y="21358"/>
                </a:moveTo>
                <a:cubicBezTo>
                  <a:pt x="132" y="9567"/>
                  <a:pt x="9695" y="61"/>
                  <a:pt x="21487" y="0"/>
                </a:cubicBezTo>
                <a:lnTo>
                  <a:pt x="21599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971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369F0-E989-4F4E-9740-0E12922F3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1182" y="2825222"/>
            <a:ext cx="3442522" cy="8155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4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j-lt"/>
              </a:rPr>
              <a:t>Hashing</a:t>
            </a:r>
            <a:endParaRPr lang="en-IN" sz="4800" b="1" dirty="0">
              <a:solidFill>
                <a:srgbClr val="00206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32711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Hash-Based Indexing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9530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/>
              <a:t>What indexing technique can we use to support </a:t>
            </a:r>
            <a:r>
              <a:rPr lang="en-US" sz="2800" i="1" dirty="0" smtClean="0"/>
              <a:t>range searches </a:t>
            </a:r>
            <a:r>
              <a:rPr lang="en-US" sz="2800" dirty="0" smtClean="0"/>
              <a:t>(e.g., “Find </a:t>
            </a:r>
            <a:r>
              <a:rPr lang="en-US" sz="2800" dirty="0" err="1" smtClean="0"/>
              <a:t>s_name</a:t>
            </a:r>
            <a:r>
              <a:rPr lang="en-US" sz="2800" dirty="0" smtClean="0"/>
              <a:t> where </a:t>
            </a:r>
            <a:r>
              <a:rPr lang="en-US" sz="2800" dirty="0" err="1" smtClean="0"/>
              <a:t>gpa</a:t>
            </a:r>
            <a:r>
              <a:rPr lang="en-US" sz="2800" dirty="0" smtClean="0"/>
              <a:t> &gt;= 3.0)?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>
                <a:solidFill>
                  <a:srgbClr val="0070C0"/>
                </a:solidFill>
              </a:rPr>
              <a:t>Tree-Based Indexing</a:t>
            </a:r>
          </a:p>
          <a:p>
            <a:pPr lvl="1"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What about </a:t>
            </a:r>
            <a:r>
              <a:rPr lang="en-US" sz="2800" i="1" dirty="0" smtClean="0"/>
              <a:t>equality selections </a:t>
            </a:r>
            <a:r>
              <a:rPr lang="en-US" sz="2800" dirty="0" smtClean="0"/>
              <a:t>(e.g., “Find </a:t>
            </a:r>
            <a:r>
              <a:rPr lang="en-US" sz="2800" dirty="0" err="1" smtClean="0"/>
              <a:t>s_name</a:t>
            </a:r>
            <a:r>
              <a:rPr lang="en-US" sz="2800" dirty="0" smtClean="0"/>
              <a:t> where </a:t>
            </a:r>
            <a:r>
              <a:rPr lang="en-US" sz="2800" dirty="0" err="1" smtClean="0"/>
              <a:t>sid</a:t>
            </a:r>
            <a:r>
              <a:rPr lang="en-US" sz="2800" dirty="0" smtClean="0"/>
              <a:t> = 102”?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>
                <a:solidFill>
                  <a:srgbClr val="0070C0"/>
                </a:solidFill>
              </a:rPr>
              <a:t>Tree-Based Indexing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 smtClean="0">
                <a:solidFill>
                  <a:srgbClr val="0070C0"/>
                </a:solidFill>
              </a:rPr>
              <a:t>Hash-Based Indexing (</a:t>
            </a:r>
            <a:r>
              <a:rPr lang="en-US" sz="2600" i="1" dirty="0" smtClean="0">
                <a:solidFill>
                  <a:srgbClr val="0070C0"/>
                </a:solidFill>
              </a:rPr>
              <a:t>cannot support range searches!</a:t>
            </a:r>
            <a:r>
              <a:rPr lang="en-US" sz="2600" dirty="0" smtClean="0">
                <a:solidFill>
                  <a:srgbClr val="0070C0"/>
                </a:solidFill>
              </a:rPr>
              <a:t>)</a:t>
            </a:r>
          </a:p>
          <a:p>
            <a:pPr lvl="1"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800" dirty="0" smtClean="0"/>
              <a:t>Hash-based indexing, however, proves to be very useful in implementing relational operators (e.g., joins)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22538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293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ea typeface="ＭＳ Ｐゴシック" pitchFamily="34" charset="-128"/>
              </a:rPr>
              <a:t>Static Hashing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4324" y="945359"/>
            <a:ext cx="8534400" cy="4953000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A </a:t>
            </a:r>
            <a:r>
              <a:rPr lang="en-US" altLang="en-US" sz="2400" b="1" dirty="0">
                <a:solidFill>
                  <a:srgbClr val="002060"/>
                </a:solidFill>
              </a:rPr>
              <a:t>bucket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/>
              <a:t>is a unit of storage containing one or more entries (a bucket is typically a disk block). </a:t>
            </a:r>
          </a:p>
          <a:p>
            <a:pPr lvl="1"/>
            <a:r>
              <a:rPr lang="en-US" altLang="en-US" sz="2000" dirty="0"/>
              <a:t>we obtain the bucket of an entry from its search-key value using a </a:t>
            </a:r>
            <a:r>
              <a:rPr lang="en-US" altLang="en-US" sz="2000" b="1" dirty="0">
                <a:solidFill>
                  <a:srgbClr val="002060"/>
                </a:solidFill>
              </a:rPr>
              <a:t>hash</a:t>
            </a:r>
            <a:r>
              <a:rPr lang="en-US" altLang="en-US" sz="2000" dirty="0">
                <a:solidFill>
                  <a:srgbClr val="002060"/>
                </a:solidFill>
              </a:rPr>
              <a:t> </a:t>
            </a:r>
            <a:r>
              <a:rPr lang="en-US" altLang="en-US" sz="2000" b="1" dirty="0" smtClean="0">
                <a:solidFill>
                  <a:srgbClr val="002060"/>
                </a:solidFill>
              </a:rPr>
              <a:t>function</a:t>
            </a:r>
            <a:endParaRPr lang="en-US" sz="1800" dirty="0"/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A hash function </a:t>
            </a:r>
            <a:r>
              <a:rPr lang="en-US" sz="2000" b="1" i="1" dirty="0" smtClean="0"/>
              <a:t>h</a:t>
            </a:r>
            <a:r>
              <a:rPr lang="en-US" sz="2000" dirty="0" smtClean="0"/>
              <a:t> is used to map keys into a range of </a:t>
            </a:r>
            <a:r>
              <a:rPr lang="en-US" sz="2000" i="1" dirty="0" smtClean="0"/>
              <a:t>bucket </a:t>
            </a:r>
            <a:r>
              <a:rPr lang="en-US" sz="2000" i="1" dirty="0" smtClean="0"/>
              <a:t>numbers</a:t>
            </a:r>
          </a:p>
          <a:p>
            <a:r>
              <a:rPr lang="en-US" altLang="en-US" sz="2000" dirty="0"/>
              <a:t>In a </a:t>
            </a:r>
            <a:r>
              <a:rPr lang="en-US" altLang="en-US" sz="2000" b="1" dirty="0">
                <a:solidFill>
                  <a:srgbClr val="002060"/>
                </a:solidFill>
              </a:rPr>
              <a:t>hash index</a:t>
            </a:r>
            <a:r>
              <a:rPr lang="en-US" altLang="en-US" sz="2000" dirty="0"/>
              <a:t>, buckets store entries with pointers to records</a:t>
            </a:r>
          </a:p>
          <a:p>
            <a:r>
              <a:rPr lang="en-US" altLang="en-US" sz="2000" dirty="0"/>
              <a:t>In a </a:t>
            </a:r>
            <a:r>
              <a:rPr lang="en-US" altLang="en-US" sz="2000" b="1" dirty="0">
                <a:solidFill>
                  <a:srgbClr val="002060"/>
                </a:solidFill>
              </a:rPr>
              <a:t>hash file-organization </a:t>
            </a:r>
            <a:r>
              <a:rPr lang="en-US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buckets store </a:t>
            </a:r>
            <a:r>
              <a:rPr lang="en-US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records</a:t>
            </a:r>
            <a:endParaRPr lang="en-US" alt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Freeform 6"/>
          <p:cNvSpPr>
            <a:spLocks/>
          </p:cNvSpPr>
          <p:nvPr/>
        </p:nvSpPr>
        <p:spPr bwMode="auto">
          <a:xfrm>
            <a:off x="5414962" y="4281614"/>
            <a:ext cx="746125" cy="352425"/>
          </a:xfrm>
          <a:custGeom>
            <a:avLst/>
            <a:gdLst>
              <a:gd name="T0" fmla="*/ 0 w 470"/>
              <a:gd name="T1" fmla="*/ 221 h 222"/>
              <a:gd name="T2" fmla="*/ 0 w 470"/>
              <a:gd name="T3" fmla="*/ 0 h 222"/>
              <a:gd name="T4" fmla="*/ 469 w 470"/>
              <a:gd name="T5" fmla="*/ 0 h 222"/>
              <a:gd name="T6" fmla="*/ 469 w 470"/>
              <a:gd name="T7" fmla="*/ 221 h 222"/>
              <a:gd name="T8" fmla="*/ 0 w 470"/>
              <a:gd name="T9" fmla="*/ 221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70" h="222">
                <a:moveTo>
                  <a:pt x="0" y="221"/>
                </a:moveTo>
                <a:lnTo>
                  <a:pt x="0" y="0"/>
                </a:lnTo>
                <a:lnTo>
                  <a:pt x="469" y="0"/>
                </a:lnTo>
                <a:lnTo>
                  <a:pt x="469" y="221"/>
                </a:lnTo>
                <a:lnTo>
                  <a:pt x="0" y="22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2701924" y="4813427"/>
            <a:ext cx="293688" cy="352425"/>
          </a:xfrm>
          <a:custGeom>
            <a:avLst/>
            <a:gdLst>
              <a:gd name="T0" fmla="*/ 184 w 185"/>
              <a:gd name="T1" fmla="*/ 110 h 222"/>
              <a:gd name="T2" fmla="*/ 176 w 185"/>
              <a:gd name="T3" fmla="*/ 67 h 222"/>
              <a:gd name="T4" fmla="*/ 156 w 185"/>
              <a:gd name="T5" fmla="*/ 32 h 222"/>
              <a:gd name="T6" fmla="*/ 127 w 185"/>
              <a:gd name="T7" fmla="*/ 8 h 222"/>
              <a:gd name="T8" fmla="*/ 92 w 185"/>
              <a:gd name="T9" fmla="*/ 0 h 222"/>
              <a:gd name="T10" fmla="*/ 56 w 185"/>
              <a:gd name="T11" fmla="*/ 8 h 222"/>
              <a:gd name="T12" fmla="*/ 27 w 185"/>
              <a:gd name="T13" fmla="*/ 32 h 222"/>
              <a:gd name="T14" fmla="*/ 7 w 185"/>
              <a:gd name="T15" fmla="*/ 67 h 222"/>
              <a:gd name="T16" fmla="*/ 0 w 185"/>
              <a:gd name="T17" fmla="*/ 110 h 222"/>
              <a:gd name="T18" fmla="*/ 7 w 185"/>
              <a:gd name="T19" fmla="*/ 153 h 222"/>
              <a:gd name="T20" fmla="*/ 27 w 185"/>
              <a:gd name="T21" fmla="*/ 188 h 222"/>
              <a:gd name="T22" fmla="*/ 56 w 185"/>
              <a:gd name="T23" fmla="*/ 212 h 222"/>
              <a:gd name="T24" fmla="*/ 92 w 185"/>
              <a:gd name="T25" fmla="*/ 221 h 222"/>
              <a:gd name="T26" fmla="*/ 127 w 185"/>
              <a:gd name="T27" fmla="*/ 212 h 222"/>
              <a:gd name="T28" fmla="*/ 156 w 185"/>
              <a:gd name="T29" fmla="*/ 188 h 222"/>
              <a:gd name="T30" fmla="*/ 176 w 185"/>
              <a:gd name="T31" fmla="*/ 153 h 222"/>
              <a:gd name="T32" fmla="*/ 184 w 185"/>
              <a:gd name="T33" fmla="*/ 110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85" h="222">
                <a:moveTo>
                  <a:pt x="184" y="110"/>
                </a:moveTo>
                <a:lnTo>
                  <a:pt x="176" y="67"/>
                </a:lnTo>
                <a:lnTo>
                  <a:pt x="156" y="32"/>
                </a:lnTo>
                <a:lnTo>
                  <a:pt x="127" y="8"/>
                </a:lnTo>
                <a:lnTo>
                  <a:pt x="92" y="0"/>
                </a:lnTo>
                <a:lnTo>
                  <a:pt x="56" y="8"/>
                </a:lnTo>
                <a:lnTo>
                  <a:pt x="27" y="32"/>
                </a:lnTo>
                <a:lnTo>
                  <a:pt x="7" y="67"/>
                </a:lnTo>
                <a:lnTo>
                  <a:pt x="0" y="110"/>
                </a:lnTo>
                <a:lnTo>
                  <a:pt x="7" y="153"/>
                </a:lnTo>
                <a:lnTo>
                  <a:pt x="27" y="188"/>
                </a:lnTo>
                <a:lnTo>
                  <a:pt x="56" y="212"/>
                </a:lnTo>
                <a:lnTo>
                  <a:pt x="92" y="221"/>
                </a:lnTo>
                <a:lnTo>
                  <a:pt x="127" y="212"/>
                </a:lnTo>
                <a:lnTo>
                  <a:pt x="156" y="188"/>
                </a:lnTo>
                <a:lnTo>
                  <a:pt x="176" y="153"/>
                </a:lnTo>
                <a:lnTo>
                  <a:pt x="184" y="11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Freeform 8"/>
          <p:cNvSpPr>
            <a:spLocks/>
          </p:cNvSpPr>
          <p:nvPr/>
        </p:nvSpPr>
        <p:spPr bwMode="auto">
          <a:xfrm>
            <a:off x="3798887" y="3938714"/>
            <a:ext cx="784225" cy="2357438"/>
          </a:xfrm>
          <a:custGeom>
            <a:avLst/>
            <a:gdLst>
              <a:gd name="T0" fmla="*/ 0 w 494"/>
              <a:gd name="T1" fmla="*/ 1484 h 1485"/>
              <a:gd name="T2" fmla="*/ 0 w 494"/>
              <a:gd name="T3" fmla="*/ 0 h 1485"/>
              <a:gd name="T4" fmla="*/ 493 w 494"/>
              <a:gd name="T5" fmla="*/ 0 h 1485"/>
              <a:gd name="T6" fmla="*/ 493 w 494"/>
              <a:gd name="T7" fmla="*/ 1484 h 1485"/>
              <a:gd name="T8" fmla="*/ 0 w 494"/>
              <a:gd name="T9" fmla="*/ 1484 h 14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4" h="1485">
                <a:moveTo>
                  <a:pt x="0" y="1484"/>
                </a:moveTo>
                <a:lnTo>
                  <a:pt x="0" y="0"/>
                </a:lnTo>
                <a:lnTo>
                  <a:pt x="493" y="0"/>
                </a:lnTo>
                <a:lnTo>
                  <a:pt x="493" y="1484"/>
                </a:lnTo>
                <a:lnTo>
                  <a:pt x="0" y="1484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1876424" y="4217320"/>
            <a:ext cx="14636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800" b="1" i="1" dirty="0">
                <a:solidFill>
                  <a:srgbClr val="000000"/>
                </a:solidFill>
              </a:rPr>
              <a:t>h</a:t>
            </a:r>
            <a:r>
              <a:rPr lang="en-US" sz="1800" b="1" dirty="0">
                <a:solidFill>
                  <a:srgbClr val="000000"/>
                </a:solidFill>
              </a:rPr>
              <a:t>(key) mod N</a:t>
            </a:r>
          </a:p>
        </p:txBody>
      </p:sp>
      <p:sp>
        <p:nvSpPr>
          <p:cNvPr id="8" name="Freeform 10"/>
          <p:cNvSpPr>
            <a:spLocks/>
          </p:cNvSpPr>
          <p:nvPr/>
        </p:nvSpPr>
        <p:spPr bwMode="auto">
          <a:xfrm>
            <a:off x="6524624" y="4484814"/>
            <a:ext cx="49213" cy="26988"/>
          </a:xfrm>
          <a:custGeom>
            <a:avLst/>
            <a:gdLst>
              <a:gd name="T0" fmla="*/ 30 w 31"/>
              <a:gd name="T1" fmla="*/ 8 h 17"/>
              <a:gd name="T2" fmla="*/ 15 w 31"/>
              <a:gd name="T3" fmla="*/ 0 h 17"/>
              <a:gd name="T4" fmla="*/ 0 w 31"/>
              <a:gd name="T5" fmla="*/ 8 h 17"/>
              <a:gd name="T6" fmla="*/ 15 w 31"/>
              <a:gd name="T7" fmla="*/ 16 h 17"/>
              <a:gd name="T8" fmla="*/ 30 w 31"/>
              <a:gd name="T9" fmla="*/ 8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" h="17">
                <a:moveTo>
                  <a:pt x="30" y="8"/>
                </a:moveTo>
                <a:lnTo>
                  <a:pt x="15" y="0"/>
                </a:lnTo>
                <a:lnTo>
                  <a:pt x="0" y="8"/>
                </a:lnTo>
                <a:lnTo>
                  <a:pt x="15" y="16"/>
                </a:lnTo>
                <a:lnTo>
                  <a:pt x="30" y="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Freeform 11"/>
          <p:cNvSpPr>
            <a:spLocks/>
          </p:cNvSpPr>
          <p:nvPr/>
        </p:nvSpPr>
        <p:spPr bwMode="auto">
          <a:xfrm>
            <a:off x="5575299" y="4824539"/>
            <a:ext cx="49213" cy="26988"/>
          </a:xfrm>
          <a:custGeom>
            <a:avLst/>
            <a:gdLst>
              <a:gd name="T0" fmla="*/ 30 w 31"/>
              <a:gd name="T1" fmla="*/ 8 h 17"/>
              <a:gd name="T2" fmla="*/ 15 w 31"/>
              <a:gd name="T3" fmla="*/ 0 h 17"/>
              <a:gd name="T4" fmla="*/ 0 w 31"/>
              <a:gd name="T5" fmla="*/ 8 h 17"/>
              <a:gd name="T6" fmla="*/ 15 w 31"/>
              <a:gd name="T7" fmla="*/ 16 h 17"/>
              <a:gd name="T8" fmla="*/ 30 w 31"/>
              <a:gd name="T9" fmla="*/ 8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" h="17">
                <a:moveTo>
                  <a:pt x="30" y="8"/>
                </a:moveTo>
                <a:lnTo>
                  <a:pt x="15" y="0"/>
                </a:lnTo>
                <a:lnTo>
                  <a:pt x="0" y="8"/>
                </a:lnTo>
                <a:lnTo>
                  <a:pt x="15" y="16"/>
                </a:lnTo>
                <a:lnTo>
                  <a:pt x="30" y="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Freeform 12"/>
          <p:cNvSpPr>
            <a:spLocks/>
          </p:cNvSpPr>
          <p:nvPr/>
        </p:nvSpPr>
        <p:spPr bwMode="auto">
          <a:xfrm>
            <a:off x="5521324" y="4100639"/>
            <a:ext cx="49213" cy="26988"/>
          </a:xfrm>
          <a:custGeom>
            <a:avLst/>
            <a:gdLst>
              <a:gd name="T0" fmla="*/ 30 w 31"/>
              <a:gd name="T1" fmla="*/ 8 h 17"/>
              <a:gd name="T2" fmla="*/ 15 w 31"/>
              <a:gd name="T3" fmla="*/ 0 h 17"/>
              <a:gd name="T4" fmla="*/ 0 w 31"/>
              <a:gd name="T5" fmla="*/ 8 h 17"/>
              <a:gd name="T6" fmla="*/ 15 w 31"/>
              <a:gd name="T7" fmla="*/ 16 h 17"/>
              <a:gd name="T8" fmla="*/ 30 w 31"/>
              <a:gd name="T9" fmla="*/ 8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" h="17">
                <a:moveTo>
                  <a:pt x="30" y="8"/>
                </a:moveTo>
                <a:lnTo>
                  <a:pt x="15" y="0"/>
                </a:lnTo>
                <a:lnTo>
                  <a:pt x="0" y="8"/>
                </a:lnTo>
                <a:lnTo>
                  <a:pt x="15" y="16"/>
                </a:lnTo>
                <a:lnTo>
                  <a:pt x="30" y="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Freeform 13"/>
          <p:cNvSpPr>
            <a:spLocks/>
          </p:cNvSpPr>
          <p:nvPr/>
        </p:nvSpPr>
        <p:spPr bwMode="auto">
          <a:xfrm>
            <a:off x="5726112" y="4100639"/>
            <a:ext cx="50800" cy="26988"/>
          </a:xfrm>
          <a:custGeom>
            <a:avLst/>
            <a:gdLst>
              <a:gd name="T0" fmla="*/ 31 w 32"/>
              <a:gd name="T1" fmla="*/ 8 h 17"/>
              <a:gd name="T2" fmla="*/ 15 w 32"/>
              <a:gd name="T3" fmla="*/ 0 h 17"/>
              <a:gd name="T4" fmla="*/ 0 w 32"/>
              <a:gd name="T5" fmla="*/ 8 h 17"/>
              <a:gd name="T6" fmla="*/ 15 w 32"/>
              <a:gd name="T7" fmla="*/ 16 h 17"/>
              <a:gd name="T8" fmla="*/ 31 w 32"/>
              <a:gd name="T9" fmla="*/ 8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" h="17">
                <a:moveTo>
                  <a:pt x="31" y="8"/>
                </a:moveTo>
                <a:lnTo>
                  <a:pt x="15" y="0"/>
                </a:lnTo>
                <a:lnTo>
                  <a:pt x="0" y="8"/>
                </a:lnTo>
                <a:lnTo>
                  <a:pt x="15" y="16"/>
                </a:lnTo>
                <a:lnTo>
                  <a:pt x="31" y="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Freeform 14"/>
          <p:cNvSpPr>
            <a:spLocks/>
          </p:cNvSpPr>
          <p:nvPr/>
        </p:nvSpPr>
        <p:spPr bwMode="auto">
          <a:xfrm>
            <a:off x="5932487" y="4100639"/>
            <a:ext cx="49212" cy="26988"/>
          </a:xfrm>
          <a:custGeom>
            <a:avLst/>
            <a:gdLst>
              <a:gd name="T0" fmla="*/ 30 w 31"/>
              <a:gd name="T1" fmla="*/ 8 h 17"/>
              <a:gd name="T2" fmla="*/ 15 w 31"/>
              <a:gd name="T3" fmla="*/ 0 h 17"/>
              <a:gd name="T4" fmla="*/ 0 w 31"/>
              <a:gd name="T5" fmla="*/ 8 h 17"/>
              <a:gd name="T6" fmla="*/ 15 w 31"/>
              <a:gd name="T7" fmla="*/ 16 h 17"/>
              <a:gd name="T8" fmla="*/ 30 w 31"/>
              <a:gd name="T9" fmla="*/ 8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" h="17">
                <a:moveTo>
                  <a:pt x="30" y="8"/>
                </a:moveTo>
                <a:lnTo>
                  <a:pt x="15" y="0"/>
                </a:lnTo>
                <a:lnTo>
                  <a:pt x="0" y="8"/>
                </a:lnTo>
                <a:lnTo>
                  <a:pt x="15" y="16"/>
                </a:lnTo>
                <a:lnTo>
                  <a:pt x="30" y="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Freeform 15"/>
          <p:cNvSpPr>
            <a:spLocks/>
          </p:cNvSpPr>
          <p:nvPr/>
        </p:nvSpPr>
        <p:spPr bwMode="auto">
          <a:xfrm>
            <a:off x="5754687" y="4819777"/>
            <a:ext cx="49212" cy="26987"/>
          </a:xfrm>
          <a:custGeom>
            <a:avLst/>
            <a:gdLst>
              <a:gd name="T0" fmla="*/ 30 w 31"/>
              <a:gd name="T1" fmla="*/ 8 h 17"/>
              <a:gd name="T2" fmla="*/ 15 w 31"/>
              <a:gd name="T3" fmla="*/ 0 h 17"/>
              <a:gd name="T4" fmla="*/ 0 w 31"/>
              <a:gd name="T5" fmla="*/ 8 h 17"/>
              <a:gd name="T6" fmla="*/ 15 w 31"/>
              <a:gd name="T7" fmla="*/ 16 h 17"/>
              <a:gd name="T8" fmla="*/ 30 w 31"/>
              <a:gd name="T9" fmla="*/ 8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" h="17">
                <a:moveTo>
                  <a:pt x="30" y="8"/>
                </a:moveTo>
                <a:lnTo>
                  <a:pt x="15" y="0"/>
                </a:lnTo>
                <a:lnTo>
                  <a:pt x="0" y="8"/>
                </a:lnTo>
                <a:lnTo>
                  <a:pt x="15" y="16"/>
                </a:lnTo>
                <a:lnTo>
                  <a:pt x="30" y="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Freeform 16"/>
          <p:cNvSpPr>
            <a:spLocks/>
          </p:cNvSpPr>
          <p:nvPr/>
        </p:nvSpPr>
        <p:spPr bwMode="auto">
          <a:xfrm>
            <a:off x="5930899" y="4818189"/>
            <a:ext cx="50800" cy="26988"/>
          </a:xfrm>
          <a:custGeom>
            <a:avLst/>
            <a:gdLst>
              <a:gd name="T0" fmla="*/ 31 w 32"/>
              <a:gd name="T1" fmla="*/ 9 h 17"/>
              <a:gd name="T2" fmla="*/ 16 w 32"/>
              <a:gd name="T3" fmla="*/ 0 h 17"/>
              <a:gd name="T4" fmla="*/ 0 w 32"/>
              <a:gd name="T5" fmla="*/ 9 h 17"/>
              <a:gd name="T6" fmla="*/ 16 w 32"/>
              <a:gd name="T7" fmla="*/ 16 h 17"/>
              <a:gd name="T8" fmla="*/ 31 w 32"/>
              <a:gd name="T9" fmla="*/ 9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" h="17">
                <a:moveTo>
                  <a:pt x="31" y="9"/>
                </a:moveTo>
                <a:lnTo>
                  <a:pt x="16" y="0"/>
                </a:lnTo>
                <a:lnTo>
                  <a:pt x="0" y="9"/>
                </a:lnTo>
                <a:lnTo>
                  <a:pt x="16" y="16"/>
                </a:lnTo>
                <a:lnTo>
                  <a:pt x="31" y="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Freeform 17"/>
          <p:cNvSpPr>
            <a:spLocks/>
          </p:cNvSpPr>
          <p:nvPr/>
        </p:nvSpPr>
        <p:spPr bwMode="auto">
          <a:xfrm>
            <a:off x="6702424" y="4484814"/>
            <a:ext cx="50800" cy="26988"/>
          </a:xfrm>
          <a:custGeom>
            <a:avLst/>
            <a:gdLst>
              <a:gd name="T0" fmla="*/ 31 w 32"/>
              <a:gd name="T1" fmla="*/ 8 h 17"/>
              <a:gd name="T2" fmla="*/ 15 w 32"/>
              <a:gd name="T3" fmla="*/ 0 h 17"/>
              <a:gd name="T4" fmla="*/ 0 w 32"/>
              <a:gd name="T5" fmla="*/ 8 h 17"/>
              <a:gd name="T6" fmla="*/ 15 w 32"/>
              <a:gd name="T7" fmla="*/ 16 h 17"/>
              <a:gd name="T8" fmla="*/ 31 w 32"/>
              <a:gd name="T9" fmla="*/ 8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" h="17">
                <a:moveTo>
                  <a:pt x="31" y="8"/>
                </a:moveTo>
                <a:lnTo>
                  <a:pt x="15" y="0"/>
                </a:lnTo>
                <a:lnTo>
                  <a:pt x="0" y="8"/>
                </a:lnTo>
                <a:lnTo>
                  <a:pt x="15" y="16"/>
                </a:lnTo>
                <a:lnTo>
                  <a:pt x="31" y="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Freeform 18"/>
          <p:cNvSpPr>
            <a:spLocks/>
          </p:cNvSpPr>
          <p:nvPr/>
        </p:nvSpPr>
        <p:spPr bwMode="auto">
          <a:xfrm>
            <a:off x="6880224" y="4484814"/>
            <a:ext cx="50800" cy="26988"/>
          </a:xfrm>
          <a:custGeom>
            <a:avLst/>
            <a:gdLst>
              <a:gd name="T0" fmla="*/ 31 w 32"/>
              <a:gd name="T1" fmla="*/ 8 h 17"/>
              <a:gd name="T2" fmla="*/ 15 w 32"/>
              <a:gd name="T3" fmla="*/ 0 h 17"/>
              <a:gd name="T4" fmla="*/ 0 w 32"/>
              <a:gd name="T5" fmla="*/ 8 h 17"/>
              <a:gd name="T6" fmla="*/ 15 w 32"/>
              <a:gd name="T7" fmla="*/ 16 h 17"/>
              <a:gd name="T8" fmla="*/ 31 w 32"/>
              <a:gd name="T9" fmla="*/ 8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" h="17">
                <a:moveTo>
                  <a:pt x="31" y="8"/>
                </a:moveTo>
                <a:lnTo>
                  <a:pt x="15" y="0"/>
                </a:lnTo>
                <a:lnTo>
                  <a:pt x="0" y="8"/>
                </a:lnTo>
                <a:lnTo>
                  <a:pt x="15" y="16"/>
                </a:lnTo>
                <a:lnTo>
                  <a:pt x="31" y="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Freeform 19"/>
          <p:cNvSpPr>
            <a:spLocks/>
          </p:cNvSpPr>
          <p:nvPr/>
        </p:nvSpPr>
        <p:spPr bwMode="auto">
          <a:xfrm>
            <a:off x="5781674" y="6145339"/>
            <a:ext cx="50800" cy="26988"/>
          </a:xfrm>
          <a:custGeom>
            <a:avLst/>
            <a:gdLst>
              <a:gd name="T0" fmla="*/ 31 w 32"/>
              <a:gd name="T1" fmla="*/ 7 h 17"/>
              <a:gd name="T2" fmla="*/ 15 w 32"/>
              <a:gd name="T3" fmla="*/ 0 h 17"/>
              <a:gd name="T4" fmla="*/ 0 w 32"/>
              <a:gd name="T5" fmla="*/ 7 h 17"/>
              <a:gd name="T6" fmla="*/ 15 w 32"/>
              <a:gd name="T7" fmla="*/ 16 h 17"/>
              <a:gd name="T8" fmla="*/ 31 w 32"/>
              <a:gd name="T9" fmla="*/ 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" h="17">
                <a:moveTo>
                  <a:pt x="31" y="7"/>
                </a:moveTo>
                <a:lnTo>
                  <a:pt x="15" y="0"/>
                </a:lnTo>
                <a:lnTo>
                  <a:pt x="0" y="7"/>
                </a:lnTo>
                <a:lnTo>
                  <a:pt x="15" y="16"/>
                </a:lnTo>
                <a:lnTo>
                  <a:pt x="31" y="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Freeform 20"/>
          <p:cNvSpPr>
            <a:spLocks/>
          </p:cNvSpPr>
          <p:nvPr/>
        </p:nvSpPr>
        <p:spPr bwMode="auto">
          <a:xfrm>
            <a:off x="5587999" y="6143752"/>
            <a:ext cx="50800" cy="26987"/>
          </a:xfrm>
          <a:custGeom>
            <a:avLst/>
            <a:gdLst>
              <a:gd name="T0" fmla="*/ 31 w 32"/>
              <a:gd name="T1" fmla="*/ 8 h 17"/>
              <a:gd name="T2" fmla="*/ 16 w 32"/>
              <a:gd name="T3" fmla="*/ 0 h 17"/>
              <a:gd name="T4" fmla="*/ 0 w 32"/>
              <a:gd name="T5" fmla="*/ 8 h 17"/>
              <a:gd name="T6" fmla="*/ 16 w 32"/>
              <a:gd name="T7" fmla="*/ 16 h 17"/>
              <a:gd name="T8" fmla="*/ 31 w 32"/>
              <a:gd name="T9" fmla="*/ 8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" h="17">
                <a:moveTo>
                  <a:pt x="31" y="8"/>
                </a:moveTo>
                <a:lnTo>
                  <a:pt x="16" y="0"/>
                </a:lnTo>
                <a:lnTo>
                  <a:pt x="0" y="8"/>
                </a:lnTo>
                <a:lnTo>
                  <a:pt x="16" y="16"/>
                </a:lnTo>
                <a:lnTo>
                  <a:pt x="31" y="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Freeform 21"/>
          <p:cNvSpPr>
            <a:spLocks/>
          </p:cNvSpPr>
          <p:nvPr/>
        </p:nvSpPr>
        <p:spPr bwMode="auto">
          <a:xfrm>
            <a:off x="5973762" y="6145339"/>
            <a:ext cx="49212" cy="26988"/>
          </a:xfrm>
          <a:custGeom>
            <a:avLst/>
            <a:gdLst>
              <a:gd name="T0" fmla="*/ 30 w 31"/>
              <a:gd name="T1" fmla="*/ 7 h 17"/>
              <a:gd name="T2" fmla="*/ 15 w 31"/>
              <a:gd name="T3" fmla="*/ 0 h 17"/>
              <a:gd name="T4" fmla="*/ 0 w 31"/>
              <a:gd name="T5" fmla="*/ 7 h 17"/>
              <a:gd name="T6" fmla="*/ 15 w 31"/>
              <a:gd name="T7" fmla="*/ 16 h 17"/>
              <a:gd name="T8" fmla="*/ 30 w 31"/>
              <a:gd name="T9" fmla="*/ 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" h="17">
                <a:moveTo>
                  <a:pt x="30" y="7"/>
                </a:moveTo>
                <a:lnTo>
                  <a:pt x="15" y="0"/>
                </a:lnTo>
                <a:lnTo>
                  <a:pt x="0" y="7"/>
                </a:lnTo>
                <a:lnTo>
                  <a:pt x="15" y="16"/>
                </a:lnTo>
                <a:lnTo>
                  <a:pt x="30" y="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Rectangle 22"/>
          <p:cNvSpPr>
            <a:spLocks noChangeArrowheads="1"/>
          </p:cNvSpPr>
          <p:nvPr/>
        </p:nvSpPr>
        <p:spPr bwMode="auto">
          <a:xfrm>
            <a:off x="2720974" y="4776914"/>
            <a:ext cx="295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800">
                <a:solidFill>
                  <a:srgbClr val="000000"/>
                </a:solidFill>
              </a:rPr>
              <a:t>h</a:t>
            </a:r>
          </a:p>
        </p:txBody>
      </p:sp>
      <p:sp>
        <p:nvSpPr>
          <p:cNvPr id="21" name="Rectangle 23"/>
          <p:cNvSpPr>
            <a:spLocks noChangeArrowheads="1"/>
          </p:cNvSpPr>
          <p:nvPr/>
        </p:nvSpPr>
        <p:spPr bwMode="auto">
          <a:xfrm>
            <a:off x="2097087" y="4589589"/>
            <a:ext cx="5111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800">
                <a:solidFill>
                  <a:srgbClr val="000000"/>
                </a:solidFill>
              </a:rPr>
              <a:t>key</a:t>
            </a:r>
          </a:p>
        </p:txBody>
      </p:sp>
      <p:sp>
        <p:nvSpPr>
          <p:cNvPr id="22" name="Rectangle 24"/>
          <p:cNvSpPr>
            <a:spLocks noChangeArrowheads="1"/>
          </p:cNvSpPr>
          <p:nvPr/>
        </p:nvSpPr>
        <p:spPr bwMode="auto">
          <a:xfrm>
            <a:off x="2635249" y="6283452"/>
            <a:ext cx="265136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  <a:latin typeface="Courier New" pitchFamily="49" charset="0"/>
              </a:rPr>
              <a:t>Primary bucket pages</a:t>
            </a:r>
          </a:p>
        </p:txBody>
      </p:sp>
      <p:sp>
        <p:nvSpPr>
          <p:cNvPr id="23" name="Rectangle 25"/>
          <p:cNvSpPr>
            <a:spLocks noChangeArrowheads="1"/>
          </p:cNvSpPr>
          <p:nvPr/>
        </p:nvSpPr>
        <p:spPr bwMode="auto">
          <a:xfrm>
            <a:off x="5586412" y="6296152"/>
            <a:ext cx="191078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urier New" pitchFamily="49" charset="0"/>
              </a:rPr>
              <a:t>Overflow pages</a:t>
            </a:r>
          </a:p>
        </p:txBody>
      </p:sp>
      <p:sp>
        <p:nvSpPr>
          <p:cNvPr id="24" name="Rectangle 26"/>
          <p:cNvSpPr>
            <a:spLocks noChangeArrowheads="1"/>
          </p:cNvSpPr>
          <p:nvPr/>
        </p:nvSpPr>
        <p:spPr bwMode="auto">
          <a:xfrm>
            <a:off x="4035424" y="4232402"/>
            <a:ext cx="2952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25" name="Rectangle 27"/>
          <p:cNvSpPr>
            <a:spLocks noChangeArrowheads="1"/>
          </p:cNvSpPr>
          <p:nvPr/>
        </p:nvSpPr>
        <p:spPr bwMode="auto">
          <a:xfrm>
            <a:off x="4035424" y="3922839"/>
            <a:ext cx="295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0</a:t>
            </a:r>
          </a:p>
        </p:txBody>
      </p:sp>
      <p:sp>
        <p:nvSpPr>
          <p:cNvPr id="26" name="Rectangle 28"/>
          <p:cNvSpPr>
            <a:spLocks noChangeArrowheads="1"/>
          </p:cNvSpPr>
          <p:nvPr/>
        </p:nvSpPr>
        <p:spPr bwMode="auto">
          <a:xfrm>
            <a:off x="3967162" y="5904039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N-1</a:t>
            </a:r>
          </a:p>
        </p:txBody>
      </p:sp>
      <p:sp>
        <p:nvSpPr>
          <p:cNvPr id="27" name="Line 29"/>
          <p:cNvSpPr>
            <a:spLocks noChangeShapeType="1"/>
          </p:cNvSpPr>
          <p:nvPr/>
        </p:nvSpPr>
        <p:spPr bwMode="auto">
          <a:xfrm flipV="1">
            <a:off x="3019424" y="4475289"/>
            <a:ext cx="762000" cy="4572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30"/>
          <p:cNvSpPr>
            <a:spLocks noChangeShapeType="1"/>
          </p:cNvSpPr>
          <p:nvPr/>
        </p:nvSpPr>
        <p:spPr bwMode="auto">
          <a:xfrm flipV="1">
            <a:off x="2997199" y="4165727"/>
            <a:ext cx="779463" cy="776287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31"/>
          <p:cNvSpPr>
            <a:spLocks noChangeShapeType="1"/>
          </p:cNvSpPr>
          <p:nvPr/>
        </p:nvSpPr>
        <p:spPr bwMode="auto">
          <a:xfrm>
            <a:off x="2028824" y="5008689"/>
            <a:ext cx="6858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32"/>
          <p:cNvSpPr>
            <a:spLocks noChangeShapeType="1"/>
          </p:cNvSpPr>
          <p:nvPr/>
        </p:nvSpPr>
        <p:spPr bwMode="auto">
          <a:xfrm>
            <a:off x="3001962" y="4946777"/>
            <a:ext cx="779462" cy="112871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33"/>
          <p:cNvSpPr>
            <a:spLocks noChangeShapeType="1"/>
          </p:cNvSpPr>
          <p:nvPr/>
        </p:nvSpPr>
        <p:spPr bwMode="auto">
          <a:xfrm>
            <a:off x="4467224" y="4094289"/>
            <a:ext cx="8382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34"/>
          <p:cNvSpPr>
            <a:spLocks noChangeShapeType="1"/>
          </p:cNvSpPr>
          <p:nvPr/>
        </p:nvSpPr>
        <p:spPr bwMode="auto">
          <a:xfrm>
            <a:off x="4467224" y="4399089"/>
            <a:ext cx="8382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35"/>
          <p:cNvSpPr>
            <a:spLocks noChangeShapeType="1"/>
          </p:cNvSpPr>
          <p:nvPr/>
        </p:nvSpPr>
        <p:spPr bwMode="auto">
          <a:xfrm>
            <a:off x="4467224" y="4856289"/>
            <a:ext cx="8382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36"/>
          <p:cNvSpPr>
            <a:spLocks noChangeShapeType="1"/>
          </p:cNvSpPr>
          <p:nvPr/>
        </p:nvSpPr>
        <p:spPr bwMode="auto">
          <a:xfrm>
            <a:off x="4543424" y="6151689"/>
            <a:ext cx="8382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37"/>
          <p:cNvSpPr>
            <a:spLocks noChangeShapeType="1"/>
          </p:cNvSpPr>
          <p:nvPr/>
        </p:nvSpPr>
        <p:spPr bwMode="auto">
          <a:xfrm>
            <a:off x="5991224" y="4475289"/>
            <a:ext cx="4572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38"/>
          <p:cNvSpPr>
            <a:spLocks noChangeShapeType="1"/>
          </p:cNvSpPr>
          <p:nvPr/>
        </p:nvSpPr>
        <p:spPr bwMode="auto">
          <a:xfrm>
            <a:off x="3800474" y="4256214"/>
            <a:ext cx="7858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39"/>
          <p:cNvSpPr>
            <a:spLocks noChangeShapeType="1"/>
          </p:cNvSpPr>
          <p:nvPr/>
        </p:nvSpPr>
        <p:spPr bwMode="auto">
          <a:xfrm>
            <a:off x="3798887" y="4610227"/>
            <a:ext cx="7858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Line 40"/>
          <p:cNvSpPr>
            <a:spLocks noChangeShapeType="1"/>
          </p:cNvSpPr>
          <p:nvPr/>
        </p:nvSpPr>
        <p:spPr bwMode="auto">
          <a:xfrm>
            <a:off x="3797299" y="4976939"/>
            <a:ext cx="7858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41"/>
          <p:cNvSpPr>
            <a:spLocks noChangeShapeType="1"/>
          </p:cNvSpPr>
          <p:nvPr/>
        </p:nvSpPr>
        <p:spPr bwMode="auto">
          <a:xfrm>
            <a:off x="3795712" y="5915152"/>
            <a:ext cx="7858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3" name="Straight Arrow Connector 2"/>
          <p:cNvCxnSpPr>
            <a:stCxn id="22" idx="1"/>
            <a:endCxn id="40" idx="2"/>
          </p:cNvCxnSpPr>
          <p:nvPr/>
        </p:nvCxnSpPr>
        <p:spPr>
          <a:xfrm flipH="1" flipV="1">
            <a:off x="1322592" y="6206054"/>
            <a:ext cx="1312657" cy="245393"/>
          </a:xfrm>
          <a:prstGeom prst="straightConnector1">
            <a:avLst/>
          </a:prstGeom>
          <a:ln w="15875">
            <a:solidFill>
              <a:srgbClr val="00B05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52400" y="5282724"/>
            <a:ext cx="2340384" cy="92333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With </a:t>
            </a:r>
            <a:r>
              <a:rPr lang="en-US" b="1" u="sng" dirty="0" smtClean="0">
                <a:solidFill>
                  <a:srgbClr val="0070C0"/>
                </a:solidFill>
              </a:rPr>
              <a:t>Static Hashing</a:t>
            </a:r>
            <a:r>
              <a:rPr lang="en-US" dirty="0" smtClean="0"/>
              <a:t>, </a:t>
            </a:r>
          </a:p>
          <a:p>
            <a:r>
              <a:rPr lang="en-US" dirty="0" smtClean="0"/>
              <a:t>allocated </a:t>
            </a:r>
            <a:r>
              <a:rPr lang="en-US" i="1" dirty="0" smtClean="0"/>
              <a:t>sequentially</a:t>
            </a:r>
            <a:r>
              <a:rPr lang="en-US" dirty="0" smtClean="0"/>
              <a:t> </a:t>
            </a:r>
          </a:p>
          <a:p>
            <a:r>
              <a:rPr lang="en-US" dirty="0" smtClean="0"/>
              <a:t>and never de-allocated</a:t>
            </a:r>
            <a:endParaRPr lang="en-US" dirty="0"/>
          </a:p>
        </p:txBody>
      </p:sp>
      <p:cxnSp>
        <p:nvCxnSpPr>
          <p:cNvPr id="43" name="Straight Arrow Connector 42"/>
          <p:cNvCxnSpPr>
            <a:stCxn id="23" idx="3"/>
            <a:endCxn id="46" idx="2"/>
          </p:cNvCxnSpPr>
          <p:nvPr/>
        </p:nvCxnSpPr>
        <p:spPr>
          <a:xfrm flipV="1">
            <a:off x="7497193" y="5904039"/>
            <a:ext cx="365076" cy="560108"/>
          </a:xfrm>
          <a:prstGeom prst="straightConnector1">
            <a:avLst/>
          </a:prstGeom>
          <a:ln w="1587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760108" y="4703710"/>
            <a:ext cx="2204321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With </a:t>
            </a:r>
            <a:r>
              <a:rPr lang="en-US" b="1" u="sng" dirty="0" smtClean="0">
                <a:solidFill>
                  <a:srgbClr val="0070C0"/>
                </a:solidFill>
              </a:rPr>
              <a:t>Static </a:t>
            </a:r>
            <a:r>
              <a:rPr lang="en-US" b="1" u="sng" dirty="0">
                <a:solidFill>
                  <a:srgbClr val="0070C0"/>
                </a:solidFill>
              </a:rPr>
              <a:t>H</a:t>
            </a:r>
            <a:r>
              <a:rPr lang="en-US" b="1" u="sng" dirty="0" smtClean="0">
                <a:solidFill>
                  <a:srgbClr val="0070C0"/>
                </a:solidFill>
              </a:rPr>
              <a:t>ashing</a:t>
            </a:r>
            <a:r>
              <a:rPr lang="en-US" dirty="0" smtClean="0"/>
              <a:t>, </a:t>
            </a:r>
          </a:p>
          <a:p>
            <a:r>
              <a:rPr lang="en-US" dirty="0"/>
              <a:t>a</a:t>
            </a:r>
            <a:r>
              <a:rPr lang="en-US" dirty="0" smtClean="0"/>
              <a:t>llocated (</a:t>
            </a:r>
            <a:r>
              <a:rPr lang="en-US" i="1" dirty="0" smtClean="0"/>
              <a:t>as needed</a:t>
            </a:r>
            <a:r>
              <a:rPr lang="en-US" dirty="0" smtClean="0"/>
              <a:t>)</a:t>
            </a:r>
          </a:p>
          <a:p>
            <a:r>
              <a:rPr lang="en-US" dirty="0" smtClean="0"/>
              <a:t>when corresponding </a:t>
            </a:r>
            <a:br>
              <a:rPr lang="en-US" dirty="0" smtClean="0"/>
            </a:br>
            <a:r>
              <a:rPr lang="en-US" dirty="0" smtClean="0"/>
              <a:t>buckets become full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304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6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746" name="Rectangle 2">
            <a:extLst>
              <a:ext uri="{FF2B5EF4-FFF2-40B4-BE49-F238E27FC236}">
                <a16:creationId xmlns:a16="http://schemas.microsoft.com/office/drawing/2014/main" id="{9EB85E01-AB48-4CA9-A569-E29B02BAC6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Deficiencies of Static Hashing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7141BECF-8644-459C-B0A2-A3A738C225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1135063"/>
            <a:ext cx="7542551" cy="4343400"/>
          </a:xfrm>
        </p:spPr>
        <p:txBody>
          <a:bodyPr/>
          <a:lstStyle/>
          <a:p>
            <a:r>
              <a:rPr lang="en-US" altLang="en-US" dirty="0"/>
              <a:t>In static hashing, function </a:t>
            </a:r>
            <a:r>
              <a:rPr lang="en-US" altLang="en-US" i="1" dirty="0"/>
              <a:t>h</a:t>
            </a:r>
            <a:r>
              <a:rPr lang="en-US" altLang="en-US" dirty="0"/>
              <a:t> maps search-key values to a fixed set of </a:t>
            </a:r>
            <a:r>
              <a:rPr lang="en-US" altLang="en-US" i="1" dirty="0"/>
              <a:t>B</a:t>
            </a:r>
            <a:r>
              <a:rPr lang="en-US" altLang="en-US" dirty="0"/>
              <a:t> of bucket addresses. Databases grow or shrink with time. </a:t>
            </a:r>
          </a:p>
          <a:p>
            <a:pPr lvl="1"/>
            <a:r>
              <a:rPr lang="en-US" altLang="en-US" dirty="0"/>
              <a:t>If initial number of buckets is too small, and file grows, performance will degrade due to too much overflows.</a:t>
            </a:r>
          </a:p>
          <a:p>
            <a:pPr lvl="1"/>
            <a:r>
              <a:rPr lang="en-US" altLang="en-US" dirty="0"/>
              <a:t>If space is allocated for anticipated growth, a significant amount of space will be wasted initially (and buckets will be </a:t>
            </a:r>
            <a:r>
              <a:rPr lang="en-US" altLang="en-US" dirty="0" err="1"/>
              <a:t>underfull</a:t>
            </a:r>
            <a:r>
              <a:rPr lang="en-US" altLang="en-US" dirty="0"/>
              <a:t>).</a:t>
            </a:r>
          </a:p>
          <a:p>
            <a:pPr lvl="1"/>
            <a:r>
              <a:rPr lang="en-US" altLang="en-US" dirty="0"/>
              <a:t>If database shrinks, again space will be wasted.</a:t>
            </a:r>
          </a:p>
          <a:p>
            <a:r>
              <a:rPr lang="en-US" altLang="en-US" dirty="0"/>
              <a:t>One solution: periodic re-organization of the file with a new hash function</a:t>
            </a:r>
          </a:p>
          <a:p>
            <a:pPr lvl="1"/>
            <a:r>
              <a:rPr lang="en-US" altLang="en-US" dirty="0"/>
              <a:t>Expensive, disrupts normal operations</a:t>
            </a:r>
          </a:p>
          <a:p>
            <a:r>
              <a:rPr lang="en-US" altLang="en-US" dirty="0"/>
              <a:t>Better solution: allow the number of buckets to be modified dynamically. </a:t>
            </a:r>
          </a:p>
        </p:txBody>
      </p:sp>
    </p:spTree>
    <p:extLst>
      <p:ext uri="{BB962C8B-B14F-4D97-AF65-F5344CB8AC3E}">
        <p14:creationId xmlns:p14="http://schemas.microsoft.com/office/powerpoint/2010/main" val="18644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Extendible Hashing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5181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Extendible Hashing uses a directory of pointers to buckets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The result of applying a hash </a:t>
            </a:r>
            <a:br>
              <a:rPr lang="en-US" sz="2600" dirty="0" smtClean="0"/>
            </a:br>
            <a:r>
              <a:rPr lang="en-US" sz="2600" dirty="0" smtClean="0"/>
              <a:t>function </a:t>
            </a:r>
            <a:r>
              <a:rPr lang="en-US" sz="2600" b="1" i="1" dirty="0" smtClean="0"/>
              <a:t>h</a:t>
            </a:r>
            <a:r>
              <a:rPr lang="en-US" sz="2600" dirty="0" smtClean="0"/>
              <a:t> is treated as a </a:t>
            </a:r>
            <a:br>
              <a:rPr lang="en-US" sz="2600" dirty="0" smtClean="0"/>
            </a:br>
            <a:r>
              <a:rPr lang="en-US" sz="2600" i="1" dirty="0" smtClean="0">
                <a:solidFill>
                  <a:srgbClr val="0070C0"/>
                </a:solidFill>
              </a:rPr>
              <a:t>binary number</a:t>
            </a:r>
            <a:r>
              <a:rPr lang="en-US" sz="2600" dirty="0" smtClean="0">
                <a:solidFill>
                  <a:srgbClr val="0070C0"/>
                </a:solidFill>
              </a:rPr>
              <a:t> </a:t>
            </a:r>
            <a:r>
              <a:rPr lang="en-US" sz="2600" dirty="0" smtClean="0"/>
              <a:t>and </a:t>
            </a:r>
            <a:br>
              <a:rPr lang="en-US" sz="2600" dirty="0" smtClean="0"/>
            </a:br>
            <a:r>
              <a:rPr lang="en-US" sz="2600" dirty="0" smtClean="0"/>
              <a:t>the last </a:t>
            </a:r>
            <a:r>
              <a:rPr lang="en-US" sz="2600" b="1" i="1" dirty="0" smtClean="0"/>
              <a:t>d</a:t>
            </a:r>
            <a:r>
              <a:rPr lang="en-US" sz="2600" dirty="0" smtClean="0"/>
              <a:t> bits are </a:t>
            </a:r>
            <a:br>
              <a:rPr lang="en-US" sz="2600" dirty="0" smtClean="0"/>
            </a:br>
            <a:r>
              <a:rPr lang="en-US" sz="2600" dirty="0" smtClean="0"/>
              <a:t>interpreted as an </a:t>
            </a:r>
            <a:br>
              <a:rPr lang="en-US" sz="2600" dirty="0" smtClean="0"/>
            </a:br>
            <a:r>
              <a:rPr lang="en-US" sz="2600" dirty="0" smtClean="0"/>
              <a:t>offset into the directory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600" b="1" i="1" dirty="0"/>
              <a:t>d</a:t>
            </a:r>
            <a:r>
              <a:rPr lang="en-US" sz="2600" dirty="0"/>
              <a:t> is referred to as the </a:t>
            </a:r>
            <a:r>
              <a:rPr lang="en-US" sz="2600" b="1" i="1" dirty="0">
                <a:solidFill>
                  <a:srgbClr val="0070C0"/>
                </a:solidFill>
              </a:rPr>
              <a:t>global depth </a:t>
            </a:r>
            <a:r>
              <a:rPr lang="en-US" sz="2600" dirty="0" smtClean="0"/>
              <a:t/>
            </a:r>
            <a:br>
              <a:rPr lang="en-US" sz="2600" dirty="0" smtClean="0"/>
            </a:br>
            <a:r>
              <a:rPr lang="en-US" sz="2600" dirty="0" smtClean="0"/>
              <a:t>of </a:t>
            </a:r>
            <a:r>
              <a:rPr lang="en-US" sz="2600" dirty="0"/>
              <a:t>the hash file and is kept as part </a:t>
            </a:r>
            <a:r>
              <a:rPr lang="en-US" sz="2600" dirty="0" smtClean="0"/>
              <a:t/>
            </a:r>
            <a:br>
              <a:rPr lang="en-US" sz="2600" dirty="0" smtClean="0"/>
            </a:br>
            <a:r>
              <a:rPr lang="en-US" sz="2600" dirty="0" smtClean="0"/>
              <a:t>of </a:t>
            </a:r>
            <a:r>
              <a:rPr lang="en-US" sz="2600" dirty="0"/>
              <a:t>the </a:t>
            </a:r>
            <a:r>
              <a:rPr lang="en-US" sz="2600" dirty="0" smtClean="0"/>
              <a:t>header </a:t>
            </a:r>
            <a:r>
              <a:rPr lang="en-US" sz="2600" dirty="0"/>
              <a:t>of the file</a:t>
            </a:r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  <a:p>
            <a:pPr>
              <a:buFont typeface="Wingdings" pitchFamily="2" charset="2"/>
              <a:buChar char="§"/>
            </a:pPr>
            <a:endParaRPr lang="en-US" dirty="0" smtClean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</p:txBody>
      </p:sp>
      <p:sp>
        <p:nvSpPr>
          <p:cNvPr id="5" name="Freeform 10"/>
          <p:cNvSpPr>
            <a:spLocks/>
          </p:cNvSpPr>
          <p:nvPr/>
        </p:nvSpPr>
        <p:spPr bwMode="auto">
          <a:xfrm>
            <a:off x="6380162" y="3054112"/>
            <a:ext cx="1403350" cy="352425"/>
          </a:xfrm>
          <a:custGeom>
            <a:avLst/>
            <a:gdLst>
              <a:gd name="T0" fmla="*/ 0 w 884"/>
              <a:gd name="T1" fmla="*/ 221 h 222"/>
              <a:gd name="T2" fmla="*/ 0 w 884"/>
              <a:gd name="T3" fmla="*/ 0 h 222"/>
              <a:gd name="T4" fmla="*/ 883 w 884"/>
              <a:gd name="T5" fmla="*/ 0 h 222"/>
              <a:gd name="T6" fmla="*/ 883 w 884"/>
              <a:gd name="T7" fmla="*/ 221 h 222"/>
              <a:gd name="T8" fmla="*/ 0 w 884"/>
              <a:gd name="T9" fmla="*/ 221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" h="222">
                <a:moveTo>
                  <a:pt x="0" y="221"/>
                </a:moveTo>
                <a:lnTo>
                  <a:pt x="0" y="0"/>
                </a:lnTo>
                <a:lnTo>
                  <a:pt x="883" y="0"/>
                </a:lnTo>
                <a:lnTo>
                  <a:pt x="883" y="221"/>
                </a:lnTo>
                <a:lnTo>
                  <a:pt x="0" y="22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Freeform 11"/>
          <p:cNvSpPr>
            <a:spLocks/>
          </p:cNvSpPr>
          <p:nvPr/>
        </p:nvSpPr>
        <p:spPr bwMode="auto">
          <a:xfrm>
            <a:off x="6380162" y="3886200"/>
            <a:ext cx="1403350" cy="350838"/>
          </a:xfrm>
          <a:custGeom>
            <a:avLst/>
            <a:gdLst>
              <a:gd name="T0" fmla="*/ 0 w 884"/>
              <a:gd name="T1" fmla="*/ 220 h 221"/>
              <a:gd name="T2" fmla="*/ 0 w 884"/>
              <a:gd name="T3" fmla="*/ 0 h 221"/>
              <a:gd name="T4" fmla="*/ 883 w 884"/>
              <a:gd name="T5" fmla="*/ 0 h 221"/>
              <a:gd name="T6" fmla="*/ 883 w 884"/>
              <a:gd name="T7" fmla="*/ 220 h 221"/>
              <a:gd name="T8" fmla="*/ 0 w 884"/>
              <a:gd name="T9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" h="221">
                <a:moveTo>
                  <a:pt x="0" y="220"/>
                </a:moveTo>
                <a:lnTo>
                  <a:pt x="0" y="0"/>
                </a:lnTo>
                <a:lnTo>
                  <a:pt x="883" y="0"/>
                </a:lnTo>
                <a:lnTo>
                  <a:pt x="883" y="220"/>
                </a:lnTo>
                <a:lnTo>
                  <a:pt x="0" y="22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Freeform 12"/>
          <p:cNvSpPr>
            <a:spLocks/>
          </p:cNvSpPr>
          <p:nvPr/>
        </p:nvSpPr>
        <p:spPr bwMode="auto">
          <a:xfrm>
            <a:off x="6380162" y="4724400"/>
            <a:ext cx="1403350" cy="350838"/>
          </a:xfrm>
          <a:custGeom>
            <a:avLst/>
            <a:gdLst>
              <a:gd name="T0" fmla="*/ 0 w 884"/>
              <a:gd name="T1" fmla="*/ 220 h 221"/>
              <a:gd name="T2" fmla="*/ 0 w 884"/>
              <a:gd name="T3" fmla="*/ 0 h 221"/>
              <a:gd name="T4" fmla="*/ 883 w 884"/>
              <a:gd name="T5" fmla="*/ 0 h 221"/>
              <a:gd name="T6" fmla="*/ 883 w 884"/>
              <a:gd name="T7" fmla="*/ 220 h 221"/>
              <a:gd name="T8" fmla="*/ 0 w 884"/>
              <a:gd name="T9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" h="221">
                <a:moveTo>
                  <a:pt x="0" y="220"/>
                </a:moveTo>
                <a:lnTo>
                  <a:pt x="0" y="0"/>
                </a:lnTo>
                <a:lnTo>
                  <a:pt x="883" y="0"/>
                </a:lnTo>
                <a:lnTo>
                  <a:pt x="883" y="220"/>
                </a:lnTo>
                <a:lnTo>
                  <a:pt x="0" y="22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Freeform 13"/>
          <p:cNvSpPr>
            <a:spLocks/>
          </p:cNvSpPr>
          <p:nvPr/>
        </p:nvSpPr>
        <p:spPr bwMode="auto">
          <a:xfrm>
            <a:off x="6380162" y="2239962"/>
            <a:ext cx="1403350" cy="350838"/>
          </a:xfrm>
          <a:custGeom>
            <a:avLst/>
            <a:gdLst>
              <a:gd name="T0" fmla="*/ 0 w 884"/>
              <a:gd name="T1" fmla="*/ 220 h 221"/>
              <a:gd name="T2" fmla="*/ 0 w 884"/>
              <a:gd name="T3" fmla="*/ 0 h 221"/>
              <a:gd name="T4" fmla="*/ 883 w 884"/>
              <a:gd name="T5" fmla="*/ 0 h 221"/>
              <a:gd name="T6" fmla="*/ 883 w 884"/>
              <a:gd name="T7" fmla="*/ 220 h 221"/>
              <a:gd name="T8" fmla="*/ 0 w 884"/>
              <a:gd name="T9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" h="221">
                <a:moveTo>
                  <a:pt x="0" y="220"/>
                </a:moveTo>
                <a:lnTo>
                  <a:pt x="0" y="0"/>
                </a:lnTo>
                <a:lnTo>
                  <a:pt x="883" y="0"/>
                </a:lnTo>
                <a:lnTo>
                  <a:pt x="883" y="220"/>
                </a:lnTo>
                <a:lnTo>
                  <a:pt x="0" y="22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Freeform 18"/>
          <p:cNvSpPr>
            <a:spLocks/>
          </p:cNvSpPr>
          <p:nvPr/>
        </p:nvSpPr>
        <p:spPr bwMode="auto">
          <a:xfrm>
            <a:off x="4979987" y="3054112"/>
            <a:ext cx="701675" cy="1401763"/>
          </a:xfrm>
          <a:custGeom>
            <a:avLst/>
            <a:gdLst>
              <a:gd name="T0" fmla="*/ 0 w 442"/>
              <a:gd name="T1" fmla="*/ 882 h 883"/>
              <a:gd name="T2" fmla="*/ 0 w 442"/>
              <a:gd name="T3" fmla="*/ 0 h 883"/>
              <a:gd name="T4" fmla="*/ 441 w 442"/>
              <a:gd name="T5" fmla="*/ 0 h 883"/>
              <a:gd name="T6" fmla="*/ 441 w 442"/>
              <a:gd name="T7" fmla="*/ 882 h 883"/>
              <a:gd name="T8" fmla="*/ 0 w 442"/>
              <a:gd name="T9" fmla="*/ 882 h 8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2" h="883">
                <a:moveTo>
                  <a:pt x="0" y="882"/>
                </a:moveTo>
                <a:lnTo>
                  <a:pt x="0" y="0"/>
                </a:lnTo>
                <a:lnTo>
                  <a:pt x="441" y="0"/>
                </a:lnTo>
                <a:lnTo>
                  <a:pt x="441" y="882"/>
                </a:lnTo>
                <a:lnTo>
                  <a:pt x="0" y="88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20"/>
          <p:cNvSpPr>
            <a:spLocks noChangeArrowheads="1"/>
          </p:cNvSpPr>
          <p:nvPr/>
        </p:nvSpPr>
        <p:spPr bwMode="auto">
          <a:xfrm>
            <a:off x="4599596" y="307070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00</a:t>
            </a:r>
          </a:p>
        </p:txBody>
      </p:sp>
      <p:sp>
        <p:nvSpPr>
          <p:cNvPr id="16" name="Rectangle 21"/>
          <p:cNvSpPr>
            <a:spLocks noChangeArrowheads="1"/>
          </p:cNvSpPr>
          <p:nvPr/>
        </p:nvSpPr>
        <p:spPr bwMode="auto">
          <a:xfrm>
            <a:off x="4599596" y="3459637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01</a:t>
            </a:r>
          </a:p>
        </p:txBody>
      </p:sp>
      <p:sp>
        <p:nvSpPr>
          <p:cNvPr id="17" name="Rectangle 22"/>
          <p:cNvSpPr>
            <a:spLocks noChangeArrowheads="1"/>
          </p:cNvSpPr>
          <p:nvPr/>
        </p:nvSpPr>
        <p:spPr bwMode="auto">
          <a:xfrm>
            <a:off x="4599596" y="3793012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</a:t>
            </a:r>
          </a:p>
        </p:txBody>
      </p:sp>
      <p:sp>
        <p:nvSpPr>
          <p:cNvPr id="18" name="Rectangle 23"/>
          <p:cNvSpPr>
            <a:spLocks noChangeArrowheads="1"/>
          </p:cNvSpPr>
          <p:nvPr/>
        </p:nvSpPr>
        <p:spPr bwMode="auto">
          <a:xfrm>
            <a:off x="4599596" y="4153375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11</a:t>
            </a:r>
          </a:p>
        </p:txBody>
      </p:sp>
      <p:sp>
        <p:nvSpPr>
          <p:cNvPr id="26" name="Rectangle 31"/>
          <p:cNvSpPr>
            <a:spLocks noChangeArrowheads="1"/>
          </p:cNvSpPr>
          <p:nvPr/>
        </p:nvSpPr>
        <p:spPr bwMode="auto">
          <a:xfrm>
            <a:off x="4667250" y="4648200"/>
            <a:ext cx="1268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DIRECTORY</a:t>
            </a:r>
          </a:p>
        </p:txBody>
      </p:sp>
      <p:sp>
        <p:nvSpPr>
          <p:cNvPr id="27" name="Rectangle 32"/>
          <p:cNvSpPr>
            <a:spLocks noChangeArrowheads="1"/>
          </p:cNvSpPr>
          <p:nvPr/>
        </p:nvSpPr>
        <p:spPr bwMode="auto">
          <a:xfrm>
            <a:off x="7856434" y="2253982"/>
            <a:ext cx="887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Bucket A</a:t>
            </a:r>
          </a:p>
        </p:txBody>
      </p:sp>
      <p:sp>
        <p:nvSpPr>
          <p:cNvPr id="28" name="Rectangle 33"/>
          <p:cNvSpPr>
            <a:spLocks noChangeArrowheads="1"/>
          </p:cNvSpPr>
          <p:nvPr/>
        </p:nvSpPr>
        <p:spPr bwMode="auto">
          <a:xfrm>
            <a:off x="7870721" y="3084007"/>
            <a:ext cx="8778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B</a:t>
            </a:r>
          </a:p>
        </p:txBody>
      </p:sp>
      <p:sp>
        <p:nvSpPr>
          <p:cNvPr id="29" name="Rectangle 34"/>
          <p:cNvSpPr>
            <a:spLocks noChangeArrowheads="1"/>
          </p:cNvSpPr>
          <p:nvPr/>
        </p:nvSpPr>
        <p:spPr bwMode="auto">
          <a:xfrm>
            <a:off x="7870721" y="3900220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C</a:t>
            </a:r>
          </a:p>
        </p:txBody>
      </p:sp>
      <p:sp>
        <p:nvSpPr>
          <p:cNvPr id="30" name="Rectangle 35"/>
          <p:cNvSpPr>
            <a:spLocks noChangeArrowheads="1"/>
          </p:cNvSpPr>
          <p:nvPr/>
        </p:nvSpPr>
        <p:spPr bwMode="auto">
          <a:xfrm>
            <a:off x="7872309" y="4752707"/>
            <a:ext cx="887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D</a:t>
            </a:r>
          </a:p>
        </p:txBody>
      </p:sp>
      <p:sp>
        <p:nvSpPr>
          <p:cNvPr id="31" name="Rectangle 36"/>
          <p:cNvSpPr>
            <a:spLocks noChangeArrowheads="1"/>
          </p:cNvSpPr>
          <p:nvPr/>
        </p:nvSpPr>
        <p:spPr bwMode="auto">
          <a:xfrm>
            <a:off x="6420643" y="5390912"/>
            <a:ext cx="13223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DATA PAGES</a:t>
            </a:r>
          </a:p>
        </p:txBody>
      </p:sp>
      <p:sp>
        <p:nvSpPr>
          <p:cNvPr id="32" name="Rectangle 37"/>
          <p:cNvSpPr>
            <a:spLocks noChangeArrowheads="1"/>
          </p:cNvSpPr>
          <p:nvPr/>
        </p:nvSpPr>
        <p:spPr bwMode="auto">
          <a:xfrm>
            <a:off x="6362700" y="38973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10*</a:t>
            </a:r>
          </a:p>
        </p:txBody>
      </p:sp>
      <p:sp>
        <p:nvSpPr>
          <p:cNvPr id="33" name="Rectangle 38"/>
          <p:cNvSpPr>
            <a:spLocks noChangeArrowheads="1"/>
          </p:cNvSpPr>
          <p:nvPr/>
        </p:nvSpPr>
        <p:spPr bwMode="auto">
          <a:xfrm>
            <a:off x="6376987" y="3082687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1*</a:t>
            </a:r>
          </a:p>
        </p:txBody>
      </p:sp>
      <p:sp>
        <p:nvSpPr>
          <p:cNvPr id="34" name="Rectangle 39"/>
          <p:cNvSpPr>
            <a:spLocks noChangeArrowheads="1"/>
          </p:cNvSpPr>
          <p:nvPr/>
        </p:nvSpPr>
        <p:spPr bwMode="auto">
          <a:xfrm>
            <a:off x="7045325" y="3082687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21*</a:t>
            </a:r>
          </a:p>
        </p:txBody>
      </p:sp>
      <p:sp>
        <p:nvSpPr>
          <p:cNvPr id="35" name="Rectangle 40"/>
          <p:cNvSpPr>
            <a:spLocks noChangeArrowheads="1"/>
          </p:cNvSpPr>
          <p:nvPr/>
        </p:nvSpPr>
        <p:spPr bwMode="auto">
          <a:xfrm>
            <a:off x="6373812" y="2263775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4*</a:t>
            </a:r>
          </a:p>
        </p:txBody>
      </p:sp>
      <p:sp>
        <p:nvSpPr>
          <p:cNvPr id="36" name="Rectangle 41"/>
          <p:cNvSpPr>
            <a:spLocks noChangeArrowheads="1"/>
          </p:cNvSpPr>
          <p:nvPr/>
        </p:nvSpPr>
        <p:spPr bwMode="auto">
          <a:xfrm>
            <a:off x="6696075" y="22637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12*</a:t>
            </a:r>
          </a:p>
        </p:txBody>
      </p:sp>
      <p:sp>
        <p:nvSpPr>
          <p:cNvPr id="37" name="Rectangle 42"/>
          <p:cNvSpPr>
            <a:spLocks noChangeArrowheads="1"/>
          </p:cNvSpPr>
          <p:nvPr/>
        </p:nvSpPr>
        <p:spPr bwMode="auto">
          <a:xfrm>
            <a:off x="7075487" y="22637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32*</a:t>
            </a:r>
          </a:p>
        </p:txBody>
      </p:sp>
      <p:sp>
        <p:nvSpPr>
          <p:cNvPr id="38" name="Rectangle 43"/>
          <p:cNvSpPr>
            <a:spLocks noChangeArrowheads="1"/>
          </p:cNvSpPr>
          <p:nvPr/>
        </p:nvSpPr>
        <p:spPr bwMode="auto">
          <a:xfrm>
            <a:off x="7396162" y="22510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16*</a:t>
            </a:r>
          </a:p>
        </p:txBody>
      </p:sp>
      <p:sp>
        <p:nvSpPr>
          <p:cNvPr id="39" name="Rectangle 44"/>
          <p:cNvSpPr>
            <a:spLocks noChangeArrowheads="1"/>
          </p:cNvSpPr>
          <p:nvPr/>
        </p:nvSpPr>
        <p:spPr bwMode="auto">
          <a:xfrm>
            <a:off x="6362700" y="47355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15*</a:t>
            </a:r>
          </a:p>
        </p:txBody>
      </p:sp>
      <p:sp>
        <p:nvSpPr>
          <p:cNvPr id="40" name="Rectangle 45"/>
          <p:cNvSpPr>
            <a:spLocks noChangeArrowheads="1"/>
          </p:cNvSpPr>
          <p:nvPr/>
        </p:nvSpPr>
        <p:spPr bwMode="auto">
          <a:xfrm>
            <a:off x="6753225" y="47355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7*</a:t>
            </a:r>
          </a:p>
        </p:txBody>
      </p:sp>
      <p:sp>
        <p:nvSpPr>
          <p:cNvPr id="41" name="Rectangle 46"/>
          <p:cNvSpPr>
            <a:spLocks noChangeArrowheads="1"/>
          </p:cNvSpPr>
          <p:nvPr/>
        </p:nvSpPr>
        <p:spPr bwMode="auto">
          <a:xfrm>
            <a:off x="7046912" y="47355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19*</a:t>
            </a:r>
          </a:p>
        </p:txBody>
      </p:sp>
      <p:sp>
        <p:nvSpPr>
          <p:cNvPr id="42" name="Rectangle 47"/>
          <p:cNvSpPr>
            <a:spLocks noChangeArrowheads="1"/>
          </p:cNvSpPr>
          <p:nvPr/>
        </p:nvSpPr>
        <p:spPr bwMode="auto">
          <a:xfrm>
            <a:off x="6751637" y="308110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5*</a:t>
            </a:r>
          </a:p>
        </p:txBody>
      </p:sp>
      <p:sp>
        <p:nvSpPr>
          <p:cNvPr id="45" name="Rectangle 50"/>
          <p:cNvSpPr>
            <a:spLocks noChangeArrowheads="1"/>
          </p:cNvSpPr>
          <p:nvPr/>
        </p:nvSpPr>
        <p:spPr bwMode="auto">
          <a:xfrm>
            <a:off x="4983162" y="3054112"/>
            <a:ext cx="684213" cy="3333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Rectangle 51"/>
          <p:cNvSpPr>
            <a:spLocks noChangeArrowheads="1"/>
          </p:cNvSpPr>
          <p:nvPr/>
        </p:nvSpPr>
        <p:spPr bwMode="auto">
          <a:xfrm>
            <a:off x="4983162" y="3397012"/>
            <a:ext cx="684213" cy="3333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Rectangle 52"/>
          <p:cNvSpPr>
            <a:spLocks noChangeArrowheads="1"/>
          </p:cNvSpPr>
          <p:nvPr/>
        </p:nvSpPr>
        <p:spPr bwMode="auto">
          <a:xfrm>
            <a:off x="4983162" y="3739912"/>
            <a:ext cx="684213" cy="3333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Line 53"/>
          <p:cNvSpPr>
            <a:spLocks noChangeShapeType="1"/>
          </p:cNvSpPr>
          <p:nvPr/>
        </p:nvSpPr>
        <p:spPr bwMode="auto">
          <a:xfrm flipV="1">
            <a:off x="5441950" y="2415379"/>
            <a:ext cx="920750" cy="805419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Line 54"/>
          <p:cNvSpPr>
            <a:spLocks noChangeShapeType="1"/>
          </p:cNvSpPr>
          <p:nvPr/>
        </p:nvSpPr>
        <p:spPr bwMode="auto">
          <a:xfrm flipV="1">
            <a:off x="5405437" y="3257312"/>
            <a:ext cx="965200" cy="3222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Line 55"/>
          <p:cNvSpPr>
            <a:spLocks noChangeShapeType="1"/>
          </p:cNvSpPr>
          <p:nvPr/>
        </p:nvSpPr>
        <p:spPr bwMode="auto">
          <a:xfrm>
            <a:off x="5441950" y="3917712"/>
            <a:ext cx="931862" cy="1769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56"/>
          <p:cNvSpPr>
            <a:spLocks noChangeShapeType="1"/>
          </p:cNvSpPr>
          <p:nvPr/>
        </p:nvSpPr>
        <p:spPr bwMode="auto">
          <a:xfrm>
            <a:off x="5524500" y="4298712"/>
            <a:ext cx="849312" cy="65111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Freeform 9"/>
          <p:cNvSpPr>
            <a:spLocks/>
          </p:cNvSpPr>
          <p:nvPr/>
        </p:nvSpPr>
        <p:spPr bwMode="auto">
          <a:xfrm>
            <a:off x="4981813" y="2697030"/>
            <a:ext cx="352425" cy="350838"/>
          </a:xfrm>
          <a:custGeom>
            <a:avLst/>
            <a:gdLst>
              <a:gd name="T0" fmla="*/ 0 w 222"/>
              <a:gd name="T1" fmla="*/ 220 h 221"/>
              <a:gd name="T2" fmla="*/ 0 w 222"/>
              <a:gd name="T3" fmla="*/ 0 h 221"/>
              <a:gd name="T4" fmla="*/ 221 w 222"/>
              <a:gd name="T5" fmla="*/ 0 h 221"/>
              <a:gd name="T6" fmla="*/ 221 w 222"/>
              <a:gd name="T7" fmla="*/ 220 h 221"/>
              <a:gd name="T8" fmla="*/ 0 w 222"/>
              <a:gd name="T9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2" h="221">
                <a:moveTo>
                  <a:pt x="0" y="220"/>
                </a:moveTo>
                <a:lnTo>
                  <a:pt x="0" y="0"/>
                </a:lnTo>
                <a:lnTo>
                  <a:pt x="221" y="0"/>
                </a:lnTo>
                <a:lnTo>
                  <a:pt x="221" y="220"/>
                </a:lnTo>
                <a:lnTo>
                  <a:pt x="0" y="220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Rectangle 24"/>
          <p:cNvSpPr>
            <a:spLocks noChangeArrowheads="1"/>
          </p:cNvSpPr>
          <p:nvPr/>
        </p:nvSpPr>
        <p:spPr bwMode="auto">
          <a:xfrm>
            <a:off x="4975463" y="2704968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sp>
        <p:nvSpPr>
          <p:cNvPr id="54" name="Rectangle 30"/>
          <p:cNvSpPr>
            <a:spLocks noChangeArrowheads="1"/>
          </p:cNvSpPr>
          <p:nvPr/>
        </p:nvSpPr>
        <p:spPr bwMode="auto">
          <a:xfrm>
            <a:off x="4522787" y="2097995"/>
            <a:ext cx="14620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Courier New" pitchFamily="49" charset="0"/>
              </a:rPr>
              <a:t>GLOBAL DEPTH</a:t>
            </a:r>
          </a:p>
        </p:txBody>
      </p:sp>
      <p:sp>
        <p:nvSpPr>
          <p:cNvPr id="55" name="Freeform 49"/>
          <p:cNvSpPr>
            <a:spLocks/>
          </p:cNvSpPr>
          <p:nvPr/>
        </p:nvSpPr>
        <p:spPr bwMode="auto">
          <a:xfrm flipH="1">
            <a:off x="5040551" y="2338255"/>
            <a:ext cx="260905" cy="358775"/>
          </a:xfrm>
          <a:custGeom>
            <a:avLst/>
            <a:gdLst>
              <a:gd name="T0" fmla="*/ 0 w 287"/>
              <a:gd name="T1" fmla="*/ 0 h 226"/>
              <a:gd name="T2" fmla="*/ 53 w 287"/>
              <a:gd name="T3" fmla="*/ 180 h 226"/>
              <a:gd name="T4" fmla="*/ 158 w 287"/>
              <a:gd name="T5" fmla="*/ 75 h 226"/>
              <a:gd name="T6" fmla="*/ 286 w 287"/>
              <a:gd name="T7" fmla="*/ 225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7" h="226">
                <a:moveTo>
                  <a:pt x="0" y="0"/>
                </a:moveTo>
                <a:lnTo>
                  <a:pt x="53" y="180"/>
                </a:lnTo>
                <a:lnTo>
                  <a:pt x="158" y="75"/>
                </a:lnTo>
                <a:lnTo>
                  <a:pt x="286" y="225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199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3" grpId="0" animBg="1"/>
      <p:bldP spid="15" grpId="0"/>
      <p:bldP spid="16" grpId="0"/>
      <p:bldP spid="17" grpId="0"/>
      <p:bldP spid="18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/>
      <p:bldP spid="54" grpId="0"/>
      <p:bldP spid="5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ea typeface="ＭＳ Ｐゴシック" pitchFamily="34" charset="-128"/>
              </a:rPr>
              <a:t>Extendible Hashing: Searching for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 smtClean="0"/>
              <a:t>To search for a data entry, apply a hash function </a:t>
            </a:r>
            <a:r>
              <a:rPr lang="en-US" sz="2600" b="1" i="1" dirty="0" smtClean="0"/>
              <a:t>h</a:t>
            </a:r>
            <a:r>
              <a:rPr lang="en-US" sz="2600" dirty="0" smtClean="0"/>
              <a:t> to the key and take the last </a:t>
            </a:r>
            <a:r>
              <a:rPr lang="en-US" sz="2600" b="1" i="1" dirty="0" smtClean="0"/>
              <a:t>d</a:t>
            </a:r>
            <a:r>
              <a:rPr lang="en-US" sz="2600" dirty="0" smtClean="0"/>
              <a:t> bits of its binary representation to get the bucket number 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Example: search for </a:t>
            </a:r>
            <a:r>
              <a:rPr lang="en-US" sz="2600" dirty="0" smtClean="0">
                <a:solidFill>
                  <a:srgbClr val="FF0000"/>
                </a:solidFill>
              </a:rPr>
              <a:t>5* </a:t>
            </a:r>
            <a:endParaRPr lang="en-US" sz="1800" dirty="0">
              <a:solidFill>
                <a:srgbClr val="FF0000"/>
              </a:solidFill>
            </a:endParaRPr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  <a:p>
            <a:pPr marL="0" indent="0">
              <a:buNone/>
            </a:pPr>
            <a:endParaRPr lang="en-US" dirty="0" smtClean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</p:txBody>
      </p:sp>
      <p:sp>
        <p:nvSpPr>
          <p:cNvPr id="5" name="Freeform 10"/>
          <p:cNvSpPr>
            <a:spLocks/>
          </p:cNvSpPr>
          <p:nvPr/>
        </p:nvSpPr>
        <p:spPr bwMode="auto">
          <a:xfrm>
            <a:off x="5006975" y="4571762"/>
            <a:ext cx="1403350" cy="352425"/>
          </a:xfrm>
          <a:custGeom>
            <a:avLst/>
            <a:gdLst>
              <a:gd name="T0" fmla="*/ 0 w 884"/>
              <a:gd name="T1" fmla="*/ 221 h 222"/>
              <a:gd name="T2" fmla="*/ 0 w 884"/>
              <a:gd name="T3" fmla="*/ 0 h 222"/>
              <a:gd name="T4" fmla="*/ 883 w 884"/>
              <a:gd name="T5" fmla="*/ 0 h 222"/>
              <a:gd name="T6" fmla="*/ 883 w 884"/>
              <a:gd name="T7" fmla="*/ 221 h 222"/>
              <a:gd name="T8" fmla="*/ 0 w 884"/>
              <a:gd name="T9" fmla="*/ 221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" h="222">
                <a:moveTo>
                  <a:pt x="0" y="221"/>
                </a:moveTo>
                <a:lnTo>
                  <a:pt x="0" y="0"/>
                </a:lnTo>
                <a:lnTo>
                  <a:pt x="883" y="0"/>
                </a:lnTo>
                <a:lnTo>
                  <a:pt x="883" y="221"/>
                </a:lnTo>
                <a:lnTo>
                  <a:pt x="0" y="22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Freeform 11"/>
          <p:cNvSpPr>
            <a:spLocks/>
          </p:cNvSpPr>
          <p:nvPr/>
        </p:nvSpPr>
        <p:spPr bwMode="auto">
          <a:xfrm>
            <a:off x="5006975" y="5017849"/>
            <a:ext cx="1403350" cy="350838"/>
          </a:xfrm>
          <a:custGeom>
            <a:avLst/>
            <a:gdLst>
              <a:gd name="T0" fmla="*/ 0 w 884"/>
              <a:gd name="T1" fmla="*/ 220 h 221"/>
              <a:gd name="T2" fmla="*/ 0 w 884"/>
              <a:gd name="T3" fmla="*/ 0 h 221"/>
              <a:gd name="T4" fmla="*/ 883 w 884"/>
              <a:gd name="T5" fmla="*/ 0 h 221"/>
              <a:gd name="T6" fmla="*/ 883 w 884"/>
              <a:gd name="T7" fmla="*/ 220 h 221"/>
              <a:gd name="T8" fmla="*/ 0 w 884"/>
              <a:gd name="T9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" h="221">
                <a:moveTo>
                  <a:pt x="0" y="220"/>
                </a:moveTo>
                <a:lnTo>
                  <a:pt x="0" y="0"/>
                </a:lnTo>
                <a:lnTo>
                  <a:pt x="883" y="0"/>
                </a:lnTo>
                <a:lnTo>
                  <a:pt x="883" y="220"/>
                </a:lnTo>
                <a:lnTo>
                  <a:pt x="0" y="22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Freeform 12"/>
          <p:cNvSpPr>
            <a:spLocks/>
          </p:cNvSpPr>
          <p:nvPr/>
        </p:nvSpPr>
        <p:spPr bwMode="auto">
          <a:xfrm>
            <a:off x="5006975" y="5486400"/>
            <a:ext cx="1403350" cy="350838"/>
          </a:xfrm>
          <a:custGeom>
            <a:avLst/>
            <a:gdLst>
              <a:gd name="T0" fmla="*/ 0 w 884"/>
              <a:gd name="T1" fmla="*/ 220 h 221"/>
              <a:gd name="T2" fmla="*/ 0 w 884"/>
              <a:gd name="T3" fmla="*/ 0 h 221"/>
              <a:gd name="T4" fmla="*/ 883 w 884"/>
              <a:gd name="T5" fmla="*/ 0 h 221"/>
              <a:gd name="T6" fmla="*/ 883 w 884"/>
              <a:gd name="T7" fmla="*/ 220 h 221"/>
              <a:gd name="T8" fmla="*/ 0 w 884"/>
              <a:gd name="T9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" h="221">
                <a:moveTo>
                  <a:pt x="0" y="220"/>
                </a:moveTo>
                <a:lnTo>
                  <a:pt x="0" y="0"/>
                </a:lnTo>
                <a:lnTo>
                  <a:pt x="883" y="0"/>
                </a:lnTo>
                <a:lnTo>
                  <a:pt x="883" y="220"/>
                </a:lnTo>
                <a:lnTo>
                  <a:pt x="0" y="22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Freeform 13"/>
          <p:cNvSpPr>
            <a:spLocks/>
          </p:cNvSpPr>
          <p:nvPr/>
        </p:nvSpPr>
        <p:spPr bwMode="auto">
          <a:xfrm>
            <a:off x="5006975" y="4116149"/>
            <a:ext cx="1403350" cy="350838"/>
          </a:xfrm>
          <a:custGeom>
            <a:avLst/>
            <a:gdLst>
              <a:gd name="T0" fmla="*/ 0 w 884"/>
              <a:gd name="T1" fmla="*/ 220 h 221"/>
              <a:gd name="T2" fmla="*/ 0 w 884"/>
              <a:gd name="T3" fmla="*/ 0 h 221"/>
              <a:gd name="T4" fmla="*/ 883 w 884"/>
              <a:gd name="T5" fmla="*/ 0 h 221"/>
              <a:gd name="T6" fmla="*/ 883 w 884"/>
              <a:gd name="T7" fmla="*/ 220 h 221"/>
              <a:gd name="T8" fmla="*/ 0 w 884"/>
              <a:gd name="T9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" h="221">
                <a:moveTo>
                  <a:pt x="0" y="220"/>
                </a:moveTo>
                <a:lnTo>
                  <a:pt x="0" y="0"/>
                </a:lnTo>
                <a:lnTo>
                  <a:pt x="883" y="0"/>
                </a:lnTo>
                <a:lnTo>
                  <a:pt x="883" y="220"/>
                </a:lnTo>
                <a:lnTo>
                  <a:pt x="0" y="22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Freeform 18"/>
          <p:cNvSpPr>
            <a:spLocks/>
          </p:cNvSpPr>
          <p:nvPr/>
        </p:nvSpPr>
        <p:spPr bwMode="auto">
          <a:xfrm>
            <a:off x="3606800" y="4041537"/>
            <a:ext cx="701675" cy="1401763"/>
          </a:xfrm>
          <a:custGeom>
            <a:avLst/>
            <a:gdLst>
              <a:gd name="T0" fmla="*/ 0 w 442"/>
              <a:gd name="T1" fmla="*/ 882 h 883"/>
              <a:gd name="T2" fmla="*/ 0 w 442"/>
              <a:gd name="T3" fmla="*/ 0 h 883"/>
              <a:gd name="T4" fmla="*/ 441 w 442"/>
              <a:gd name="T5" fmla="*/ 0 h 883"/>
              <a:gd name="T6" fmla="*/ 441 w 442"/>
              <a:gd name="T7" fmla="*/ 882 h 883"/>
              <a:gd name="T8" fmla="*/ 0 w 442"/>
              <a:gd name="T9" fmla="*/ 882 h 8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2" h="883">
                <a:moveTo>
                  <a:pt x="0" y="882"/>
                </a:moveTo>
                <a:lnTo>
                  <a:pt x="0" y="0"/>
                </a:lnTo>
                <a:lnTo>
                  <a:pt x="441" y="0"/>
                </a:lnTo>
                <a:lnTo>
                  <a:pt x="441" y="882"/>
                </a:lnTo>
                <a:lnTo>
                  <a:pt x="0" y="88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20"/>
          <p:cNvSpPr>
            <a:spLocks noChangeArrowheads="1"/>
          </p:cNvSpPr>
          <p:nvPr/>
        </p:nvSpPr>
        <p:spPr bwMode="auto">
          <a:xfrm>
            <a:off x="2970213" y="406535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00</a:t>
            </a:r>
          </a:p>
        </p:txBody>
      </p:sp>
      <p:sp>
        <p:nvSpPr>
          <p:cNvPr id="16" name="Rectangle 21"/>
          <p:cNvSpPr>
            <a:spLocks noChangeArrowheads="1"/>
          </p:cNvSpPr>
          <p:nvPr/>
        </p:nvSpPr>
        <p:spPr bwMode="auto">
          <a:xfrm>
            <a:off x="2970213" y="4454287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01</a:t>
            </a:r>
          </a:p>
        </p:txBody>
      </p:sp>
      <p:sp>
        <p:nvSpPr>
          <p:cNvPr id="17" name="Rectangle 22"/>
          <p:cNvSpPr>
            <a:spLocks noChangeArrowheads="1"/>
          </p:cNvSpPr>
          <p:nvPr/>
        </p:nvSpPr>
        <p:spPr bwMode="auto">
          <a:xfrm>
            <a:off x="2970213" y="4787662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</a:t>
            </a:r>
          </a:p>
        </p:txBody>
      </p:sp>
      <p:sp>
        <p:nvSpPr>
          <p:cNvPr id="18" name="Rectangle 23"/>
          <p:cNvSpPr>
            <a:spLocks noChangeArrowheads="1"/>
          </p:cNvSpPr>
          <p:nvPr/>
        </p:nvSpPr>
        <p:spPr bwMode="auto">
          <a:xfrm>
            <a:off x="2970213" y="5148025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11</a:t>
            </a:r>
          </a:p>
        </p:txBody>
      </p:sp>
      <p:sp>
        <p:nvSpPr>
          <p:cNvPr id="26" name="Rectangle 31"/>
          <p:cNvSpPr>
            <a:spLocks noChangeArrowheads="1"/>
          </p:cNvSpPr>
          <p:nvPr/>
        </p:nvSpPr>
        <p:spPr bwMode="auto">
          <a:xfrm>
            <a:off x="3294063" y="5686187"/>
            <a:ext cx="1268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DIRECTORY</a:t>
            </a:r>
          </a:p>
        </p:txBody>
      </p:sp>
      <p:sp>
        <p:nvSpPr>
          <p:cNvPr id="27" name="Rectangle 32"/>
          <p:cNvSpPr>
            <a:spLocks noChangeArrowheads="1"/>
          </p:cNvSpPr>
          <p:nvPr/>
        </p:nvSpPr>
        <p:spPr bwMode="auto">
          <a:xfrm>
            <a:off x="6640513" y="4022487"/>
            <a:ext cx="887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A</a:t>
            </a:r>
          </a:p>
        </p:txBody>
      </p:sp>
      <p:sp>
        <p:nvSpPr>
          <p:cNvPr id="28" name="Rectangle 33"/>
          <p:cNvSpPr>
            <a:spLocks noChangeArrowheads="1"/>
          </p:cNvSpPr>
          <p:nvPr/>
        </p:nvSpPr>
        <p:spPr bwMode="auto">
          <a:xfrm>
            <a:off x="6654800" y="4493975"/>
            <a:ext cx="8778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B</a:t>
            </a:r>
          </a:p>
        </p:txBody>
      </p:sp>
      <p:sp>
        <p:nvSpPr>
          <p:cNvPr id="29" name="Rectangle 34"/>
          <p:cNvSpPr>
            <a:spLocks noChangeArrowheads="1"/>
          </p:cNvSpPr>
          <p:nvPr/>
        </p:nvSpPr>
        <p:spPr bwMode="auto">
          <a:xfrm>
            <a:off x="6654800" y="4924187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C</a:t>
            </a:r>
          </a:p>
        </p:txBody>
      </p:sp>
      <p:sp>
        <p:nvSpPr>
          <p:cNvPr id="30" name="Rectangle 35"/>
          <p:cNvSpPr>
            <a:spLocks noChangeArrowheads="1"/>
          </p:cNvSpPr>
          <p:nvPr/>
        </p:nvSpPr>
        <p:spPr bwMode="auto">
          <a:xfrm>
            <a:off x="6656388" y="5407025"/>
            <a:ext cx="887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D</a:t>
            </a:r>
          </a:p>
        </p:txBody>
      </p:sp>
      <p:sp>
        <p:nvSpPr>
          <p:cNvPr id="31" name="Rectangle 36"/>
          <p:cNvSpPr>
            <a:spLocks noChangeArrowheads="1"/>
          </p:cNvSpPr>
          <p:nvPr/>
        </p:nvSpPr>
        <p:spPr bwMode="auto">
          <a:xfrm>
            <a:off x="4953000" y="6022975"/>
            <a:ext cx="13223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DATA PAGES</a:t>
            </a:r>
          </a:p>
        </p:txBody>
      </p:sp>
      <p:sp>
        <p:nvSpPr>
          <p:cNvPr id="32" name="Rectangle 37"/>
          <p:cNvSpPr>
            <a:spLocks noChangeArrowheads="1"/>
          </p:cNvSpPr>
          <p:nvPr/>
        </p:nvSpPr>
        <p:spPr bwMode="auto">
          <a:xfrm>
            <a:off x="4989513" y="5028962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10*</a:t>
            </a:r>
          </a:p>
        </p:txBody>
      </p:sp>
      <p:sp>
        <p:nvSpPr>
          <p:cNvPr id="33" name="Rectangle 38"/>
          <p:cNvSpPr>
            <a:spLocks noChangeArrowheads="1"/>
          </p:cNvSpPr>
          <p:nvPr/>
        </p:nvSpPr>
        <p:spPr bwMode="auto">
          <a:xfrm>
            <a:off x="5003800" y="4600337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1*</a:t>
            </a:r>
          </a:p>
        </p:txBody>
      </p:sp>
      <p:sp>
        <p:nvSpPr>
          <p:cNvPr id="34" name="Rectangle 39"/>
          <p:cNvSpPr>
            <a:spLocks noChangeArrowheads="1"/>
          </p:cNvSpPr>
          <p:nvPr/>
        </p:nvSpPr>
        <p:spPr bwMode="auto">
          <a:xfrm>
            <a:off x="5672138" y="4600337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21*</a:t>
            </a:r>
          </a:p>
        </p:txBody>
      </p:sp>
      <p:sp>
        <p:nvSpPr>
          <p:cNvPr id="35" name="Rectangle 40"/>
          <p:cNvSpPr>
            <a:spLocks noChangeArrowheads="1"/>
          </p:cNvSpPr>
          <p:nvPr/>
        </p:nvSpPr>
        <p:spPr bwMode="auto">
          <a:xfrm>
            <a:off x="5000625" y="4139962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4*</a:t>
            </a:r>
          </a:p>
        </p:txBody>
      </p:sp>
      <p:sp>
        <p:nvSpPr>
          <p:cNvPr id="36" name="Rectangle 41"/>
          <p:cNvSpPr>
            <a:spLocks noChangeArrowheads="1"/>
          </p:cNvSpPr>
          <p:nvPr/>
        </p:nvSpPr>
        <p:spPr bwMode="auto">
          <a:xfrm>
            <a:off x="5322888" y="4139962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12*</a:t>
            </a:r>
          </a:p>
        </p:txBody>
      </p:sp>
      <p:sp>
        <p:nvSpPr>
          <p:cNvPr id="37" name="Rectangle 42"/>
          <p:cNvSpPr>
            <a:spLocks noChangeArrowheads="1"/>
          </p:cNvSpPr>
          <p:nvPr/>
        </p:nvSpPr>
        <p:spPr bwMode="auto">
          <a:xfrm>
            <a:off x="5702300" y="4139962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32*</a:t>
            </a:r>
          </a:p>
        </p:txBody>
      </p:sp>
      <p:sp>
        <p:nvSpPr>
          <p:cNvPr id="38" name="Rectangle 43"/>
          <p:cNvSpPr>
            <a:spLocks noChangeArrowheads="1"/>
          </p:cNvSpPr>
          <p:nvPr/>
        </p:nvSpPr>
        <p:spPr bwMode="auto">
          <a:xfrm>
            <a:off x="6022975" y="4127262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16*</a:t>
            </a:r>
          </a:p>
        </p:txBody>
      </p:sp>
      <p:sp>
        <p:nvSpPr>
          <p:cNvPr id="39" name="Rectangle 44"/>
          <p:cNvSpPr>
            <a:spLocks noChangeArrowheads="1"/>
          </p:cNvSpPr>
          <p:nvPr/>
        </p:nvSpPr>
        <p:spPr bwMode="auto">
          <a:xfrm>
            <a:off x="4989513" y="54975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15*</a:t>
            </a:r>
          </a:p>
        </p:txBody>
      </p:sp>
      <p:sp>
        <p:nvSpPr>
          <p:cNvPr id="40" name="Rectangle 45"/>
          <p:cNvSpPr>
            <a:spLocks noChangeArrowheads="1"/>
          </p:cNvSpPr>
          <p:nvPr/>
        </p:nvSpPr>
        <p:spPr bwMode="auto">
          <a:xfrm>
            <a:off x="5380038" y="54975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7*</a:t>
            </a:r>
          </a:p>
        </p:txBody>
      </p:sp>
      <p:sp>
        <p:nvSpPr>
          <p:cNvPr id="41" name="Rectangle 46"/>
          <p:cNvSpPr>
            <a:spLocks noChangeArrowheads="1"/>
          </p:cNvSpPr>
          <p:nvPr/>
        </p:nvSpPr>
        <p:spPr bwMode="auto">
          <a:xfrm>
            <a:off x="5673725" y="54975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19*</a:t>
            </a:r>
          </a:p>
        </p:txBody>
      </p:sp>
      <p:sp>
        <p:nvSpPr>
          <p:cNvPr id="42" name="Rectangle 47"/>
          <p:cNvSpPr>
            <a:spLocks noChangeArrowheads="1"/>
          </p:cNvSpPr>
          <p:nvPr/>
        </p:nvSpPr>
        <p:spPr bwMode="auto">
          <a:xfrm>
            <a:off x="5378450" y="459875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5*</a:t>
            </a:r>
          </a:p>
        </p:txBody>
      </p:sp>
      <p:sp>
        <p:nvSpPr>
          <p:cNvPr id="45" name="Rectangle 50"/>
          <p:cNvSpPr>
            <a:spLocks noChangeArrowheads="1"/>
          </p:cNvSpPr>
          <p:nvPr/>
        </p:nvSpPr>
        <p:spPr bwMode="auto">
          <a:xfrm>
            <a:off x="3609975" y="4041537"/>
            <a:ext cx="684213" cy="3333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Rectangle 51"/>
          <p:cNvSpPr>
            <a:spLocks noChangeArrowheads="1"/>
          </p:cNvSpPr>
          <p:nvPr/>
        </p:nvSpPr>
        <p:spPr bwMode="auto">
          <a:xfrm>
            <a:off x="3609975" y="4384437"/>
            <a:ext cx="684213" cy="3333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Rectangle 52"/>
          <p:cNvSpPr>
            <a:spLocks noChangeArrowheads="1"/>
          </p:cNvSpPr>
          <p:nvPr/>
        </p:nvSpPr>
        <p:spPr bwMode="auto">
          <a:xfrm>
            <a:off x="3609975" y="4727337"/>
            <a:ext cx="684213" cy="3333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Line 53"/>
          <p:cNvSpPr>
            <a:spLocks noChangeShapeType="1"/>
          </p:cNvSpPr>
          <p:nvPr/>
        </p:nvSpPr>
        <p:spPr bwMode="auto">
          <a:xfrm flipV="1">
            <a:off x="4032249" y="4290773"/>
            <a:ext cx="976313" cy="428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Line 54"/>
          <p:cNvSpPr>
            <a:spLocks noChangeShapeType="1"/>
          </p:cNvSpPr>
          <p:nvPr/>
        </p:nvSpPr>
        <p:spPr bwMode="auto">
          <a:xfrm>
            <a:off x="4032249" y="4566999"/>
            <a:ext cx="976313" cy="204787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Line 55"/>
          <p:cNvSpPr>
            <a:spLocks noChangeShapeType="1"/>
          </p:cNvSpPr>
          <p:nvPr/>
        </p:nvSpPr>
        <p:spPr bwMode="auto">
          <a:xfrm>
            <a:off x="4068763" y="4905137"/>
            <a:ext cx="939800" cy="3571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56"/>
          <p:cNvSpPr>
            <a:spLocks noChangeShapeType="1"/>
          </p:cNvSpPr>
          <p:nvPr/>
        </p:nvSpPr>
        <p:spPr bwMode="auto">
          <a:xfrm>
            <a:off x="4151313" y="5286138"/>
            <a:ext cx="857250" cy="37568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52500" y="4610934"/>
            <a:ext cx="11430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5 = 1</a:t>
            </a:r>
            <a:r>
              <a:rPr lang="en-US" b="1" dirty="0" smtClean="0"/>
              <a:t>01</a:t>
            </a:r>
            <a:r>
              <a:rPr lang="en-US" dirty="0" smtClean="0"/>
              <a:t> </a:t>
            </a:r>
            <a:endParaRPr lang="en-US" dirty="0"/>
          </a:p>
        </p:txBody>
      </p:sp>
      <p:cxnSp>
        <p:nvCxnSpPr>
          <p:cNvPr id="4" name="Straight Arrow Connector 3"/>
          <p:cNvCxnSpPr>
            <a:endCxn id="49" idx="1"/>
          </p:cNvCxnSpPr>
          <p:nvPr/>
        </p:nvCxnSpPr>
        <p:spPr>
          <a:xfrm>
            <a:off x="4032249" y="4566999"/>
            <a:ext cx="976313" cy="20478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305796" y="4534032"/>
            <a:ext cx="447675" cy="429142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 9"/>
          <p:cNvSpPr>
            <a:spLocks/>
          </p:cNvSpPr>
          <p:nvPr/>
        </p:nvSpPr>
        <p:spPr bwMode="auto">
          <a:xfrm>
            <a:off x="3604842" y="3687762"/>
            <a:ext cx="352425" cy="350838"/>
          </a:xfrm>
          <a:custGeom>
            <a:avLst/>
            <a:gdLst>
              <a:gd name="T0" fmla="*/ 0 w 222"/>
              <a:gd name="T1" fmla="*/ 220 h 221"/>
              <a:gd name="T2" fmla="*/ 0 w 222"/>
              <a:gd name="T3" fmla="*/ 0 h 221"/>
              <a:gd name="T4" fmla="*/ 221 w 222"/>
              <a:gd name="T5" fmla="*/ 0 h 221"/>
              <a:gd name="T6" fmla="*/ 221 w 222"/>
              <a:gd name="T7" fmla="*/ 220 h 221"/>
              <a:gd name="T8" fmla="*/ 0 w 222"/>
              <a:gd name="T9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2" h="221">
                <a:moveTo>
                  <a:pt x="0" y="220"/>
                </a:moveTo>
                <a:lnTo>
                  <a:pt x="0" y="0"/>
                </a:lnTo>
                <a:lnTo>
                  <a:pt x="221" y="0"/>
                </a:lnTo>
                <a:lnTo>
                  <a:pt x="221" y="220"/>
                </a:lnTo>
                <a:lnTo>
                  <a:pt x="0" y="220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Rectangle 24"/>
          <p:cNvSpPr>
            <a:spLocks noChangeArrowheads="1"/>
          </p:cNvSpPr>
          <p:nvPr/>
        </p:nvSpPr>
        <p:spPr bwMode="auto">
          <a:xfrm>
            <a:off x="3598492" y="369570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cxnSp>
        <p:nvCxnSpPr>
          <p:cNvPr id="10" name="Straight Arrow Connector 9"/>
          <p:cNvCxnSpPr>
            <a:stCxn id="2" idx="3"/>
            <a:endCxn id="16" idx="1"/>
          </p:cNvCxnSpPr>
          <p:nvPr/>
        </p:nvCxnSpPr>
        <p:spPr>
          <a:xfrm flipV="1">
            <a:off x="2095500" y="4605100"/>
            <a:ext cx="874713" cy="190500"/>
          </a:xfrm>
          <a:prstGeom prst="straightConnector1">
            <a:avLst/>
          </a:prstGeom>
          <a:ln w="1587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1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3" grpId="0" animBg="1"/>
      <p:bldP spid="15" grpId="0"/>
      <p:bldP spid="16" grpId="0"/>
      <p:bldP spid="17" grpId="0"/>
      <p:bldP spid="18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2" grpId="0" animBg="1"/>
      <p:bldP spid="9" grpId="0" animBg="1"/>
      <p:bldP spid="43" grpId="0" animBg="1"/>
      <p:bldP spid="44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Extendible Hashing: Inserting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49530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An entry can be inserted as follows:</a:t>
            </a:r>
          </a:p>
          <a:p>
            <a:pPr lvl="1">
              <a:buFont typeface="Wingdings" pitchFamily="2" charset="2"/>
              <a:buChar char="§"/>
            </a:pPr>
            <a:r>
              <a:rPr lang="en-US" sz="3000" dirty="0" smtClean="0"/>
              <a:t>Find </a:t>
            </a:r>
            <a:r>
              <a:rPr lang="en-US" sz="3000" dirty="0"/>
              <a:t>the appropriate bucket (</a:t>
            </a:r>
            <a:r>
              <a:rPr lang="en-US" sz="3000" i="1" dirty="0"/>
              <a:t>as in search</a:t>
            </a:r>
            <a:r>
              <a:rPr lang="en-US" sz="3000" dirty="0" smtClean="0"/>
              <a:t>)</a:t>
            </a:r>
          </a:p>
          <a:p>
            <a:pPr lvl="1">
              <a:buFont typeface="Wingdings" pitchFamily="2" charset="2"/>
              <a:buChar char="§"/>
            </a:pPr>
            <a:endParaRPr lang="en-US" sz="3000" dirty="0" smtClean="0"/>
          </a:p>
          <a:p>
            <a:pPr lvl="1">
              <a:buFont typeface="Wingdings" pitchFamily="2" charset="2"/>
              <a:buChar char="§"/>
            </a:pPr>
            <a:r>
              <a:rPr lang="en-US" sz="3000" dirty="0" smtClean="0"/>
              <a:t>Split </a:t>
            </a:r>
            <a:r>
              <a:rPr lang="en-US" sz="3000" dirty="0"/>
              <a:t>the bucket </a:t>
            </a:r>
            <a:r>
              <a:rPr lang="en-US" sz="3000" i="1" dirty="0"/>
              <a:t>if </a:t>
            </a:r>
            <a:r>
              <a:rPr lang="en-US" sz="3000" i="1" dirty="0" smtClean="0"/>
              <a:t>full </a:t>
            </a:r>
            <a:r>
              <a:rPr lang="en-US" sz="3000" dirty="0" smtClean="0"/>
              <a:t>and </a:t>
            </a:r>
            <a:r>
              <a:rPr lang="en-US" sz="3000" i="1" dirty="0" smtClean="0"/>
              <a:t>redistribute</a:t>
            </a:r>
            <a:r>
              <a:rPr lang="en-US" sz="3000" dirty="0" smtClean="0"/>
              <a:t> contents (including the new entry to be inserted) across the old bucket and its </a:t>
            </a:r>
            <a:r>
              <a:rPr lang="en-US" sz="3000" b="1" i="1" dirty="0" smtClean="0">
                <a:solidFill>
                  <a:srgbClr val="0070C0"/>
                </a:solidFill>
              </a:rPr>
              <a:t>“split image”</a:t>
            </a:r>
          </a:p>
          <a:p>
            <a:pPr lvl="1">
              <a:buFont typeface="Wingdings" pitchFamily="2" charset="2"/>
              <a:buChar char="§"/>
            </a:pPr>
            <a:endParaRPr lang="en-US" sz="3000" dirty="0" smtClean="0"/>
          </a:p>
          <a:p>
            <a:pPr lvl="1">
              <a:buFont typeface="Wingdings" pitchFamily="2" charset="2"/>
              <a:buChar char="§"/>
            </a:pPr>
            <a:r>
              <a:rPr lang="en-US" sz="3000" dirty="0" smtClean="0"/>
              <a:t>Double the directory </a:t>
            </a:r>
            <a:r>
              <a:rPr lang="en-US" sz="3000" i="1" dirty="0" smtClean="0"/>
              <a:t>if necessary</a:t>
            </a:r>
          </a:p>
          <a:p>
            <a:pPr lvl="1">
              <a:buFont typeface="Wingdings" pitchFamily="2" charset="2"/>
              <a:buChar char="§"/>
            </a:pPr>
            <a:endParaRPr lang="en-US" sz="3000" dirty="0" smtClean="0"/>
          </a:p>
          <a:p>
            <a:pPr lvl="1">
              <a:buFont typeface="Wingdings" pitchFamily="2" charset="2"/>
              <a:buChar char="§"/>
            </a:pPr>
            <a:r>
              <a:rPr lang="en-US" sz="3000" dirty="0" smtClean="0"/>
              <a:t>Insert </a:t>
            </a:r>
            <a:r>
              <a:rPr lang="en-US" sz="3000" dirty="0"/>
              <a:t>the given </a:t>
            </a:r>
            <a:r>
              <a:rPr lang="en-US" sz="3000" dirty="0" smtClean="0"/>
              <a:t>entry</a:t>
            </a:r>
            <a:endParaRPr lang="en-US" sz="30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 marL="0" indent="0">
              <a:buNone/>
            </a:pPr>
            <a:endParaRPr lang="en-US" dirty="0" smtClean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34086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Extendible Hashing: Inserting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Find the appropriate bucket (as in search), split the bucket if </a:t>
            </a:r>
            <a:r>
              <a:rPr lang="en-US" sz="2600" dirty="0" smtClean="0"/>
              <a:t>full, double the directory if necessary </a:t>
            </a:r>
            <a:r>
              <a:rPr lang="en-US" sz="2600" dirty="0"/>
              <a:t>and insert the given </a:t>
            </a:r>
            <a:r>
              <a:rPr lang="en-US" sz="2600" dirty="0" smtClean="0"/>
              <a:t>entry</a:t>
            </a:r>
            <a:endParaRPr lang="en-US" sz="2600" dirty="0"/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Example: insert </a:t>
            </a:r>
            <a:r>
              <a:rPr lang="en-US" sz="2600" dirty="0" smtClean="0">
                <a:solidFill>
                  <a:srgbClr val="FF0000"/>
                </a:solidFill>
              </a:rPr>
              <a:t>13*</a:t>
            </a:r>
            <a:r>
              <a:rPr lang="en-US" sz="2600" dirty="0" smtClean="0"/>
              <a:t> </a:t>
            </a: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  <a:p>
            <a:pPr marL="0" indent="0">
              <a:buNone/>
            </a:pPr>
            <a:endParaRPr lang="en-US" dirty="0" smtClean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</p:txBody>
      </p:sp>
      <p:sp>
        <p:nvSpPr>
          <p:cNvPr id="5" name="Freeform 10"/>
          <p:cNvSpPr>
            <a:spLocks/>
          </p:cNvSpPr>
          <p:nvPr/>
        </p:nvSpPr>
        <p:spPr bwMode="auto">
          <a:xfrm>
            <a:off x="5006975" y="4571762"/>
            <a:ext cx="1403350" cy="352425"/>
          </a:xfrm>
          <a:custGeom>
            <a:avLst/>
            <a:gdLst>
              <a:gd name="T0" fmla="*/ 0 w 884"/>
              <a:gd name="T1" fmla="*/ 221 h 222"/>
              <a:gd name="T2" fmla="*/ 0 w 884"/>
              <a:gd name="T3" fmla="*/ 0 h 222"/>
              <a:gd name="T4" fmla="*/ 883 w 884"/>
              <a:gd name="T5" fmla="*/ 0 h 222"/>
              <a:gd name="T6" fmla="*/ 883 w 884"/>
              <a:gd name="T7" fmla="*/ 221 h 222"/>
              <a:gd name="T8" fmla="*/ 0 w 884"/>
              <a:gd name="T9" fmla="*/ 221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" h="222">
                <a:moveTo>
                  <a:pt x="0" y="221"/>
                </a:moveTo>
                <a:lnTo>
                  <a:pt x="0" y="0"/>
                </a:lnTo>
                <a:lnTo>
                  <a:pt x="883" y="0"/>
                </a:lnTo>
                <a:lnTo>
                  <a:pt x="883" y="221"/>
                </a:lnTo>
                <a:lnTo>
                  <a:pt x="0" y="22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Freeform 11"/>
          <p:cNvSpPr>
            <a:spLocks/>
          </p:cNvSpPr>
          <p:nvPr/>
        </p:nvSpPr>
        <p:spPr bwMode="auto">
          <a:xfrm>
            <a:off x="5006975" y="5017849"/>
            <a:ext cx="1403350" cy="350838"/>
          </a:xfrm>
          <a:custGeom>
            <a:avLst/>
            <a:gdLst>
              <a:gd name="T0" fmla="*/ 0 w 884"/>
              <a:gd name="T1" fmla="*/ 220 h 221"/>
              <a:gd name="T2" fmla="*/ 0 w 884"/>
              <a:gd name="T3" fmla="*/ 0 h 221"/>
              <a:gd name="T4" fmla="*/ 883 w 884"/>
              <a:gd name="T5" fmla="*/ 0 h 221"/>
              <a:gd name="T6" fmla="*/ 883 w 884"/>
              <a:gd name="T7" fmla="*/ 220 h 221"/>
              <a:gd name="T8" fmla="*/ 0 w 884"/>
              <a:gd name="T9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" h="221">
                <a:moveTo>
                  <a:pt x="0" y="220"/>
                </a:moveTo>
                <a:lnTo>
                  <a:pt x="0" y="0"/>
                </a:lnTo>
                <a:lnTo>
                  <a:pt x="883" y="0"/>
                </a:lnTo>
                <a:lnTo>
                  <a:pt x="883" y="220"/>
                </a:lnTo>
                <a:lnTo>
                  <a:pt x="0" y="22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Freeform 12"/>
          <p:cNvSpPr>
            <a:spLocks/>
          </p:cNvSpPr>
          <p:nvPr/>
        </p:nvSpPr>
        <p:spPr bwMode="auto">
          <a:xfrm>
            <a:off x="5006975" y="5486400"/>
            <a:ext cx="1403350" cy="350838"/>
          </a:xfrm>
          <a:custGeom>
            <a:avLst/>
            <a:gdLst>
              <a:gd name="T0" fmla="*/ 0 w 884"/>
              <a:gd name="T1" fmla="*/ 220 h 221"/>
              <a:gd name="T2" fmla="*/ 0 w 884"/>
              <a:gd name="T3" fmla="*/ 0 h 221"/>
              <a:gd name="T4" fmla="*/ 883 w 884"/>
              <a:gd name="T5" fmla="*/ 0 h 221"/>
              <a:gd name="T6" fmla="*/ 883 w 884"/>
              <a:gd name="T7" fmla="*/ 220 h 221"/>
              <a:gd name="T8" fmla="*/ 0 w 884"/>
              <a:gd name="T9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" h="221">
                <a:moveTo>
                  <a:pt x="0" y="220"/>
                </a:moveTo>
                <a:lnTo>
                  <a:pt x="0" y="0"/>
                </a:lnTo>
                <a:lnTo>
                  <a:pt x="883" y="0"/>
                </a:lnTo>
                <a:lnTo>
                  <a:pt x="883" y="220"/>
                </a:lnTo>
                <a:lnTo>
                  <a:pt x="0" y="22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Freeform 13"/>
          <p:cNvSpPr>
            <a:spLocks/>
          </p:cNvSpPr>
          <p:nvPr/>
        </p:nvSpPr>
        <p:spPr bwMode="auto">
          <a:xfrm>
            <a:off x="5006975" y="4116149"/>
            <a:ext cx="1403350" cy="350838"/>
          </a:xfrm>
          <a:custGeom>
            <a:avLst/>
            <a:gdLst>
              <a:gd name="T0" fmla="*/ 0 w 884"/>
              <a:gd name="T1" fmla="*/ 220 h 221"/>
              <a:gd name="T2" fmla="*/ 0 w 884"/>
              <a:gd name="T3" fmla="*/ 0 h 221"/>
              <a:gd name="T4" fmla="*/ 883 w 884"/>
              <a:gd name="T5" fmla="*/ 0 h 221"/>
              <a:gd name="T6" fmla="*/ 883 w 884"/>
              <a:gd name="T7" fmla="*/ 220 h 221"/>
              <a:gd name="T8" fmla="*/ 0 w 884"/>
              <a:gd name="T9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" h="221">
                <a:moveTo>
                  <a:pt x="0" y="220"/>
                </a:moveTo>
                <a:lnTo>
                  <a:pt x="0" y="0"/>
                </a:lnTo>
                <a:lnTo>
                  <a:pt x="883" y="0"/>
                </a:lnTo>
                <a:lnTo>
                  <a:pt x="883" y="220"/>
                </a:lnTo>
                <a:lnTo>
                  <a:pt x="0" y="22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Freeform 18"/>
          <p:cNvSpPr>
            <a:spLocks/>
          </p:cNvSpPr>
          <p:nvPr/>
        </p:nvSpPr>
        <p:spPr bwMode="auto">
          <a:xfrm>
            <a:off x="3606800" y="4041537"/>
            <a:ext cx="701675" cy="1401763"/>
          </a:xfrm>
          <a:custGeom>
            <a:avLst/>
            <a:gdLst>
              <a:gd name="T0" fmla="*/ 0 w 442"/>
              <a:gd name="T1" fmla="*/ 882 h 883"/>
              <a:gd name="T2" fmla="*/ 0 w 442"/>
              <a:gd name="T3" fmla="*/ 0 h 883"/>
              <a:gd name="T4" fmla="*/ 441 w 442"/>
              <a:gd name="T5" fmla="*/ 0 h 883"/>
              <a:gd name="T6" fmla="*/ 441 w 442"/>
              <a:gd name="T7" fmla="*/ 882 h 883"/>
              <a:gd name="T8" fmla="*/ 0 w 442"/>
              <a:gd name="T9" fmla="*/ 882 h 8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2" h="883">
                <a:moveTo>
                  <a:pt x="0" y="882"/>
                </a:moveTo>
                <a:lnTo>
                  <a:pt x="0" y="0"/>
                </a:lnTo>
                <a:lnTo>
                  <a:pt x="441" y="0"/>
                </a:lnTo>
                <a:lnTo>
                  <a:pt x="441" y="882"/>
                </a:lnTo>
                <a:lnTo>
                  <a:pt x="0" y="88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9"/>
          <p:cNvSpPr>
            <a:spLocks noChangeArrowheads="1"/>
          </p:cNvSpPr>
          <p:nvPr/>
        </p:nvSpPr>
        <p:spPr bwMode="auto">
          <a:xfrm>
            <a:off x="6027738" y="4600337"/>
            <a:ext cx="45204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Helvetica" charset="0"/>
              </a:rPr>
              <a:t>13*</a:t>
            </a:r>
          </a:p>
        </p:txBody>
      </p:sp>
      <p:sp>
        <p:nvSpPr>
          <p:cNvPr id="15" name="Rectangle 20"/>
          <p:cNvSpPr>
            <a:spLocks noChangeArrowheads="1"/>
          </p:cNvSpPr>
          <p:nvPr/>
        </p:nvSpPr>
        <p:spPr bwMode="auto">
          <a:xfrm>
            <a:off x="2970213" y="406535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00</a:t>
            </a:r>
          </a:p>
        </p:txBody>
      </p:sp>
      <p:sp>
        <p:nvSpPr>
          <p:cNvPr id="16" name="Rectangle 21"/>
          <p:cNvSpPr>
            <a:spLocks noChangeArrowheads="1"/>
          </p:cNvSpPr>
          <p:nvPr/>
        </p:nvSpPr>
        <p:spPr bwMode="auto">
          <a:xfrm>
            <a:off x="2970213" y="4454287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01</a:t>
            </a:r>
          </a:p>
        </p:txBody>
      </p:sp>
      <p:sp>
        <p:nvSpPr>
          <p:cNvPr id="17" name="Rectangle 22"/>
          <p:cNvSpPr>
            <a:spLocks noChangeArrowheads="1"/>
          </p:cNvSpPr>
          <p:nvPr/>
        </p:nvSpPr>
        <p:spPr bwMode="auto">
          <a:xfrm>
            <a:off x="2970213" y="4787662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</a:t>
            </a:r>
          </a:p>
        </p:txBody>
      </p:sp>
      <p:sp>
        <p:nvSpPr>
          <p:cNvPr id="18" name="Rectangle 23"/>
          <p:cNvSpPr>
            <a:spLocks noChangeArrowheads="1"/>
          </p:cNvSpPr>
          <p:nvPr/>
        </p:nvSpPr>
        <p:spPr bwMode="auto">
          <a:xfrm>
            <a:off x="2970213" y="5148025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11</a:t>
            </a:r>
          </a:p>
        </p:txBody>
      </p:sp>
      <p:sp>
        <p:nvSpPr>
          <p:cNvPr id="26" name="Rectangle 31"/>
          <p:cNvSpPr>
            <a:spLocks noChangeArrowheads="1"/>
          </p:cNvSpPr>
          <p:nvPr/>
        </p:nvSpPr>
        <p:spPr bwMode="auto">
          <a:xfrm>
            <a:off x="3294063" y="5686187"/>
            <a:ext cx="1268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DIRECTORY</a:t>
            </a:r>
          </a:p>
        </p:txBody>
      </p:sp>
      <p:sp>
        <p:nvSpPr>
          <p:cNvPr id="27" name="Rectangle 32"/>
          <p:cNvSpPr>
            <a:spLocks noChangeArrowheads="1"/>
          </p:cNvSpPr>
          <p:nvPr/>
        </p:nvSpPr>
        <p:spPr bwMode="auto">
          <a:xfrm>
            <a:off x="6640513" y="4022487"/>
            <a:ext cx="887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A</a:t>
            </a:r>
          </a:p>
        </p:txBody>
      </p:sp>
      <p:sp>
        <p:nvSpPr>
          <p:cNvPr id="28" name="Rectangle 33"/>
          <p:cNvSpPr>
            <a:spLocks noChangeArrowheads="1"/>
          </p:cNvSpPr>
          <p:nvPr/>
        </p:nvSpPr>
        <p:spPr bwMode="auto">
          <a:xfrm>
            <a:off x="6654800" y="4493975"/>
            <a:ext cx="8778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B</a:t>
            </a:r>
          </a:p>
        </p:txBody>
      </p:sp>
      <p:sp>
        <p:nvSpPr>
          <p:cNvPr id="29" name="Rectangle 34"/>
          <p:cNvSpPr>
            <a:spLocks noChangeArrowheads="1"/>
          </p:cNvSpPr>
          <p:nvPr/>
        </p:nvSpPr>
        <p:spPr bwMode="auto">
          <a:xfrm>
            <a:off x="6654800" y="4924187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C</a:t>
            </a:r>
          </a:p>
        </p:txBody>
      </p:sp>
      <p:sp>
        <p:nvSpPr>
          <p:cNvPr id="30" name="Rectangle 35"/>
          <p:cNvSpPr>
            <a:spLocks noChangeArrowheads="1"/>
          </p:cNvSpPr>
          <p:nvPr/>
        </p:nvSpPr>
        <p:spPr bwMode="auto">
          <a:xfrm>
            <a:off x="6656388" y="5407025"/>
            <a:ext cx="887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D</a:t>
            </a:r>
          </a:p>
        </p:txBody>
      </p:sp>
      <p:sp>
        <p:nvSpPr>
          <p:cNvPr id="32" name="Rectangle 37"/>
          <p:cNvSpPr>
            <a:spLocks noChangeArrowheads="1"/>
          </p:cNvSpPr>
          <p:nvPr/>
        </p:nvSpPr>
        <p:spPr bwMode="auto">
          <a:xfrm>
            <a:off x="4989513" y="5028962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10*</a:t>
            </a:r>
          </a:p>
        </p:txBody>
      </p:sp>
      <p:sp>
        <p:nvSpPr>
          <p:cNvPr id="33" name="Rectangle 38"/>
          <p:cNvSpPr>
            <a:spLocks noChangeArrowheads="1"/>
          </p:cNvSpPr>
          <p:nvPr/>
        </p:nvSpPr>
        <p:spPr bwMode="auto">
          <a:xfrm>
            <a:off x="5003800" y="4600337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1*</a:t>
            </a:r>
          </a:p>
        </p:txBody>
      </p:sp>
      <p:sp>
        <p:nvSpPr>
          <p:cNvPr id="34" name="Rectangle 39"/>
          <p:cNvSpPr>
            <a:spLocks noChangeArrowheads="1"/>
          </p:cNvSpPr>
          <p:nvPr/>
        </p:nvSpPr>
        <p:spPr bwMode="auto">
          <a:xfrm>
            <a:off x="5672138" y="4600337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21*</a:t>
            </a:r>
          </a:p>
        </p:txBody>
      </p:sp>
      <p:sp>
        <p:nvSpPr>
          <p:cNvPr id="35" name="Rectangle 40"/>
          <p:cNvSpPr>
            <a:spLocks noChangeArrowheads="1"/>
          </p:cNvSpPr>
          <p:nvPr/>
        </p:nvSpPr>
        <p:spPr bwMode="auto">
          <a:xfrm>
            <a:off x="5000625" y="4139962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4*</a:t>
            </a:r>
          </a:p>
        </p:txBody>
      </p:sp>
      <p:sp>
        <p:nvSpPr>
          <p:cNvPr id="36" name="Rectangle 41"/>
          <p:cNvSpPr>
            <a:spLocks noChangeArrowheads="1"/>
          </p:cNvSpPr>
          <p:nvPr/>
        </p:nvSpPr>
        <p:spPr bwMode="auto">
          <a:xfrm>
            <a:off x="5322888" y="4139962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12*</a:t>
            </a:r>
          </a:p>
        </p:txBody>
      </p:sp>
      <p:sp>
        <p:nvSpPr>
          <p:cNvPr id="37" name="Rectangle 42"/>
          <p:cNvSpPr>
            <a:spLocks noChangeArrowheads="1"/>
          </p:cNvSpPr>
          <p:nvPr/>
        </p:nvSpPr>
        <p:spPr bwMode="auto">
          <a:xfrm>
            <a:off x="5702300" y="4139962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32*</a:t>
            </a:r>
          </a:p>
        </p:txBody>
      </p:sp>
      <p:sp>
        <p:nvSpPr>
          <p:cNvPr id="38" name="Rectangle 43"/>
          <p:cNvSpPr>
            <a:spLocks noChangeArrowheads="1"/>
          </p:cNvSpPr>
          <p:nvPr/>
        </p:nvSpPr>
        <p:spPr bwMode="auto">
          <a:xfrm>
            <a:off x="6022975" y="4127262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16*</a:t>
            </a:r>
          </a:p>
        </p:txBody>
      </p:sp>
      <p:sp>
        <p:nvSpPr>
          <p:cNvPr id="39" name="Rectangle 44"/>
          <p:cNvSpPr>
            <a:spLocks noChangeArrowheads="1"/>
          </p:cNvSpPr>
          <p:nvPr/>
        </p:nvSpPr>
        <p:spPr bwMode="auto">
          <a:xfrm>
            <a:off x="4989513" y="54975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15*</a:t>
            </a:r>
          </a:p>
        </p:txBody>
      </p:sp>
      <p:sp>
        <p:nvSpPr>
          <p:cNvPr id="40" name="Rectangle 45"/>
          <p:cNvSpPr>
            <a:spLocks noChangeArrowheads="1"/>
          </p:cNvSpPr>
          <p:nvPr/>
        </p:nvSpPr>
        <p:spPr bwMode="auto">
          <a:xfrm>
            <a:off x="5380038" y="54975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7*</a:t>
            </a:r>
          </a:p>
        </p:txBody>
      </p:sp>
      <p:sp>
        <p:nvSpPr>
          <p:cNvPr id="41" name="Rectangle 46"/>
          <p:cNvSpPr>
            <a:spLocks noChangeArrowheads="1"/>
          </p:cNvSpPr>
          <p:nvPr/>
        </p:nvSpPr>
        <p:spPr bwMode="auto">
          <a:xfrm>
            <a:off x="5673725" y="54975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19*</a:t>
            </a:r>
          </a:p>
        </p:txBody>
      </p:sp>
      <p:sp>
        <p:nvSpPr>
          <p:cNvPr id="42" name="Rectangle 47"/>
          <p:cNvSpPr>
            <a:spLocks noChangeArrowheads="1"/>
          </p:cNvSpPr>
          <p:nvPr/>
        </p:nvSpPr>
        <p:spPr bwMode="auto">
          <a:xfrm>
            <a:off x="5378450" y="459875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5*</a:t>
            </a:r>
          </a:p>
        </p:txBody>
      </p:sp>
      <p:sp>
        <p:nvSpPr>
          <p:cNvPr id="45" name="Rectangle 50"/>
          <p:cNvSpPr>
            <a:spLocks noChangeArrowheads="1"/>
          </p:cNvSpPr>
          <p:nvPr/>
        </p:nvSpPr>
        <p:spPr bwMode="auto">
          <a:xfrm>
            <a:off x="3609975" y="4041537"/>
            <a:ext cx="684213" cy="3333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Rectangle 51"/>
          <p:cNvSpPr>
            <a:spLocks noChangeArrowheads="1"/>
          </p:cNvSpPr>
          <p:nvPr/>
        </p:nvSpPr>
        <p:spPr bwMode="auto">
          <a:xfrm>
            <a:off x="3609975" y="4384437"/>
            <a:ext cx="684213" cy="3333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Rectangle 52"/>
          <p:cNvSpPr>
            <a:spLocks noChangeArrowheads="1"/>
          </p:cNvSpPr>
          <p:nvPr/>
        </p:nvSpPr>
        <p:spPr bwMode="auto">
          <a:xfrm>
            <a:off x="3609975" y="4727337"/>
            <a:ext cx="684213" cy="3333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Line 53"/>
          <p:cNvSpPr>
            <a:spLocks noChangeShapeType="1"/>
          </p:cNvSpPr>
          <p:nvPr/>
        </p:nvSpPr>
        <p:spPr bwMode="auto">
          <a:xfrm flipV="1">
            <a:off x="4032249" y="4290773"/>
            <a:ext cx="976313" cy="428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Line 54"/>
          <p:cNvSpPr>
            <a:spLocks noChangeShapeType="1"/>
          </p:cNvSpPr>
          <p:nvPr/>
        </p:nvSpPr>
        <p:spPr bwMode="auto">
          <a:xfrm>
            <a:off x="4032249" y="4566999"/>
            <a:ext cx="976313" cy="204787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Line 55"/>
          <p:cNvSpPr>
            <a:spLocks noChangeShapeType="1"/>
          </p:cNvSpPr>
          <p:nvPr/>
        </p:nvSpPr>
        <p:spPr bwMode="auto">
          <a:xfrm>
            <a:off x="4068763" y="4905137"/>
            <a:ext cx="939800" cy="3571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56"/>
          <p:cNvSpPr>
            <a:spLocks noChangeShapeType="1"/>
          </p:cNvSpPr>
          <p:nvPr/>
        </p:nvSpPr>
        <p:spPr bwMode="auto">
          <a:xfrm>
            <a:off x="4151313" y="5286138"/>
            <a:ext cx="857250" cy="37568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52500" y="4610934"/>
            <a:ext cx="11430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13 = 11</a:t>
            </a:r>
            <a:r>
              <a:rPr lang="en-US" b="1" dirty="0" smtClean="0"/>
              <a:t>01</a:t>
            </a:r>
            <a:r>
              <a:rPr lang="en-US" dirty="0" smtClean="0"/>
              <a:t> </a:t>
            </a:r>
            <a:endParaRPr lang="en-US" dirty="0"/>
          </a:p>
        </p:txBody>
      </p:sp>
      <p:cxnSp>
        <p:nvCxnSpPr>
          <p:cNvPr id="4" name="Straight Arrow Connector 3"/>
          <p:cNvCxnSpPr>
            <a:endCxn id="49" idx="1"/>
          </p:cNvCxnSpPr>
          <p:nvPr/>
        </p:nvCxnSpPr>
        <p:spPr>
          <a:xfrm>
            <a:off x="4032249" y="4566999"/>
            <a:ext cx="976313" cy="20478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Freeform 9"/>
          <p:cNvSpPr>
            <a:spLocks/>
          </p:cNvSpPr>
          <p:nvPr/>
        </p:nvSpPr>
        <p:spPr bwMode="auto">
          <a:xfrm>
            <a:off x="3604842" y="3687762"/>
            <a:ext cx="352425" cy="350838"/>
          </a:xfrm>
          <a:custGeom>
            <a:avLst/>
            <a:gdLst>
              <a:gd name="T0" fmla="*/ 0 w 222"/>
              <a:gd name="T1" fmla="*/ 220 h 221"/>
              <a:gd name="T2" fmla="*/ 0 w 222"/>
              <a:gd name="T3" fmla="*/ 0 h 221"/>
              <a:gd name="T4" fmla="*/ 221 w 222"/>
              <a:gd name="T5" fmla="*/ 0 h 221"/>
              <a:gd name="T6" fmla="*/ 221 w 222"/>
              <a:gd name="T7" fmla="*/ 220 h 221"/>
              <a:gd name="T8" fmla="*/ 0 w 222"/>
              <a:gd name="T9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2" h="221">
                <a:moveTo>
                  <a:pt x="0" y="220"/>
                </a:moveTo>
                <a:lnTo>
                  <a:pt x="0" y="0"/>
                </a:lnTo>
                <a:lnTo>
                  <a:pt x="221" y="0"/>
                </a:lnTo>
                <a:lnTo>
                  <a:pt x="221" y="220"/>
                </a:lnTo>
                <a:lnTo>
                  <a:pt x="0" y="220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Rectangle 24"/>
          <p:cNvSpPr>
            <a:spLocks noChangeArrowheads="1"/>
          </p:cNvSpPr>
          <p:nvPr/>
        </p:nvSpPr>
        <p:spPr bwMode="auto">
          <a:xfrm>
            <a:off x="3598492" y="369570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cxnSp>
        <p:nvCxnSpPr>
          <p:cNvPr id="9" name="Straight Arrow Connector 8"/>
          <p:cNvCxnSpPr>
            <a:stCxn id="2" idx="3"/>
          </p:cNvCxnSpPr>
          <p:nvPr/>
        </p:nvCxnSpPr>
        <p:spPr>
          <a:xfrm flipV="1">
            <a:off x="2095500" y="4598750"/>
            <a:ext cx="874713" cy="196850"/>
          </a:xfrm>
          <a:prstGeom prst="straightConnector1">
            <a:avLst/>
          </a:prstGeom>
          <a:ln w="1587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2207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Extendible Hashing: Inserting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Find the appropriate bucket (as in search), split the bucket if full, double the directory if necessary and insert the given entry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Example: insert </a:t>
            </a:r>
            <a:r>
              <a:rPr lang="en-US" sz="2600" dirty="0" smtClean="0">
                <a:solidFill>
                  <a:srgbClr val="FF0000"/>
                </a:solidFill>
              </a:rPr>
              <a:t>20* </a:t>
            </a:r>
            <a:endParaRPr lang="en-US" sz="1800" dirty="0">
              <a:solidFill>
                <a:srgbClr val="FF0000"/>
              </a:solidFill>
            </a:endParaRPr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  <a:p>
            <a:pPr marL="0" indent="0">
              <a:buNone/>
            </a:pPr>
            <a:endParaRPr lang="en-US" dirty="0" smtClean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</p:txBody>
      </p:sp>
      <p:sp>
        <p:nvSpPr>
          <p:cNvPr id="5" name="Freeform 10"/>
          <p:cNvSpPr>
            <a:spLocks/>
          </p:cNvSpPr>
          <p:nvPr/>
        </p:nvSpPr>
        <p:spPr bwMode="auto">
          <a:xfrm>
            <a:off x="5006975" y="4571762"/>
            <a:ext cx="1403350" cy="352425"/>
          </a:xfrm>
          <a:custGeom>
            <a:avLst/>
            <a:gdLst>
              <a:gd name="T0" fmla="*/ 0 w 884"/>
              <a:gd name="T1" fmla="*/ 221 h 222"/>
              <a:gd name="T2" fmla="*/ 0 w 884"/>
              <a:gd name="T3" fmla="*/ 0 h 222"/>
              <a:gd name="T4" fmla="*/ 883 w 884"/>
              <a:gd name="T5" fmla="*/ 0 h 222"/>
              <a:gd name="T6" fmla="*/ 883 w 884"/>
              <a:gd name="T7" fmla="*/ 221 h 222"/>
              <a:gd name="T8" fmla="*/ 0 w 884"/>
              <a:gd name="T9" fmla="*/ 221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" h="222">
                <a:moveTo>
                  <a:pt x="0" y="221"/>
                </a:moveTo>
                <a:lnTo>
                  <a:pt x="0" y="0"/>
                </a:lnTo>
                <a:lnTo>
                  <a:pt x="883" y="0"/>
                </a:lnTo>
                <a:lnTo>
                  <a:pt x="883" y="221"/>
                </a:lnTo>
                <a:lnTo>
                  <a:pt x="0" y="22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Freeform 11"/>
          <p:cNvSpPr>
            <a:spLocks/>
          </p:cNvSpPr>
          <p:nvPr/>
        </p:nvSpPr>
        <p:spPr bwMode="auto">
          <a:xfrm>
            <a:off x="5006975" y="5017849"/>
            <a:ext cx="1403350" cy="350838"/>
          </a:xfrm>
          <a:custGeom>
            <a:avLst/>
            <a:gdLst>
              <a:gd name="T0" fmla="*/ 0 w 884"/>
              <a:gd name="T1" fmla="*/ 220 h 221"/>
              <a:gd name="T2" fmla="*/ 0 w 884"/>
              <a:gd name="T3" fmla="*/ 0 h 221"/>
              <a:gd name="T4" fmla="*/ 883 w 884"/>
              <a:gd name="T5" fmla="*/ 0 h 221"/>
              <a:gd name="T6" fmla="*/ 883 w 884"/>
              <a:gd name="T7" fmla="*/ 220 h 221"/>
              <a:gd name="T8" fmla="*/ 0 w 884"/>
              <a:gd name="T9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" h="221">
                <a:moveTo>
                  <a:pt x="0" y="220"/>
                </a:moveTo>
                <a:lnTo>
                  <a:pt x="0" y="0"/>
                </a:lnTo>
                <a:lnTo>
                  <a:pt x="883" y="0"/>
                </a:lnTo>
                <a:lnTo>
                  <a:pt x="883" y="220"/>
                </a:lnTo>
                <a:lnTo>
                  <a:pt x="0" y="22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Freeform 12"/>
          <p:cNvSpPr>
            <a:spLocks/>
          </p:cNvSpPr>
          <p:nvPr/>
        </p:nvSpPr>
        <p:spPr bwMode="auto">
          <a:xfrm>
            <a:off x="5006975" y="5486400"/>
            <a:ext cx="1403350" cy="350838"/>
          </a:xfrm>
          <a:custGeom>
            <a:avLst/>
            <a:gdLst>
              <a:gd name="T0" fmla="*/ 0 w 884"/>
              <a:gd name="T1" fmla="*/ 220 h 221"/>
              <a:gd name="T2" fmla="*/ 0 w 884"/>
              <a:gd name="T3" fmla="*/ 0 h 221"/>
              <a:gd name="T4" fmla="*/ 883 w 884"/>
              <a:gd name="T5" fmla="*/ 0 h 221"/>
              <a:gd name="T6" fmla="*/ 883 w 884"/>
              <a:gd name="T7" fmla="*/ 220 h 221"/>
              <a:gd name="T8" fmla="*/ 0 w 884"/>
              <a:gd name="T9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" h="221">
                <a:moveTo>
                  <a:pt x="0" y="220"/>
                </a:moveTo>
                <a:lnTo>
                  <a:pt x="0" y="0"/>
                </a:lnTo>
                <a:lnTo>
                  <a:pt x="883" y="0"/>
                </a:lnTo>
                <a:lnTo>
                  <a:pt x="883" y="220"/>
                </a:lnTo>
                <a:lnTo>
                  <a:pt x="0" y="22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Freeform 13"/>
          <p:cNvSpPr>
            <a:spLocks/>
          </p:cNvSpPr>
          <p:nvPr/>
        </p:nvSpPr>
        <p:spPr bwMode="auto">
          <a:xfrm>
            <a:off x="5006975" y="4116149"/>
            <a:ext cx="1403350" cy="350838"/>
          </a:xfrm>
          <a:custGeom>
            <a:avLst/>
            <a:gdLst>
              <a:gd name="T0" fmla="*/ 0 w 884"/>
              <a:gd name="T1" fmla="*/ 220 h 221"/>
              <a:gd name="T2" fmla="*/ 0 w 884"/>
              <a:gd name="T3" fmla="*/ 0 h 221"/>
              <a:gd name="T4" fmla="*/ 883 w 884"/>
              <a:gd name="T5" fmla="*/ 0 h 221"/>
              <a:gd name="T6" fmla="*/ 883 w 884"/>
              <a:gd name="T7" fmla="*/ 220 h 221"/>
              <a:gd name="T8" fmla="*/ 0 w 884"/>
              <a:gd name="T9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" h="221">
                <a:moveTo>
                  <a:pt x="0" y="220"/>
                </a:moveTo>
                <a:lnTo>
                  <a:pt x="0" y="0"/>
                </a:lnTo>
                <a:lnTo>
                  <a:pt x="883" y="0"/>
                </a:lnTo>
                <a:lnTo>
                  <a:pt x="883" y="220"/>
                </a:lnTo>
                <a:lnTo>
                  <a:pt x="0" y="22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Freeform 18"/>
          <p:cNvSpPr>
            <a:spLocks/>
          </p:cNvSpPr>
          <p:nvPr/>
        </p:nvSpPr>
        <p:spPr bwMode="auto">
          <a:xfrm>
            <a:off x="3606800" y="4041537"/>
            <a:ext cx="701675" cy="1401763"/>
          </a:xfrm>
          <a:custGeom>
            <a:avLst/>
            <a:gdLst>
              <a:gd name="T0" fmla="*/ 0 w 442"/>
              <a:gd name="T1" fmla="*/ 882 h 883"/>
              <a:gd name="T2" fmla="*/ 0 w 442"/>
              <a:gd name="T3" fmla="*/ 0 h 883"/>
              <a:gd name="T4" fmla="*/ 441 w 442"/>
              <a:gd name="T5" fmla="*/ 0 h 883"/>
              <a:gd name="T6" fmla="*/ 441 w 442"/>
              <a:gd name="T7" fmla="*/ 882 h 883"/>
              <a:gd name="T8" fmla="*/ 0 w 442"/>
              <a:gd name="T9" fmla="*/ 882 h 8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2" h="883">
                <a:moveTo>
                  <a:pt x="0" y="882"/>
                </a:moveTo>
                <a:lnTo>
                  <a:pt x="0" y="0"/>
                </a:lnTo>
                <a:lnTo>
                  <a:pt x="441" y="0"/>
                </a:lnTo>
                <a:lnTo>
                  <a:pt x="441" y="882"/>
                </a:lnTo>
                <a:lnTo>
                  <a:pt x="0" y="88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9"/>
          <p:cNvSpPr>
            <a:spLocks noChangeArrowheads="1"/>
          </p:cNvSpPr>
          <p:nvPr/>
        </p:nvSpPr>
        <p:spPr bwMode="auto">
          <a:xfrm>
            <a:off x="6027738" y="4600337"/>
            <a:ext cx="45204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latin typeface="Helvetica" charset="0"/>
              </a:rPr>
              <a:t>13*</a:t>
            </a:r>
          </a:p>
        </p:txBody>
      </p:sp>
      <p:sp>
        <p:nvSpPr>
          <p:cNvPr id="15" name="Rectangle 20"/>
          <p:cNvSpPr>
            <a:spLocks noChangeArrowheads="1"/>
          </p:cNvSpPr>
          <p:nvPr/>
        </p:nvSpPr>
        <p:spPr bwMode="auto">
          <a:xfrm>
            <a:off x="2970213" y="406535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00</a:t>
            </a:r>
          </a:p>
        </p:txBody>
      </p:sp>
      <p:sp>
        <p:nvSpPr>
          <p:cNvPr id="16" name="Rectangle 21"/>
          <p:cNvSpPr>
            <a:spLocks noChangeArrowheads="1"/>
          </p:cNvSpPr>
          <p:nvPr/>
        </p:nvSpPr>
        <p:spPr bwMode="auto">
          <a:xfrm>
            <a:off x="2970213" y="4454287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01</a:t>
            </a:r>
          </a:p>
        </p:txBody>
      </p:sp>
      <p:sp>
        <p:nvSpPr>
          <p:cNvPr id="17" name="Rectangle 22"/>
          <p:cNvSpPr>
            <a:spLocks noChangeArrowheads="1"/>
          </p:cNvSpPr>
          <p:nvPr/>
        </p:nvSpPr>
        <p:spPr bwMode="auto">
          <a:xfrm>
            <a:off x="2970213" y="4787662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</a:t>
            </a:r>
          </a:p>
        </p:txBody>
      </p:sp>
      <p:sp>
        <p:nvSpPr>
          <p:cNvPr id="18" name="Rectangle 23"/>
          <p:cNvSpPr>
            <a:spLocks noChangeArrowheads="1"/>
          </p:cNvSpPr>
          <p:nvPr/>
        </p:nvSpPr>
        <p:spPr bwMode="auto">
          <a:xfrm>
            <a:off x="2970213" y="5148025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11</a:t>
            </a:r>
          </a:p>
        </p:txBody>
      </p:sp>
      <p:sp>
        <p:nvSpPr>
          <p:cNvPr id="26" name="Rectangle 31"/>
          <p:cNvSpPr>
            <a:spLocks noChangeArrowheads="1"/>
          </p:cNvSpPr>
          <p:nvPr/>
        </p:nvSpPr>
        <p:spPr bwMode="auto">
          <a:xfrm>
            <a:off x="3294063" y="5686187"/>
            <a:ext cx="1268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DIRECTORY</a:t>
            </a:r>
          </a:p>
        </p:txBody>
      </p:sp>
      <p:sp>
        <p:nvSpPr>
          <p:cNvPr id="27" name="Rectangle 32"/>
          <p:cNvSpPr>
            <a:spLocks noChangeArrowheads="1"/>
          </p:cNvSpPr>
          <p:nvPr/>
        </p:nvSpPr>
        <p:spPr bwMode="auto">
          <a:xfrm>
            <a:off x="6640513" y="4022487"/>
            <a:ext cx="887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A</a:t>
            </a:r>
          </a:p>
        </p:txBody>
      </p:sp>
      <p:sp>
        <p:nvSpPr>
          <p:cNvPr id="28" name="Rectangle 33"/>
          <p:cNvSpPr>
            <a:spLocks noChangeArrowheads="1"/>
          </p:cNvSpPr>
          <p:nvPr/>
        </p:nvSpPr>
        <p:spPr bwMode="auto">
          <a:xfrm>
            <a:off x="6654800" y="4493975"/>
            <a:ext cx="8778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B</a:t>
            </a:r>
          </a:p>
        </p:txBody>
      </p:sp>
      <p:sp>
        <p:nvSpPr>
          <p:cNvPr id="29" name="Rectangle 34"/>
          <p:cNvSpPr>
            <a:spLocks noChangeArrowheads="1"/>
          </p:cNvSpPr>
          <p:nvPr/>
        </p:nvSpPr>
        <p:spPr bwMode="auto">
          <a:xfrm>
            <a:off x="6654800" y="4924187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C</a:t>
            </a:r>
          </a:p>
        </p:txBody>
      </p:sp>
      <p:sp>
        <p:nvSpPr>
          <p:cNvPr id="30" name="Rectangle 35"/>
          <p:cNvSpPr>
            <a:spLocks noChangeArrowheads="1"/>
          </p:cNvSpPr>
          <p:nvPr/>
        </p:nvSpPr>
        <p:spPr bwMode="auto">
          <a:xfrm>
            <a:off x="6656388" y="5407025"/>
            <a:ext cx="887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D</a:t>
            </a:r>
          </a:p>
        </p:txBody>
      </p:sp>
      <p:sp>
        <p:nvSpPr>
          <p:cNvPr id="32" name="Rectangle 37"/>
          <p:cNvSpPr>
            <a:spLocks noChangeArrowheads="1"/>
          </p:cNvSpPr>
          <p:nvPr/>
        </p:nvSpPr>
        <p:spPr bwMode="auto">
          <a:xfrm>
            <a:off x="4989513" y="5028962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10*</a:t>
            </a:r>
          </a:p>
        </p:txBody>
      </p:sp>
      <p:sp>
        <p:nvSpPr>
          <p:cNvPr id="33" name="Rectangle 38"/>
          <p:cNvSpPr>
            <a:spLocks noChangeArrowheads="1"/>
          </p:cNvSpPr>
          <p:nvPr/>
        </p:nvSpPr>
        <p:spPr bwMode="auto">
          <a:xfrm>
            <a:off x="5003800" y="4600337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1*</a:t>
            </a:r>
          </a:p>
        </p:txBody>
      </p:sp>
      <p:sp>
        <p:nvSpPr>
          <p:cNvPr id="34" name="Rectangle 39"/>
          <p:cNvSpPr>
            <a:spLocks noChangeArrowheads="1"/>
          </p:cNvSpPr>
          <p:nvPr/>
        </p:nvSpPr>
        <p:spPr bwMode="auto">
          <a:xfrm>
            <a:off x="5672138" y="4600337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21*</a:t>
            </a:r>
          </a:p>
        </p:txBody>
      </p:sp>
      <p:sp>
        <p:nvSpPr>
          <p:cNvPr id="35" name="Rectangle 40"/>
          <p:cNvSpPr>
            <a:spLocks noChangeArrowheads="1"/>
          </p:cNvSpPr>
          <p:nvPr/>
        </p:nvSpPr>
        <p:spPr bwMode="auto">
          <a:xfrm>
            <a:off x="5000625" y="4139962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4*</a:t>
            </a:r>
          </a:p>
        </p:txBody>
      </p:sp>
      <p:sp>
        <p:nvSpPr>
          <p:cNvPr id="36" name="Rectangle 41"/>
          <p:cNvSpPr>
            <a:spLocks noChangeArrowheads="1"/>
          </p:cNvSpPr>
          <p:nvPr/>
        </p:nvSpPr>
        <p:spPr bwMode="auto">
          <a:xfrm>
            <a:off x="5322888" y="4139962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12*</a:t>
            </a:r>
          </a:p>
        </p:txBody>
      </p:sp>
      <p:sp>
        <p:nvSpPr>
          <p:cNvPr id="37" name="Rectangle 42"/>
          <p:cNvSpPr>
            <a:spLocks noChangeArrowheads="1"/>
          </p:cNvSpPr>
          <p:nvPr/>
        </p:nvSpPr>
        <p:spPr bwMode="auto">
          <a:xfrm>
            <a:off x="5702300" y="4139962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32*</a:t>
            </a:r>
          </a:p>
        </p:txBody>
      </p:sp>
      <p:sp>
        <p:nvSpPr>
          <p:cNvPr id="38" name="Rectangle 43"/>
          <p:cNvSpPr>
            <a:spLocks noChangeArrowheads="1"/>
          </p:cNvSpPr>
          <p:nvPr/>
        </p:nvSpPr>
        <p:spPr bwMode="auto">
          <a:xfrm>
            <a:off x="6022975" y="4127262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16*</a:t>
            </a:r>
          </a:p>
        </p:txBody>
      </p:sp>
      <p:sp>
        <p:nvSpPr>
          <p:cNvPr id="39" name="Rectangle 44"/>
          <p:cNvSpPr>
            <a:spLocks noChangeArrowheads="1"/>
          </p:cNvSpPr>
          <p:nvPr/>
        </p:nvSpPr>
        <p:spPr bwMode="auto">
          <a:xfrm>
            <a:off x="4989513" y="54975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15*</a:t>
            </a:r>
          </a:p>
        </p:txBody>
      </p:sp>
      <p:sp>
        <p:nvSpPr>
          <p:cNvPr id="40" name="Rectangle 45"/>
          <p:cNvSpPr>
            <a:spLocks noChangeArrowheads="1"/>
          </p:cNvSpPr>
          <p:nvPr/>
        </p:nvSpPr>
        <p:spPr bwMode="auto">
          <a:xfrm>
            <a:off x="5380038" y="54975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7*</a:t>
            </a:r>
          </a:p>
        </p:txBody>
      </p:sp>
      <p:sp>
        <p:nvSpPr>
          <p:cNvPr id="41" name="Rectangle 46"/>
          <p:cNvSpPr>
            <a:spLocks noChangeArrowheads="1"/>
          </p:cNvSpPr>
          <p:nvPr/>
        </p:nvSpPr>
        <p:spPr bwMode="auto">
          <a:xfrm>
            <a:off x="5673725" y="54975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19*</a:t>
            </a:r>
          </a:p>
        </p:txBody>
      </p:sp>
      <p:sp>
        <p:nvSpPr>
          <p:cNvPr id="42" name="Rectangle 47"/>
          <p:cNvSpPr>
            <a:spLocks noChangeArrowheads="1"/>
          </p:cNvSpPr>
          <p:nvPr/>
        </p:nvSpPr>
        <p:spPr bwMode="auto">
          <a:xfrm>
            <a:off x="5378450" y="459875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5*</a:t>
            </a:r>
          </a:p>
        </p:txBody>
      </p:sp>
      <p:sp>
        <p:nvSpPr>
          <p:cNvPr id="45" name="Rectangle 50"/>
          <p:cNvSpPr>
            <a:spLocks noChangeArrowheads="1"/>
          </p:cNvSpPr>
          <p:nvPr/>
        </p:nvSpPr>
        <p:spPr bwMode="auto">
          <a:xfrm>
            <a:off x="3609975" y="4041537"/>
            <a:ext cx="684213" cy="3333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Rectangle 51"/>
          <p:cNvSpPr>
            <a:spLocks noChangeArrowheads="1"/>
          </p:cNvSpPr>
          <p:nvPr/>
        </p:nvSpPr>
        <p:spPr bwMode="auto">
          <a:xfrm>
            <a:off x="3609975" y="4384437"/>
            <a:ext cx="684213" cy="3333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Rectangle 52"/>
          <p:cNvSpPr>
            <a:spLocks noChangeArrowheads="1"/>
          </p:cNvSpPr>
          <p:nvPr/>
        </p:nvSpPr>
        <p:spPr bwMode="auto">
          <a:xfrm>
            <a:off x="3609975" y="4727337"/>
            <a:ext cx="684213" cy="3333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Line 53"/>
          <p:cNvSpPr>
            <a:spLocks noChangeShapeType="1"/>
          </p:cNvSpPr>
          <p:nvPr/>
        </p:nvSpPr>
        <p:spPr bwMode="auto">
          <a:xfrm flipV="1">
            <a:off x="4032249" y="4290773"/>
            <a:ext cx="976313" cy="428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Line 54"/>
          <p:cNvSpPr>
            <a:spLocks noChangeShapeType="1"/>
          </p:cNvSpPr>
          <p:nvPr/>
        </p:nvSpPr>
        <p:spPr bwMode="auto">
          <a:xfrm>
            <a:off x="4032249" y="4566999"/>
            <a:ext cx="976313" cy="204787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Line 55"/>
          <p:cNvSpPr>
            <a:spLocks noChangeShapeType="1"/>
          </p:cNvSpPr>
          <p:nvPr/>
        </p:nvSpPr>
        <p:spPr bwMode="auto">
          <a:xfrm>
            <a:off x="4068763" y="4905137"/>
            <a:ext cx="939800" cy="3571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56"/>
          <p:cNvSpPr>
            <a:spLocks noChangeShapeType="1"/>
          </p:cNvSpPr>
          <p:nvPr/>
        </p:nvSpPr>
        <p:spPr bwMode="auto">
          <a:xfrm>
            <a:off x="4151313" y="5286138"/>
            <a:ext cx="857250" cy="37568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62000" y="4602996"/>
            <a:ext cx="14478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20 = 101</a:t>
            </a:r>
            <a:r>
              <a:rPr lang="en-US" b="1" dirty="0" smtClean="0"/>
              <a:t>00</a:t>
            </a:r>
            <a:endParaRPr lang="en-US" dirty="0"/>
          </a:p>
        </p:txBody>
      </p:sp>
      <p:cxnSp>
        <p:nvCxnSpPr>
          <p:cNvPr id="4" name="Straight Arrow Connector 3"/>
          <p:cNvCxnSpPr>
            <a:endCxn id="35" idx="1"/>
          </p:cNvCxnSpPr>
          <p:nvPr/>
        </p:nvCxnSpPr>
        <p:spPr>
          <a:xfrm flipV="1">
            <a:off x="4050506" y="4290775"/>
            <a:ext cx="950119" cy="3333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957637" y="3422591"/>
            <a:ext cx="3819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FULL, hence, split and redistribute!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43" name="Freeform 9"/>
          <p:cNvSpPr>
            <a:spLocks/>
          </p:cNvSpPr>
          <p:nvPr/>
        </p:nvSpPr>
        <p:spPr bwMode="auto">
          <a:xfrm>
            <a:off x="3604842" y="3687762"/>
            <a:ext cx="352425" cy="350838"/>
          </a:xfrm>
          <a:custGeom>
            <a:avLst/>
            <a:gdLst>
              <a:gd name="T0" fmla="*/ 0 w 222"/>
              <a:gd name="T1" fmla="*/ 220 h 221"/>
              <a:gd name="T2" fmla="*/ 0 w 222"/>
              <a:gd name="T3" fmla="*/ 0 h 221"/>
              <a:gd name="T4" fmla="*/ 221 w 222"/>
              <a:gd name="T5" fmla="*/ 0 h 221"/>
              <a:gd name="T6" fmla="*/ 221 w 222"/>
              <a:gd name="T7" fmla="*/ 220 h 221"/>
              <a:gd name="T8" fmla="*/ 0 w 222"/>
              <a:gd name="T9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2" h="221">
                <a:moveTo>
                  <a:pt x="0" y="220"/>
                </a:moveTo>
                <a:lnTo>
                  <a:pt x="0" y="0"/>
                </a:lnTo>
                <a:lnTo>
                  <a:pt x="221" y="0"/>
                </a:lnTo>
                <a:lnTo>
                  <a:pt x="221" y="220"/>
                </a:lnTo>
                <a:lnTo>
                  <a:pt x="0" y="220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Rectangle 24"/>
          <p:cNvSpPr>
            <a:spLocks noChangeArrowheads="1"/>
          </p:cNvSpPr>
          <p:nvPr/>
        </p:nvSpPr>
        <p:spPr bwMode="auto">
          <a:xfrm>
            <a:off x="3598492" y="369570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cxnSp>
        <p:nvCxnSpPr>
          <p:cNvPr id="52" name="Straight Arrow Connector 51"/>
          <p:cNvCxnSpPr/>
          <p:nvPr/>
        </p:nvCxnSpPr>
        <p:spPr>
          <a:xfrm flipV="1">
            <a:off x="2209800" y="4278074"/>
            <a:ext cx="760413" cy="517526"/>
          </a:xfrm>
          <a:prstGeom prst="straightConnector1">
            <a:avLst/>
          </a:prstGeom>
          <a:ln w="1587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9479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Extendible Hashing: Inserting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Find the appropriate bucket (as in search), split the bucket if full, double the directory if necessary and insert the given </a:t>
            </a:r>
            <a:r>
              <a:rPr lang="en-US" sz="2600" dirty="0" smtClean="0"/>
              <a:t>entry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Example: insert </a:t>
            </a:r>
            <a:r>
              <a:rPr lang="en-US" sz="2600" dirty="0" smtClean="0">
                <a:solidFill>
                  <a:srgbClr val="FF0000"/>
                </a:solidFill>
              </a:rPr>
              <a:t>20*</a:t>
            </a:r>
            <a:r>
              <a:rPr lang="en-US" sz="2600" dirty="0" smtClean="0"/>
              <a:t> </a:t>
            </a: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  <a:p>
            <a:pPr marL="0" indent="0">
              <a:buNone/>
            </a:pPr>
            <a:endParaRPr lang="en-US" dirty="0" smtClean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</p:txBody>
      </p:sp>
      <p:sp>
        <p:nvSpPr>
          <p:cNvPr id="5" name="Freeform 10"/>
          <p:cNvSpPr>
            <a:spLocks/>
          </p:cNvSpPr>
          <p:nvPr/>
        </p:nvSpPr>
        <p:spPr bwMode="auto">
          <a:xfrm>
            <a:off x="5730266" y="3659187"/>
            <a:ext cx="1403350" cy="352425"/>
          </a:xfrm>
          <a:custGeom>
            <a:avLst/>
            <a:gdLst>
              <a:gd name="T0" fmla="*/ 0 w 884"/>
              <a:gd name="T1" fmla="*/ 221 h 222"/>
              <a:gd name="T2" fmla="*/ 0 w 884"/>
              <a:gd name="T3" fmla="*/ 0 h 222"/>
              <a:gd name="T4" fmla="*/ 883 w 884"/>
              <a:gd name="T5" fmla="*/ 0 h 222"/>
              <a:gd name="T6" fmla="*/ 883 w 884"/>
              <a:gd name="T7" fmla="*/ 221 h 222"/>
              <a:gd name="T8" fmla="*/ 0 w 884"/>
              <a:gd name="T9" fmla="*/ 221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" h="222">
                <a:moveTo>
                  <a:pt x="0" y="221"/>
                </a:moveTo>
                <a:lnTo>
                  <a:pt x="0" y="0"/>
                </a:lnTo>
                <a:lnTo>
                  <a:pt x="883" y="0"/>
                </a:lnTo>
                <a:lnTo>
                  <a:pt x="883" y="221"/>
                </a:lnTo>
                <a:lnTo>
                  <a:pt x="0" y="22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Freeform 11"/>
          <p:cNvSpPr>
            <a:spLocks/>
          </p:cNvSpPr>
          <p:nvPr/>
        </p:nvSpPr>
        <p:spPr bwMode="auto">
          <a:xfrm>
            <a:off x="5730266" y="4513262"/>
            <a:ext cx="1403350" cy="350838"/>
          </a:xfrm>
          <a:custGeom>
            <a:avLst/>
            <a:gdLst>
              <a:gd name="T0" fmla="*/ 0 w 884"/>
              <a:gd name="T1" fmla="*/ 220 h 221"/>
              <a:gd name="T2" fmla="*/ 0 w 884"/>
              <a:gd name="T3" fmla="*/ 0 h 221"/>
              <a:gd name="T4" fmla="*/ 883 w 884"/>
              <a:gd name="T5" fmla="*/ 0 h 221"/>
              <a:gd name="T6" fmla="*/ 883 w 884"/>
              <a:gd name="T7" fmla="*/ 220 h 221"/>
              <a:gd name="T8" fmla="*/ 0 w 884"/>
              <a:gd name="T9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" h="221">
                <a:moveTo>
                  <a:pt x="0" y="220"/>
                </a:moveTo>
                <a:lnTo>
                  <a:pt x="0" y="0"/>
                </a:lnTo>
                <a:lnTo>
                  <a:pt x="883" y="0"/>
                </a:lnTo>
                <a:lnTo>
                  <a:pt x="883" y="220"/>
                </a:lnTo>
                <a:lnTo>
                  <a:pt x="0" y="22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Freeform 12"/>
          <p:cNvSpPr>
            <a:spLocks/>
          </p:cNvSpPr>
          <p:nvPr/>
        </p:nvSpPr>
        <p:spPr bwMode="auto">
          <a:xfrm>
            <a:off x="5730266" y="5287962"/>
            <a:ext cx="1403350" cy="350838"/>
          </a:xfrm>
          <a:custGeom>
            <a:avLst/>
            <a:gdLst>
              <a:gd name="T0" fmla="*/ 0 w 884"/>
              <a:gd name="T1" fmla="*/ 220 h 221"/>
              <a:gd name="T2" fmla="*/ 0 w 884"/>
              <a:gd name="T3" fmla="*/ 0 h 221"/>
              <a:gd name="T4" fmla="*/ 883 w 884"/>
              <a:gd name="T5" fmla="*/ 0 h 221"/>
              <a:gd name="T6" fmla="*/ 883 w 884"/>
              <a:gd name="T7" fmla="*/ 220 h 221"/>
              <a:gd name="T8" fmla="*/ 0 w 884"/>
              <a:gd name="T9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" h="221">
                <a:moveTo>
                  <a:pt x="0" y="220"/>
                </a:moveTo>
                <a:lnTo>
                  <a:pt x="0" y="0"/>
                </a:lnTo>
                <a:lnTo>
                  <a:pt x="883" y="0"/>
                </a:lnTo>
                <a:lnTo>
                  <a:pt x="883" y="220"/>
                </a:lnTo>
                <a:lnTo>
                  <a:pt x="0" y="22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Freeform 13"/>
          <p:cNvSpPr>
            <a:spLocks/>
          </p:cNvSpPr>
          <p:nvPr/>
        </p:nvSpPr>
        <p:spPr bwMode="auto">
          <a:xfrm>
            <a:off x="5730266" y="2836862"/>
            <a:ext cx="1403350" cy="350838"/>
          </a:xfrm>
          <a:custGeom>
            <a:avLst/>
            <a:gdLst>
              <a:gd name="T0" fmla="*/ 0 w 884"/>
              <a:gd name="T1" fmla="*/ 220 h 221"/>
              <a:gd name="T2" fmla="*/ 0 w 884"/>
              <a:gd name="T3" fmla="*/ 0 h 221"/>
              <a:gd name="T4" fmla="*/ 883 w 884"/>
              <a:gd name="T5" fmla="*/ 0 h 221"/>
              <a:gd name="T6" fmla="*/ 883 w 884"/>
              <a:gd name="T7" fmla="*/ 220 h 221"/>
              <a:gd name="T8" fmla="*/ 0 w 884"/>
              <a:gd name="T9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" h="221">
                <a:moveTo>
                  <a:pt x="0" y="220"/>
                </a:moveTo>
                <a:lnTo>
                  <a:pt x="0" y="0"/>
                </a:lnTo>
                <a:lnTo>
                  <a:pt x="883" y="0"/>
                </a:lnTo>
                <a:lnTo>
                  <a:pt x="883" y="220"/>
                </a:lnTo>
                <a:lnTo>
                  <a:pt x="0" y="22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Freeform 18"/>
          <p:cNvSpPr>
            <a:spLocks/>
          </p:cNvSpPr>
          <p:nvPr/>
        </p:nvSpPr>
        <p:spPr bwMode="auto">
          <a:xfrm>
            <a:off x="4330091" y="3431937"/>
            <a:ext cx="701675" cy="1401763"/>
          </a:xfrm>
          <a:custGeom>
            <a:avLst/>
            <a:gdLst>
              <a:gd name="T0" fmla="*/ 0 w 442"/>
              <a:gd name="T1" fmla="*/ 882 h 883"/>
              <a:gd name="T2" fmla="*/ 0 w 442"/>
              <a:gd name="T3" fmla="*/ 0 h 883"/>
              <a:gd name="T4" fmla="*/ 441 w 442"/>
              <a:gd name="T5" fmla="*/ 0 h 883"/>
              <a:gd name="T6" fmla="*/ 441 w 442"/>
              <a:gd name="T7" fmla="*/ 882 h 883"/>
              <a:gd name="T8" fmla="*/ 0 w 442"/>
              <a:gd name="T9" fmla="*/ 882 h 8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2" h="883">
                <a:moveTo>
                  <a:pt x="0" y="882"/>
                </a:moveTo>
                <a:lnTo>
                  <a:pt x="0" y="0"/>
                </a:lnTo>
                <a:lnTo>
                  <a:pt x="441" y="0"/>
                </a:lnTo>
                <a:lnTo>
                  <a:pt x="441" y="882"/>
                </a:lnTo>
                <a:lnTo>
                  <a:pt x="0" y="88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9"/>
          <p:cNvSpPr>
            <a:spLocks noChangeArrowheads="1"/>
          </p:cNvSpPr>
          <p:nvPr/>
        </p:nvSpPr>
        <p:spPr bwMode="auto">
          <a:xfrm>
            <a:off x="6751029" y="3687762"/>
            <a:ext cx="45204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latin typeface="Helvetica" charset="0"/>
              </a:rPr>
              <a:t>13*</a:t>
            </a:r>
          </a:p>
        </p:txBody>
      </p:sp>
      <p:sp>
        <p:nvSpPr>
          <p:cNvPr id="15" name="Rectangle 20"/>
          <p:cNvSpPr>
            <a:spLocks noChangeArrowheads="1"/>
          </p:cNvSpPr>
          <p:nvPr/>
        </p:nvSpPr>
        <p:spPr bwMode="auto">
          <a:xfrm>
            <a:off x="3693504" y="345575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00</a:t>
            </a:r>
          </a:p>
        </p:txBody>
      </p:sp>
      <p:sp>
        <p:nvSpPr>
          <p:cNvPr id="16" name="Rectangle 21"/>
          <p:cNvSpPr>
            <a:spLocks noChangeArrowheads="1"/>
          </p:cNvSpPr>
          <p:nvPr/>
        </p:nvSpPr>
        <p:spPr bwMode="auto">
          <a:xfrm>
            <a:off x="3693504" y="3844687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01</a:t>
            </a:r>
          </a:p>
        </p:txBody>
      </p:sp>
      <p:sp>
        <p:nvSpPr>
          <p:cNvPr id="17" name="Rectangle 22"/>
          <p:cNvSpPr>
            <a:spLocks noChangeArrowheads="1"/>
          </p:cNvSpPr>
          <p:nvPr/>
        </p:nvSpPr>
        <p:spPr bwMode="auto">
          <a:xfrm>
            <a:off x="3693504" y="4178062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</a:t>
            </a:r>
          </a:p>
        </p:txBody>
      </p:sp>
      <p:sp>
        <p:nvSpPr>
          <p:cNvPr id="18" name="Rectangle 23"/>
          <p:cNvSpPr>
            <a:spLocks noChangeArrowheads="1"/>
          </p:cNvSpPr>
          <p:nvPr/>
        </p:nvSpPr>
        <p:spPr bwMode="auto">
          <a:xfrm>
            <a:off x="3693504" y="4538425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11</a:t>
            </a:r>
          </a:p>
        </p:txBody>
      </p:sp>
      <p:sp>
        <p:nvSpPr>
          <p:cNvPr id="26" name="Rectangle 31"/>
          <p:cNvSpPr>
            <a:spLocks noChangeArrowheads="1"/>
          </p:cNvSpPr>
          <p:nvPr/>
        </p:nvSpPr>
        <p:spPr bwMode="auto">
          <a:xfrm>
            <a:off x="4017354" y="5076587"/>
            <a:ext cx="1268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DIRECTORY</a:t>
            </a:r>
          </a:p>
        </p:txBody>
      </p:sp>
      <p:sp>
        <p:nvSpPr>
          <p:cNvPr id="27" name="Rectangle 32"/>
          <p:cNvSpPr>
            <a:spLocks noChangeArrowheads="1"/>
          </p:cNvSpPr>
          <p:nvPr/>
        </p:nvSpPr>
        <p:spPr bwMode="auto">
          <a:xfrm>
            <a:off x="7363804" y="2743200"/>
            <a:ext cx="887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A</a:t>
            </a:r>
          </a:p>
        </p:txBody>
      </p:sp>
      <p:sp>
        <p:nvSpPr>
          <p:cNvPr id="28" name="Rectangle 33"/>
          <p:cNvSpPr>
            <a:spLocks noChangeArrowheads="1"/>
          </p:cNvSpPr>
          <p:nvPr/>
        </p:nvSpPr>
        <p:spPr bwMode="auto">
          <a:xfrm>
            <a:off x="7378091" y="3581400"/>
            <a:ext cx="8778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B</a:t>
            </a:r>
          </a:p>
        </p:txBody>
      </p:sp>
      <p:sp>
        <p:nvSpPr>
          <p:cNvPr id="29" name="Rectangle 34"/>
          <p:cNvSpPr>
            <a:spLocks noChangeArrowheads="1"/>
          </p:cNvSpPr>
          <p:nvPr/>
        </p:nvSpPr>
        <p:spPr bwMode="auto">
          <a:xfrm>
            <a:off x="7378091" y="4419600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C</a:t>
            </a:r>
          </a:p>
        </p:txBody>
      </p:sp>
      <p:sp>
        <p:nvSpPr>
          <p:cNvPr id="30" name="Rectangle 35"/>
          <p:cNvSpPr>
            <a:spLocks noChangeArrowheads="1"/>
          </p:cNvSpPr>
          <p:nvPr/>
        </p:nvSpPr>
        <p:spPr bwMode="auto">
          <a:xfrm>
            <a:off x="7379679" y="5208587"/>
            <a:ext cx="887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D</a:t>
            </a:r>
          </a:p>
        </p:txBody>
      </p:sp>
      <p:sp>
        <p:nvSpPr>
          <p:cNvPr id="32" name="Rectangle 37"/>
          <p:cNvSpPr>
            <a:spLocks noChangeArrowheads="1"/>
          </p:cNvSpPr>
          <p:nvPr/>
        </p:nvSpPr>
        <p:spPr bwMode="auto">
          <a:xfrm>
            <a:off x="5712804" y="45243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10*</a:t>
            </a:r>
          </a:p>
        </p:txBody>
      </p:sp>
      <p:sp>
        <p:nvSpPr>
          <p:cNvPr id="33" name="Rectangle 38"/>
          <p:cNvSpPr>
            <a:spLocks noChangeArrowheads="1"/>
          </p:cNvSpPr>
          <p:nvPr/>
        </p:nvSpPr>
        <p:spPr bwMode="auto">
          <a:xfrm>
            <a:off x="5727091" y="3687762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1*</a:t>
            </a:r>
          </a:p>
        </p:txBody>
      </p:sp>
      <p:sp>
        <p:nvSpPr>
          <p:cNvPr id="34" name="Rectangle 39"/>
          <p:cNvSpPr>
            <a:spLocks noChangeArrowheads="1"/>
          </p:cNvSpPr>
          <p:nvPr/>
        </p:nvSpPr>
        <p:spPr bwMode="auto">
          <a:xfrm>
            <a:off x="6395429" y="3687762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21*</a:t>
            </a:r>
          </a:p>
        </p:txBody>
      </p:sp>
      <p:sp>
        <p:nvSpPr>
          <p:cNvPr id="37" name="Rectangle 42"/>
          <p:cNvSpPr>
            <a:spLocks noChangeArrowheads="1"/>
          </p:cNvSpPr>
          <p:nvPr/>
        </p:nvSpPr>
        <p:spPr bwMode="auto">
          <a:xfrm>
            <a:off x="6425591" y="28606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32*</a:t>
            </a:r>
          </a:p>
        </p:txBody>
      </p:sp>
      <p:sp>
        <p:nvSpPr>
          <p:cNvPr id="38" name="Rectangle 43"/>
          <p:cNvSpPr>
            <a:spLocks noChangeArrowheads="1"/>
          </p:cNvSpPr>
          <p:nvPr/>
        </p:nvSpPr>
        <p:spPr bwMode="auto">
          <a:xfrm>
            <a:off x="6746266" y="28479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16*</a:t>
            </a:r>
          </a:p>
        </p:txBody>
      </p:sp>
      <p:sp>
        <p:nvSpPr>
          <p:cNvPr id="39" name="Rectangle 44"/>
          <p:cNvSpPr>
            <a:spLocks noChangeArrowheads="1"/>
          </p:cNvSpPr>
          <p:nvPr/>
        </p:nvSpPr>
        <p:spPr bwMode="auto">
          <a:xfrm>
            <a:off x="5712804" y="52990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15*</a:t>
            </a:r>
          </a:p>
        </p:txBody>
      </p:sp>
      <p:sp>
        <p:nvSpPr>
          <p:cNvPr id="40" name="Rectangle 45"/>
          <p:cNvSpPr>
            <a:spLocks noChangeArrowheads="1"/>
          </p:cNvSpPr>
          <p:nvPr/>
        </p:nvSpPr>
        <p:spPr bwMode="auto">
          <a:xfrm>
            <a:off x="6103329" y="5299075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7*</a:t>
            </a:r>
          </a:p>
        </p:txBody>
      </p:sp>
      <p:sp>
        <p:nvSpPr>
          <p:cNvPr id="41" name="Rectangle 46"/>
          <p:cNvSpPr>
            <a:spLocks noChangeArrowheads="1"/>
          </p:cNvSpPr>
          <p:nvPr/>
        </p:nvSpPr>
        <p:spPr bwMode="auto">
          <a:xfrm>
            <a:off x="6397016" y="52990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19*</a:t>
            </a:r>
          </a:p>
        </p:txBody>
      </p:sp>
      <p:sp>
        <p:nvSpPr>
          <p:cNvPr id="42" name="Rectangle 47"/>
          <p:cNvSpPr>
            <a:spLocks noChangeArrowheads="1"/>
          </p:cNvSpPr>
          <p:nvPr/>
        </p:nvSpPr>
        <p:spPr bwMode="auto">
          <a:xfrm>
            <a:off x="6101741" y="3686175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5*</a:t>
            </a:r>
          </a:p>
        </p:txBody>
      </p:sp>
      <p:sp>
        <p:nvSpPr>
          <p:cNvPr id="45" name="Rectangle 50"/>
          <p:cNvSpPr>
            <a:spLocks noChangeArrowheads="1"/>
          </p:cNvSpPr>
          <p:nvPr/>
        </p:nvSpPr>
        <p:spPr bwMode="auto">
          <a:xfrm>
            <a:off x="4333266" y="3431937"/>
            <a:ext cx="684213" cy="3333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Rectangle 51"/>
          <p:cNvSpPr>
            <a:spLocks noChangeArrowheads="1"/>
          </p:cNvSpPr>
          <p:nvPr/>
        </p:nvSpPr>
        <p:spPr bwMode="auto">
          <a:xfrm>
            <a:off x="4333266" y="3774837"/>
            <a:ext cx="684213" cy="3333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Rectangle 52"/>
          <p:cNvSpPr>
            <a:spLocks noChangeArrowheads="1"/>
          </p:cNvSpPr>
          <p:nvPr/>
        </p:nvSpPr>
        <p:spPr bwMode="auto">
          <a:xfrm>
            <a:off x="4333266" y="4117737"/>
            <a:ext cx="684213" cy="3333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Line 53"/>
          <p:cNvSpPr>
            <a:spLocks noChangeShapeType="1"/>
          </p:cNvSpPr>
          <p:nvPr/>
        </p:nvSpPr>
        <p:spPr bwMode="auto">
          <a:xfrm flipV="1">
            <a:off x="4755540" y="2998786"/>
            <a:ext cx="976314" cy="725249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Line 54"/>
          <p:cNvSpPr>
            <a:spLocks noChangeShapeType="1"/>
          </p:cNvSpPr>
          <p:nvPr/>
        </p:nvSpPr>
        <p:spPr bwMode="auto">
          <a:xfrm flipV="1">
            <a:off x="4755540" y="3844688"/>
            <a:ext cx="976314" cy="11271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Line 55"/>
          <p:cNvSpPr>
            <a:spLocks noChangeShapeType="1"/>
          </p:cNvSpPr>
          <p:nvPr/>
        </p:nvSpPr>
        <p:spPr bwMode="auto">
          <a:xfrm>
            <a:off x="4792054" y="4295537"/>
            <a:ext cx="939800" cy="3571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56"/>
          <p:cNvSpPr>
            <a:spLocks noChangeShapeType="1"/>
          </p:cNvSpPr>
          <p:nvPr/>
        </p:nvSpPr>
        <p:spPr bwMode="auto">
          <a:xfrm>
            <a:off x="4874604" y="4676538"/>
            <a:ext cx="857250" cy="80351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62000" y="4298196"/>
            <a:ext cx="14478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20 = 101</a:t>
            </a:r>
            <a:r>
              <a:rPr lang="en-US" b="1" dirty="0" smtClean="0"/>
              <a:t>00</a:t>
            </a:r>
            <a:endParaRPr lang="en-US" dirty="0"/>
          </a:p>
        </p:txBody>
      </p:sp>
      <p:sp>
        <p:nvSpPr>
          <p:cNvPr id="43" name="Rectangle 16"/>
          <p:cNvSpPr>
            <a:spLocks noChangeArrowheads="1"/>
          </p:cNvSpPr>
          <p:nvPr/>
        </p:nvSpPr>
        <p:spPr bwMode="auto">
          <a:xfrm>
            <a:off x="6335103" y="6080125"/>
            <a:ext cx="45204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Helvetica" charset="0"/>
              </a:rPr>
              <a:t>20*</a:t>
            </a:r>
          </a:p>
        </p:txBody>
      </p:sp>
      <p:sp>
        <p:nvSpPr>
          <p:cNvPr id="44" name="Freeform 17"/>
          <p:cNvSpPr>
            <a:spLocks/>
          </p:cNvSpPr>
          <p:nvPr/>
        </p:nvSpPr>
        <p:spPr bwMode="auto">
          <a:xfrm>
            <a:off x="5758840" y="6091238"/>
            <a:ext cx="1374775" cy="298450"/>
          </a:xfrm>
          <a:custGeom>
            <a:avLst/>
            <a:gdLst>
              <a:gd name="T0" fmla="*/ 0 w 748"/>
              <a:gd name="T1" fmla="*/ 187 h 188"/>
              <a:gd name="T2" fmla="*/ 0 w 748"/>
              <a:gd name="T3" fmla="*/ 0 h 188"/>
              <a:gd name="T4" fmla="*/ 747 w 748"/>
              <a:gd name="T5" fmla="*/ 0 h 188"/>
              <a:gd name="T6" fmla="*/ 747 w 748"/>
              <a:gd name="T7" fmla="*/ 187 h 188"/>
              <a:gd name="T8" fmla="*/ 0 w 748"/>
              <a:gd name="T9" fmla="*/ 187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8" h="188">
                <a:moveTo>
                  <a:pt x="0" y="187"/>
                </a:moveTo>
                <a:lnTo>
                  <a:pt x="0" y="0"/>
                </a:lnTo>
                <a:lnTo>
                  <a:pt x="747" y="0"/>
                </a:lnTo>
                <a:lnTo>
                  <a:pt x="747" y="187"/>
                </a:lnTo>
                <a:lnTo>
                  <a:pt x="0" y="18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" name="Rectangle 36"/>
          <p:cNvSpPr>
            <a:spLocks noChangeArrowheads="1"/>
          </p:cNvSpPr>
          <p:nvPr/>
        </p:nvSpPr>
        <p:spPr bwMode="auto">
          <a:xfrm>
            <a:off x="7361237" y="6002338"/>
            <a:ext cx="9763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A2</a:t>
            </a:r>
          </a:p>
        </p:txBody>
      </p:sp>
      <p:sp>
        <p:nvSpPr>
          <p:cNvPr id="55" name="Rectangle 37"/>
          <p:cNvSpPr>
            <a:spLocks noChangeArrowheads="1"/>
          </p:cNvSpPr>
          <p:nvPr/>
        </p:nvSpPr>
        <p:spPr bwMode="auto">
          <a:xfrm>
            <a:off x="7361237" y="6202363"/>
            <a:ext cx="1279197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(</a:t>
            </a:r>
            <a:r>
              <a:rPr lang="en-US" sz="1400" b="1" i="1" dirty="0">
                <a:solidFill>
                  <a:srgbClr val="0070C0"/>
                </a:solidFill>
                <a:latin typeface="Helvetica" charset="0"/>
              </a:rPr>
              <a:t>`split image'</a:t>
            </a:r>
          </a:p>
        </p:txBody>
      </p:sp>
      <p:sp>
        <p:nvSpPr>
          <p:cNvPr id="56" name="Rectangle 38"/>
          <p:cNvSpPr>
            <a:spLocks noChangeArrowheads="1"/>
          </p:cNvSpPr>
          <p:nvPr/>
        </p:nvSpPr>
        <p:spPr bwMode="auto">
          <a:xfrm>
            <a:off x="7361237" y="6403975"/>
            <a:ext cx="113823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of Bucket A)</a:t>
            </a:r>
          </a:p>
        </p:txBody>
      </p:sp>
      <p:sp>
        <p:nvSpPr>
          <p:cNvPr id="57" name="Rectangle 49"/>
          <p:cNvSpPr>
            <a:spLocks noChangeArrowheads="1"/>
          </p:cNvSpPr>
          <p:nvPr/>
        </p:nvSpPr>
        <p:spPr bwMode="auto">
          <a:xfrm>
            <a:off x="5752491" y="6078538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4*</a:t>
            </a:r>
          </a:p>
        </p:txBody>
      </p:sp>
      <p:sp>
        <p:nvSpPr>
          <p:cNvPr id="58" name="Rectangle 50"/>
          <p:cNvSpPr>
            <a:spLocks noChangeArrowheads="1"/>
          </p:cNvSpPr>
          <p:nvPr/>
        </p:nvSpPr>
        <p:spPr bwMode="auto">
          <a:xfrm>
            <a:off x="6039828" y="607853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12*</a:t>
            </a:r>
          </a:p>
        </p:txBody>
      </p:sp>
      <p:sp>
        <p:nvSpPr>
          <p:cNvPr id="59" name="Freeform 9"/>
          <p:cNvSpPr>
            <a:spLocks/>
          </p:cNvSpPr>
          <p:nvPr/>
        </p:nvSpPr>
        <p:spPr bwMode="auto">
          <a:xfrm>
            <a:off x="4328133" y="3082184"/>
            <a:ext cx="352425" cy="350838"/>
          </a:xfrm>
          <a:custGeom>
            <a:avLst/>
            <a:gdLst>
              <a:gd name="T0" fmla="*/ 0 w 222"/>
              <a:gd name="T1" fmla="*/ 220 h 221"/>
              <a:gd name="T2" fmla="*/ 0 w 222"/>
              <a:gd name="T3" fmla="*/ 0 h 221"/>
              <a:gd name="T4" fmla="*/ 221 w 222"/>
              <a:gd name="T5" fmla="*/ 0 h 221"/>
              <a:gd name="T6" fmla="*/ 221 w 222"/>
              <a:gd name="T7" fmla="*/ 220 h 221"/>
              <a:gd name="T8" fmla="*/ 0 w 222"/>
              <a:gd name="T9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2" h="221">
                <a:moveTo>
                  <a:pt x="0" y="220"/>
                </a:moveTo>
                <a:lnTo>
                  <a:pt x="0" y="0"/>
                </a:lnTo>
                <a:lnTo>
                  <a:pt x="221" y="0"/>
                </a:lnTo>
                <a:lnTo>
                  <a:pt x="221" y="220"/>
                </a:lnTo>
                <a:lnTo>
                  <a:pt x="0" y="220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Rectangle 24"/>
          <p:cNvSpPr>
            <a:spLocks noChangeArrowheads="1"/>
          </p:cNvSpPr>
          <p:nvPr/>
        </p:nvSpPr>
        <p:spPr bwMode="auto">
          <a:xfrm>
            <a:off x="4321783" y="3090122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85800" y="6002338"/>
            <a:ext cx="3465513" cy="552449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Is this enough</a:t>
            </a:r>
            <a:r>
              <a:rPr lang="en-US" sz="2400" dirty="0" smtClean="0">
                <a:solidFill>
                  <a:schemeClr val="tx1"/>
                </a:solidFill>
              </a:rPr>
              <a:t>?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52" name="Straight Arrow Connector 51"/>
          <p:cNvCxnSpPr/>
          <p:nvPr/>
        </p:nvCxnSpPr>
        <p:spPr>
          <a:xfrm flipV="1">
            <a:off x="2209800" y="3659187"/>
            <a:ext cx="1483704" cy="823675"/>
          </a:xfrm>
          <a:prstGeom prst="straightConnector1">
            <a:avLst/>
          </a:prstGeom>
          <a:ln w="1587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7876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Extendible Hashing: Inserting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Find the appropriate bucket (as in search), split the bucket if full, double the directory if necessary and insert the given entry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Example: insert </a:t>
            </a:r>
            <a:r>
              <a:rPr lang="en-US" sz="2600" dirty="0" smtClean="0">
                <a:solidFill>
                  <a:srgbClr val="FF0000"/>
                </a:solidFill>
              </a:rPr>
              <a:t>20* </a:t>
            </a:r>
            <a:endParaRPr lang="en-US" sz="1800" dirty="0">
              <a:solidFill>
                <a:srgbClr val="FF0000"/>
              </a:solidFill>
            </a:endParaRPr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  <a:p>
            <a:pPr marL="0" indent="0">
              <a:buNone/>
            </a:pPr>
            <a:endParaRPr lang="en-US" dirty="0" smtClean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</p:txBody>
      </p:sp>
      <p:sp>
        <p:nvSpPr>
          <p:cNvPr id="5" name="Freeform 10"/>
          <p:cNvSpPr>
            <a:spLocks/>
          </p:cNvSpPr>
          <p:nvPr/>
        </p:nvSpPr>
        <p:spPr bwMode="auto">
          <a:xfrm>
            <a:off x="5730266" y="3659187"/>
            <a:ext cx="1403350" cy="352425"/>
          </a:xfrm>
          <a:custGeom>
            <a:avLst/>
            <a:gdLst>
              <a:gd name="T0" fmla="*/ 0 w 884"/>
              <a:gd name="T1" fmla="*/ 221 h 222"/>
              <a:gd name="T2" fmla="*/ 0 w 884"/>
              <a:gd name="T3" fmla="*/ 0 h 222"/>
              <a:gd name="T4" fmla="*/ 883 w 884"/>
              <a:gd name="T5" fmla="*/ 0 h 222"/>
              <a:gd name="T6" fmla="*/ 883 w 884"/>
              <a:gd name="T7" fmla="*/ 221 h 222"/>
              <a:gd name="T8" fmla="*/ 0 w 884"/>
              <a:gd name="T9" fmla="*/ 221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" h="222">
                <a:moveTo>
                  <a:pt x="0" y="221"/>
                </a:moveTo>
                <a:lnTo>
                  <a:pt x="0" y="0"/>
                </a:lnTo>
                <a:lnTo>
                  <a:pt x="883" y="0"/>
                </a:lnTo>
                <a:lnTo>
                  <a:pt x="883" y="221"/>
                </a:lnTo>
                <a:lnTo>
                  <a:pt x="0" y="22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Freeform 11"/>
          <p:cNvSpPr>
            <a:spLocks/>
          </p:cNvSpPr>
          <p:nvPr/>
        </p:nvSpPr>
        <p:spPr bwMode="auto">
          <a:xfrm>
            <a:off x="5730266" y="4513262"/>
            <a:ext cx="1403350" cy="350838"/>
          </a:xfrm>
          <a:custGeom>
            <a:avLst/>
            <a:gdLst>
              <a:gd name="T0" fmla="*/ 0 w 884"/>
              <a:gd name="T1" fmla="*/ 220 h 221"/>
              <a:gd name="T2" fmla="*/ 0 w 884"/>
              <a:gd name="T3" fmla="*/ 0 h 221"/>
              <a:gd name="T4" fmla="*/ 883 w 884"/>
              <a:gd name="T5" fmla="*/ 0 h 221"/>
              <a:gd name="T6" fmla="*/ 883 w 884"/>
              <a:gd name="T7" fmla="*/ 220 h 221"/>
              <a:gd name="T8" fmla="*/ 0 w 884"/>
              <a:gd name="T9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" h="221">
                <a:moveTo>
                  <a:pt x="0" y="220"/>
                </a:moveTo>
                <a:lnTo>
                  <a:pt x="0" y="0"/>
                </a:lnTo>
                <a:lnTo>
                  <a:pt x="883" y="0"/>
                </a:lnTo>
                <a:lnTo>
                  <a:pt x="883" y="220"/>
                </a:lnTo>
                <a:lnTo>
                  <a:pt x="0" y="22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Freeform 12"/>
          <p:cNvSpPr>
            <a:spLocks/>
          </p:cNvSpPr>
          <p:nvPr/>
        </p:nvSpPr>
        <p:spPr bwMode="auto">
          <a:xfrm>
            <a:off x="5730266" y="5287962"/>
            <a:ext cx="1403350" cy="350838"/>
          </a:xfrm>
          <a:custGeom>
            <a:avLst/>
            <a:gdLst>
              <a:gd name="T0" fmla="*/ 0 w 884"/>
              <a:gd name="T1" fmla="*/ 220 h 221"/>
              <a:gd name="T2" fmla="*/ 0 w 884"/>
              <a:gd name="T3" fmla="*/ 0 h 221"/>
              <a:gd name="T4" fmla="*/ 883 w 884"/>
              <a:gd name="T5" fmla="*/ 0 h 221"/>
              <a:gd name="T6" fmla="*/ 883 w 884"/>
              <a:gd name="T7" fmla="*/ 220 h 221"/>
              <a:gd name="T8" fmla="*/ 0 w 884"/>
              <a:gd name="T9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" h="221">
                <a:moveTo>
                  <a:pt x="0" y="220"/>
                </a:moveTo>
                <a:lnTo>
                  <a:pt x="0" y="0"/>
                </a:lnTo>
                <a:lnTo>
                  <a:pt x="883" y="0"/>
                </a:lnTo>
                <a:lnTo>
                  <a:pt x="883" y="220"/>
                </a:lnTo>
                <a:lnTo>
                  <a:pt x="0" y="22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Freeform 13"/>
          <p:cNvSpPr>
            <a:spLocks/>
          </p:cNvSpPr>
          <p:nvPr/>
        </p:nvSpPr>
        <p:spPr bwMode="auto">
          <a:xfrm>
            <a:off x="5730266" y="2836862"/>
            <a:ext cx="1403350" cy="350838"/>
          </a:xfrm>
          <a:custGeom>
            <a:avLst/>
            <a:gdLst>
              <a:gd name="T0" fmla="*/ 0 w 884"/>
              <a:gd name="T1" fmla="*/ 220 h 221"/>
              <a:gd name="T2" fmla="*/ 0 w 884"/>
              <a:gd name="T3" fmla="*/ 0 h 221"/>
              <a:gd name="T4" fmla="*/ 883 w 884"/>
              <a:gd name="T5" fmla="*/ 0 h 221"/>
              <a:gd name="T6" fmla="*/ 883 w 884"/>
              <a:gd name="T7" fmla="*/ 220 h 221"/>
              <a:gd name="T8" fmla="*/ 0 w 884"/>
              <a:gd name="T9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" h="221">
                <a:moveTo>
                  <a:pt x="0" y="220"/>
                </a:moveTo>
                <a:lnTo>
                  <a:pt x="0" y="0"/>
                </a:lnTo>
                <a:lnTo>
                  <a:pt x="883" y="0"/>
                </a:lnTo>
                <a:lnTo>
                  <a:pt x="883" y="220"/>
                </a:lnTo>
                <a:lnTo>
                  <a:pt x="0" y="22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Freeform 18"/>
          <p:cNvSpPr>
            <a:spLocks/>
          </p:cNvSpPr>
          <p:nvPr/>
        </p:nvSpPr>
        <p:spPr bwMode="auto">
          <a:xfrm>
            <a:off x="4330091" y="3431937"/>
            <a:ext cx="701675" cy="1401763"/>
          </a:xfrm>
          <a:custGeom>
            <a:avLst/>
            <a:gdLst>
              <a:gd name="T0" fmla="*/ 0 w 442"/>
              <a:gd name="T1" fmla="*/ 882 h 883"/>
              <a:gd name="T2" fmla="*/ 0 w 442"/>
              <a:gd name="T3" fmla="*/ 0 h 883"/>
              <a:gd name="T4" fmla="*/ 441 w 442"/>
              <a:gd name="T5" fmla="*/ 0 h 883"/>
              <a:gd name="T6" fmla="*/ 441 w 442"/>
              <a:gd name="T7" fmla="*/ 882 h 883"/>
              <a:gd name="T8" fmla="*/ 0 w 442"/>
              <a:gd name="T9" fmla="*/ 882 h 8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2" h="883">
                <a:moveTo>
                  <a:pt x="0" y="882"/>
                </a:moveTo>
                <a:lnTo>
                  <a:pt x="0" y="0"/>
                </a:lnTo>
                <a:lnTo>
                  <a:pt x="441" y="0"/>
                </a:lnTo>
                <a:lnTo>
                  <a:pt x="441" y="882"/>
                </a:lnTo>
                <a:lnTo>
                  <a:pt x="0" y="88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9"/>
          <p:cNvSpPr>
            <a:spLocks noChangeArrowheads="1"/>
          </p:cNvSpPr>
          <p:nvPr/>
        </p:nvSpPr>
        <p:spPr bwMode="auto">
          <a:xfrm>
            <a:off x="6751029" y="3687762"/>
            <a:ext cx="45204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latin typeface="Helvetica" charset="0"/>
              </a:rPr>
              <a:t>13*</a:t>
            </a:r>
          </a:p>
        </p:txBody>
      </p:sp>
      <p:sp>
        <p:nvSpPr>
          <p:cNvPr id="15" name="Rectangle 20"/>
          <p:cNvSpPr>
            <a:spLocks noChangeArrowheads="1"/>
          </p:cNvSpPr>
          <p:nvPr/>
        </p:nvSpPr>
        <p:spPr bwMode="auto">
          <a:xfrm>
            <a:off x="3693504" y="345575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00</a:t>
            </a:r>
          </a:p>
        </p:txBody>
      </p:sp>
      <p:sp>
        <p:nvSpPr>
          <p:cNvPr id="16" name="Rectangle 21"/>
          <p:cNvSpPr>
            <a:spLocks noChangeArrowheads="1"/>
          </p:cNvSpPr>
          <p:nvPr/>
        </p:nvSpPr>
        <p:spPr bwMode="auto">
          <a:xfrm>
            <a:off x="3693504" y="3844687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01</a:t>
            </a:r>
          </a:p>
        </p:txBody>
      </p:sp>
      <p:sp>
        <p:nvSpPr>
          <p:cNvPr id="17" name="Rectangle 22"/>
          <p:cNvSpPr>
            <a:spLocks noChangeArrowheads="1"/>
          </p:cNvSpPr>
          <p:nvPr/>
        </p:nvSpPr>
        <p:spPr bwMode="auto">
          <a:xfrm>
            <a:off x="3693504" y="4178062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</a:t>
            </a:r>
          </a:p>
        </p:txBody>
      </p:sp>
      <p:sp>
        <p:nvSpPr>
          <p:cNvPr id="18" name="Rectangle 23"/>
          <p:cNvSpPr>
            <a:spLocks noChangeArrowheads="1"/>
          </p:cNvSpPr>
          <p:nvPr/>
        </p:nvSpPr>
        <p:spPr bwMode="auto">
          <a:xfrm>
            <a:off x="3693504" y="4538425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11</a:t>
            </a:r>
          </a:p>
        </p:txBody>
      </p:sp>
      <p:sp>
        <p:nvSpPr>
          <p:cNvPr id="26" name="Rectangle 31"/>
          <p:cNvSpPr>
            <a:spLocks noChangeArrowheads="1"/>
          </p:cNvSpPr>
          <p:nvPr/>
        </p:nvSpPr>
        <p:spPr bwMode="auto">
          <a:xfrm>
            <a:off x="4017354" y="5076587"/>
            <a:ext cx="1268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DIRECTORY</a:t>
            </a:r>
          </a:p>
        </p:txBody>
      </p:sp>
      <p:sp>
        <p:nvSpPr>
          <p:cNvPr id="27" name="Rectangle 32"/>
          <p:cNvSpPr>
            <a:spLocks noChangeArrowheads="1"/>
          </p:cNvSpPr>
          <p:nvPr/>
        </p:nvSpPr>
        <p:spPr bwMode="auto">
          <a:xfrm>
            <a:off x="7363804" y="2743200"/>
            <a:ext cx="887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A</a:t>
            </a:r>
          </a:p>
        </p:txBody>
      </p:sp>
      <p:sp>
        <p:nvSpPr>
          <p:cNvPr id="28" name="Rectangle 33"/>
          <p:cNvSpPr>
            <a:spLocks noChangeArrowheads="1"/>
          </p:cNvSpPr>
          <p:nvPr/>
        </p:nvSpPr>
        <p:spPr bwMode="auto">
          <a:xfrm>
            <a:off x="7378091" y="3581400"/>
            <a:ext cx="8778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B</a:t>
            </a:r>
          </a:p>
        </p:txBody>
      </p:sp>
      <p:sp>
        <p:nvSpPr>
          <p:cNvPr id="29" name="Rectangle 34"/>
          <p:cNvSpPr>
            <a:spLocks noChangeArrowheads="1"/>
          </p:cNvSpPr>
          <p:nvPr/>
        </p:nvSpPr>
        <p:spPr bwMode="auto">
          <a:xfrm>
            <a:off x="7378091" y="4419600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C</a:t>
            </a:r>
          </a:p>
        </p:txBody>
      </p:sp>
      <p:sp>
        <p:nvSpPr>
          <p:cNvPr id="30" name="Rectangle 35"/>
          <p:cNvSpPr>
            <a:spLocks noChangeArrowheads="1"/>
          </p:cNvSpPr>
          <p:nvPr/>
        </p:nvSpPr>
        <p:spPr bwMode="auto">
          <a:xfrm>
            <a:off x="7379679" y="5208587"/>
            <a:ext cx="887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D</a:t>
            </a:r>
          </a:p>
        </p:txBody>
      </p:sp>
      <p:sp>
        <p:nvSpPr>
          <p:cNvPr id="32" name="Rectangle 37"/>
          <p:cNvSpPr>
            <a:spLocks noChangeArrowheads="1"/>
          </p:cNvSpPr>
          <p:nvPr/>
        </p:nvSpPr>
        <p:spPr bwMode="auto">
          <a:xfrm>
            <a:off x="5712804" y="45243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10*</a:t>
            </a:r>
          </a:p>
        </p:txBody>
      </p:sp>
      <p:sp>
        <p:nvSpPr>
          <p:cNvPr id="33" name="Rectangle 38"/>
          <p:cNvSpPr>
            <a:spLocks noChangeArrowheads="1"/>
          </p:cNvSpPr>
          <p:nvPr/>
        </p:nvSpPr>
        <p:spPr bwMode="auto">
          <a:xfrm>
            <a:off x="5727091" y="3687762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1*</a:t>
            </a:r>
          </a:p>
        </p:txBody>
      </p:sp>
      <p:sp>
        <p:nvSpPr>
          <p:cNvPr id="34" name="Rectangle 39"/>
          <p:cNvSpPr>
            <a:spLocks noChangeArrowheads="1"/>
          </p:cNvSpPr>
          <p:nvPr/>
        </p:nvSpPr>
        <p:spPr bwMode="auto">
          <a:xfrm>
            <a:off x="6395429" y="3687762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21*</a:t>
            </a:r>
          </a:p>
        </p:txBody>
      </p:sp>
      <p:sp>
        <p:nvSpPr>
          <p:cNvPr id="37" name="Rectangle 42"/>
          <p:cNvSpPr>
            <a:spLocks noChangeArrowheads="1"/>
          </p:cNvSpPr>
          <p:nvPr/>
        </p:nvSpPr>
        <p:spPr bwMode="auto">
          <a:xfrm>
            <a:off x="6425591" y="28606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32*</a:t>
            </a:r>
          </a:p>
        </p:txBody>
      </p:sp>
      <p:sp>
        <p:nvSpPr>
          <p:cNvPr id="38" name="Rectangle 43"/>
          <p:cNvSpPr>
            <a:spLocks noChangeArrowheads="1"/>
          </p:cNvSpPr>
          <p:nvPr/>
        </p:nvSpPr>
        <p:spPr bwMode="auto">
          <a:xfrm>
            <a:off x="6746266" y="28479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16*</a:t>
            </a:r>
          </a:p>
        </p:txBody>
      </p:sp>
      <p:sp>
        <p:nvSpPr>
          <p:cNvPr id="39" name="Rectangle 44"/>
          <p:cNvSpPr>
            <a:spLocks noChangeArrowheads="1"/>
          </p:cNvSpPr>
          <p:nvPr/>
        </p:nvSpPr>
        <p:spPr bwMode="auto">
          <a:xfrm>
            <a:off x="5712804" y="52990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15*</a:t>
            </a:r>
          </a:p>
        </p:txBody>
      </p:sp>
      <p:sp>
        <p:nvSpPr>
          <p:cNvPr id="40" name="Rectangle 45"/>
          <p:cNvSpPr>
            <a:spLocks noChangeArrowheads="1"/>
          </p:cNvSpPr>
          <p:nvPr/>
        </p:nvSpPr>
        <p:spPr bwMode="auto">
          <a:xfrm>
            <a:off x="6103329" y="5299075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7*</a:t>
            </a:r>
          </a:p>
        </p:txBody>
      </p:sp>
      <p:sp>
        <p:nvSpPr>
          <p:cNvPr id="41" name="Rectangle 46"/>
          <p:cNvSpPr>
            <a:spLocks noChangeArrowheads="1"/>
          </p:cNvSpPr>
          <p:nvPr/>
        </p:nvSpPr>
        <p:spPr bwMode="auto">
          <a:xfrm>
            <a:off x="6397016" y="52990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19*</a:t>
            </a:r>
          </a:p>
        </p:txBody>
      </p:sp>
      <p:sp>
        <p:nvSpPr>
          <p:cNvPr id="42" name="Rectangle 47"/>
          <p:cNvSpPr>
            <a:spLocks noChangeArrowheads="1"/>
          </p:cNvSpPr>
          <p:nvPr/>
        </p:nvSpPr>
        <p:spPr bwMode="auto">
          <a:xfrm>
            <a:off x="6101741" y="3686175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5*</a:t>
            </a:r>
          </a:p>
        </p:txBody>
      </p:sp>
      <p:sp>
        <p:nvSpPr>
          <p:cNvPr id="45" name="Rectangle 50"/>
          <p:cNvSpPr>
            <a:spLocks noChangeArrowheads="1"/>
          </p:cNvSpPr>
          <p:nvPr/>
        </p:nvSpPr>
        <p:spPr bwMode="auto">
          <a:xfrm>
            <a:off x="4333266" y="3431937"/>
            <a:ext cx="684213" cy="3333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Rectangle 51"/>
          <p:cNvSpPr>
            <a:spLocks noChangeArrowheads="1"/>
          </p:cNvSpPr>
          <p:nvPr/>
        </p:nvSpPr>
        <p:spPr bwMode="auto">
          <a:xfrm>
            <a:off x="4333266" y="3774837"/>
            <a:ext cx="684213" cy="3333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Rectangle 52"/>
          <p:cNvSpPr>
            <a:spLocks noChangeArrowheads="1"/>
          </p:cNvSpPr>
          <p:nvPr/>
        </p:nvSpPr>
        <p:spPr bwMode="auto">
          <a:xfrm>
            <a:off x="4333266" y="4117737"/>
            <a:ext cx="684213" cy="3333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Line 53"/>
          <p:cNvSpPr>
            <a:spLocks noChangeShapeType="1"/>
          </p:cNvSpPr>
          <p:nvPr/>
        </p:nvSpPr>
        <p:spPr bwMode="auto">
          <a:xfrm flipV="1">
            <a:off x="4755540" y="2998786"/>
            <a:ext cx="976314" cy="725249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Line 54"/>
          <p:cNvSpPr>
            <a:spLocks noChangeShapeType="1"/>
          </p:cNvSpPr>
          <p:nvPr/>
        </p:nvSpPr>
        <p:spPr bwMode="auto">
          <a:xfrm flipV="1">
            <a:off x="4755540" y="3844688"/>
            <a:ext cx="976314" cy="11271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Line 55"/>
          <p:cNvSpPr>
            <a:spLocks noChangeShapeType="1"/>
          </p:cNvSpPr>
          <p:nvPr/>
        </p:nvSpPr>
        <p:spPr bwMode="auto">
          <a:xfrm>
            <a:off x="4792054" y="4295537"/>
            <a:ext cx="939800" cy="3571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56"/>
          <p:cNvSpPr>
            <a:spLocks noChangeShapeType="1"/>
          </p:cNvSpPr>
          <p:nvPr/>
        </p:nvSpPr>
        <p:spPr bwMode="auto">
          <a:xfrm>
            <a:off x="4874604" y="4676538"/>
            <a:ext cx="857250" cy="80351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Rectangle 16"/>
          <p:cNvSpPr>
            <a:spLocks noChangeArrowheads="1"/>
          </p:cNvSpPr>
          <p:nvPr/>
        </p:nvSpPr>
        <p:spPr bwMode="auto">
          <a:xfrm>
            <a:off x="6335103" y="6080125"/>
            <a:ext cx="45204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Helvetica" charset="0"/>
              </a:rPr>
              <a:t>20*</a:t>
            </a:r>
          </a:p>
        </p:txBody>
      </p:sp>
      <p:sp>
        <p:nvSpPr>
          <p:cNvPr id="44" name="Freeform 17"/>
          <p:cNvSpPr>
            <a:spLocks/>
          </p:cNvSpPr>
          <p:nvPr/>
        </p:nvSpPr>
        <p:spPr bwMode="auto">
          <a:xfrm>
            <a:off x="5758840" y="6091238"/>
            <a:ext cx="1374775" cy="298450"/>
          </a:xfrm>
          <a:custGeom>
            <a:avLst/>
            <a:gdLst>
              <a:gd name="T0" fmla="*/ 0 w 748"/>
              <a:gd name="T1" fmla="*/ 187 h 188"/>
              <a:gd name="T2" fmla="*/ 0 w 748"/>
              <a:gd name="T3" fmla="*/ 0 h 188"/>
              <a:gd name="T4" fmla="*/ 747 w 748"/>
              <a:gd name="T5" fmla="*/ 0 h 188"/>
              <a:gd name="T6" fmla="*/ 747 w 748"/>
              <a:gd name="T7" fmla="*/ 187 h 188"/>
              <a:gd name="T8" fmla="*/ 0 w 748"/>
              <a:gd name="T9" fmla="*/ 187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8" h="188">
                <a:moveTo>
                  <a:pt x="0" y="187"/>
                </a:moveTo>
                <a:lnTo>
                  <a:pt x="0" y="0"/>
                </a:lnTo>
                <a:lnTo>
                  <a:pt x="747" y="0"/>
                </a:lnTo>
                <a:lnTo>
                  <a:pt x="747" y="187"/>
                </a:lnTo>
                <a:lnTo>
                  <a:pt x="0" y="18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" name="Rectangle 36"/>
          <p:cNvSpPr>
            <a:spLocks noChangeArrowheads="1"/>
          </p:cNvSpPr>
          <p:nvPr/>
        </p:nvSpPr>
        <p:spPr bwMode="auto">
          <a:xfrm>
            <a:off x="7361237" y="6002338"/>
            <a:ext cx="9763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A2</a:t>
            </a:r>
          </a:p>
        </p:txBody>
      </p:sp>
      <p:sp>
        <p:nvSpPr>
          <p:cNvPr id="55" name="Rectangle 37"/>
          <p:cNvSpPr>
            <a:spLocks noChangeArrowheads="1"/>
          </p:cNvSpPr>
          <p:nvPr/>
        </p:nvSpPr>
        <p:spPr bwMode="auto">
          <a:xfrm>
            <a:off x="7361237" y="6202363"/>
            <a:ext cx="1279197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(</a:t>
            </a:r>
            <a:r>
              <a:rPr lang="en-US" sz="1400" b="1" i="1" dirty="0">
                <a:solidFill>
                  <a:srgbClr val="0070C0"/>
                </a:solidFill>
                <a:latin typeface="Helvetica" charset="0"/>
              </a:rPr>
              <a:t>`split image'</a:t>
            </a:r>
          </a:p>
        </p:txBody>
      </p:sp>
      <p:sp>
        <p:nvSpPr>
          <p:cNvPr id="56" name="Rectangle 38"/>
          <p:cNvSpPr>
            <a:spLocks noChangeArrowheads="1"/>
          </p:cNvSpPr>
          <p:nvPr/>
        </p:nvSpPr>
        <p:spPr bwMode="auto">
          <a:xfrm>
            <a:off x="7361237" y="6403975"/>
            <a:ext cx="113823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of Bucket A)</a:t>
            </a:r>
          </a:p>
        </p:txBody>
      </p:sp>
      <p:sp>
        <p:nvSpPr>
          <p:cNvPr id="57" name="Rectangle 49"/>
          <p:cNvSpPr>
            <a:spLocks noChangeArrowheads="1"/>
          </p:cNvSpPr>
          <p:nvPr/>
        </p:nvSpPr>
        <p:spPr bwMode="auto">
          <a:xfrm>
            <a:off x="5752491" y="6078538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4*</a:t>
            </a:r>
          </a:p>
        </p:txBody>
      </p:sp>
      <p:sp>
        <p:nvSpPr>
          <p:cNvPr id="58" name="Rectangle 50"/>
          <p:cNvSpPr>
            <a:spLocks noChangeArrowheads="1"/>
          </p:cNvSpPr>
          <p:nvPr/>
        </p:nvSpPr>
        <p:spPr bwMode="auto">
          <a:xfrm>
            <a:off x="6039828" y="607853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12*</a:t>
            </a:r>
          </a:p>
        </p:txBody>
      </p:sp>
      <p:sp>
        <p:nvSpPr>
          <p:cNvPr id="59" name="Freeform 9"/>
          <p:cNvSpPr>
            <a:spLocks/>
          </p:cNvSpPr>
          <p:nvPr/>
        </p:nvSpPr>
        <p:spPr bwMode="auto">
          <a:xfrm>
            <a:off x="4328133" y="3086708"/>
            <a:ext cx="352425" cy="350838"/>
          </a:xfrm>
          <a:custGeom>
            <a:avLst/>
            <a:gdLst>
              <a:gd name="T0" fmla="*/ 0 w 222"/>
              <a:gd name="T1" fmla="*/ 220 h 221"/>
              <a:gd name="T2" fmla="*/ 0 w 222"/>
              <a:gd name="T3" fmla="*/ 0 h 221"/>
              <a:gd name="T4" fmla="*/ 221 w 222"/>
              <a:gd name="T5" fmla="*/ 0 h 221"/>
              <a:gd name="T6" fmla="*/ 221 w 222"/>
              <a:gd name="T7" fmla="*/ 220 h 221"/>
              <a:gd name="T8" fmla="*/ 0 w 222"/>
              <a:gd name="T9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2" h="221">
                <a:moveTo>
                  <a:pt x="0" y="220"/>
                </a:moveTo>
                <a:lnTo>
                  <a:pt x="0" y="0"/>
                </a:lnTo>
                <a:lnTo>
                  <a:pt x="221" y="0"/>
                </a:lnTo>
                <a:lnTo>
                  <a:pt x="221" y="220"/>
                </a:lnTo>
                <a:lnTo>
                  <a:pt x="0" y="220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Rectangle 24"/>
          <p:cNvSpPr>
            <a:spLocks noChangeArrowheads="1"/>
          </p:cNvSpPr>
          <p:nvPr/>
        </p:nvSpPr>
        <p:spPr bwMode="auto">
          <a:xfrm>
            <a:off x="4321783" y="308610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5638800"/>
            <a:ext cx="3733800" cy="915987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 smtClean="0">
                <a:solidFill>
                  <a:schemeClr val="tx1"/>
                </a:solidFill>
              </a:rPr>
              <a:t>Double the directory and increase the </a:t>
            </a:r>
            <a:r>
              <a:rPr lang="en-US" sz="2200" i="1" dirty="0" smtClean="0">
                <a:solidFill>
                  <a:schemeClr val="tx1"/>
                </a:solidFill>
              </a:rPr>
              <a:t>global depth</a:t>
            </a:r>
            <a:endParaRPr lang="en-US" sz="2200" i="1" dirty="0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62000" y="4298196"/>
            <a:ext cx="14478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20 = 101</a:t>
            </a:r>
            <a:r>
              <a:rPr lang="en-US" b="1" dirty="0" smtClean="0"/>
              <a:t>00</a:t>
            </a:r>
            <a:endParaRPr lang="en-US" dirty="0"/>
          </a:p>
        </p:txBody>
      </p:sp>
      <p:cxnSp>
        <p:nvCxnSpPr>
          <p:cNvPr id="53" name="Straight Arrow Connector 52"/>
          <p:cNvCxnSpPr/>
          <p:nvPr/>
        </p:nvCxnSpPr>
        <p:spPr>
          <a:xfrm flipV="1">
            <a:off x="2209800" y="3659187"/>
            <a:ext cx="1483704" cy="823675"/>
          </a:xfrm>
          <a:prstGeom prst="straightConnector1">
            <a:avLst/>
          </a:prstGeom>
          <a:ln w="1587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480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Extendible Hashing: Inserting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Find the appropriate bucket (as in search), split the bucket if full, double the directory if necessary and insert the given entry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Example: insert </a:t>
            </a:r>
            <a:r>
              <a:rPr lang="en-US" sz="2600" dirty="0" smtClean="0">
                <a:solidFill>
                  <a:srgbClr val="FF0000"/>
                </a:solidFill>
              </a:rPr>
              <a:t>20*</a:t>
            </a:r>
            <a:r>
              <a:rPr lang="en-US" sz="2600" dirty="0" smtClean="0"/>
              <a:t> </a:t>
            </a: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  <a:p>
            <a:pPr marL="0" indent="0">
              <a:buNone/>
            </a:pPr>
            <a:endParaRPr lang="en-US" dirty="0" smtClean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</p:txBody>
      </p:sp>
      <p:sp>
        <p:nvSpPr>
          <p:cNvPr id="52" name="Freeform 51"/>
          <p:cNvSpPr>
            <a:spLocks/>
          </p:cNvSpPr>
          <p:nvPr/>
        </p:nvSpPr>
        <p:spPr bwMode="auto">
          <a:xfrm>
            <a:off x="4910138" y="3071813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Freeform 52"/>
          <p:cNvSpPr>
            <a:spLocks/>
          </p:cNvSpPr>
          <p:nvPr/>
        </p:nvSpPr>
        <p:spPr bwMode="auto">
          <a:xfrm>
            <a:off x="6110288" y="3371850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Freeform 53"/>
          <p:cNvSpPr>
            <a:spLocks/>
          </p:cNvSpPr>
          <p:nvPr/>
        </p:nvSpPr>
        <p:spPr bwMode="auto">
          <a:xfrm>
            <a:off x="6110288" y="4270375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Freeform 54"/>
          <p:cNvSpPr>
            <a:spLocks/>
          </p:cNvSpPr>
          <p:nvPr/>
        </p:nvSpPr>
        <p:spPr bwMode="auto">
          <a:xfrm>
            <a:off x="6110288" y="5172075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Freeform 58"/>
          <p:cNvSpPr>
            <a:spLocks/>
          </p:cNvSpPr>
          <p:nvPr/>
        </p:nvSpPr>
        <p:spPr bwMode="auto">
          <a:xfrm>
            <a:off x="6110288" y="2471738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Freeform 60"/>
          <p:cNvSpPr>
            <a:spLocks/>
          </p:cNvSpPr>
          <p:nvPr/>
        </p:nvSpPr>
        <p:spPr bwMode="auto">
          <a:xfrm>
            <a:off x="6121400" y="6108700"/>
            <a:ext cx="1201738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" name="Freeform 62"/>
          <p:cNvSpPr>
            <a:spLocks/>
          </p:cNvSpPr>
          <p:nvPr/>
        </p:nvSpPr>
        <p:spPr bwMode="auto">
          <a:xfrm>
            <a:off x="4910138" y="3371850"/>
            <a:ext cx="601662" cy="1200150"/>
          </a:xfrm>
          <a:custGeom>
            <a:avLst/>
            <a:gdLst>
              <a:gd name="T0" fmla="*/ 0 w 379"/>
              <a:gd name="T1" fmla="*/ 755 h 756"/>
              <a:gd name="T2" fmla="*/ 0 w 379"/>
              <a:gd name="T3" fmla="*/ 0 h 756"/>
              <a:gd name="T4" fmla="*/ 378 w 379"/>
              <a:gd name="T5" fmla="*/ 0 h 756"/>
              <a:gd name="T6" fmla="*/ 378 w 379"/>
              <a:gd name="T7" fmla="*/ 755 h 756"/>
              <a:gd name="T8" fmla="*/ 0 w 379"/>
              <a:gd name="T9" fmla="*/ 755 h 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9" h="756">
                <a:moveTo>
                  <a:pt x="0" y="755"/>
                </a:moveTo>
                <a:lnTo>
                  <a:pt x="0" y="0"/>
                </a:lnTo>
                <a:lnTo>
                  <a:pt x="378" y="0"/>
                </a:lnTo>
                <a:lnTo>
                  <a:pt x="378" y="755"/>
                </a:lnTo>
                <a:lnTo>
                  <a:pt x="0" y="75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Freeform 63"/>
          <p:cNvSpPr>
            <a:spLocks/>
          </p:cNvSpPr>
          <p:nvPr/>
        </p:nvSpPr>
        <p:spPr bwMode="auto">
          <a:xfrm>
            <a:off x="4910138" y="4570413"/>
            <a:ext cx="601662" cy="1203325"/>
          </a:xfrm>
          <a:custGeom>
            <a:avLst/>
            <a:gdLst>
              <a:gd name="T0" fmla="*/ 0 w 379"/>
              <a:gd name="T1" fmla="*/ 757 h 758"/>
              <a:gd name="T2" fmla="*/ 0 w 379"/>
              <a:gd name="T3" fmla="*/ 0 h 758"/>
              <a:gd name="T4" fmla="*/ 378 w 379"/>
              <a:gd name="T5" fmla="*/ 0 h 758"/>
              <a:gd name="T6" fmla="*/ 378 w 379"/>
              <a:gd name="T7" fmla="*/ 757 h 758"/>
              <a:gd name="T8" fmla="*/ 0 w 379"/>
              <a:gd name="T9" fmla="*/ 757 h 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9" h="758">
                <a:moveTo>
                  <a:pt x="0" y="757"/>
                </a:moveTo>
                <a:lnTo>
                  <a:pt x="0" y="0"/>
                </a:lnTo>
                <a:lnTo>
                  <a:pt x="378" y="0"/>
                </a:lnTo>
                <a:lnTo>
                  <a:pt x="378" y="757"/>
                </a:lnTo>
                <a:lnTo>
                  <a:pt x="0" y="75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" name="Rectangle 64"/>
          <p:cNvSpPr>
            <a:spLocks noChangeArrowheads="1"/>
          </p:cNvSpPr>
          <p:nvPr/>
        </p:nvSpPr>
        <p:spPr bwMode="auto">
          <a:xfrm>
            <a:off x="6678613" y="516572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19*</a:t>
            </a:r>
          </a:p>
        </p:txBody>
      </p:sp>
      <p:sp>
        <p:nvSpPr>
          <p:cNvPr id="76" name="Rectangle 68"/>
          <p:cNvSpPr>
            <a:spLocks noChangeArrowheads="1"/>
          </p:cNvSpPr>
          <p:nvPr/>
        </p:nvSpPr>
        <p:spPr bwMode="auto">
          <a:xfrm>
            <a:off x="4414838" y="3381375"/>
            <a:ext cx="530595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 smtClean="0">
                <a:solidFill>
                  <a:srgbClr val="000000"/>
                </a:solidFill>
                <a:latin typeface="Helvetica" charset="0"/>
              </a:rPr>
              <a:t>0 00</a:t>
            </a:r>
            <a:endParaRPr lang="en-US" sz="1400" b="1" dirty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77" name="Rectangle 69"/>
          <p:cNvSpPr>
            <a:spLocks noChangeArrowheads="1"/>
          </p:cNvSpPr>
          <p:nvPr/>
        </p:nvSpPr>
        <p:spPr bwMode="auto">
          <a:xfrm>
            <a:off x="4414838" y="369252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001</a:t>
            </a:r>
          </a:p>
        </p:txBody>
      </p:sp>
      <p:sp>
        <p:nvSpPr>
          <p:cNvPr id="78" name="Rectangle 70"/>
          <p:cNvSpPr>
            <a:spLocks noChangeArrowheads="1"/>
          </p:cNvSpPr>
          <p:nvPr/>
        </p:nvSpPr>
        <p:spPr bwMode="auto">
          <a:xfrm>
            <a:off x="4405313" y="399256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010</a:t>
            </a:r>
          </a:p>
        </p:txBody>
      </p:sp>
      <p:sp>
        <p:nvSpPr>
          <p:cNvPr id="79" name="Rectangle 71"/>
          <p:cNvSpPr>
            <a:spLocks noChangeArrowheads="1"/>
          </p:cNvSpPr>
          <p:nvPr/>
        </p:nvSpPr>
        <p:spPr bwMode="auto">
          <a:xfrm>
            <a:off x="4405313" y="430530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011</a:t>
            </a:r>
          </a:p>
        </p:txBody>
      </p:sp>
      <p:sp>
        <p:nvSpPr>
          <p:cNvPr id="80" name="Rectangle 72"/>
          <p:cNvSpPr>
            <a:spLocks noChangeArrowheads="1"/>
          </p:cNvSpPr>
          <p:nvPr/>
        </p:nvSpPr>
        <p:spPr bwMode="auto">
          <a:xfrm>
            <a:off x="4394200" y="4592638"/>
            <a:ext cx="530595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 smtClean="0">
                <a:solidFill>
                  <a:srgbClr val="000000"/>
                </a:solidFill>
                <a:latin typeface="Helvetica" charset="0"/>
              </a:rPr>
              <a:t>1 00</a:t>
            </a:r>
            <a:endParaRPr lang="en-US" sz="1400" b="1" dirty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81" name="Rectangle 73"/>
          <p:cNvSpPr>
            <a:spLocks noChangeArrowheads="1"/>
          </p:cNvSpPr>
          <p:nvPr/>
        </p:nvSpPr>
        <p:spPr bwMode="auto">
          <a:xfrm>
            <a:off x="4394200" y="49053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101</a:t>
            </a:r>
          </a:p>
        </p:txBody>
      </p:sp>
      <p:sp>
        <p:nvSpPr>
          <p:cNvPr id="82" name="Rectangle 74"/>
          <p:cNvSpPr>
            <a:spLocks noChangeArrowheads="1"/>
          </p:cNvSpPr>
          <p:nvPr/>
        </p:nvSpPr>
        <p:spPr bwMode="auto">
          <a:xfrm>
            <a:off x="4381500" y="522763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110</a:t>
            </a:r>
          </a:p>
        </p:txBody>
      </p:sp>
      <p:sp>
        <p:nvSpPr>
          <p:cNvPr id="83" name="Rectangle 75"/>
          <p:cNvSpPr>
            <a:spLocks noChangeArrowheads="1"/>
          </p:cNvSpPr>
          <p:nvPr/>
        </p:nvSpPr>
        <p:spPr bwMode="auto">
          <a:xfrm>
            <a:off x="4394200" y="551656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111</a:t>
            </a:r>
          </a:p>
        </p:txBody>
      </p:sp>
      <p:sp>
        <p:nvSpPr>
          <p:cNvPr id="84" name="Rectangle 76"/>
          <p:cNvSpPr>
            <a:spLocks noChangeArrowheads="1"/>
          </p:cNvSpPr>
          <p:nvPr/>
        </p:nvSpPr>
        <p:spPr bwMode="auto">
          <a:xfrm>
            <a:off x="4911725" y="30464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3</a:t>
            </a:r>
          </a:p>
        </p:txBody>
      </p:sp>
      <p:sp>
        <p:nvSpPr>
          <p:cNvPr id="87" name="Rectangle 79"/>
          <p:cNvSpPr>
            <a:spLocks noChangeArrowheads="1"/>
          </p:cNvSpPr>
          <p:nvPr/>
        </p:nvSpPr>
        <p:spPr bwMode="auto">
          <a:xfrm>
            <a:off x="4622800" y="6011863"/>
            <a:ext cx="1268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DIRECTORY</a:t>
            </a:r>
          </a:p>
        </p:txBody>
      </p:sp>
      <p:sp>
        <p:nvSpPr>
          <p:cNvPr id="88" name="Rectangle 80"/>
          <p:cNvSpPr>
            <a:spLocks noChangeArrowheads="1"/>
          </p:cNvSpPr>
          <p:nvPr/>
        </p:nvSpPr>
        <p:spPr bwMode="auto">
          <a:xfrm>
            <a:off x="7361238" y="2478088"/>
            <a:ext cx="887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A</a:t>
            </a:r>
          </a:p>
        </p:txBody>
      </p:sp>
      <p:sp>
        <p:nvSpPr>
          <p:cNvPr id="89" name="Rectangle 81"/>
          <p:cNvSpPr>
            <a:spLocks noChangeArrowheads="1"/>
          </p:cNvSpPr>
          <p:nvPr/>
        </p:nvSpPr>
        <p:spPr bwMode="auto">
          <a:xfrm>
            <a:off x="7373938" y="3390900"/>
            <a:ext cx="8778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B</a:t>
            </a:r>
          </a:p>
        </p:txBody>
      </p:sp>
      <p:sp>
        <p:nvSpPr>
          <p:cNvPr id="90" name="Rectangle 82"/>
          <p:cNvSpPr>
            <a:spLocks noChangeArrowheads="1"/>
          </p:cNvSpPr>
          <p:nvPr/>
        </p:nvSpPr>
        <p:spPr bwMode="auto">
          <a:xfrm>
            <a:off x="7375525" y="4278313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C</a:t>
            </a:r>
          </a:p>
        </p:txBody>
      </p:sp>
      <p:sp>
        <p:nvSpPr>
          <p:cNvPr id="91" name="Rectangle 83"/>
          <p:cNvSpPr>
            <a:spLocks noChangeArrowheads="1"/>
          </p:cNvSpPr>
          <p:nvPr/>
        </p:nvSpPr>
        <p:spPr bwMode="auto">
          <a:xfrm>
            <a:off x="7375525" y="5191125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D</a:t>
            </a:r>
          </a:p>
        </p:txBody>
      </p:sp>
      <p:sp>
        <p:nvSpPr>
          <p:cNvPr id="92" name="Rectangle 84"/>
          <p:cNvSpPr>
            <a:spLocks noChangeArrowheads="1"/>
          </p:cNvSpPr>
          <p:nvPr/>
        </p:nvSpPr>
        <p:spPr bwMode="auto">
          <a:xfrm>
            <a:off x="7375525" y="6091238"/>
            <a:ext cx="9763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A2</a:t>
            </a:r>
          </a:p>
        </p:txBody>
      </p:sp>
      <p:sp>
        <p:nvSpPr>
          <p:cNvPr id="93" name="Rectangle 85"/>
          <p:cNvSpPr>
            <a:spLocks noChangeArrowheads="1"/>
          </p:cNvSpPr>
          <p:nvPr/>
        </p:nvSpPr>
        <p:spPr bwMode="auto">
          <a:xfrm>
            <a:off x="7210425" y="6319838"/>
            <a:ext cx="1279197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(</a:t>
            </a:r>
            <a:r>
              <a:rPr lang="en-US" sz="1400" b="1" i="1" dirty="0">
                <a:solidFill>
                  <a:srgbClr val="0070C0"/>
                </a:solidFill>
                <a:latin typeface="Helvetica" charset="0"/>
              </a:rPr>
              <a:t>`split image'</a:t>
            </a:r>
          </a:p>
        </p:txBody>
      </p:sp>
      <p:sp>
        <p:nvSpPr>
          <p:cNvPr id="94" name="Rectangle 86"/>
          <p:cNvSpPr>
            <a:spLocks noChangeArrowheads="1"/>
          </p:cNvSpPr>
          <p:nvPr/>
        </p:nvSpPr>
        <p:spPr bwMode="auto">
          <a:xfrm>
            <a:off x="7280275" y="6499225"/>
            <a:ext cx="113823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of Bucket A)</a:t>
            </a:r>
          </a:p>
        </p:txBody>
      </p:sp>
      <p:sp>
        <p:nvSpPr>
          <p:cNvPr id="95" name="Rectangle 87"/>
          <p:cNvSpPr>
            <a:spLocks noChangeArrowheads="1"/>
          </p:cNvSpPr>
          <p:nvPr/>
        </p:nvSpPr>
        <p:spPr bwMode="auto">
          <a:xfrm>
            <a:off x="6673850" y="24622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32*</a:t>
            </a:r>
          </a:p>
        </p:txBody>
      </p:sp>
      <p:sp>
        <p:nvSpPr>
          <p:cNvPr id="96" name="Rectangle 88"/>
          <p:cNvSpPr>
            <a:spLocks noChangeArrowheads="1"/>
          </p:cNvSpPr>
          <p:nvPr/>
        </p:nvSpPr>
        <p:spPr bwMode="auto">
          <a:xfrm>
            <a:off x="6103938" y="33639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1*</a:t>
            </a:r>
          </a:p>
        </p:txBody>
      </p:sp>
      <p:sp>
        <p:nvSpPr>
          <p:cNvPr id="97" name="Rectangle 89"/>
          <p:cNvSpPr>
            <a:spLocks noChangeArrowheads="1"/>
          </p:cNvSpPr>
          <p:nvPr/>
        </p:nvSpPr>
        <p:spPr bwMode="auto">
          <a:xfrm>
            <a:off x="6397625" y="33639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5*</a:t>
            </a:r>
          </a:p>
        </p:txBody>
      </p:sp>
      <p:sp>
        <p:nvSpPr>
          <p:cNvPr id="98" name="Rectangle 90"/>
          <p:cNvSpPr>
            <a:spLocks noChangeArrowheads="1"/>
          </p:cNvSpPr>
          <p:nvPr/>
        </p:nvSpPr>
        <p:spPr bwMode="auto">
          <a:xfrm>
            <a:off x="6688138" y="33639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21*</a:t>
            </a:r>
          </a:p>
        </p:txBody>
      </p:sp>
      <p:sp>
        <p:nvSpPr>
          <p:cNvPr id="99" name="Rectangle 91"/>
          <p:cNvSpPr>
            <a:spLocks noChangeArrowheads="1"/>
          </p:cNvSpPr>
          <p:nvPr/>
        </p:nvSpPr>
        <p:spPr bwMode="auto">
          <a:xfrm>
            <a:off x="6977063" y="33639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13*</a:t>
            </a:r>
          </a:p>
        </p:txBody>
      </p:sp>
      <p:sp>
        <p:nvSpPr>
          <p:cNvPr id="100" name="Rectangle 92"/>
          <p:cNvSpPr>
            <a:spLocks noChangeArrowheads="1"/>
          </p:cNvSpPr>
          <p:nvPr/>
        </p:nvSpPr>
        <p:spPr bwMode="auto">
          <a:xfrm>
            <a:off x="6964363" y="246380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16*</a:t>
            </a:r>
          </a:p>
        </p:txBody>
      </p:sp>
      <p:sp>
        <p:nvSpPr>
          <p:cNvPr id="101" name="Rectangle 93"/>
          <p:cNvSpPr>
            <a:spLocks noChangeArrowheads="1"/>
          </p:cNvSpPr>
          <p:nvPr/>
        </p:nvSpPr>
        <p:spPr bwMode="auto">
          <a:xfrm>
            <a:off x="6078538" y="426402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10*</a:t>
            </a:r>
          </a:p>
        </p:txBody>
      </p:sp>
      <p:sp>
        <p:nvSpPr>
          <p:cNvPr id="102" name="Rectangle 94"/>
          <p:cNvSpPr>
            <a:spLocks noChangeArrowheads="1"/>
          </p:cNvSpPr>
          <p:nvPr/>
        </p:nvSpPr>
        <p:spPr bwMode="auto">
          <a:xfrm>
            <a:off x="6078538" y="515143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15*</a:t>
            </a:r>
          </a:p>
        </p:txBody>
      </p:sp>
      <p:sp>
        <p:nvSpPr>
          <p:cNvPr id="103" name="Rectangle 95"/>
          <p:cNvSpPr>
            <a:spLocks noChangeArrowheads="1"/>
          </p:cNvSpPr>
          <p:nvPr/>
        </p:nvSpPr>
        <p:spPr bwMode="auto">
          <a:xfrm>
            <a:off x="6397625" y="5164138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7*</a:t>
            </a:r>
          </a:p>
        </p:txBody>
      </p:sp>
      <p:sp>
        <p:nvSpPr>
          <p:cNvPr id="104" name="Rectangle 96"/>
          <p:cNvSpPr>
            <a:spLocks noChangeArrowheads="1"/>
          </p:cNvSpPr>
          <p:nvPr/>
        </p:nvSpPr>
        <p:spPr bwMode="auto">
          <a:xfrm>
            <a:off x="6115050" y="6099175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4*</a:t>
            </a:r>
          </a:p>
        </p:txBody>
      </p:sp>
      <p:sp>
        <p:nvSpPr>
          <p:cNvPr id="105" name="Rectangle 97"/>
          <p:cNvSpPr>
            <a:spLocks noChangeArrowheads="1"/>
          </p:cNvSpPr>
          <p:nvPr/>
        </p:nvSpPr>
        <p:spPr bwMode="auto">
          <a:xfrm>
            <a:off x="6704013" y="608806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20*</a:t>
            </a:r>
          </a:p>
        </p:txBody>
      </p:sp>
      <p:sp>
        <p:nvSpPr>
          <p:cNvPr id="106" name="Rectangle 98"/>
          <p:cNvSpPr>
            <a:spLocks noChangeArrowheads="1"/>
          </p:cNvSpPr>
          <p:nvPr/>
        </p:nvSpPr>
        <p:spPr bwMode="auto">
          <a:xfrm>
            <a:off x="6403975" y="608488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12*</a:t>
            </a:r>
          </a:p>
        </p:txBody>
      </p:sp>
      <p:sp>
        <p:nvSpPr>
          <p:cNvPr id="107" name="Line 99"/>
          <p:cNvSpPr>
            <a:spLocks noChangeShapeType="1"/>
          </p:cNvSpPr>
          <p:nvPr/>
        </p:nvSpPr>
        <p:spPr bwMode="auto">
          <a:xfrm>
            <a:off x="4911725" y="3619500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Line 100"/>
          <p:cNvSpPr>
            <a:spLocks noChangeShapeType="1"/>
          </p:cNvSpPr>
          <p:nvPr/>
        </p:nvSpPr>
        <p:spPr bwMode="auto">
          <a:xfrm>
            <a:off x="4921250" y="3914775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Line 101"/>
          <p:cNvSpPr>
            <a:spLocks noChangeShapeType="1"/>
          </p:cNvSpPr>
          <p:nvPr/>
        </p:nvSpPr>
        <p:spPr bwMode="auto">
          <a:xfrm>
            <a:off x="4918075" y="4246563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Line 102"/>
          <p:cNvSpPr>
            <a:spLocks noChangeShapeType="1"/>
          </p:cNvSpPr>
          <p:nvPr/>
        </p:nvSpPr>
        <p:spPr bwMode="auto">
          <a:xfrm>
            <a:off x="4938713" y="4875213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Line 103"/>
          <p:cNvSpPr>
            <a:spLocks noChangeShapeType="1"/>
          </p:cNvSpPr>
          <p:nvPr/>
        </p:nvSpPr>
        <p:spPr bwMode="auto">
          <a:xfrm>
            <a:off x="4913313" y="5229225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Line 104"/>
          <p:cNvSpPr>
            <a:spLocks noChangeShapeType="1"/>
          </p:cNvSpPr>
          <p:nvPr/>
        </p:nvSpPr>
        <p:spPr bwMode="auto">
          <a:xfrm>
            <a:off x="4922838" y="5513388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Line 105"/>
          <p:cNvSpPr>
            <a:spLocks noChangeShapeType="1"/>
          </p:cNvSpPr>
          <p:nvPr/>
        </p:nvSpPr>
        <p:spPr bwMode="auto">
          <a:xfrm flipV="1">
            <a:off x="5197475" y="2655888"/>
            <a:ext cx="904875" cy="85725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Line 106"/>
          <p:cNvSpPr>
            <a:spLocks noChangeShapeType="1"/>
          </p:cNvSpPr>
          <p:nvPr/>
        </p:nvSpPr>
        <p:spPr bwMode="auto">
          <a:xfrm flipV="1">
            <a:off x="5197475" y="3548063"/>
            <a:ext cx="917575" cy="2508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Line 107"/>
          <p:cNvSpPr>
            <a:spLocks noChangeShapeType="1"/>
          </p:cNvSpPr>
          <p:nvPr/>
        </p:nvSpPr>
        <p:spPr bwMode="auto">
          <a:xfrm>
            <a:off x="5210175" y="4097338"/>
            <a:ext cx="904875" cy="344487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Line 108"/>
          <p:cNvSpPr>
            <a:spLocks noChangeShapeType="1"/>
          </p:cNvSpPr>
          <p:nvPr/>
        </p:nvSpPr>
        <p:spPr bwMode="auto">
          <a:xfrm>
            <a:off x="5221288" y="4418013"/>
            <a:ext cx="881062" cy="89376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Line 109"/>
          <p:cNvSpPr>
            <a:spLocks noChangeShapeType="1"/>
          </p:cNvSpPr>
          <p:nvPr/>
        </p:nvSpPr>
        <p:spPr bwMode="auto">
          <a:xfrm>
            <a:off x="5138738" y="4679950"/>
            <a:ext cx="987425" cy="156051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Line 110"/>
          <p:cNvSpPr>
            <a:spLocks noChangeShapeType="1"/>
          </p:cNvSpPr>
          <p:nvPr/>
        </p:nvSpPr>
        <p:spPr bwMode="auto">
          <a:xfrm flipV="1">
            <a:off x="5168900" y="3590925"/>
            <a:ext cx="928688" cy="14652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Line 111"/>
          <p:cNvSpPr>
            <a:spLocks noChangeShapeType="1"/>
          </p:cNvSpPr>
          <p:nvPr/>
        </p:nvSpPr>
        <p:spPr bwMode="auto">
          <a:xfrm flipV="1">
            <a:off x="5181600" y="4489450"/>
            <a:ext cx="928688" cy="90487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Line 112"/>
          <p:cNvSpPr>
            <a:spLocks noChangeShapeType="1"/>
          </p:cNvSpPr>
          <p:nvPr/>
        </p:nvSpPr>
        <p:spPr bwMode="auto">
          <a:xfrm flipV="1">
            <a:off x="5181600" y="5341938"/>
            <a:ext cx="928688" cy="30956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Rectangle 123"/>
          <p:cNvSpPr>
            <a:spLocks noChangeArrowheads="1"/>
          </p:cNvSpPr>
          <p:nvPr/>
        </p:nvSpPr>
        <p:spPr bwMode="auto">
          <a:xfrm>
            <a:off x="4191000" y="2560638"/>
            <a:ext cx="14620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Courier New" pitchFamily="49" charset="0"/>
              </a:rPr>
              <a:t>GLOBAL DEPTH</a:t>
            </a:r>
          </a:p>
        </p:txBody>
      </p:sp>
      <p:sp>
        <p:nvSpPr>
          <p:cNvPr id="124" name="Freeform 125"/>
          <p:cNvSpPr>
            <a:spLocks/>
          </p:cNvSpPr>
          <p:nvPr/>
        </p:nvSpPr>
        <p:spPr bwMode="auto">
          <a:xfrm>
            <a:off x="5053013" y="2806700"/>
            <a:ext cx="180975" cy="276225"/>
          </a:xfrm>
          <a:custGeom>
            <a:avLst/>
            <a:gdLst>
              <a:gd name="T0" fmla="*/ 75 w 114"/>
              <a:gd name="T1" fmla="*/ 0 h 174"/>
              <a:gd name="T2" fmla="*/ 113 w 114"/>
              <a:gd name="T3" fmla="*/ 68 h 174"/>
              <a:gd name="T4" fmla="*/ 0 w 114"/>
              <a:gd name="T5" fmla="*/ 38 h 174"/>
              <a:gd name="T6" fmla="*/ 15 w 114"/>
              <a:gd name="T7" fmla="*/ 173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4" h="174">
                <a:moveTo>
                  <a:pt x="75" y="0"/>
                </a:moveTo>
                <a:lnTo>
                  <a:pt x="113" y="68"/>
                </a:lnTo>
                <a:lnTo>
                  <a:pt x="0" y="38"/>
                </a:lnTo>
                <a:lnTo>
                  <a:pt x="15" y="173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4639521" y="3348038"/>
            <a:ext cx="236538" cy="344487"/>
          </a:xfrm>
          <a:prstGeom prst="roundRect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ounded Rectangle 124"/>
          <p:cNvSpPr/>
          <p:nvPr/>
        </p:nvSpPr>
        <p:spPr>
          <a:xfrm>
            <a:off x="4614730" y="4540859"/>
            <a:ext cx="236538" cy="344487"/>
          </a:xfrm>
          <a:prstGeom prst="roundRect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98621" y="3773269"/>
            <a:ext cx="4016805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These two bits indicate a data entry that </a:t>
            </a:r>
            <a:br>
              <a:rPr lang="en-US" dirty="0" smtClean="0"/>
            </a:br>
            <a:r>
              <a:rPr lang="en-US" dirty="0" smtClean="0"/>
              <a:t>belongs to one of these two buckets </a:t>
            </a:r>
            <a:endParaRPr lang="en-US" dirty="0"/>
          </a:p>
        </p:txBody>
      </p:sp>
      <p:cxnSp>
        <p:nvCxnSpPr>
          <p:cNvPr id="19" name="Straight Arrow Connector 18"/>
          <p:cNvCxnSpPr>
            <a:stCxn id="125" idx="0"/>
            <a:endCxn id="9" idx="3"/>
          </p:cNvCxnSpPr>
          <p:nvPr/>
        </p:nvCxnSpPr>
        <p:spPr>
          <a:xfrm flipH="1" flipV="1">
            <a:off x="4215426" y="4096435"/>
            <a:ext cx="517573" cy="444424"/>
          </a:xfrm>
          <a:prstGeom prst="straightConnector1">
            <a:avLst/>
          </a:prstGeom>
          <a:ln w="15875">
            <a:solidFill>
              <a:srgbClr val="0070C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3" idx="0"/>
            <a:endCxn id="9" idx="0"/>
          </p:cNvCxnSpPr>
          <p:nvPr/>
        </p:nvCxnSpPr>
        <p:spPr>
          <a:xfrm flipH="1">
            <a:off x="2207024" y="3348038"/>
            <a:ext cx="2550766" cy="425231"/>
          </a:xfrm>
          <a:prstGeom prst="straightConnector1">
            <a:avLst/>
          </a:prstGeom>
          <a:ln w="15875">
            <a:solidFill>
              <a:srgbClr val="0070C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151865" y="4979084"/>
            <a:ext cx="4115870" cy="64633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The third bit distinguishes between these </a:t>
            </a:r>
            <a:br>
              <a:rPr lang="en-US" dirty="0" smtClean="0"/>
            </a:br>
            <a:r>
              <a:rPr lang="en-US" dirty="0" smtClean="0"/>
              <a:t>two buckets!</a:t>
            </a:r>
            <a:endParaRPr lang="en-US" dirty="0"/>
          </a:p>
        </p:txBody>
      </p:sp>
      <p:sp>
        <p:nvSpPr>
          <p:cNvPr id="128" name="Rounded Rectangle 127"/>
          <p:cNvSpPr/>
          <p:nvPr/>
        </p:nvSpPr>
        <p:spPr>
          <a:xfrm>
            <a:off x="4423384" y="3351220"/>
            <a:ext cx="191476" cy="344487"/>
          </a:xfrm>
          <a:prstGeom prst="roundRect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ounded Rectangle 128"/>
          <p:cNvSpPr/>
          <p:nvPr/>
        </p:nvSpPr>
        <p:spPr>
          <a:xfrm>
            <a:off x="4387114" y="4545378"/>
            <a:ext cx="191476" cy="344487"/>
          </a:xfrm>
          <a:prstGeom prst="roundRect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1" name="Straight Arrow Connector 130"/>
          <p:cNvCxnSpPr>
            <a:stCxn id="128" idx="1"/>
            <a:endCxn id="126" idx="3"/>
          </p:cNvCxnSpPr>
          <p:nvPr/>
        </p:nvCxnSpPr>
        <p:spPr>
          <a:xfrm flipH="1">
            <a:off x="4267735" y="3523464"/>
            <a:ext cx="155649" cy="1778786"/>
          </a:xfrm>
          <a:prstGeom prst="straightConnector1">
            <a:avLst/>
          </a:prstGeom>
          <a:ln w="15875">
            <a:solidFill>
              <a:srgbClr val="00B05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>
            <a:stCxn id="129" idx="1"/>
            <a:endCxn id="126" idx="3"/>
          </p:cNvCxnSpPr>
          <p:nvPr/>
        </p:nvCxnSpPr>
        <p:spPr>
          <a:xfrm flipH="1">
            <a:off x="4267735" y="4717622"/>
            <a:ext cx="119379" cy="584628"/>
          </a:xfrm>
          <a:prstGeom prst="straightConnector1">
            <a:avLst/>
          </a:prstGeom>
          <a:ln w="15875">
            <a:solidFill>
              <a:srgbClr val="00B05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ounded Rectangle 138"/>
          <p:cNvSpPr/>
          <p:nvPr/>
        </p:nvSpPr>
        <p:spPr>
          <a:xfrm>
            <a:off x="685800" y="5865813"/>
            <a:ext cx="3733800" cy="915987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 smtClean="0">
                <a:solidFill>
                  <a:schemeClr val="tx1"/>
                </a:solidFill>
              </a:rPr>
              <a:t>But, is it necessary always to double the directory?</a:t>
            </a:r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588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5" grpId="0" animBg="1"/>
      <p:bldP spid="9" grpId="0" animBg="1"/>
      <p:bldP spid="126" grpId="0" animBg="1"/>
      <p:bldP spid="128" grpId="0" animBg="1"/>
      <p:bldP spid="129" grpId="0" animBg="1"/>
      <p:bldP spid="139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Extendible Hashing: Inserting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Find the appropriate bucket (as in search), split the bucket if full, double the directory if necessary and insert the given entry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Example: insert </a:t>
            </a:r>
            <a:r>
              <a:rPr lang="en-US" sz="2600" dirty="0" smtClean="0">
                <a:solidFill>
                  <a:srgbClr val="FF0000"/>
                </a:solidFill>
              </a:rPr>
              <a:t>9*</a:t>
            </a:r>
            <a:r>
              <a:rPr lang="en-US" sz="2600" dirty="0" smtClean="0"/>
              <a:t> </a:t>
            </a: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  <a:p>
            <a:pPr marL="0" indent="0">
              <a:buNone/>
            </a:pPr>
            <a:endParaRPr lang="en-US" dirty="0" smtClean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1676400" y="4230171"/>
            <a:ext cx="14478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9 = 1</a:t>
            </a:r>
            <a:r>
              <a:rPr lang="en-US" b="1" dirty="0" smtClean="0"/>
              <a:t>001</a:t>
            </a:r>
            <a:endParaRPr lang="en-US" b="1" dirty="0"/>
          </a:p>
        </p:txBody>
      </p:sp>
      <p:sp>
        <p:nvSpPr>
          <p:cNvPr id="52" name="Freeform 51"/>
          <p:cNvSpPr>
            <a:spLocks/>
          </p:cNvSpPr>
          <p:nvPr/>
        </p:nvSpPr>
        <p:spPr bwMode="auto">
          <a:xfrm>
            <a:off x="4910138" y="3071813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Freeform 52"/>
          <p:cNvSpPr>
            <a:spLocks/>
          </p:cNvSpPr>
          <p:nvPr/>
        </p:nvSpPr>
        <p:spPr bwMode="auto">
          <a:xfrm>
            <a:off x="6110288" y="3371850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Freeform 53"/>
          <p:cNvSpPr>
            <a:spLocks/>
          </p:cNvSpPr>
          <p:nvPr/>
        </p:nvSpPr>
        <p:spPr bwMode="auto">
          <a:xfrm>
            <a:off x="6110288" y="4270375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Freeform 54"/>
          <p:cNvSpPr>
            <a:spLocks/>
          </p:cNvSpPr>
          <p:nvPr/>
        </p:nvSpPr>
        <p:spPr bwMode="auto">
          <a:xfrm>
            <a:off x="6110288" y="5172075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Freeform 58"/>
          <p:cNvSpPr>
            <a:spLocks/>
          </p:cNvSpPr>
          <p:nvPr/>
        </p:nvSpPr>
        <p:spPr bwMode="auto">
          <a:xfrm>
            <a:off x="6110288" y="2587625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Freeform 60"/>
          <p:cNvSpPr>
            <a:spLocks/>
          </p:cNvSpPr>
          <p:nvPr/>
        </p:nvSpPr>
        <p:spPr bwMode="auto">
          <a:xfrm>
            <a:off x="6121400" y="6108700"/>
            <a:ext cx="1201738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" name="Freeform 62"/>
          <p:cNvSpPr>
            <a:spLocks/>
          </p:cNvSpPr>
          <p:nvPr/>
        </p:nvSpPr>
        <p:spPr bwMode="auto">
          <a:xfrm>
            <a:off x="4910138" y="3371850"/>
            <a:ext cx="601662" cy="1200150"/>
          </a:xfrm>
          <a:custGeom>
            <a:avLst/>
            <a:gdLst>
              <a:gd name="T0" fmla="*/ 0 w 379"/>
              <a:gd name="T1" fmla="*/ 755 h 756"/>
              <a:gd name="T2" fmla="*/ 0 w 379"/>
              <a:gd name="T3" fmla="*/ 0 h 756"/>
              <a:gd name="T4" fmla="*/ 378 w 379"/>
              <a:gd name="T5" fmla="*/ 0 h 756"/>
              <a:gd name="T6" fmla="*/ 378 w 379"/>
              <a:gd name="T7" fmla="*/ 755 h 756"/>
              <a:gd name="T8" fmla="*/ 0 w 379"/>
              <a:gd name="T9" fmla="*/ 755 h 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9" h="756">
                <a:moveTo>
                  <a:pt x="0" y="755"/>
                </a:moveTo>
                <a:lnTo>
                  <a:pt x="0" y="0"/>
                </a:lnTo>
                <a:lnTo>
                  <a:pt x="378" y="0"/>
                </a:lnTo>
                <a:lnTo>
                  <a:pt x="378" y="755"/>
                </a:lnTo>
                <a:lnTo>
                  <a:pt x="0" y="75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Freeform 63"/>
          <p:cNvSpPr>
            <a:spLocks/>
          </p:cNvSpPr>
          <p:nvPr/>
        </p:nvSpPr>
        <p:spPr bwMode="auto">
          <a:xfrm>
            <a:off x="4910138" y="4570413"/>
            <a:ext cx="601662" cy="1203325"/>
          </a:xfrm>
          <a:custGeom>
            <a:avLst/>
            <a:gdLst>
              <a:gd name="T0" fmla="*/ 0 w 379"/>
              <a:gd name="T1" fmla="*/ 757 h 758"/>
              <a:gd name="T2" fmla="*/ 0 w 379"/>
              <a:gd name="T3" fmla="*/ 0 h 758"/>
              <a:gd name="T4" fmla="*/ 378 w 379"/>
              <a:gd name="T5" fmla="*/ 0 h 758"/>
              <a:gd name="T6" fmla="*/ 378 w 379"/>
              <a:gd name="T7" fmla="*/ 757 h 758"/>
              <a:gd name="T8" fmla="*/ 0 w 379"/>
              <a:gd name="T9" fmla="*/ 757 h 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9" h="758">
                <a:moveTo>
                  <a:pt x="0" y="757"/>
                </a:moveTo>
                <a:lnTo>
                  <a:pt x="0" y="0"/>
                </a:lnTo>
                <a:lnTo>
                  <a:pt x="378" y="0"/>
                </a:lnTo>
                <a:lnTo>
                  <a:pt x="378" y="757"/>
                </a:lnTo>
                <a:lnTo>
                  <a:pt x="0" y="75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" name="Rectangle 64"/>
          <p:cNvSpPr>
            <a:spLocks noChangeArrowheads="1"/>
          </p:cNvSpPr>
          <p:nvPr/>
        </p:nvSpPr>
        <p:spPr bwMode="auto">
          <a:xfrm>
            <a:off x="6678613" y="516572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19*</a:t>
            </a:r>
          </a:p>
        </p:txBody>
      </p:sp>
      <p:sp>
        <p:nvSpPr>
          <p:cNvPr id="76" name="Rectangle 68"/>
          <p:cNvSpPr>
            <a:spLocks noChangeArrowheads="1"/>
          </p:cNvSpPr>
          <p:nvPr/>
        </p:nvSpPr>
        <p:spPr bwMode="auto">
          <a:xfrm>
            <a:off x="4414838" y="33813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000</a:t>
            </a:r>
          </a:p>
        </p:txBody>
      </p:sp>
      <p:sp>
        <p:nvSpPr>
          <p:cNvPr id="77" name="Rectangle 69"/>
          <p:cNvSpPr>
            <a:spLocks noChangeArrowheads="1"/>
          </p:cNvSpPr>
          <p:nvPr/>
        </p:nvSpPr>
        <p:spPr bwMode="auto">
          <a:xfrm>
            <a:off x="4414838" y="369252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001</a:t>
            </a:r>
          </a:p>
        </p:txBody>
      </p:sp>
      <p:sp>
        <p:nvSpPr>
          <p:cNvPr id="78" name="Rectangle 70"/>
          <p:cNvSpPr>
            <a:spLocks noChangeArrowheads="1"/>
          </p:cNvSpPr>
          <p:nvPr/>
        </p:nvSpPr>
        <p:spPr bwMode="auto">
          <a:xfrm>
            <a:off x="4405313" y="399256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010</a:t>
            </a:r>
          </a:p>
        </p:txBody>
      </p:sp>
      <p:sp>
        <p:nvSpPr>
          <p:cNvPr id="79" name="Rectangle 71"/>
          <p:cNvSpPr>
            <a:spLocks noChangeArrowheads="1"/>
          </p:cNvSpPr>
          <p:nvPr/>
        </p:nvSpPr>
        <p:spPr bwMode="auto">
          <a:xfrm>
            <a:off x="4405313" y="430530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011</a:t>
            </a:r>
          </a:p>
        </p:txBody>
      </p:sp>
      <p:sp>
        <p:nvSpPr>
          <p:cNvPr id="80" name="Rectangle 72"/>
          <p:cNvSpPr>
            <a:spLocks noChangeArrowheads="1"/>
          </p:cNvSpPr>
          <p:nvPr/>
        </p:nvSpPr>
        <p:spPr bwMode="auto">
          <a:xfrm>
            <a:off x="4394200" y="459263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100</a:t>
            </a:r>
          </a:p>
        </p:txBody>
      </p:sp>
      <p:sp>
        <p:nvSpPr>
          <p:cNvPr id="81" name="Rectangle 73"/>
          <p:cNvSpPr>
            <a:spLocks noChangeArrowheads="1"/>
          </p:cNvSpPr>
          <p:nvPr/>
        </p:nvSpPr>
        <p:spPr bwMode="auto">
          <a:xfrm>
            <a:off x="4394200" y="49053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101</a:t>
            </a:r>
          </a:p>
        </p:txBody>
      </p:sp>
      <p:sp>
        <p:nvSpPr>
          <p:cNvPr id="82" name="Rectangle 74"/>
          <p:cNvSpPr>
            <a:spLocks noChangeArrowheads="1"/>
          </p:cNvSpPr>
          <p:nvPr/>
        </p:nvSpPr>
        <p:spPr bwMode="auto">
          <a:xfrm>
            <a:off x="4381500" y="522763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110</a:t>
            </a:r>
          </a:p>
        </p:txBody>
      </p:sp>
      <p:sp>
        <p:nvSpPr>
          <p:cNvPr id="83" name="Rectangle 75"/>
          <p:cNvSpPr>
            <a:spLocks noChangeArrowheads="1"/>
          </p:cNvSpPr>
          <p:nvPr/>
        </p:nvSpPr>
        <p:spPr bwMode="auto">
          <a:xfrm>
            <a:off x="4394200" y="551656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111</a:t>
            </a:r>
          </a:p>
        </p:txBody>
      </p:sp>
      <p:sp>
        <p:nvSpPr>
          <p:cNvPr id="84" name="Rectangle 76"/>
          <p:cNvSpPr>
            <a:spLocks noChangeArrowheads="1"/>
          </p:cNvSpPr>
          <p:nvPr/>
        </p:nvSpPr>
        <p:spPr bwMode="auto">
          <a:xfrm>
            <a:off x="4911725" y="30464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3</a:t>
            </a:r>
          </a:p>
        </p:txBody>
      </p:sp>
      <p:sp>
        <p:nvSpPr>
          <p:cNvPr id="87" name="Rectangle 79"/>
          <p:cNvSpPr>
            <a:spLocks noChangeArrowheads="1"/>
          </p:cNvSpPr>
          <p:nvPr/>
        </p:nvSpPr>
        <p:spPr bwMode="auto">
          <a:xfrm>
            <a:off x="4622800" y="6011863"/>
            <a:ext cx="1268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DIRECTORY</a:t>
            </a:r>
          </a:p>
        </p:txBody>
      </p:sp>
      <p:sp>
        <p:nvSpPr>
          <p:cNvPr id="88" name="Rectangle 80"/>
          <p:cNvSpPr>
            <a:spLocks noChangeArrowheads="1"/>
          </p:cNvSpPr>
          <p:nvPr/>
        </p:nvSpPr>
        <p:spPr bwMode="auto">
          <a:xfrm>
            <a:off x="7361238" y="2593975"/>
            <a:ext cx="887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A</a:t>
            </a:r>
          </a:p>
        </p:txBody>
      </p:sp>
      <p:sp>
        <p:nvSpPr>
          <p:cNvPr id="89" name="Rectangle 81"/>
          <p:cNvSpPr>
            <a:spLocks noChangeArrowheads="1"/>
          </p:cNvSpPr>
          <p:nvPr/>
        </p:nvSpPr>
        <p:spPr bwMode="auto">
          <a:xfrm>
            <a:off x="7373938" y="3390900"/>
            <a:ext cx="8778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B</a:t>
            </a:r>
          </a:p>
        </p:txBody>
      </p:sp>
      <p:sp>
        <p:nvSpPr>
          <p:cNvPr id="90" name="Rectangle 82"/>
          <p:cNvSpPr>
            <a:spLocks noChangeArrowheads="1"/>
          </p:cNvSpPr>
          <p:nvPr/>
        </p:nvSpPr>
        <p:spPr bwMode="auto">
          <a:xfrm>
            <a:off x="7375525" y="4278313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C</a:t>
            </a:r>
          </a:p>
        </p:txBody>
      </p:sp>
      <p:sp>
        <p:nvSpPr>
          <p:cNvPr id="91" name="Rectangle 83"/>
          <p:cNvSpPr>
            <a:spLocks noChangeArrowheads="1"/>
          </p:cNvSpPr>
          <p:nvPr/>
        </p:nvSpPr>
        <p:spPr bwMode="auto">
          <a:xfrm>
            <a:off x="7375525" y="5191125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D</a:t>
            </a:r>
          </a:p>
        </p:txBody>
      </p:sp>
      <p:sp>
        <p:nvSpPr>
          <p:cNvPr id="92" name="Rectangle 84"/>
          <p:cNvSpPr>
            <a:spLocks noChangeArrowheads="1"/>
          </p:cNvSpPr>
          <p:nvPr/>
        </p:nvSpPr>
        <p:spPr bwMode="auto">
          <a:xfrm>
            <a:off x="7375525" y="6091238"/>
            <a:ext cx="9763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A2</a:t>
            </a:r>
          </a:p>
        </p:txBody>
      </p:sp>
      <p:sp>
        <p:nvSpPr>
          <p:cNvPr id="93" name="Rectangle 85"/>
          <p:cNvSpPr>
            <a:spLocks noChangeArrowheads="1"/>
          </p:cNvSpPr>
          <p:nvPr/>
        </p:nvSpPr>
        <p:spPr bwMode="auto">
          <a:xfrm>
            <a:off x="7210425" y="6319838"/>
            <a:ext cx="1279197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(</a:t>
            </a:r>
            <a:r>
              <a:rPr lang="en-US" sz="1400" b="1" i="1" dirty="0">
                <a:solidFill>
                  <a:srgbClr val="0070C0"/>
                </a:solidFill>
                <a:latin typeface="Helvetica" charset="0"/>
              </a:rPr>
              <a:t>`split image'</a:t>
            </a:r>
          </a:p>
        </p:txBody>
      </p:sp>
      <p:sp>
        <p:nvSpPr>
          <p:cNvPr id="94" name="Rectangle 86"/>
          <p:cNvSpPr>
            <a:spLocks noChangeArrowheads="1"/>
          </p:cNvSpPr>
          <p:nvPr/>
        </p:nvSpPr>
        <p:spPr bwMode="auto">
          <a:xfrm>
            <a:off x="7280275" y="6499225"/>
            <a:ext cx="113823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of Bucket A)</a:t>
            </a:r>
          </a:p>
        </p:txBody>
      </p:sp>
      <p:sp>
        <p:nvSpPr>
          <p:cNvPr id="95" name="Rectangle 87"/>
          <p:cNvSpPr>
            <a:spLocks noChangeArrowheads="1"/>
          </p:cNvSpPr>
          <p:nvPr/>
        </p:nvSpPr>
        <p:spPr bwMode="auto">
          <a:xfrm>
            <a:off x="6673850" y="257810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32*</a:t>
            </a:r>
          </a:p>
        </p:txBody>
      </p:sp>
      <p:sp>
        <p:nvSpPr>
          <p:cNvPr id="96" name="Rectangle 88"/>
          <p:cNvSpPr>
            <a:spLocks noChangeArrowheads="1"/>
          </p:cNvSpPr>
          <p:nvPr/>
        </p:nvSpPr>
        <p:spPr bwMode="auto">
          <a:xfrm>
            <a:off x="6103938" y="33639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1*</a:t>
            </a:r>
          </a:p>
        </p:txBody>
      </p:sp>
      <p:sp>
        <p:nvSpPr>
          <p:cNvPr id="97" name="Rectangle 89"/>
          <p:cNvSpPr>
            <a:spLocks noChangeArrowheads="1"/>
          </p:cNvSpPr>
          <p:nvPr/>
        </p:nvSpPr>
        <p:spPr bwMode="auto">
          <a:xfrm>
            <a:off x="6397625" y="33639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5*</a:t>
            </a:r>
          </a:p>
        </p:txBody>
      </p:sp>
      <p:sp>
        <p:nvSpPr>
          <p:cNvPr id="98" name="Rectangle 90"/>
          <p:cNvSpPr>
            <a:spLocks noChangeArrowheads="1"/>
          </p:cNvSpPr>
          <p:nvPr/>
        </p:nvSpPr>
        <p:spPr bwMode="auto">
          <a:xfrm>
            <a:off x="6688138" y="33639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21*</a:t>
            </a:r>
          </a:p>
        </p:txBody>
      </p:sp>
      <p:sp>
        <p:nvSpPr>
          <p:cNvPr id="99" name="Rectangle 91"/>
          <p:cNvSpPr>
            <a:spLocks noChangeArrowheads="1"/>
          </p:cNvSpPr>
          <p:nvPr/>
        </p:nvSpPr>
        <p:spPr bwMode="auto">
          <a:xfrm>
            <a:off x="6977063" y="33639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13*</a:t>
            </a:r>
          </a:p>
        </p:txBody>
      </p:sp>
      <p:sp>
        <p:nvSpPr>
          <p:cNvPr id="100" name="Rectangle 92"/>
          <p:cNvSpPr>
            <a:spLocks noChangeArrowheads="1"/>
          </p:cNvSpPr>
          <p:nvPr/>
        </p:nvSpPr>
        <p:spPr bwMode="auto">
          <a:xfrm>
            <a:off x="6964363" y="2579687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16*</a:t>
            </a:r>
          </a:p>
        </p:txBody>
      </p:sp>
      <p:sp>
        <p:nvSpPr>
          <p:cNvPr id="101" name="Rectangle 93"/>
          <p:cNvSpPr>
            <a:spLocks noChangeArrowheads="1"/>
          </p:cNvSpPr>
          <p:nvPr/>
        </p:nvSpPr>
        <p:spPr bwMode="auto">
          <a:xfrm>
            <a:off x="6078538" y="426402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10*</a:t>
            </a:r>
          </a:p>
        </p:txBody>
      </p:sp>
      <p:sp>
        <p:nvSpPr>
          <p:cNvPr id="102" name="Rectangle 94"/>
          <p:cNvSpPr>
            <a:spLocks noChangeArrowheads="1"/>
          </p:cNvSpPr>
          <p:nvPr/>
        </p:nvSpPr>
        <p:spPr bwMode="auto">
          <a:xfrm>
            <a:off x="6078538" y="515143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15*</a:t>
            </a:r>
          </a:p>
        </p:txBody>
      </p:sp>
      <p:sp>
        <p:nvSpPr>
          <p:cNvPr id="103" name="Rectangle 95"/>
          <p:cNvSpPr>
            <a:spLocks noChangeArrowheads="1"/>
          </p:cNvSpPr>
          <p:nvPr/>
        </p:nvSpPr>
        <p:spPr bwMode="auto">
          <a:xfrm>
            <a:off x="6397625" y="5164138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7*</a:t>
            </a:r>
          </a:p>
        </p:txBody>
      </p:sp>
      <p:sp>
        <p:nvSpPr>
          <p:cNvPr id="104" name="Rectangle 96"/>
          <p:cNvSpPr>
            <a:spLocks noChangeArrowheads="1"/>
          </p:cNvSpPr>
          <p:nvPr/>
        </p:nvSpPr>
        <p:spPr bwMode="auto">
          <a:xfrm>
            <a:off x="6115050" y="6099175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4*</a:t>
            </a:r>
          </a:p>
        </p:txBody>
      </p:sp>
      <p:sp>
        <p:nvSpPr>
          <p:cNvPr id="105" name="Rectangle 97"/>
          <p:cNvSpPr>
            <a:spLocks noChangeArrowheads="1"/>
          </p:cNvSpPr>
          <p:nvPr/>
        </p:nvSpPr>
        <p:spPr bwMode="auto">
          <a:xfrm>
            <a:off x="6704013" y="608806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20*</a:t>
            </a:r>
          </a:p>
        </p:txBody>
      </p:sp>
      <p:sp>
        <p:nvSpPr>
          <p:cNvPr id="106" name="Rectangle 98"/>
          <p:cNvSpPr>
            <a:spLocks noChangeArrowheads="1"/>
          </p:cNvSpPr>
          <p:nvPr/>
        </p:nvSpPr>
        <p:spPr bwMode="auto">
          <a:xfrm>
            <a:off x="6403975" y="608488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12*</a:t>
            </a:r>
          </a:p>
        </p:txBody>
      </p:sp>
      <p:sp>
        <p:nvSpPr>
          <p:cNvPr id="107" name="Line 99"/>
          <p:cNvSpPr>
            <a:spLocks noChangeShapeType="1"/>
          </p:cNvSpPr>
          <p:nvPr/>
        </p:nvSpPr>
        <p:spPr bwMode="auto">
          <a:xfrm>
            <a:off x="4911725" y="3619500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Line 100"/>
          <p:cNvSpPr>
            <a:spLocks noChangeShapeType="1"/>
          </p:cNvSpPr>
          <p:nvPr/>
        </p:nvSpPr>
        <p:spPr bwMode="auto">
          <a:xfrm>
            <a:off x="4921250" y="3914775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Line 101"/>
          <p:cNvSpPr>
            <a:spLocks noChangeShapeType="1"/>
          </p:cNvSpPr>
          <p:nvPr/>
        </p:nvSpPr>
        <p:spPr bwMode="auto">
          <a:xfrm>
            <a:off x="4918075" y="4246563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Line 102"/>
          <p:cNvSpPr>
            <a:spLocks noChangeShapeType="1"/>
          </p:cNvSpPr>
          <p:nvPr/>
        </p:nvSpPr>
        <p:spPr bwMode="auto">
          <a:xfrm>
            <a:off x="4938713" y="4875213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Line 103"/>
          <p:cNvSpPr>
            <a:spLocks noChangeShapeType="1"/>
          </p:cNvSpPr>
          <p:nvPr/>
        </p:nvSpPr>
        <p:spPr bwMode="auto">
          <a:xfrm>
            <a:off x="4913313" y="5229225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Line 104"/>
          <p:cNvSpPr>
            <a:spLocks noChangeShapeType="1"/>
          </p:cNvSpPr>
          <p:nvPr/>
        </p:nvSpPr>
        <p:spPr bwMode="auto">
          <a:xfrm>
            <a:off x="4922838" y="5513388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Line 105"/>
          <p:cNvSpPr>
            <a:spLocks noChangeShapeType="1"/>
          </p:cNvSpPr>
          <p:nvPr/>
        </p:nvSpPr>
        <p:spPr bwMode="auto">
          <a:xfrm flipV="1">
            <a:off x="5197475" y="2744786"/>
            <a:ext cx="900113" cy="768351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Line 106"/>
          <p:cNvSpPr>
            <a:spLocks noChangeShapeType="1"/>
          </p:cNvSpPr>
          <p:nvPr/>
        </p:nvSpPr>
        <p:spPr bwMode="auto">
          <a:xfrm flipV="1">
            <a:off x="5197475" y="3548063"/>
            <a:ext cx="917575" cy="2508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Line 107"/>
          <p:cNvSpPr>
            <a:spLocks noChangeShapeType="1"/>
          </p:cNvSpPr>
          <p:nvPr/>
        </p:nvSpPr>
        <p:spPr bwMode="auto">
          <a:xfrm>
            <a:off x="5210175" y="4097338"/>
            <a:ext cx="904875" cy="344487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Line 108"/>
          <p:cNvSpPr>
            <a:spLocks noChangeShapeType="1"/>
          </p:cNvSpPr>
          <p:nvPr/>
        </p:nvSpPr>
        <p:spPr bwMode="auto">
          <a:xfrm>
            <a:off x="5221288" y="4418013"/>
            <a:ext cx="881062" cy="89376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Line 109"/>
          <p:cNvSpPr>
            <a:spLocks noChangeShapeType="1"/>
          </p:cNvSpPr>
          <p:nvPr/>
        </p:nvSpPr>
        <p:spPr bwMode="auto">
          <a:xfrm>
            <a:off x="5138738" y="4679950"/>
            <a:ext cx="987425" cy="156051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Line 110"/>
          <p:cNvSpPr>
            <a:spLocks noChangeShapeType="1"/>
          </p:cNvSpPr>
          <p:nvPr/>
        </p:nvSpPr>
        <p:spPr bwMode="auto">
          <a:xfrm flipV="1">
            <a:off x="5168900" y="3590925"/>
            <a:ext cx="928688" cy="14652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Line 111"/>
          <p:cNvSpPr>
            <a:spLocks noChangeShapeType="1"/>
          </p:cNvSpPr>
          <p:nvPr/>
        </p:nvSpPr>
        <p:spPr bwMode="auto">
          <a:xfrm flipV="1">
            <a:off x="5181600" y="4489450"/>
            <a:ext cx="928688" cy="90487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Line 112"/>
          <p:cNvSpPr>
            <a:spLocks noChangeShapeType="1"/>
          </p:cNvSpPr>
          <p:nvPr/>
        </p:nvSpPr>
        <p:spPr bwMode="auto">
          <a:xfrm flipV="1">
            <a:off x="5181600" y="5341938"/>
            <a:ext cx="928688" cy="30956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Rectangle 123"/>
          <p:cNvSpPr>
            <a:spLocks noChangeArrowheads="1"/>
          </p:cNvSpPr>
          <p:nvPr/>
        </p:nvSpPr>
        <p:spPr bwMode="auto">
          <a:xfrm>
            <a:off x="4191000" y="2560638"/>
            <a:ext cx="14620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Courier New" pitchFamily="49" charset="0"/>
              </a:rPr>
              <a:t>GLOBAL DEPTH</a:t>
            </a:r>
          </a:p>
        </p:txBody>
      </p:sp>
      <p:sp>
        <p:nvSpPr>
          <p:cNvPr id="124" name="Freeform 125"/>
          <p:cNvSpPr>
            <a:spLocks/>
          </p:cNvSpPr>
          <p:nvPr/>
        </p:nvSpPr>
        <p:spPr bwMode="auto">
          <a:xfrm>
            <a:off x="5053013" y="2806700"/>
            <a:ext cx="180975" cy="276225"/>
          </a:xfrm>
          <a:custGeom>
            <a:avLst/>
            <a:gdLst>
              <a:gd name="T0" fmla="*/ 75 w 114"/>
              <a:gd name="T1" fmla="*/ 0 h 174"/>
              <a:gd name="T2" fmla="*/ 113 w 114"/>
              <a:gd name="T3" fmla="*/ 68 h 174"/>
              <a:gd name="T4" fmla="*/ 0 w 114"/>
              <a:gd name="T5" fmla="*/ 38 h 174"/>
              <a:gd name="T6" fmla="*/ 15 w 114"/>
              <a:gd name="T7" fmla="*/ 173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4" h="174">
                <a:moveTo>
                  <a:pt x="75" y="0"/>
                </a:moveTo>
                <a:lnTo>
                  <a:pt x="113" y="68"/>
                </a:lnTo>
                <a:lnTo>
                  <a:pt x="0" y="38"/>
                </a:lnTo>
                <a:lnTo>
                  <a:pt x="15" y="173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5" name="Straight Arrow Connector 4"/>
          <p:cNvCxnSpPr>
            <a:stCxn id="114" idx="0"/>
            <a:endCxn id="114" idx="1"/>
          </p:cNvCxnSpPr>
          <p:nvPr/>
        </p:nvCxnSpPr>
        <p:spPr>
          <a:xfrm flipV="1">
            <a:off x="5197475" y="3548063"/>
            <a:ext cx="917575" cy="25082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883878" y="2925940"/>
            <a:ext cx="2087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FULL, hence, split!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63" name="Straight Arrow Connector 62"/>
          <p:cNvCxnSpPr>
            <a:endCxn id="77" idx="1"/>
          </p:cNvCxnSpPr>
          <p:nvPr/>
        </p:nvCxnSpPr>
        <p:spPr>
          <a:xfrm flipV="1">
            <a:off x="3145446" y="3843338"/>
            <a:ext cx="1269392" cy="571263"/>
          </a:xfrm>
          <a:prstGeom prst="straightConnector1">
            <a:avLst/>
          </a:prstGeom>
          <a:ln w="1587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2432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3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Extendible Hashing: Inserting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Find the appropriate bucket (as in search), split the bucket if full, double the directory if necessary and insert the given entry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Example: insert </a:t>
            </a:r>
            <a:r>
              <a:rPr lang="en-US" sz="2600" dirty="0" smtClean="0">
                <a:solidFill>
                  <a:srgbClr val="FF0000"/>
                </a:solidFill>
              </a:rPr>
              <a:t>9* </a:t>
            </a:r>
            <a:endParaRPr lang="en-US" sz="1800" dirty="0">
              <a:solidFill>
                <a:srgbClr val="FF0000"/>
              </a:solidFill>
            </a:endParaRPr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  <a:p>
            <a:pPr marL="0" indent="0">
              <a:buNone/>
            </a:pPr>
            <a:endParaRPr lang="en-US" dirty="0" smtClean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</p:txBody>
      </p:sp>
      <p:sp>
        <p:nvSpPr>
          <p:cNvPr id="52" name="Freeform 51"/>
          <p:cNvSpPr>
            <a:spLocks/>
          </p:cNvSpPr>
          <p:nvPr/>
        </p:nvSpPr>
        <p:spPr bwMode="auto">
          <a:xfrm>
            <a:off x="4910138" y="3071813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Freeform 52"/>
          <p:cNvSpPr>
            <a:spLocks/>
          </p:cNvSpPr>
          <p:nvPr/>
        </p:nvSpPr>
        <p:spPr bwMode="auto">
          <a:xfrm>
            <a:off x="6110288" y="3371850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Freeform 53"/>
          <p:cNvSpPr>
            <a:spLocks/>
          </p:cNvSpPr>
          <p:nvPr/>
        </p:nvSpPr>
        <p:spPr bwMode="auto">
          <a:xfrm>
            <a:off x="6110288" y="4121150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Freeform 54"/>
          <p:cNvSpPr>
            <a:spLocks/>
          </p:cNvSpPr>
          <p:nvPr/>
        </p:nvSpPr>
        <p:spPr bwMode="auto">
          <a:xfrm>
            <a:off x="6110288" y="4897437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Freeform 58"/>
          <p:cNvSpPr>
            <a:spLocks/>
          </p:cNvSpPr>
          <p:nvPr/>
        </p:nvSpPr>
        <p:spPr bwMode="auto">
          <a:xfrm>
            <a:off x="6110288" y="2587625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Freeform 60"/>
          <p:cNvSpPr>
            <a:spLocks/>
          </p:cNvSpPr>
          <p:nvPr/>
        </p:nvSpPr>
        <p:spPr bwMode="auto">
          <a:xfrm>
            <a:off x="6121400" y="5622924"/>
            <a:ext cx="1201738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" name="Freeform 62"/>
          <p:cNvSpPr>
            <a:spLocks/>
          </p:cNvSpPr>
          <p:nvPr/>
        </p:nvSpPr>
        <p:spPr bwMode="auto">
          <a:xfrm>
            <a:off x="4910138" y="3371850"/>
            <a:ext cx="601662" cy="1200150"/>
          </a:xfrm>
          <a:custGeom>
            <a:avLst/>
            <a:gdLst>
              <a:gd name="T0" fmla="*/ 0 w 379"/>
              <a:gd name="T1" fmla="*/ 755 h 756"/>
              <a:gd name="T2" fmla="*/ 0 w 379"/>
              <a:gd name="T3" fmla="*/ 0 h 756"/>
              <a:gd name="T4" fmla="*/ 378 w 379"/>
              <a:gd name="T5" fmla="*/ 0 h 756"/>
              <a:gd name="T6" fmla="*/ 378 w 379"/>
              <a:gd name="T7" fmla="*/ 755 h 756"/>
              <a:gd name="T8" fmla="*/ 0 w 379"/>
              <a:gd name="T9" fmla="*/ 755 h 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9" h="756">
                <a:moveTo>
                  <a:pt x="0" y="755"/>
                </a:moveTo>
                <a:lnTo>
                  <a:pt x="0" y="0"/>
                </a:lnTo>
                <a:lnTo>
                  <a:pt x="378" y="0"/>
                </a:lnTo>
                <a:lnTo>
                  <a:pt x="378" y="755"/>
                </a:lnTo>
                <a:lnTo>
                  <a:pt x="0" y="75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Freeform 63"/>
          <p:cNvSpPr>
            <a:spLocks/>
          </p:cNvSpPr>
          <p:nvPr/>
        </p:nvSpPr>
        <p:spPr bwMode="auto">
          <a:xfrm>
            <a:off x="4910138" y="4570413"/>
            <a:ext cx="601662" cy="1203325"/>
          </a:xfrm>
          <a:custGeom>
            <a:avLst/>
            <a:gdLst>
              <a:gd name="T0" fmla="*/ 0 w 379"/>
              <a:gd name="T1" fmla="*/ 757 h 758"/>
              <a:gd name="T2" fmla="*/ 0 w 379"/>
              <a:gd name="T3" fmla="*/ 0 h 758"/>
              <a:gd name="T4" fmla="*/ 378 w 379"/>
              <a:gd name="T5" fmla="*/ 0 h 758"/>
              <a:gd name="T6" fmla="*/ 378 w 379"/>
              <a:gd name="T7" fmla="*/ 757 h 758"/>
              <a:gd name="T8" fmla="*/ 0 w 379"/>
              <a:gd name="T9" fmla="*/ 757 h 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9" h="758">
                <a:moveTo>
                  <a:pt x="0" y="757"/>
                </a:moveTo>
                <a:lnTo>
                  <a:pt x="0" y="0"/>
                </a:lnTo>
                <a:lnTo>
                  <a:pt x="378" y="0"/>
                </a:lnTo>
                <a:lnTo>
                  <a:pt x="378" y="757"/>
                </a:lnTo>
                <a:lnTo>
                  <a:pt x="0" y="75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" name="Rectangle 64"/>
          <p:cNvSpPr>
            <a:spLocks noChangeArrowheads="1"/>
          </p:cNvSpPr>
          <p:nvPr/>
        </p:nvSpPr>
        <p:spPr bwMode="auto">
          <a:xfrm>
            <a:off x="6678613" y="4891087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19*</a:t>
            </a:r>
          </a:p>
        </p:txBody>
      </p:sp>
      <p:sp>
        <p:nvSpPr>
          <p:cNvPr id="76" name="Rectangle 68"/>
          <p:cNvSpPr>
            <a:spLocks noChangeArrowheads="1"/>
          </p:cNvSpPr>
          <p:nvPr/>
        </p:nvSpPr>
        <p:spPr bwMode="auto">
          <a:xfrm>
            <a:off x="4414838" y="33813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000</a:t>
            </a:r>
          </a:p>
        </p:txBody>
      </p:sp>
      <p:sp>
        <p:nvSpPr>
          <p:cNvPr id="77" name="Rectangle 69"/>
          <p:cNvSpPr>
            <a:spLocks noChangeArrowheads="1"/>
          </p:cNvSpPr>
          <p:nvPr/>
        </p:nvSpPr>
        <p:spPr bwMode="auto">
          <a:xfrm>
            <a:off x="4414838" y="369252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001</a:t>
            </a:r>
          </a:p>
        </p:txBody>
      </p:sp>
      <p:sp>
        <p:nvSpPr>
          <p:cNvPr id="78" name="Rectangle 70"/>
          <p:cNvSpPr>
            <a:spLocks noChangeArrowheads="1"/>
          </p:cNvSpPr>
          <p:nvPr/>
        </p:nvSpPr>
        <p:spPr bwMode="auto">
          <a:xfrm>
            <a:off x="4405313" y="399256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010</a:t>
            </a:r>
          </a:p>
        </p:txBody>
      </p:sp>
      <p:sp>
        <p:nvSpPr>
          <p:cNvPr id="79" name="Rectangle 71"/>
          <p:cNvSpPr>
            <a:spLocks noChangeArrowheads="1"/>
          </p:cNvSpPr>
          <p:nvPr/>
        </p:nvSpPr>
        <p:spPr bwMode="auto">
          <a:xfrm>
            <a:off x="4405313" y="430530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011</a:t>
            </a:r>
          </a:p>
        </p:txBody>
      </p:sp>
      <p:sp>
        <p:nvSpPr>
          <p:cNvPr id="80" name="Rectangle 72"/>
          <p:cNvSpPr>
            <a:spLocks noChangeArrowheads="1"/>
          </p:cNvSpPr>
          <p:nvPr/>
        </p:nvSpPr>
        <p:spPr bwMode="auto">
          <a:xfrm>
            <a:off x="4394200" y="459263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100</a:t>
            </a:r>
          </a:p>
        </p:txBody>
      </p:sp>
      <p:sp>
        <p:nvSpPr>
          <p:cNvPr id="81" name="Rectangle 73"/>
          <p:cNvSpPr>
            <a:spLocks noChangeArrowheads="1"/>
          </p:cNvSpPr>
          <p:nvPr/>
        </p:nvSpPr>
        <p:spPr bwMode="auto">
          <a:xfrm>
            <a:off x="4394200" y="49053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101</a:t>
            </a:r>
          </a:p>
        </p:txBody>
      </p:sp>
      <p:sp>
        <p:nvSpPr>
          <p:cNvPr id="82" name="Rectangle 74"/>
          <p:cNvSpPr>
            <a:spLocks noChangeArrowheads="1"/>
          </p:cNvSpPr>
          <p:nvPr/>
        </p:nvSpPr>
        <p:spPr bwMode="auto">
          <a:xfrm>
            <a:off x="4381500" y="522763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110</a:t>
            </a:r>
          </a:p>
        </p:txBody>
      </p:sp>
      <p:sp>
        <p:nvSpPr>
          <p:cNvPr id="83" name="Rectangle 75"/>
          <p:cNvSpPr>
            <a:spLocks noChangeArrowheads="1"/>
          </p:cNvSpPr>
          <p:nvPr/>
        </p:nvSpPr>
        <p:spPr bwMode="auto">
          <a:xfrm>
            <a:off x="4394200" y="551656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111</a:t>
            </a:r>
          </a:p>
        </p:txBody>
      </p:sp>
      <p:sp>
        <p:nvSpPr>
          <p:cNvPr id="84" name="Rectangle 76"/>
          <p:cNvSpPr>
            <a:spLocks noChangeArrowheads="1"/>
          </p:cNvSpPr>
          <p:nvPr/>
        </p:nvSpPr>
        <p:spPr bwMode="auto">
          <a:xfrm>
            <a:off x="4911725" y="30464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3</a:t>
            </a:r>
          </a:p>
        </p:txBody>
      </p:sp>
      <p:sp>
        <p:nvSpPr>
          <p:cNvPr id="87" name="Rectangle 79"/>
          <p:cNvSpPr>
            <a:spLocks noChangeArrowheads="1"/>
          </p:cNvSpPr>
          <p:nvPr/>
        </p:nvSpPr>
        <p:spPr bwMode="auto">
          <a:xfrm>
            <a:off x="4622800" y="6011863"/>
            <a:ext cx="1268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DIRECTORY</a:t>
            </a:r>
          </a:p>
        </p:txBody>
      </p:sp>
      <p:sp>
        <p:nvSpPr>
          <p:cNvPr id="88" name="Rectangle 80"/>
          <p:cNvSpPr>
            <a:spLocks noChangeArrowheads="1"/>
          </p:cNvSpPr>
          <p:nvPr/>
        </p:nvSpPr>
        <p:spPr bwMode="auto">
          <a:xfrm>
            <a:off x="7361238" y="2593975"/>
            <a:ext cx="887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A</a:t>
            </a:r>
          </a:p>
        </p:txBody>
      </p:sp>
      <p:sp>
        <p:nvSpPr>
          <p:cNvPr id="89" name="Rectangle 81"/>
          <p:cNvSpPr>
            <a:spLocks noChangeArrowheads="1"/>
          </p:cNvSpPr>
          <p:nvPr/>
        </p:nvSpPr>
        <p:spPr bwMode="auto">
          <a:xfrm>
            <a:off x="7373938" y="3390900"/>
            <a:ext cx="8778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B</a:t>
            </a:r>
          </a:p>
        </p:txBody>
      </p:sp>
      <p:sp>
        <p:nvSpPr>
          <p:cNvPr id="90" name="Rectangle 82"/>
          <p:cNvSpPr>
            <a:spLocks noChangeArrowheads="1"/>
          </p:cNvSpPr>
          <p:nvPr/>
        </p:nvSpPr>
        <p:spPr bwMode="auto">
          <a:xfrm>
            <a:off x="7375525" y="4129088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C</a:t>
            </a:r>
          </a:p>
        </p:txBody>
      </p:sp>
      <p:sp>
        <p:nvSpPr>
          <p:cNvPr id="91" name="Rectangle 83"/>
          <p:cNvSpPr>
            <a:spLocks noChangeArrowheads="1"/>
          </p:cNvSpPr>
          <p:nvPr/>
        </p:nvSpPr>
        <p:spPr bwMode="auto">
          <a:xfrm>
            <a:off x="7375525" y="4916487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D</a:t>
            </a:r>
          </a:p>
        </p:txBody>
      </p:sp>
      <p:sp>
        <p:nvSpPr>
          <p:cNvPr id="92" name="Rectangle 84"/>
          <p:cNvSpPr>
            <a:spLocks noChangeArrowheads="1"/>
          </p:cNvSpPr>
          <p:nvPr/>
        </p:nvSpPr>
        <p:spPr bwMode="auto">
          <a:xfrm>
            <a:off x="7375525" y="5605462"/>
            <a:ext cx="9763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Bucket A2</a:t>
            </a:r>
          </a:p>
        </p:txBody>
      </p:sp>
      <p:sp>
        <p:nvSpPr>
          <p:cNvPr id="93" name="Rectangle 85"/>
          <p:cNvSpPr>
            <a:spLocks noChangeArrowheads="1"/>
          </p:cNvSpPr>
          <p:nvPr/>
        </p:nvSpPr>
        <p:spPr bwMode="auto">
          <a:xfrm>
            <a:off x="7210425" y="5834062"/>
            <a:ext cx="1735797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(</a:t>
            </a:r>
            <a:r>
              <a:rPr lang="en-US" sz="1400" b="1" i="1" dirty="0">
                <a:solidFill>
                  <a:srgbClr val="0070C0"/>
                </a:solidFill>
                <a:latin typeface="Helvetica" charset="0"/>
              </a:rPr>
              <a:t>`split </a:t>
            </a:r>
            <a:r>
              <a:rPr lang="en-US" sz="1400" b="1" i="1" dirty="0" smtClean="0">
                <a:solidFill>
                  <a:srgbClr val="0070C0"/>
                </a:solidFill>
                <a:latin typeface="Helvetica" charset="0"/>
              </a:rPr>
              <a:t>image‘</a:t>
            </a:r>
            <a:r>
              <a:rPr lang="en-US" sz="1400" b="1" dirty="0" smtClean="0">
                <a:solidFill>
                  <a:srgbClr val="000000"/>
                </a:solidFill>
                <a:latin typeface="Helvetica" charset="0"/>
              </a:rPr>
              <a:t> of A)</a:t>
            </a:r>
            <a:endParaRPr lang="en-US" sz="1400" b="1" dirty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95" name="Rectangle 87"/>
          <p:cNvSpPr>
            <a:spLocks noChangeArrowheads="1"/>
          </p:cNvSpPr>
          <p:nvPr/>
        </p:nvSpPr>
        <p:spPr bwMode="auto">
          <a:xfrm>
            <a:off x="6673850" y="257810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32*</a:t>
            </a:r>
          </a:p>
        </p:txBody>
      </p:sp>
      <p:sp>
        <p:nvSpPr>
          <p:cNvPr id="96" name="Rectangle 88"/>
          <p:cNvSpPr>
            <a:spLocks noChangeArrowheads="1"/>
          </p:cNvSpPr>
          <p:nvPr/>
        </p:nvSpPr>
        <p:spPr bwMode="auto">
          <a:xfrm>
            <a:off x="6103938" y="33639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1*</a:t>
            </a:r>
          </a:p>
        </p:txBody>
      </p:sp>
      <p:sp>
        <p:nvSpPr>
          <p:cNvPr id="100" name="Rectangle 92"/>
          <p:cNvSpPr>
            <a:spLocks noChangeArrowheads="1"/>
          </p:cNvSpPr>
          <p:nvPr/>
        </p:nvSpPr>
        <p:spPr bwMode="auto">
          <a:xfrm>
            <a:off x="6964363" y="2579687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16*</a:t>
            </a:r>
          </a:p>
        </p:txBody>
      </p:sp>
      <p:sp>
        <p:nvSpPr>
          <p:cNvPr id="101" name="Rectangle 93"/>
          <p:cNvSpPr>
            <a:spLocks noChangeArrowheads="1"/>
          </p:cNvSpPr>
          <p:nvPr/>
        </p:nvSpPr>
        <p:spPr bwMode="auto">
          <a:xfrm>
            <a:off x="6078538" y="411480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10*</a:t>
            </a:r>
          </a:p>
        </p:txBody>
      </p:sp>
      <p:sp>
        <p:nvSpPr>
          <p:cNvPr id="102" name="Rectangle 94"/>
          <p:cNvSpPr>
            <a:spLocks noChangeArrowheads="1"/>
          </p:cNvSpPr>
          <p:nvPr/>
        </p:nvSpPr>
        <p:spPr bwMode="auto">
          <a:xfrm>
            <a:off x="6078538" y="487680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15*</a:t>
            </a:r>
          </a:p>
        </p:txBody>
      </p:sp>
      <p:sp>
        <p:nvSpPr>
          <p:cNvPr id="103" name="Rectangle 95"/>
          <p:cNvSpPr>
            <a:spLocks noChangeArrowheads="1"/>
          </p:cNvSpPr>
          <p:nvPr/>
        </p:nvSpPr>
        <p:spPr bwMode="auto">
          <a:xfrm>
            <a:off x="6397625" y="488950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7*</a:t>
            </a:r>
          </a:p>
        </p:txBody>
      </p:sp>
      <p:sp>
        <p:nvSpPr>
          <p:cNvPr id="104" name="Rectangle 96"/>
          <p:cNvSpPr>
            <a:spLocks noChangeArrowheads="1"/>
          </p:cNvSpPr>
          <p:nvPr/>
        </p:nvSpPr>
        <p:spPr bwMode="auto">
          <a:xfrm>
            <a:off x="6115050" y="5613399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4*</a:t>
            </a:r>
          </a:p>
        </p:txBody>
      </p:sp>
      <p:sp>
        <p:nvSpPr>
          <p:cNvPr id="105" name="Rectangle 97"/>
          <p:cNvSpPr>
            <a:spLocks noChangeArrowheads="1"/>
          </p:cNvSpPr>
          <p:nvPr/>
        </p:nvSpPr>
        <p:spPr bwMode="auto">
          <a:xfrm>
            <a:off x="6704013" y="5602287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20*</a:t>
            </a:r>
          </a:p>
        </p:txBody>
      </p:sp>
      <p:sp>
        <p:nvSpPr>
          <p:cNvPr id="106" name="Rectangle 98"/>
          <p:cNvSpPr>
            <a:spLocks noChangeArrowheads="1"/>
          </p:cNvSpPr>
          <p:nvPr/>
        </p:nvSpPr>
        <p:spPr bwMode="auto">
          <a:xfrm>
            <a:off x="6403975" y="5599112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12*</a:t>
            </a:r>
          </a:p>
        </p:txBody>
      </p:sp>
      <p:sp>
        <p:nvSpPr>
          <p:cNvPr id="107" name="Line 99"/>
          <p:cNvSpPr>
            <a:spLocks noChangeShapeType="1"/>
          </p:cNvSpPr>
          <p:nvPr/>
        </p:nvSpPr>
        <p:spPr bwMode="auto">
          <a:xfrm>
            <a:off x="4911725" y="3619500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Line 100"/>
          <p:cNvSpPr>
            <a:spLocks noChangeShapeType="1"/>
          </p:cNvSpPr>
          <p:nvPr/>
        </p:nvSpPr>
        <p:spPr bwMode="auto">
          <a:xfrm>
            <a:off x="4921250" y="3914775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Line 101"/>
          <p:cNvSpPr>
            <a:spLocks noChangeShapeType="1"/>
          </p:cNvSpPr>
          <p:nvPr/>
        </p:nvSpPr>
        <p:spPr bwMode="auto">
          <a:xfrm>
            <a:off x="4918075" y="4246563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Line 102"/>
          <p:cNvSpPr>
            <a:spLocks noChangeShapeType="1"/>
          </p:cNvSpPr>
          <p:nvPr/>
        </p:nvSpPr>
        <p:spPr bwMode="auto">
          <a:xfrm>
            <a:off x="4938713" y="4875213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Line 103"/>
          <p:cNvSpPr>
            <a:spLocks noChangeShapeType="1"/>
          </p:cNvSpPr>
          <p:nvPr/>
        </p:nvSpPr>
        <p:spPr bwMode="auto">
          <a:xfrm>
            <a:off x="4913313" y="5229225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Line 104"/>
          <p:cNvSpPr>
            <a:spLocks noChangeShapeType="1"/>
          </p:cNvSpPr>
          <p:nvPr/>
        </p:nvSpPr>
        <p:spPr bwMode="auto">
          <a:xfrm>
            <a:off x="4922838" y="5513388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Line 105"/>
          <p:cNvSpPr>
            <a:spLocks noChangeShapeType="1"/>
          </p:cNvSpPr>
          <p:nvPr/>
        </p:nvSpPr>
        <p:spPr bwMode="auto">
          <a:xfrm flipV="1">
            <a:off x="5197475" y="2744786"/>
            <a:ext cx="900113" cy="768351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Line 106"/>
          <p:cNvSpPr>
            <a:spLocks noChangeShapeType="1"/>
          </p:cNvSpPr>
          <p:nvPr/>
        </p:nvSpPr>
        <p:spPr bwMode="auto">
          <a:xfrm flipV="1">
            <a:off x="5197475" y="3548063"/>
            <a:ext cx="917575" cy="2508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Line 107"/>
          <p:cNvSpPr>
            <a:spLocks noChangeShapeType="1"/>
          </p:cNvSpPr>
          <p:nvPr/>
        </p:nvSpPr>
        <p:spPr bwMode="auto">
          <a:xfrm>
            <a:off x="5210175" y="4097339"/>
            <a:ext cx="900113" cy="18256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Line 108"/>
          <p:cNvSpPr>
            <a:spLocks noChangeShapeType="1"/>
          </p:cNvSpPr>
          <p:nvPr/>
        </p:nvSpPr>
        <p:spPr bwMode="auto">
          <a:xfrm>
            <a:off x="5221287" y="4418013"/>
            <a:ext cx="904875" cy="649286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Line 109"/>
          <p:cNvSpPr>
            <a:spLocks noChangeShapeType="1"/>
          </p:cNvSpPr>
          <p:nvPr/>
        </p:nvSpPr>
        <p:spPr bwMode="auto">
          <a:xfrm>
            <a:off x="5138739" y="4679951"/>
            <a:ext cx="982662" cy="10937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Line 110"/>
          <p:cNvSpPr>
            <a:spLocks noChangeShapeType="1"/>
          </p:cNvSpPr>
          <p:nvPr/>
        </p:nvSpPr>
        <p:spPr bwMode="auto">
          <a:xfrm flipV="1">
            <a:off x="5168900" y="3590925"/>
            <a:ext cx="928688" cy="14652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Line 111"/>
          <p:cNvSpPr>
            <a:spLocks noChangeShapeType="1"/>
          </p:cNvSpPr>
          <p:nvPr/>
        </p:nvSpPr>
        <p:spPr bwMode="auto">
          <a:xfrm flipV="1">
            <a:off x="5181600" y="4323555"/>
            <a:ext cx="928688" cy="1070769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Line 112"/>
          <p:cNvSpPr>
            <a:spLocks noChangeShapeType="1"/>
          </p:cNvSpPr>
          <p:nvPr/>
        </p:nvSpPr>
        <p:spPr bwMode="auto">
          <a:xfrm flipV="1">
            <a:off x="5181600" y="5067298"/>
            <a:ext cx="920750" cy="584201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Rectangle 123"/>
          <p:cNvSpPr>
            <a:spLocks noChangeArrowheads="1"/>
          </p:cNvSpPr>
          <p:nvPr/>
        </p:nvSpPr>
        <p:spPr bwMode="auto">
          <a:xfrm>
            <a:off x="4191000" y="2560638"/>
            <a:ext cx="14620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Courier New" pitchFamily="49" charset="0"/>
              </a:rPr>
              <a:t>GLOBAL DEPTH</a:t>
            </a:r>
          </a:p>
        </p:txBody>
      </p:sp>
      <p:sp>
        <p:nvSpPr>
          <p:cNvPr id="124" name="Freeform 125"/>
          <p:cNvSpPr>
            <a:spLocks/>
          </p:cNvSpPr>
          <p:nvPr/>
        </p:nvSpPr>
        <p:spPr bwMode="auto">
          <a:xfrm>
            <a:off x="5053013" y="2806700"/>
            <a:ext cx="180975" cy="276225"/>
          </a:xfrm>
          <a:custGeom>
            <a:avLst/>
            <a:gdLst>
              <a:gd name="T0" fmla="*/ 75 w 114"/>
              <a:gd name="T1" fmla="*/ 0 h 174"/>
              <a:gd name="T2" fmla="*/ 113 w 114"/>
              <a:gd name="T3" fmla="*/ 68 h 174"/>
              <a:gd name="T4" fmla="*/ 0 w 114"/>
              <a:gd name="T5" fmla="*/ 38 h 174"/>
              <a:gd name="T6" fmla="*/ 15 w 114"/>
              <a:gd name="T7" fmla="*/ 173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4" h="174">
                <a:moveTo>
                  <a:pt x="75" y="0"/>
                </a:moveTo>
                <a:lnTo>
                  <a:pt x="113" y="68"/>
                </a:lnTo>
                <a:lnTo>
                  <a:pt x="0" y="38"/>
                </a:lnTo>
                <a:lnTo>
                  <a:pt x="15" y="173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5" name="Straight Arrow Connector 4"/>
          <p:cNvCxnSpPr>
            <a:stCxn id="114" idx="0"/>
            <a:endCxn id="114" idx="1"/>
          </p:cNvCxnSpPr>
          <p:nvPr/>
        </p:nvCxnSpPr>
        <p:spPr>
          <a:xfrm flipV="1">
            <a:off x="5197475" y="3548063"/>
            <a:ext cx="917575" cy="25082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Freeform 60"/>
          <p:cNvSpPr>
            <a:spLocks/>
          </p:cNvSpPr>
          <p:nvPr/>
        </p:nvSpPr>
        <p:spPr bwMode="auto">
          <a:xfrm>
            <a:off x="6127274" y="6341650"/>
            <a:ext cx="1201738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Rectangle 84"/>
          <p:cNvSpPr>
            <a:spLocks noChangeArrowheads="1"/>
          </p:cNvSpPr>
          <p:nvPr/>
        </p:nvSpPr>
        <p:spPr bwMode="auto">
          <a:xfrm>
            <a:off x="7381399" y="6324188"/>
            <a:ext cx="105798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Bucket </a:t>
            </a:r>
            <a:r>
              <a:rPr lang="en-US" sz="1400" b="1" dirty="0" smtClean="0">
                <a:solidFill>
                  <a:srgbClr val="000000"/>
                </a:solidFill>
                <a:latin typeface="Helvetica" charset="0"/>
              </a:rPr>
              <a:t>B2</a:t>
            </a:r>
            <a:endParaRPr lang="en-US" sz="1400" b="1" dirty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65" name="Rectangle 85"/>
          <p:cNvSpPr>
            <a:spLocks noChangeArrowheads="1"/>
          </p:cNvSpPr>
          <p:nvPr/>
        </p:nvSpPr>
        <p:spPr bwMode="auto">
          <a:xfrm>
            <a:off x="7216299" y="6552788"/>
            <a:ext cx="174246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(</a:t>
            </a:r>
            <a:r>
              <a:rPr lang="en-US" sz="1400" b="1" i="1" dirty="0">
                <a:solidFill>
                  <a:srgbClr val="0070C0"/>
                </a:solidFill>
                <a:latin typeface="Helvetica" charset="0"/>
              </a:rPr>
              <a:t>`split </a:t>
            </a:r>
            <a:r>
              <a:rPr lang="en-US" sz="1400" b="1" i="1" dirty="0" smtClean="0">
                <a:solidFill>
                  <a:srgbClr val="0070C0"/>
                </a:solidFill>
                <a:latin typeface="Helvetica" charset="0"/>
              </a:rPr>
              <a:t>image‘</a:t>
            </a:r>
            <a:r>
              <a:rPr lang="en-US" sz="1400" b="1" dirty="0" smtClean="0">
                <a:solidFill>
                  <a:srgbClr val="000000"/>
                </a:solidFill>
                <a:latin typeface="Helvetica" charset="0"/>
              </a:rPr>
              <a:t> of B)</a:t>
            </a:r>
            <a:endParaRPr lang="en-US" sz="1400" b="1" dirty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75" name="Rectangle 89"/>
          <p:cNvSpPr>
            <a:spLocks noChangeArrowheads="1"/>
          </p:cNvSpPr>
          <p:nvPr/>
        </p:nvSpPr>
        <p:spPr bwMode="auto">
          <a:xfrm>
            <a:off x="6363441" y="6344867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5*</a:t>
            </a:r>
          </a:p>
        </p:txBody>
      </p:sp>
      <p:sp>
        <p:nvSpPr>
          <p:cNvPr id="85" name="Rectangle 90"/>
          <p:cNvSpPr>
            <a:spLocks noChangeArrowheads="1"/>
          </p:cNvSpPr>
          <p:nvPr/>
        </p:nvSpPr>
        <p:spPr bwMode="auto">
          <a:xfrm>
            <a:off x="6653954" y="6344867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21*</a:t>
            </a:r>
          </a:p>
        </p:txBody>
      </p:sp>
      <p:sp>
        <p:nvSpPr>
          <p:cNvPr id="86" name="Rectangle 91"/>
          <p:cNvSpPr>
            <a:spLocks noChangeArrowheads="1"/>
          </p:cNvSpPr>
          <p:nvPr/>
        </p:nvSpPr>
        <p:spPr bwMode="auto">
          <a:xfrm>
            <a:off x="6942879" y="6344867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13*</a:t>
            </a:r>
          </a:p>
        </p:txBody>
      </p:sp>
      <p:sp>
        <p:nvSpPr>
          <p:cNvPr id="121" name="Rectangle 88"/>
          <p:cNvSpPr>
            <a:spLocks noChangeArrowheads="1"/>
          </p:cNvSpPr>
          <p:nvPr/>
        </p:nvSpPr>
        <p:spPr bwMode="auto">
          <a:xfrm>
            <a:off x="6397387" y="3361346"/>
            <a:ext cx="352662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 smtClean="0">
                <a:solidFill>
                  <a:srgbClr val="000000"/>
                </a:solidFill>
                <a:latin typeface="Helvetica" charset="0"/>
              </a:rPr>
              <a:t>9*</a:t>
            </a:r>
            <a:endParaRPr lang="en-US" sz="1400" b="1" dirty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914400" y="5229225"/>
            <a:ext cx="2667000" cy="604837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Almost there…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676400" y="4230171"/>
            <a:ext cx="14478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9 = 1</a:t>
            </a:r>
            <a:r>
              <a:rPr lang="en-US" b="1" dirty="0" smtClean="0"/>
              <a:t>001</a:t>
            </a:r>
            <a:endParaRPr lang="en-US" b="1" dirty="0"/>
          </a:p>
        </p:txBody>
      </p:sp>
      <p:cxnSp>
        <p:nvCxnSpPr>
          <p:cNvPr id="69" name="Straight Arrow Connector 68"/>
          <p:cNvCxnSpPr/>
          <p:nvPr/>
        </p:nvCxnSpPr>
        <p:spPr>
          <a:xfrm flipV="1">
            <a:off x="3145446" y="3843338"/>
            <a:ext cx="1269392" cy="571263"/>
          </a:xfrm>
          <a:prstGeom prst="straightConnector1">
            <a:avLst/>
          </a:prstGeom>
          <a:ln w="1587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6706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Extendible Hashing: Inserting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Find the appropriate bucket (as in search), split the bucket if full, double the directory if necessary and insert the given entry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Example: insert </a:t>
            </a:r>
            <a:r>
              <a:rPr lang="en-US" sz="2600" dirty="0" smtClean="0">
                <a:solidFill>
                  <a:srgbClr val="FF0000"/>
                </a:solidFill>
              </a:rPr>
              <a:t>9*</a:t>
            </a:r>
            <a:r>
              <a:rPr lang="en-US" sz="2600" dirty="0" smtClean="0"/>
              <a:t> </a:t>
            </a: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  <a:p>
            <a:pPr marL="0" indent="0">
              <a:buNone/>
            </a:pPr>
            <a:endParaRPr lang="en-US" dirty="0" smtClean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</p:txBody>
      </p:sp>
      <p:sp>
        <p:nvSpPr>
          <p:cNvPr id="52" name="Freeform 51"/>
          <p:cNvSpPr>
            <a:spLocks/>
          </p:cNvSpPr>
          <p:nvPr/>
        </p:nvSpPr>
        <p:spPr bwMode="auto">
          <a:xfrm>
            <a:off x="4910138" y="3071813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Freeform 52"/>
          <p:cNvSpPr>
            <a:spLocks/>
          </p:cNvSpPr>
          <p:nvPr/>
        </p:nvSpPr>
        <p:spPr bwMode="auto">
          <a:xfrm>
            <a:off x="6110288" y="3371850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Freeform 53"/>
          <p:cNvSpPr>
            <a:spLocks/>
          </p:cNvSpPr>
          <p:nvPr/>
        </p:nvSpPr>
        <p:spPr bwMode="auto">
          <a:xfrm>
            <a:off x="6110288" y="4121150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Freeform 54"/>
          <p:cNvSpPr>
            <a:spLocks/>
          </p:cNvSpPr>
          <p:nvPr/>
        </p:nvSpPr>
        <p:spPr bwMode="auto">
          <a:xfrm>
            <a:off x="6110288" y="4897437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Freeform 58"/>
          <p:cNvSpPr>
            <a:spLocks/>
          </p:cNvSpPr>
          <p:nvPr/>
        </p:nvSpPr>
        <p:spPr bwMode="auto">
          <a:xfrm>
            <a:off x="6110288" y="2587625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Freeform 60"/>
          <p:cNvSpPr>
            <a:spLocks/>
          </p:cNvSpPr>
          <p:nvPr/>
        </p:nvSpPr>
        <p:spPr bwMode="auto">
          <a:xfrm>
            <a:off x="6121400" y="5622924"/>
            <a:ext cx="1201738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" name="Freeform 62"/>
          <p:cNvSpPr>
            <a:spLocks/>
          </p:cNvSpPr>
          <p:nvPr/>
        </p:nvSpPr>
        <p:spPr bwMode="auto">
          <a:xfrm>
            <a:off x="4910138" y="3371850"/>
            <a:ext cx="601662" cy="1200150"/>
          </a:xfrm>
          <a:custGeom>
            <a:avLst/>
            <a:gdLst>
              <a:gd name="T0" fmla="*/ 0 w 379"/>
              <a:gd name="T1" fmla="*/ 755 h 756"/>
              <a:gd name="T2" fmla="*/ 0 w 379"/>
              <a:gd name="T3" fmla="*/ 0 h 756"/>
              <a:gd name="T4" fmla="*/ 378 w 379"/>
              <a:gd name="T5" fmla="*/ 0 h 756"/>
              <a:gd name="T6" fmla="*/ 378 w 379"/>
              <a:gd name="T7" fmla="*/ 755 h 756"/>
              <a:gd name="T8" fmla="*/ 0 w 379"/>
              <a:gd name="T9" fmla="*/ 755 h 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9" h="756">
                <a:moveTo>
                  <a:pt x="0" y="755"/>
                </a:moveTo>
                <a:lnTo>
                  <a:pt x="0" y="0"/>
                </a:lnTo>
                <a:lnTo>
                  <a:pt x="378" y="0"/>
                </a:lnTo>
                <a:lnTo>
                  <a:pt x="378" y="755"/>
                </a:lnTo>
                <a:lnTo>
                  <a:pt x="0" y="75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Freeform 63"/>
          <p:cNvSpPr>
            <a:spLocks/>
          </p:cNvSpPr>
          <p:nvPr/>
        </p:nvSpPr>
        <p:spPr bwMode="auto">
          <a:xfrm>
            <a:off x="4910138" y="4570413"/>
            <a:ext cx="601662" cy="1203325"/>
          </a:xfrm>
          <a:custGeom>
            <a:avLst/>
            <a:gdLst>
              <a:gd name="T0" fmla="*/ 0 w 379"/>
              <a:gd name="T1" fmla="*/ 757 h 758"/>
              <a:gd name="T2" fmla="*/ 0 w 379"/>
              <a:gd name="T3" fmla="*/ 0 h 758"/>
              <a:gd name="T4" fmla="*/ 378 w 379"/>
              <a:gd name="T5" fmla="*/ 0 h 758"/>
              <a:gd name="T6" fmla="*/ 378 w 379"/>
              <a:gd name="T7" fmla="*/ 757 h 758"/>
              <a:gd name="T8" fmla="*/ 0 w 379"/>
              <a:gd name="T9" fmla="*/ 757 h 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9" h="758">
                <a:moveTo>
                  <a:pt x="0" y="757"/>
                </a:moveTo>
                <a:lnTo>
                  <a:pt x="0" y="0"/>
                </a:lnTo>
                <a:lnTo>
                  <a:pt x="378" y="0"/>
                </a:lnTo>
                <a:lnTo>
                  <a:pt x="378" y="757"/>
                </a:lnTo>
                <a:lnTo>
                  <a:pt x="0" y="75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" name="Rectangle 64"/>
          <p:cNvSpPr>
            <a:spLocks noChangeArrowheads="1"/>
          </p:cNvSpPr>
          <p:nvPr/>
        </p:nvSpPr>
        <p:spPr bwMode="auto">
          <a:xfrm>
            <a:off x="6678613" y="4891087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19*</a:t>
            </a:r>
          </a:p>
        </p:txBody>
      </p:sp>
      <p:sp>
        <p:nvSpPr>
          <p:cNvPr id="76" name="Rectangle 68"/>
          <p:cNvSpPr>
            <a:spLocks noChangeArrowheads="1"/>
          </p:cNvSpPr>
          <p:nvPr/>
        </p:nvSpPr>
        <p:spPr bwMode="auto">
          <a:xfrm>
            <a:off x="4414838" y="33813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000</a:t>
            </a:r>
          </a:p>
        </p:txBody>
      </p:sp>
      <p:sp>
        <p:nvSpPr>
          <p:cNvPr id="77" name="Rectangle 69"/>
          <p:cNvSpPr>
            <a:spLocks noChangeArrowheads="1"/>
          </p:cNvSpPr>
          <p:nvPr/>
        </p:nvSpPr>
        <p:spPr bwMode="auto">
          <a:xfrm>
            <a:off x="4414838" y="369252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001</a:t>
            </a:r>
          </a:p>
        </p:txBody>
      </p:sp>
      <p:sp>
        <p:nvSpPr>
          <p:cNvPr id="78" name="Rectangle 70"/>
          <p:cNvSpPr>
            <a:spLocks noChangeArrowheads="1"/>
          </p:cNvSpPr>
          <p:nvPr/>
        </p:nvSpPr>
        <p:spPr bwMode="auto">
          <a:xfrm>
            <a:off x="4405313" y="399256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010</a:t>
            </a:r>
          </a:p>
        </p:txBody>
      </p:sp>
      <p:sp>
        <p:nvSpPr>
          <p:cNvPr id="79" name="Rectangle 71"/>
          <p:cNvSpPr>
            <a:spLocks noChangeArrowheads="1"/>
          </p:cNvSpPr>
          <p:nvPr/>
        </p:nvSpPr>
        <p:spPr bwMode="auto">
          <a:xfrm>
            <a:off x="4405313" y="430530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011</a:t>
            </a:r>
          </a:p>
        </p:txBody>
      </p:sp>
      <p:sp>
        <p:nvSpPr>
          <p:cNvPr id="80" name="Rectangle 72"/>
          <p:cNvSpPr>
            <a:spLocks noChangeArrowheads="1"/>
          </p:cNvSpPr>
          <p:nvPr/>
        </p:nvSpPr>
        <p:spPr bwMode="auto">
          <a:xfrm>
            <a:off x="4394200" y="459263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100</a:t>
            </a:r>
          </a:p>
        </p:txBody>
      </p:sp>
      <p:sp>
        <p:nvSpPr>
          <p:cNvPr id="81" name="Rectangle 73"/>
          <p:cNvSpPr>
            <a:spLocks noChangeArrowheads="1"/>
          </p:cNvSpPr>
          <p:nvPr/>
        </p:nvSpPr>
        <p:spPr bwMode="auto">
          <a:xfrm>
            <a:off x="4394200" y="49053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101</a:t>
            </a:r>
          </a:p>
        </p:txBody>
      </p:sp>
      <p:sp>
        <p:nvSpPr>
          <p:cNvPr id="82" name="Rectangle 74"/>
          <p:cNvSpPr>
            <a:spLocks noChangeArrowheads="1"/>
          </p:cNvSpPr>
          <p:nvPr/>
        </p:nvSpPr>
        <p:spPr bwMode="auto">
          <a:xfrm>
            <a:off x="4381500" y="522763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110</a:t>
            </a:r>
          </a:p>
        </p:txBody>
      </p:sp>
      <p:sp>
        <p:nvSpPr>
          <p:cNvPr id="83" name="Rectangle 75"/>
          <p:cNvSpPr>
            <a:spLocks noChangeArrowheads="1"/>
          </p:cNvSpPr>
          <p:nvPr/>
        </p:nvSpPr>
        <p:spPr bwMode="auto">
          <a:xfrm>
            <a:off x="4394200" y="551656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111</a:t>
            </a:r>
          </a:p>
        </p:txBody>
      </p:sp>
      <p:sp>
        <p:nvSpPr>
          <p:cNvPr id="84" name="Rectangle 76"/>
          <p:cNvSpPr>
            <a:spLocks noChangeArrowheads="1"/>
          </p:cNvSpPr>
          <p:nvPr/>
        </p:nvSpPr>
        <p:spPr bwMode="auto">
          <a:xfrm>
            <a:off x="4911725" y="30464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3</a:t>
            </a:r>
          </a:p>
        </p:txBody>
      </p:sp>
      <p:sp>
        <p:nvSpPr>
          <p:cNvPr id="87" name="Rectangle 79"/>
          <p:cNvSpPr>
            <a:spLocks noChangeArrowheads="1"/>
          </p:cNvSpPr>
          <p:nvPr/>
        </p:nvSpPr>
        <p:spPr bwMode="auto">
          <a:xfrm>
            <a:off x="4622800" y="6011863"/>
            <a:ext cx="1268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DIRECTORY</a:t>
            </a:r>
          </a:p>
        </p:txBody>
      </p:sp>
      <p:sp>
        <p:nvSpPr>
          <p:cNvPr id="88" name="Rectangle 80"/>
          <p:cNvSpPr>
            <a:spLocks noChangeArrowheads="1"/>
          </p:cNvSpPr>
          <p:nvPr/>
        </p:nvSpPr>
        <p:spPr bwMode="auto">
          <a:xfrm>
            <a:off x="7361238" y="2593975"/>
            <a:ext cx="887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A</a:t>
            </a:r>
          </a:p>
        </p:txBody>
      </p:sp>
      <p:sp>
        <p:nvSpPr>
          <p:cNvPr id="89" name="Rectangle 81"/>
          <p:cNvSpPr>
            <a:spLocks noChangeArrowheads="1"/>
          </p:cNvSpPr>
          <p:nvPr/>
        </p:nvSpPr>
        <p:spPr bwMode="auto">
          <a:xfrm>
            <a:off x="7373938" y="3390900"/>
            <a:ext cx="8778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B</a:t>
            </a:r>
          </a:p>
        </p:txBody>
      </p:sp>
      <p:sp>
        <p:nvSpPr>
          <p:cNvPr id="90" name="Rectangle 82"/>
          <p:cNvSpPr>
            <a:spLocks noChangeArrowheads="1"/>
          </p:cNvSpPr>
          <p:nvPr/>
        </p:nvSpPr>
        <p:spPr bwMode="auto">
          <a:xfrm>
            <a:off x="7375525" y="4129088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C</a:t>
            </a:r>
          </a:p>
        </p:txBody>
      </p:sp>
      <p:sp>
        <p:nvSpPr>
          <p:cNvPr id="91" name="Rectangle 83"/>
          <p:cNvSpPr>
            <a:spLocks noChangeArrowheads="1"/>
          </p:cNvSpPr>
          <p:nvPr/>
        </p:nvSpPr>
        <p:spPr bwMode="auto">
          <a:xfrm>
            <a:off x="7375525" y="4916487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D</a:t>
            </a:r>
          </a:p>
        </p:txBody>
      </p:sp>
      <p:sp>
        <p:nvSpPr>
          <p:cNvPr id="92" name="Rectangle 84"/>
          <p:cNvSpPr>
            <a:spLocks noChangeArrowheads="1"/>
          </p:cNvSpPr>
          <p:nvPr/>
        </p:nvSpPr>
        <p:spPr bwMode="auto">
          <a:xfrm>
            <a:off x="7375525" y="5605462"/>
            <a:ext cx="9763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Bucket A2</a:t>
            </a:r>
          </a:p>
        </p:txBody>
      </p:sp>
      <p:sp>
        <p:nvSpPr>
          <p:cNvPr id="93" name="Rectangle 85"/>
          <p:cNvSpPr>
            <a:spLocks noChangeArrowheads="1"/>
          </p:cNvSpPr>
          <p:nvPr/>
        </p:nvSpPr>
        <p:spPr bwMode="auto">
          <a:xfrm>
            <a:off x="7210425" y="5834062"/>
            <a:ext cx="1735797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(</a:t>
            </a:r>
            <a:r>
              <a:rPr lang="en-US" sz="1400" b="1" i="1" dirty="0">
                <a:solidFill>
                  <a:srgbClr val="0070C0"/>
                </a:solidFill>
                <a:latin typeface="Helvetica" charset="0"/>
              </a:rPr>
              <a:t>`split </a:t>
            </a:r>
            <a:r>
              <a:rPr lang="en-US" sz="1400" b="1" i="1" dirty="0" smtClean="0">
                <a:solidFill>
                  <a:srgbClr val="0070C0"/>
                </a:solidFill>
                <a:latin typeface="Helvetica" charset="0"/>
              </a:rPr>
              <a:t>image‘</a:t>
            </a:r>
            <a:r>
              <a:rPr lang="en-US" sz="1400" b="1" dirty="0" smtClean="0">
                <a:solidFill>
                  <a:srgbClr val="000000"/>
                </a:solidFill>
                <a:latin typeface="Helvetica" charset="0"/>
              </a:rPr>
              <a:t> of A)</a:t>
            </a:r>
            <a:endParaRPr lang="en-US" sz="1400" b="1" dirty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95" name="Rectangle 87"/>
          <p:cNvSpPr>
            <a:spLocks noChangeArrowheads="1"/>
          </p:cNvSpPr>
          <p:nvPr/>
        </p:nvSpPr>
        <p:spPr bwMode="auto">
          <a:xfrm>
            <a:off x="6673850" y="257810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32*</a:t>
            </a:r>
          </a:p>
        </p:txBody>
      </p:sp>
      <p:sp>
        <p:nvSpPr>
          <p:cNvPr id="96" name="Rectangle 88"/>
          <p:cNvSpPr>
            <a:spLocks noChangeArrowheads="1"/>
          </p:cNvSpPr>
          <p:nvPr/>
        </p:nvSpPr>
        <p:spPr bwMode="auto">
          <a:xfrm>
            <a:off x="6103938" y="33639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1*</a:t>
            </a:r>
          </a:p>
        </p:txBody>
      </p:sp>
      <p:sp>
        <p:nvSpPr>
          <p:cNvPr id="100" name="Rectangle 92"/>
          <p:cNvSpPr>
            <a:spLocks noChangeArrowheads="1"/>
          </p:cNvSpPr>
          <p:nvPr/>
        </p:nvSpPr>
        <p:spPr bwMode="auto">
          <a:xfrm>
            <a:off x="6964363" y="2579687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16*</a:t>
            </a:r>
          </a:p>
        </p:txBody>
      </p:sp>
      <p:sp>
        <p:nvSpPr>
          <p:cNvPr id="101" name="Rectangle 93"/>
          <p:cNvSpPr>
            <a:spLocks noChangeArrowheads="1"/>
          </p:cNvSpPr>
          <p:nvPr/>
        </p:nvSpPr>
        <p:spPr bwMode="auto">
          <a:xfrm>
            <a:off x="6078538" y="411480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10*</a:t>
            </a:r>
          </a:p>
        </p:txBody>
      </p:sp>
      <p:sp>
        <p:nvSpPr>
          <p:cNvPr id="102" name="Rectangle 94"/>
          <p:cNvSpPr>
            <a:spLocks noChangeArrowheads="1"/>
          </p:cNvSpPr>
          <p:nvPr/>
        </p:nvSpPr>
        <p:spPr bwMode="auto">
          <a:xfrm>
            <a:off x="6078538" y="487680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15*</a:t>
            </a:r>
          </a:p>
        </p:txBody>
      </p:sp>
      <p:sp>
        <p:nvSpPr>
          <p:cNvPr id="103" name="Rectangle 95"/>
          <p:cNvSpPr>
            <a:spLocks noChangeArrowheads="1"/>
          </p:cNvSpPr>
          <p:nvPr/>
        </p:nvSpPr>
        <p:spPr bwMode="auto">
          <a:xfrm>
            <a:off x="6397625" y="488950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7*</a:t>
            </a:r>
          </a:p>
        </p:txBody>
      </p:sp>
      <p:sp>
        <p:nvSpPr>
          <p:cNvPr id="104" name="Rectangle 96"/>
          <p:cNvSpPr>
            <a:spLocks noChangeArrowheads="1"/>
          </p:cNvSpPr>
          <p:nvPr/>
        </p:nvSpPr>
        <p:spPr bwMode="auto">
          <a:xfrm>
            <a:off x="6115050" y="5613399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4*</a:t>
            </a:r>
          </a:p>
        </p:txBody>
      </p:sp>
      <p:sp>
        <p:nvSpPr>
          <p:cNvPr id="105" name="Rectangle 97"/>
          <p:cNvSpPr>
            <a:spLocks noChangeArrowheads="1"/>
          </p:cNvSpPr>
          <p:nvPr/>
        </p:nvSpPr>
        <p:spPr bwMode="auto">
          <a:xfrm>
            <a:off x="6704013" y="5602287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20*</a:t>
            </a:r>
          </a:p>
        </p:txBody>
      </p:sp>
      <p:sp>
        <p:nvSpPr>
          <p:cNvPr id="106" name="Rectangle 98"/>
          <p:cNvSpPr>
            <a:spLocks noChangeArrowheads="1"/>
          </p:cNvSpPr>
          <p:nvPr/>
        </p:nvSpPr>
        <p:spPr bwMode="auto">
          <a:xfrm>
            <a:off x="6403975" y="5599112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12*</a:t>
            </a:r>
          </a:p>
        </p:txBody>
      </p:sp>
      <p:sp>
        <p:nvSpPr>
          <p:cNvPr id="107" name="Line 99"/>
          <p:cNvSpPr>
            <a:spLocks noChangeShapeType="1"/>
          </p:cNvSpPr>
          <p:nvPr/>
        </p:nvSpPr>
        <p:spPr bwMode="auto">
          <a:xfrm>
            <a:off x="4911725" y="3619500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Line 100"/>
          <p:cNvSpPr>
            <a:spLocks noChangeShapeType="1"/>
          </p:cNvSpPr>
          <p:nvPr/>
        </p:nvSpPr>
        <p:spPr bwMode="auto">
          <a:xfrm>
            <a:off x="4921250" y="3914775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Line 101"/>
          <p:cNvSpPr>
            <a:spLocks noChangeShapeType="1"/>
          </p:cNvSpPr>
          <p:nvPr/>
        </p:nvSpPr>
        <p:spPr bwMode="auto">
          <a:xfrm>
            <a:off x="4918075" y="4246563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Line 102"/>
          <p:cNvSpPr>
            <a:spLocks noChangeShapeType="1"/>
          </p:cNvSpPr>
          <p:nvPr/>
        </p:nvSpPr>
        <p:spPr bwMode="auto">
          <a:xfrm>
            <a:off x="4938713" y="4875213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Line 103"/>
          <p:cNvSpPr>
            <a:spLocks noChangeShapeType="1"/>
          </p:cNvSpPr>
          <p:nvPr/>
        </p:nvSpPr>
        <p:spPr bwMode="auto">
          <a:xfrm>
            <a:off x="4913313" y="5229225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Line 104"/>
          <p:cNvSpPr>
            <a:spLocks noChangeShapeType="1"/>
          </p:cNvSpPr>
          <p:nvPr/>
        </p:nvSpPr>
        <p:spPr bwMode="auto">
          <a:xfrm>
            <a:off x="4922838" y="5513388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Line 105"/>
          <p:cNvSpPr>
            <a:spLocks noChangeShapeType="1"/>
          </p:cNvSpPr>
          <p:nvPr/>
        </p:nvSpPr>
        <p:spPr bwMode="auto">
          <a:xfrm flipV="1">
            <a:off x="5197475" y="2744786"/>
            <a:ext cx="912813" cy="768351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Line 106"/>
          <p:cNvSpPr>
            <a:spLocks noChangeShapeType="1"/>
          </p:cNvSpPr>
          <p:nvPr/>
        </p:nvSpPr>
        <p:spPr bwMode="auto">
          <a:xfrm flipV="1">
            <a:off x="5197475" y="3548063"/>
            <a:ext cx="917575" cy="2508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Line 107"/>
          <p:cNvSpPr>
            <a:spLocks noChangeShapeType="1"/>
          </p:cNvSpPr>
          <p:nvPr/>
        </p:nvSpPr>
        <p:spPr bwMode="auto">
          <a:xfrm>
            <a:off x="5210175" y="4097339"/>
            <a:ext cx="900113" cy="18256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Line 108"/>
          <p:cNvSpPr>
            <a:spLocks noChangeShapeType="1"/>
          </p:cNvSpPr>
          <p:nvPr/>
        </p:nvSpPr>
        <p:spPr bwMode="auto">
          <a:xfrm>
            <a:off x="5221287" y="4418013"/>
            <a:ext cx="904875" cy="649286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Line 109"/>
          <p:cNvSpPr>
            <a:spLocks noChangeShapeType="1"/>
          </p:cNvSpPr>
          <p:nvPr/>
        </p:nvSpPr>
        <p:spPr bwMode="auto">
          <a:xfrm>
            <a:off x="5138739" y="4679951"/>
            <a:ext cx="982662" cy="10937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Line 110"/>
          <p:cNvSpPr>
            <a:spLocks noChangeShapeType="1"/>
          </p:cNvSpPr>
          <p:nvPr/>
        </p:nvSpPr>
        <p:spPr bwMode="auto">
          <a:xfrm>
            <a:off x="5168900" y="5056187"/>
            <a:ext cx="958374" cy="1439491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Line 111"/>
          <p:cNvSpPr>
            <a:spLocks noChangeShapeType="1"/>
          </p:cNvSpPr>
          <p:nvPr/>
        </p:nvSpPr>
        <p:spPr bwMode="auto">
          <a:xfrm flipV="1">
            <a:off x="5181600" y="4323555"/>
            <a:ext cx="928688" cy="1070769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Line 112"/>
          <p:cNvSpPr>
            <a:spLocks noChangeShapeType="1"/>
          </p:cNvSpPr>
          <p:nvPr/>
        </p:nvSpPr>
        <p:spPr bwMode="auto">
          <a:xfrm flipV="1">
            <a:off x="5181600" y="5067298"/>
            <a:ext cx="920750" cy="584201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Rectangle 123"/>
          <p:cNvSpPr>
            <a:spLocks noChangeArrowheads="1"/>
          </p:cNvSpPr>
          <p:nvPr/>
        </p:nvSpPr>
        <p:spPr bwMode="auto">
          <a:xfrm>
            <a:off x="4191000" y="2560638"/>
            <a:ext cx="14620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Courier New" pitchFamily="49" charset="0"/>
              </a:rPr>
              <a:t>GLOBAL DEPTH</a:t>
            </a:r>
          </a:p>
        </p:txBody>
      </p:sp>
      <p:sp>
        <p:nvSpPr>
          <p:cNvPr id="124" name="Freeform 125"/>
          <p:cNvSpPr>
            <a:spLocks/>
          </p:cNvSpPr>
          <p:nvPr/>
        </p:nvSpPr>
        <p:spPr bwMode="auto">
          <a:xfrm>
            <a:off x="5053013" y="2806700"/>
            <a:ext cx="180975" cy="276225"/>
          </a:xfrm>
          <a:custGeom>
            <a:avLst/>
            <a:gdLst>
              <a:gd name="T0" fmla="*/ 75 w 114"/>
              <a:gd name="T1" fmla="*/ 0 h 174"/>
              <a:gd name="T2" fmla="*/ 113 w 114"/>
              <a:gd name="T3" fmla="*/ 68 h 174"/>
              <a:gd name="T4" fmla="*/ 0 w 114"/>
              <a:gd name="T5" fmla="*/ 38 h 174"/>
              <a:gd name="T6" fmla="*/ 15 w 114"/>
              <a:gd name="T7" fmla="*/ 173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4" h="174">
                <a:moveTo>
                  <a:pt x="75" y="0"/>
                </a:moveTo>
                <a:lnTo>
                  <a:pt x="113" y="68"/>
                </a:lnTo>
                <a:lnTo>
                  <a:pt x="0" y="38"/>
                </a:lnTo>
                <a:lnTo>
                  <a:pt x="15" y="173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5" name="Straight Arrow Connector 4"/>
          <p:cNvCxnSpPr>
            <a:stCxn id="114" idx="0"/>
            <a:endCxn id="114" idx="1"/>
          </p:cNvCxnSpPr>
          <p:nvPr/>
        </p:nvCxnSpPr>
        <p:spPr>
          <a:xfrm flipV="1">
            <a:off x="5197475" y="3548063"/>
            <a:ext cx="917575" cy="25082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Freeform 60"/>
          <p:cNvSpPr>
            <a:spLocks/>
          </p:cNvSpPr>
          <p:nvPr/>
        </p:nvSpPr>
        <p:spPr bwMode="auto">
          <a:xfrm>
            <a:off x="6127274" y="6341650"/>
            <a:ext cx="1201738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Rectangle 84"/>
          <p:cNvSpPr>
            <a:spLocks noChangeArrowheads="1"/>
          </p:cNvSpPr>
          <p:nvPr/>
        </p:nvSpPr>
        <p:spPr bwMode="auto">
          <a:xfrm>
            <a:off x="7381399" y="6324188"/>
            <a:ext cx="9763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Bucket A2</a:t>
            </a:r>
          </a:p>
        </p:txBody>
      </p:sp>
      <p:sp>
        <p:nvSpPr>
          <p:cNvPr id="65" name="Rectangle 85"/>
          <p:cNvSpPr>
            <a:spLocks noChangeArrowheads="1"/>
          </p:cNvSpPr>
          <p:nvPr/>
        </p:nvSpPr>
        <p:spPr bwMode="auto">
          <a:xfrm>
            <a:off x="7216299" y="6552788"/>
            <a:ext cx="1735797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(</a:t>
            </a:r>
            <a:r>
              <a:rPr lang="en-US" sz="1400" b="1" i="1" dirty="0">
                <a:solidFill>
                  <a:srgbClr val="0070C0"/>
                </a:solidFill>
                <a:latin typeface="Helvetica" charset="0"/>
              </a:rPr>
              <a:t>`split </a:t>
            </a:r>
            <a:r>
              <a:rPr lang="en-US" sz="1400" b="1" i="1" dirty="0" smtClean="0">
                <a:solidFill>
                  <a:srgbClr val="0070C0"/>
                </a:solidFill>
                <a:latin typeface="Helvetica" charset="0"/>
              </a:rPr>
              <a:t>image‘</a:t>
            </a:r>
            <a:r>
              <a:rPr lang="en-US" sz="1400" b="1" dirty="0" smtClean="0">
                <a:solidFill>
                  <a:srgbClr val="000000"/>
                </a:solidFill>
                <a:latin typeface="Helvetica" charset="0"/>
              </a:rPr>
              <a:t> of A)</a:t>
            </a:r>
            <a:endParaRPr lang="en-US" sz="1400" b="1" dirty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75" name="Rectangle 89"/>
          <p:cNvSpPr>
            <a:spLocks noChangeArrowheads="1"/>
          </p:cNvSpPr>
          <p:nvPr/>
        </p:nvSpPr>
        <p:spPr bwMode="auto">
          <a:xfrm>
            <a:off x="6363441" y="6344867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5*</a:t>
            </a:r>
          </a:p>
        </p:txBody>
      </p:sp>
      <p:sp>
        <p:nvSpPr>
          <p:cNvPr id="85" name="Rectangle 90"/>
          <p:cNvSpPr>
            <a:spLocks noChangeArrowheads="1"/>
          </p:cNvSpPr>
          <p:nvPr/>
        </p:nvSpPr>
        <p:spPr bwMode="auto">
          <a:xfrm>
            <a:off x="6653954" y="6344867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21*</a:t>
            </a:r>
          </a:p>
        </p:txBody>
      </p:sp>
      <p:sp>
        <p:nvSpPr>
          <p:cNvPr id="86" name="Rectangle 91"/>
          <p:cNvSpPr>
            <a:spLocks noChangeArrowheads="1"/>
          </p:cNvSpPr>
          <p:nvPr/>
        </p:nvSpPr>
        <p:spPr bwMode="auto">
          <a:xfrm>
            <a:off x="6942879" y="6344867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13*</a:t>
            </a:r>
          </a:p>
        </p:txBody>
      </p:sp>
      <p:sp>
        <p:nvSpPr>
          <p:cNvPr id="121" name="Rectangle 88"/>
          <p:cNvSpPr>
            <a:spLocks noChangeArrowheads="1"/>
          </p:cNvSpPr>
          <p:nvPr/>
        </p:nvSpPr>
        <p:spPr bwMode="auto">
          <a:xfrm>
            <a:off x="6397387" y="3361346"/>
            <a:ext cx="352662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 smtClean="0">
                <a:solidFill>
                  <a:srgbClr val="000000"/>
                </a:solidFill>
                <a:latin typeface="Helvetica" charset="0"/>
              </a:rPr>
              <a:t>9*</a:t>
            </a:r>
            <a:endParaRPr lang="en-US" sz="1400" b="1" dirty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609600" y="4724400"/>
            <a:ext cx="3429000" cy="917575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There was no need to double the directory!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609600" y="5791200"/>
            <a:ext cx="3429000" cy="917575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When NOT to double the directory?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676400" y="4230171"/>
            <a:ext cx="14478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9 = 1</a:t>
            </a:r>
            <a:r>
              <a:rPr lang="en-US" b="1" dirty="0" smtClean="0"/>
              <a:t>001</a:t>
            </a:r>
            <a:endParaRPr lang="en-US" b="1" dirty="0"/>
          </a:p>
        </p:txBody>
      </p:sp>
      <p:cxnSp>
        <p:nvCxnSpPr>
          <p:cNvPr id="74" name="Straight Arrow Connector 73"/>
          <p:cNvCxnSpPr/>
          <p:nvPr/>
        </p:nvCxnSpPr>
        <p:spPr>
          <a:xfrm flipV="1">
            <a:off x="3145446" y="3843338"/>
            <a:ext cx="1269392" cy="571263"/>
          </a:xfrm>
          <a:prstGeom prst="straightConnector1">
            <a:avLst/>
          </a:prstGeom>
          <a:ln w="1587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9929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9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Extendible Hashing: Inserting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600" dirty="0"/>
              <a:t>Find the appropriate bucket (as in search), split the bucket if full, double the directory if necessary </a:t>
            </a:r>
            <a:r>
              <a:rPr lang="en-US" sz="2600" dirty="0" smtClean="0"/>
              <a:t>and </a:t>
            </a:r>
            <a:r>
              <a:rPr lang="en-US" sz="2600" dirty="0"/>
              <a:t>insert the given entry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Example: insert </a:t>
            </a:r>
            <a:r>
              <a:rPr lang="en-US" sz="2600" dirty="0" smtClean="0">
                <a:solidFill>
                  <a:srgbClr val="FF0000"/>
                </a:solidFill>
              </a:rPr>
              <a:t>9*</a:t>
            </a:r>
            <a:r>
              <a:rPr lang="en-US" sz="2600" dirty="0" smtClean="0"/>
              <a:t> </a:t>
            </a:r>
            <a:endParaRPr lang="en-US" sz="18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  <a:p>
            <a:pPr marL="0" indent="0">
              <a:buNone/>
            </a:pPr>
            <a:endParaRPr lang="en-US" dirty="0" smtClean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</p:txBody>
      </p:sp>
      <p:sp>
        <p:nvSpPr>
          <p:cNvPr id="52" name="Freeform 51"/>
          <p:cNvSpPr>
            <a:spLocks/>
          </p:cNvSpPr>
          <p:nvPr/>
        </p:nvSpPr>
        <p:spPr bwMode="auto">
          <a:xfrm>
            <a:off x="4910138" y="3071813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Freeform 52"/>
          <p:cNvSpPr>
            <a:spLocks/>
          </p:cNvSpPr>
          <p:nvPr/>
        </p:nvSpPr>
        <p:spPr bwMode="auto">
          <a:xfrm>
            <a:off x="6110288" y="3371850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Freeform 53"/>
          <p:cNvSpPr>
            <a:spLocks/>
          </p:cNvSpPr>
          <p:nvPr/>
        </p:nvSpPr>
        <p:spPr bwMode="auto">
          <a:xfrm>
            <a:off x="6110288" y="4121150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Freeform 54"/>
          <p:cNvSpPr>
            <a:spLocks/>
          </p:cNvSpPr>
          <p:nvPr/>
        </p:nvSpPr>
        <p:spPr bwMode="auto">
          <a:xfrm>
            <a:off x="6110288" y="4897437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Freeform 58"/>
          <p:cNvSpPr>
            <a:spLocks/>
          </p:cNvSpPr>
          <p:nvPr/>
        </p:nvSpPr>
        <p:spPr bwMode="auto">
          <a:xfrm>
            <a:off x="6110288" y="2587625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Freeform 60"/>
          <p:cNvSpPr>
            <a:spLocks/>
          </p:cNvSpPr>
          <p:nvPr/>
        </p:nvSpPr>
        <p:spPr bwMode="auto">
          <a:xfrm>
            <a:off x="6121400" y="5622924"/>
            <a:ext cx="1201738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" name="Freeform 62"/>
          <p:cNvSpPr>
            <a:spLocks/>
          </p:cNvSpPr>
          <p:nvPr/>
        </p:nvSpPr>
        <p:spPr bwMode="auto">
          <a:xfrm>
            <a:off x="4910138" y="3371850"/>
            <a:ext cx="601662" cy="1200150"/>
          </a:xfrm>
          <a:custGeom>
            <a:avLst/>
            <a:gdLst>
              <a:gd name="T0" fmla="*/ 0 w 379"/>
              <a:gd name="T1" fmla="*/ 755 h 756"/>
              <a:gd name="T2" fmla="*/ 0 w 379"/>
              <a:gd name="T3" fmla="*/ 0 h 756"/>
              <a:gd name="T4" fmla="*/ 378 w 379"/>
              <a:gd name="T5" fmla="*/ 0 h 756"/>
              <a:gd name="T6" fmla="*/ 378 w 379"/>
              <a:gd name="T7" fmla="*/ 755 h 756"/>
              <a:gd name="T8" fmla="*/ 0 w 379"/>
              <a:gd name="T9" fmla="*/ 755 h 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9" h="756">
                <a:moveTo>
                  <a:pt x="0" y="755"/>
                </a:moveTo>
                <a:lnTo>
                  <a:pt x="0" y="0"/>
                </a:lnTo>
                <a:lnTo>
                  <a:pt x="378" y="0"/>
                </a:lnTo>
                <a:lnTo>
                  <a:pt x="378" y="755"/>
                </a:lnTo>
                <a:lnTo>
                  <a:pt x="0" y="75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Freeform 63"/>
          <p:cNvSpPr>
            <a:spLocks/>
          </p:cNvSpPr>
          <p:nvPr/>
        </p:nvSpPr>
        <p:spPr bwMode="auto">
          <a:xfrm>
            <a:off x="4910138" y="4570413"/>
            <a:ext cx="601662" cy="1203325"/>
          </a:xfrm>
          <a:custGeom>
            <a:avLst/>
            <a:gdLst>
              <a:gd name="T0" fmla="*/ 0 w 379"/>
              <a:gd name="T1" fmla="*/ 757 h 758"/>
              <a:gd name="T2" fmla="*/ 0 w 379"/>
              <a:gd name="T3" fmla="*/ 0 h 758"/>
              <a:gd name="T4" fmla="*/ 378 w 379"/>
              <a:gd name="T5" fmla="*/ 0 h 758"/>
              <a:gd name="T6" fmla="*/ 378 w 379"/>
              <a:gd name="T7" fmla="*/ 757 h 758"/>
              <a:gd name="T8" fmla="*/ 0 w 379"/>
              <a:gd name="T9" fmla="*/ 757 h 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9" h="758">
                <a:moveTo>
                  <a:pt x="0" y="757"/>
                </a:moveTo>
                <a:lnTo>
                  <a:pt x="0" y="0"/>
                </a:lnTo>
                <a:lnTo>
                  <a:pt x="378" y="0"/>
                </a:lnTo>
                <a:lnTo>
                  <a:pt x="378" y="757"/>
                </a:lnTo>
                <a:lnTo>
                  <a:pt x="0" y="75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" name="Rectangle 64"/>
          <p:cNvSpPr>
            <a:spLocks noChangeArrowheads="1"/>
          </p:cNvSpPr>
          <p:nvPr/>
        </p:nvSpPr>
        <p:spPr bwMode="auto">
          <a:xfrm>
            <a:off x="6678613" y="4891087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19*</a:t>
            </a:r>
          </a:p>
        </p:txBody>
      </p:sp>
      <p:sp>
        <p:nvSpPr>
          <p:cNvPr id="76" name="Rectangle 68"/>
          <p:cNvSpPr>
            <a:spLocks noChangeArrowheads="1"/>
          </p:cNvSpPr>
          <p:nvPr/>
        </p:nvSpPr>
        <p:spPr bwMode="auto">
          <a:xfrm>
            <a:off x="4414838" y="33813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000</a:t>
            </a:r>
          </a:p>
        </p:txBody>
      </p:sp>
      <p:sp>
        <p:nvSpPr>
          <p:cNvPr id="77" name="Rectangle 69"/>
          <p:cNvSpPr>
            <a:spLocks noChangeArrowheads="1"/>
          </p:cNvSpPr>
          <p:nvPr/>
        </p:nvSpPr>
        <p:spPr bwMode="auto">
          <a:xfrm>
            <a:off x="4414838" y="369252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001</a:t>
            </a:r>
          </a:p>
        </p:txBody>
      </p:sp>
      <p:sp>
        <p:nvSpPr>
          <p:cNvPr id="78" name="Rectangle 70"/>
          <p:cNvSpPr>
            <a:spLocks noChangeArrowheads="1"/>
          </p:cNvSpPr>
          <p:nvPr/>
        </p:nvSpPr>
        <p:spPr bwMode="auto">
          <a:xfrm>
            <a:off x="4405313" y="399256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010</a:t>
            </a:r>
          </a:p>
        </p:txBody>
      </p:sp>
      <p:sp>
        <p:nvSpPr>
          <p:cNvPr id="79" name="Rectangle 71"/>
          <p:cNvSpPr>
            <a:spLocks noChangeArrowheads="1"/>
          </p:cNvSpPr>
          <p:nvPr/>
        </p:nvSpPr>
        <p:spPr bwMode="auto">
          <a:xfrm>
            <a:off x="4405313" y="430530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011</a:t>
            </a:r>
          </a:p>
        </p:txBody>
      </p:sp>
      <p:sp>
        <p:nvSpPr>
          <p:cNvPr id="80" name="Rectangle 72"/>
          <p:cNvSpPr>
            <a:spLocks noChangeArrowheads="1"/>
          </p:cNvSpPr>
          <p:nvPr/>
        </p:nvSpPr>
        <p:spPr bwMode="auto">
          <a:xfrm>
            <a:off x="4394200" y="459263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100</a:t>
            </a:r>
          </a:p>
        </p:txBody>
      </p:sp>
      <p:sp>
        <p:nvSpPr>
          <p:cNvPr id="81" name="Rectangle 73"/>
          <p:cNvSpPr>
            <a:spLocks noChangeArrowheads="1"/>
          </p:cNvSpPr>
          <p:nvPr/>
        </p:nvSpPr>
        <p:spPr bwMode="auto">
          <a:xfrm>
            <a:off x="4394200" y="49053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101</a:t>
            </a:r>
          </a:p>
        </p:txBody>
      </p:sp>
      <p:sp>
        <p:nvSpPr>
          <p:cNvPr id="82" name="Rectangle 74"/>
          <p:cNvSpPr>
            <a:spLocks noChangeArrowheads="1"/>
          </p:cNvSpPr>
          <p:nvPr/>
        </p:nvSpPr>
        <p:spPr bwMode="auto">
          <a:xfrm>
            <a:off x="4381500" y="522763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110</a:t>
            </a:r>
          </a:p>
        </p:txBody>
      </p:sp>
      <p:sp>
        <p:nvSpPr>
          <p:cNvPr id="83" name="Rectangle 75"/>
          <p:cNvSpPr>
            <a:spLocks noChangeArrowheads="1"/>
          </p:cNvSpPr>
          <p:nvPr/>
        </p:nvSpPr>
        <p:spPr bwMode="auto">
          <a:xfrm>
            <a:off x="4394200" y="551656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111</a:t>
            </a:r>
          </a:p>
        </p:txBody>
      </p:sp>
      <p:sp>
        <p:nvSpPr>
          <p:cNvPr id="84" name="Rectangle 76"/>
          <p:cNvSpPr>
            <a:spLocks noChangeArrowheads="1"/>
          </p:cNvSpPr>
          <p:nvPr/>
        </p:nvSpPr>
        <p:spPr bwMode="auto">
          <a:xfrm>
            <a:off x="4911725" y="30464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3</a:t>
            </a:r>
          </a:p>
        </p:txBody>
      </p:sp>
      <p:sp>
        <p:nvSpPr>
          <p:cNvPr id="87" name="Rectangle 79"/>
          <p:cNvSpPr>
            <a:spLocks noChangeArrowheads="1"/>
          </p:cNvSpPr>
          <p:nvPr/>
        </p:nvSpPr>
        <p:spPr bwMode="auto">
          <a:xfrm>
            <a:off x="4622800" y="6011863"/>
            <a:ext cx="1268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DIRECTORY</a:t>
            </a:r>
          </a:p>
        </p:txBody>
      </p:sp>
      <p:sp>
        <p:nvSpPr>
          <p:cNvPr id="88" name="Rectangle 80"/>
          <p:cNvSpPr>
            <a:spLocks noChangeArrowheads="1"/>
          </p:cNvSpPr>
          <p:nvPr/>
        </p:nvSpPr>
        <p:spPr bwMode="auto">
          <a:xfrm>
            <a:off x="7361238" y="2593975"/>
            <a:ext cx="887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A</a:t>
            </a:r>
          </a:p>
        </p:txBody>
      </p:sp>
      <p:sp>
        <p:nvSpPr>
          <p:cNvPr id="89" name="Rectangle 81"/>
          <p:cNvSpPr>
            <a:spLocks noChangeArrowheads="1"/>
          </p:cNvSpPr>
          <p:nvPr/>
        </p:nvSpPr>
        <p:spPr bwMode="auto">
          <a:xfrm>
            <a:off x="7373938" y="3390900"/>
            <a:ext cx="8778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B</a:t>
            </a:r>
          </a:p>
        </p:txBody>
      </p:sp>
      <p:sp>
        <p:nvSpPr>
          <p:cNvPr id="90" name="Rectangle 82"/>
          <p:cNvSpPr>
            <a:spLocks noChangeArrowheads="1"/>
          </p:cNvSpPr>
          <p:nvPr/>
        </p:nvSpPr>
        <p:spPr bwMode="auto">
          <a:xfrm>
            <a:off x="7375525" y="4129088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C</a:t>
            </a:r>
          </a:p>
        </p:txBody>
      </p:sp>
      <p:sp>
        <p:nvSpPr>
          <p:cNvPr id="91" name="Rectangle 83"/>
          <p:cNvSpPr>
            <a:spLocks noChangeArrowheads="1"/>
          </p:cNvSpPr>
          <p:nvPr/>
        </p:nvSpPr>
        <p:spPr bwMode="auto">
          <a:xfrm>
            <a:off x="7375525" y="4916487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D</a:t>
            </a:r>
          </a:p>
        </p:txBody>
      </p:sp>
      <p:sp>
        <p:nvSpPr>
          <p:cNvPr id="92" name="Rectangle 84"/>
          <p:cNvSpPr>
            <a:spLocks noChangeArrowheads="1"/>
          </p:cNvSpPr>
          <p:nvPr/>
        </p:nvSpPr>
        <p:spPr bwMode="auto">
          <a:xfrm>
            <a:off x="7375525" y="5605462"/>
            <a:ext cx="9763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Bucket A2</a:t>
            </a:r>
          </a:p>
        </p:txBody>
      </p:sp>
      <p:sp>
        <p:nvSpPr>
          <p:cNvPr id="93" name="Rectangle 85"/>
          <p:cNvSpPr>
            <a:spLocks noChangeArrowheads="1"/>
          </p:cNvSpPr>
          <p:nvPr/>
        </p:nvSpPr>
        <p:spPr bwMode="auto">
          <a:xfrm>
            <a:off x="7210425" y="5834062"/>
            <a:ext cx="1735797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(</a:t>
            </a:r>
            <a:r>
              <a:rPr lang="en-US" sz="1400" b="1" i="1" dirty="0">
                <a:solidFill>
                  <a:srgbClr val="0070C0"/>
                </a:solidFill>
                <a:latin typeface="Helvetica" charset="0"/>
              </a:rPr>
              <a:t>`split </a:t>
            </a:r>
            <a:r>
              <a:rPr lang="en-US" sz="1400" b="1" i="1" dirty="0" smtClean="0">
                <a:solidFill>
                  <a:srgbClr val="0070C0"/>
                </a:solidFill>
                <a:latin typeface="Helvetica" charset="0"/>
              </a:rPr>
              <a:t>image‘</a:t>
            </a:r>
            <a:r>
              <a:rPr lang="en-US" sz="1400" b="1" dirty="0" smtClean="0">
                <a:solidFill>
                  <a:srgbClr val="000000"/>
                </a:solidFill>
                <a:latin typeface="Helvetica" charset="0"/>
              </a:rPr>
              <a:t> of A)</a:t>
            </a:r>
            <a:endParaRPr lang="en-US" sz="1400" b="1" dirty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95" name="Rectangle 87"/>
          <p:cNvSpPr>
            <a:spLocks noChangeArrowheads="1"/>
          </p:cNvSpPr>
          <p:nvPr/>
        </p:nvSpPr>
        <p:spPr bwMode="auto">
          <a:xfrm>
            <a:off x="6673850" y="257810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32*</a:t>
            </a:r>
          </a:p>
        </p:txBody>
      </p:sp>
      <p:sp>
        <p:nvSpPr>
          <p:cNvPr id="96" name="Rectangle 88"/>
          <p:cNvSpPr>
            <a:spLocks noChangeArrowheads="1"/>
          </p:cNvSpPr>
          <p:nvPr/>
        </p:nvSpPr>
        <p:spPr bwMode="auto">
          <a:xfrm>
            <a:off x="6103938" y="33639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1*</a:t>
            </a:r>
          </a:p>
        </p:txBody>
      </p:sp>
      <p:sp>
        <p:nvSpPr>
          <p:cNvPr id="100" name="Rectangle 92"/>
          <p:cNvSpPr>
            <a:spLocks noChangeArrowheads="1"/>
          </p:cNvSpPr>
          <p:nvPr/>
        </p:nvSpPr>
        <p:spPr bwMode="auto">
          <a:xfrm>
            <a:off x="6964363" y="2579687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16*</a:t>
            </a:r>
          </a:p>
        </p:txBody>
      </p:sp>
      <p:sp>
        <p:nvSpPr>
          <p:cNvPr id="101" name="Rectangle 93"/>
          <p:cNvSpPr>
            <a:spLocks noChangeArrowheads="1"/>
          </p:cNvSpPr>
          <p:nvPr/>
        </p:nvSpPr>
        <p:spPr bwMode="auto">
          <a:xfrm>
            <a:off x="6078538" y="411480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10*</a:t>
            </a:r>
          </a:p>
        </p:txBody>
      </p:sp>
      <p:sp>
        <p:nvSpPr>
          <p:cNvPr id="102" name="Rectangle 94"/>
          <p:cNvSpPr>
            <a:spLocks noChangeArrowheads="1"/>
          </p:cNvSpPr>
          <p:nvPr/>
        </p:nvSpPr>
        <p:spPr bwMode="auto">
          <a:xfrm>
            <a:off x="6078538" y="487680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15*</a:t>
            </a:r>
          </a:p>
        </p:txBody>
      </p:sp>
      <p:sp>
        <p:nvSpPr>
          <p:cNvPr id="103" name="Rectangle 95"/>
          <p:cNvSpPr>
            <a:spLocks noChangeArrowheads="1"/>
          </p:cNvSpPr>
          <p:nvPr/>
        </p:nvSpPr>
        <p:spPr bwMode="auto">
          <a:xfrm>
            <a:off x="6397625" y="488950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7*</a:t>
            </a:r>
          </a:p>
        </p:txBody>
      </p:sp>
      <p:sp>
        <p:nvSpPr>
          <p:cNvPr id="104" name="Rectangle 96"/>
          <p:cNvSpPr>
            <a:spLocks noChangeArrowheads="1"/>
          </p:cNvSpPr>
          <p:nvPr/>
        </p:nvSpPr>
        <p:spPr bwMode="auto">
          <a:xfrm>
            <a:off x="6115050" y="5613399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4*</a:t>
            </a:r>
          </a:p>
        </p:txBody>
      </p:sp>
      <p:sp>
        <p:nvSpPr>
          <p:cNvPr id="105" name="Rectangle 97"/>
          <p:cNvSpPr>
            <a:spLocks noChangeArrowheads="1"/>
          </p:cNvSpPr>
          <p:nvPr/>
        </p:nvSpPr>
        <p:spPr bwMode="auto">
          <a:xfrm>
            <a:off x="6704013" y="5602287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20*</a:t>
            </a:r>
          </a:p>
        </p:txBody>
      </p:sp>
      <p:sp>
        <p:nvSpPr>
          <p:cNvPr id="106" name="Rectangle 98"/>
          <p:cNvSpPr>
            <a:spLocks noChangeArrowheads="1"/>
          </p:cNvSpPr>
          <p:nvPr/>
        </p:nvSpPr>
        <p:spPr bwMode="auto">
          <a:xfrm>
            <a:off x="6403975" y="5599112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12*</a:t>
            </a:r>
          </a:p>
        </p:txBody>
      </p:sp>
      <p:sp>
        <p:nvSpPr>
          <p:cNvPr id="107" name="Line 99"/>
          <p:cNvSpPr>
            <a:spLocks noChangeShapeType="1"/>
          </p:cNvSpPr>
          <p:nvPr/>
        </p:nvSpPr>
        <p:spPr bwMode="auto">
          <a:xfrm>
            <a:off x="4911725" y="3619500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Line 100"/>
          <p:cNvSpPr>
            <a:spLocks noChangeShapeType="1"/>
          </p:cNvSpPr>
          <p:nvPr/>
        </p:nvSpPr>
        <p:spPr bwMode="auto">
          <a:xfrm>
            <a:off x="4921250" y="3914775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Line 101"/>
          <p:cNvSpPr>
            <a:spLocks noChangeShapeType="1"/>
          </p:cNvSpPr>
          <p:nvPr/>
        </p:nvSpPr>
        <p:spPr bwMode="auto">
          <a:xfrm>
            <a:off x="4918075" y="4246563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Line 102"/>
          <p:cNvSpPr>
            <a:spLocks noChangeShapeType="1"/>
          </p:cNvSpPr>
          <p:nvPr/>
        </p:nvSpPr>
        <p:spPr bwMode="auto">
          <a:xfrm>
            <a:off x="4938713" y="4875213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Line 103"/>
          <p:cNvSpPr>
            <a:spLocks noChangeShapeType="1"/>
          </p:cNvSpPr>
          <p:nvPr/>
        </p:nvSpPr>
        <p:spPr bwMode="auto">
          <a:xfrm>
            <a:off x="4913313" y="5229225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Line 104"/>
          <p:cNvSpPr>
            <a:spLocks noChangeShapeType="1"/>
          </p:cNvSpPr>
          <p:nvPr/>
        </p:nvSpPr>
        <p:spPr bwMode="auto">
          <a:xfrm>
            <a:off x="4922838" y="5513388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Line 105"/>
          <p:cNvSpPr>
            <a:spLocks noChangeShapeType="1"/>
          </p:cNvSpPr>
          <p:nvPr/>
        </p:nvSpPr>
        <p:spPr bwMode="auto">
          <a:xfrm flipV="1">
            <a:off x="5197475" y="2744786"/>
            <a:ext cx="904875" cy="768351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Line 106"/>
          <p:cNvSpPr>
            <a:spLocks noChangeShapeType="1"/>
          </p:cNvSpPr>
          <p:nvPr/>
        </p:nvSpPr>
        <p:spPr bwMode="auto">
          <a:xfrm flipV="1">
            <a:off x="5197475" y="3548063"/>
            <a:ext cx="917575" cy="2508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Line 107"/>
          <p:cNvSpPr>
            <a:spLocks noChangeShapeType="1"/>
          </p:cNvSpPr>
          <p:nvPr/>
        </p:nvSpPr>
        <p:spPr bwMode="auto">
          <a:xfrm>
            <a:off x="5210175" y="4097339"/>
            <a:ext cx="900113" cy="18256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Line 108"/>
          <p:cNvSpPr>
            <a:spLocks noChangeShapeType="1"/>
          </p:cNvSpPr>
          <p:nvPr/>
        </p:nvSpPr>
        <p:spPr bwMode="auto">
          <a:xfrm>
            <a:off x="5221287" y="4418013"/>
            <a:ext cx="904875" cy="649286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Line 109"/>
          <p:cNvSpPr>
            <a:spLocks noChangeShapeType="1"/>
          </p:cNvSpPr>
          <p:nvPr/>
        </p:nvSpPr>
        <p:spPr bwMode="auto">
          <a:xfrm>
            <a:off x="5138739" y="4679951"/>
            <a:ext cx="982662" cy="10937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Line 110"/>
          <p:cNvSpPr>
            <a:spLocks noChangeShapeType="1"/>
          </p:cNvSpPr>
          <p:nvPr/>
        </p:nvSpPr>
        <p:spPr bwMode="auto">
          <a:xfrm>
            <a:off x="5168900" y="5056187"/>
            <a:ext cx="958374" cy="1439491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Line 111"/>
          <p:cNvSpPr>
            <a:spLocks noChangeShapeType="1"/>
          </p:cNvSpPr>
          <p:nvPr/>
        </p:nvSpPr>
        <p:spPr bwMode="auto">
          <a:xfrm flipV="1">
            <a:off x="5181600" y="4323555"/>
            <a:ext cx="928688" cy="1070769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Line 112"/>
          <p:cNvSpPr>
            <a:spLocks noChangeShapeType="1"/>
          </p:cNvSpPr>
          <p:nvPr/>
        </p:nvSpPr>
        <p:spPr bwMode="auto">
          <a:xfrm flipV="1">
            <a:off x="5181600" y="5067298"/>
            <a:ext cx="920750" cy="584201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Rectangle 123"/>
          <p:cNvSpPr>
            <a:spLocks noChangeArrowheads="1"/>
          </p:cNvSpPr>
          <p:nvPr/>
        </p:nvSpPr>
        <p:spPr bwMode="auto">
          <a:xfrm>
            <a:off x="4191000" y="2560638"/>
            <a:ext cx="14620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Courier New" pitchFamily="49" charset="0"/>
              </a:rPr>
              <a:t>GLOBAL DEPTH</a:t>
            </a:r>
          </a:p>
        </p:txBody>
      </p:sp>
      <p:sp>
        <p:nvSpPr>
          <p:cNvPr id="124" name="Freeform 125"/>
          <p:cNvSpPr>
            <a:spLocks/>
          </p:cNvSpPr>
          <p:nvPr/>
        </p:nvSpPr>
        <p:spPr bwMode="auto">
          <a:xfrm>
            <a:off x="5053013" y="2806700"/>
            <a:ext cx="180975" cy="276225"/>
          </a:xfrm>
          <a:custGeom>
            <a:avLst/>
            <a:gdLst>
              <a:gd name="T0" fmla="*/ 75 w 114"/>
              <a:gd name="T1" fmla="*/ 0 h 174"/>
              <a:gd name="T2" fmla="*/ 113 w 114"/>
              <a:gd name="T3" fmla="*/ 68 h 174"/>
              <a:gd name="T4" fmla="*/ 0 w 114"/>
              <a:gd name="T5" fmla="*/ 38 h 174"/>
              <a:gd name="T6" fmla="*/ 15 w 114"/>
              <a:gd name="T7" fmla="*/ 173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4" h="174">
                <a:moveTo>
                  <a:pt x="75" y="0"/>
                </a:moveTo>
                <a:lnTo>
                  <a:pt x="113" y="68"/>
                </a:lnTo>
                <a:lnTo>
                  <a:pt x="0" y="38"/>
                </a:lnTo>
                <a:lnTo>
                  <a:pt x="15" y="173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5" name="Straight Arrow Connector 4"/>
          <p:cNvCxnSpPr>
            <a:stCxn id="114" idx="0"/>
            <a:endCxn id="114" idx="1"/>
          </p:cNvCxnSpPr>
          <p:nvPr/>
        </p:nvCxnSpPr>
        <p:spPr>
          <a:xfrm flipV="1">
            <a:off x="5197475" y="3548063"/>
            <a:ext cx="917575" cy="25082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Freeform 60"/>
          <p:cNvSpPr>
            <a:spLocks/>
          </p:cNvSpPr>
          <p:nvPr/>
        </p:nvSpPr>
        <p:spPr bwMode="auto">
          <a:xfrm>
            <a:off x="6127274" y="6341650"/>
            <a:ext cx="1201738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Rectangle 84"/>
          <p:cNvSpPr>
            <a:spLocks noChangeArrowheads="1"/>
          </p:cNvSpPr>
          <p:nvPr/>
        </p:nvSpPr>
        <p:spPr bwMode="auto">
          <a:xfrm>
            <a:off x="7381399" y="6324188"/>
            <a:ext cx="9763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Bucket A2</a:t>
            </a:r>
          </a:p>
        </p:txBody>
      </p:sp>
      <p:sp>
        <p:nvSpPr>
          <p:cNvPr id="65" name="Rectangle 85"/>
          <p:cNvSpPr>
            <a:spLocks noChangeArrowheads="1"/>
          </p:cNvSpPr>
          <p:nvPr/>
        </p:nvSpPr>
        <p:spPr bwMode="auto">
          <a:xfrm>
            <a:off x="7216299" y="6552788"/>
            <a:ext cx="1735797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(</a:t>
            </a:r>
            <a:r>
              <a:rPr lang="en-US" sz="1400" b="1" i="1" dirty="0">
                <a:solidFill>
                  <a:srgbClr val="0070C0"/>
                </a:solidFill>
                <a:latin typeface="Helvetica" charset="0"/>
              </a:rPr>
              <a:t>`split </a:t>
            </a:r>
            <a:r>
              <a:rPr lang="en-US" sz="1400" b="1" i="1" dirty="0" smtClean="0">
                <a:solidFill>
                  <a:srgbClr val="0070C0"/>
                </a:solidFill>
                <a:latin typeface="Helvetica" charset="0"/>
              </a:rPr>
              <a:t>image‘</a:t>
            </a:r>
            <a:r>
              <a:rPr lang="en-US" sz="1400" b="1" dirty="0" smtClean="0">
                <a:solidFill>
                  <a:srgbClr val="000000"/>
                </a:solidFill>
                <a:latin typeface="Helvetica" charset="0"/>
              </a:rPr>
              <a:t> of A)</a:t>
            </a:r>
            <a:endParaRPr lang="en-US" sz="1400" b="1" dirty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75" name="Rectangle 89"/>
          <p:cNvSpPr>
            <a:spLocks noChangeArrowheads="1"/>
          </p:cNvSpPr>
          <p:nvPr/>
        </p:nvSpPr>
        <p:spPr bwMode="auto">
          <a:xfrm>
            <a:off x="6363441" y="6344867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5*</a:t>
            </a:r>
          </a:p>
        </p:txBody>
      </p:sp>
      <p:sp>
        <p:nvSpPr>
          <p:cNvPr id="85" name="Rectangle 90"/>
          <p:cNvSpPr>
            <a:spLocks noChangeArrowheads="1"/>
          </p:cNvSpPr>
          <p:nvPr/>
        </p:nvSpPr>
        <p:spPr bwMode="auto">
          <a:xfrm>
            <a:off x="6653954" y="6344867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21*</a:t>
            </a:r>
          </a:p>
        </p:txBody>
      </p:sp>
      <p:sp>
        <p:nvSpPr>
          <p:cNvPr id="86" name="Rectangle 91"/>
          <p:cNvSpPr>
            <a:spLocks noChangeArrowheads="1"/>
          </p:cNvSpPr>
          <p:nvPr/>
        </p:nvSpPr>
        <p:spPr bwMode="auto">
          <a:xfrm>
            <a:off x="6942879" y="6344867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13*</a:t>
            </a:r>
          </a:p>
        </p:txBody>
      </p:sp>
      <p:sp>
        <p:nvSpPr>
          <p:cNvPr id="121" name="Rectangle 88"/>
          <p:cNvSpPr>
            <a:spLocks noChangeArrowheads="1"/>
          </p:cNvSpPr>
          <p:nvPr/>
        </p:nvSpPr>
        <p:spPr bwMode="auto">
          <a:xfrm>
            <a:off x="6397387" y="3361346"/>
            <a:ext cx="352662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 smtClean="0">
                <a:solidFill>
                  <a:srgbClr val="000000"/>
                </a:solidFill>
                <a:latin typeface="Helvetica" charset="0"/>
              </a:rPr>
              <a:t>9*</a:t>
            </a:r>
            <a:endParaRPr lang="en-US" sz="1400" b="1" dirty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583607" y="4916487"/>
            <a:ext cx="3429000" cy="1579192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If a bucket whose </a:t>
            </a:r>
            <a:r>
              <a:rPr lang="en-US" sz="2000" b="1" u="sng" dirty="0" smtClean="0">
                <a:solidFill>
                  <a:schemeClr val="tx1"/>
                </a:solidFill>
              </a:rPr>
              <a:t>local depth equals to the global </a:t>
            </a:r>
            <a:r>
              <a:rPr lang="en-US" sz="2000" b="1" u="sng" dirty="0" smtClean="0">
                <a:solidFill>
                  <a:schemeClr val="tx1"/>
                </a:solidFill>
              </a:rPr>
              <a:t>depth</a:t>
            </a:r>
            <a:r>
              <a:rPr lang="en-US" sz="2000" dirty="0">
                <a:solidFill>
                  <a:schemeClr val="tx1"/>
                </a:solidFill>
              </a:rPr>
              <a:t>,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smtClean="0">
                <a:solidFill>
                  <a:schemeClr val="tx1"/>
                </a:solidFill>
              </a:rPr>
              <a:t>the directory </a:t>
            </a:r>
            <a:r>
              <a:rPr lang="en-US" sz="2000" i="1" dirty="0" smtClean="0">
                <a:solidFill>
                  <a:schemeClr val="tx1"/>
                </a:solidFill>
              </a:rPr>
              <a:t>must</a:t>
            </a:r>
            <a:r>
              <a:rPr lang="en-US" sz="2000" dirty="0" smtClean="0">
                <a:solidFill>
                  <a:schemeClr val="tx1"/>
                </a:solidFill>
              </a:rPr>
              <a:t> be doubled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73" name="Freeform 55"/>
          <p:cNvSpPr>
            <a:spLocks/>
          </p:cNvSpPr>
          <p:nvPr/>
        </p:nvSpPr>
        <p:spPr bwMode="auto">
          <a:xfrm>
            <a:off x="6115448" y="3066071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Freeform 56"/>
          <p:cNvSpPr>
            <a:spLocks/>
          </p:cNvSpPr>
          <p:nvPr/>
        </p:nvSpPr>
        <p:spPr bwMode="auto">
          <a:xfrm>
            <a:off x="6115448" y="3808651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" name="Freeform 57"/>
          <p:cNvSpPr>
            <a:spLocks/>
          </p:cNvSpPr>
          <p:nvPr/>
        </p:nvSpPr>
        <p:spPr bwMode="auto">
          <a:xfrm>
            <a:off x="6115448" y="4592824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" name="Freeform 59"/>
          <p:cNvSpPr>
            <a:spLocks/>
          </p:cNvSpPr>
          <p:nvPr/>
        </p:nvSpPr>
        <p:spPr bwMode="auto">
          <a:xfrm>
            <a:off x="6106902" y="2273299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" name="Freeform 61"/>
          <p:cNvSpPr>
            <a:spLocks/>
          </p:cNvSpPr>
          <p:nvPr/>
        </p:nvSpPr>
        <p:spPr bwMode="auto">
          <a:xfrm>
            <a:off x="6126560" y="5318972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Rectangle 65"/>
          <p:cNvSpPr>
            <a:spLocks noChangeArrowheads="1"/>
          </p:cNvSpPr>
          <p:nvPr/>
        </p:nvSpPr>
        <p:spPr bwMode="auto">
          <a:xfrm>
            <a:off x="6104335" y="3029558"/>
            <a:ext cx="28213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3</a:t>
            </a:r>
          </a:p>
        </p:txBody>
      </p:sp>
      <p:sp>
        <p:nvSpPr>
          <p:cNvPr id="123" name="Rectangle 66"/>
          <p:cNvSpPr>
            <a:spLocks noChangeArrowheads="1"/>
          </p:cNvSpPr>
          <p:nvPr/>
        </p:nvSpPr>
        <p:spPr bwMode="auto">
          <a:xfrm>
            <a:off x="6118623" y="3767984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sp>
        <p:nvSpPr>
          <p:cNvPr id="125" name="Rectangle 67"/>
          <p:cNvSpPr>
            <a:spLocks noChangeArrowheads="1"/>
          </p:cNvSpPr>
          <p:nvPr/>
        </p:nvSpPr>
        <p:spPr bwMode="auto">
          <a:xfrm>
            <a:off x="6118623" y="4565836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sp>
        <p:nvSpPr>
          <p:cNvPr id="126" name="Rectangle 77"/>
          <p:cNvSpPr>
            <a:spLocks noChangeArrowheads="1"/>
          </p:cNvSpPr>
          <p:nvPr/>
        </p:nvSpPr>
        <p:spPr bwMode="auto">
          <a:xfrm>
            <a:off x="6095789" y="2264594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3</a:t>
            </a:r>
          </a:p>
        </p:txBody>
      </p:sp>
      <p:sp>
        <p:nvSpPr>
          <p:cNvPr id="127" name="Rectangle 78"/>
          <p:cNvSpPr>
            <a:spLocks noChangeArrowheads="1"/>
          </p:cNvSpPr>
          <p:nvPr/>
        </p:nvSpPr>
        <p:spPr bwMode="auto">
          <a:xfrm>
            <a:off x="6131323" y="5291984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3</a:t>
            </a:r>
          </a:p>
        </p:txBody>
      </p:sp>
      <p:sp>
        <p:nvSpPr>
          <p:cNvPr id="128" name="Rectangle 122"/>
          <p:cNvSpPr>
            <a:spLocks noChangeArrowheads="1"/>
          </p:cNvSpPr>
          <p:nvPr/>
        </p:nvSpPr>
        <p:spPr bwMode="auto">
          <a:xfrm>
            <a:off x="4291410" y="2277797"/>
            <a:ext cx="1364157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Courier New" pitchFamily="49" charset="0"/>
              </a:rPr>
              <a:t>LOCAL DEPTH</a:t>
            </a:r>
          </a:p>
        </p:txBody>
      </p:sp>
      <p:sp>
        <p:nvSpPr>
          <p:cNvPr id="129" name="Freeform 124"/>
          <p:cNvSpPr>
            <a:spLocks/>
          </p:cNvSpPr>
          <p:nvPr/>
        </p:nvSpPr>
        <p:spPr bwMode="auto">
          <a:xfrm>
            <a:off x="5558235" y="2295260"/>
            <a:ext cx="573088" cy="168275"/>
          </a:xfrm>
          <a:custGeom>
            <a:avLst/>
            <a:gdLst>
              <a:gd name="T0" fmla="*/ 0 w 361"/>
              <a:gd name="T1" fmla="*/ 82 h 106"/>
              <a:gd name="T2" fmla="*/ 180 w 361"/>
              <a:gd name="T3" fmla="*/ 0 h 106"/>
              <a:gd name="T4" fmla="*/ 105 w 361"/>
              <a:gd name="T5" fmla="*/ 105 h 106"/>
              <a:gd name="T6" fmla="*/ 360 w 361"/>
              <a:gd name="T7" fmla="*/ 3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1" h="106">
                <a:moveTo>
                  <a:pt x="0" y="82"/>
                </a:moveTo>
                <a:lnTo>
                  <a:pt x="180" y="0"/>
                </a:lnTo>
                <a:lnTo>
                  <a:pt x="105" y="105"/>
                </a:lnTo>
                <a:lnTo>
                  <a:pt x="360" y="3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Freeform 61"/>
          <p:cNvSpPr>
            <a:spLocks/>
          </p:cNvSpPr>
          <p:nvPr/>
        </p:nvSpPr>
        <p:spPr bwMode="auto">
          <a:xfrm>
            <a:off x="6133678" y="6031521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" name="Rectangle 78"/>
          <p:cNvSpPr>
            <a:spLocks noChangeArrowheads="1"/>
          </p:cNvSpPr>
          <p:nvPr/>
        </p:nvSpPr>
        <p:spPr bwMode="auto">
          <a:xfrm>
            <a:off x="6138441" y="600453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676400" y="4230171"/>
            <a:ext cx="14478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9 = 1</a:t>
            </a:r>
            <a:r>
              <a:rPr lang="en-US" b="1" dirty="0" smtClean="0"/>
              <a:t>001</a:t>
            </a:r>
            <a:endParaRPr lang="en-US" b="1" dirty="0"/>
          </a:p>
        </p:txBody>
      </p:sp>
      <p:cxnSp>
        <p:nvCxnSpPr>
          <p:cNvPr id="133" name="Straight Arrow Connector 132"/>
          <p:cNvCxnSpPr/>
          <p:nvPr/>
        </p:nvCxnSpPr>
        <p:spPr>
          <a:xfrm flipV="1">
            <a:off x="3145446" y="3843338"/>
            <a:ext cx="1269392" cy="571263"/>
          </a:xfrm>
          <a:prstGeom prst="straightConnector1">
            <a:avLst/>
          </a:prstGeom>
          <a:ln w="1587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41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Extendible Hashing: Inserting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3000" dirty="0" smtClean="0"/>
              <a:t>Example: insert </a:t>
            </a:r>
            <a:r>
              <a:rPr lang="en-US" sz="3000" dirty="0" smtClean="0">
                <a:solidFill>
                  <a:srgbClr val="FF0000"/>
                </a:solidFill>
              </a:rPr>
              <a:t>9* </a:t>
            </a:r>
            <a:endParaRPr lang="en-US" sz="3000" dirty="0">
              <a:solidFill>
                <a:srgbClr val="FF0000"/>
              </a:solidFill>
            </a:endParaRPr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  <a:p>
            <a:pPr marL="0" indent="0">
              <a:buNone/>
            </a:pPr>
            <a:endParaRPr lang="en-US" dirty="0" smtClean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1676400" y="4230171"/>
            <a:ext cx="14478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9 = 1</a:t>
            </a:r>
            <a:r>
              <a:rPr lang="en-US" b="1" dirty="0" smtClean="0"/>
              <a:t>001</a:t>
            </a:r>
            <a:endParaRPr lang="en-US" b="1" dirty="0"/>
          </a:p>
        </p:txBody>
      </p:sp>
      <p:sp>
        <p:nvSpPr>
          <p:cNvPr id="52" name="Freeform 51"/>
          <p:cNvSpPr>
            <a:spLocks/>
          </p:cNvSpPr>
          <p:nvPr/>
        </p:nvSpPr>
        <p:spPr bwMode="auto">
          <a:xfrm>
            <a:off x="4910138" y="3071813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Freeform 52"/>
          <p:cNvSpPr>
            <a:spLocks/>
          </p:cNvSpPr>
          <p:nvPr/>
        </p:nvSpPr>
        <p:spPr bwMode="auto">
          <a:xfrm>
            <a:off x="6110288" y="3371850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Freeform 53"/>
          <p:cNvSpPr>
            <a:spLocks/>
          </p:cNvSpPr>
          <p:nvPr/>
        </p:nvSpPr>
        <p:spPr bwMode="auto">
          <a:xfrm>
            <a:off x="6110288" y="4270375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Freeform 54"/>
          <p:cNvSpPr>
            <a:spLocks/>
          </p:cNvSpPr>
          <p:nvPr/>
        </p:nvSpPr>
        <p:spPr bwMode="auto">
          <a:xfrm>
            <a:off x="6110288" y="5172075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Freeform 58"/>
          <p:cNvSpPr>
            <a:spLocks/>
          </p:cNvSpPr>
          <p:nvPr/>
        </p:nvSpPr>
        <p:spPr bwMode="auto">
          <a:xfrm>
            <a:off x="6110288" y="2471738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Freeform 60"/>
          <p:cNvSpPr>
            <a:spLocks/>
          </p:cNvSpPr>
          <p:nvPr/>
        </p:nvSpPr>
        <p:spPr bwMode="auto">
          <a:xfrm>
            <a:off x="6121400" y="6108700"/>
            <a:ext cx="1201738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" name="Freeform 62"/>
          <p:cNvSpPr>
            <a:spLocks/>
          </p:cNvSpPr>
          <p:nvPr/>
        </p:nvSpPr>
        <p:spPr bwMode="auto">
          <a:xfrm>
            <a:off x="4910138" y="3371850"/>
            <a:ext cx="601662" cy="1200150"/>
          </a:xfrm>
          <a:custGeom>
            <a:avLst/>
            <a:gdLst>
              <a:gd name="T0" fmla="*/ 0 w 379"/>
              <a:gd name="T1" fmla="*/ 755 h 756"/>
              <a:gd name="T2" fmla="*/ 0 w 379"/>
              <a:gd name="T3" fmla="*/ 0 h 756"/>
              <a:gd name="T4" fmla="*/ 378 w 379"/>
              <a:gd name="T5" fmla="*/ 0 h 756"/>
              <a:gd name="T6" fmla="*/ 378 w 379"/>
              <a:gd name="T7" fmla="*/ 755 h 756"/>
              <a:gd name="T8" fmla="*/ 0 w 379"/>
              <a:gd name="T9" fmla="*/ 755 h 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9" h="756">
                <a:moveTo>
                  <a:pt x="0" y="755"/>
                </a:moveTo>
                <a:lnTo>
                  <a:pt x="0" y="0"/>
                </a:lnTo>
                <a:lnTo>
                  <a:pt x="378" y="0"/>
                </a:lnTo>
                <a:lnTo>
                  <a:pt x="378" y="755"/>
                </a:lnTo>
                <a:lnTo>
                  <a:pt x="0" y="75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Freeform 63"/>
          <p:cNvSpPr>
            <a:spLocks/>
          </p:cNvSpPr>
          <p:nvPr/>
        </p:nvSpPr>
        <p:spPr bwMode="auto">
          <a:xfrm>
            <a:off x="4910138" y="4570413"/>
            <a:ext cx="601662" cy="1203325"/>
          </a:xfrm>
          <a:custGeom>
            <a:avLst/>
            <a:gdLst>
              <a:gd name="T0" fmla="*/ 0 w 379"/>
              <a:gd name="T1" fmla="*/ 757 h 758"/>
              <a:gd name="T2" fmla="*/ 0 w 379"/>
              <a:gd name="T3" fmla="*/ 0 h 758"/>
              <a:gd name="T4" fmla="*/ 378 w 379"/>
              <a:gd name="T5" fmla="*/ 0 h 758"/>
              <a:gd name="T6" fmla="*/ 378 w 379"/>
              <a:gd name="T7" fmla="*/ 757 h 758"/>
              <a:gd name="T8" fmla="*/ 0 w 379"/>
              <a:gd name="T9" fmla="*/ 757 h 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9" h="758">
                <a:moveTo>
                  <a:pt x="0" y="757"/>
                </a:moveTo>
                <a:lnTo>
                  <a:pt x="0" y="0"/>
                </a:lnTo>
                <a:lnTo>
                  <a:pt x="378" y="0"/>
                </a:lnTo>
                <a:lnTo>
                  <a:pt x="378" y="757"/>
                </a:lnTo>
                <a:lnTo>
                  <a:pt x="0" y="75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" name="Rectangle 64"/>
          <p:cNvSpPr>
            <a:spLocks noChangeArrowheads="1"/>
          </p:cNvSpPr>
          <p:nvPr/>
        </p:nvSpPr>
        <p:spPr bwMode="auto">
          <a:xfrm>
            <a:off x="6678613" y="516572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19*</a:t>
            </a:r>
          </a:p>
        </p:txBody>
      </p:sp>
      <p:sp>
        <p:nvSpPr>
          <p:cNvPr id="76" name="Rectangle 68"/>
          <p:cNvSpPr>
            <a:spLocks noChangeArrowheads="1"/>
          </p:cNvSpPr>
          <p:nvPr/>
        </p:nvSpPr>
        <p:spPr bwMode="auto">
          <a:xfrm>
            <a:off x="4414838" y="33813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000</a:t>
            </a:r>
          </a:p>
        </p:txBody>
      </p:sp>
      <p:sp>
        <p:nvSpPr>
          <p:cNvPr id="77" name="Rectangle 69"/>
          <p:cNvSpPr>
            <a:spLocks noChangeArrowheads="1"/>
          </p:cNvSpPr>
          <p:nvPr/>
        </p:nvSpPr>
        <p:spPr bwMode="auto">
          <a:xfrm>
            <a:off x="4414838" y="369252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001</a:t>
            </a:r>
          </a:p>
        </p:txBody>
      </p:sp>
      <p:sp>
        <p:nvSpPr>
          <p:cNvPr id="78" name="Rectangle 70"/>
          <p:cNvSpPr>
            <a:spLocks noChangeArrowheads="1"/>
          </p:cNvSpPr>
          <p:nvPr/>
        </p:nvSpPr>
        <p:spPr bwMode="auto">
          <a:xfrm>
            <a:off x="4405313" y="399256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010</a:t>
            </a:r>
          </a:p>
        </p:txBody>
      </p:sp>
      <p:sp>
        <p:nvSpPr>
          <p:cNvPr id="79" name="Rectangle 71"/>
          <p:cNvSpPr>
            <a:spLocks noChangeArrowheads="1"/>
          </p:cNvSpPr>
          <p:nvPr/>
        </p:nvSpPr>
        <p:spPr bwMode="auto">
          <a:xfrm>
            <a:off x="4405313" y="430530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011</a:t>
            </a:r>
          </a:p>
        </p:txBody>
      </p:sp>
      <p:sp>
        <p:nvSpPr>
          <p:cNvPr id="80" name="Rectangle 72"/>
          <p:cNvSpPr>
            <a:spLocks noChangeArrowheads="1"/>
          </p:cNvSpPr>
          <p:nvPr/>
        </p:nvSpPr>
        <p:spPr bwMode="auto">
          <a:xfrm>
            <a:off x="4394200" y="459263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100</a:t>
            </a:r>
          </a:p>
        </p:txBody>
      </p:sp>
      <p:sp>
        <p:nvSpPr>
          <p:cNvPr id="81" name="Rectangle 73"/>
          <p:cNvSpPr>
            <a:spLocks noChangeArrowheads="1"/>
          </p:cNvSpPr>
          <p:nvPr/>
        </p:nvSpPr>
        <p:spPr bwMode="auto">
          <a:xfrm>
            <a:off x="4394200" y="49053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101</a:t>
            </a:r>
          </a:p>
        </p:txBody>
      </p:sp>
      <p:sp>
        <p:nvSpPr>
          <p:cNvPr id="82" name="Rectangle 74"/>
          <p:cNvSpPr>
            <a:spLocks noChangeArrowheads="1"/>
          </p:cNvSpPr>
          <p:nvPr/>
        </p:nvSpPr>
        <p:spPr bwMode="auto">
          <a:xfrm>
            <a:off x="4381500" y="522763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110</a:t>
            </a:r>
          </a:p>
        </p:txBody>
      </p:sp>
      <p:sp>
        <p:nvSpPr>
          <p:cNvPr id="83" name="Rectangle 75"/>
          <p:cNvSpPr>
            <a:spLocks noChangeArrowheads="1"/>
          </p:cNvSpPr>
          <p:nvPr/>
        </p:nvSpPr>
        <p:spPr bwMode="auto">
          <a:xfrm>
            <a:off x="4394200" y="551656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111</a:t>
            </a:r>
          </a:p>
        </p:txBody>
      </p:sp>
      <p:sp>
        <p:nvSpPr>
          <p:cNvPr id="84" name="Rectangle 76"/>
          <p:cNvSpPr>
            <a:spLocks noChangeArrowheads="1"/>
          </p:cNvSpPr>
          <p:nvPr/>
        </p:nvSpPr>
        <p:spPr bwMode="auto">
          <a:xfrm>
            <a:off x="4911725" y="30464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3</a:t>
            </a:r>
          </a:p>
        </p:txBody>
      </p:sp>
      <p:sp>
        <p:nvSpPr>
          <p:cNvPr id="87" name="Rectangle 79"/>
          <p:cNvSpPr>
            <a:spLocks noChangeArrowheads="1"/>
          </p:cNvSpPr>
          <p:nvPr/>
        </p:nvSpPr>
        <p:spPr bwMode="auto">
          <a:xfrm>
            <a:off x="4622800" y="6011863"/>
            <a:ext cx="1268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DIRECTORY</a:t>
            </a:r>
          </a:p>
        </p:txBody>
      </p:sp>
      <p:sp>
        <p:nvSpPr>
          <p:cNvPr id="88" name="Rectangle 80"/>
          <p:cNvSpPr>
            <a:spLocks noChangeArrowheads="1"/>
          </p:cNvSpPr>
          <p:nvPr/>
        </p:nvSpPr>
        <p:spPr bwMode="auto">
          <a:xfrm>
            <a:off x="7361238" y="2478088"/>
            <a:ext cx="887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A</a:t>
            </a:r>
          </a:p>
        </p:txBody>
      </p:sp>
      <p:sp>
        <p:nvSpPr>
          <p:cNvPr id="89" name="Rectangle 81"/>
          <p:cNvSpPr>
            <a:spLocks noChangeArrowheads="1"/>
          </p:cNvSpPr>
          <p:nvPr/>
        </p:nvSpPr>
        <p:spPr bwMode="auto">
          <a:xfrm>
            <a:off x="7373938" y="3390900"/>
            <a:ext cx="8778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B</a:t>
            </a:r>
          </a:p>
        </p:txBody>
      </p:sp>
      <p:sp>
        <p:nvSpPr>
          <p:cNvPr id="90" name="Rectangle 82"/>
          <p:cNvSpPr>
            <a:spLocks noChangeArrowheads="1"/>
          </p:cNvSpPr>
          <p:nvPr/>
        </p:nvSpPr>
        <p:spPr bwMode="auto">
          <a:xfrm>
            <a:off x="7375525" y="4278313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C</a:t>
            </a:r>
          </a:p>
        </p:txBody>
      </p:sp>
      <p:sp>
        <p:nvSpPr>
          <p:cNvPr id="91" name="Rectangle 83"/>
          <p:cNvSpPr>
            <a:spLocks noChangeArrowheads="1"/>
          </p:cNvSpPr>
          <p:nvPr/>
        </p:nvSpPr>
        <p:spPr bwMode="auto">
          <a:xfrm>
            <a:off x="7375525" y="5191125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D</a:t>
            </a:r>
          </a:p>
        </p:txBody>
      </p:sp>
      <p:sp>
        <p:nvSpPr>
          <p:cNvPr id="92" name="Rectangle 84"/>
          <p:cNvSpPr>
            <a:spLocks noChangeArrowheads="1"/>
          </p:cNvSpPr>
          <p:nvPr/>
        </p:nvSpPr>
        <p:spPr bwMode="auto">
          <a:xfrm>
            <a:off x="7375525" y="6091238"/>
            <a:ext cx="9763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A2</a:t>
            </a:r>
          </a:p>
        </p:txBody>
      </p:sp>
      <p:sp>
        <p:nvSpPr>
          <p:cNvPr id="93" name="Rectangle 85"/>
          <p:cNvSpPr>
            <a:spLocks noChangeArrowheads="1"/>
          </p:cNvSpPr>
          <p:nvPr/>
        </p:nvSpPr>
        <p:spPr bwMode="auto">
          <a:xfrm>
            <a:off x="7210425" y="6319838"/>
            <a:ext cx="117316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(`split image'</a:t>
            </a:r>
          </a:p>
        </p:txBody>
      </p:sp>
      <p:sp>
        <p:nvSpPr>
          <p:cNvPr id="94" name="Rectangle 86"/>
          <p:cNvSpPr>
            <a:spLocks noChangeArrowheads="1"/>
          </p:cNvSpPr>
          <p:nvPr/>
        </p:nvSpPr>
        <p:spPr bwMode="auto">
          <a:xfrm>
            <a:off x="7280275" y="6499225"/>
            <a:ext cx="113823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of Bucket A)</a:t>
            </a:r>
          </a:p>
        </p:txBody>
      </p:sp>
      <p:sp>
        <p:nvSpPr>
          <p:cNvPr id="95" name="Rectangle 87"/>
          <p:cNvSpPr>
            <a:spLocks noChangeArrowheads="1"/>
          </p:cNvSpPr>
          <p:nvPr/>
        </p:nvSpPr>
        <p:spPr bwMode="auto">
          <a:xfrm>
            <a:off x="6673850" y="24622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32*</a:t>
            </a:r>
          </a:p>
        </p:txBody>
      </p:sp>
      <p:sp>
        <p:nvSpPr>
          <p:cNvPr id="96" name="Rectangle 88"/>
          <p:cNvSpPr>
            <a:spLocks noChangeArrowheads="1"/>
          </p:cNvSpPr>
          <p:nvPr/>
        </p:nvSpPr>
        <p:spPr bwMode="auto">
          <a:xfrm>
            <a:off x="6103938" y="33639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1*</a:t>
            </a:r>
          </a:p>
        </p:txBody>
      </p:sp>
      <p:sp>
        <p:nvSpPr>
          <p:cNvPr id="97" name="Rectangle 89"/>
          <p:cNvSpPr>
            <a:spLocks noChangeArrowheads="1"/>
          </p:cNvSpPr>
          <p:nvPr/>
        </p:nvSpPr>
        <p:spPr bwMode="auto">
          <a:xfrm>
            <a:off x="6397625" y="33639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5*</a:t>
            </a:r>
          </a:p>
        </p:txBody>
      </p:sp>
      <p:sp>
        <p:nvSpPr>
          <p:cNvPr id="98" name="Rectangle 90"/>
          <p:cNvSpPr>
            <a:spLocks noChangeArrowheads="1"/>
          </p:cNvSpPr>
          <p:nvPr/>
        </p:nvSpPr>
        <p:spPr bwMode="auto">
          <a:xfrm>
            <a:off x="6688138" y="33639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21*</a:t>
            </a:r>
          </a:p>
        </p:txBody>
      </p:sp>
      <p:sp>
        <p:nvSpPr>
          <p:cNvPr id="99" name="Rectangle 91"/>
          <p:cNvSpPr>
            <a:spLocks noChangeArrowheads="1"/>
          </p:cNvSpPr>
          <p:nvPr/>
        </p:nvSpPr>
        <p:spPr bwMode="auto">
          <a:xfrm>
            <a:off x="6977063" y="33639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13*</a:t>
            </a:r>
          </a:p>
        </p:txBody>
      </p:sp>
      <p:sp>
        <p:nvSpPr>
          <p:cNvPr id="100" name="Rectangle 92"/>
          <p:cNvSpPr>
            <a:spLocks noChangeArrowheads="1"/>
          </p:cNvSpPr>
          <p:nvPr/>
        </p:nvSpPr>
        <p:spPr bwMode="auto">
          <a:xfrm>
            <a:off x="6964363" y="246380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16*</a:t>
            </a:r>
          </a:p>
        </p:txBody>
      </p:sp>
      <p:sp>
        <p:nvSpPr>
          <p:cNvPr id="101" name="Rectangle 93"/>
          <p:cNvSpPr>
            <a:spLocks noChangeArrowheads="1"/>
          </p:cNvSpPr>
          <p:nvPr/>
        </p:nvSpPr>
        <p:spPr bwMode="auto">
          <a:xfrm>
            <a:off x="6078538" y="426402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10*</a:t>
            </a:r>
          </a:p>
        </p:txBody>
      </p:sp>
      <p:sp>
        <p:nvSpPr>
          <p:cNvPr id="102" name="Rectangle 94"/>
          <p:cNvSpPr>
            <a:spLocks noChangeArrowheads="1"/>
          </p:cNvSpPr>
          <p:nvPr/>
        </p:nvSpPr>
        <p:spPr bwMode="auto">
          <a:xfrm>
            <a:off x="6078538" y="515143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15*</a:t>
            </a:r>
          </a:p>
        </p:txBody>
      </p:sp>
      <p:sp>
        <p:nvSpPr>
          <p:cNvPr id="103" name="Rectangle 95"/>
          <p:cNvSpPr>
            <a:spLocks noChangeArrowheads="1"/>
          </p:cNvSpPr>
          <p:nvPr/>
        </p:nvSpPr>
        <p:spPr bwMode="auto">
          <a:xfrm>
            <a:off x="6397625" y="5164138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7*</a:t>
            </a:r>
          </a:p>
        </p:txBody>
      </p:sp>
      <p:sp>
        <p:nvSpPr>
          <p:cNvPr id="104" name="Rectangle 96"/>
          <p:cNvSpPr>
            <a:spLocks noChangeArrowheads="1"/>
          </p:cNvSpPr>
          <p:nvPr/>
        </p:nvSpPr>
        <p:spPr bwMode="auto">
          <a:xfrm>
            <a:off x="6115050" y="6099175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4*</a:t>
            </a:r>
          </a:p>
        </p:txBody>
      </p:sp>
      <p:sp>
        <p:nvSpPr>
          <p:cNvPr id="105" name="Rectangle 97"/>
          <p:cNvSpPr>
            <a:spLocks noChangeArrowheads="1"/>
          </p:cNvSpPr>
          <p:nvPr/>
        </p:nvSpPr>
        <p:spPr bwMode="auto">
          <a:xfrm>
            <a:off x="6704013" y="608806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20*</a:t>
            </a:r>
          </a:p>
        </p:txBody>
      </p:sp>
      <p:sp>
        <p:nvSpPr>
          <p:cNvPr id="106" name="Rectangle 98"/>
          <p:cNvSpPr>
            <a:spLocks noChangeArrowheads="1"/>
          </p:cNvSpPr>
          <p:nvPr/>
        </p:nvSpPr>
        <p:spPr bwMode="auto">
          <a:xfrm>
            <a:off x="6403975" y="608488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12*</a:t>
            </a:r>
          </a:p>
        </p:txBody>
      </p:sp>
      <p:sp>
        <p:nvSpPr>
          <p:cNvPr id="107" name="Line 99"/>
          <p:cNvSpPr>
            <a:spLocks noChangeShapeType="1"/>
          </p:cNvSpPr>
          <p:nvPr/>
        </p:nvSpPr>
        <p:spPr bwMode="auto">
          <a:xfrm>
            <a:off x="4911725" y="3619500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Line 100"/>
          <p:cNvSpPr>
            <a:spLocks noChangeShapeType="1"/>
          </p:cNvSpPr>
          <p:nvPr/>
        </p:nvSpPr>
        <p:spPr bwMode="auto">
          <a:xfrm>
            <a:off x="4921250" y="3914775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Line 101"/>
          <p:cNvSpPr>
            <a:spLocks noChangeShapeType="1"/>
          </p:cNvSpPr>
          <p:nvPr/>
        </p:nvSpPr>
        <p:spPr bwMode="auto">
          <a:xfrm>
            <a:off x="4918075" y="4246563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Line 102"/>
          <p:cNvSpPr>
            <a:spLocks noChangeShapeType="1"/>
          </p:cNvSpPr>
          <p:nvPr/>
        </p:nvSpPr>
        <p:spPr bwMode="auto">
          <a:xfrm>
            <a:off x="4938713" y="4875213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Line 103"/>
          <p:cNvSpPr>
            <a:spLocks noChangeShapeType="1"/>
          </p:cNvSpPr>
          <p:nvPr/>
        </p:nvSpPr>
        <p:spPr bwMode="auto">
          <a:xfrm>
            <a:off x="4913313" y="5229225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Line 104"/>
          <p:cNvSpPr>
            <a:spLocks noChangeShapeType="1"/>
          </p:cNvSpPr>
          <p:nvPr/>
        </p:nvSpPr>
        <p:spPr bwMode="auto">
          <a:xfrm>
            <a:off x="4922838" y="5513388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Line 105"/>
          <p:cNvSpPr>
            <a:spLocks noChangeShapeType="1"/>
          </p:cNvSpPr>
          <p:nvPr/>
        </p:nvSpPr>
        <p:spPr bwMode="auto">
          <a:xfrm flipV="1">
            <a:off x="5197475" y="2655888"/>
            <a:ext cx="904875" cy="85725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Line 106"/>
          <p:cNvSpPr>
            <a:spLocks noChangeShapeType="1"/>
          </p:cNvSpPr>
          <p:nvPr/>
        </p:nvSpPr>
        <p:spPr bwMode="auto">
          <a:xfrm flipV="1">
            <a:off x="5197475" y="3548063"/>
            <a:ext cx="917575" cy="2508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Line 107"/>
          <p:cNvSpPr>
            <a:spLocks noChangeShapeType="1"/>
          </p:cNvSpPr>
          <p:nvPr/>
        </p:nvSpPr>
        <p:spPr bwMode="auto">
          <a:xfrm>
            <a:off x="5210175" y="4097338"/>
            <a:ext cx="904875" cy="344487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Line 108"/>
          <p:cNvSpPr>
            <a:spLocks noChangeShapeType="1"/>
          </p:cNvSpPr>
          <p:nvPr/>
        </p:nvSpPr>
        <p:spPr bwMode="auto">
          <a:xfrm>
            <a:off x="5221288" y="4418013"/>
            <a:ext cx="881062" cy="89376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Line 109"/>
          <p:cNvSpPr>
            <a:spLocks noChangeShapeType="1"/>
          </p:cNvSpPr>
          <p:nvPr/>
        </p:nvSpPr>
        <p:spPr bwMode="auto">
          <a:xfrm>
            <a:off x="5138738" y="4679950"/>
            <a:ext cx="987425" cy="156051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Line 110"/>
          <p:cNvSpPr>
            <a:spLocks noChangeShapeType="1"/>
          </p:cNvSpPr>
          <p:nvPr/>
        </p:nvSpPr>
        <p:spPr bwMode="auto">
          <a:xfrm flipV="1">
            <a:off x="5168900" y="3590925"/>
            <a:ext cx="928688" cy="14652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Line 111"/>
          <p:cNvSpPr>
            <a:spLocks noChangeShapeType="1"/>
          </p:cNvSpPr>
          <p:nvPr/>
        </p:nvSpPr>
        <p:spPr bwMode="auto">
          <a:xfrm flipV="1">
            <a:off x="5181600" y="4489450"/>
            <a:ext cx="928688" cy="90487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Line 112"/>
          <p:cNvSpPr>
            <a:spLocks noChangeShapeType="1"/>
          </p:cNvSpPr>
          <p:nvPr/>
        </p:nvSpPr>
        <p:spPr bwMode="auto">
          <a:xfrm flipV="1">
            <a:off x="5181600" y="5341938"/>
            <a:ext cx="928688" cy="30956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Rectangle 123"/>
          <p:cNvSpPr>
            <a:spLocks noChangeArrowheads="1"/>
          </p:cNvSpPr>
          <p:nvPr/>
        </p:nvSpPr>
        <p:spPr bwMode="auto">
          <a:xfrm>
            <a:off x="4191000" y="2560638"/>
            <a:ext cx="14620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Courier New" pitchFamily="49" charset="0"/>
              </a:rPr>
              <a:t>GLOBAL DEPTH</a:t>
            </a:r>
          </a:p>
        </p:txBody>
      </p:sp>
      <p:sp>
        <p:nvSpPr>
          <p:cNvPr id="124" name="Freeform 125"/>
          <p:cNvSpPr>
            <a:spLocks/>
          </p:cNvSpPr>
          <p:nvPr/>
        </p:nvSpPr>
        <p:spPr bwMode="auto">
          <a:xfrm>
            <a:off x="5053013" y="2806700"/>
            <a:ext cx="180975" cy="276225"/>
          </a:xfrm>
          <a:custGeom>
            <a:avLst/>
            <a:gdLst>
              <a:gd name="T0" fmla="*/ 75 w 114"/>
              <a:gd name="T1" fmla="*/ 0 h 174"/>
              <a:gd name="T2" fmla="*/ 113 w 114"/>
              <a:gd name="T3" fmla="*/ 68 h 174"/>
              <a:gd name="T4" fmla="*/ 0 w 114"/>
              <a:gd name="T5" fmla="*/ 38 h 174"/>
              <a:gd name="T6" fmla="*/ 15 w 114"/>
              <a:gd name="T7" fmla="*/ 173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4" h="174">
                <a:moveTo>
                  <a:pt x="75" y="0"/>
                </a:moveTo>
                <a:lnTo>
                  <a:pt x="113" y="68"/>
                </a:lnTo>
                <a:lnTo>
                  <a:pt x="0" y="38"/>
                </a:lnTo>
                <a:lnTo>
                  <a:pt x="15" y="173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5" name="Straight Arrow Connector 4"/>
          <p:cNvCxnSpPr>
            <a:stCxn id="114" idx="0"/>
            <a:endCxn id="114" idx="1"/>
          </p:cNvCxnSpPr>
          <p:nvPr/>
        </p:nvCxnSpPr>
        <p:spPr>
          <a:xfrm flipV="1">
            <a:off x="5197475" y="3548063"/>
            <a:ext cx="917575" cy="25082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6627812" y="2829503"/>
            <a:ext cx="2087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FULL, hence, split!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63" name="Freeform 55"/>
          <p:cNvSpPr>
            <a:spLocks/>
          </p:cNvSpPr>
          <p:nvPr/>
        </p:nvSpPr>
        <p:spPr bwMode="auto">
          <a:xfrm>
            <a:off x="6115448" y="3066071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Freeform 56"/>
          <p:cNvSpPr>
            <a:spLocks/>
          </p:cNvSpPr>
          <p:nvPr/>
        </p:nvSpPr>
        <p:spPr bwMode="auto">
          <a:xfrm>
            <a:off x="6115448" y="3962479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" name="Freeform 57"/>
          <p:cNvSpPr>
            <a:spLocks/>
          </p:cNvSpPr>
          <p:nvPr/>
        </p:nvSpPr>
        <p:spPr bwMode="auto">
          <a:xfrm>
            <a:off x="6115448" y="4862883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" name="Freeform 59"/>
          <p:cNvSpPr>
            <a:spLocks/>
          </p:cNvSpPr>
          <p:nvPr/>
        </p:nvSpPr>
        <p:spPr bwMode="auto">
          <a:xfrm>
            <a:off x="6106902" y="2157412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" name="Freeform 61"/>
          <p:cNvSpPr>
            <a:spLocks/>
          </p:cNvSpPr>
          <p:nvPr/>
        </p:nvSpPr>
        <p:spPr bwMode="auto">
          <a:xfrm>
            <a:off x="6126560" y="5802207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Rectangle 65"/>
          <p:cNvSpPr>
            <a:spLocks noChangeArrowheads="1"/>
          </p:cNvSpPr>
          <p:nvPr/>
        </p:nvSpPr>
        <p:spPr bwMode="auto">
          <a:xfrm>
            <a:off x="6104335" y="3029558"/>
            <a:ext cx="28213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sp>
        <p:nvSpPr>
          <p:cNvPr id="75" name="Rectangle 66"/>
          <p:cNvSpPr>
            <a:spLocks noChangeArrowheads="1"/>
          </p:cNvSpPr>
          <p:nvPr/>
        </p:nvSpPr>
        <p:spPr bwMode="auto">
          <a:xfrm>
            <a:off x="6118623" y="3921812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sp>
        <p:nvSpPr>
          <p:cNvPr id="85" name="Rectangle 67"/>
          <p:cNvSpPr>
            <a:spLocks noChangeArrowheads="1"/>
          </p:cNvSpPr>
          <p:nvPr/>
        </p:nvSpPr>
        <p:spPr bwMode="auto">
          <a:xfrm>
            <a:off x="6118623" y="483589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sp>
        <p:nvSpPr>
          <p:cNvPr id="86" name="Rectangle 77"/>
          <p:cNvSpPr>
            <a:spLocks noChangeArrowheads="1"/>
          </p:cNvSpPr>
          <p:nvPr/>
        </p:nvSpPr>
        <p:spPr bwMode="auto">
          <a:xfrm>
            <a:off x="6095789" y="2119312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3</a:t>
            </a:r>
          </a:p>
        </p:txBody>
      </p:sp>
      <p:sp>
        <p:nvSpPr>
          <p:cNvPr id="121" name="Rectangle 78"/>
          <p:cNvSpPr>
            <a:spLocks noChangeArrowheads="1"/>
          </p:cNvSpPr>
          <p:nvPr/>
        </p:nvSpPr>
        <p:spPr bwMode="auto">
          <a:xfrm>
            <a:off x="6131323" y="5775219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778" y="2226918"/>
            <a:ext cx="2819400" cy="530912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Repeat…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6" name="Rounded Rectangle 125"/>
          <p:cNvSpPr/>
          <p:nvPr/>
        </p:nvSpPr>
        <p:spPr>
          <a:xfrm>
            <a:off x="914400" y="5107887"/>
            <a:ext cx="2819400" cy="1513576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Because the local depth (i.e., 2) is </a:t>
            </a:r>
            <a:r>
              <a:rPr lang="en-US" i="1" dirty="0" smtClean="0">
                <a:solidFill>
                  <a:schemeClr val="tx1"/>
                </a:solidFill>
              </a:rPr>
              <a:t>less than </a:t>
            </a:r>
            <a:r>
              <a:rPr lang="en-US" dirty="0" smtClean="0">
                <a:solidFill>
                  <a:schemeClr val="tx1"/>
                </a:solidFill>
              </a:rPr>
              <a:t>the global depth (i.e., 3), NO need to double the directory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23" name="Straight Arrow Connector 122"/>
          <p:cNvCxnSpPr/>
          <p:nvPr/>
        </p:nvCxnSpPr>
        <p:spPr>
          <a:xfrm flipV="1">
            <a:off x="3145446" y="3843338"/>
            <a:ext cx="1269392" cy="571263"/>
          </a:xfrm>
          <a:prstGeom prst="straightConnector1">
            <a:avLst/>
          </a:prstGeom>
          <a:ln w="1587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2"/>
          <p:cNvSpPr>
            <a:spLocks noChangeArrowheads="1"/>
          </p:cNvSpPr>
          <p:nvPr/>
        </p:nvSpPr>
        <p:spPr bwMode="auto">
          <a:xfrm>
            <a:off x="4291410" y="2192337"/>
            <a:ext cx="135413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Courier New" pitchFamily="49" charset="0"/>
              </a:rPr>
              <a:t>LOCAL DEPTH</a:t>
            </a:r>
          </a:p>
        </p:txBody>
      </p:sp>
      <p:sp>
        <p:nvSpPr>
          <p:cNvPr id="127" name="Freeform 124"/>
          <p:cNvSpPr>
            <a:spLocks/>
          </p:cNvSpPr>
          <p:nvPr/>
        </p:nvSpPr>
        <p:spPr bwMode="auto">
          <a:xfrm>
            <a:off x="5558235" y="2209800"/>
            <a:ext cx="573088" cy="168275"/>
          </a:xfrm>
          <a:custGeom>
            <a:avLst/>
            <a:gdLst>
              <a:gd name="T0" fmla="*/ 0 w 361"/>
              <a:gd name="T1" fmla="*/ 82 h 106"/>
              <a:gd name="T2" fmla="*/ 180 w 361"/>
              <a:gd name="T3" fmla="*/ 0 h 106"/>
              <a:gd name="T4" fmla="*/ 105 w 361"/>
              <a:gd name="T5" fmla="*/ 105 h 106"/>
              <a:gd name="T6" fmla="*/ 360 w 361"/>
              <a:gd name="T7" fmla="*/ 3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1" h="106">
                <a:moveTo>
                  <a:pt x="0" y="82"/>
                </a:moveTo>
                <a:lnTo>
                  <a:pt x="180" y="0"/>
                </a:lnTo>
                <a:lnTo>
                  <a:pt x="105" y="105"/>
                </a:lnTo>
                <a:lnTo>
                  <a:pt x="360" y="3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639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3" grpId="0"/>
      <p:bldP spid="126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Extendible Hashing: Inserting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3000" dirty="0" smtClean="0"/>
              <a:t>Example: insert </a:t>
            </a:r>
            <a:r>
              <a:rPr lang="en-US" sz="3000" dirty="0" smtClean="0">
                <a:solidFill>
                  <a:srgbClr val="FF0000"/>
                </a:solidFill>
              </a:rPr>
              <a:t>9* </a:t>
            </a:r>
            <a:endParaRPr lang="en-US" sz="3000" dirty="0">
              <a:solidFill>
                <a:srgbClr val="FF0000"/>
              </a:solidFill>
            </a:endParaRPr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  <a:p>
            <a:pPr marL="0" indent="0">
              <a:buNone/>
            </a:pPr>
            <a:endParaRPr lang="en-US" dirty="0" smtClean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</p:txBody>
      </p:sp>
      <p:sp>
        <p:nvSpPr>
          <p:cNvPr id="52" name="Freeform 51"/>
          <p:cNvSpPr>
            <a:spLocks/>
          </p:cNvSpPr>
          <p:nvPr/>
        </p:nvSpPr>
        <p:spPr bwMode="auto">
          <a:xfrm>
            <a:off x="4910138" y="3071813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Freeform 52"/>
          <p:cNvSpPr>
            <a:spLocks/>
          </p:cNvSpPr>
          <p:nvPr/>
        </p:nvSpPr>
        <p:spPr bwMode="auto">
          <a:xfrm>
            <a:off x="6110288" y="3371850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Freeform 53"/>
          <p:cNvSpPr>
            <a:spLocks/>
          </p:cNvSpPr>
          <p:nvPr/>
        </p:nvSpPr>
        <p:spPr bwMode="auto">
          <a:xfrm>
            <a:off x="6110288" y="4121150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Freeform 54"/>
          <p:cNvSpPr>
            <a:spLocks/>
          </p:cNvSpPr>
          <p:nvPr/>
        </p:nvSpPr>
        <p:spPr bwMode="auto">
          <a:xfrm>
            <a:off x="6110288" y="4897437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Freeform 58"/>
          <p:cNvSpPr>
            <a:spLocks/>
          </p:cNvSpPr>
          <p:nvPr/>
        </p:nvSpPr>
        <p:spPr bwMode="auto">
          <a:xfrm>
            <a:off x="6110288" y="2471738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Freeform 60"/>
          <p:cNvSpPr>
            <a:spLocks/>
          </p:cNvSpPr>
          <p:nvPr/>
        </p:nvSpPr>
        <p:spPr bwMode="auto">
          <a:xfrm>
            <a:off x="6121400" y="5622924"/>
            <a:ext cx="1201738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" name="Freeform 62"/>
          <p:cNvSpPr>
            <a:spLocks/>
          </p:cNvSpPr>
          <p:nvPr/>
        </p:nvSpPr>
        <p:spPr bwMode="auto">
          <a:xfrm>
            <a:off x="4910138" y="3371850"/>
            <a:ext cx="601662" cy="1200150"/>
          </a:xfrm>
          <a:custGeom>
            <a:avLst/>
            <a:gdLst>
              <a:gd name="T0" fmla="*/ 0 w 379"/>
              <a:gd name="T1" fmla="*/ 755 h 756"/>
              <a:gd name="T2" fmla="*/ 0 w 379"/>
              <a:gd name="T3" fmla="*/ 0 h 756"/>
              <a:gd name="T4" fmla="*/ 378 w 379"/>
              <a:gd name="T5" fmla="*/ 0 h 756"/>
              <a:gd name="T6" fmla="*/ 378 w 379"/>
              <a:gd name="T7" fmla="*/ 755 h 756"/>
              <a:gd name="T8" fmla="*/ 0 w 379"/>
              <a:gd name="T9" fmla="*/ 755 h 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9" h="756">
                <a:moveTo>
                  <a:pt x="0" y="755"/>
                </a:moveTo>
                <a:lnTo>
                  <a:pt x="0" y="0"/>
                </a:lnTo>
                <a:lnTo>
                  <a:pt x="378" y="0"/>
                </a:lnTo>
                <a:lnTo>
                  <a:pt x="378" y="755"/>
                </a:lnTo>
                <a:lnTo>
                  <a:pt x="0" y="75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Freeform 63"/>
          <p:cNvSpPr>
            <a:spLocks/>
          </p:cNvSpPr>
          <p:nvPr/>
        </p:nvSpPr>
        <p:spPr bwMode="auto">
          <a:xfrm>
            <a:off x="4910138" y="4570413"/>
            <a:ext cx="601662" cy="1203325"/>
          </a:xfrm>
          <a:custGeom>
            <a:avLst/>
            <a:gdLst>
              <a:gd name="T0" fmla="*/ 0 w 379"/>
              <a:gd name="T1" fmla="*/ 757 h 758"/>
              <a:gd name="T2" fmla="*/ 0 w 379"/>
              <a:gd name="T3" fmla="*/ 0 h 758"/>
              <a:gd name="T4" fmla="*/ 378 w 379"/>
              <a:gd name="T5" fmla="*/ 0 h 758"/>
              <a:gd name="T6" fmla="*/ 378 w 379"/>
              <a:gd name="T7" fmla="*/ 757 h 758"/>
              <a:gd name="T8" fmla="*/ 0 w 379"/>
              <a:gd name="T9" fmla="*/ 757 h 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9" h="758">
                <a:moveTo>
                  <a:pt x="0" y="757"/>
                </a:moveTo>
                <a:lnTo>
                  <a:pt x="0" y="0"/>
                </a:lnTo>
                <a:lnTo>
                  <a:pt x="378" y="0"/>
                </a:lnTo>
                <a:lnTo>
                  <a:pt x="378" y="757"/>
                </a:lnTo>
                <a:lnTo>
                  <a:pt x="0" y="75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" name="Rectangle 64"/>
          <p:cNvSpPr>
            <a:spLocks noChangeArrowheads="1"/>
          </p:cNvSpPr>
          <p:nvPr/>
        </p:nvSpPr>
        <p:spPr bwMode="auto">
          <a:xfrm>
            <a:off x="6678613" y="4891087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19*</a:t>
            </a:r>
          </a:p>
        </p:txBody>
      </p:sp>
      <p:sp>
        <p:nvSpPr>
          <p:cNvPr id="76" name="Rectangle 68"/>
          <p:cNvSpPr>
            <a:spLocks noChangeArrowheads="1"/>
          </p:cNvSpPr>
          <p:nvPr/>
        </p:nvSpPr>
        <p:spPr bwMode="auto">
          <a:xfrm>
            <a:off x="4414838" y="33813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000</a:t>
            </a:r>
          </a:p>
        </p:txBody>
      </p:sp>
      <p:sp>
        <p:nvSpPr>
          <p:cNvPr id="77" name="Rectangle 69"/>
          <p:cNvSpPr>
            <a:spLocks noChangeArrowheads="1"/>
          </p:cNvSpPr>
          <p:nvPr/>
        </p:nvSpPr>
        <p:spPr bwMode="auto">
          <a:xfrm>
            <a:off x="4414838" y="369252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001</a:t>
            </a:r>
          </a:p>
        </p:txBody>
      </p:sp>
      <p:sp>
        <p:nvSpPr>
          <p:cNvPr id="78" name="Rectangle 70"/>
          <p:cNvSpPr>
            <a:spLocks noChangeArrowheads="1"/>
          </p:cNvSpPr>
          <p:nvPr/>
        </p:nvSpPr>
        <p:spPr bwMode="auto">
          <a:xfrm>
            <a:off x="4405313" y="399256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010</a:t>
            </a:r>
          </a:p>
        </p:txBody>
      </p:sp>
      <p:sp>
        <p:nvSpPr>
          <p:cNvPr id="79" name="Rectangle 71"/>
          <p:cNvSpPr>
            <a:spLocks noChangeArrowheads="1"/>
          </p:cNvSpPr>
          <p:nvPr/>
        </p:nvSpPr>
        <p:spPr bwMode="auto">
          <a:xfrm>
            <a:off x="4405313" y="430530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011</a:t>
            </a:r>
          </a:p>
        </p:txBody>
      </p:sp>
      <p:sp>
        <p:nvSpPr>
          <p:cNvPr id="80" name="Rectangle 72"/>
          <p:cNvSpPr>
            <a:spLocks noChangeArrowheads="1"/>
          </p:cNvSpPr>
          <p:nvPr/>
        </p:nvSpPr>
        <p:spPr bwMode="auto">
          <a:xfrm>
            <a:off x="4394200" y="459263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100</a:t>
            </a:r>
          </a:p>
        </p:txBody>
      </p:sp>
      <p:sp>
        <p:nvSpPr>
          <p:cNvPr id="81" name="Rectangle 73"/>
          <p:cNvSpPr>
            <a:spLocks noChangeArrowheads="1"/>
          </p:cNvSpPr>
          <p:nvPr/>
        </p:nvSpPr>
        <p:spPr bwMode="auto">
          <a:xfrm>
            <a:off x="4394200" y="49053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101</a:t>
            </a:r>
          </a:p>
        </p:txBody>
      </p:sp>
      <p:sp>
        <p:nvSpPr>
          <p:cNvPr id="82" name="Rectangle 74"/>
          <p:cNvSpPr>
            <a:spLocks noChangeArrowheads="1"/>
          </p:cNvSpPr>
          <p:nvPr/>
        </p:nvSpPr>
        <p:spPr bwMode="auto">
          <a:xfrm>
            <a:off x="4381500" y="522763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110</a:t>
            </a:r>
          </a:p>
        </p:txBody>
      </p:sp>
      <p:sp>
        <p:nvSpPr>
          <p:cNvPr id="83" name="Rectangle 75"/>
          <p:cNvSpPr>
            <a:spLocks noChangeArrowheads="1"/>
          </p:cNvSpPr>
          <p:nvPr/>
        </p:nvSpPr>
        <p:spPr bwMode="auto">
          <a:xfrm>
            <a:off x="4394200" y="551656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111</a:t>
            </a:r>
          </a:p>
        </p:txBody>
      </p:sp>
      <p:sp>
        <p:nvSpPr>
          <p:cNvPr id="84" name="Rectangle 76"/>
          <p:cNvSpPr>
            <a:spLocks noChangeArrowheads="1"/>
          </p:cNvSpPr>
          <p:nvPr/>
        </p:nvSpPr>
        <p:spPr bwMode="auto">
          <a:xfrm>
            <a:off x="4911725" y="30464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3</a:t>
            </a:r>
          </a:p>
        </p:txBody>
      </p:sp>
      <p:sp>
        <p:nvSpPr>
          <p:cNvPr id="87" name="Rectangle 79"/>
          <p:cNvSpPr>
            <a:spLocks noChangeArrowheads="1"/>
          </p:cNvSpPr>
          <p:nvPr/>
        </p:nvSpPr>
        <p:spPr bwMode="auto">
          <a:xfrm>
            <a:off x="4622800" y="6011863"/>
            <a:ext cx="1268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DIRECTORY</a:t>
            </a:r>
          </a:p>
        </p:txBody>
      </p:sp>
      <p:sp>
        <p:nvSpPr>
          <p:cNvPr id="88" name="Rectangle 80"/>
          <p:cNvSpPr>
            <a:spLocks noChangeArrowheads="1"/>
          </p:cNvSpPr>
          <p:nvPr/>
        </p:nvSpPr>
        <p:spPr bwMode="auto">
          <a:xfrm>
            <a:off x="7361238" y="2478088"/>
            <a:ext cx="887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A</a:t>
            </a:r>
          </a:p>
        </p:txBody>
      </p:sp>
      <p:sp>
        <p:nvSpPr>
          <p:cNvPr id="89" name="Rectangle 81"/>
          <p:cNvSpPr>
            <a:spLocks noChangeArrowheads="1"/>
          </p:cNvSpPr>
          <p:nvPr/>
        </p:nvSpPr>
        <p:spPr bwMode="auto">
          <a:xfrm>
            <a:off x="7373938" y="3390900"/>
            <a:ext cx="8778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B</a:t>
            </a:r>
          </a:p>
        </p:txBody>
      </p:sp>
      <p:sp>
        <p:nvSpPr>
          <p:cNvPr id="90" name="Rectangle 82"/>
          <p:cNvSpPr>
            <a:spLocks noChangeArrowheads="1"/>
          </p:cNvSpPr>
          <p:nvPr/>
        </p:nvSpPr>
        <p:spPr bwMode="auto">
          <a:xfrm>
            <a:off x="7375525" y="4129088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C</a:t>
            </a:r>
          </a:p>
        </p:txBody>
      </p:sp>
      <p:sp>
        <p:nvSpPr>
          <p:cNvPr id="91" name="Rectangle 83"/>
          <p:cNvSpPr>
            <a:spLocks noChangeArrowheads="1"/>
          </p:cNvSpPr>
          <p:nvPr/>
        </p:nvSpPr>
        <p:spPr bwMode="auto">
          <a:xfrm>
            <a:off x="7375525" y="4916487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D</a:t>
            </a:r>
          </a:p>
        </p:txBody>
      </p:sp>
      <p:sp>
        <p:nvSpPr>
          <p:cNvPr id="92" name="Rectangle 84"/>
          <p:cNvSpPr>
            <a:spLocks noChangeArrowheads="1"/>
          </p:cNvSpPr>
          <p:nvPr/>
        </p:nvSpPr>
        <p:spPr bwMode="auto">
          <a:xfrm>
            <a:off x="7375525" y="5605462"/>
            <a:ext cx="9763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Bucket A2</a:t>
            </a:r>
          </a:p>
        </p:txBody>
      </p:sp>
      <p:sp>
        <p:nvSpPr>
          <p:cNvPr id="93" name="Rectangle 85"/>
          <p:cNvSpPr>
            <a:spLocks noChangeArrowheads="1"/>
          </p:cNvSpPr>
          <p:nvPr/>
        </p:nvSpPr>
        <p:spPr bwMode="auto">
          <a:xfrm>
            <a:off x="7210425" y="5834062"/>
            <a:ext cx="1735797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(`split </a:t>
            </a:r>
            <a:r>
              <a:rPr lang="en-US" sz="1400" b="1" dirty="0" smtClean="0">
                <a:solidFill>
                  <a:srgbClr val="000000"/>
                </a:solidFill>
                <a:latin typeface="Helvetica" charset="0"/>
              </a:rPr>
              <a:t>image‘ of A)</a:t>
            </a:r>
            <a:endParaRPr lang="en-US" sz="1400" b="1" dirty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95" name="Rectangle 87"/>
          <p:cNvSpPr>
            <a:spLocks noChangeArrowheads="1"/>
          </p:cNvSpPr>
          <p:nvPr/>
        </p:nvSpPr>
        <p:spPr bwMode="auto">
          <a:xfrm>
            <a:off x="6673850" y="24622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32*</a:t>
            </a:r>
          </a:p>
        </p:txBody>
      </p:sp>
      <p:sp>
        <p:nvSpPr>
          <p:cNvPr id="96" name="Rectangle 88"/>
          <p:cNvSpPr>
            <a:spLocks noChangeArrowheads="1"/>
          </p:cNvSpPr>
          <p:nvPr/>
        </p:nvSpPr>
        <p:spPr bwMode="auto">
          <a:xfrm>
            <a:off x="6103938" y="33639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1*</a:t>
            </a:r>
          </a:p>
        </p:txBody>
      </p:sp>
      <p:sp>
        <p:nvSpPr>
          <p:cNvPr id="100" name="Rectangle 92"/>
          <p:cNvSpPr>
            <a:spLocks noChangeArrowheads="1"/>
          </p:cNvSpPr>
          <p:nvPr/>
        </p:nvSpPr>
        <p:spPr bwMode="auto">
          <a:xfrm>
            <a:off x="6964363" y="246380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16*</a:t>
            </a:r>
          </a:p>
        </p:txBody>
      </p:sp>
      <p:sp>
        <p:nvSpPr>
          <p:cNvPr id="101" name="Rectangle 93"/>
          <p:cNvSpPr>
            <a:spLocks noChangeArrowheads="1"/>
          </p:cNvSpPr>
          <p:nvPr/>
        </p:nvSpPr>
        <p:spPr bwMode="auto">
          <a:xfrm>
            <a:off x="6078538" y="411480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10*</a:t>
            </a:r>
          </a:p>
        </p:txBody>
      </p:sp>
      <p:sp>
        <p:nvSpPr>
          <p:cNvPr id="102" name="Rectangle 94"/>
          <p:cNvSpPr>
            <a:spLocks noChangeArrowheads="1"/>
          </p:cNvSpPr>
          <p:nvPr/>
        </p:nvSpPr>
        <p:spPr bwMode="auto">
          <a:xfrm>
            <a:off x="6078538" y="487680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15*</a:t>
            </a:r>
          </a:p>
        </p:txBody>
      </p:sp>
      <p:sp>
        <p:nvSpPr>
          <p:cNvPr id="103" name="Rectangle 95"/>
          <p:cNvSpPr>
            <a:spLocks noChangeArrowheads="1"/>
          </p:cNvSpPr>
          <p:nvPr/>
        </p:nvSpPr>
        <p:spPr bwMode="auto">
          <a:xfrm>
            <a:off x="6397625" y="488950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7*</a:t>
            </a:r>
          </a:p>
        </p:txBody>
      </p:sp>
      <p:sp>
        <p:nvSpPr>
          <p:cNvPr id="104" name="Rectangle 96"/>
          <p:cNvSpPr>
            <a:spLocks noChangeArrowheads="1"/>
          </p:cNvSpPr>
          <p:nvPr/>
        </p:nvSpPr>
        <p:spPr bwMode="auto">
          <a:xfrm>
            <a:off x="6115050" y="5613399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4*</a:t>
            </a:r>
          </a:p>
        </p:txBody>
      </p:sp>
      <p:sp>
        <p:nvSpPr>
          <p:cNvPr id="105" name="Rectangle 97"/>
          <p:cNvSpPr>
            <a:spLocks noChangeArrowheads="1"/>
          </p:cNvSpPr>
          <p:nvPr/>
        </p:nvSpPr>
        <p:spPr bwMode="auto">
          <a:xfrm>
            <a:off x="6704013" y="5602287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20*</a:t>
            </a:r>
          </a:p>
        </p:txBody>
      </p:sp>
      <p:sp>
        <p:nvSpPr>
          <p:cNvPr id="106" name="Rectangle 98"/>
          <p:cNvSpPr>
            <a:spLocks noChangeArrowheads="1"/>
          </p:cNvSpPr>
          <p:nvPr/>
        </p:nvSpPr>
        <p:spPr bwMode="auto">
          <a:xfrm>
            <a:off x="6403975" y="5599112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12*</a:t>
            </a:r>
          </a:p>
        </p:txBody>
      </p:sp>
      <p:sp>
        <p:nvSpPr>
          <p:cNvPr id="107" name="Line 99"/>
          <p:cNvSpPr>
            <a:spLocks noChangeShapeType="1"/>
          </p:cNvSpPr>
          <p:nvPr/>
        </p:nvSpPr>
        <p:spPr bwMode="auto">
          <a:xfrm>
            <a:off x="4911725" y="3619500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Line 100"/>
          <p:cNvSpPr>
            <a:spLocks noChangeShapeType="1"/>
          </p:cNvSpPr>
          <p:nvPr/>
        </p:nvSpPr>
        <p:spPr bwMode="auto">
          <a:xfrm>
            <a:off x="4921250" y="3914775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Line 101"/>
          <p:cNvSpPr>
            <a:spLocks noChangeShapeType="1"/>
          </p:cNvSpPr>
          <p:nvPr/>
        </p:nvSpPr>
        <p:spPr bwMode="auto">
          <a:xfrm>
            <a:off x="4918075" y="4246563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Line 102"/>
          <p:cNvSpPr>
            <a:spLocks noChangeShapeType="1"/>
          </p:cNvSpPr>
          <p:nvPr/>
        </p:nvSpPr>
        <p:spPr bwMode="auto">
          <a:xfrm>
            <a:off x="4938713" y="4875213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Line 103"/>
          <p:cNvSpPr>
            <a:spLocks noChangeShapeType="1"/>
          </p:cNvSpPr>
          <p:nvPr/>
        </p:nvSpPr>
        <p:spPr bwMode="auto">
          <a:xfrm>
            <a:off x="4913313" y="5229225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Line 104"/>
          <p:cNvSpPr>
            <a:spLocks noChangeShapeType="1"/>
          </p:cNvSpPr>
          <p:nvPr/>
        </p:nvSpPr>
        <p:spPr bwMode="auto">
          <a:xfrm>
            <a:off x="4922838" y="5513388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Line 105"/>
          <p:cNvSpPr>
            <a:spLocks noChangeShapeType="1"/>
          </p:cNvSpPr>
          <p:nvPr/>
        </p:nvSpPr>
        <p:spPr bwMode="auto">
          <a:xfrm flipV="1">
            <a:off x="5197475" y="2655888"/>
            <a:ext cx="904875" cy="85725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Line 106"/>
          <p:cNvSpPr>
            <a:spLocks noChangeShapeType="1"/>
          </p:cNvSpPr>
          <p:nvPr/>
        </p:nvSpPr>
        <p:spPr bwMode="auto">
          <a:xfrm flipV="1">
            <a:off x="5197475" y="3548063"/>
            <a:ext cx="917575" cy="2508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Line 107"/>
          <p:cNvSpPr>
            <a:spLocks noChangeShapeType="1"/>
          </p:cNvSpPr>
          <p:nvPr/>
        </p:nvSpPr>
        <p:spPr bwMode="auto">
          <a:xfrm>
            <a:off x="5210175" y="4097339"/>
            <a:ext cx="900113" cy="18256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Line 108"/>
          <p:cNvSpPr>
            <a:spLocks noChangeShapeType="1"/>
          </p:cNvSpPr>
          <p:nvPr/>
        </p:nvSpPr>
        <p:spPr bwMode="auto">
          <a:xfrm>
            <a:off x="5221287" y="4418013"/>
            <a:ext cx="904875" cy="649286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Line 109"/>
          <p:cNvSpPr>
            <a:spLocks noChangeShapeType="1"/>
          </p:cNvSpPr>
          <p:nvPr/>
        </p:nvSpPr>
        <p:spPr bwMode="auto">
          <a:xfrm>
            <a:off x="5138739" y="4679951"/>
            <a:ext cx="982662" cy="10937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Line 111"/>
          <p:cNvSpPr>
            <a:spLocks noChangeShapeType="1"/>
          </p:cNvSpPr>
          <p:nvPr/>
        </p:nvSpPr>
        <p:spPr bwMode="auto">
          <a:xfrm flipV="1">
            <a:off x="5181600" y="4323555"/>
            <a:ext cx="928688" cy="1070769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Line 112"/>
          <p:cNvSpPr>
            <a:spLocks noChangeShapeType="1"/>
          </p:cNvSpPr>
          <p:nvPr/>
        </p:nvSpPr>
        <p:spPr bwMode="auto">
          <a:xfrm flipV="1">
            <a:off x="5181600" y="5067298"/>
            <a:ext cx="920750" cy="584201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Rectangle 123"/>
          <p:cNvSpPr>
            <a:spLocks noChangeArrowheads="1"/>
          </p:cNvSpPr>
          <p:nvPr/>
        </p:nvSpPr>
        <p:spPr bwMode="auto">
          <a:xfrm>
            <a:off x="4191000" y="2560638"/>
            <a:ext cx="14620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Courier New" pitchFamily="49" charset="0"/>
              </a:rPr>
              <a:t>GLOBAL DEPTH</a:t>
            </a:r>
          </a:p>
        </p:txBody>
      </p:sp>
      <p:sp>
        <p:nvSpPr>
          <p:cNvPr id="124" name="Freeform 125"/>
          <p:cNvSpPr>
            <a:spLocks/>
          </p:cNvSpPr>
          <p:nvPr/>
        </p:nvSpPr>
        <p:spPr bwMode="auto">
          <a:xfrm>
            <a:off x="5053013" y="2806700"/>
            <a:ext cx="180975" cy="276225"/>
          </a:xfrm>
          <a:custGeom>
            <a:avLst/>
            <a:gdLst>
              <a:gd name="T0" fmla="*/ 75 w 114"/>
              <a:gd name="T1" fmla="*/ 0 h 174"/>
              <a:gd name="T2" fmla="*/ 113 w 114"/>
              <a:gd name="T3" fmla="*/ 68 h 174"/>
              <a:gd name="T4" fmla="*/ 0 w 114"/>
              <a:gd name="T5" fmla="*/ 38 h 174"/>
              <a:gd name="T6" fmla="*/ 15 w 114"/>
              <a:gd name="T7" fmla="*/ 173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4" h="174">
                <a:moveTo>
                  <a:pt x="75" y="0"/>
                </a:moveTo>
                <a:lnTo>
                  <a:pt x="113" y="68"/>
                </a:lnTo>
                <a:lnTo>
                  <a:pt x="0" y="38"/>
                </a:lnTo>
                <a:lnTo>
                  <a:pt x="15" y="173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5" name="Straight Arrow Connector 4"/>
          <p:cNvCxnSpPr>
            <a:stCxn id="114" idx="0"/>
            <a:endCxn id="114" idx="1"/>
          </p:cNvCxnSpPr>
          <p:nvPr/>
        </p:nvCxnSpPr>
        <p:spPr>
          <a:xfrm flipV="1">
            <a:off x="5197475" y="3548063"/>
            <a:ext cx="917575" cy="25082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Freeform 60"/>
          <p:cNvSpPr>
            <a:spLocks/>
          </p:cNvSpPr>
          <p:nvPr/>
        </p:nvSpPr>
        <p:spPr bwMode="auto">
          <a:xfrm>
            <a:off x="6127274" y="6341650"/>
            <a:ext cx="1201738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Rectangle 84"/>
          <p:cNvSpPr>
            <a:spLocks noChangeArrowheads="1"/>
          </p:cNvSpPr>
          <p:nvPr/>
        </p:nvSpPr>
        <p:spPr bwMode="auto">
          <a:xfrm>
            <a:off x="7381399" y="6324188"/>
            <a:ext cx="105798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Bucket </a:t>
            </a:r>
            <a:r>
              <a:rPr lang="en-US" sz="1400" b="1" dirty="0" smtClean="0">
                <a:solidFill>
                  <a:srgbClr val="000000"/>
                </a:solidFill>
                <a:latin typeface="Helvetica" charset="0"/>
              </a:rPr>
              <a:t>B2</a:t>
            </a:r>
            <a:endParaRPr lang="en-US" sz="1400" b="1" dirty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65" name="Rectangle 85"/>
          <p:cNvSpPr>
            <a:spLocks noChangeArrowheads="1"/>
          </p:cNvSpPr>
          <p:nvPr/>
        </p:nvSpPr>
        <p:spPr bwMode="auto">
          <a:xfrm>
            <a:off x="7216299" y="6552788"/>
            <a:ext cx="174246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(`split </a:t>
            </a:r>
            <a:r>
              <a:rPr lang="en-US" sz="1400" b="1" dirty="0" smtClean="0">
                <a:solidFill>
                  <a:srgbClr val="000000"/>
                </a:solidFill>
                <a:latin typeface="Helvetica" charset="0"/>
              </a:rPr>
              <a:t>image‘ of B)</a:t>
            </a:r>
            <a:endParaRPr lang="en-US" sz="1400" b="1" dirty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75" name="Rectangle 89"/>
          <p:cNvSpPr>
            <a:spLocks noChangeArrowheads="1"/>
          </p:cNvSpPr>
          <p:nvPr/>
        </p:nvSpPr>
        <p:spPr bwMode="auto">
          <a:xfrm>
            <a:off x="6363441" y="6344867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5*</a:t>
            </a:r>
          </a:p>
        </p:txBody>
      </p:sp>
      <p:sp>
        <p:nvSpPr>
          <p:cNvPr id="85" name="Rectangle 90"/>
          <p:cNvSpPr>
            <a:spLocks noChangeArrowheads="1"/>
          </p:cNvSpPr>
          <p:nvPr/>
        </p:nvSpPr>
        <p:spPr bwMode="auto">
          <a:xfrm>
            <a:off x="6653954" y="6344867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21*</a:t>
            </a:r>
          </a:p>
        </p:txBody>
      </p:sp>
      <p:sp>
        <p:nvSpPr>
          <p:cNvPr id="86" name="Rectangle 91"/>
          <p:cNvSpPr>
            <a:spLocks noChangeArrowheads="1"/>
          </p:cNvSpPr>
          <p:nvPr/>
        </p:nvSpPr>
        <p:spPr bwMode="auto">
          <a:xfrm>
            <a:off x="6942879" y="6344867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13*</a:t>
            </a:r>
          </a:p>
        </p:txBody>
      </p:sp>
      <p:sp>
        <p:nvSpPr>
          <p:cNvPr id="121" name="Rectangle 88"/>
          <p:cNvSpPr>
            <a:spLocks noChangeArrowheads="1"/>
          </p:cNvSpPr>
          <p:nvPr/>
        </p:nvSpPr>
        <p:spPr bwMode="auto">
          <a:xfrm>
            <a:off x="6397387" y="3361346"/>
            <a:ext cx="352662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 smtClean="0">
                <a:solidFill>
                  <a:srgbClr val="000000"/>
                </a:solidFill>
                <a:latin typeface="Helvetica" charset="0"/>
              </a:rPr>
              <a:t>9*</a:t>
            </a:r>
            <a:endParaRPr lang="en-US" sz="1400" b="1" dirty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73" name="Freeform 55"/>
          <p:cNvSpPr>
            <a:spLocks/>
          </p:cNvSpPr>
          <p:nvPr/>
        </p:nvSpPr>
        <p:spPr bwMode="auto">
          <a:xfrm>
            <a:off x="6115448" y="3066071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Freeform 56"/>
          <p:cNvSpPr>
            <a:spLocks/>
          </p:cNvSpPr>
          <p:nvPr/>
        </p:nvSpPr>
        <p:spPr bwMode="auto">
          <a:xfrm>
            <a:off x="6115448" y="3808651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" name="Freeform 57"/>
          <p:cNvSpPr>
            <a:spLocks/>
          </p:cNvSpPr>
          <p:nvPr/>
        </p:nvSpPr>
        <p:spPr bwMode="auto">
          <a:xfrm>
            <a:off x="6115448" y="4592824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" name="Freeform 59"/>
          <p:cNvSpPr>
            <a:spLocks/>
          </p:cNvSpPr>
          <p:nvPr/>
        </p:nvSpPr>
        <p:spPr bwMode="auto">
          <a:xfrm>
            <a:off x="6106902" y="2157412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" name="Freeform 61"/>
          <p:cNvSpPr>
            <a:spLocks/>
          </p:cNvSpPr>
          <p:nvPr/>
        </p:nvSpPr>
        <p:spPr bwMode="auto">
          <a:xfrm>
            <a:off x="6126560" y="5318972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Rectangle 65"/>
          <p:cNvSpPr>
            <a:spLocks noChangeArrowheads="1"/>
          </p:cNvSpPr>
          <p:nvPr/>
        </p:nvSpPr>
        <p:spPr bwMode="auto">
          <a:xfrm>
            <a:off x="6104335" y="3029558"/>
            <a:ext cx="28213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3</a:t>
            </a:r>
          </a:p>
        </p:txBody>
      </p:sp>
      <p:sp>
        <p:nvSpPr>
          <p:cNvPr id="123" name="Rectangle 66"/>
          <p:cNvSpPr>
            <a:spLocks noChangeArrowheads="1"/>
          </p:cNvSpPr>
          <p:nvPr/>
        </p:nvSpPr>
        <p:spPr bwMode="auto">
          <a:xfrm>
            <a:off x="6118623" y="3767984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sp>
        <p:nvSpPr>
          <p:cNvPr id="125" name="Rectangle 67"/>
          <p:cNvSpPr>
            <a:spLocks noChangeArrowheads="1"/>
          </p:cNvSpPr>
          <p:nvPr/>
        </p:nvSpPr>
        <p:spPr bwMode="auto">
          <a:xfrm>
            <a:off x="6118623" y="4565836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sp>
        <p:nvSpPr>
          <p:cNvPr id="126" name="Rectangle 77"/>
          <p:cNvSpPr>
            <a:spLocks noChangeArrowheads="1"/>
          </p:cNvSpPr>
          <p:nvPr/>
        </p:nvSpPr>
        <p:spPr bwMode="auto">
          <a:xfrm>
            <a:off x="6095789" y="2119312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3</a:t>
            </a:r>
          </a:p>
        </p:txBody>
      </p:sp>
      <p:sp>
        <p:nvSpPr>
          <p:cNvPr id="127" name="Rectangle 78"/>
          <p:cNvSpPr>
            <a:spLocks noChangeArrowheads="1"/>
          </p:cNvSpPr>
          <p:nvPr/>
        </p:nvSpPr>
        <p:spPr bwMode="auto">
          <a:xfrm>
            <a:off x="6131323" y="5291984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3</a:t>
            </a:r>
          </a:p>
        </p:txBody>
      </p:sp>
      <p:sp>
        <p:nvSpPr>
          <p:cNvPr id="128" name="Rectangle 122"/>
          <p:cNvSpPr>
            <a:spLocks noChangeArrowheads="1"/>
          </p:cNvSpPr>
          <p:nvPr/>
        </p:nvSpPr>
        <p:spPr bwMode="auto">
          <a:xfrm>
            <a:off x="4291410" y="2192337"/>
            <a:ext cx="135413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Courier New" pitchFamily="49" charset="0"/>
              </a:rPr>
              <a:t>LOCAL DEPTH</a:t>
            </a:r>
          </a:p>
        </p:txBody>
      </p:sp>
      <p:sp>
        <p:nvSpPr>
          <p:cNvPr id="129" name="Freeform 124"/>
          <p:cNvSpPr>
            <a:spLocks/>
          </p:cNvSpPr>
          <p:nvPr/>
        </p:nvSpPr>
        <p:spPr bwMode="auto">
          <a:xfrm>
            <a:off x="5558235" y="2209800"/>
            <a:ext cx="573088" cy="168275"/>
          </a:xfrm>
          <a:custGeom>
            <a:avLst/>
            <a:gdLst>
              <a:gd name="T0" fmla="*/ 0 w 361"/>
              <a:gd name="T1" fmla="*/ 82 h 106"/>
              <a:gd name="T2" fmla="*/ 180 w 361"/>
              <a:gd name="T3" fmla="*/ 0 h 106"/>
              <a:gd name="T4" fmla="*/ 105 w 361"/>
              <a:gd name="T5" fmla="*/ 105 h 106"/>
              <a:gd name="T6" fmla="*/ 360 w 361"/>
              <a:gd name="T7" fmla="*/ 3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1" h="106">
                <a:moveTo>
                  <a:pt x="0" y="82"/>
                </a:moveTo>
                <a:lnTo>
                  <a:pt x="180" y="0"/>
                </a:lnTo>
                <a:lnTo>
                  <a:pt x="105" y="105"/>
                </a:lnTo>
                <a:lnTo>
                  <a:pt x="360" y="3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Freeform 61"/>
          <p:cNvSpPr>
            <a:spLocks/>
          </p:cNvSpPr>
          <p:nvPr/>
        </p:nvSpPr>
        <p:spPr bwMode="auto">
          <a:xfrm>
            <a:off x="6133678" y="6031521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" name="Rectangle 78"/>
          <p:cNvSpPr>
            <a:spLocks noChangeArrowheads="1"/>
          </p:cNvSpPr>
          <p:nvPr/>
        </p:nvSpPr>
        <p:spPr bwMode="auto">
          <a:xfrm>
            <a:off x="6138441" y="600453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676400" y="4230171"/>
            <a:ext cx="14478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9 = 1</a:t>
            </a:r>
            <a:r>
              <a:rPr lang="en-US" b="1" dirty="0" smtClean="0"/>
              <a:t>001</a:t>
            </a:r>
            <a:endParaRPr lang="en-US" b="1" dirty="0"/>
          </a:p>
        </p:txBody>
      </p:sp>
      <p:cxnSp>
        <p:nvCxnSpPr>
          <p:cNvPr id="133" name="Straight Arrow Connector 132"/>
          <p:cNvCxnSpPr/>
          <p:nvPr/>
        </p:nvCxnSpPr>
        <p:spPr>
          <a:xfrm flipV="1">
            <a:off x="3145446" y="3843338"/>
            <a:ext cx="1269392" cy="571263"/>
          </a:xfrm>
          <a:prstGeom prst="straightConnector1">
            <a:avLst/>
          </a:prstGeom>
          <a:ln w="1587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Line 110"/>
          <p:cNvSpPr>
            <a:spLocks noChangeShapeType="1"/>
          </p:cNvSpPr>
          <p:nvPr/>
        </p:nvSpPr>
        <p:spPr bwMode="auto">
          <a:xfrm flipV="1">
            <a:off x="5168900" y="3590925"/>
            <a:ext cx="928688" cy="14652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" name="Rounded Rectangle 134"/>
          <p:cNvSpPr/>
          <p:nvPr/>
        </p:nvSpPr>
        <p:spPr>
          <a:xfrm>
            <a:off x="883778" y="2226918"/>
            <a:ext cx="2819400" cy="530912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Repeat…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207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Extendible Hashing: Inserting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3000" dirty="0" smtClean="0"/>
              <a:t>Example: insert </a:t>
            </a:r>
            <a:r>
              <a:rPr lang="en-US" sz="3000" dirty="0" smtClean="0">
                <a:solidFill>
                  <a:srgbClr val="FF0000"/>
                </a:solidFill>
              </a:rPr>
              <a:t>9* </a:t>
            </a:r>
            <a:endParaRPr lang="en-US" sz="3000" dirty="0">
              <a:solidFill>
                <a:srgbClr val="FF0000"/>
              </a:solidFill>
            </a:endParaRPr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  <a:p>
            <a:pPr marL="0" indent="0">
              <a:buNone/>
            </a:pPr>
            <a:endParaRPr lang="en-US" dirty="0" smtClean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</p:txBody>
      </p:sp>
      <p:sp>
        <p:nvSpPr>
          <p:cNvPr id="52" name="Freeform 51"/>
          <p:cNvSpPr>
            <a:spLocks/>
          </p:cNvSpPr>
          <p:nvPr/>
        </p:nvSpPr>
        <p:spPr bwMode="auto">
          <a:xfrm>
            <a:off x="4910138" y="3071813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Freeform 52"/>
          <p:cNvSpPr>
            <a:spLocks/>
          </p:cNvSpPr>
          <p:nvPr/>
        </p:nvSpPr>
        <p:spPr bwMode="auto">
          <a:xfrm>
            <a:off x="6110288" y="3371850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Freeform 53"/>
          <p:cNvSpPr>
            <a:spLocks/>
          </p:cNvSpPr>
          <p:nvPr/>
        </p:nvSpPr>
        <p:spPr bwMode="auto">
          <a:xfrm>
            <a:off x="6110288" y="4121150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Freeform 54"/>
          <p:cNvSpPr>
            <a:spLocks/>
          </p:cNvSpPr>
          <p:nvPr/>
        </p:nvSpPr>
        <p:spPr bwMode="auto">
          <a:xfrm>
            <a:off x="6110288" y="4897437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Freeform 58"/>
          <p:cNvSpPr>
            <a:spLocks/>
          </p:cNvSpPr>
          <p:nvPr/>
        </p:nvSpPr>
        <p:spPr bwMode="auto">
          <a:xfrm>
            <a:off x="6110288" y="2471738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Freeform 60"/>
          <p:cNvSpPr>
            <a:spLocks/>
          </p:cNvSpPr>
          <p:nvPr/>
        </p:nvSpPr>
        <p:spPr bwMode="auto">
          <a:xfrm>
            <a:off x="6121400" y="5622924"/>
            <a:ext cx="1201738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" name="Freeform 62"/>
          <p:cNvSpPr>
            <a:spLocks/>
          </p:cNvSpPr>
          <p:nvPr/>
        </p:nvSpPr>
        <p:spPr bwMode="auto">
          <a:xfrm>
            <a:off x="4910138" y="3371850"/>
            <a:ext cx="601662" cy="1200150"/>
          </a:xfrm>
          <a:custGeom>
            <a:avLst/>
            <a:gdLst>
              <a:gd name="T0" fmla="*/ 0 w 379"/>
              <a:gd name="T1" fmla="*/ 755 h 756"/>
              <a:gd name="T2" fmla="*/ 0 w 379"/>
              <a:gd name="T3" fmla="*/ 0 h 756"/>
              <a:gd name="T4" fmla="*/ 378 w 379"/>
              <a:gd name="T5" fmla="*/ 0 h 756"/>
              <a:gd name="T6" fmla="*/ 378 w 379"/>
              <a:gd name="T7" fmla="*/ 755 h 756"/>
              <a:gd name="T8" fmla="*/ 0 w 379"/>
              <a:gd name="T9" fmla="*/ 755 h 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9" h="756">
                <a:moveTo>
                  <a:pt x="0" y="755"/>
                </a:moveTo>
                <a:lnTo>
                  <a:pt x="0" y="0"/>
                </a:lnTo>
                <a:lnTo>
                  <a:pt x="378" y="0"/>
                </a:lnTo>
                <a:lnTo>
                  <a:pt x="378" y="755"/>
                </a:lnTo>
                <a:lnTo>
                  <a:pt x="0" y="75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Freeform 63"/>
          <p:cNvSpPr>
            <a:spLocks/>
          </p:cNvSpPr>
          <p:nvPr/>
        </p:nvSpPr>
        <p:spPr bwMode="auto">
          <a:xfrm>
            <a:off x="4910138" y="4570413"/>
            <a:ext cx="601662" cy="1203325"/>
          </a:xfrm>
          <a:custGeom>
            <a:avLst/>
            <a:gdLst>
              <a:gd name="T0" fmla="*/ 0 w 379"/>
              <a:gd name="T1" fmla="*/ 757 h 758"/>
              <a:gd name="T2" fmla="*/ 0 w 379"/>
              <a:gd name="T3" fmla="*/ 0 h 758"/>
              <a:gd name="T4" fmla="*/ 378 w 379"/>
              <a:gd name="T5" fmla="*/ 0 h 758"/>
              <a:gd name="T6" fmla="*/ 378 w 379"/>
              <a:gd name="T7" fmla="*/ 757 h 758"/>
              <a:gd name="T8" fmla="*/ 0 w 379"/>
              <a:gd name="T9" fmla="*/ 757 h 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9" h="758">
                <a:moveTo>
                  <a:pt x="0" y="757"/>
                </a:moveTo>
                <a:lnTo>
                  <a:pt x="0" y="0"/>
                </a:lnTo>
                <a:lnTo>
                  <a:pt x="378" y="0"/>
                </a:lnTo>
                <a:lnTo>
                  <a:pt x="378" y="757"/>
                </a:lnTo>
                <a:lnTo>
                  <a:pt x="0" y="75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" name="Rectangle 64"/>
          <p:cNvSpPr>
            <a:spLocks noChangeArrowheads="1"/>
          </p:cNvSpPr>
          <p:nvPr/>
        </p:nvSpPr>
        <p:spPr bwMode="auto">
          <a:xfrm>
            <a:off x="6678613" y="4891087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19*</a:t>
            </a:r>
          </a:p>
        </p:txBody>
      </p:sp>
      <p:sp>
        <p:nvSpPr>
          <p:cNvPr id="76" name="Rectangle 68"/>
          <p:cNvSpPr>
            <a:spLocks noChangeArrowheads="1"/>
          </p:cNvSpPr>
          <p:nvPr/>
        </p:nvSpPr>
        <p:spPr bwMode="auto">
          <a:xfrm>
            <a:off x="4414838" y="33813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000</a:t>
            </a:r>
          </a:p>
        </p:txBody>
      </p:sp>
      <p:sp>
        <p:nvSpPr>
          <p:cNvPr id="77" name="Rectangle 69"/>
          <p:cNvSpPr>
            <a:spLocks noChangeArrowheads="1"/>
          </p:cNvSpPr>
          <p:nvPr/>
        </p:nvSpPr>
        <p:spPr bwMode="auto">
          <a:xfrm>
            <a:off x="4414838" y="369252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001</a:t>
            </a:r>
          </a:p>
        </p:txBody>
      </p:sp>
      <p:sp>
        <p:nvSpPr>
          <p:cNvPr id="78" name="Rectangle 70"/>
          <p:cNvSpPr>
            <a:spLocks noChangeArrowheads="1"/>
          </p:cNvSpPr>
          <p:nvPr/>
        </p:nvSpPr>
        <p:spPr bwMode="auto">
          <a:xfrm>
            <a:off x="4405313" y="399256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010</a:t>
            </a:r>
          </a:p>
        </p:txBody>
      </p:sp>
      <p:sp>
        <p:nvSpPr>
          <p:cNvPr id="79" name="Rectangle 71"/>
          <p:cNvSpPr>
            <a:spLocks noChangeArrowheads="1"/>
          </p:cNvSpPr>
          <p:nvPr/>
        </p:nvSpPr>
        <p:spPr bwMode="auto">
          <a:xfrm>
            <a:off x="4405313" y="430530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011</a:t>
            </a:r>
          </a:p>
        </p:txBody>
      </p:sp>
      <p:sp>
        <p:nvSpPr>
          <p:cNvPr id="80" name="Rectangle 72"/>
          <p:cNvSpPr>
            <a:spLocks noChangeArrowheads="1"/>
          </p:cNvSpPr>
          <p:nvPr/>
        </p:nvSpPr>
        <p:spPr bwMode="auto">
          <a:xfrm>
            <a:off x="4394200" y="459263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100</a:t>
            </a:r>
          </a:p>
        </p:txBody>
      </p:sp>
      <p:sp>
        <p:nvSpPr>
          <p:cNvPr id="81" name="Rectangle 73"/>
          <p:cNvSpPr>
            <a:spLocks noChangeArrowheads="1"/>
          </p:cNvSpPr>
          <p:nvPr/>
        </p:nvSpPr>
        <p:spPr bwMode="auto">
          <a:xfrm>
            <a:off x="4394200" y="49053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101</a:t>
            </a:r>
          </a:p>
        </p:txBody>
      </p:sp>
      <p:sp>
        <p:nvSpPr>
          <p:cNvPr id="82" name="Rectangle 74"/>
          <p:cNvSpPr>
            <a:spLocks noChangeArrowheads="1"/>
          </p:cNvSpPr>
          <p:nvPr/>
        </p:nvSpPr>
        <p:spPr bwMode="auto">
          <a:xfrm>
            <a:off x="4381500" y="522763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110</a:t>
            </a:r>
          </a:p>
        </p:txBody>
      </p:sp>
      <p:sp>
        <p:nvSpPr>
          <p:cNvPr id="83" name="Rectangle 75"/>
          <p:cNvSpPr>
            <a:spLocks noChangeArrowheads="1"/>
          </p:cNvSpPr>
          <p:nvPr/>
        </p:nvSpPr>
        <p:spPr bwMode="auto">
          <a:xfrm>
            <a:off x="4394200" y="551656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111</a:t>
            </a:r>
          </a:p>
        </p:txBody>
      </p:sp>
      <p:sp>
        <p:nvSpPr>
          <p:cNvPr id="84" name="Rectangle 76"/>
          <p:cNvSpPr>
            <a:spLocks noChangeArrowheads="1"/>
          </p:cNvSpPr>
          <p:nvPr/>
        </p:nvSpPr>
        <p:spPr bwMode="auto">
          <a:xfrm>
            <a:off x="4911725" y="30464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3</a:t>
            </a:r>
          </a:p>
        </p:txBody>
      </p:sp>
      <p:sp>
        <p:nvSpPr>
          <p:cNvPr id="87" name="Rectangle 79"/>
          <p:cNvSpPr>
            <a:spLocks noChangeArrowheads="1"/>
          </p:cNvSpPr>
          <p:nvPr/>
        </p:nvSpPr>
        <p:spPr bwMode="auto">
          <a:xfrm>
            <a:off x="4622800" y="6011863"/>
            <a:ext cx="1268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DIRECTORY</a:t>
            </a:r>
          </a:p>
        </p:txBody>
      </p:sp>
      <p:sp>
        <p:nvSpPr>
          <p:cNvPr id="88" name="Rectangle 80"/>
          <p:cNvSpPr>
            <a:spLocks noChangeArrowheads="1"/>
          </p:cNvSpPr>
          <p:nvPr/>
        </p:nvSpPr>
        <p:spPr bwMode="auto">
          <a:xfrm>
            <a:off x="7361238" y="2478088"/>
            <a:ext cx="887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A</a:t>
            </a:r>
          </a:p>
        </p:txBody>
      </p:sp>
      <p:sp>
        <p:nvSpPr>
          <p:cNvPr id="89" name="Rectangle 81"/>
          <p:cNvSpPr>
            <a:spLocks noChangeArrowheads="1"/>
          </p:cNvSpPr>
          <p:nvPr/>
        </p:nvSpPr>
        <p:spPr bwMode="auto">
          <a:xfrm>
            <a:off x="7373938" y="3390900"/>
            <a:ext cx="8778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B</a:t>
            </a:r>
          </a:p>
        </p:txBody>
      </p:sp>
      <p:sp>
        <p:nvSpPr>
          <p:cNvPr id="90" name="Rectangle 82"/>
          <p:cNvSpPr>
            <a:spLocks noChangeArrowheads="1"/>
          </p:cNvSpPr>
          <p:nvPr/>
        </p:nvSpPr>
        <p:spPr bwMode="auto">
          <a:xfrm>
            <a:off x="7375525" y="4129088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C</a:t>
            </a:r>
          </a:p>
        </p:txBody>
      </p:sp>
      <p:sp>
        <p:nvSpPr>
          <p:cNvPr id="91" name="Rectangle 83"/>
          <p:cNvSpPr>
            <a:spLocks noChangeArrowheads="1"/>
          </p:cNvSpPr>
          <p:nvPr/>
        </p:nvSpPr>
        <p:spPr bwMode="auto">
          <a:xfrm>
            <a:off x="7375525" y="4916487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D</a:t>
            </a:r>
          </a:p>
        </p:txBody>
      </p:sp>
      <p:sp>
        <p:nvSpPr>
          <p:cNvPr id="92" name="Rectangle 84"/>
          <p:cNvSpPr>
            <a:spLocks noChangeArrowheads="1"/>
          </p:cNvSpPr>
          <p:nvPr/>
        </p:nvSpPr>
        <p:spPr bwMode="auto">
          <a:xfrm>
            <a:off x="7375525" y="5605462"/>
            <a:ext cx="9763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Bucket A2</a:t>
            </a:r>
          </a:p>
        </p:txBody>
      </p:sp>
      <p:sp>
        <p:nvSpPr>
          <p:cNvPr id="93" name="Rectangle 85"/>
          <p:cNvSpPr>
            <a:spLocks noChangeArrowheads="1"/>
          </p:cNvSpPr>
          <p:nvPr/>
        </p:nvSpPr>
        <p:spPr bwMode="auto">
          <a:xfrm>
            <a:off x="7210425" y="5834062"/>
            <a:ext cx="1735797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(`split </a:t>
            </a:r>
            <a:r>
              <a:rPr lang="en-US" sz="1400" b="1" dirty="0" smtClean="0">
                <a:solidFill>
                  <a:srgbClr val="000000"/>
                </a:solidFill>
                <a:latin typeface="Helvetica" charset="0"/>
              </a:rPr>
              <a:t>image‘ of A)</a:t>
            </a:r>
            <a:endParaRPr lang="en-US" sz="1400" b="1" dirty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95" name="Rectangle 87"/>
          <p:cNvSpPr>
            <a:spLocks noChangeArrowheads="1"/>
          </p:cNvSpPr>
          <p:nvPr/>
        </p:nvSpPr>
        <p:spPr bwMode="auto">
          <a:xfrm>
            <a:off x="6673850" y="24622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32*</a:t>
            </a:r>
          </a:p>
        </p:txBody>
      </p:sp>
      <p:sp>
        <p:nvSpPr>
          <p:cNvPr id="96" name="Rectangle 88"/>
          <p:cNvSpPr>
            <a:spLocks noChangeArrowheads="1"/>
          </p:cNvSpPr>
          <p:nvPr/>
        </p:nvSpPr>
        <p:spPr bwMode="auto">
          <a:xfrm>
            <a:off x="6103938" y="33639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1*</a:t>
            </a:r>
          </a:p>
        </p:txBody>
      </p:sp>
      <p:sp>
        <p:nvSpPr>
          <p:cNvPr id="100" name="Rectangle 92"/>
          <p:cNvSpPr>
            <a:spLocks noChangeArrowheads="1"/>
          </p:cNvSpPr>
          <p:nvPr/>
        </p:nvSpPr>
        <p:spPr bwMode="auto">
          <a:xfrm>
            <a:off x="6964363" y="246380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16*</a:t>
            </a:r>
          </a:p>
        </p:txBody>
      </p:sp>
      <p:sp>
        <p:nvSpPr>
          <p:cNvPr id="101" name="Rectangle 93"/>
          <p:cNvSpPr>
            <a:spLocks noChangeArrowheads="1"/>
          </p:cNvSpPr>
          <p:nvPr/>
        </p:nvSpPr>
        <p:spPr bwMode="auto">
          <a:xfrm>
            <a:off x="6078538" y="411480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10*</a:t>
            </a:r>
          </a:p>
        </p:txBody>
      </p:sp>
      <p:sp>
        <p:nvSpPr>
          <p:cNvPr id="102" name="Rectangle 94"/>
          <p:cNvSpPr>
            <a:spLocks noChangeArrowheads="1"/>
          </p:cNvSpPr>
          <p:nvPr/>
        </p:nvSpPr>
        <p:spPr bwMode="auto">
          <a:xfrm>
            <a:off x="6078538" y="487680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15*</a:t>
            </a:r>
          </a:p>
        </p:txBody>
      </p:sp>
      <p:sp>
        <p:nvSpPr>
          <p:cNvPr id="103" name="Rectangle 95"/>
          <p:cNvSpPr>
            <a:spLocks noChangeArrowheads="1"/>
          </p:cNvSpPr>
          <p:nvPr/>
        </p:nvSpPr>
        <p:spPr bwMode="auto">
          <a:xfrm>
            <a:off x="6397625" y="488950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7*</a:t>
            </a:r>
          </a:p>
        </p:txBody>
      </p:sp>
      <p:sp>
        <p:nvSpPr>
          <p:cNvPr id="104" name="Rectangle 96"/>
          <p:cNvSpPr>
            <a:spLocks noChangeArrowheads="1"/>
          </p:cNvSpPr>
          <p:nvPr/>
        </p:nvSpPr>
        <p:spPr bwMode="auto">
          <a:xfrm>
            <a:off x="6115050" y="5613399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4*</a:t>
            </a:r>
          </a:p>
        </p:txBody>
      </p:sp>
      <p:sp>
        <p:nvSpPr>
          <p:cNvPr id="105" name="Rectangle 97"/>
          <p:cNvSpPr>
            <a:spLocks noChangeArrowheads="1"/>
          </p:cNvSpPr>
          <p:nvPr/>
        </p:nvSpPr>
        <p:spPr bwMode="auto">
          <a:xfrm>
            <a:off x="6704013" y="5602287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20*</a:t>
            </a:r>
          </a:p>
        </p:txBody>
      </p:sp>
      <p:sp>
        <p:nvSpPr>
          <p:cNvPr id="106" name="Rectangle 98"/>
          <p:cNvSpPr>
            <a:spLocks noChangeArrowheads="1"/>
          </p:cNvSpPr>
          <p:nvPr/>
        </p:nvSpPr>
        <p:spPr bwMode="auto">
          <a:xfrm>
            <a:off x="6403975" y="5599112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12*</a:t>
            </a:r>
          </a:p>
        </p:txBody>
      </p:sp>
      <p:sp>
        <p:nvSpPr>
          <p:cNvPr id="107" name="Line 99"/>
          <p:cNvSpPr>
            <a:spLocks noChangeShapeType="1"/>
          </p:cNvSpPr>
          <p:nvPr/>
        </p:nvSpPr>
        <p:spPr bwMode="auto">
          <a:xfrm>
            <a:off x="4911725" y="3619500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Line 100"/>
          <p:cNvSpPr>
            <a:spLocks noChangeShapeType="1"/>
          </p:cNvSpPr>
          <p:nvPr/>
        </p:nvSpPr>
        <p:spPr bwMode="auto">
          <a:xfrm>
            <a:off x="4921250" y="3914775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Line 101"/>
          <p:cNvSpPr>
            <a:spLocks noChangeShapeType="1"/>
          </p:cNvSpPr>
          <p:nvPr/>
        </p:nvSpPr>
        <p:spPr bwMode="auto">
          <a:xfrm>
            <a:off x="4918075" y="4246563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Line 102"/>
          <p:cNvSpPr>
            <a:spLocks noChangeShapeType="1"/>
          </p:cNvSpPr>
          <p:nvPr/>
        </p:nvSpPr>
        <p:spPr bwMode="auto">
          <a:xfrm>
            <a:off x="4938713" y="4875213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Line 103"/>
          <p:cNvSpPr>
            <a:spLocks noChangeShapeType="1"/>
          </p:cNvSpPr>
          <p:nvPr/>
        </p:nvSpPr>
        <p:spPr bwMode="auto">
          <a:xfrm>
            <a:off x="4913313" y="5229225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Line 104"/>
          <p:cNvSpPr>
            <a:spLocks noChangeShapeType="1"/>
          </p:cNvSpPr>
          <p:nvPr/>
        </p:nvSpPr>
        <p:spPr bwMode="auto">
          <a:xfrm>
            <a:off x="4922838" y="5513388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Line 105"/>
          <p:cNvSpPr>
            <a:spLocks noChangeShapeType="1"/>
          </p:cNvSpPr>
          <p:nvPr/>
        </p:nvSpPr>
        <p:spPr bwMode="auto">
          <a:xfrm flipV="1">
            <a:off x="5197475" y="2655888"/>
            <a:ext cx="904875" cy="85725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Line 106"/>
          <p:cNvSpPr>
            <a:spLocks noChangeShapeType="1"/>
          </p:cNvSpPr>
          <p:nvPr/>
        </p:nvSpPr>
        <p:spPr bwMode="auto">
          <a:xfrm flipV="1">
            <a:off x="5197475" y="3548063"/>
            <a:ext cx="917575" cy="2508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Line 107"/>
          <p:cNvSpPr>
            <a:spLocks noChangeShapeType="1"/>
          </p:cNvSpPr>
          <p:nvPr/>
        </p:nvSpPr>
        <p:spPr bwMode="auto">
          <a:xfrm>
            <a:off x="5210175" y="4097339"/>
            <a:ext cx="900113" cy="18256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Line 108"/>
          <p:cNvSpPr>
            <a:spLocks noChangeShapeType="1"/>
          </p:cNvSpPr>
          <p:nvPr/>
        </p:nvSpPr>
        <p:spPr bwMode="auto">
          <a:xfrm>
            <a:off x="5221287" y="4418013"/>
            <a:ext cx="904875" cy="649286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Line 109"/>
          <p:cNvSpPr>
            <a:spLocks noChangeShapeType="1"/>
          </p:cNvSpPr>
          <p:nvPr/>
        </p:nvSpPr>
        <p:spPr bwMode="auto">
          <a:xfrm>
            <a:off x="5138739" y="4679951"/>
            <a:ext cx="982662" cy="10937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Line 110"/>
          <p:cNvSpPr>
            <a:spLocks noChangeShapeType="1"/>
          </p:cNvSpPr>
          <p:nvPr/>
        </p:nvSpPr>
        <p:spPr bwMode="auto">
          <a:xfrm>
            <a:off x="5168900" y="5056187"/>
            <a:ext cx="958374" cy="1439491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Line 111"/>
          <p:cNvSpPr>
            <a:spLocks noChangeShapeType="1"/>
          </p:cNvSpPr>
          <p:nvPr/>
        </p:nvSpPr>
        <p:spPr bwMode="auto">
          <a:xfrm flipV="1">
            <a:off x="5181600" y="4323555"/>
            <a:ext cx="928688" cy="1070769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Line 112"/>
          <p:cNvSpPr>
            <a:spLocks noChangeShapeType="1"/>
          </p:cNvSpPr>
          <p:nvPr/>
        </p:nvSpPr>
        <p:spPr bwMode="auto">
          <a:xfrm flipV="1">
            <a:off x="5181600" y="5067298"/>
            <a:ext cx="920750" cy="584201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Rectangle 123"/>
          <p:cNvSpPr>
            <a:spLocks noChangeArrowheads="1"/>
          </p:cNvSpPr>
          <p:nvPr/>
        </p:nvSpPr>
        <p:spPr bwMode="auto">
          <a:xfrm>
            <a:off x="4191000" y="2560638"/>
            <a:ext cx="14620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Courier New" pitchFamily="49" charset="0"/>
              </a:rPr>
              <a:t>GLOBAL DEPTH</a:t>
            </a:r>
          </a:p>
        </p:txBody>
      </p:sp>
      <p:sp>
        <p:nvSpPr>
          <p:cNvPr id="124" name="Freeform 125"/>
          <p:cNvSpPr>
            <a:spLocks/>
          </p:cNvSpPr>
          <p:nvPr/>
        </p:nvSpPr>
        <p:spPr bwMode="auto">
          <a:xfrm>
            <a:off x="5053013" y="2806700"/>
            <a:ext cx="180975" cy="276225"/>
          </a:xfrm>
          <a:custGeom>
            <a:avLst/>
            <a:gdLst>
              <a:gd name="T0" fmla="*/ 75 w 114"/>
              <a:gd name="T1" fmla="*/ 0 h 174"/>
              <a:gd name="T2" fmla="*/ 113 w 114"/>
              <a:gd name="T3" fmla="*/ 68 h 174"/>
              <a:gd name="T4" fmla="*/ 0 w 114"/>
              <a:gd name="T5" fmla="*/ 38 h 174"/>
              <a:gd name="T6" fmla="*/ 15 w 114"/>
              <a:gd name="T7" fmla="*/ 173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4" h="174">
                <a:moveTo>
                  <a:pt x="75" y="0"/>
                </a:moveTo>
                <a:lnTo>
                  <a:pt x="113" y="68"/>
                </a:lnTo>
                <a:lnTo>
                  <a:pt x="0" y="38"/>
                </a:lnTo>
                <a:lnTo>
                  <a:pt x="15" y="173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5" name="Straight Arrow Connector 4"/>
          <p:cNvCxnSpPr>
            <a:stCxn id="114" idx="0"/>
            <a:endCxn id="114" idx="1"/>
          </p:cNvCxnSpPr>
          <p:nvPr/>
        </p:nvCxnSpPr>
        <p:spPr>
          <a:xfrm flipV="1">
            <a:off x="5197475" y="3548063"/>
            <a:ext cx="917575" cy="25082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Freeform 60"/>
          <p:cNvSpPr>
            <a:spLocks/>
          </p:cNvSpPr>
          <p:nvPr/>
        </p:nvSpPr>
        <p:spPr bwMode="auto">
          <a:xfrm>
            <a:off x="6127274" y="6341650"/>
            <a:ext cx="1201738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Rectangle 84"/>
          <p:cNvSpPr>
            <a:spLocks noChangeArrowheads="1"/>
          </p:cNvSpPr>
          <p:nvPr/>
        </p:nvSpPr>
        <p:spPr bwMode="auto">
          <a:xfrm>
            <a:off x="7381399" y="6324188"/>
            <a:ext cx="105798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Bucket </a:t>
            </a:r>
            <a:r>
              <a:rPr lang="en-US" sz="1400" b="1" dirty="0" smtClean="0">
                <a:solidFill>
                  <a:srgbClr val="000000"/>
                </a:solidFill>
                <a:latin typeface="Helvetica" charset="0"/>
              </a:rPr>
              <a:t>B2</a:t>
            </a:r>
            <a:endParaRPr lang="en-US" sz="1400" b="1" dirty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65" name="Rectangle 85"/>
          <p:cNvSpPr>
            <a:spLocks noChangeArrowheads="1"/>
          </p:cNvSpPr>
          <p:nvPr/>
        </p:nvSpPr>
        <p:spPr bwMode="auto">
          <a:xfrm>
            <a:off x="7216299" y="6552788"/>
            <a:ext cx="174246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(`split </a:t>
            </a:r>
            <a:r>
              <a:rPr lang="en-US" sz="1400" b="1" dirty="0" smtClean="0">
                <a:solidFill>
                  <a:srgbClr val="000000"/>
                </a:solidFill>
                <a:latin typeface="Helvetica" charset="0"/>
              </a:rPr>
              <a:t>image‘ of B)</a:t>
            </a:r>
            <a:endParaRPr lang="en-US" sz="1400" b="1" dirty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75" name="Rectangle 89"/>
          <p:cNvSpPr>
            <a:spLocks noChangeArrowheads="1"/>
          </p:cNvSpPr>
          <p:nvPr/>
        </p:nvSpPr>
        <p:spPr bwMode="auto">
          <a:xfrm>
            <a:off x="6363441" y="6344867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5*</a:t>
            </a:r>
          </a:p>
        </p:txBody>
      </p:sp>
      <p:sp>
        <p:nvSpPr>
          <p:cNvPr id="85" name="Rectangle 90"/>
          <p:cNvSpPr>
            <a:spLocks noChangeArrowheads="1"/>
          </p:cNvSpPr>
          <p:nvPr/>
        </p:nvSpPr>
        <p:spPr bwMode="auto">
          <a:xfrm>
            <a:off x="6653954" y="6344867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21*</a:t>
            </a:r>
          </a:p>
        </p:txBody>
      </p:sp>
      <p:sp>
        <p:nvSpPr>
          <p:cNvPr id="86" name="Rectangle 91"/>
          <p:cNvSpPr>
            <a:spLocks noChangeArrowheads="1"/>
          </p:cNvSpPr>
          <p:nvPr/>
        </p:nvSpPr>
        <p:spPr bwMode="auto">
          <a:xfrm>
            <a:off x="6942879" y="6344867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13*</a:t>
            </a:r>
          </a:p>
        </p:txBody>
      </p:sp>
      <p:sp>
        <p:nvSpPr>
          <p:cNvPr id="121" name="Rectangle 88"/>
          <p:cNvSpPr>
            <a:spLocks noChangeArrowheads="1"/>
          </p:cNvSpPr>
          <p:nvPr/>
        </p:nvSpPr>
        <p:spPr bwMode="auto">
          <a:xfrm>
            <a:off x="6397387" y="3361346"/>
            <a:ext cx="352662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 smtClean="0">
                <a:solidFill>
                  <a:srgbClr val="000000"/>
                </a:solidFill>
                <a:latin typeface="Helvetica" charset="0"/>
              </a:rPr>
              <a:t>9*</a:t>
            </a:r>
            <a:endParaRPr lang="en-US" sz="1400" b="1" dirty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73" name="Freeform 55"/>
          <p:cNvSpPr>
            <a:spLocks/>
          </p:cNvSpPr>
          <p:nvPr/>
        </p:nvSpPr>
        <p:spPr bwMode="auto">
          <a:xfrm>
            <a:off x="6115448" y="3066071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Freeform 56"/>
          <p:cNvSpPr>
            <a:spLocks/>
          </p:cNvSpPr>
          <p:nvPr/>
        </p:nvSpPr>
        <p:spPr bwMode="auto">
          <a:xfrm>
            <a:off x="6115448" y="3808651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" name="Freeform 57"/>
          <p:cNvSpPr>
            <a:spLocks/>
          </p:cNvSpPr>
          <p:nvPr/>
        </p:nvSpPr>
        <p:spPr bwMode="auto">
          <a:xfrm>
            <a:off x="6115448" y="4592824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" name="Freeform 59"/>
          <p:cNvSpPr>
            <a:spLocks/>
          </p:cNvSpPr>
          <p:nvPr/>
        </p:nvSpPr>
        <p:spPr bwMode="auto">
          <a:xfrm>
            <a:off x="6106902" y="2157412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" name="Freeform 61"/>
          <p:cNvSpPr>
            <a:spLocks/>
          </p:cNvSpPr>
          <p:nvPr/>
        </p:nvSpPr>
        <p:spPr bwMode="auto">
          <a:xfrm>
            <a:off x="6126560" y="5318972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Rectangle 65"/>
          <p:cNvSpPr>
            <a:spLocks noChangeArrowheads="1"/>
          </p:cNvSpPr>
          <p:nvPr/>
        </p:nvSpPr>
        <p:spPr bwMode="auto">
          <a:xfrm>
            <a:off x="6104335" y="3029558"/>
            <a:ext cx="28213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3</a:t>
            </a:r>
          </a:p>
        </p:txBody>
      </p:sp>
      <p:sp>
        <p:nvSpPr>
          <p:cNvPr id="123" name="Rectangle 66"/>
          <p:cNvSpPr>
            <a:spLocks noChangeArrowheads="1"/>
          </p:cNvSpPr>
          <p:nvPr/>
        </p:nvSpPr>
        <p:spPr bwMode="auto">
          <a:xfrm>
            <a:off x="6118623" y="3767984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sp>
        <p:nvSpPr>
          <p:cNvPr id="125" name="Rectangle 67"/>
          <p:cNvSpPr>
            <a:spLocks noChangeArrowheads="1"/>
          </p:cNvSpPr>
          <p:nvPr/>
        </p:nvSpPr>
        <p:spPr bwMode="auto">
          <a:xfrm>
            <a:off x="6118623" y="4565836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sp>
        <p:nvSpPr>
          <p:cNvPr id="126" name="Rectangle 77"/>
          <p:cNvSpPr>
            <a:spLocks noChangeArrowheads="1"/>
          </p:cNvSpPr>
          <p:nvPr/>
        </p:nvSpPr>
        <p:spPr bwMode="auto">
          <a:xfrm>
            <a:off x="6095789" y="2119312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3</a:t>
            </a:r>
          </a:p>
        </p:txBody>
      </p:sp>
      <p:sp>
        <p:nvSpPr>
          <p:cNvPr id="127" name="Rectangle 78"/>
          <p:cNvSpPr>
            <a:spLocks noChangeArrowheads="1"/>
          </p:cNvSpPr>
          <p:nvPr/>
        </p:nvSpPr>
        <p:spPr bwMode="auto">
          <a:xfrm>
            <a:off x="6131323" y="5291984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3</a:t>
            </a:r>
          </a:p>
        </p:txBody>
      </p:sp>
      <p:sp>
        <p:nvSpPr>
          <p:cNvPr id="128" name="Rectangle 122"/>
          <p:cNvSpPr>
            <a:spLocks noChangeArrowheads="1"/>
          </p:cNvSpPr>
          <p:nvPr/>
        </p:nvSpPr>
        <p:spPr bwMode="auto">
          <a:xfrm>
            <a:off x="4291410" y="2192337"/>
            <a:ext cx="135413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Courier New" pitchFamily="49" charset="0"/>
              </a:rPr>
              <a:t>LOCAL DEPTH</a:t>
            </a:r>
          </a:p>
        </p:txBody>
      </p:sp>
      <p:sp>
        <p:nvSpPr>
          <p:cNvPr id="129" name="Freeform 124"/>
          <p:cNvSpPr>
            <a:spLocks/>
          </p:cNvSpPr>
          <p:nvPr/>
        </p:nvSpPr>
        <p:spPr bwMode="auto">
          <a:xfrm>
            <a:off x="5558235" y="2209800"/>
            <a:ext cx="573088" cy="168275"/>
          </a:xfrm>
          <a:custGeom>
            <a:avLst/>
            <a:gdLst>
              <a:gd name="T0" fmla="*/ 0 w 361"/>
              <a:gd name="T1" fmla="*/ 82 h 106"/>
              <a:gd name="T2" fmla="*/ 180 w 361"/>
              <a:gd name="T3" fmla="*/ 0 h 106"/>
              <a:gd name="T4" fmla="*/ 105 w 361"/>
              <a:gd name="T5" fmla="*/ 105 h 106"/>
              <a:gd name="T6" fmla="*/ 360 w 361"/>
              <a:gd name="T7" fmla="*/ 3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1" h="106">
                <a:moveTo>
                  <a:pt x="0" y="82"/>
                </a:moveTo>
                <a:lnTo>
                  <a:pt x="180" y="0"/>
                </a:lnTo>
                <a:lnTo>
                  <a:pt x="105" y="105"/>
                </a:lnTo>
                <a:lnTo>
                  <a:pt x="360" y="3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Freeform 61"/>
          <p:cNvSpPr>
            <a:spLocks/>
          </p:cNvSpPr>
          <p:nvPr/>
        </p:nvSpPr>
        <p:spPr bwMode="auto">
          <a:xfrm>
            <a:off x="6133678" y="6031521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" name="Rectangle 78"/>
          <p:cNvSpPr>
            <a:spLocks noChangeArrowheads="1"/>
          </p:cNvSpPr>
          <p:nvPr/>
        </p:nvSpPr>
        <p:spPr bwMode="auto">
          <a:xfrm>
            <a:off x="6138441" y="600453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4793" y="5138739"/>
            <a:ext cx="18310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B050"/>
                </a:solidFill>
              </a:rPr>
              <a:t>FINAL STATE!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1676400" y="4230171"/>
            <a:ext cx="14478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9 = 1</a:t>
            </a:r>
            <a:r>
              <a:rPr lang="en-US" b="1" dirty="0" smtClean="0"/>
              <a:t>001</a:t>
            </a:r>
            <a:endParaRPr lang="en-US" b="1" dirty="0"/>
          </a:p>
        </p:txBody>
      </p:sp>
      <p:cxnSp>
        <p:nvCxnSpPr>
          <p:cNvPr id="133" name="Straight Arrow Connector 132"/>
          <p:cNvCxnSpPr/>
          <p:nvPr/>
        </p:nvCxnSpPr>
        <p:spPr>
          <a:xfrm flipV="1">
            <a:off x="3145446" y="3843338"/>
            <a:ext cx="1269392" cy="571263"/>
          </a:xfrm>
          <a:prstGeom prst="straightConnector1">
            <a:avLst/>
          </a:prstGeom>
          <a:ln w="1587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ounded Rectangle 133"/>
          <p:cNvSpPr/>
          <p:nvPr/>
        </p:nvSpPr>
        <p:spPr>
          <a:xfrm>
            <a:off x="883778" y="2226918"/>
            <a:ext cx="2819400" cy="530912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Repeat…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116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Extendible Hashing: Inserting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3000" dirty="0" smtClean="0"/>
              <a:t>Example: insert </a:t>
            </a:r>
            <a:r>
              <a:rPr lang="en-US" sz="3000" dirty="0" smtClean="0">
                <a:solidFill>
                  <a:srgbClr val="FF0000"/>
                </a:solidFill>
              </a:rPr>
              <a:t>20* </a:t>
            </a:r>
            <a:endParaRPr lang="en-US" sz="3000" dirty="0">
              <a:solidFill>
                <a:srgbClr val="FF0000"/>
              </a:solidFill>
            </a:endParaRPr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  <a:p>
            <a:pPr marL="0" indent="0">
              <a:buNone/>
            </a:pPr>
            <a:endParaRPr lang="en-US" dirty="0" smtClean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</p:txBody>
      </p:sp>
      <p:sp>
        <p:nvSpPr>
          <p:cNvPr id="126" name="Rounded Rectangle 125"/>
          <p:cNvSpPr/>
          <p:nvPr/>
        </p:nvSpPr>
        <p:spPr>
          <a:xfrm>
            <a:off x="914400" y="5107887"/>
            <a:ext cx="2819400" cy="1278626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Because the local depth and the global depth are both 2, we </a:t>
            </a:r>
            <a:r>
              <a:rPr lang="en-US" i="1" dirty="0" smtClean="0">
                <a:solidFill>
                  <a:schemeClr val="tx1"/>
                </a:solidFill>
              </a:rPr>
              <a:t>should</a:t>
            </a:r>
            <a:r>
              <a:rPr lang="en-US" dirty="0" smtClean="0">
                <a:solidFill>
                  <a:schemeClr val="tx1"/>
                </a:solidFill>
              </a:rPr>
              <a:t> double the directory!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1524000" y="4328956"/>
            <a:ext cx="14478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20 = 101</a:t>
            </a:r>
            <a:r>
              <a:rPr lang="en-US" b="1" dirty="0" smtClean="0"/>
              <a:t>00</a:t>
            </a:r>
            <a:endParaRPr lang="en-US" dirty="0"/>
          </a:p>
        </p:txBody>
      </p:sp>
      <p:sp>
        <p:nvSpPr>
          <p:cNvPr id="227" name="Freeform 9"/>
          <p:cNvSpPr>
            <a:spLocks/>
          </p:cNvSpPr>
          <p:nvPr/>
        </p:nvSpPr>
        <p:spPr bwMode="auto">
          <a:xfrm>
            <a:off x="4956175" y="3492500"/>
            <a:ext cx="352425" cy="350838"/>
          </a:xfrm>
          <a:custGeom>
            <a:avLst/>
            <a:gdLst>
              <a:gd name="T0" fmla="*/ 0 w 222"/>
              <a:gd name="T1" fmla="*/ 220 h 221"/>
              <a:gd name="T2" fmla="*/ 0 w 222"/>
              <a:gd name="T3" fmla="*/ 0 h 221"/>
              <a:gd name="T4" fmla="*/ 221 w 222"/>
              <a:gd name="T5" fmla="*/ 0 h 221"/>
              <a:gd name="T6" fmla="*/ 221 w 222"/>
              <a:gd name="T7" fmla="*/ 220 h 221"/>
              <a:gd name="T8" fmla="*/ 0 w 222"/>
              <a:gd name="T9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2" h="221">
                <a:moveTo>
                  <a:pt x="0" y="220"/>
                </a:moveTo>
                <a:lnTo>
                  <a:pt x="0" y="0"/>
                </a:lnTo>
                <a:lnTo>
                  <a:pt x="221" y="0"/>
                </a:lnTo>
                <a:lnTo>
                  <a:pt x="221" y="220"/>
                </a:lnTo>
                <a:lnTo>
                  <a:pt x="0" y="220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8" name="Freeform 10"/>
          <p:cNvSpPr>
            <a:spLocks/>
          </p:cNvSpPr>
          <p:nvPr/>
        </p:nvSpPr>
        <p:spPr bwMode="auto">
          <a:xfrm>
            <a:off x="6356350" y="3841750"/>
            <a:ext cx="1403350" cy="352425"/>
          </a:xfrm>
          <a:custGeom>
            <a:avLst/>
            <a:gdLst>
              <a:gd name="T0" fmla="*/ 0 w 884"/>
              <a:gd name="T1" fmla="*/ 221 h 222"/>
              <a:gd name="T2" fmla="*/ 0 w 884"/>
              <a:gd name="T3" fmla="*/ 0 h 222"/>
              <a:gd name="T4" fmla="*/ 883 w 884"/>
              <a:gd name="T5" fmla="*/ 0 h 222"/>
              <a:gd name="T6" fmla="*/ 883 w 884"/>
              <a:gd name="T7" fmla="*/ 221 h 222"/>
              <a:gd name="T8" fmla="*/ 0 w 884"/>
              <a:gd name="T9" fmla="*/ 221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" h="222">
                <a:moveTo>
                  <a:pt x="0" y="221"/>
                </a:moveTo>
                <a:lnTo>
                  <a:pt x="0" y="0"/>
                </a:lnTo>
                <a:lnTo>
                  <a:pt x="883" y="0"/>
                </a:lnTo>
                <a:lnTo>
                  <a:pt x="883" y="221"/>
                </a:lnTo>
                <a:lnTo>
                  <a:pt x="0" y="22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9" name="Freeform 11"/>
          <p:cNvSpPr>
            <a:spLocks/>
          </p:cNvSpPr>
          <p:nvPr/>
        </p:nvSpPr>
        <p:spPr bwMode="auto">
          <a:xfrm>
            <a:off x="6356350" y="4892675"/>
            <a:ext cx="1403350" cy="350838"/>
          </a:xfrm>
          <a:custGeom>
            <a:avLst/>
            <a:gdLst>
              <a:gd name="T0" fmla="*/ 0 w 884"/>
              <a:gd name="T1" fmla="*/ 220 h 221"/>
              <a:gd name="T2" fmla="*/ 0 w 884"/>
              <a:gd name="T3" fmla="*/ 0 h 221"/>
              <a:gd name="T4" fmla="*/ 883 w 884"/>
              <a:gd name="T5" fmla="*/ 0 h 221"/>
              <a:gd name="T6" fmla="*/ 883 w 884"/>
              <a:gd name="T7" fmla="*/ 220 h 221"/>
              <a:gd name="T8" fmla="*/ 0 w 884"/>
              <a:gd name="T9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" h="221">
                <a:moveTo>
                  <a:pt x="0" y="220"/>
                </a:moveTo>
                <a:lnTo>
                  <a:pt x="0" y="0"/>
                </a:lnTo>
                <a:lnTo>
                  <a:pt x="883" y="0"/>
                </a:lnTo>
                <a:lnTo>
                  <a:pt x="883" y="220"/>
                </a:lnTo>
                <a:lnTo>
                  <a:pt x="0" y="22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0" name="Freeform 12"/>
          <p:cNvSpPr>
            <a:spLocks/>
          </p:cNvSpPr>
          <p:nvPr/>
        </p:nvSpPr>
        <p:spPr bwMode="auto">
          <a:xfrm>
            <a:off x="6356350" y="5943600"/>
            <a:ext cx="1403350" cy="350838"/>
          </a:xfrm>
          <a:custGeom>
            <a:avLst/>
            <a:gdLst>
              <a:gd name="T0" fmla="*/ 0 w 884"/>
              <a:gd name="T1" fmla="*/ 220 h 221"/>
              <a:gd name="T2" fmla="*/ 0 w 884"/>
              <a:gd name="T3" fmla="*/ 0 h 221"/>
              <a:gd name="T4" fmla="*/ 883 w 884"/>
              <a:gd name="T5" fmla="*/ 0 h 221"/>
              <a:gd name="T6" fmla="*/ 883 w 884"/>
              <a:gd name="T7" fmla="*/ 220 h 221"/>
              <a:gd name="T8" fmla="*/ 0 w 884"/>
              <a:gd name="T9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" h="221">
                <a:moveTo>
                  <a:pt x="0" y="220"/>
                </a:moveTo>
                <a:lnTo>
                  <a:pt x="0" y="0"/>
                </a:lnTo>
                <a:lnTo>
                  <a:pt x="883" y="0"/>
                </a:lnTo>
                <a:lnTo>
                  <a:pt x="883" y="220"/>
                </a:lnTo>
                <a:lnTo>
                  <a:pt x="0" y="22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1" name="Freeform 13"/>
          <p:cNvSpPr>
            <a:spLocks/>
          </p:cNvSpPr>
          <p:nvPr/>
        </p:nvSpPr>
        <p:spPr bwMode="auto">
          <a:xfrm>
            <a:off x="6356350" y="2794000"/>
            <a:ext cx="1403350" cy="350838"/>
          </a:xfrm>
          <a:custGeom>
            <a:avLst/>
            <a:gdLst>
              <a:gd name="T0" fmla="*/ 0 w 884"/>
              <a:gd name="T1" fmla="*/ 220 h 221"/>
              <a:gd name="T2" fmla="*/ 0 w 884"/>
              <a:gd name="T3" fmla="*/ 0 h 221"/>
              <a:gd name="T4" fmla="*/ 883 w 884"/>
              <a:gd name="T5" fmla="*/ 0 h 221"/>
              <a:gd name="T6" fmla="*/ 883 w 884"/>
              <a:gd name="T7" fmla="*/ 220 h 221"/>
              <a:gd name="T8" fmla="*/ 0 w 884"/>
              <a:gd name="T9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4" h="221">
                <a:moveTo>
                  <a:pt x="0" y="220"/>
                </a:moveTo>
                <a:lnTo>
                  <a:pt x="0" y="0"/>
                </a:lnTo>
                <a:lnTo>
                  <a:pt x="883" y="0"/>
                </a:lnTo>
                <a:lnTo>
                  <a:pt x="883" y="220"/>
                </a:lnTo>
                <a:lnTo>
                  <a:pt x="0" y="220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2" name="Freeform 14"/>
          <p:cNvSpPr>
            <a:spLocks/>
          </p:cNvSpPr>
          <p:nvPr/>
        </p:nvSpPr>
        <p:spPr bwMode="auto">
          <a:xfrm>
            <a:off x="6356350" y="2443163"/>
            <a:ext cx="352425" cy="352425"/>
          </a:xfrm>
          <a:custGeom>
            <a:avLst/>
            <a:gdLst>
              <a:gd name="T0" fmla="*/ 0 w 222"/>
              <a:gd name="T1" fmla="*/ 221 h 222"/>
              <a:gd name="T2" fmla="*/ 0 w 222"/>
              <a:gd name="T3" fmla="*/ 0 h 222"/>
              <a:gd name="T4" fmla="*/ 221 w 222"/>
              <a:gd name="T5" fmla="*/ 0 h 222"/>
              <a:gd name="T6" fmla="*/ 221 w 222"/>
              <a:gd name="T7" fmla="*/ 221 h 222"/>
              <a:gd name="T8" fmla="*/ 0 w 222"/>
              <a:gd name="T9" fmla="*/ 221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2" h="222">
                <a:moveTo>
                  <a:pt x="0" y="221"/>
                </a:moveTo>
                <a:lnTo>
                  <a:pt x="0" y="0"/>
                </a:lnTo>
                <a:lnTo>
                  <a:pt x="221" y="0"/>
                </a:lnTo>
                <a:lnTo>
                  <a:pt x="221" y="221"/>
                </a:lnTo>
                <a:lnTo>
                  <a:pt x="0" y="221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3" name="Freeform 15"/>
          <p:cNvSpPr>
            <a:spLocks/>
          </p:cNvSpPr>
          <p:nvPr/>
        </p:nvSpPr>
        <p:spPr bwMode="auto">
          <a:xfrm>
            <a:off x="6356350" y="3492500"/>
            <a:ext cx="352425" cy="350838"/>
          </a:xfrm>
          <a:custGeom>
            <a:avLst/>
            <a:gdLst>
              <a:gd name="T0" fmla="*/ 0 w 222"/>
              <a:gd name="T1" fmla="*/ 220 h 221"/>
              <a:gd name="T2" fmla="*/ 0 w 222"/>
              <a:gd name="T3" fmla="*/ 0 h 221"/>
              <a:gd name="T4" fmla="*/ 221 w 222"/>
              <a:gd name="T5" fmla="*/ 0 h 221"/>
              <a:gd name="T6" fmla="*/ 221 w 222"/>
              <a:gd name="T7" fmla="*/ 220 h 221"/>
              <a:gd name="T8" fmla="*/ 0 w 222"/>
              <a:gd name="T9" fmla="*/ 220 h 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2" h="221">
                <a:moveTo>
                  <a:pt x="0" y="220"/>
                </a:moveTo>
                <a:lnTo>
                  <a:pt x="0" y="0"/>
                </a:lnTo>
                <a:lnTo>
                  <a:pt x="221" y="0"/>
                </a:lnTo>
                <a:lnTo>
                  <a:pt x="221" y="220"/>
                </a:lnTo>
                <a:lnTo>
                  <a:pt x="0" y="220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4" name="Freeform 16"/>
          <p:cNvSpPr>
            <a:spLocks/>
          </p:cNvSpPr>
          <p:nvPr/>
        </p:nvSpPr>
        <p:spPr bwMode="auto">
          <a:xfrm>
            <a:off x="6356350" y="4541838"/>
            <a:ext cx="352425" cy="352425"/>
          </a:xfrm>
          <a:custGeom>
            <a:avLst/>
            <a:gdLst>
              <a:gd name="T0" fmla="*/ 0 w 222"/>
              <a:gd name="T1" fmla="*/ 221 h 222"/>
              <a:gd name="T2" fmla="*/ 0 w 222"/>
              <a:gd name="T3" fmla="*/ 0 h 222"/>
              <a:gd name="T4" fmla="*/ 221 w 222"/>
              <a:gd name="T5" fmla="*/ 0 h 222"/>
              <a:gd name="T6" fmla="*/ 221 w 222"/>
              <a:gd name="T7" fmla="*/ 221 h 222"/>
              <a:gd name="T8" fmla="*/ 0 w 222"/>
              <a:gd name="T9" fmla="*/ 221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2" h="222">
                <a:moveTo>
                  <a:pt x="0" y="221"/>
                </a:moveTo>
                <a:lnTo>
                  <a:pt x="0" y="0"/>
                </a:lnTo>
                <a:lnTo>
                  <a:pt x="221" y="0"/>
                </a:lnTo>
                <a:lnTo>
                  <a:pt x="221" y="221"/>
                </a:lnTo>
                <a:lnTo>
                  <a:pt x="0" y="221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" name="Freeform 17"/>
          <p:cNvSpPr>
            <a:spLocks/>
          </p:cNvSpPr>
          <p:nvPr/>
        </p:nvSpPr>
        <p:spPr bwMode="auto">
          <a:xfrm>
            <a:off x="6356350" y="5592763"/>
            <a:ext cx="352425" cy="352425"/>
          </a:xfrm>
          <a:custGeom>
            <a:avLst/>
            <a:gdLst>
              <a:gd name="T0" fmla="*/ 0 w 222"/>
              <a:gd name="T1" fmla="*/ 221 h 222"/>
              <a:gd name="T2" fmla="*/ 0 w 222"/>
              <a:gd name="T3" fmla="*/ 0 h 222"/>
              <a:gd name="T4" fmla="*/ 221 w 222"/>
              <a:gd name="T5" fmla="*/ 0 h 222"/>
              <a:gd name="T6" fmla="*/ 221 w 222"/>
              <a:gd name="T7" fmla="*/ 221 h 222"/>
              <a:gd name="T8" fmla="*/ 0 w 222"/>
              <a:gd name="T9" fmla="*/ 221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2" h="222">
                <a:moveTo>
                  <a:pt x="0" y="221"/>
                </a:moveTo>
                <a:lnTo>
                  <a:pt x="0" y="0"/>
                </a:lnTo>
                <a:lnTo>
                  <a:pt x="221" y="0"/>
                </a:lnTo>
                <a:lnTo>
                  <a:pt x="221" y="221"/>
                </a:lnTo>
                <a:lnTo>
                  <a:pt x="0" y="221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" name="Freeform 18"/>
          <p:cNvSpPr>
            <a:spLocks/>
          </p:cNvSpPr>
          <p:nvPr/>
        </p:nvSpPr>
        <p:spPr bwMode="auto">
          <a:xfrm>
            <a:off x="4956175" y="3841750"/>
            <a:ext cx="701675" cy="1401763"/>
          </a:xfrm>
          <a:custGeom>
            <a:avLst/>
            <a:gdLst>
              <a:gd name="T0" fmla="*/ 0 w 442"/>
              <a:gd name="T1" fmla="*/ 882 h 883"/>
              <a:gd name="T2" fmla="*/ 0 w 442"/>
              <a:gd name="T3" fmla="*/ 0 h 883"/>
              <a:gd name="T4" fmla="*/ 441 w 442"/>
              <a:gd name="T5" fmla="*/ 0 h 883"/>
              <a:gd name="T6" fmla="*/ 441 w 442"/>
              <a:gd name="T7" fmla="*/ 882 h 883"/>
              <a:gd name="T8" fmla="*/ 0 w 442"/>
              <a:gd name="T9" fmla="*/ 882 h 8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2" h="883">
                <a:moveTo>
                  <a:pt x="0" y="882"/>
                </a:moveTo>
                <a:lnTo>
                  <a:pt x="0" y="0"/>
                </a:lnTo>
                <a:lnTo>
                  <a:pt x="441" y="0"/>
                </a:lnTo>
                <a:lnTo>
                  <a:pt x="441" y="882"/>
                </a:lnTo>
                <a:lnTo>
                  <a:pt x="0" y="88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7" name="Rectangle 19"/>
          <p:cNvSpPr>
            <a:spLocks noChangeArrowheads="1"/>
          </p:cNvSpPr>
          <p:nvPr/>
        </p:nvSpPr>
        <p:spPr bwMode="auto">
          <a:xfrm>
            <a:off x="7377113" y="387032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chemeClr val="tx2"/>
                </a:solidFill>
                <a:latin typeface="Helvetica" charset="0"/>
              </a:rPr>
              <a:t>13*</a:t>
            </a:r>
          </a:p>
        </p:txBody>
      </p:sp>
      <p:sp>
        <p:nvSpPr>
          <p:cNvPr id="238" name="Rectangle 20"/>
          <p:cNvSpPr>
            <a:spLocks noChangeArrowheads="1"/>
          </p:cNvSpPr>
          <p:nvPr/>
        </p:nvSpPr>
        <p:spPr bwMode="auto">
          <a:xfrm>
            <a:off x="4319588" y="38655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00</a:t>
            </a:r>
          </a:p>
        </p:txBody>
      </p:sp>
      <p:sp>
        <p:nvSpPr>
          <p:cNvPr id="239" name="Rectangle 21"/>
          <p:cNvSpPr>
            <a:spLocks noChangeArrowheads="1"/>
          </p:cNvSpPr>
          <p:nvPr/>
        </p:nvSpPr>
        <p:spPr bwMode="auto">
          <a:xfrm>
            <a:off x="4319588" y="425450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01</a:t>
            </a:r>
          </a:p>
        </p:txBody>
      </p:sp>
      <p:sp>
        <p:nvSpPr>
          <p:cNvPr id="240" name="Rectangle 22"/>
          <p:cNvSpPr>
            <a:spLocks noChangeArrowheads="1"/>
          </p:cNvSpPr>
          <p:nvPr/>
        </p:nvSpPr>
        <p:spPr bwMode="auto">
          <a:xfrm>
            <a:off x="4319588" y="4587875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</a:t>
            </a:r>
          </a:p>
        </p:txBody>
      </p:sp>
      <p:sp>
        <p:nvSpPr>
          <p:cNvPr id="241" name="Rectangle 23"/>
          <p:cNvSpPr>
            <a:spLocks noChangeArrowheads="1"/>
          </p:cNvSpPr>
          <p:nvPr/>
        </p:nvSpPr>
        <p:spPr bwMode="auto">
          <a:xfrm>
            <a:off x="4319588" y="4948238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11</a:t>
            </a:r>
          </a:p>
        </p:txBody>
      </p:sp>
      <p:sp>
        <p:nvSpPr>
          <p:cNvPr id="242" name="Rectangle 24"/>
          <p:cNvSpPr>
            <a:spLocks noChangeArrowheads="1"/>
          </p:cNvSpPr>
          <p:nvPr/>
        </p:nvSpPr>
        <p:spPr bwMode="auto">
          <a:xfrm>
            <a:off x="4949825" y="3500438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sp>
        <p:nvSpPr>
          <p:cNvPr id="243" name="Rectangle 25"/>
          <p:cNvSpPr>
            <a:spLocks noChangeArrowheads="1"/>
          </p:cNvSpPr>
          <p:nvPr/>
        </p:nvSpPr>
        <p:spPr bwMode="auto">
          <a:xfrm>
            <a:off x="6397625" y="25003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sp>
        <p:nvSpPr>
          <p:cNvPr id="244" name="Rectangle 26"/>
          <p:cNvSpPr>
            <a:spLocks noChangeArrowheads="1"/>
          </p:cNvSpPr>
          <p:nvPr/>
        </p:nvSpPr>
        <p:spPr bwMode="auto">
          <a:xfrm>
            <a:off x="6373813" y="35036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sp>
        <p:nvSpPr>
          <p:cNvPr id="245" name="Rectangle 27"/>
          <p:cNvSpPr>
            <a:spLocks noChangeArrowheads="1"/>
          </p:cNvSpPr>
          <p:nvPr/>
        </p:nvSpPr>
        <p:spPr bwMode="auto">
          <a:xfrm>
            <a:off x="6362700" y="455136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sp>
        <p:nvSpPr>
          <p:cNvPr id="246" name="Rectangle 28"/>
          <p:cNvSpPr>
            <a:spLocks noChangeArrowheads="1"/>
          </p:cNvSpPr>
          <p:nvPr/>
        </p:nvSpPr>
        <p:spPr bwMode="auto">
          <a:xfrm>
            <a:off x="6388100" y="5621338"/>
            <a:ext cx="269875" cy="301625"/>
          </a:xfrm>
          <a:prstGeom prst="rect">
            <a:avLst/>
          </a:prstGeom>
          <a:pattFill prst="pct20">
            <a:fgClr>
              <a:schemeClr val="tx2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sp>
        <p:nvSpPr>
          <p:cNvPr id="247" name="Rectangle 29"/>
          <p:cNvSpPr>
            <a:spLocks noChangeArrowheads="1"/>
          </p:cNvSpPr>
          <p:nvPr/>
        </p:nvSpPr>
        <p:spPr bwMode="auto">
          <a:xfrm>
            <a:off x="4321175" y="2492375"/>
            <a:ext cx="135413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Courier New" pitchFamily="49" charset="0"/>
              </a:rPr>
              <a:t>LOCAL DEPTH</a:t>
            </a:r>
          </a:p>
        </p:txBody>
      </p:sp>
      <p:sp>
        <p:nvSpPr>
          <p:cNvPr id="248" name="Rectangle 30"/>
          <p:cNvSpPr>
            <a:spLocks noChangeArrowheads="1"/>
          </p:cNvSpPr>
          <p:nvPr/>
        </p:nvSpPr>
        <p:spPr bwMode="auto">
          <a:xfrm>
            <a:off x="4057650" y="2895600"/>
            <a:ext cx="14620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Courier New" pitchFamily="49" charset="0"/>
              </a:rPr>
              <a:t>GLOBAL DEPTH</a:t>
            </a:r>
          </a:p>
        </p:txBody>
      </p:sp>
      <p:sp>
        <p:nvSpPr>
          <p:cNvPr id="249" name="Rectangle 31"/>
          <p:cNvSpPr>
            <a:spLocks noChangeArrowheads="1"/>
          </p:cNvSpPr>
          <p:nvPr/>
        </p:nvSpPr>
        <p:spPr bwMode="auto">
          <a:xfrm>
            <a:off x="4643438" y="5697538"/>
            <a:ext cx="1268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DIRECTORY</a:t>
            </a:r>
          </a:p>
        </p:txBody>
      </p:sp>
      <p:sp>
        <p:nvSpPr>
          <p:cNvPr id="250" name="Rectangle 32"/>
          <p:cNvSpPr>
            <a:spLocks noChangeArrowheads="1"/>
          </p:cNvSpPr>
          <p:nvPr/>
        </p:nvSpPr>
        <p:spPr bwMode="auto">
          <a:xfrm>
            <a:off x="7989888" y="2700338"/>
            <a:ext cx="887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A</a:t>
            </a:r>
          </a:p>
        </p:txBody>
      </p:sp>
      <p:sp>
        <p:nvSpPr>
          <p:cNvPr id="251" name="Rectangle 33"/>
          <p:cNvSpPr>
            <a:spLocks noChangeArrowheads="1"/>
          </p:cNvSpPr>
          <p:nvPr/>
        </p:nvSpPr>
        <p:spPr bwMode="auto">
          <a:xfrm>
            <a:off x="8004175" y="3763963"/>
            <a:ext cx="8778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B</a:t>
            </a:r>
          </a:p>
        </p:txBody>
      </p:sp>
      <p:sp>
        <p:nvSpPr>
          <p:cNvPr id="252" name="Rectangle 34"/>
          <p:cNvSpPr>
            <a:spLocks noChangeArrowheads="1"/>
          </p:cNvSpPr>
          <p:nvPr/>
        </p:nvSpPr>
        <p:spPr bwMode="auto">
          <a:xfrm>
            <a:off x="8004175" y="4799013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C</a:t>
            </a:r>
          </a:p>
        </p:txBody>
      </p:sp>
      <p:sp>
        <p:nvSpPr>
          <p:cNvPr id="253" name="Rectangle 35"/>
          <p:cNvSpPr>
            <a:spLocks noChangeArrowheads="1"/>
          </p:cNvSpPr>
          <p:nvPr/>
        </p:nvSpPr>
        <p:spPr bwMode="auto">
          <a:xfrm>
            <a:off x="8005763" y="5864225"/>
            <a:ext cx="887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D</a:t>
            </a:r>
          </a:p>
        </p:txBody>
      </p:sp>
      <p:sp>
        <p:nvSpPr>
          <p:cNvPr id="254" name="Rectangle 36"/>
          <p:cNvSpPr>
            <a:spLocks noChangeArrowheads="1"/>
          </p:cNvSpPr>
          <p:nvPr/>
        </p:nvSpPr>
        <p:spPr bwMode="auto">
          <a:xfrm>
            <a:off x="6302375" y="6480175"/>
            <a:ext cx="13223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DATA PAGES</a:t>
            </a:r>
          </a:p>
        </p:txBody>
      </p:sp>
      <p:sp>
        <p:nvSpPr>
          <p:cNvPr id="255" name="Rectangle 37"/>
          <p:cNvSpPr>
            <a:spLocks noChangeArrowheads="1"/>
          </p:cNvSpPr>
          <p:nvPr/>
        </p:nvSpPr>
        <p:spPr bwMode="auto">
          <a:xfrm>
            <a:off x="6338888" y="490378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10*</a:t>
            </a:r>
          </a:p>
        </p:txBody>
      </p:sp>
      <p:sp>
        <p:nvSpPr>
          <p:cNvPr id="256" name="Rectangle 38"/>
          <p:cNvSpPr>
            <a:spLocks noChangeArrowheads="1"/>
          </p:cNvSpPr>
          <p:nvPr/>
        </p:nvSpPr>
        <p:spPr bwMode="auto">
          <a:xfrm>
            <a:off x="6353175" y="3870325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1*</a:t>
            </a:r>
          </a:p>
        </p:txBody>
      </p:sp>
      <p:sp>
        <p:nvSpPr>
          <p:cNvPr id="257" name="Rectangle 39"/>
          <p:cNvSpPr>
            <a:spLocks noChangeArrowheads="1"/>
          </p:cNvSpPr>
          <p:nvPr/>
        </p:nvSpPr>
        <p:spPr bwMode="auto">
          <a:xfrm>
            <a:off x="7021513" y="387032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21*</a:t>
            </a:r>
          </a:p>
        </p:txBody>
      </p:sp>
      <p:sp>
        <p:nvSpPr>
          <p:cNvPr id="258" name="Rectangle 40"/>
          <p:cNvSpPr>
            <a:spLocks noChangeArrowheads="1"/>
          </p:cNvSpPr>
          <p:nvPr/>
        </p:nvSpPr>
        <p:spPr bwMode="auto">
          <a:xfrm>
            <a:off x="6350000" y="28178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4*</a:t>
            </a:r>
          </a:p>
        </p:txBody>
      </p:sp>
      <p:sp>
        <p:nvSpPr>
          <p:cNvPr id="259" name="Rectangle 41"/>
          <p:cNvSpPr>
            <a:spLocks noChangeArrowheads="1"/>
          </p:cNvSpPr>
          <p:nvPr/>
        </p:nvSpPr>
        <p:spPr bwMode="auto">
          <a:xfrm>
            <a:off x="6672263" y="28178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12*</a:t>
            </a:r>
          </a:p>
        </p:txBody>
      </p:sp>
      <p:sp>
        <p:nvSpPr>
          <p:cNvPr id="260" name="Rectangle 42"/>
          <p:cNvSpPr>
            <a:spLocks noChangeArrowheads="1"/>
          </p:cNvSpPr>
          <p:nvPr/>
        </p:nvSpPr>
        <p:spPr bwMode="auto">
          <a:xfrm>
            <a:off x="7051675" y="28178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32*</a:t>
            </a:r>
          </a:p>
        </p:txBody>
      </p:sp>
      <p:sp>
        <p:nvSpPr>
          <p:cNvPr id="261" name="Rectangle 43"/>
          <p:cNvSpPr>
            <a:spLocks noChangeArrowheads="1"/>
          </p:cNvSpPr>
          <p:nvPr/>
        </p:nvSpPr>
        <p:spPr bwMode="auto">
          <a:xfrm>
            <a:off x="7372350" y="28051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16*</a:t>
            </a:r>
          </a:p>
        </p:txBody>
      </p:sp>
      <p:sp>
        <p:nvSpPr>
          <p:cNvPr id="262" name="Rectangle 44"/>
          <p:cNvSpPr>
            <a:spLocks noChangeArrowheads="1"/>
          </p:cNvSpPr>
          <p:nvPr/>
        </p:nvSpPr>
        <p:spPr bwMode="auto">
          <a:xfrm>
            <a:off x="6338888" y="59547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15*</a:t>
            </a:r>
          </a:p>
        </p:txBody>
      </p:sp>
      <p:sp>
        <p:nvSpPr>
          <p:cNvPr id="263" name="Rectangle 45"/>
          <p:cNvSpPr>
            <a:spLocks noChangeArrowheads="1"/>
          </p:cNvSpPr>
          <p:nvPr/>
        </p:nvSpPr>
        <p:spPr bwMode="auto">
          <a:xfrm>
            <a:off x="6729413" y="59547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7*</a:t>
            </a:r>
          </a:p>
        </p:txBody>
      </p:sp>
      <p:sp>
        <p:nvSpPr>
          <p:cNvPr id="264" name="Rectangle 46"/>
          <p:cNvSpPr>
            <a:spLocks noChangeArrowheads="1"/>
          </p:cNvSpPr>
          <p:nvPr/>
        </p:nvSpPr>
        <p:spPr bwMode="auto">
          <a:xfrm>
            <a:off x="7023100" y="59547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19*</a:t>
            </a:r>
          </a:p>
        </p:txBody>
      </p:sp>
      <p:sp>
        <p:nvSpPr>
          <p:cNvPr id="265" name="Rectangle 47"/>
          <p:cNvSpPr>
            <a:spLocks noChangeArrowheads="1"/>
          </p:cNvSpPr>
          <p:nvPr/>
        </p:nvSpPr>
        <p:spPr bwMode="auto">
          <a:xfrm>
            <a:off x="6727825" y="3868738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5*</a:t>
            </a:r>
          </a:p>
        </p:txBody>
      </p:sp>
      <p:sp>
        <p:nvSpPr>
          <p:cNvPr id="266" name="Freeform 48"/>
          <p:cNvSpPr>
            <a:spLocks/>
          </p:cNvSpPr>
          <p:nvPr/>
        </p:nvSpPr>
        <p:spPr bwMode="auto">
          <a:xfrm>
            <a:off x="5561013" y="2478088"/>
            <a:ext cx="750887" cy="133350"/>
          </a:xfrm>
          <a:custGeom>
            <a:avLst/>
            <a:gdLst>
              <a:gd name="T0" fmla="*/ 0 w 473"/>
              <a:gd name="T1" fmla="*/ 83 h 84"/>
              <a:gd name="T2" fmla="*/ 195 w 473"/>
              <a:gd name="T3" fmla="*/ 0 h 84"/>
              <a:gd name="T4" fmla="*/ 187 w 473"/>
              <a:gd name="T5" fmla="*/ 83 h 84"/>
              <a:gd name="T6" fmla="*/ 472 w 473"/>
              <a:gd name="T7" fmla="*/ 60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73" h="84">
                <a:moveTo>
                  <a:pt x="0" y="83"/>
                </a:moveTo>
                <a:lnTo>
                  <a:pt x="195" y="0"/>
                </a:lnTo>
                <a:lnTo>
                  <a:pt x="187" y="83"/>
                </a:lnTo>
                <a:lnTo>
                  <a:pt x="472" y="6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7" name="Freeform 49"/>
          <p:cNvSpPr>
            <a:spLocks/>
          </p:cNvSpPr>
          <p:nvPr/>
        </p:nvSpPr>
        <p:spPr bwMode="auto">
          <a:xfrm>
            <a:off x="4559300" y="3133725"/>
            <a:ext cx="455613" cy="358775"/>
          </a:xfrm>
          <a:custGeom>
            <a:avLst/>
            <a:gdLst>
              <a:gd name="T0" fmla="*/ 0 w 287"/>
              <a:gd name="T1" fmla="*/ 0 h 226"/>
              <a:gd name="T2" fmla="*/ 53 w 287"/>
              <a:gd name="T3" fmla="*/ 180 h 226"/>
              <a:gd name="T4" fmla="*/ 158 w 287"/>
              <a:gd name="T5" fmla="*/ 75 h 226"/>
              <a:gd name="T6" fmla="*/ 286 w 287"/>
              <a:gd name="T7" fmla="*/ 225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7" h="226">
                <a:moveTo>
                  <a:pt x="0" y="0"/>
                </a:moveTo>
                <a:lnTo>
                  <a:pt x="53" y="180"/>
                </a:lnTo>
                <a:lnTo>
                  <a:pt x="158" y="75"/>
                </a:lnTo>
                <a:lnTo>
                  <a:pt x="286" y="225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8" name="Rectangle 50"/>
          <p:cNvSpPr>
            <a:spLocks noChangeArrowheads="1"/>
          </p:cNvSpPr>
          <p:nvPr/>
        </p:nvSpPr>
        <p:spPr bwMode="auto">
          <a:xfrm>
            <a:off x="4959350" y="3841750"/>
            <a:ext cx="684213" cy="3333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9" name="Rectangle 51"/>
          <p:cNvSpPr>
            <a:spLocks noChangeArrowheads="1"/>
          </p:cNvSpPr>
          <p:nvPr/>
        </p:nvSpPr>
        <p:spPr bwMode="auto">
          <a:xfrm>
            <a:off x="4959350" y="4184650"/>
            <a:ext cx="684213" cy="3333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0" name="Rectangle 52"/>
          <p:cNvSpPr>
            <a:spLocks noChangeArrowheads="1"/>
          </p:cNvSpPr>
          <p:nvPr/>
        </p:nvSpPr>
        <p:spPr bwMode="auto">
          <a:xfrm>
            <a:off x="4959350" y="4527550"/>
            <a:ext cx="684213" cy="3333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1" name="Line 53"/>
          <p:cNvSpPr>
            <a:spLocks noChangeShapeType="1"/>
          </p:cNvSpPr>
          <p:nvPr/>
        </p:nvSpPr>
        <p:spPr bwMode="auto">
          <a:xfrm flipV="1">
            <a:off x="5381625" y="3038475"/>
            <a:ext cx="965200" cy="109537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2" name="Line 54"/>
          <p:cNvSpPr>
            <a:spLocks noChangeShapeType="1"/>
          </p:cNvSpPr>
          <p:nvPr/>
        </p:nvSpPr>
        <p:spPr bwMode="auto">
          <a:xfrm flipV="1">
            <a:off x="5381625" y="4044950"/>
            <a:ext cx="965200" cy="3222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3" name="Line 55"/>
          <p:cNvSpPr>
            <a:spLocks noChangeShapeType="1"/>
          </p:cNvSpPr>
          <p:nvPr/>
        </p:nvSpPr>
        <p:spPr bwMode="auto">
          <a:xfrm>
            <a:off x="5418138" y="4705350"/>
            <a:ext cx="939800" cy="3571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4" name="Line 56"/>
          <p:cNvSpPr>
            <a:spLocks noChangeShapeType="1"/>
          </p:cNvSpPr>
          <p:nvPr/>
        </p:nvSpPr>
        <p:spPr bwMode="auto">
          <a:xfrm>
            <a:off x="5500688" y="5086350"/>
            <a:ext cx="846137" cy="71437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6" name="Straight Arrow Connector 5"/>
          <p:cNvCxnSpPr>
            <a:stCxn id="271" idx="0"/>
          </p:cNvCxnSpPr>
          <p:nvPr/>
        </p:nvCxnSpPr>
        <p:spPr>
          <a:xfrm flipV="1">
            <a:off x="5381625" y="3038475"/>
            <a:ext cx="957263" cy="109537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TextBox 274"/>
          <p:cNvSpPr txBox="1"/>
          <p:nvPr/>
        </p:nvSpPr>
        <p:spPr>
          <a:xfrm>
            <a:off x="6827456" y="2133600"/>
            <a:ext cx="2087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FULL, hence, split!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883778" y="2226918"/>
            <a:ext cx="2819400" cy="530912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Repeat…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58" name="Straight Arrow Connector 57"/>
          <p:cNvCxnSpPr/>
          <p:nvPr/>
        </p:nvCxnSpPr>
        <p:spPr>
          <a:xfrm flipV="1">
            <a:off x="2971800" y="4022488"/>
            <a:ext cx="1386118" cy="505062"/>
          </a:xfrm>
          <a:prstGeom prst="straightConnector1">
            <a:avLst/>
          </a:prstGeom>
          <a:ln w="1587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792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 animBg="1"/>
      <p:bldP spid="123" grpId="0" animBg="1"/>
      <p:bldP spid="275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Extendible Hashing: Inserting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3000" dirty="0" smtClean="0"/>
              <a:t>Example: insert </a:t>
            </a:r>
            <a:r>
              <a:rPr lang="en-US" sz="3000" dirty="0" smtClean="0">
                <a:solidFill>
                  <a:srgbClr val="FF0000"/>
                </a:solidFill>
              </a:rPr>
              <a:t>20* </a:t>
            </a:r>
            <a:endParaRPr lang="en-US" sz="3000" dirty="0">
              <a:solidFill>
                <a:srgbClr val="FF0000"/>
              </a:solidFill>
            </a:endParaRPr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  <a:p>
            <a:pPr marL="0" indent="0">
              <a:buNone/>
            </a:pPr>
            <a:endParaRPr lang="en-US" dirty="0" smtClean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</p:txBody>
      </p:sp>
      <p:sp>
        <p:nvSpPr>
          <p:cNvPr id="126" name="Rounded Rectangle 125"/>
          <p:cNvSpPr/>
          <p:nvPr/>
        </p:nvSpPr>
        <p:spPr>
          <a:xfrm>
            <a:off x="914400" y="5107887"/>
            <a:ext cx="2819400" cy="937313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Is this enough?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8" name="Freeform 6"/>
          <p:cNvSpPr>
            <a:spLocks/>
          </p:cNvSpPr>
          <p:nvPr/>
        </p:nvSpPr>
        <p:spPr bwMode="auto">
          <a:xfrm>
            <a:off x="4949825" y="3240088"/>
            <a:ext cx="298450" cy="298450"/>
          </a:xfrm>
          <a:custGeom>
            <a:avLst/>
            <a:gdLst>
              <a:gd name="T0" fmla="*/ 0 w 188"/>
              <a:gd name="T1" fmla="*/ 187 h 188"/>
              <a:gd name="T2" fmla="*/ 0 w 188"/>
              <a:gd name="T3" fmla="*/ 0 h 188"/>
              <a:gd name="T4" fmla="*/ 187 w 188"/>
              <a:gd name="T5" fmla="*/ 0 h 188"/>
              <a:gd name="T6" fmla="*/ 187 w 188"/>
              <a:gd name="T7" fmla="*/ 187 h 188"/>
              <a:gd name="T8" fmla="*/ 0 w 188"/>
              <a:gd name="T9" fmla="*/ 187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8" h="188">
                <a:moveTo>
                  <a:pt x="0" y="187"/>
                </a:moveTo>
                <a:lnTo>
                  <a:pt x="0" y="0"/>
                </a:lnTo>
                <a:lnTo>
                  <a:pt x="187" y="0"/>
                </a:lnTo>
                <a:lnTo>
                  <a:pt x="187" y="187"/>
                </a:lnTo>
                <a:lnTo>
                  <a:pt x="0" y="187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Freeform 7"/>
          <p:cNvSpPr>
            <a:spLocks/>
          </p:cNvSpPr>
          <p:nvPr/>
        </p:nvSpPr>
        <p:spPr bwMode="auto">
          <a:xfrm>
            <a:off x="6135688" y="3536950"/>
            <a:ext cx="1189037" cy="298450"/>
          </a:xfrm>
          <a:custGeom>
            <a:avLst/>
            <a:gdLst>
              <a:gd name="T0" fmla="*/ 0 w 749"/>
              <a:gd name="T1" fmla="*/ 187 h 188"/>
              <a:gd name="T2" fmla="*/ 0 w 749"/>
              <a:gd name="T3" fmla="*/ 0 h 188"/>
              <a:gd name="T4" fmla="*/ 748 w 749"/>
              <a:gd name="T5" fmla="*/ 0 h 188"/>
              <a:gd name="T6" fmla="*/ 748 w 749"/>
              <a:gd name="T7" fmla="*/ 187 h 188"/>
              <a:gd name="T8" fmla="*/ 0 w 749"/>
              <a:gd name="T9" fmla="*/ 187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9" h="188">
                <a:moveTo>
                  <a:pt x="0" y="187"/>
                </a:moveTo>
                <a:lnTo>
                  <a:pt x="0" y="0"/>
                </a:lnTo>
                <a:lnTo>
                  <a:pt x="748" y="0"/>
                </a:lnTo>
                <a:lnTo>
                  <a:pt x="748" y="187"/>
                </a:lnTo>
                <a:lnTo>
                  <a:pt x="0" y="18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Freeform 8"/>
          <p:cNvSpPr>
            <a:spLocks/>
          </p:cNvSpPr>
          <p:nvPr/>
        </p:nvSpPr>
        <p:spPr bwMode="auto">
          <a:xfrm>
            <a:off x="6135688" y="4427538"/>
            <a:ext cx="1189037" cy="298450"/>
          </a:xfrm>
          <a:custGeom>
            <a:avLst/>
            <a:gdLst>
              <a:gd name="T0" fmla="*/ 0 w 749"/>
              <a:gd name="T1" fmla="*/ 187 h 188"/>
              <a:gd name="T2" fmla="*/ 0 w 749"/>
              <a:gd name="T3" fmla="*/ 0 h 188"/>
              <a:gd name="T4" fmla="*/ 748 w 749"/>
              <a:gd name="T5" fmla="*/ 0 h 188"/>
              <a:gd name="T6" fmla="*/ 748 w 749"/>
              <a:gd name="T7" fmla="*/ 187 h 188"/>
              <a:gd name="T8" fmla="*/ 0 w 749"/>
              <a:gd name="T9" fmla="*/ 187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9" h="188">
                <a:moveTo>
                  <a:pt x="0" y="187"/>
                </a:moveTo>
                <a:lnTo>
                  <a:pt x="0" y="0"/>
                </a:lnTo>
                <a:lnTo>
                  <a:pt x="748" y="0"/>
                </a:lnTo>
                <a:lnTo>
                  <a:pt x="748" y="187"/>
                </a:lnTo>
                <a:lnTo>
                  <a:pt x="0" y="18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Freeform 9"/>
          <p:cNvSpPr>
            <a:spLocks/>
          </p:cNvSpPr>
          <p:nvPr/>
        </p:nvSpPr>
        <p:spPr bwMode="auto">
          <a:xfrm>
            <a:off x="6135688" y="5318125"/>
            <a:ext cx="1189037" cy="298450"/>
          </a:xfrm>
          <a:custGeom>
            <a:avLst/>
            <a:gdLst>
              <a:gd name="T0" fmla="*/ 0 w 749"/>
              <a:gd name="T1" fmla="*/ 187 h 188"/>
              <a:gd name="T2" fmla="*/ 0 w 749"/>
              <a:gd name="T3" fmla="*/ 0 h 188"/>
              <a:gd name="T4" fmla="*/ 748 w 749"/>
              <a:gd name="T5" fmla="*/ 0 h 188"/>
              <a:gd name="T6" fmla="*/ 748 w 749"/>
              <a:gd name="T7" fmla="*/ 187 h 188"/>
              <a:gd name="T8" fmla="*/ 0 w 749"/>
              <a:gd name="T9" fmla="*/ 187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9" h="188">
                <a:moveTo>
                  <a:pt x="0" y="187"/>
                </a:moveTo>
                <a:lnTo>
                  <a:pt x="0" y="0"/>
                </a:lnTo>
                <a:lnTo>
                  <a:pt x="748" y="0"/>
                </a:lnTo>
                <a:lnTo>
                  <a:pt x="748" y="187"/>
                </a:lnTo>
                <a:lnTo>
                  <a:pt x="0" y="18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Freeform 10"/>
          <p:cNvSpPr>
            <a:spLocks/>
          </p:cNvSpPr>
          <p:nvPr/>
        </p:nvSpPr>
        <p:spPr bwMode="auto">
          <a:xfrm>
            <a:off x="6135688" y="3240088"/>
            <a:ext cx="298450" cy="298450"/>
          </a:xfrm>
          <a:custGeom>
            <a:avLst/>
            <a:gdLst>
              <a:gd name="T0" fmla="*/ 0 w 188"/>
              <a:gd name="T1" fmla="*/ 187 h 188"/>
              <a:gd name="T2" fmla="*/ 0 w 188"/>
              <a:gd name="T3" fmla="*/ 0 h 188"/>
              <a:gd name="T4" fmla="*/ 187 w 188"/>
              <a:gd name="T5" fmla="*/ 0 h 188"/>
              <a:gd name="T6" fmla="*/ 187 w 188"/>
              <a:gd name="T7" fmla="*/ 187 h 188"/>
              <a:gd name="T8" fmla="*/ 0 w 188"/>
              <a:gd name="T9" fmla="*/ 187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8" h="188">
                <a:moveTo>
                  <a:pt x="0" y="187"/>
                </a:moveTo>
                <a:lnTo>
                  <a:pt x="0" y="0"/>
                </a:lnTo>
                <a:lnTo>
                  <a:pt x="187" y="0"/>
                </a:lnTo>
                <a:lnTo>
                  <a:pt x="187" y="187"/>
                </a:lnTo>
                <a:lnTo>
                  <a:pt x="0" y="187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" name="Freeform 11"/>
          <p:cNvSpPr>
            <a:spLocks/>
          </p:cNvSpPr>
          <p:nvPr/>
        </p:nvSpPr>
        <p:spPr bwMode="auto">
          <a:xfrm>
            <a:off x="6135688" y="4130675"/>
            <a:ext cx="298450" cy="298450"/>
          </a:xfrm>
          <a:custGeom>
            <a:avLst/>
            <a:gdLst>
              <a:gd name="T0" fmla="*/ 0 w 188"/>
              <a:gd name="T1" fmla="*/ 187 h 188"/>
              <a:gd name="T2" fmla="*/ 0 w 188"/>
              <a:gd name="T3" fmla="*/ 0 h 188"/>
              <a:gd name="T4" fmla="*/ 187 w 188"/>
              <a:gd name="T5" fmla="*/ 0 h 188"/>
              <a:gd name="T6" fmla="*/ 187 w 188"/>
              <a:gd name="T7" fmla="*/ 187 h 188"/>
              <a:gd name="T8" fmla="*/ 0 w 188"/>
              <a:gd name="T9" fmla="*/ 187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8" h="188">
                <a:moveTo>
                  <a:pt x="0" y="187"/>
                </a:moveTo>
                <a:lnTo>
                  <a:pt x="0" y="0"/>
                </a:lnTo>
                <a:lnTo>
                  <a:pt x="187" y="0"/>
                </a:lnTo>
                <a:lnTo>
                  <a:pt x="187" y="187"/>
                </a:lnTo>
                <a:lnTo>
                  <a:pt x="0" y="18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Freeform 12"/>
          <p:cNvSpPr>
            <a:spLocks/>
          </p:cNvSpPr>
          <p:nvPr/>
        </p:nvSpPr>
        <p:spPr bwMode="auto">
          <a:xfrm>
            <a:off x="6135688" y="5021263"/>
            <a:ext cx="298450" cy="298450"/>
          </a:xfrm>
          <a:custGeom>
            <a:avLst/>
            <a:gdLst>
              <a:gd name="T0" fmla="*/ 0 w 188"/>
              <a:gd name="T1" fmla="*/ 187 h 188"/>
              <a:gd name="T2" fmla="*/ 0 w 188"/>
              <a:gd name="T3" fmla="*/ 0 h 188"/>
              <a:gd name="T4" fmla="*/ 187 w 188"/>
              <a:gd name="T5" fmla="*/ 0 h 188"/>
              <a:gd name="T6" fmla="*/ 187 w 188"/>
              <a:gd name="T7" fmla="*/ 187 h 188"/>
              <a:gd name="T8" fmla="*/ 0 w 188"/>
              <a:gd name="T9" fmla="*/ 187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8" h="188">
                <a:moveTo>
                  <a:pt x="0" y="187"/>
                </a:moveTo>
                <a:lnTo>
                  <a:pt x="0" y="0"/>
                </a:lnTo>
                <a:lnTo>
                  <a:pt x="187" y="0"/>
                </a:lnTo>
                <a:lnTo>
                  <a:pt x="187" y="187"/>
                </a:lnTo>
                <a:lnTo>
                  <a:pt x="0" y="187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" name="Freeform 13"/>
          <p:cNvSpPr>
            <a:spLocks/>
          </p:cNvSpPr>
          <p:nvPr/>
        </p:nvSpPr>
        <p:spPr bwMode="auto">
          <a:xfrm>
            <a:off x="6135688" y="2647950"/>
            <a:ext cx="1189037" cy="296863"/>
          </a:xfrm>
          <a:custGeom>
            <a:avLst/>
            <a:gdLst>
              <a:gd name="T0" fmla="*/ 0 w 749"/>
              <a:gd name="T1" fmla="*/ 186 h 187"/>
              <a:gd name="T2" fmla="*/ 0 w 749"/>
              <a:gd name="T3" fmla="*/ 0 h 187"/>
              <a:gd name="T4" fmla="*/ 748 w 749"/>
              <a:gd name="T5" fmla="*/ 0 h 187"/>
              <a:gd name="T6" fmla="*/ 748 w 749"/>
              <a:gd name="T7" fmla="*/ 186 h 187"/>
              <a:gd name="T8" fmla="*/ 0 w 749"/>
              <a:gd name="T9" fmla="*/ 186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9" h="187">
                <a:moveTo>
                  <a:pt x="0" y="186"/>
                </a:moveTo>
                <a:lnTo>
                  <a:pt x="0" y="0"/>
                </a:lnTo>
                <a:lnTo>
                  <a:pt x="748" y="0"/>
                </a:lnTo>
                <a:lnTo>
                  <a:pt x="748" y="186"/>
                </a:lnTo>
                <a:lnTo>
                  <a:pt x="0" y="18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Freeform 14"/>
          <p:cNvSpPr>
            <a:spLocks/>
          </p:cNvSpPr>
          <p:nvPr/>
        </p:nvSpPr>
        <p:spPr bwMode="auto">
          <a:xfrm>
            <a:off x="6135688" y="2351088"/>
            <a:ext cx="298450" cy="298450"/>
          </a:xfrm>
          <a:custGeom>
            <a:avLst/>
            <a:gdLst>
              <a:gd name="T0" fmla="*/ 0 w 188"/>
              <a:gd name="T1" fmla="*/ 187 h 188"/>
              <a:gd name="T2" fmla="*/ 0 w 188"/>
              <a:gd name="T3" fmla="*/ 0 h 188"/>
              <a:gd name="T4" fmla="*/ 187 w 188"/>
              <a:gd name="T5" fmla="*/ 0 h 188"/>
              <a:gd name="T6" fmla="*/ 187 w 188"/>
              <a:gd name="T7" fmla="*/ 187 h 188"/>
              <a:gd name="T8" fmla="*/ 0 w 188"/>
              <a:gd name="T9" fmla="*/ 187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8" h="188">
                <a:moveTo>
                  <a:pt x="0" y="187"/>
                </a:moveTo>
                <a:lnTo>
                  <a:pt x="0" y="0"/>
                </a:lnTo>
                <a:lnTo>
                  <a:pt x="187" y="0"/>
                </a:lnTo>
                <a:lnTo>
                  <a:pt x="187" y="187"/>
                </a:lnTo>
                <a:lnTo>
                  <a:pt x="0" y="187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" name="Freeform 15"/>
          <p:cNvSpPr>
            <a:spLocks/>
          </p:cNvSpPr>
          <p:nvPr/>
        </p:nvSpPr>
        <p:spPr bwMode="auto">
          <a:xfrm>
            <a:off x="4949825" y="3536950"/>
            <a:ext cx="593725" cy="1189038"/>
          </a:xfrm>
          <a:custGeom>
            <a:avLst/>
            <a:gdLst>
              <a:gd name="T0" fmla="*/ 0 w 374"/>
              <a:gd name="T1" fmla="*/ 748 h 749"/>
              <a:gd name="T2" fmla="*/ 0 w 374"/>
              <a:gd name="T3" fmla="*/ 0 h 749"/>
              <a:gd name="T4" fmla="*/ 373 w 374"/>
              <a:gd name="T5" fmla="*/ 0 h 749"/>
              <a:gd name="T6" fmla="*/ 373 w 374"/>
              <a:gd name="T7" fmla="*/ 748 h 749"/>
              <a:gd name="T8" fmla="*/ 0 w 374"/>
              <a:gd name="T9" fmla="*/ 748 h 7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749">
                <a:moveTo>
                  <a:pt x="0" y="748"/>
                </a:moveTo>
                <a:lnTo>
                  <a:pt x="0" y="0"/>
                </a:lnTo>
                <a:lnTo>
                  <a:pt x="373" y="0"/>
                </a:lnTo>
                <a:lnTo>
                  <a:pt x="373" y="748"/>
                </a:lnTo>
                <a:lnTo>
                  <a:pt x="0" y="74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Rectangle 16"/>
          <p:cNvSpPr>
            <a:spLocks noChangeArrowheads="1"/>
          </p:cNvSpPr>
          <p:nvPr/>
        </p:nvSpPr>
        <p:spPr bwMode="auto">
          <a:xfrm>
            <a:off x="6724650" y="623252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20*</a:t>
            </a:r>
          </a:p>
        </p:txBody>
      </p:sp>
      <p:sp>
        <p:nvSpPr>
          <p:cNvPr id="69" name="Freeform 17"/>
          <p:cNvSpPr>
            <a:spLocks/>
          </p:cNvSpPr>
          <p:nvPr/>
        </p:nvSpPr>
        <p:spPr bwMode="auto">
          <a:xfrm>
            <a:off x="6148388" y="6243638"/>
            <a:ext cx="1187450" cy="298450"/>
          </a:xfrm>
          <a:custGeom>
            <a:avLst/>
            <a:gdLst>
              <a:gd name="T0" fmla="*/ 0 w 748"/>
              <a:gd name="T1" fmla="*/ 187 h 188"/>
              <a:gd name="T2" fmla="*/ 0 w 748"/>
              <a:gd name="T3" fmla="*/ 0 h 188"/>
              <a:gd name="T4" fmla="*/ 747 w 748"/>
              <a:gd name="T5" fmla="*/ 0 h 188"/>
              <a:gd name="T6" fmla="*/ 747 w 748"/>
              <a:gd name="T7" fmla="*/ 187 h 188"/>
              <a:gd name="T8" fmla="*/ 0 w 748"/>
              <a:gd name="T9" fmla="*/ 187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8" h="188">
                <a:moveTo>
                  <a:pt x="0" y="187"/>
                </a:moveTo>
                <a:lnTo>
                  <a:pt x="0" y="0"/>
                </a:lnTo>
                <a:lnTo>
                  <a:pt x="747" y="0"/>
                </a:lnTo>
                <a:lnTo>
                  <a:pt x="747" y="187"/>
                </a:lnTo>
                <a:lnTo>
                  <a:pt x="0" y="18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" name="Freeform 18"/>
          <p:cNvSpPr>
            <a:spLocks/>
          </p:cNvSpPr>
          <p:nvPr/>
        </p:nvSpPr>
        <p:spPr bwMode="auto">
          <a:xfrm>
            <a:off x="6148388" y="5948363"/>
            <a:ext cx="298450" cy="296862"/>
          </a:xfrm>
          <a:custGeom>
            <a:avLst/>
            <a:gdLst>
              <a:gd name="T0" fmla="*/ 0 w 188"/>
              <a:gd name="T1" fmla="*/ 186 h 187"/>
              <a:gd name="T2" fmla="*/ 0 w 188"/>
              <a:gd name="T3" fmla="*/ 0 h 187"/>
              <a:gd name="T4" fmla="*/ 187 w 188"/>
              <a:gd name="T5" fmla="*/ 0 h 187"/>
              <a:gd name="T6" fmla="*/ 187 w 188"/>
              <a:gd name="T7" fmla="*/ 186 h 187"/>
              <a:gd name="T8" fmla="*/ 0 w 188"/>
              <a:gd name="T9" fmla="*/ 186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8" h="187">
                <a:moveTo>
                  <a:pt x="0" y="186"/>
                </a:moveTo>
                <a:lnTo>
                  <a:pt x="0" y="0"/>
                </a:lnTo>
                <a:lnTo>
                  <a:pt x="187" y="0"/>
                </a:lnTo>
                <a:lnTo>
                  <a:pt x="187" y="186"/>
                </a:lnTo>
                <a:lnTo>
                  <a:pt x="0" y="186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Rectangle 19"/>
          <p:cNvSpPr>
            <a:spLocks noChangeArrowheads="1"/>
          </p:cNvSpPr>
          <p:nvPr/>
        </p:nvSpPr>
        <p:spPr bwMode="auto">
          <a:xfrm>
            <a:off x="4489450" y="3557588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00</a:t>
            </a:r>
          </a:p>
        </p:txBody>
      </p:sp>
      <p:sp>
        <p:nvSpPr>
          <p:cNvPr id="72" name="Rectangle 20"/>
          <p:cNvSpPr>
            <a:spLocks noChangeArrowheads="1"/>
          </p:cNvSpPr>
          <p:nvPr/>
        </p:nvSpPr>
        <p:spPr bwMode="auto">
          <a:xfrm>
            <a:off x="4489450" y="386715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01</a:t>
            </a:r>
          </a:p>
        </p:txBody>
      </p:sp>
      <p:sp>
        <p:nvSpPr>
          <p:cNvPr id="73" name="Rectangle 21"/>
          <p:cNvSpPr>
            <a:spLocks noChangeArrowheads="1"/>
          </p:cNvSpPr>
          <p:nvPr/>
        </p:nvSpPr>
        <p:spPr bwMode="auto">
          <a:xfrm>
            <a:off x="4467225" y="41513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</a:t>
            </a:r>
          </a:p>
        </p:txBody>
      </p:sp>
      <p:sp>
        <p:nvSpPr>
          <p:cNvPr id="74" name="Rectangle 22"/>
          <p:cNvSpPr>
            <a:spLocks noChangeArrowheads="1"/>
          </p:cNvSpPr>
          <p:nvPr/>
        </p:nvSpPr>
        <p:spPr bwMode="auto">
          <a:xfrm>
            <a:off x="4479925" y="4435475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11</a:t>
            </a:r>
          </a:p>
        </p:txBody>
      </p:sp>
      <p:sp>
        <p:nvSpPr>
          <p:cNvPr id="75" name="Rectangle 23"/>
          <p:cNvSpPr>
            <a:spLocks noChangeArrowheads="1"/>
          </p:cNvSpPr>
          <p:nvPr/>
        </p:nvSpPr>
        <p:spPr bwMode="auto">
          <a:xfrm>
            <a:off x="4941888" y="322580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sp>
        <p:nvSpPr>
          <p:cNvPr id="76" name="Rectangle 24"/>
          <p:cNvSpPr>
            <a:spLocks noChangeArrowheads="1"/>
          </p:cNvSpPr>
          <p:nvPr/>
        </p:nvSpPr>
        <p:spPr bwMode="auto">
          <a:xfrm>
            <a:off x="6142038" y="31908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sp>
        <p:nvSpPr>
          <p:cNvPr id="77" name="Rectangle 25"/>
          <p:cNvSpPr>
            <a:spLocks noChangeArrowheads="1"/>
          </p:cNvSpPr>
          <p:nvPr/>
        </p:nvSpPr>
        <p:spPr bwMode="auto">
          <a:xfrm>
            <a:off x="6164263" y="4114800"/>
            <a:ext cx="269875" cy="301625"/>
          </a:xfrm>
          <a:prstGeom prst="rect">
            <a:avLst/>
          </a:prstGeom>
          <a:pattFill prst="pct20">
            <a:fgClr>
              <a:schemeClr val="tx2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sp>
        <p:nvSpPr>
          <p:cNvPr id="78" name="Rectangle 26"/>
          <p:cNvSpPr>
            <a:spLocks noChangeArrowheads="1"/>
          </p:cNvSpPr>
          <p:nvPr/>
        </p:nvSpPr>
        <p:spPr bwMode="auto">
          <a:xfrm>
            <a:off x="6142038" y="494506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sp>
        <p:nvSpPr>
          <p:cNvPr id="79" name="Rectangle 27"/>
          <p:cNvSpPr>
            <a:spLocks noChangeArrowheads="1"/>
          </p:cNvSpPr>
          <p:nvPr/>
        </p:nvSpPr>
        <p:spPr bwMode="auto">
          <a:xfrm>
            <a:off x="4289425" y="2362200"/>
            <a:ext cx="135413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Courier New" pitchFamily="49" charset="0"/>
              </a:rPr>
              <a:t>LOCAL DEPTH</a:t>
            </a:r>
          </a:p>
        </p:txBody>
      </p:sp>
      <p:sp>
        <p:nvSpPr>
          <p:cNvPr id="80" name="Rectangle 28"/>
          <p:cNvSpPr>
            <a:spLocks noChangeArrowheads="1"/>
          </p:cNvSpPr>
          <p:nvPr/>
        </p:nvSpPr>
        <p:spPr bwMode="auto">
          <a:xfrm>
            <a:off x="6142038" y="229870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sp>
        <p:nvSpPr>
          <p:cNvPr id="81" name="Rectangle 29"/>
          <p:cNvSpPr>
            <a:spLocks noChangeArrowheads="1"/>
          </p:cNvSpPr>
          <p:nvPr/>
        </p:nvSpPr>
        <p:spPr bwMode="auto">
          <a:xfrm>
            <a:off x="6154738" y="5894388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sp>
        <p:nvSpPr>
          <p:cNvPr id="82" name="Rectangle 30"/>
          <p:cNvSpPr>
            <a:spLocks noChangeArrowheads="1"/>
          </p:cNvSpPr>
          <p:nvPr/>
        </p:nvSpPr>
        <p:spPr bwMode="auto">
          <a:xfrm>
            <a:off x="4679950" y="5148263"/>
            <a:ext cx="1268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DIRECTORY</a:t>
            </a:r>
          </a:p>
        </p:txBody>
      </p:sp>
      <p:sp>
        <p:nvSpPr>
          <p:cNvPr id="83" name="Rectangle 31"/>
          <p:cNvSpPr>
            <a:spLocks noChangeArrowheads="1"/>
          </p:cNvSpPr>
          <p:nvPr/>
        </p:nvSpPr>
        <p:spPr bwMode="auto">
          <a:xfrm>
            <a:off x="4191000" y="2716213"/>
            <a:ext cx="14620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Courier New" pitchFamily="49" charset="0"/>
              </a:rPr>
              <a:t>GLOBAL DEPTH</a:t>
            </a:r>
          </a:p>
        </p:txBody>
      </p:sp>
      <p:sp>
        <p:nvSpPr>
          <p:cNvPr id="84" name="Rectangle 32"/>
          <p:cNvSpPr>
            <a:spLocks noChangeArrowheads="1"/>
          </p:cNvSpPr>
          <p:nvPr/>
        </p:nvSpPr>
        <p:spPr bwMode="auto">
          <a:xfrm>
            <a:off x="7362825" y="2535238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A</a:t>
            </a:r>
          </a:p>
        </p:txBody>
      </p:sp>
      <p:sp>
        <p:nvSpPr>
          <p:cNvPr id="85" name="Rectangle 33"/>
          <p:cNvSpPr>
            <a:spLocks noChangeArrowheads="1"/>
          </p:cNvSpPr>
          <p:nvPr/>
        </p:nvSpPr>
        <p:spPr bwMode="auto">
          <a:xfrm>
            <a:off x="7362825" y="3475038"/>
            <a:ext cx="8778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B</a:t>
            </a:r>
          </a:p>
        </p:txBody>
      </p:sp>
      <p:sp>
        <p:nvSpPr>
          <p:cNvPr id="86" name="Rectangle 34"/>
          <p:cNvSpPr>
            <a:spLocks noChangeArrowheads="1"/>
          </p:cNvSpPr>
          <p:nvPr/>
        </p:nvSpPr>
        <p:spPr bwMode="auto">
          <a:xfrm>
            <a:off x="7362825" y="4343400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C</a:t>
            </a:r>
          </a:p>
        </p:txBody>
      </p:sp>
      <p:sp>
        <p:nvSpPr>
          <p:cNvPr id="87" name="Rectangle 35"/>
          <p:cNvSpPr>
            <a:spLocks noChangeArrowheads="1"/>
          </p:cNvSpPr>
          <p:nvPr/>
        </p:nvSpPr>
        <p:spPr bwMode="auto">
          <a:xfrm>
            <a:off x="7362825" y="5216525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D</a:t>
            </a:r>
          </a:p>
        </p:txBody>
      </p:sp>
      <p:sp>
        <p:nvSpPr>
          <p:cNvPr id="88" name="Rectangle 36"/>
          <p:cNvSpPr>
            <a:spLocks noChangeArrowheads="1"/>
          </p:cNvSpPr>
          <p:nvPr/>
        </p:nvSpPr>
        <p:spPr bwMode="auto">
          <a:xfrm>
            <a:off x="7362825" y="6154738"/>
            <a:ext cx="9763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A2</a:t>
            </a:r>
          </a:p>
        </p:txBody>
      </p:sp>
      <p:sp>
        <p:nvSpPr>
          <p:cNvPr id="89" name="Rectangle 37"/>
          <p:cNvSpPr>
            <a:spLocks noChangeArrowheads="1"/>
          </p:cNvSpPr>
          <p:nvPr/>
        </p:nvSpPr>
        <p:spPr bwMode="auto">
          <a:xfrm>
            <a:off x="7362825" y="6354763"/>
            <a:ext cx="117316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(`split image'</a:t>
            </a:r>
          </a:p>
        </p:txBody>
      </p:sp>
      <p:sp>
        <p:nvSpPr>
          <p:cNvPr id="90" name="Rectangle 38"/>
          <p:cNvSpPr>
            <a:spLocks noChangeArrowheads="1"/>
          </p:cNvSpPr>
          <p:nvPr/>
        </p:nvSpPr>
        <p:spPr bwMode="auto">
          <a:xfrm>
            <a:off x="7362825" y="6556375"/>
            <a:ext cx="113823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of Bucket A)</a:t>
            </a:r>
          </a:p>
        </p:txBody>
      </p:sp>
      <p:sp>
        <p:nvSpPr>
          <p:cNvPr id="91" name="Rectangle 39"/>
          <p:cNvSpPr>
            <a:spLocks noChangeArrowheads="1"/>
          </p:cNvSpPr>
          <p:nvPr/>
        </p:nvSpPr>
        <p:spPr bwMode="auto">
          <a:xfrm>
            <a:off x="6146800" y="35417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1*</a:t>
            </a:r>
          </a:p>
        </p:txBody>
      </p:sp>
      <p:sp>
        <p:nvSpPr>
          <p:cNvPr id="92" name="Rectangle 40"/>
          <p:cNvSpPr>
            <a:spLocks noChangeArrowheads="1"/>
          </p:cNvSpPr>
          <p:nvPr/>
        </p:nvSpPr>
        <p:spPr bwMode="auto">
          <a:xfrm>
            <a:off x="6437313" y="3540125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5*</a:t>
            </a:r>
          </a:p>
        </p:txBody>
      </p:sp>
      <p:sp>
        <p:nvSpPr>
          <p:cNvPr id="93" name="Rectangle 41"/>
          <p:cNvSpPr>
            <a:spLocks noChangeArrowheads="1"/>
          </p:cNvSpPr>
          <p:nvPr/>
        </p:nvSpPr>
        <p:spPr bwMode="auto">
          <a:xfrm>
            <a:off x="6737350" y="354012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21*</a:t>
            </a:r>
          </a:p>
        </p:txBody>
      </p:sp>
      <p:sp>
        <p:nvSpPr>
          <p:cNvPr id="94" name="Rectangle 42"/>
          <p:cNvSpPr>
            <a:spLocks noChangeArrowheads="1"/>
          </p:cNvSpPr>
          <p:nvPr/>
        </p:nvSpPr>
        <p:spPr bwMode="auto">
          <a:xfrm>
            <a:off x="6996113" y="354012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13*</a:t>
            </a:r>
          </a:p>
        </p:txBody>
      </p:sp>
      <p:sp>
        <p:nvSpPr>
          <p:cNvPr id="95" name="Rectangle 43"/>
          <p:cNvSpPr>
            <a:spLocks noChangeArrowheads="1"/>
          </p:cNvSpPr>
          <p:nvPr/>
        </p:nvSpPr>
        <p:spPr bwMode="auto">
          <a:xfrm>
            <a:off x="6724650" y="264953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32*</a:t>
            </a:r>
          </a:p>
        </p:txBody>
      </p:sp>
      <p:sp>
        <p:nvSpPr>
          <p:cNvPr id="96" name="Rectangle 44"/>
          <p:cNvSpPr>
            <a:spLocks noChangeArrowheads="1"/>
          </p:cNvSpPr>
          <p:nvPr/>
        </p:nvSpPr>
        <p:spPr bwMode="auto">
          <a:xfrm>
            <a:off x="6996113" y="263683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16*</a:t>
            </a:r>
          </a:p>
        </p:txBody>
      </p:sp>
      <p:sp>
        <p:nvSpPr>
          <p:cNvPr id="97" name="Rectangle 45"/>
          <p:cNvSpPr>
            <a:spLocks noChangeArrowheads="1"/>
          </p:cNvSpPr>
          <p:nvPr/>
        </p:nvSpPr>
        <p:spPr bwMode="auto">
          <a:xfrm>
            <a:off x="6132513" y="441642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10*</a:t>
            </a:r>
          </a:p>
        </p:txBody>
      </p:sp>
      <p:sp>
        <p:nvSpPr>
          <p:cNvPr id="98" name="Rectangle 46"/>
          <p:cNvSpPr>
            <a:spLocks noChangeArrowheads="1"/>
          </p:cNvSpPr>
          <p:nvPr/>
        </p:nvSpPr>
        <p:spPr bwMode="auto">
          <a:xfrm>
            <a:off x="6119813" y="53070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15*</a:t>
            </a:r>
          </a:p>
        </p:txBody>
      </p:sp>
      <p:sp>
        <p:nvSpPr>
          <p:cNvPr id="99" name="Rectangle 47"/>
          <p:cNvSpPr>
            <a:spLocks noChangeArrowheads="1"/>
          </p:cNvSpPr>
          <p:nvPr/>
        </p:nvSpPr>
        <p:spPr bwMode="auto">
          <a:xfrm>
            <a:off x="6435725" y="53070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7*</a:t>
            </a:r>
          </a:p>
        </p:txBody>
      </p:sp>
      <p:sp>
        <p:nvSpPr>
          <p:cNvPr id="100" name="Rectangle 48"/>
          <p:cNvSpPr>
            <a:spLocks noChangeArrowheads="1"/>
          </p:cNvSpPr>
          <p:nvPr/>
        </p:nvSpPr>
        <p:spPr bwMode="auto">
          <a:xfrm>
            <a:off x="6711950" y="53070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19*</a:t>
            </a:r>
          </a:p>
        </p:txBody>
      </p:sp>
      <p:sp>
        <p:nvSpPr>
          <p:cNvPr id="101" name="Rectangle 49"/>
          <p:cNvSpPr>
            <a:spLocks noChangeArrowheads="1"/>
          </p:cNvSpPr>
          <p:nvPr/>
        </p:nvSpPr>
        <p:spPr bwMode="auto">
          <a:xfrm>
            <a:off x="6142038" y="6230938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4*</a:t>
            </a:r>
          </a:p>
        </p:txBody>
      </p:sp>
      <p:sp>
        <p:nvSpPr>
          <p:cNvPr id="102" name="Rectangle 50"/>
          <p:cNvSpPr>
            <a:spLocks noChangeArrowheads="1"/>
          </p:cNvSpPr>
          <p:nvPr/>
        </p:nvSpPr>
        <p:spPr bwMode="auto">
          <a:xfrm>
            <a:off x="6429375" y="623093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12*</a:t>
            </a:r>
          </a:p>
        </p:txBody>
      </p:sp>
      <p:sp>
        <p:nvSpPr>
          <p:cNvPr id="103" name="Line 113"/>
          <p:cNvSpPr>
            <a:spLocks noChangeShapeType="1"/>
          </p:cNvSpPr>
          <p:nvPr/>
        </p:nvSpPr>
        <p:spPr bwMode="auto">
          <a:xfrm>
            <a:off x="4973638" y="3825875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" name="Line 114"/>
          <p:cNvSpPr>
            <a:spLocks noChangeShapeType="1"/>
          </p:cNvSpPr>
          <p:nvPr/>
        </p:nvSpPr>
        <p:spPr bwMode="auto">
          <a:xfrm>
            <a:off x="4959350" y="4097338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" name="Line 115"/>
          <p:cNvSpPr>
            <a:spLocks noChangeShapeType="1"/>
          </p:cNvSpPr>
          <p:nvPr/>
        </p:nvSpPr>
        <p:spPr bwMode="auto">
          <a:xfrm>
            <a:off x="4956175" y="4403725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" name="Line 116"/>
          <p:cNvSpPr>
            <a:spLocks noChangeShapeType="1"/>
          </p:cNvSpPr>
          <p:nvPr/>
        </p:nvSpPr>
        <p:spPr bwMode="auto">
          <a:xfrm flipV="1">
            <a:off x="5203825" y="2803525"/>
            <a:ext cx="915988" cy="8683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" name="Line 117"/>
          <p:cNvSpPr>
            <a:spLocks noChangeShapeType="1"/>
          </p:cNvSpPr>
          <p:nvPr/>
        </p:nvSpPr>
        <p:spPr bwMode="auto">
          <a:xfrm flipV="1">
            <a:off x="5203825" y="3671888"/>
            <a:ext cx="928688" cy="32226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Line 118"/>
          <p:cNvSpPr>
            <a:spLocks noChangeShapeType="1"/>
          </p:cNvSpPr>
          <p:nvPr/>
        </p:nvSpPr>
        <p:spPr bwMode="auto">
          <a:xfrm>
            <a:off x="5243513" y="4260850"/>
            <a:ext cx="881062" cy="3222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Line 119"/>
          <p:cNvSpPr>
            <a:spLocks noChangeShapeType="1"/>
          </p:cNvSpPr>
          <p:nvPr/>
        </p:nvSpPr>
        <p:spPr bwMode="auto">
          <a:xfrm>
            <a:off x="5267325" y="4665663"/>
            <a:ext cx="857250" cy="8096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Freeform 120"/>
          <p:cNvSpPr>
            <a:spLocks/>
          </p:cNvSpPr>
          <p:nvPr/>
        </p:nvSpPr>
        <p:spPr bwMode="auto">
          <a:xfrm>
            <a:off x="5553075" y="2379663"/>
            <a:ext cx="573088" cy="168275"/>
          </a:xfrm>
          <a:custGeom>
            <a:avLst/>
            <a:gdLst>
              <a:gd name="T0" fmla="*/ 0 w 361"/>
              <a:gd name="T1" fmla="*/ 82 h 106"/>
              <a:gd name="T2" fmla="*/ 180 w 361"/>
              <a:gd name="T3" fmla="*/ 0 h 106"/>
              <a:gd name="T4" fmla="*/ 105 w 361"/>
              <a:gd name="T5" fmla="*/ 105 h 106"/>
              <a:gd name="T6" fmla="*/ 360 w 361"/>
              <a:gd name="T7" fmla="*/ 3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1" h="106">
                <a:moveTo>
                  <a:pt x="0" y="82"/>
                </a:moveTo>
                <a:lnTo>
                  <a:pt x="180" y="0"/>
                </a:lnTo>
                <a:lnTo>
                  <a:pt x="105" y="105"/>
                </a:lnTo>
                <a:lnTo>
                  <a:pt x="360" y="3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Freeform 121"/>
          <p:cNvSpPr>
            <a:spLocks/>
          </p:cNvSpPr>
          <p:nvPr/>
        </p:nvSpPr>
        <p:spPr bwMode="auto">
          <a:xfrm>
            <a:off x="5053013" y="2962275"/>
            <a:ext cx="180975" cy="276225"/>
          </a:xfrm>
          <a:custGeom>
            <a:avLst/>
            <a:gdLst>
              <a:gd name="T0" fmla="*/ 75 w 114"/>
              <a:gd name="T1" fmla="*/ 0 h 174"/>
              <a:gd name="T2" fmla="*/ 113 w 114"/>
              <a:gd name="T3" fmla="*/ 68 h 174"/>
              <a:gd name="T4" fmla="*/ 0 w 114"/>
              <a:gd name="T5" fmla="*/ 38 h 174"/>
              <a:gd name="T6" fmla="*/ 15 w 114"/>
              <a:gd name="T7" fmla="*/ 173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4" h="174">
                <a:moveTo>
                  <a:pt x="75" y="0"/>
                </a:moveTo>
                <a:lnTo>
                  <a:pt x="113" y="68"/>
                </a:lnTo>
                <a:lnTo>
                  <a:pt x="0" y="38"/>
                </a:lnTo>
                <a:lnTo>
                  <a:pt x="15" y="173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Rounded Rectangle 111"/>
          <p:cNvSpPr/>
          <p:nvPr/>
        </p:nvSpPr>
        <p:spPr>
          <a:xfrm>
            <a:off x="883778" y="2226918"/>
            <a:ext cx="2819400" cy="530912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Repeat…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524000" y="4328956"/>
            <a:ext cx="14478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20 = 101</a:t>
            </a:r>
            <a:r>
              <a:rPr lang="en-US" b="1" dirty="0" smtClean="0"/>
              <a:t>00</a:t>
            </a:r>
            <a:endParaRPr lang="en-US" dirty="0"/>
          </a:p>
        </p:txBody>
      </p:sp>
      <p:cxnSp>
        <p:nvCxnSpPr>
          <p:cNvPr id="114" name="Straight Arrow Connector 113"/>
          <p:cNvCxnSpPr>
            <a:endCxn id="71" idx="1"/>
          </p:cNvCxnSpPr>
          <p:nvPr/>
        </p:nvCxnSpPr>
        <p:spPr>
          <a:xfrm flipV="1">
            <a:off x="2971800" y="3708401"/>
            <a:ext cx="1517650" cy="819149"/>
          </a:xfrm>
          <a:prstGeom prst="straightConnector1">
            <a:avLst/>
          </a:prstGeom>
          <a:ln w="1587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000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Extendible Hashing: Inserting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3000" dirty="0"/>
              <a:t>Example: insert </a:t>
            </a:r>
            <a:r>
              <a:rPr lang="en-US" sz="3000" dirty="0">
                <a:solidFill>
                  <a:srgbClr val="FF0000"/>
                </a:solidFill>
              </a:rPr>
              <a:t>20* 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  <a:p>
            <a:pPr marL="0" indent="0">
              <a:buNone/>
            </a:pPr>
            <a:endParaRPr lang="en-US" dirty="0" smtClean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</p:txBody>
      </p:sp>
      <p:sp>
        <p:nvSpPr>
          <p:cNvPr id="112" name="Freeform 51"/>
          <p:cNvSpPr>
            <a:spLocks/>
          </p:cNvSpPr>
          <p:nvPr/>
        </p:nvSpPr>
        <p:spPr bwMode="auto">
          <a:xfrm>
            <a:off x="4986338" y="3128963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Freeform 52"/>
          <p:cNvSpPr>
            <a:spLocks/>
          </p:cNvSpPr>
          <p:nvPr/>
        </p:nvSpPr>
        <p:spPr bwMode="auto">
          <a:xfrm>
            <a:off x="6186488" y="3429000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Freeform 53"/>
          <p:cNvSpPr>
            <a:spLocks/>
          </p:cNvSpPr>
          <p:nvPr/>
        </p:nvSpPr>
        <p:spPr bwMode="auto">
          <a:xfrm>
            <a:off x="6186488" y="4327525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Freeform 54"/>
          <p:cNvSpPr>
            <a:spLocks/>
          </p:cNvSpPr>
          <p:nvPr/>
        </p:nvSpPr>
        <p:spPr bwMode="auto">
          <a:xfrm>
            <a:off x="6186488" y="5229225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Freeform 55"/>
          <p:cNvSpPr>
            <a:spLocks/>
          </p:cNvSpPr>
          <p:nvPr/>
        </p:nvSpPr>
        <p:spPr bwMode="auto">
          <a:xfrm>
            <a:off x="6186488" y="3128963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Freeform 56"/>
          <p:cNvSpPr>
            <a:spLocks/>
          </p:cNvSpPr>
          <p:nvPr/>
        </p:nvSpPr>
        <p:spPr bwMode="auto">
          <a:xfrm>
            <a:off x="6186488" y="4027488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Freeform 57"/>
          <p:cNvSpPr>
            <a:spLocks/>
          </p:cNvSpPr>
          <p:nvPr/>
        </p:nvSpPr>
        <p:spPr bwMode="auto">
          <a:xfrm>
            <a:off x="6186488" y="4929188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Freeform 58"/>
          <p:cNvSpPr>
            <a:spLocks/>
          </p:cNvSpPr>
          <p:nvPr/>
        </p:nvSpPr>
        <p:spPr bwMode="auto">
          <a:xfrm>
            <a:off x="6186488" y="2528888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Freeform 59"/>
          <p:cNvSpPr>
            <a:spLocks/>
          </p:cNvSpPr>
          <p:nvPr/>
        </p:nvSpPr>
        <p:spPr bwMode="auto">
          <a:xfrm>
            <a:off x="6186488" y="2228850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" name="Freeform 60"/>
          <p:cNvSpPr>
            <a:spLocks/>
          </p:cNvSpPr>
          <p:nvPr/>
        </p:nvSpPr>
        <p:spPr bwMode="auto">
          <a:xfrm>
            <a:off x="6197600" y="6165850"/>
            <a:ext cx="1201738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Freeform 61"/>
          <p:cNvSpPr>
            <a:spLocks/>
          </p:cNvSpPr>
          <p:nvPr/>
        </p:nvSpPr>
        <p:spPr bwMode="auto">
          <a:xfrm>
            <a:off x="6197600" y="5865813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" name="Freeform 62"/>
          <p:cNvSpPr>
            <a:spLocks/>
          </p:cNvSpPr>
          <p:nvPr/>
        </p:nvSpPr>
        <p:spPr bwMode="auto">
          <a:xfrm>
            <a:off x="4986338" y="3429000"/>
            <a:ext cx="601662" cy="1200150"/>
          </a:xfrm>
          <a:custGeom>
            <a:avLst/>
            <a:gdLst>
              <a:gd name="T0" fmla="*/ 0 w 379"/>
              <a:gd name="T1" fmla="*/ 755 h 756"/>
              <a:gd name="T2" fmla="*/ 0 w 379"/>
              <a:gd name="T3" fmla="*/ 0 h 756"/>
              <a:gd name="T4" fmla="*/ 378 w 379"/>
              <a:gd name="T5" fmla="*/ 0 h 756"/>
              <a:gd name="T6" fmla="*/ 378 w 379"/>
              <a:gd name="T7" fmla="*/ 755 h 756"/>
              <a:gd name="T8" fmla="*/ 0 w 379"/>
              <a:gd name="T9" fmla="*/ 755 h 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9" h="756">
                <a:moveTo>
                  <a:pt x="0" y="755"/>
                </a:moveTo>
                <a:lnTo>
                  <a:pt x="0" y="0"/>
                </a:lnTo>
                <a:lnTo>
                  <a:pt x="378" y="0"/>
                </a:lnTo>
                <a:lnTo>
                  <a:pt x="378" y="755"/>
                </a:lnTo>
                <a:lnTo>
                  <a:pt x="0" y="75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" name="Freeform 63"/>
          <p:cNvSpPr>
            <a:spLocks/>
          </p:cNvSpPr>
          <p:nvPr/>
        </p:nvSpPr>
        <p:spPr bwMode="auto">
          <a:xfrm>
            <a:off x="4986338" y="4627563"/>
            <a:ext cx="601662" cy="1203325"/>
          </a:xfrm>
          <a:custGeom>
            <a:avLst/>
            <a:gdLst>
              <a:gd name="T0" fmla="*/ 0 w 379"/>
              <a:gd name="T1" fmla="*/ 757 h 758"/>
              <a:gd name="T2" fmla="*/ 0 w 379"/>
              <a:gd name="T3" fmla="*/ 0 h 758"/>
              <a:gd name="T4" fmla="*/ 378 w 379"/>
              <a:gd name="T5" fmla="*/ 0 h 758"/>
              <a:gd name="T6" fmla="*/ 378 w 379"/>
              <a:gd name="T7" fmla="*/ 757 h 758"/>
              <a:gd name="T8" fmla="*/ 0 w 379"/>
              <a:gd name="T9" fmla="*/ 757 h 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9" h="758">
                <a:moveTo>
                  <a:pt x="0" y="757"/>
                </a:moveTo>
                <a:lnTo>
                  <a:pt x="0" y="0"/>
                </a:lnTo>
                <a:lnTo>
                  <a:pt x="378" y="0"/>
                </a:lnTo>
                <a:lnTo>
                  <a:pt x="378" y="757"/>
                </a:lnTo>
                <a:lnTo>
                  <a:pt x="0" y="75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7" name="Rectangle 64"/>
          <p:cNvSpPr>
            <a:spLocks noChangeArrowheads="1"/>
          </p:cNvSpPr>
          <p:nvPr/>
        </p:nvSpPr>
        <p:spPr bwMode="auto">
          <a:xfrm>
            <a:off x="6754813" y="52228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19*</a:t>
            </a:r>
          </a:p>
        </p:txBody>
      </p:sp>
      <p:sp>
        <p:nvSpPr>
          <p:cNvPr id="128" name="Rectangle 65"/>
          <p:cNvSpPr>
            <a:spLocks noChangeArrowheads="1"/>
          </p:cNvSpPr>
          <p:nvPr/>
        </p:nvSpPr>
        <p:spPr bwMode="auto">
          <a:xfrm>
            <a:off x="6175375" y="30924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sp>
        <p:nvSpPr>
          <p:cNvPr id="129" name="Rectangle 66"/>
          <p:cNvSpPr>
            <a:spLocks noChangeArrowheads="1"/>
          </p:cNvSpPr>
          <p:nvPr/>
        </p:nvSpPr>
        <p:spPr bwMode="auto">
          <a:xfrm>
            <a:off x="6189663" y="39782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sp>
        <p:nvSpPr>
          <p:cNvPr id="130" name="Rectangle 67"/>
          <p:cNvSpPr>
            <a:spLocks noChangeArrowheads="1"/>
          </p:cNvSpPr>
          <p:nvPr/>
        </p:nvSpPr>
        <p:spPr bwMode="auto">
          <a:xfrm>
            <a:off x="6189663" y="490220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sp>
        <p:nvSpPr>
          <p:cNvPr id="131" name="Rectangle 68"/>
          <p:cNvSpPr>
            <a:spLocks noChangeArrowheads="1"/>
          </p:cNvSpPr>
          <p:nvPr/>
        </p:nvSpPr>
        <p:spPr bwMode="auto">
          <a:xfrm>
            <a:off x="4491038" y="343852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000</a:t>
            </a:r>
          </a:p>
        </p:txBody>
      </p:sp>
      <p:sp>
        <p:nvSpPr>
          <p:cNvPr id="132" name="Rectangle 69"/>
          <p:cNvSpPr>
            <a:spLocks noChangeArrowheads="1"/>
          </p:cNvSpPr>
          <p:nvPr/>
        </p:nvSpPr>
        <p:spPr bwMode="auto">
          <a:xfrm>
            <a:off x="4491038" y="37496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001</a:t>
            </a:r>
          </a:p>
        </p:txBody>
      </p:sp>
      <p:sp>
        <p:nvSpPr>
          <p:cNvPr id="133" name="Rectangle 70"/>
          <p:cNvSpPr>
            <a:spLocks noChangeArrowheads="1"/>
          </p:cNvSpPr>
          <p:nvPr/>
        </p:nvSpPr>
        <p:spPr bwMode="auto">
          <a:xfrm>
            <a:off x="4481513" y="40497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010</a:t>
            </a:r>
          </a:p>
        </p:txBody>
      </p:sp>
      <p:sp>
        <p:nvSpPr>
          <p:cNvPr id="134" name="Rectangle 71"/>
          <p:cNvSpPr>
            <a:spLocks noChangeArrowheads="1"/>
          </p:cNvSpPr>
          <p:nvPr/>
        </p:nvSpPr>
        <p:spPr bwMode="auto">
          <a:xfrm>
            <a:off x="4481513" y="436245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011</a:t>
            </a:r>
          </a:p>
        </p:txBody>
      </p:sp>
      <p:sp>
        <p:nvSpPr>
          <p:cNvPr id="135" name="Rectangle 72"/>
          <p:cNvSpPr>
            <a:spLocks noChangeArrowheads="1"/>
          </p:cNvSpPr>
          <p:nvPr/>
        </p:nvSpPr>
        <p:spPr bwMode="auto">
          <a:xfrm>
            <a:off x="4470400" y="464978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100</a:t>
            </a:r>
          </a:p>
        </p:txBody>
      </p:sp>
      <p:sp>
        <p:nvSpPr>
          <p:cNvPr id="136" name="Rectangle 73"/>
          <p:cNvSpPr>
            <a:spLocks noChangeArrowheads="1"/>
          </p:cNvSpPr>
          <p:nvPr/>
        </p:nvSpPr>
        <p:spPr bwMode="auto">
          <a:xfrm>
            <a:off x="4470400" y="496252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101</a:t>
            </a:r>
          </a:p>
        </p:txBody>
      </p:sp>
      <p:sp>
        <p:nvSpPr>
          <p:cNvPr id="137" name="Rectangle 74"/>
          <p:cNvSpPr>
            <a:spLocks noChangeArrowheads="1"/>
          </p:cNvSpPr>
          <p:nvPr/>
        </p:nvSpPr>
        <p:spPr bwMode="auto">
          <a:xfrm>
            <a:off x="4457700" y="528478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110</a:t>
            </a:r>
          </a:p>
        </p:txBody>
      </p:sp>
      <p:sp>
        <p:nvSpPr>
          <p:cNvPr id="138" name="Rectangle 75"/>
          <p:cNvSpPr>
            <a:spLocks noChangeArrowheads="1"/>
          </p:cNvSpPr>
          <p:nvPr/>
        </p:nvSpPr>
        <p:spPr bwMode="auto">
          <a:xfrm>
            <a:off x="4470400" y="55737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111</a:t>
            </a:r>
          </a:p>
        </p:txBody>
      </p:sp>
      <p:sp>
        <p:nvSpPr>
          <p:cNvPr id="139" name="Rectangle 76"/>
          <p:cNvSpPr>
            <a:spLocks noChangeArrowheads="1"/>
          </p:cNvSpPr>
          <p:nvPr/>
        </p:nvSpPr>
        <p:spPr bwMode="auto">
          <a:xfrm>
            <a:off x="4987925" y="310356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3</a:t>
            </a:r>
          </a:p>
        </p:txBody>
      </p:sp>
      <p:sp>
        <p:nvSpPr>
          <p:cNvPr id="140" name="Rectangle 77"/>
          <p:cNvSpPr>
            <a:spLocks noChangeArrowheads="1"/>
          </p:cNvSpPr>
          <p:nvPr/>
        </p:nvSpPr>
        <p:spPr bwMode="auto">
          <a:xfrm>
            <a:off x="6175375" y="2190750"/>
            <a:ext cx="28213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 smtClean="0">
                <a:solidFill>
                  <a:srgbClr val="000000"/>
                </a:solidFill>
                <a:latin typeface="Helvetica" charset="0"/>
              </a:rPr>
              <a:t>2</a:t>
            </a:r>
            <a:endParaRPr lang="en-US" sz="1400" b="1" dirty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141" name="Rectangle 78"/>
          <p:cNvSpPr>
            <a:spLocks noChangeArrowheads="1"/>
          </p:cNvSpPr>
          <p:nvPr/>
        </p:nvSpPr>
        <p:spPr bwMode="auto">
          <a:xfrm>
            <a:off x="6202363" y="5838825"/>
            <a:ext cx="28213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dirty="0" smtClean="0">
                <a:solidFill>
                  <a:srgbClr val="000000"/>
                </a:solidFill>
                <a:latin typeface="Helvetica" charset="0"/>
              </a:rPr>
              <a:t>2</a:t>
            </a:r>
            <a:endParaRPr lang="en-US" sz="1400" b="1" dirty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142" name="Rectangle 79"/>
          <p:cNvSpPr>
            <a:spLocks noChangeArrowheads="1"/>
          </p:cNvSpPr>
          <p:nvPr/>
        </p:nvSpPr>
        <p:spPr bwMode="auto">
          <a:xfrm>
            <a:off x="4699000" y="6069013"/>
            <a:ext cx="1268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DIRECTORY</a:t>
            </a:r>
          </a:p>
        </p:txBody>
      </p:sp>
      <p:sp>
        <p:nvSpPr>
          <p:cNvPr id="143" name="Rectangle 80"/>
          <p:cNvSpPr>
            <a:spLocks noChangeArrowheads="1"/>
          </p:cNvSpPr>
          <p:nvPr/>
        </p:nvSpPr>
        <p:spPr bwMode="auto">
          <a:xfrm>
            <a:off x="7437438" y="2535238"/>
            <a:ext cx="887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A</a:t>
            </a:r>
          </a:p>
        </p:txBody>
      </p:sp>
      <p:sp>
        <p:nvSpPr>
          <p:cNvPr id="144" name="Rectangle 81"/>
          <p:cNvSpPr>
            <a:spLocks noChangeArrowheads="1"/>
          </p:cNvSpPr>
          <p:nvPr/>
        </p:nvSpPr>
        <p:spPr bwMode="auto">
          <a:xfrm>
            <a:off x="7450138" y="3448050"/>
            <a:ext cx="8778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B</a:t>
            </a:r>
          </a:p>
        </p:txBody>
      </p:sp>
      <p:sp>
        <p:nvSpPr>
          <p:cNvPr id="145" name="Rectangle 82"/>
          <p:cNvSpPr>
            <a:spLocks noChangeArrowheads="1"/>
          </p:cNvSpPr>
          <p:nvPr/>
        </p:nvSpPr>
        <p:spPr bwMode="auto">
          <a:xfrm>
            <a:off x="7451725" y="4335463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C</a:t>
            </a:r>
          </a:p>
        </p:txBody>
      </p:sp>
      <p:sp>
        <p:nvSpPr>
          <p:cNvPr id="146" name="Rectangle 83"/>
          <p:cNvSpPr>
            <a:spLocks noChangeArrowheads="1"/>
          </p:cNvSpPr>
          <p:nvPr/>
        </p:nvSpPr>
        <p:spPr bwMode="auto">
          <a:xfrm>
            <a:off x="7451725" y="5248275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D</a:t>
            </a:r>
          </a:p>
        </p:txBody>
      </p:sp>
      <p:sp>
        <p:nvSpPr>
          <p:cNvPr id="147" name="Rectangle 84"/>
          <p:cNvSpPr>
            <a:spLocks noChangeArrowheads="1"/>
          </p:cNvSpPr>
          <p:nvPr/>
        </p:nvSpPr>
        <p:spPr bwMode="auto">
          <a:xfrm>
            <a:off x="7451725" y="6148388"/>
            <a:ext cx="9763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A2</a:t>
            </a:r>
          </a:p>
        </p:txBody>
      </p:sp>
      <p:sp>
        <p:nvSpPr>
          <p:cNvPr id="148" name="Rectangle 85"/>
          <p:cNvSpPr>
            <a:spLocks noChangeArrowheads="1"/>
          </p:cNvSpPr>
          <p:nvPr/>
        </p:nvSpPr>
        <p:spPr bwMode="auto">
          <a:xfrm>
            <a:off x="7286625" y="6376988"/>
            <a:ext cx="117316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(`split image'</a:t>
            </a:r>
          </a:p>
        </p:txBody>
      </p:sp>
      <p:sp>
        <p:nvSpPr>
          <p:cNvPr id="149" name="Rectangle 86"/>
          <p:cNvSpPr>
            <a:spLocks noChangeArrowheads="1"/>
          </p:cNvSpPr>
          <p:nvPr/>
        </p:nvSpPr>
        <p:spPr bwMode="auto">
          <a:xfrm>
            <a:off x="7356475" y="6556375"/>
            <a:ext cx="113823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of Bucket A)</a:t>
            </a:r>
          </a:p>
        </p:txBody>
      </p:sp>
      <p:sp>
        <p:nvSpPr>
          <p:cNvPr id="150" name="Rectangle 87"/>
          <p:cNvSpPr>
            <a:spLocks noChangeArrowheads="1"/>
          </p:cNvSpPr>
          <p:nvPr/>
        </p:nvSpPr>
        <p:spPr bwMode="auto">
          <a:xfrm>
            <a:off x="6750050" y="251936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32*</a:t>
            </a:r>
          </a:p>
        </p:txBody>
      </p:sp>
      <p:sp>
        <p:nvSpPr>
          <p:cNvPr id="151" name="Rectangle 88"/>
          <p:cNvSpPr>
            <a:spLocks noChangeArrowheads="1"/>
          </p:cNvSpPr>
          <p:nvPr/>
        </p:nvSpPr>
        <p:spPr bwMode="auto">
          <a:xfrm>
            <a:off x="6180138" y="34210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1*</a:t>
            </a:r>
          </a:p>
        </p:txBody>
      </p:sp>
      <p:sp>
        <p:nvSpPr>
          <p:cNvPr id="152" name="Rectangle 89"/>
          <p:cNvSpPr>
            <a:spLocks noChangeArrowheads="1"/>
          </p:cNvSpPr>
          <p:nvPr/>
        </p:nvSpPr>
        <p:spPr bwMode="auto">
          <a:xfrm>
            <a:off x="6473825" y="34210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5*</a:t>
            </a:r>
          </a:p>
        </p:txBody>
      </p:sp>
      <p:sp>
        <p:nvSpPr>
          <p:cNvPr id="153" name="Rectangle 90"/>
          <p:cNvSpPr>
            <a:spLocks noChangeArrowheads="1"/>
          </p:cNvSpPr>
          <p:nvPr/>
        </p:nvSpPr>
        <p:spPr bwMode="auto">
          <a:xfrm>
            <a:off x="6764338" y="342106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21*</a:t>
            </a:r>
          </a:p>
        </p:txBody>
      </p:sp>
      <p:sp>
        <p:nvSpPr>
          <p:cNvPr id="154" name="Rectangle 91"/>
          <p:cNvSpPr>
            <a:spLocks noChangeArrowheads="1"/>
          </p:cNvSpPr>
          <p:nvPr/>
        </p:nvSpPr>
        <p:spPr bwMode="auto">
          <a:xfrm>
            <a:off x="7053263" y="342106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13*</a:t>
            </a:r>
          </a:p>
        </p:txBody>
      </p:sp>
      <p:sp>
        <p:nvSpPr>
          <p:cNvPr id="155" name="Rectangle 92"/>
          <p:cNvSpPr>
            <a:spLocks noChangeArrowheads="1"/>
          </p:cNvSpPr>
          <p:nvPr/>
        </p:nvSpPr>
        <p:spPr bwMode="auto">
          <a:xfrm>
            <a:off x="7040563" y="252095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16*</a:t>
            </a:r>
          </a:p>
        </p:txBody>
      </p:sp>
      <p:sp>
        <p:nvSpPr>
          <p:cNvPr id="156" name="Rectangle 93"/>
          <p:cNvSpPr>
            <a:spLocks noChangeArrowheads="1"/>
          </p:cNvSpPr>
          <p:nvPr/>
        </p:nvSpPr>
        <p:spPr bwMode="auto">
          <a:xfrm>
            <a:off x="6154738" y="43211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10*</a:t>
            </a:r>
          </a:p>
        </p:txBody>
      </p:sp>
      <p:sp>
        <p:nvSpPr>
          <p:cNvPr id="157" name="Rectangle 94"/>
          <p:cNvSpPr>
            <a:spLocks noChangeArrowheads="1"/>
          </p:cNvSpPr>
          <p:nvPr/>
        </p:nvSpPr>
        <p:spPr bwMode="auto">
          <a:xfrm>
            <a:off x="6154738" y="520858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15*</a:t>
            </a:r>
          </a:p>
        </p:txBody>
      </p:sp>
      <p:sp>
        <p:nvSpPr>
          <p:cNvPr id="158" name="Rectangle 95"/>
          <p:cNvSpPr>
            <a:spLocks noChangeArrowheads="1"/>
          </p:cNvSpPr>
          <p:nvPr/>
        </p:nvSpPr>
        <p:spPr bwMode="auto">
          <a:xfrm>
            <a:off x="6473825" y="5221288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7*</a:t>
            </a:r>
          </a:p>
        </p:txBody>
      </p:sp>
      <p:sp>
        <p:nvSpPr>
          <p:cNvPr id="159" name="Rectangle 96"/>
          <p:cNvSpPr>
            <a:spLocks noChangeArrowheads="1"/>
          </p:cNvSpPr>
          <p:nvPr/>
        </p:nvSpPr>
        <p:spPr bwMode="auto">
          <a:xfrm>
            <a:off x="6191250" y="6156325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4*</a:t>
            </a:r>
          </a:p>
        </p:txBody>
      </p:sp>
      <p:sp>
        <p:nvSpPr>
          <p:cNvPr id="160" name="Rectangle 97"/>
          <p:cNvSpPr>
            <a:spLocks noChangeArrowheads="1"/>
          </p:cNvSpPr>
          <p:nvPr/>
        </p:nvSpPr>
        <p:spPr bwMode="auto">
          <a:xfrm>
            <a:off x="6780213" y="61452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20*</a:t>
            </a:r>
          </a:p>
        </p:txBody>
      </p:sp>
      <p:sp>
        <p:nvSpPr>
          <p:cNvPr id="161" name="Rectangle 98"/>
          <p:cNvSpPr>
            <a:spLocks noChangeArrowheads="1"/>
          </p:cNvSpPr>
          <p:nvPr/>
        </p:nvSpPr>
        <p:spPr bwMode="auto">
          <a:xfrm>
            <a:off x="6480175" y="614203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12*</a:t>
            </a:r>
          </a:p>
        </p:txBody>
      </p:sp>
      <p:sp>
        <p:nvSpPr>
          <p:cNvPr id="162" name="Line 99"/>
          <p:cNvSpPr>
            <a:spLocks noChangeShapeType="1"/>
          </p:cNvSpPr>
          <p:nvPr/>
        </p:nvSpPr>
        <p:spPr bwMode="auto">
          <a:xfrm>
            <a:off x="4987925" y="3676650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" name="Line 100"/>
          <p:cNvSpPr>
            <a:spLocks noChangeShapeType="1"/>
          </p:cNvSpPr>
          <p:nvPr/>
        </p:nvSpPr>
        <p:spPr bwMode="auto">
          <a:xfrm>
            <a:off x="4997450" y="3971925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" name="Line 101"/>
          <p:cNvSpPr>
            <a:spLocks noChangeShapeType="1"/>
          </p:cNvSpPr>
          <p:nvPr/>
        </p:nvSpPr>
        <p:spPr bwMode="auto">
          <a:xfrm>
            <a:off x="4994275" y="4303713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" name="Line 102"/>
          <p:cNvSpPr>
            <a:spLocks noChangeShapeType="1"/>
          </p:cNvSpPr>
          <p:nvPr/>
        </p:nvSpPr>
        <p:spPr bwMode="auto">
          <a:xfrm>
            <a:off x="5014913" y="4932363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" name="Line 103"/>
          <p:cNvSpPr>
            <a:spLocks noChangeShapeType="1"/>
          </p:cNvSpPr>
          <p:nvPr/>
        </p:nvSpPr>
        <p:spPr bwMode="auto">
          <a:xfrm>
            <a:off x="4989513" y="5286375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" name="Line 104"/>
          <p:cNvSpPr>
            <a:spLocks noChangeShapeType="1"/>
          </p:cNvSpPr>
          <p:nvPr/>
        </p:nvSpPr>
        <p:spPr bwMode="auto">
          <a:xfrm>
            <a:off x="4999038" y="5570538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" name="Line 105"/>
          <p:cNvSpPr>
            <a:spLocks noChangeShapeType="1"/>
          </p:cNvSpPr>
          <p:nvPr/>
        </p:nvSpPr>
        <p:spPr bwMode="auto">
          <a:xfrm flipV="1">
            <a:off x="5273675" y="2713038"/>
            <a:ext cx="904875" cy="85725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" name="Line 106"/>
          <p:cNvSpPr>
            <a:spLocks noChangeShapeType="1"/>
          </p:cNvSpPr>
          <p:nvPr/>
        </p:nvSpPr>
        <p:spPr bwMode="auto">
          <a:xfrm flipV="1">
            <a:off x="5273675" y="3605213"/>
            <a:ext cx="917575" cy="2508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0" name="Line 107"/>
          <p:cNvSpPr>
            <a:spLocks noChangeShapeType="1"/>
          </p:cNvSpPr>
          <p:nvPr/>
        </p:nvSpPr>
        <p:spPr bwMode="auto">
          <a:xfrm>
            <a:off x="5286375" y="4154488"/>
            <a:ext cx="904875" cy="344487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1" name="Line 108"/>
          <p:cNvSpPr>
            <a:spLocks noChangeShapeType="1"/>
          </p:cNvSpPr>
          <p:nvPr/>
        </p:nvSpPr>
        <p:spPr bwMode="auto">
          <a:xfrm>
            <a:off x="5297488" y="4475163"/>
            <a:ext cx="881062" cy="89376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2" name="Line 109"/>
          <p:cNvSpPr>
            <a:spLocks noChangeShapeType="1"/>
          </p:cNvSpPr>
          <p:nvPr/>
        </p:nvSpPr>
        <p:spPr bwMode="auto">
          <a:xfrm>
            <a:off x="5214938" y="4737100"/>
            <a:ext cx="987425" cy="156051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3" name="Line 110"/>
          <p:cNvSpPr>
            <a:spLocks noChangeShapeType="1"/>
          </p:cNvSpPr>
          <p:nvPr/>
        </p:nvSpPr>
        <p:spPr bwMode="auto">
          <a:xfrm flipV="1">
            <a:off x="5245100" y="3648075"/>
            <a:ext cx="928688" cy="14652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" name="Line 111"/>
          <p:cNvSpPr>
            <a:spLocks noChangeShapeType="1"/>
          </p:cNvSpPr>
          <p:nvPr/>
        </p:nvSpPr>
        <p:spPr bwMode="auto">
          <a:xfrm flipV="1">
            <a:off x="5257800" y="4546600"/>
            <a:ext cx="928688" cy="90487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" name="Line 112"/>
          <p:cNvSpPr>
            <a:spLocks noChangeShapeType="1"/>
          </p:cNvSpPr>
          <p:nvPr/>
        </p:nvSpPr>
        <p:spPr bwMode="auto">
          <a:xfrm flipV="1">
            <a:off x="5257800" y="5399088"/>
            <a:ext cx="928688" cy="30956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" name="Rectangle 122"/>
          <p:cNvSpPr>
            <a:spLocks noChangeArrowheads="1"/>
          </p:cNvSpPr>
          <p:nvPr/>
        </p:nvSpPr>
        <p:spPr bwMode="auto">
          <a:xfrm>
            <a:off x="4362450" y="2263775"/>
            <a:ext cx="135413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Courier New" pitchFamily="49" charset="0"/>
              </a:rPr>
              <a:t>LOCAL DEPTH</a:t>
            </a:r>
          </a:p>
        </p:txBody>
      </p:sp>
      <p:sp>
        <p:nvSpPr>
          <p:cNvPr id="177" name="Rectangle 123"/>
          <p:cNvSpPr>
            <a:spLocks noChangeArrowheads="1"/>
          </p:cNvSpPr>
          <p:nvPr/>
        </p:nvSpPr>
        <p:spPr bwMode="auto">
          <a:xfrm>
            <a:off x="4267200" y="2617788"/>
            <a:ext cx="14620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Courier New" pitchFamily="49" charset="0"/>
              </a:rPr>
              <a:t>GLOBAL DEPTH</a:t>
            </a:r>
          </a:p>
        </p:txBody>
      </p:sp>
      <p:sp>
        <p:nvSpPr>
          <p:cNvPr id="178" name="Freeform 124"/>
          <p:cNvSpPr>
            <a:spLocks/>
          </p:cNvSpPr>
          <p:nvPr/>
        </p:nvSpPr>
        <p:spPr bwMode="auto">
          <a:xfrm>
            <a:off x="5629275" y="2281238"/>
            <a:ext cx="573088" cy="168275"/>
          </a:xfrm>
          <a:custGeom>
            <a:avLst/>
            <a:gdLst>
              <a:gd name="T0" fmla="*/ 0 w 361"/>
              <a:gd name="T1" fmla="*/ 82 h 106"/>
              <a:gd name="T2" fmla="*/ 180 w 361"/>
              <a:gd name="T3" fmla="*/ 0 h 106"/>
              <a:gd name="T4" fmla="*/ 105 w 361"/>
              <a:gd name="T5" fmla="*/ 105 h 106"/>
              <a:gd name="T6" fmla="*/ 360 w 361"/>
              <a:gd name="T7" fmla="*/ 3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1" h="106">
                <a:moveTo>
                  <a:pt x="0" y="82"/>
                </a:moveTo>
                <a:lnTo>
                  <a:pt x="180" y="0"/>
                </a:lnTo>
                <a:lnTo>
                  <a:pt x="105" y="105"/>
                </a:lnTo>
                <a:lnTo>
                  <a:pt x="360" y="3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9" name="Freeform 125"/>
          <p:cNvSpPr>
            <a:spLocks/>
          </p:cNvSpPr>
          <p:nvPr/>
        </p:nvSpPr>
        <p:spPr bwMode="auto">
          <a:xfrm>
            <a:off x="5129213" y="2863850"/>
            <a:ext cx="180975" cy="276225"/>
          </a:xfrm>
          <a:custGeom>
            <a:avLst/>
            <a:gdLst>
              <a:gd name="T0" fmla="*/ 75 w 114"/>
              <a:gd name="T1" fmla="*/ 0 h 174"/>
              <a:gd name="T2" fmla="*/ 113 w 114"/>
              <a:gd name="T3" fmla="*/ 68 h 174"/>
              <a:gd name="T4" fmla="*/ 0 w 114"/>
              <a:gd name="T5" fmla="*/ 38 h 174"/>
              <a:gd name="T6" fmla="*/ 15 w 114"/>
              <a:gd name="T7" fmla="*/ 173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4" h="174">
                <a:moveTo>
                  <a:pt x="75" y="0"/>
                </a:moveTo>
                <a:lnTo>
                  <a:pt x="113" y="68"/>
                </a:lnTo>
                <a:lnTo>
                  <a:pt x="0" y="38"/>
                </a:lnTo>
                <a:lnTo>
                  <a:pt x="15" y="173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Rounded Rectangle 72"/>
          <p:cNvSpPr/>
          <p:nvPr/>
        </p:nvSpPr>
        <p:spPr>
          <a:xfrm>
            <a:off x="883778" y="2226918"/>
            <a:ext cx="2819400" cy="530912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Repeat…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914400" y="5107887"/>
            <a:ext cx="2819400" cy="937313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Is this enough?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1346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Extendible Hashing: Inserting Entries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3000" dirty="0"/>
              <a:t>Example: insert </a:t>
            </a:r>
            <a:r>
              <a:rPr lang="en-US" sz="3000" dirty="0">
                <a:solidFill>
                  <a:srgbClr val="FF0000"/>
                </a:solidFill>
              </a:rPr>
              <a:t>20* </a:t>
            </a:r>
          </a:p>
          <a:p>
            <a:pPr>
              <a:buFont typeface="Wingdings" pitchFamily="2" charset="2"/>
              <a:buChar char="§"/>
            </a:pPr>
            <a:endParaRPr lang="en-US" sz="2600" dirty="0"/>
          </a:p>
          <a:p>
            <a:pPr lvl="1">
              <a:buFont typeface="Wingdings" pitchFamily="2" charset="2"/>
              <a:buChar char="§"/>
            </a:pPr>
            <a:endParaRPr lang="en-US" sz="1800" dirty="0"/>
          </a:p>
          <a:p>
            <a:pPr marL="0" indent="0">
              <a:buNone/>
            </a:pPr>
            <a:endParaRPr lang="en-US" dirty="0" smtClean="0"/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  <a:p>
            <a:pPr>
              <a:buFont typeface="Wingdings" pitchFamily="2" charset="2"/>
              <a:buChar char="§"/>
            </a:pPr>
            <a:endParaRPr lang="en-US" sz="2800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</p:txBody>
      </p:sp>
      <p:sp>
        <p:nvSpPr>
          <p:cNvPr id="112" name="Freeform 51"/>
          <p:cNvSpPr>
            <a:spLocks/>
          </p:cNvSpPr>
          <p:nvPr/>
        </p:nvSpPr>
        <p:spPr bwMode="auto">
          <a:xfrm>
            <a:off x="4986338" y="3128963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Freeform 52"/>
          <p:cNvSpPr>
            <a:spLocks/>
          </p:cNvSpPr>
          <p:nvPr/>
        </p:nvSpPr>
        <p:spPr bwMode="auto">
          <a:xfrm>
            <a:off x="6186488" y="3429000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Freeform 53"/>
          <p:cNvSpPr>
            <a:spLocks/>
          </p:cNvSpPr>
          <p:nvPr/>
        </p:nvSpPr>
        <p:spPr bwMode="auto">
          <a:xfrm>
            <a:off x="6186488" y="4327525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Freeform 54"/>
          <p:cNvSpPr>
            <a:spLocks/>
          </p:cNvSpPr>
          <p:nvPr/>
        </p:nvSpPr>
        <p:spPr bwMode="auto">
          <a:xfrm>
            <a:off x="6186488" y="5229225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Freeform 55"/>
          <p:cNvSpPr>
            <a:spLocks/>
          </p:cNvSpPr>
          <p:nvPr/>
        </p:nvSpPr>
        <p:spPr bwMode="auto">
          <a:xfrm>
            <a:off x="6186488" y="3128963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Freeform 56"/>
          <p:cNvSpPr>
            <a:spLocks/>
          </p:cNvSpPr>
          <p:nvPr/>
        </p:nvSpPr>
        <p:spPr bwMode="auto">
          <a:xfrm>
            <a:off x="6186488" y="4027488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Freeform 57"/>
          <p:cNvSpPr>
            <a:spLocks/>
          </p:cNvSpPr>
          <p:nvPr/>
        </p:nvSpPr>
        <p:spPr bwMode="auto">
          <a:xfrm>
            <a:off x="6186488" y="4929188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Freeform 58"/>
          <p:cNvSpPr>
            <a:spLocks/>
          </p:cNvSpPr>
          <p:nvPr/>
        </p:nvSpPr>
        <p:spPr bwMode="auto">
          <a:xfrm>
            <a:off x="6186488" y="2528888"/>
            <a:ext cx="1201737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Freeform 59"/>
          <p:cNvSpPr>
            <a:spLocks/>
          </p:cNvSpPr>
          <p:nvPr/>
        </p:nvSpPr>
        <p:spPr bwMode="auto">
          <a:xfrm>
            <a:off x="6186488" y="2228850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" name="Freeform 60"/>
          <p:cNvSpPr>
            <a:spLocks/>
          </p:cNvSpPr>
          <p:nvPr/>
        </p:nvSpPr>
        <p:spPr bwMode="auto">
          <a:xfrm>
            <a:off x="6197600" y="6165850"/>
            <a:ext cx="1201738" cy="301625"/>
          </a:xfrm>
          <a:custGeom>
            <a:avLst/>
            <a:gdLst>
              <a:gd name="T0" fmla="*/ 0 w 757"/>
              <a:gd name="T1" fmla="*/ 189 h 190"/>
              <a:gd name="T2" fmla="*/ 0 w 757"/>
              <a:gd name="T3" fmla="*/ 0 h 190"/>
              <a:gd name="T4" fmla="*/ 756 w 757"/>
              <a:gd name="T5" fmla="*/ 0 h 190"/>
              <a:gd name="T6" fmla="*/ 756 w 757"/>
              <a:gd name="T7" fmla="*/ 189 h 190"/>
              <a:gd name="T8" fmla="*/ 0 w 757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7" h="190">
                <a:moveTo>
                  <a:pt x="0" y="189"/>
                </a:moveTo>
                <a:lnTo>
                  <a:pt x="0" y="0"/>
                </a:lnTo>
                <a:lnTo>
                  <a:pt x="756" y="0"/>
                </a:lnTo>
                <a:lnTo>
                  <a:pt x="756" y="189"/>
                </a:lnTo>
                <a:lnTo>
                  <a:pt x="0" y="18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Freeform 61"/>
          <p:cNvSpPr>
            <a:spLocks/>
          </p:cNvSpPr>
          <p:nvPr/>
        </p:nvSpPr>
        <p:spPr bwMode="auto">
          <a:xfrm>
            <a:off x="6197600" y="5865813"/>
            <a:ext cx="301625" cy="301625"/>
          </a:xfrm>
          <a:custGeom>
            <a:avLst/>
            <a:gdLst>
              <a:gd name="T0" fmla="*/ 0 w 190"/>
              <a:gd name="T1" fmla="*/ 189 h 190"/>
              <a:gd name="T2" fmla="*/ 0 w 190"/>
              <a:gd name="T3" fmla="*/ 0 h 190"/>
              <a:gd name="T4" fmla="*/ 189 w 190"/>
              <a:gd name="T5" fmla="*/ 0 h 190"/>
              <a:gd name="T6" fmla="*/ 189 w 190"/>
              <a:gd name="T7" fmla="*/ 189 h 190"/>
              <a:gd name="T8" fmla="*/ 0 w 190"/>
              <a:gd name="T9" fmla="*/ 189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0" h="190">
                <a:moveTo>
                  <a:pt x="0" y="189"/>
                </a:moveTo>
                <a:lnTo>
                  <a:pt x="0" y="0"/>
                </a:lnTo>
                <a:lnTo>
                  <a:pt x="189" y="0"/>
                </a:lnTo>
                <a:lnTo>
                  <a:pt x="189" y="189"/>
                </a:lnTo>
                <a:lnTo>
                  <a:pt x="0" y="189"/>
                </a:lnTo>
              </a:path>
            </a:pathLst>
          </a:custGeom>
          <a:pattFill prst="pct20">
            <a:fgClr>
              <a:schemeClr val="tx2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" name="Freeform 62"/>
          <p:cNvSpPr>
            <a:spLocks/>
          </p:cNvSpPr>
          <p:nvPr/>
        </p:nvSpPr>
        <p:spPr bwMode="auto">
          <a:xfrm>
            <a:off x="4986338" y="3429000"/>
            <a:ext cx="601662" cy="1200150"/>
          </a:xfrm>
          <a:custGeom>
            <a:avLst/>
            <a:gdLst>
              <a:gd name="T0" fmla="*/ 0 w 379"/>
              <a:gd name="T1" fmla="*/ 755 h 756"/>
              <a:gd name="T2" fmla="*/ 0 w 379"/>
              <a:gd name="T3" fmla="*/ 0 h 756"/>
              <a:gd name="T4" fmla="*/ 378 w 379"/>
              <a:gd name="T5" fmla="*/ 0 h 756"/>
              <a:gd name="T6" fmla="*/ 378 w 379"/>
              <a:gd name="T7" fmla="*/ 755 h 756"/>
              <a:gd name="T8" fmla="*/ 0 w 379"/>
              <a:gd name="T9" fmla="*/ 755 h 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9" h="756">
                <a:moveTo>
                  <a:pt x="0" y="755"/>
                </a:moveTo>
                <a:lnTo>
                  <a:pt x="0" y="0"/>
                </a:lnTo>
                <a:lnTo>
                  <a:pt x="378" y="0"/>
                </a:lnTo>
                <a:lnTo>
                  <a:pt x="378" y="755"/>
                </a:lnTo>
                <a:lnTo>
                  <a:pt x="0" y="75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" name="Freeform 63"/>
          <p:cNvSpPr>
            <a:spLocks/>
          </p:cNvSpPr>
          <p:nvPr/>
        </p:nvSpPr>
        <p:spPr bwMode="auto">
          <a:xfrm>
            <a:off x="4986338" y="4627563"/>
            <a:ext cx="601662" cy="1203325"/>
          </a:xfrm>
          <a:custGeom>
            <a:avLst/>
            <a:gdLst>
              <a:gd name="T0" fmla="*/ 0 w 379"/>
              <a:gd name="T1" fmla="*/ 757 h 758"/>
              <a:gd name="T2" fmla="*/ 0 w 379"/>
              <a:gd name="T3" fmla="*/ 0 h 758"/>
              <a:gd name="T4" fmla="*/ 378 w 379"/>
              <a:gd name="T5" fmla="*/ 0 h 758"/>
              <a:gd name="T6" fmla="*/ 378 w 379"/>
              <a:gd name="T7" fmla="*/ 757 h 758"/>
              <a:gd name="T8" fmla="*/ 0 w 379"/>
              <a:gd name="T9" fmla="*/ 757 h 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9" h="758">
                <a:moveTo>
                  <a:pt x="0" y="757"/>
                </a:moveTo>
                <a:lnTo>
                  <a:pt x="0" y="0"/>
                </a:lnTo>
                <a:lnTo>
                  <a:pt x="378" y="0"/>
                </a:lnTo>
                <a:lnTo>
                  <a:pt x="378" y="757"/>
                </a:lnTo>
                <a:lnTo>
                  <a:pt x="0" y="757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7" name="Rectangle 64"/>
          <p:cNvSpPr>
            <a:spLocks noChangeArrowheads="1"/>
          </p:cNvSpPr>
          <p:nvPr/>
        </p:nvSpPr>
        <p:spPr bwMode="auto">
          <a:xfrm>
            <a:off x="6754813" y="52228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19*</a:t>
            </a:r>
          </a:p>
        </p:txBody>
      </p:sp>
      <p:sp>
        <p:nvSpPr>
          <p:cNvPr id="128" name="Rectangle 65"/>
          <p:cNvSpPr>
            <a:spLocks noChangeArrowheads="1"/>
          </p:cNvSpPr>
          <p:nvPr/>
        </p:nvSpPr>
        <p:spPr bwMode="auto">
          <a:xfrm>
            <a:off x="6175375" y="30924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sp>
        <p:nvSpPr>
          <p:cNvPr id="129" name="Rectangle 66"/>
          <p:cNvSpPr>
            <a:spLocks noChangeArrowheads="1"/>
          </p:cNvSpPr>
          <p:nvPr/>
        </p:nvSpPr>
        <p:spPr bwMode="auto">
          <a:xfrm>
            <a:off x="6189663" y="39782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sp>
        <p:nvSpPr>
          <p:cNvPr id="130" name="Rectangle 67"/>
          <p:cNvSpPr>
            <a:spLocks noChangeArrowheads="1"/>
          </p:cNvSpPr>
          <p:nvPr/>
        </p:nvSpPr>
        <p:spPr bwMode="auto">
          <a:xfrm>
            <a:off x="6189663" y="490220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</a:t>
            </a:r>
          </a:p>
        </p:txBody>
      </p:sp>
      <p:sp>
        <p:nvSpPr>
          <p:cNvPr id="131" name="Rectangle 68"/>
          <p:cNvSpPr>
            <a:spLocks noChangeArrowheads="1"/>
          </p:cNvSpPr>
          <p:nvPr/>
        </p:nvSpPr>
        <p:spPr bwMode="auto">
          <a:xfrm>
            <a:off x="4491038" y="343852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000</a:t>
            </a:r>
          </a:p>
        </p:txBody>
      </p:sp>
      <p:sp>
        <p:nvSpPr>
          <p:cNvPr id="132" name="Rectangle 69"/>
          <p:cNvSpPr>
            <a:spLocks noChangeArrowheads="1"/>
          </p:cNvSpPr>
          <p:nvPr/>
        </p:nvSpPr>
        <p:spPr bwMode="auto">
          <a:xfrm>
            <a:off x="4491038" y="37496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001</a:t>
            </a:r>
          </a:p>
        </p:txBody>
      </p:sp>
      <p:sp>
        <p:nvSpPr>
          <p:cNvPr id="133" name="Rectangle 70"/>
          <p:cNvSpPr>
            <a:spLocks noChangeArrowheads="1"/>
          </p:cNvSpPr>
          <p:nvPr/>
        </p:nvSpPr>
        <p:spPr bwMode="auto">
          <a:xfrm>
            <a:off x="4481513" y="40497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010</a:t>
            </a:r>
          </a:p>
        </p:txBody>
      </p:sp>
      <p:sp>
        <p:nvSpPr>
          <p:cNvPr id="134" name="Rectangle 71"/>
          <p:cNvSpPr>
            <a:spLocks noChangeArrowheads="1"/>
          </p:cNvSpPr>
          <p:nvPr/>
        </p:nvSpPr>
        <p:spPr bwMode="auto">
          <a:xfrm>
            <a:off x="4481513" y="436245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011</a:t>
            </a:r>
          </a:p>
        </p:txBody>
      </p:sp>
      <p:sp>
        <p:nvSpPr>
          <p:cNvPr id="135" name="Rectangle 72"/>
          <p:cNvSpPr>
            <a:spLocks noChangeArrowheads="1"/>
          </p:cNvSpPr>
          <p:nvPr/>
        </p:nvSpPr>
        <p:spPr bwMode="auto">
          <a:xfrm>
            <a:off x="4470400" y="464978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100</a:t>
            </a:r>
          </a:p>
        </p:txBody>
      </p:sp>
      <p:sp>
        <p:nvSpPr>
          <p:cNvPr id="136" name="Rectangle 73"/>
          <p:cNvSpPr>
            <a:spLocks noChangeArrowheads="1"/>
          </p:cNvSpPr>
          <p:nvPr/>
        </p:nvSpPr>
        <p:spPr bwMode="auto">
          <a:xfrm>
            <a:off x="4470400" y="496252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101</a:t>
            </a:r>
          </a:p>
        </p:txBody>
      </p:sp>
      <p:sp>
        <p:nvSpPr>
          <p:cNvPr id="137" name="Rectangle 74"/>
          <p:cNvSpPr>
            <a:spLocks noChangeArrowheads="1"/>
          </p:cNvSpPr>
          <p:nvPr/>
        </p:nvSpPr>
        <p:spPr bwMode="auto">
          <a:xfrm>
            <a:off x="4457700" y="528478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110</a:t>
            </a:r>
          </a:p>
        </p:txBody>
      </p:sp>
      <p:sp>
        <p:nvSpPr>
          <p:cNvPr id="138" name="Rectangle 75"/>
          <p:cNvSpPr>
            <a:spLocks noChangeArrowheads="1"/>
          </p:cNvSpPr>
          <p:nvPr/>
        </p:nvSpPr>
        <p:spPr bwMode="auto">
          <a:xfrm>
            <a:off x="4470400" y="55737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111</a:t>
            </a:r>
          </a:p>
        </p:txBody>
      </p:sp>
      <p:sp>
        <p:nvSpPr>
          <p:cNvPr id="139" name="Rectangle 76"/>
          <p:cNvSpPr>
            <a:spLocks noChangeArrowheads="1"/>
          </p:cNvSpPr>
          <p:nvPr/>
        </p:nvSpPr>
        <p:spPr bwMode="auto">
          <a:xfrm>
            <a:off x="4987925" y="310356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3</a:t>
            </a:r>
          </a:p>
        </p:txBody>
      </p:sp>
      <p:sp>
        <p:nvSpPr>
          <p:cNvPr id="140" name="Rectangle 77"/>
          <p:cNvSpPr>
            <a:spLocks noChangeArrowheads="1"/>
          </p:cNvSpPr>
          <p:nvPr/>
        </p:nvSpPr>
        <p:spPr bwMode="auto">
          <a:xfrm>
            <a:off x="6175375" y="21907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 smtClean="0">
                <a:solidFill>
                  <a:srgbClr val="000000"/>
                </a:solidFill>
                <a:latin typeface="Helvetica" charset="0"/>
              </a:rPr>
              <a:t>3</a:t>
            </a:r>
            <a:endParaRPr lang="en-US" sz="1400" b="1" dirty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141" name="Rectangle 78"/>
          <p:cNvSpPr>
            <a:spLocks noChangeArrowheads="1"/>
          </p:cNvSpPr>
          <p:nvPr/>
        </p:nvSpPr>
        <p:spPr bwMode="auto">
          <a:xfrm>
            <a:off x="6202363" y="58388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3</a:t>
            </a:r>
          </a:p>
        </p:txBody>
      </p:sp>
      <p:sp>
        <p:nvSpPr>
          <p:cNvPr id="142" name="Rectangle 79"/>
          <p:cNvSpPr>
            <a:spLocks noChangeArrowheads="1"/>
          </p:cNvSpPr>
          <p:nvPr/>
        </p:nvSpPr>
        <p:spPr bwMode="auto">
          <a:xfrm>
            <a:off x="4699000" y="6069013"/>
            <a:ext cx="1268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DIRECTORY</a:t>
            </a:r>
          </a:p>
        </p:txBody>
      </p:sp>
      <p:sp>
        <p:nvSpPr>
          <p:cNvPr id="143" name="Rectangle 80"/>
          <p:cNvSpPr>
            <a:spLocks noChangeArrowheads="1"/>
          </p:cNvSpPr>
          <p:nvPr/>
        </p:nvSpPr>
        <p:spPr bwMode="auto">
          <a:xfrm>
            <a:off x="7437438" y="2535238"/>
            <a:ext cx="8874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A</a:t>
            </a:r>
          </a:p>
        </p:txBody>
      </p:sp>
      <p:sp>
        <p:nvSpPr>
          <p:cNvPr id="144" name="Rectangle 81"/>
          <p:cNvSpPr>
            <a:spLocks noChangeArrowheads="1"/>
          </p:cNvSpPr>
          <p:nvPr/>
        </p:nvSpPr>
        <p:spPr bwMode="auto">
          <a:xfrm>
            <a:off x="7450138" y="3448050"/>
            <a:ext cx="8778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B</a:t>
            </a:r>
          </a:p>
        </p:txBody>
      </p:sp>
      <p:sp>
        <p:nvSpPr>
          <p:cNvPr id="145" name="Rectangle 82"/>
          <p:cNvSpPr>
            <a:spLocks noChangeArrowheads="1"/>
          </p:cNvSpPr>
          <p:nvPr/>
        </p:nvSpPr>
        <p:spPr bwMode="auto">
          <a:xfrm>
            <a:off x="7451725" y="4335463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C</a:t>
            </a:r>
          </a:p>
        </p:txBody>
      </p:sp>
      <p:sp>
        <p:nvSpPr>
          <p:cNvPr id="146" name="Rectangle 83"/>
          <p:cNvSpPr>
            <a:spLocks noChangeArrowheads="1"/>
          </p:cNvSpPr>
          <p:nvPr/>
        </p:nvSpPr>
        <p:spPr bwMode="auto">
          <a:xfrm>
            <a:off x="7451725" y="5248275"/>
            <a:ext cx="8874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D</a:t>
            </a:r>
          </a:p>
        </p:txBody>
      </p:sp>
      <p:sp>
        <p:nvSpPr>
          <p:cNvPr id="147" name="Rectangle 84"/>
          <p:cNvSpPr>
            <a:spLocks noChangeArrowheads="1"/>
          </p:cNvSpPr>
          <p:nvPr/>
        </p:nvSpPr>
        <p:spPr bwMode="auto">
          <a:xfrm>
            <a:off x="7451725" y="6148388"/>
            <a:ext cx="9763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Bucket A2</a:t>
            </a:r>
          </a:p>
        </p:txBody>
      </p:sp>
      <p:sp>
        <p:nvSpPr>
          <p:cNvPr id="148" name="Rectangle 85"/>
          <p:cNvSpPr>
            <a:spLocks noChangeArrowheads="1"/>
          </p:cNvSpPr>
          <p:nvPr/>
        </p:nvSpPr>
        <p:spPr bwMode="auto">
          <a:xfrm>
            <a:off x="7286625" y="6376988"/>
            <a:ext cx="117316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(`split image'</a:t>
            </a:r>
          </a:p>
        </p:txBody>
      </p:sp>
      <p:sp>
        <p:nvSpPr>
          <p:cNvPr id="149" name="Rectangle 86"/>
          <p:cNvSpPr>
            <a:spLocks noChangeArrowheads="1"/>
          </p:cNvSpPr>
          <p:nvPr/>
        </p:nvSpPr>
        <p:spPr bwMode="auto">
          <a:xfrm>
            <a:off x="7356475" y="6556375"/>
            <a:ext cx="113823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of Bucket A)</a:t>
            </a:r>
          </a:p>
        </p:txBody>
      </p:sp>
      <p:sp>
        <p:nvSpPr>
          <p:cNvPr id="150" name="Rectangle 87"/>
          <p:cNvSpPr>
            <a:spLocks noChangeArrowheads="1"/>
          </p:cNvSpPr>
          <p:nvPr/>
        </p:nvSpPr>
        <p:spPr bwMode="auto">
          <a:xfrm>
            <a:off x="6750050" y="251936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32*</a:t>
            </a:r>
          </a:p>
        </p:txBody>
      </p:sp>
      <p:sp>
        <p:nvSpPr>
          <p:cNvPr id="151" name="Rectangle 88"/>
          <p:cNvSpPr>
            <a:spLocks noChangeArrowheads="1"/>
          </p:cNvSpPr>
          <p:nvPr/>
        </p:nvSpPr>
        <p:spPr bwMode="auto">
          <a:xfrm>
            <a:off x="6180138" y="34210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1*</a:t>
            </a:r>
          </a:p>
        </p:txBody>
      </p:sp>
      <p:sp>
        <p:nvSpPr>
          <p:cNvPr id="152" name="Rectangle 89"/>
          <p:cNvSpPr>
            <a:spLocks noChangeArrowheads="1"/>
          </p:cNvSpPr>
          <p:nvPr/>
        </p:nvSpPr>
        <p:spPr bwMode="auto">
          <a:xfrm>
            <a:off x="6473825" y="342106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5*</a:t>
            </a:r>
          </a:p>
        </p:txBody>
      </p:sp>
      <p:sp>
        <p:nvSpPr>
          <p:cNvPr id="153" name="Rectangle 90"/>
          <p:cNvSpPr>
            <a:spLocks noChangeArrowheads="1"/>
          </p:cNvSpPr>
          <p:nvPr/>
        </p:nvSpPr>
        <p:spPr bwMode="auto">
          <a:xfrm>
            <a:off x="6764338" y="342106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21*</a:t>
            </a:r>
          </a:p>
        </p:txBody>
      </p:sp>
      <p:sp>
        <p:nvSpPr>
          <p:cNvPr id="154" name="Rectangle 91"/>
          <p:cNvSpPr>
            <a:spLocks noChangeArrowheads="1"/>
          </p:cNvSpPr>
          <p:nvPr/>
        </p:nvSpPr>
        <p:spPr bwMode="auto">
          <a:xfrm>
            <a:off x="7053263" y="342106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13*</a:t>
            </a:r>
          </a:p>
        </p:txBody>
      </p:sp>
      <p:sp>
        <p:nvSpPr>
          <p:cNvPr id="155" name="Rectangle 92"/>
          <p:cNvSpPr>
            <a:spLocks noChangeArrowheads="1"/>
          </p:cNvSpPr>
          <p:nvPr/>
        </p:nvSpPr>
        <p:spPr bwMode="auto">
          <a:xfrm>
            <a:off x="7040563" y="2520950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16*</a:t>
            </a:r>
          </a:p>
        </p:txBody>
      </p:sp>
      <p:sp>
        <p:nvSpPr>
          <p:cNvPr id="156" name="Rectangle 93"/>
          <p:cNvSpPr>
            <a:spLocks noChangeArrowheads="1"/>
          </p:cNvSpPr>
          <p:nvPr/>
        </p:nvSpPr>
        <p:spPr bwMode="auto">
          <a:xfrm>
            <a:off x="6154738" y="4321175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10*</a:t>
            </a:r>
          </a:p>
        </p:txBody>
      </p:sp>
      <p:sp>
        <p:nvSpPr>
          <p:cNvPr id="157" name="Rectangle 94"/>
          <p:cNvSpPr>
            <a:spLocks noChangeArrowheads="1"/>
          </p:cNvSpPr>
          <p:nvPr/>
        </p:nvSpPr>
        <p:spPr bwMode="auto">
          <a:xfrm>
            <a:off x="6154738" y="520858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15*</a:t>
            </a:r>
          </a:p>
        </p:txBody>
      </p:sp>
      <p:sp>
        <p:nvSpPr>
          <p:cNvPr id="158" name="Rectangle 95"/>
          <p:cNvSpPr>
            <a:spLocks noChangeArrowheads="1"/>
          </p:cNvSpPr>
          <p:nvPr/>
        </p:nvSpPr>
        <p:spPr bwMode="auto">
          <a:xfrm>
            <a:off x="6473825" y="5221288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7*</a:t>
            </a:r>
          </a:p>
        </p:txBody>
      </p:sp>
      <p:sp>
        <p:nvSpPr>
          <p:cNvPr id="159" name="Rectangle 96"/>
          <p:cNvSpPr>
            <a:spLocks noChangeArrowheads="1"/>
          </p:cNvSpPr>
          <p:nvPr/>
        </p:nvSpPr>
        <p:spPr bwMode="auto">
          <a:xfrm>
            <a:off x="6191250" y="6156325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4*</a:t>
            </a:r>
          </a:p>
        </p:txBody>
      </p:sp>
      <p:sp>
        <p:nvSpPr>
          <p:cNvPr id="160" name="Rectangle 97"/>
          <p:cNvSpPr>
            <a:spLocks noChangeArrowheads="1"/>
          </p:cNvSpPr>
          <p:nvPr/>
        </p:nvSpPr>
        <p:spPr bwMode="auto">
          <a:xfrm>
            <a:off x="6780213" y="614521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20*</a:t>
            </a:r>
          </a:p>
        </p:txBody>
      </p:sp>
      <p:sp>
        <p:nvSpPr>
          <p:cNvPr id="161" name="Rectangle 98"/>
          <p:cNvSpPr>
            <a:spLocks noChangeArrowheads="1"/>
          </p:cNvSpPr>
          <p:nvPr/>
        </p:nvSpPr>
        <p:spPr bwMode="auto">
          <a:xfrm>
            <a:off x="6480175" y="614203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Helvetica" charset="0"/>
              </a:rPr>
              <a:t>12*</a:t>
            </a:r>
          </a:p>
        </p:txBody>
      </p:sp>
      <p:sp>
        <p:nvSpPr>
          <p:cNvPr id="162" name="Line 99"/>
          <p:cNvSpPr>
            <a:spLocks noChangeShapeType="1"/>
          </p:cNvSpPr>
          <p:nvPr/>
        </p:nvSpPr>
        <p:spPr bwMode="auto">
          <a:xfrm>
            <a:off x="4987925" y="3676650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" name="Line 100"/>
          <p:cNvSpPr>
            <a:spLocks noChangeShapeType="1"/>
          </p:cNvSpPr>
          <p:nvPr/>
        </p:nvSpPr>
        <p:spPr bwMode="auto">
          <a:xfrm>
            <a:off x="4997450" y="3971925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" name="Line 101"/>
          <p:cNvSpPr>
            <a:spLocks noChangeShapeType="1"/>
          </p:cNvSpPr>
          <p:nvPr/>
        </p:nvSpPr>
        <p:spPr bwMode="auto">
          <a:xfrm>
            <a:off x="4994275" y="4303713"/>
            <a:ext cx="595313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" name="Line 102"/>
          <p:cNvSpPr>
            <a:spLocks noChangeShapeType="1"/>
          </p:cNvSpPr>
          <p:nvPr/>
        </p:nvSpPr>
        <p:spPr bwMode="auto">
          <a:xfrm>
            <a:off x="5014913" y="4932363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" name="Line 103"/>
          <p:cNvSpPr>
            <a:spLocks noChangeShapeType="1"/>
          </p:cNvSpPr>
          <p:nvPr/>
        </p:nvSpPr>
        <p:spPr bwMode="auto">
          <a:xfrm>
            <a:off x="4989513" y="5286375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" name="Line 104"/>
          <p:cNvSpPr>
            <a:spLocks noChangeShapeType="1"/>
          </p:cNvSpPr>
          <p:nvPr/>
        </p:nvSpPr>
        <p:spPr bwMode="auto">
          <a:xfrm>
            <a:off x="4999038" y="5570538"/>
            <a:ext cx="5953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" name="Line 105"/>
          <p:cNvSpPr>
            <a:spLocks noChangeShapeType="1"/>
          </p:cNvSpPr>
          <p:nvPr/>
        </p:nvSpPr>
        <p:spPr bwMode="auto">
          <a:xfrm flipV="1">
            <a:off x="5273675" y="2713038"/>
            <a:ext cx="904875" cy="85725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" name="Line 106"/>
          <p:cNvSpPr>
            <a:spLocks noChangeShapeType="1"/>
          </p:cNvSpPr>
          <p:nvPr/>
        </p:nvSpPr>
        <p:spPr bwMode="auto">
          <a:xfrm flipV="1">
            <a:off x="5273675" y="3605213"/>
            <a:ext cx="917575" cy="2508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0" name="Line 107"/>
          <p:cNvSpPr>
            <a:spLocks noChangeShapeType="1"/>
          </p:cNvSpPr>
          <p:nvPr/>
        </p:nvSpPr>
        <p:spPr bwMode="auto">
          <a:xfrm>
            <a:off x="5286375" y="4154488"/>
            <a:ext cx="904875" cy="344487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1" name="Line 108"/>
          <p:cNvSpPr>
            <a:spLocks noChangeShapeType="1"/>
          </p:cNvSpPr>
          <p:nvPr/>
        </p:nvSpPr>
        <p:spPr bwMode="auto">
          <a:xfrm>
            <a:off x="5297488" y="4475163"/>
            <a:ext cx="881062" cy="89376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2" name="Line 109"/>
          <p:cNvSpPr>
            <a:spLocks noChangeShapeType="1"/>
          </p:cNvSpPr>
          <p:nvPr/>
        </p:nvSpPr>
        <p:spPr bwMode="auto">
          <a:xfrm>
            <a:off x="5214938" y="4737100"/>
            <a:ext cx="987425" cy="156051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3" name="Line 110"/>
          <p:cNvSpPr>
            <a:spLocks noChangeShapeType="1"/>
          </p:cNvSpPr>
          <p:nvPr/>
        </p:nvSpPr>
        <p:spPr bwMode="auto">
          <a:xfrm flipV="1">
            <a:off x="5245100" y="3648075"/>
            <a:ext cx="928688" cy="14652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" name="Line 111"/>
          <p:cNvSpPr>
            <a:spLocks noChangeShapeType="1"/>
          </p:cNvSpPr>
          <p:nvPr/>
        </p:nvSpPr>
        <p:spPr bwMode="auto">
          <a:xfrm flipV="1">
            <a:off x="5257800" y="4546600"/>
            <a:ext cx="928688" cy="90487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" name="Line 112"/>
          <p:cNvSpPr>
            <a:spLocks noChangeShapeType="1"/>
          </p:cNvSpPr>
          <p:nvPr/>
        </p:nvSpPr>
        <p:spPr bwMode="auto">
          <a:xfrm flipV="1">
            <a:off x="5257800" y="5399088"/>
            <a:ext cx="928688" cy="30956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" name="Rectangle 122"/>
          <p:cNvSpPr>
            <a:spLocks noChangeArrowheads="1"/>
          </p:cNvSpPr>
          <p:nvPr/>
        </p:nvSpPr>
        <p:spPr bwMode="auto">
          <a:xfrm>
            <a:off x="4362450" y="2263775"/>
            <a:ext cx="135413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Courier New" pitchFamily="49" charset="0"/>
              </a:rPr>
              <a:t>LOCAL DEPTH</a:t>
            </a:r>
          </a:p>
        </p:txBody>
      </p:sp>
      <p:sp>
        <p:nvSpPr>
          <p:cNvPr id="177" name="Rectangle 123"/>
          <p:cNvSpPr>
            <a:spLocks noChangeArrowheads="1"/>
          </p:cNvSpPr>
          <p:nvPr/>
        </p:nvSpPr>
        <p:spPr bwMode="auto">
          <a:xfrm>
            <a:off x="4267200" y="2617788"/>
            <a:ext cx="14620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Courier New" pitchFamily="49" charset="0"/>
              </a:rPr>
              <a:t>GLOBAL DEPTH</a:t>
            </a:r>
          </a:p>
        </p:txBody>
      </p:sp>
      <p:sp>
        <p:nvSpPr>
          <p:cNvPr id="178" name="Freeform 124"/>
          <p:cNvSpPr>
            <a:spLocks/>
          </p:cNvSpPr>
          <p:nvPr/>
        </p:nvSpPr>
        <p:spPr bwMode="auto">
          <a:xfrm>
            <a:off x="5629275" y="2281238"/>
            <a:ext cx="573088" cy="168275"/>
          </a:xfrm>
          <a:custGeom>
            <a:avLst/>
            <a:gdLst>
              <a:gd name="T0" fmla="*/ 0 w 361"/>
              <a:gd name="T1" fmla="*/ 82 h 106"/>
              <a:gd name="T2" fmla="*/ 180 w 361"/>
              <a:gd name="T3" fmla="*/ 0 h 106"/>
              <a:gd name="T4" fmla="*/ 105 w 361"/>
              <a:gd name="T5" fmla="*/ 105 h 106"/>
              <a:gd name="T6" fmla="*/ 360 w 361"/>
              <a:gd name="T7" fmla="*/ 3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1" h="106">
                <a:moveTo>
                  <a:pt x="0" y="82"/>
                </a:moveTo>
                <a:lnTo>
                  <a:pt x="180" y="0"/>
                </a:lnTo>
                <a:lnTo>
                  <a:pt x="105" y="105"/>
                </a:lnTo>
                <a:lnTo>
                  <a:pt x="360" y="30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9" name="Freeform 125"/>
          <p:cNvSpPr>
            <a:spLocks/>
          </p:cNvSpPr>
          <p:nvPr/>
        </p:nvSpPr>
        <p:spPr bwMode="auto">
          <a:xfrm>
            <a:off x="5129213" y="2863850"/>
            <a:ext cx="180975" cy="276225"/>
          </a:xfrm>
          <a:custGeom>
            <a:avLst/>
            <a:gdLst>
              <a:gd name="T0" fmla="*/ 75 w 114"/>
              <a:gd name="T1" fmla="*/ 0 h 174"/>
              <a:gd name="T2" fmla="*/ 113 w 114"/>
              <a:gd name="T3" fmla="*/ 68 h 174"/>
              <a:gd name="T4" fmla="*/ 0 w 114"/>
              <a:gd name="T5" fmla="*/ 38 h 174"/>
              <a:gd name="T6" fmla="*/ 15 w 114"/>
              <a:gd name="T7" fmla="*/ 173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4" h="174">
                <a:moveTo>
                  <a:pt x="75" y="0"/>
                </a:moveTo>
                <a:lnTo>
                  <a:pt x="113" y="68"/>
                </a:lnTo>
                <a:lnTo>
                  <a:pt x="0" y="38"/>
                </a:lnTo>
                <a:lnTo>
                  <a:pt x="15" y="173"/>
                </a:lnTo>
              </a:path>
            </a:pathLst>
          </a:custGeom>
          <a:noFill/>
          <a:ln w="12700" cap="rnd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Rounded Rectangle 72"/>
          <p:cNvSpPr/>
          <p:nvPr/>
        </p:nvSpPr>
        <p:spPr>
          <a:xfrm>
            <a:off x="883778" y="2226918"/>
            <a:ext cx="2819400" cy="530912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Repeat…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" name="Oval 1"/>
          <p:cNvSpPr/>
          <p:nvPr/>
        </p:nvSpPr>
        <p:spPr>
          <a:xfrm>
            <a:off x="6103939" y="2095500"/>
            <a:ext cx="498474" cy="539750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6110288" y="5702879"/>
            <a:ext cx="498474" cy="539750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/>
          <p:cNvSpPr txBox="1"/>
          <p:nvPr/>
        </p:nvSpPr>
        <p:spPr>
          <a:xfrm>
            <a:off x="1295400" y="3969692"/>
            <a:ext cx="18310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B050"/>
                </a:solidFill>
              </a:rPr>
              <a:t>FINAL STATE!</a:t>
            </a:r>
            <a:endParaRPr lang="en-US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463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62" name="Rectangle 2">
            <a:extLst>
              <a:ext uri="{FF2B5EF4-FFF2-40B4-BE49-F238E27FC236}">
                <a16:creationId xmlns:a16="http://schemas.microsoft.com/office/drawing/2014/main" id="{EB621FDA-61A3-442F-BA71-505BD03749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Bitmap Indices</a:t>
            </a:r>
          </a:p>
        </p:txBody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E98C0208-69E7-4D57-8EBE-6ADDE72083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4501" y="1067662"/>
            <a:ext cx="7528264" cy="5263469"/>
          </a:xfrm>
        </p:spPr>
        <p:txBody>
          <a:bodyPr/>
          <a:lstStyle/>
          <a:p>
            <a:r>
              <a:rPr lang="en-US" altLang="en-US" dirty="0"/>
              <a:t>Bitmap indices are a special type of index designed for efficient querying on multiple keys</a:t>
            </a:r>
          </a:p>
          <a:p>
            <a:r>
              <a:rPr lang="en-US" altLang="en-US" dirty="0"/>
              <a:t>Records in a relation are assumed to be numbered sequentially from, say, 0</a:t>
            </a:r>
          </a:p>
          <a:p>
            <a:pPr lvl="1"/>
            <a:r>
              <a:rPr lang="en-US" altLang="en-US" dirty="0"/>
              <a:t>Given a number </a:t>
            </a:r>
            <a:r>
              <a:rPr lang="en-US" altLang="en-US" i="1" dirty="0"/>
              <a:t>n</a:t>
            </a:r>
            <a:r>
              <a:rPr lang="en-US" altLang="en-US" dirty="0"/>
              <a:t> it must be easy to retrieve record </a:t>
            </a:r>
            <a:r>
              <a:rPr lang="en-US" altLang="en-US" i="1" dirty="0"/>
              <a:t>n</a:t>
            </a:r>
            <a:endParaRPr lang="en-US" altLang="en-US" dirty="0"/>
          </a:p>
          <a:p>
            <a:pPr lvl="2"/>
            <a:r>
              <a:rPr lang="en-US" altLang="en-US" dirty="0"/>
              <a:t>Particularly easy if records are of fixed size</a:t>
            </a:r>
          </a:p>
          <a:p>
            <a:r>
              <a:rPr lang="en-US" altLang="en-US" dirty="0"/>
              <a:t>Applicable on attributes that take on a relatively small number of distinct values</a:t>
            </a:r>
          </a:p>
          <a:p>
            <a:pPr lvl="1"/>
            <a:r>
              <a:rPr lang="en-US" altLang="en-US" dirty="0"/>
              <a:t>E.g</a:t>
            </a:r>
            <a:r>
              <a:rPr lang="en-US" altLang="en-US" dirty="0" smtClean="0"/>
              <a:t>., </a:t>
            </a:r>
            <a:r>
              <a:rPr lang="en-US" altLang="en-US" dirty="0"/>
              <a:t>gender, country, state, …</a:t>
            </a:r>
          </a:p>
          <a:p>
            <a:pPr lvl="1"/>
            <a:r>
              <a:rPr lang="en-US" altLang="en-US" dirty="0"/>
              <a:t>E.g</a:t>
            </a:r>
            <a:r>
              <a:rPr lang="en-US" altLang="en-US" dirty="0" smtClean="0"/>
              <a:t>., </a:t>
            </a:r>
            <a:r>
              <a:rPr lang="en-US" altLang="en-US" dirty="0"/>
              <a:t>income-level (income broken up into a small number of  levels such as 0-9999, 10000-19999, 20000-50000, 50000- infinity)</a:t>
            </a:r>
          </a:p>
          <a:p>
            <a:r>
              <a:rPr lang="en-US" altLang="en-US" dirty="0"/>
              <a:t>A bitmap is simply an array of bits</a:t>
            </a:r>
          </a:p>
        </p:txBody>
      </p:sp>
    </p:spTree>
    <p:extLst>
      <p:ext uri="{BB962C8B-B14F-4D97-AF65-F5344CB8AC3E}">
        <p14:creationId xmlns:p14="http://schemas.microsoft.com/office/powerpoint/2010/main" val="1045134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610" name="Rectangle 2">
            <a:extLst>
              <a:ext uri="{FF2B5EF4-FFF2-40B4-BE49-F238E27FC236}">
                <a16:creationId xmlns:a16="http://schemas.microsoft.com/office/drawing/2014/main" id="{2C5472FF-C093-4031-8337-24ECB6AE95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Bitmap Indices (Cont.)</a:t>
            </a:r>
          </a:p>
        </p:txBody>
      </p:sp>
      <p:sp>
        <p:nvSpPr>
          <p:cNvPr id="157699" name="Rectangle 3">
            <a:extLst>
              <a:ext uri="{FF2B5EF4-FFF2-40B4-BE49-F238E27FC236}">
                <a16:creationId xmlns:a16="http://schemas.microsoft.com/office/drawing/2014/main" id="{8753F9D6-9728-4779-998F-F111D8EE8A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4501" y="1020932"/>
            <a:ext cx="7641162" cy="4976643"/>
          </a:xfrm>
        </p:spPr>
        <p:txBody>
          <a:bodyPr/>
          <a:lstStyle/>
          <a:p>
            <a:r>
              <a:rPr lang="en-US" altLang="en-US" dirty="0"/>
              <a:t>In its simplest form a bitmap index on an attribute has a bitmap for each value of the attribute</a:t>
            </a:r>
          </a:p>
          <a:p>
            <a:pPr lvl="1"/>
            <a:r>
              <a:rPr lang="en-US" altLang="en-US" dirty="0"/>
              <a:t>Bitmap has as many bits as records</a:t>
            </a:r>
          </a:p>
          <a:p>
            <a:pPr lvl="1"/>
            <a:r>
              <a:rPr lang="en-US" altLang="en-US" dirty="0"/>
              <a:t>In a bitmap for value v, the bit for a record is 1 if the record has the value v for the attribute, and is 0 </a:t>
            </a:r>
            <a:r>
              <a:rPr lang="en-US" altLang="en-US" dirty="0" smtClean="0"/>
              <a:t>otherwise</a:t>
            </a:r>
          </a:p>
          <a:p>
            <a:r>
              <a:rPr lang="en-US" altLang="en-US" dirty="0" smtClean="0"/>
              <a:t>Example</a:t>
            </a:r>
            <a:endParaRPr lang="en-US" altLang="en-US" dirty="0"/>
          </a:p>
        </p:txBody>
      </p:sp>
      <p:pic>
        <p:nvPicPr>
          <p:cNvPr id="157700" name="Picture 7">
            <a:extLst>
              <a:ext uri="{FF2B5EF4-FFF2-40B4-BE49-F238E27FC236}">
                <a16:creationId xmlns:a16="http://schemas.microsoft.com/office/drawing/2014/main" id="{2291BD59-780C-4B0E-A14D-DBAEFB6EE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796" y="3060303"/>
            <a:ext cx="6038127" cy="2629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6538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658" name="Rectangle 2">
            <a:extLst>
              <a:ext uri="{FF2B5EF4-FFF2-40B4-BE49-F238E27FC236}">
                <a16:creationId xmlns:a16="http://schemas.microsoft.com/office/drawing/2014/main" id="{4C489884-9545-4F93-8C8F-DDF6077E45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Bitmap Indices (Cont.)</a:t>
            </a:r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4611B1AB-25D7-42D6-8DFD-D7E5A169CB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1083075"/>
            <a:ext cx="8769350" cy="5311375"/>
          </a:xfrm>
        </p:spPr>
        <p:txBody>
          <a:bodyPr/>
          <a:lstStyle/>
          <a:p>
            <a:pPr marL="381000" indent="-381000"/>
            <a:r>
              <a:rPr lang="en-US" altLang="en-US" dirty="0"/>
              <a:t>Bitmap indices are useful for queries on multiple attributes </a:t>
            </a:r>
          </a:p>
          <a:p>
            <a:pPr marL="800100" lvl="1" indent="-342900"/>
            <a:r>
              <a:rPr lang="en-US" altLang="en-US" dirty="0"/>
              <a:t>not particularly useful for single attribute queries</a:t>
            </a:r>
          </a:p>
          <a:p>
            <a:pPr marL="381000" indent="-381000"/>
            <a:r>
              <a:rPr lang="en-US" altLang="en-US" dirty="0"/>
              <a:t>Queries are answered using bitmap operations</a:t>
            </a:r>
          </a:p>
          <a:p>
            <a:pPr marL="800100" lvl="1" indent="-342900"/>
            <a:r>
              <a:rPr lang="en-US" altLang="en-US" dirty="0"/>
              <a:t>Intersection (and)</a:t>
            </a:r>
          </a:p>
          <a:p>
            <a:pPr marL="800100" lvl="1" indent="-342900"/>
            <a:r>
              <a:rPr lang="en-US" altLang="en-US" dirty="0"/>
              <a:t>Union (or)</a:t>
            </a:r>
          </a:p>
          <a:p>
            <a:pPr marL="381000" indent="-381000"/>
            <a:r>
              <a:rPr lang="en-US" altLang="en-US" dirty="0"/>
              <a:t>Each operation takes two bitmaps of the same size and applies the operation on corresponding bits to get the result bitmap</a:t>
            </a:r>
          </a:p>
          <a:p>
            <a:pPr marL="800100" lvl="1" indent="-342900"/>
            <a:r>
              <a:rPr lang="en-US" altLang="en-US" dirty="0"/>
              <a:t>E.g</a:t>
            </a:r>
            <a:r>
              <a:rPr lang="en-US" altLang="en-US" dirty="0" smtClean="0"/>
              <a:t>.,   </a:t>
            </a:r>
            <a:r>
              <a:rPr lang="en-US" altLang="en-US" dirty="0"/>
              <a:t>100110  AND 110011 = 100010</a:t>
            </a:r>
          </a:p>
          <a:p>
            <a:pPr marL="800100" lvl="1" indent="-342900">
              <a:buFont typeface="Monotype Sorts" pitchFamily="-65" charset="2"/>
              <a:buNone/>
            </a:pPr>
            <a:r>
              <a:rPr lang="en-US" altLang="en-US" dirty="0"/>
              <a:t>               </a:t>
            </a:r>
            <a:r>
              <a:rPr lang="en-US" altLang="en-US" dirty="0" smtClean="0"/>
              <a:t> 100110  </a:t>
            </a:r>
            <a:r>
              <a:rPr lang="en-US" altLang="en-US" dirty="0"/>
              <a:t>OR  110011 = 110111</a:t>
            </a:r>
            <a:br>
              <a:rPr lang="en-US" altLang="en-US" dirty="0"/>
            </a:br>
            <a:r>
              <a:rPr lang="en-US" altLang="en-US" dirty="0"/>
              <a:t>                       NOT 100110  = 011001</a:t>
            </a:r>
          </a:p>
          <a:p>
            <a:pPr marL="800100" lvl="1" indent="-342900"/>
            <a:r>
              <a:rPr lang="en-US" altLang="en-US" dirty="0"/>
              <a:t>Males with income level L1:   10010 AND 10100 = 10000</a:t>
            </a:r>
          </a:p>
          <a:p>
            <a:pPr marL="1200150" lvl="2" indent="-342900"/>
            <a:r>
              <a:rPr lang="en-US" altLang="en-US" dirty="0"/>
              <a:t>Can then retrieve required tuples.</a:t>
            </a:r>
          </a:p>
          <a:p>
            <a:pPr marL="1200150" lvl="2" indent="-342900"/>
            <a:r>
              <a:rPr lang="en-US" altLang="en-US" dirty="0"/>
              <a:t>Counting number of matching tuples is even </a:t>
            </a:r>
            <a:r>
              <a:rPr lang="en-US" altLang="en-US" dirty="0" smtClean="0"/>
              <a:t>faster</a:t>
            </a:r>
          </a:p>
          <a:p>
            <a:pPr marL="1200150" lvl="2" indent="-342900"/>
            <a:endParaRPr lang="en-US" altLang="en-US" dirty="0"/>
          </a:p>
          <a:p>
            <a:r>
              <a:rPr lang="en-US" altLang="en-US" dirty="0"/>
              <a:t>Bitmap indices generally very small compared with relation size</a:t>
            </a:r>
          </a:p>
          <a:p>
            <a:pPr lvl="1"/>
            <a:r>
              <a:rPr lang="en-US" altLang="en-US" dirty="0"/>
              <a:t>E.g., If number of distinct attribute values is 8, bitmap is only 1% of relation size</a:t>
            </a:r>
          </a:p>
          <a:p>
            <a:pPr marL="1200150" lvl="2" indent="-342900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28369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369F0-E989-4F4E-9740-0E12922F3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9576" y="2796646"/>
            <a:ext cx="5928553" cy="815505"/>
          </a:xfrm>
        </p:spPr>
        <p:txBody>
          <a:bodyPr/>
          <a:lstStyle/>
          <a:p>
            <a:pPr marL="0" indent="0">
              <a:buNone/>
            </a:pPr>
            <a:r>
              <a:rPr lang="en-IN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j-lt"/>
              </a:rPr>
              <a:t>Spatial and Temporal Indices</a:t>
            </a:r>
            <a:endParaRPr lang="en-IN" sz="3200" b="1" dirty="0">
              <a:solidFill>
                <a:srgbClr val="00206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55481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1FC67521-7F9B-4735-B715-B36E3C30DD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Spatial Data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E7EFBCE8-0EDF-4A48-A1D2-2597E17CB2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1" y="1067662"/>
            <a:ext cx="7680236" cy="5263469"/>
          </a:xfrm>
        </p:spPr>
        <p:txBody>
          <a:bodyPr/>
          <a:lstStyle/>
          <a:p>
            <a:r>
              <a:rPr lang="en-US" altLang="en-US" dirty="0"/>
              <a:t>Databases can store data types such as lines, polygons, in addition to raster images </a:t>
            </a:r>
          </a:p>
          <a:p>
            <a:pPr lvl="1"/>
            <a:r>
              <a:rPr lang="en-US" altLang="en-US" dirty="0"/>
              <a:t>allows relational databases to store and retrieve spatial information</a:t>
            </a:r>
          </a:p>
          <a:p>
            <a:pPr lvl="1"/>
            <a:r>
              <a:rPr lang="en-US" altLang="en-US" dirty="0"/>
              <a:t>Queries can use spatial conditions (e.g. contains or overlaps).</a:t>
            </a:r>
          </a:p>
          <a:p>
            <a:pPr lvl="1"/>
            <a:r>
              <a:rPr lang="en-US" altLang="en-US" dirty="0"/>
              <a:t>queries can mix spatial and nonspatial conditions 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Nearest neighbor queries</a:t>
            </a:r>
            <a:r>
              <a:rPr lang="en-US" altLang="en-US" dirty="0"/>
              <a:t>, given a point or an object, find the nearest object that satisfies given conditions.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Range queries </a:t>
            </a:r>
            <a:r>
              <a:rPr lang="en-US" altLang="en-US" dirty="0"/>
              <a:t>deal with spatial regions. e.g., ask for objects that lie partially or fully inside a specified region.</a:t>
            </a:r>
          </a:p>
          <a:p>
            <a:r>
              <a:rPr lang="en-US" altLang="en-US" dirty="0"/>
              <a:t>Queries that compute intersections or </a:t>
            </a:r>
            <a:r>
              <a:rPr lang="en-US" altLang="en-US" dirty="0">
                <a:solidFill>
                  <a:srgbClr val="002060"/>
                </a:solidFill>
              </a:rPr>
              <a:t>unions</a:t>
            </a:r>
            <a:r>
              <a:rPr lang="en-US" altLang="en-US" dirty="0"/>
              <a:t> of regions.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Spatial join </a:t>
            </a:r>
            <a:r>
              <a:rPr lang="en-US" altLang="en-US" dirty="0"/>
              <a:t>of two spatial relations with the location playing the role of join attribute.</a:t>
            </a:r>
          </a:p>
        </p:txBody>
      </p:sp>
    </p:spTree>
    <p:extLst>
      <p:ext uri="{BB962C8B-B14F-4D97-AF65-F5344CB8AC3E}">
        <p14:creationId xmlns:p14="http://schemas.microsoft.com/office/powerpoint/2010/main" val="1941676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046936AA-5389-4706-9D86-8A63CE20FA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Indexing of Spatial Data</a:t>
            </a:r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EC4A4D1F-8168-4564-BDE7-6C8D4BD78D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0" y="1180783"/>
            <a:ext cx="4435083" cy="5263469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k-d tree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- early structure used for indexing in multiple dimensions.</a:t>
            </a:r>
          </a:p>
          <a:p>
            <a:r>
              <a:rPr lang="en-US" altLang="en-US" dirty="0"/>
              <a:t>Each level of a </a:t>
            </a:r>
            <a:r>
              <a:rPr lang="en-US" altLang="en-US" i="1" dirty="0"/>
              <a:t>k-d</a:t>
            </a:r>
            <a:r>
              <a:rPr lang="en-US" altLang="en-US" dirty="0"/>
              <a:t>  tree partitions the space into two.</a:t>
            </a:r>
          </a:p>
          <a:p>
            <a:pPr lvl="1"/>
            <a:r>
              <a:rPr lang="en-US" altLang="en-US" dirty="0"/>
              <a:t>C</a:t>
            </a:r>
            <a:r>
              <a:rPr lang="en-US" altLang="en-US" dirty="0" smtClean="0"/>
              <a:t>hoose </a:t>
            </a:r>
            <a:r>
              <a:rPr lang="en-US" altLang="en-US" dirty="0"/>
              <a:t>one dimension for partitioning at the root level of the tree.</a:t>
            </a:r>
          </a:p>
          <a:p>
            <a:pPr lvl="1"/>
            <a:r>
              <a:rPr lang="en-US" altLang="en-US" dirty="0"/>
              <a:t>C</a:t>
            </a:r>
            <a:r>
              <a:rPr lang="en-US" altLang="en-US" dirty="0" smtClean="0"/>
              <a:t>hoose </a:t>
            </a:r>
            <a:r>
              <a:rPr lang="en-US" altLang="en-US" dirty="0"/>
              <a:t>another dimensions for partitioning in nodes at the next level and so on, cycling through the dimensions.</a:t>
            </a:r>
          </a:p>
          <a:p>
            <a:r>
              <a:rPr lang="en-US" altLang="en-US" dirty="0"/>
              <a:t>In each node, approximately half of the points stored in the sub-tree fall on one side and half on the other.</a:t>
            </a:r>
          </a:p>
          <a:p>
            <a:r>
              <a:rPr lang="en-US" altLang="en-US" dirty="0"/>
              <a:t>Partitioning stops when a node has less than a given number of points.</a:t>
            </a: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B28D4692-2C0C-4171-B92F-B0BEE58A4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547" y="916193"/>
            <a:ext cx="3553905" cy="3724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5F5BAEA6-A9D8-43EF-8AFB-109BDADBB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5572" y="4830025"/>
            <a:ext cx="3509978" cy="1640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folHlink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33CC33"/>
              </a:buClr>
              <a:buSzPct val="10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MS PGothic" panose="020B0600070205080204" pitchFamily="34" charset="-128"/>
              </a:rPr>
              <a:t>The </a:t>
            </a:r>
            <a:r>
              <a:rPr kumimoji="1" lang="en-US" altLang="en-US" sz="17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/>
                <a:ea typeface="MS PGothic" panose="020B0600070205080204" pitchFamily="34" charset="-128"/>
              </a:rPr>
              <a:t>k-d-B tree</a:t>
            </a:r>
            <a:r>
              <a:rPr kumimoji="1" lang="en-US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elvetica"/>
                <a:ea typeface="MS PGothic" panose="020B0600070205080204" pitchFamily="34" charset="-128"/>
              </a:rPr>
              <a:t> </a:t>
            </a:r>
            <a:r>
              <a:rPr kumimoji="1" lang="en-US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MS PGothic" panose="020B0600070205080204" pitchFamily="34" charset="-128"/>
              </a:rPr>
              <a:t>extends the </a:t>
            </a:r>
            <a:r>
              <a:rPr kumimoji="1" lang="en-US" altLang="en-US" sz="17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MS PGothic" panose="020B0600070205080204" pitchFamily="34" charset="-128"/>
              </a:rPr>
              <a:t>k-d</a:t>
            </a:r>
            <a:r>
              <a:rPr kumimoji="1" lang="en-US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MS PGothic" panose="020B0600070205080204" pitchFamily="34" charset="-128"/>
              </a:rPr>
              <a:t> tree to allow multiple child nodes for each internal node; well-suited for secondary storage.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  <a:tabLst/>
              <a:defRPr/>
            </a:pPr>
            <a:endParaRPr kumimoji="1" lang="en-US" altLang="en-US" sz="1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1480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6194717B-8ECF-4F8B-945D-8AB26924C5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Division of Space by Quadtrees</a:t>
            </a:r>
          </a:p>
        </p:txBody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479A0A68-C07D-436B-B4EC-0157D39473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4" y="1153390"/>
            <a:ext cx="7653603" cy="526346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Each </a:t>
            </a:r>
            <a:r>
              <a:rPr lang="en-US" altLang="en-US" dirty="0"/>
              <a:t>node of a quadtree is associated with  a rectangular region of space; the top node is associated with the entire target space.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Each non-leaf  nodes divides its region into four equal sized quadrants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correspondingly each such node has four child nodes corresponding to the four quadrants and so on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Leaf nodes have between zero and some fixed maximum number of points (set to 1 in example).</a:t>
            </a:r>
          </a:p>
        </p:txBody>
      </p:sp>
      <p:pic>
        <p:nvPicPr>
          <p:cNvPr id="136196" name="Picture 7">
            <a:extLst>
              <a:ext uri="{FF2B5EF4-FFF2-40B4-BE49-F238E27FC236}">
                <a16:creationId xmlns:a16="http://schemas.microsoft.com/office/drawing/2014/main" id="{231FABA6-5033-4C35-80CF-5126966AF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267" y="3332941"/>
            <a:ext cx="2395861" cy="2395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305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F07C7D0F-CE98-447A-BB57-D0098B3112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R-Trees</a:t>
            </a:r>
          </a:p>
        </p:txBody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DB6B82C9-851B-4DC2-8EBF-CDB535FD7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3379" y="1067662"/>
            <a:ext cx="7671358" cy="5263469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R-trees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are a N-dimensional extension of B</a:t>
            </a:r>
            <a:r>
              <a:rPr lang="en-US" altLang="en-US" baseline="30000" dirty="0"/>
              <a:t>+</a:t>
            </a:r>
            <a:r>
              <a:rPr lang="en-US" altLang="en-US" dirty="0"/>
              <a:t>-trees, useful for indexing sets of rectangles and other polygons.</a:t>
            </a:r>
          </a:p>
          <a:p>
            <a:r>
              <a:rPr lang="en-US" altLang="en-US" dirty="0"/>
              <a:t>Supported in many modern database systems, along with variants like R</a:t>
            </a:r>
            <a:r>
              <a:rPr lang="en-US" altLang="en-US" baseline="30000" dirty="0"/>
              <a:t>+</a:t>
            </a:r>
            <a:r>
              <a:rPr lang="en-US" altLang="en-US" dirty="0"/>
              <a:t> -trees and R*-trees.</a:t>
            </a:r>
          </a:p>
          <a:p>
            <a:r>
              <a:rPr lang="en-US" altLang="en-US" dirty="0"/>
              <a:t>Basic idea: generalize the notion of a one-dimensional interval associated with each B+ -tree node to an </a:t>
            </a:r>
            <a:br>
              <a:rPr lang="en-US" altLang="en-US" dirty="0"/>
            </a:br>
            <a:r>
              <a:rPr lang="en-US" altLang="en-US" dirty="0"/>
              <a:t>N-dimensional interval, that is, an N-dimensional rectangle.</a:t>
            </a:r>
          </a:p>
          <a:p>
            <a:r>
              <a:rPr lang="en-US" altLang="en-US" dirty="0"/>
              <a:t>Will consider only the two-dimensional case (</a:t>
            </a:r>
            <a:r>
              <a:rPr lang="en-US" altLang="en-US" i="1" dirty="0"/>
              <a:t>N </a:t>
            </a:r>
            <a:r>
              <a:rPr lang="en-US" altLang="en-US" dirty="0"/>
              <a:t>= 2) </a:t>
            </a:r>
          </a:p>
          <a:p>
            <a:pPr lvl="1"/>
            <a:r>
              <a:rPr lang="en-US" altLang="en-US" dirty="0"/>
              <a:t>generalization for </a:t>
            </a:r>
            <a:r>
              <a:rPr lang="en-US" altLang="en-US" i="1" dirty="0"/>
              <a:t>N </a:t>
            </a:r>
            <a:r>
              <a:rPr lang="en-US" altLang="en-US" dirty="0"/>
              <a:t>&gt; 2 is  straightforward, although R-trees work well only for relatively small N</a:t>
            </a:r>
          </a:p>
          <a:p>
            <a:r>
              <a:rPr lang="en-US" altLang="en-US" dirty="0"/>
              <a:t>The </a:t>
            </a:r>
            <a:r>
              <a:rPr lang="en-US" altLang="en-US" b="1" dirty="0">
                <a:solidFill>
                  <a:srgbClr val="002060"/>
                </a:solidFill>
              </a:rPr>
              <a:t>bounding box </a:t>
            </a:r>
            <a:r>
              <a:rPr lang="en-US" altLang="en-US" dirty="0"/>
              <a:t>of a node is a minimum  sized rectangle that contains all the rectangles/polygons associated with the node</a:t>
            </a:r>
          </a:p>
          <a:p>
            <a:pPr lvl="1"/>
            <a:r>
              <a:rPr lang="en-US" altLang="en-US" i="1" dirty="0"/>
              <a:t>Bounding boxes of children of a node are allowed to overlap</a:t>
            </a:r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78455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717F5472-3E83-469E-989D-EC685DBB30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 R-Tree</a:t>
            </a:r>
          </a:p>
        </p:txBody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0F338110-E777-4E0C-9127-4B7D0ACAEB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8350" y="1067662"/>
            <a:ext cx="7746387" cy="5263469"/>
          </a:xfrm>
        </p:spPr>
        <p:txBody>
          <a:bodyPr/>
          <a:lstStyle/>
          <a:p>
            <a:r>
              <a:rPr lang="en-US" altLang="en-US" dirty="0"/>
              <a:t>A set of rectangles (solid line) and the bounding boxes (dashed line) of the nodes of an R-tree for the rectangles.</a:t>
            </a:r>
          </a:p>
          <a:p>
            <a:r>
              <a:rPr lang="en-US" altLang="en-US" dirty="0"/>
              <a:t>The R-tree is shown on the right.</a:t>
            </a:r>
            <a:endParaRPr lang="en-US" altLang="en-US" dirty="0">
              <a:latin typeface="Georgia" panose="02040502050405020303" pitchFamily="18" charset="0"/>
            </a:endParaRPr>
          </a:p>
          <a:p>
            <a:pPr>
              <a:lnSpc>
                <a:spcPct val="90000"/>
              </a:lnSpc>
              <a:buClr>
                <a:srgbClr val="CC3300"/>
              </a:buClr>
              <a:buFont typeface="Wingdings" panose="05000000000000000000" pitchFamily="2" charset="2"/>
              <a:buNone/>
            </a:pPr>
            <a:r>
              <a:rPr lang="en-US" altLang="en-US" dirty="0">
                <a:latin typeface="Georgia" panose="02040502050405020303" pitchFamily="18" charset="0"/>
              </a:rPr>
              <a:t>	</a:t>
            </a:r>
          </a:p>
        </p:txBody>
      </p:sp>
      <p:pic>
        <p:nvPicPr>
          <p:cNvPr id="144388" name="Picture 79">
            <a:extLst>
              <a:ext uri="{FF2B5EF4-FFF2-40B4-BE49-F238E27FC236}">
                <a16:creationId xmlns:a16="http://schemas.microsoft.com/office/drawing/2014/main" id="{A65AA742-AC24-4D62-BA4A-DCC43CC90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202" y="2228410"/>
            <a:ext cx="5992874" cy="316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7224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756284EF-D536-4EF0-BF9C-272C367C7D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Transport MT" pitchFamily="2" charset="2"/>
              <a:buNone/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Search in R-Trees</a:t>
            </a:r>
          </a:p>
        </p:txBody>
      </p:sp>
      <p:sp>
        <p:nvSpPr>
          <p:cNvPr id="146435" name="Rectangle 3">
            <a:extLst>
              <a:ext uri="{FF2B5EF4-FFF2-40B4-BE49-F238E27FC236}">
                <a16:creationId xmlns:a16="http://schemas.microsoft.com/office/drawing/2014/main" id="{B27CFB6C-B278-44C5-9E66-319128CC20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0" y="1095942"/>
            <a:ext cx="7696941" cy="2439109"/>
          </a:xfrm>
        </p:spPr>
        <p:txBody>
          <a:bodyPr/>
          <a:lstStyle/>
          <a:p>
            <a:r>
              <a:rPr lang="en-US" altLang="en-US" dirty="0" smtClean="0"/>
              <a:t>To </a:t>
            </a:r>
            <a:r>
              <a:rPr lang="en-US" altLang="en-US" dirty="0"/>
              <a:t>find data items intersecting a given query point/region, do the following, starting from the root node:</a:t>
            </a:r>
          </a:p>
          <a:p>
            <a:pPr lvl="1"/>
            <a:r>
              <a:rPr lang="en-US" altLang="en-US" dirty="0"/>
              <a:t>If the node is a leaf node, output the data items whose keys intersect the given query point/region.</a:t>
            </a:r>
          </a:p>
          <a:p>
            <a:pPr lvl="1"/>
            <a:r>
              <a:rPr lang="en-US" altLang="en-US" dirty="0"/>
              <a:t>Else, for each child of the current node whose bounding box intersects the query point/region, recursively search the child</a:t>
            </a:r>
          </a:p>
          <a:p>
            <a:r>
              <a:rPr lang="en-US" altLang="en-US" dirty="0"/>
              <a:t>Can be very inefficient in worst case since multiple paths may need to be searched, but works acceptably in practice.</a:t>
            </a:r>
          </a:p>
        </p:txBody>
      </p:sp>
      <p:pic>
        <p:nvPicPr>
          <p:cNvPr id="4" name="Picture 79">
            <a:extLst>
              <a:ext uri="{FF2B5EF4-FFF2-40B4-BE49-F238E27FC236}">
                <a16:creationId xmlns:a16="http://schemas.microsoft.com/office/drawing/2014/main" id="{E6DFA1BE-4532-4908-91A0-338119CBA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163" y="3642491"/>
            <a:ext cx="4877436" cy="257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380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79DE2-8AB6-410D-90D1-AD915182E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Indexing Temporal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DD5E2-E96C-4EE1-BA94-E85FFAC71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501" y="1067662"/>
            <a:ext cx="7680236" cy="5263469"/>
          </a:xfrm>
        </p:spPr>
        <p:txBody>
          <a:bodyPr/>
          <a:lstStyle/>
          <a:p>
            <a:r>
              <a:rPr lang="en-IN" dirty="0"/>
              <a:t>Temporal data refers to data that has an associated time period (interval</a:t>
            </a:r>
            <a:r>
              <a:rPr lang="en-IN" dirty="0" smtClean="0"/>
              <a:t>)</a:t>
            </a:r>
          </a:p>
          <a:p>
            <a:pPr lvl="1"/>
            <a:r>
              <a:rPr lang="en-IN" dirty="0" smtClean="0"/>
              <a:t>Example: a temporal version of the </a:t>
            </a:r>
            <a:r>
              <a:rPr lang="en-IN" i="1" dirty="0" smtClean="0"/>
              <a:t>course</a:t>
            </a:r>
            <a:r>
              <a:rPr lang="en-IN" dirty="0" smtClean="0"/>
              <a:t> relation</a:t>
            </a:r>
          </a:p>
          <a:p>
            <a:pPr lvl="1"/>
            <a:endParaRPr lang="en-IN" dirty="0"/>
          </a:p>
          <a:p>
            <a:pPr lvl="1"/>
            <a:endParaRPr lang="en-IN" dirty="0" smtClean="0"/>
          </a:p>
          <a:p>
            <a:pPr lvl="1"/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r>
              <a:rPr lang="en-IN" dirty="0"/>
              <a:t>Time interval has a start and end time</a:t>
            </a:r>
          </a:p>
          <a:p>
            <a:pPr lvl="1"/>
            <a:r>
              <a:rPr lang="en-IN" dirty="0"/>
              <a:t>End time set to infinity (or large date such as 9999-12-31) if a tuple is currently valid and its validity end time is not currently known</a:t>
            </a:r>
          </a:p>
          <a:p>
            <a:r>
              <a:rPr lang="en-IN" dirty="0"/>
              <a:t>Query may ask for all tuples that are valid at a point in time or during a time interval</a:t>
            </a:r>
          </a:p>
          <a:p>
            <a:pPr lvl="1"/>
            <a:r>
              <a:rPr lang="en-IN" dirty="0"/>
              <a:t>Index on valid time period speeds up this task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45" y="1800207"/>
            <a:ext cx="6893893" cy="138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723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79DE2-8AB6-410D-90D1-AD915182E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Indexing Temporal Data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DD5E2-E96C-4EE1-BA94-E85FFAC71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378" y="1067662"/>
            <a:ext cx="7679185" cy="3768289"/>
          </a:xfrm>
        </p:spPr>
        <p:txBody>
          <a:bodyPr/>
          <a:lstStyle/>
          <a:p>
            <a:r>
              <a:rPr lang="en-IN" dirty="0"/>
              <a:t>To create a temporal index on attribute </a:t>
            </a:r>
            <a:r>
              <a:rPr lang="en-IN" i="1" dirty="0"/>
              <a:t>a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Use spatial index, such as R-tree, with attribute </a:t>
            </a:r>
            <a:r>
              <a:rPr lang="en-IN" i="1" dirty="0"/>
              <a:t>a</a:t>
            </a:r>
            <a:r>
              <a:rPr lang="en-IN" dirty="0"/>
              <a:t> as one dimension, and time as another dimension</a:t>
            </a:r>
          </a:p>
          <a:p>
            <a:pPr lvl="2"/>
            <a:r>
              <a:rPr lang="en-IN" dirty="0"/>
              <a:t>Valid time forms an interval in the time dimension</a:t>
            </a:r>
          </a:p>
          <a:p>
            <a:pPr lvl="1"/>
            <a:r>
              <a:rPr lang="en-IN" dirty="0"/>
              <a:t>Tuples that are currently valid cause problems, since value is infinite or very large</a:t>
            </a:r>
          </a:p>
          <a:p>
            <a:pPr lvl="2"/>
            <a:r>
              <a:rPr lang="en-IN" dirty="0"/>
              <a:t>Solution:  store all current tuples (with end time as infinity) in a separate index, indexed on (</a:t>
            </a:r>
            <a:r>
              <a:rPr lang="en-IN" i="1" dirty="0"/>
              <a:t>a, start-time</a:t>
            </a:r>
            <a:r>
              <a:rPr lang="en-IN" dirty="0"/>
              <a:t>)</a:t>
            </a:r>
          </a:p>
          <a:p>
            <a:pPr lvl="3"/>
            <a:r>
              <a:rPr lang="en-IN" dirty="0"/>
              <a:t>To find tuples valid at a point in time </a:t>
            </a:r>
            <a:r>
              <a:rPr lang="en-IN" i="1" dirty="0"/>
              <a:t>t </a:t>
            </a:r>
            <a:r>
              <a:rPr lang="en-IN" dirty="0"/>
              <a:t>in the current tuple index, search for tuples in the range (</a:t>
            </a:r>
            <a:r>
              <a:rPr lang="en-IN" i="1" dirty="0"/>
              <a:t>a, 0</a:t>
            </a:r>
            <a:r>
              <a:rPr lang="en-IN" dirty="0"/>
              <a:t>) to (</a:t>
            </a:r>
            <a:r>
              <a:rPr lang="en-IN" i="1" dirty="0" err="1"/>
              <a:t>a,t</a:t>
            </a:r>
            <a:r>
              <a:rPr lang="en-IN" dirty="0"/>
              <a:t>)</a:t>
            </a:r>
            <a:r>
              <a:rPr lang="en-IN" i="1" dirty="0"/>
              <a:t> </a:t>
            </a:r>
          </a:p>
          <a:p>
            <a:r>
              <a:rPr lang="en-IN" dirty="0"/>
              <a:t>Temporal index on primary key can help enforce temporal primary key constraint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2DBFAE2-DBBD-4DE9-B51F-67137EAF7B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t="-1" b="25156"/>
          <a:stretch/>
        </p:blipFill>
        <p:spPr>
          <a:xfrm>
            <a:off x="1377216" y="4835951"/>
            <a:ext cx="6611507" cy="14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207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End of Chapter 14</a:t>
            </a:r>
          </a:p>
        </p:txBody>
      </p:sp>
    </p:spTree>
    <p:extLst>
      <p:ext uri="{BB962C8B-B14F-4D97-AF65-F5344CB8AC3E}">
        <p14:creationId xmlns:p14="http://schemas.microsoft.com/office/powerpoint/2010/main" val="1774098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698" name="Rectangle 2">
            <a:extLst>
              <a:ext uri="{FF2B5EF4-FFF2-40B4-BE49-F238E27FC236}">
                <a16:creationId xmlns:a16="http://schemas.microsoft.com/office/drawing/2014/main" id="{0CB98B47-6052-4377-A81B-F6C56F5C82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Hash Index</a:t>
            </a:r>
          </a:p>
        </p:txBody>
      </p:sp>
      <p:pic>
        <p:nvPicPr>
          <p:cNvPr id="118787" name="Picture 5">
            <a:extLst>
              <a:ext uri="{FF2B5EF4-FFF2-40B4-BE49-F238E27FC236}">
                <a16:creationId xmlns:a16="http://schemas.microsoft.com/office/drawing/2014/main" id="{86721564-F866-4E39-8B45-6EF28EA06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787400"/>
            <a:ext cx="5929313" cy="572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88" name="Text Box 4">
            <a:extLst>
              <a:ext uri="{FF2B5EF4-FFF2-40B4-BE49-F238E27FC236}">
                <a16:creationId xmlns:a16="http://schemas.microsoft.com/office/drawing/2014/main" id="{7A86AA5E-8C26-4ABC-823F-32A185E8F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5550" y="5497513"/>
            <a:ext cx="4050276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hash index on </a:t>
            </a:r>
            <a:r>
              <a:rPr kumimoji="0" lang="en-US" altLang="en-US" sz="17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instructor, </a:t>
            </a:r>
            <a:r>
              <a:rPr kumimoji="0" lang="en-US" alt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 on attribute </a:t>
            </a:r>
            <a:r>
              <a:rPr kumimoji="0" lang="en-US" altLang="en-US" sz="17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ID</a:t>
            </a:r>
            <a:endParaRPr kumimoji="0" lang="en-US" altLang="en-US" sz="1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3708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29813</TotalTime>
  <Words>7654</Words>
  <Application>Microsoft Office PowerPoint</Application>
  <PresentationFormat>On-screen Show (4:3)</PresentationFormat>
  <Paragraphs>2382</Paragraphs>
  <Slides>110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110</vt:i4>
      </vt:variant>
    </vt:vector>
  </HeadingPairs>
  <TitlesOfParts>
    <vt:vector size="127" baseType="lpstr">
      <vt:lpstr>MS PGothic</vt:lpstr>
      <vt:lpstr>MS PGothic</vt:lpstr>
      <vt:lpstr>Arial</vt:lpstr>
      <vt:lpstr>Calibri</vt:lpstr>
      <vt:lpstr>Courier New</vt:lpstr>
      <vt:lpstr>Georgia</vt:lpstr>
      <vt:lpstr>Helvetica</vt:lpstr>
      <vt:lpstr>Monotype Sorts</vt:lpstr>
      <vt:lpstr>Symbol</vt:lpstr>
      <vt:lpstr>Times New Roman</vt:lpstr>
      <vt:lpstr>Transport MT</vt:lpstr>
      <vt:lpstr>Webdings</vt:lpstr>
      <vt:lpstr>Wingdings</vt:lpstr>
      <vt:lpstr>Office Theme</vt:lpstr>
      <vt:lpstr>2_db-5-grey</vt:lpstr>
      <vt:lpstr>3_db-5-grey</vt:lpstr>
      <vt:lpstr>4_db-5-grey</vt:lpstr>
      <vt:lpstr>Chapter 14: Indexing</vt:lpstr>
      <vt:lpstr>Outline</vt:lpstr>
      <vt:lpstr>Basic Concepts</vt:lpstr>
      <vt:lpstr>Index Evaluation Metrics</vt:lpstr>
      <vt:lpstr>Ordered Indices</vt:lpstr>
      <vt:lpstr>Types of Ordered Indices</vt:lpstr>
      <vt:lpstr>Dense Index Files (Cont.)</vt:lpstr>
      <vt:lpstr>PowerPoint Presentation</vt:lpstr>
      <vt:lpstr>Secondary Indices</vt:lpstr>
      <vt:lpstr>Secondary Indices Example</vt:lpstr>
      <vt:lpstr>Multilevel Index</vt:lpstr>
      <vt:lpstr>Multilevel Index (Cont.)</vt:lpstr>
      <vt:lpstr>Index Update:  Deletion</vt:lpstr>
      <vt:lpstr>Index Update:  Insertion</vt:lpstr>
      <vt:lpstr>Indices on Multiple Keys</vt:lpstr>
      <vt:lpstr>ISAM Trees</vt:lpstr>
      <vt:lpstr>ISAM Trees: Page Overflows</vt:lpstr>
      <vt:lpstr>ISAM File Creation</vt:lpstr>
      <vt:lpstr>ISAM: Searching for Entries</vt:lpstr>
      <vt:lpstr>ISAM: Inserting Entries</vt:lpstr>
      <vt:lpstr>ISAM: Inserting Entries</vt:lpstr>
      <vt:lpstr>ISAM: Inserting Entries</vt:lpstr>
      <vt:lpstr>ISAM: Inserting Entries</vt:lpstr>
      <vt:lpstr>ISAM: Deleting Entries</vt:lpstr>
      <vt:lpstr>ISAM: Deleting Entries</vt:lpstr>
      <vt:lpstr>ISAM: Deleting Entries</vt:lpstr>
      <vt:lpstr>ISAM: Deleting Entries</vt:lpstr>
      <vt:lpstr>ISAM: Deleting Entries</vt:lpstr>
      <vt:lpstr>ISAM: Some Issues</vt:lpstr>
      <vt:lpstr>Dynamic Trees</vt:lpstr>
      <vt:lpstr>B+ Tree Properties</vt:lpstr>
      <vt:lpstr>Example of B+-Tree</vt:lpstr>
      <vt:lpstr>B+ Tree: Searching for Entries</vt:lpstr>
      <vt:lpstr>B+ Tree: Searching for Entries</vt:lpstr>
      <vt:lpstr>B+ Trees: Inserting Entries</vt:lpstr>
      <vt:lpstr>B+ Tree: Examples of Insertions</vt:lpstr>
      <vt:lpstr>B+ Tree: Examples of Insertions</vt:lpstr>
      <vt:lpstr>B+ Tree: Examples of Insertions</vt:lpstr>
      <vt:lpstr>B+ Tree: Examples of Insertions</vt:lpstr>
      <vt:lpstr>B+ Tree: Examples of Insertions</vt:lpstr>
      <vt:lpstr>B+ Tree: Examples of Insertions</vt:lpstr>
      <vt:lpstr>B+ Tree: Examples of Insertions</vt:lpstr>
      <vt:lpstr>B+ Tree: Examples of Insertions</vt:lpstr>
      <vt:lpstr>B+ Tree: Examples of Insertions</vt:lpstr>
      <vt:lpstr>Splitting vs. Redistributing</vt:lpstr>
      <vt:lpstr>B+ Insertions: Keep in Mind</vt:lpstr>
      <vt:lpstr>B+ Trees: Deleting Entries</vt:lpstr>
      <vt:lpstr>B+ Tree: Examples of Deletions</vt:lpstr>
      <vt:lpstr>B+ Tree: Examples of Deletions</vt:lpstr>
      <vt:lpstr>B+ Tree: Examples of Deletions</vt:lpstr>
      <vt:lpstr>B+ Tree: Examples of Deletions</vt:lpstr>
      <vt:lpstr>B+ Tree: Examples of Deletions</vt:lpstr>
      <vt:lpstr>B+ Tree: Examples of Deletions</vt:lpstr>
      <vt:lpstr>B+ Tree: Examples of Deletions</vt:lpstr>
      <vt:lpstr>B+ Tree: Examples of Deletions</vt:lpstr>
      <vt:lpstr>B+ Tree: Examples of Deletions</vt:lpstr>
      <vt:lpstr>B+ Tree: Examples of Deletions</vt:lpstr>
      <vt:lpstr>B+ Tree: Examples of Deletions</vt:lpstr>
      <vt:lpstr>B+ Tree: Examples of Deletions</vt:lpstr>
      <vt:lpstr>B+ Tree: Examples of Deletions</vt:lpstr>
      <vt:lpstr>B+ Tree: Examples of Deletions</vt:lpstr>
      <vt:lpstr>B+ Tree: Examples of Deletions</vt:lpstr>
      <vt:lpstr>B+ Tree: Examples of Deletions</vt:lpstr>
      <vt:lpstr>B+ Tree: Bulk Loading</vt:lpstr>
      <vt:lpstr>B+ Tree: Bulk Loading</vt:lpstr>
      <vt:lpstr>B+ Tree: Bulk Loading</vt:lpstr>
      <vt:lpstr>B+ Tree: Bulk Loading</vt:lpstr>
      <vt:lpstr>B+ Tree: Bulk Loading</vt:lpstr>
      <vt:lpstr>B+ Tree: Bulk Loading</vt:lpstr>
      <vt:lpstr>B+ Tree: Bulk Loading</vt:lpstr>
      <vt:lpstr>B+ Tree: Bulk Loading</vt:lpstr>
      <vt:lpstr>B+ Tree: Bulk Loading</vt:lpstr>
      <vt:lpstr>B+ Tree: Bulk Loading</vt:lpstr>
      <vt:lpstr>PowerPoint Presentation</vt:lpstr>
      <vt:lpstr>Hash-Based Indexing</vt:lpstr>
      <vt:lpstr>Static Hashing</vt:lpstr>
      <vt:lpstr>Deficiencies of Static Hashing</vt:lpstr>
      <vt:lpstr>Extendible Hashing</vt:lpstr>
      <vt:lpstr>Extendible Hashing: Searching for Entries</vt:lpstr>
      <vt:lpstr>Extendible Hashing: Inserting Entries</vt:lpstr>
      <vt:lpstr>Extendible Hashing: Inserting Entries</vt:lpstr>
      <vt:lpstr>Extendible Hashing: Inserting Entries</vt:lpstr>
      <vt:lpstr>Extendible Hashing: Inserting Entries</vt:lpstr>
      <vt:lpstr>Extendible Hashing: Inserting Entries</vt:lpstr>
      <vt:lpstr>Extendible Hashing: Inserting Entries</vt:lpstr>
      <vt:lpstr>Extendible Hashing: Inserting Entries</vt:lpstr>
      <vt:lpstr>Extendible Hashing: Inserting Entries</vt:lpstr>
      <vt:lpstr>Extendible Hashing: Inserting Entries</vt:lpstr>
      <vt:lpstr>Extendible Hashing: Inserting Entries</vt:lpstr>
      <vt:lpstr>Extendible Hashing: Inserting Entries</vt:lpstr>
      <vt:lpstr>Extendible Hashing: Inserting Entries</vt:lpstr>
      <vt:lpstr>Extendible Hashing: Inserting Entries</vt:lpstr>
      <vt:lpstr>Extendible Hashing: Inserting Entries</vt:lpstr>
      <vt:lpstr>Extendible Hashing: Inserting Entries</vt:lpstr>
      <vt:lpstr>Extendible Hashing: Inserting Entries</vt:lpstr>
      <vt:lpstr>Extendible Hashing: Inserting Entries</vt:lpstr>
      <vt:lpstr>Bitmap Indices</vt:lpstr>
      <vt:lpstr>Bitmap Indices (Cont.)</vt:lpstr>
      <vt:lpstr>Bitmap Indices (Cont.)</vt:lpstr>
      <vt:lpstr>PowerPoint Presentation</vt:lpstr>
      <vt:lpstr>Spatial Data</vt:lpstr>
      <vt:lpstr>Indexing of Spatial Data</vt:lpstr>
      <vt:lpstr>Division of Space by Quadtrees</vt:lpstr>
      <vt:lpstr>R-Trees</vt:lpstr>
      <vt:lpstr>Example R-Tree</vt:lpstr>
      <vt:lpstr>Search in R-Trees</vt:lpstr>
      <vt:lpstr>Indexing Temporal Data</vt:lpstr>
      <vt:lpstr>Indexing Temporal Data (Cont.)</vt:lpstr>
      <vt:lpstr>End of Chapter 14</vt:lpstr>
      <vt:lpstr>Example of Hash Index</vt:lpstr>
    </vt:vector>
  </TitlesOfParts>
  <Company>Carnegie Mellon University in Qatar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Dania Abed Rabbou</dc:creator>
  <cp:lastModifiedBy>Mukesh Mohania</cp:lastModifiedBy>
  <cp:revision>1744</cp:revision>
  <dcterms:created xsi:type="dcterms:W3CDTF">2013-11-24T06:45:02Z</dcterms:created>
  <dcterms:modified xsi:type="dcterms:W3CDTF">2023-03-27T06:13:45Z</dcterms:modified>
</cp:coreProperties>
</file>