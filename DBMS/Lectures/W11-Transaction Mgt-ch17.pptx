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01" r:id="rId1"/>
    <p:sldMasterId id="2147483815" r:id="rId2"/>
  </p:sldMasterIdLst>
  <p:notesMasterIdLst>
    <p:notesMasterId r:id="rId55"/>
  </p:notesMasterIdLst>
  <p:handoutMasterIdLst>
    <p:handoutMasterId r:id="rId56"/>
  </p:handoutMasterIdLst>
  <p:sldIdLst>
    <p:sldId id="320" r:id="rId3"/>
    <p:sldId id="256" r:id="rId4"/>
    <p:sldId id="257" r:id="rId5"/>
    <p:sldId id="259" r:id="rId6"/>
    <p:sldId id="345" r:id="rId7"/>
    <p:sldId id="260" r:id="rId8"/>
    <p:sldId id="258" r:id="rId9"/>
    <p:sldId id="261" r:id="rId10"/>
    <p:sldId id="265" r:id="rId11"/>
    <p:sldId id="266" r:id="rId12"/>
    <p:sldId id="267" r:id="rId13"/>
    <p:sldId id="376" r:id="rId14"/>
    <p:sldId id="268" r:id="rId15"/>
    <p:sldId id="269" r:id="rId16"/>
    <p:sldId id="270" r:id="rId17"/>
    <p:sldId id="385" r:id="rId18"/>
    <p:sldId id="386" r:id="rId19"/>
    <p:sldId id="387" r:id="rId20"/>
    <p:sldId id="388" r:id="rId21"/>
    <p:sldId id="389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  <p:sldId id="403" r:id="rId35"/>
    <p:sldId id="271" r:id="rId36"/>
    <p:sldId id="272" r:id="rId37"/>
    <p:sldId id="273" r:id="rId38"/>
    <p:sldId id="325" r:id="rId39"/>
    <p:sldId id="381" r:id="rId40"/>
    <p:sldId id="382" r:id="rId41"/>
    <p:sldId id="383" r:id="rId42"/>
    <p:sldId id="274" r:id="rId43"/>
    <p:sldId id="277" r:id="rId44"/>
    <p:sldId id="278" r:id="rId45"/>
    <p:sldId id="279" r:id="rId46"/>
    <p:sldId id="332" r:id="rId47"/>
    <p:sldId id="334" r:id="rId48"/>
    <p:sldId id="341" r:id="rId49"/>
    <p:sldId id="377" r:id="rId50"/>
    <p:sldId id="378" r:id="rId51"/>
    <p:sldId id="379" r:id="rId52"/>
    <p:sldId id="384" r:id="rId53"/>
    <p:sldId id="380" r:id="rId54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691" y="62"/>
      </p:cViewPr>
      <p:guideLst>
        <p:guide orient="horz" pos="69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3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fld id="{29E57153-A580-4B5E-9B53-6B87B5A1FB9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5B7CC90F-195F-4DEF-A4DA-F5B0A181CF9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79FD97-3E05-4AF7-9FA7-5D40E8EC0B1C}" type="slidenum">
              <a:rPr lang="en-US" altLang="en-US" sz="1300">
                <a:latin typeface="Times New Roman" panose="02020603050405020304" pitchFamily="18" charset="0"/>
              </a:rPr>
              <a:pPr/>
              <a:t>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17DEB3-15EC-4046-B6FC-7059E5DE6572}" type="slidenum">
              <a:rPr lang="en-US" altLang="en-US" sz="130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90F1DB-8581-4412-BE09-331FFC345D8A}" type="slidenum">
              <a:rPr lang="en-US" altLang="en-US" sz="130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57C7EE-1394-4754-ABAC-F51DB6C77C16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96B228-294A-4543-9668-830A4BA10FD0}" type="slidenum">
              <a:rPr lang="en-US" altLang="en-US" sz="130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368A3B-2500-44E1-A876-1D192EB39441}" type="slidenum">
              <a:rPr lang="en-US" altLang="en-US" sz="130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7B586B-FBE3-4075-88E9-19535EAEDE53}" type="slidenum">
              <a:rPr lang="en-US" altLang="en-US" sz="130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9CAF58-8E40-42E6-AEEE-83BAC72A0401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C1AAF5-6AEA-4D14-8684-0B8539C0EA31}" type="slidenum">
              <a:rPr lang="en-US" altLang="en-US" sz="130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181E236-F3CF-4317-8D23-91C03DF91DAA}" type="slidenum">
              <a:rPr lang="en-US" altLang="en-US" sz="130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FD32BD-82F1-48BD-AD09-96AD51164653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5A69C5-4E79-40C5-A40D-3DE0D1BB057D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66EED2-8886-4DAB-8F39-47600D19EAAD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0A219B-7ED1-4E4A-95DF-430BAF20189A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181FFE9-0679-4531-AB67-8E0EAB444F99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973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768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429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467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541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871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32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50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369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645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01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950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164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692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046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051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586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991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A3BC2A-3044-458B-B1BD-DEB1040FB7FC}" type="slidenum">
              <a:rPr lang="en-US" altLang="en-US" sz="1300">
                <a:latin typeface="Times New Roman" panose="02020603050405020304" pitchFamily="18" charset="0"/>
              </a:rPr>
              <a:pPr/>
              <a:t>34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70FF04-BD4D-47CF-853F-6CFC89ED42D1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98D951-B8BF-4FE7-8FF8-B9812C3DBA9F}" type="slidenum">
              <a:rPr lang="en-US" altLang="en-US" sz="1300">
                <a:latin typeface="Times New Roman" panose="02020603050405020304" pitchFamily="18" charset="0"/>
              </a:rPr>
              <a:pPr/>
              <a:t>36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AB2A54-CE49-40F1-BE38-E3DCEF43F856}" type="slidenum">
              <a:rPr lang="en-US" altLang="en-US" sz="1300">
                <a:latin typeface="Times New Roman" panose="02020603050405020304" pitchFamily="18" charset="0"/>
              </a:rPr>
              <a:pPr/>
              <a:t>37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AF8D3E-D4BC-4C85-BC46-168123D4B1D3}" type="slidenum">
              <a:rPr lang="en-US" altLang="en-US" sz="1300">
                <a:latin typeface="Times New Roman" panose="02020603050405020304" pitchFamily="18" charset="0"/>
              </a:rPr>
              <a:pPr/>
              <a:t>38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456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120282-FA19-4407-98A6-B549395434D4}" type="slidenum">
              <a:rPr lang="en-US" altLang="en-US" sz="1300">
                <a:latin typeface="Times New Roman" panose="02020603050405020304" pitchFamily="18" charset="0"/>
              </a:rPr>
              <a:pPr/>
              <a:t>41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78FB941-5722-4BA5-84DF-FC78527A2BB7}" type="slidenum">
              <a:rPr lang="en-US" altLang="en-US" sz="1300">
                <a:latin typeface="Times New Roman" panose="02020603050405020304" pitchFamily="18" charset="0"/>
              </a:rPr>
              <a:pPr/>
              <a:t>42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37B947-B885-486A-9E0E-5DB5F2D174C2}" type="slidenum">
              <a:rPr lang="en-US" altLang="en-US" sz="1300">
                <a:latin typeface="Times New Roman" panose="02020603050405020304" pitchFamily="18" charset="0"/>
              </a:rPr>
              <a:pPr/>
              <a:t>43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8F6C2F6-402D-422C-BB49-ADCD5F850701}" type="slidenum">
              <a:rPr lang="en-US" altLang="en-US" sz="1300">
                <a:latin typeface="Times New Roman" panose="02020603050405020304" pitchFamily="18" charset="0"/>
              </a:rPr>
              <a:pPr/>
              <a:t>44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C7905A-2CC2-4593-BC50-F4A9103CA5F9}" type="slidenum">
              <a:rPr lang="en-US" altLang="en-US" sz="1300">
                <a:latin typeface="Times New Roman" panose="02020603050405020304" pitchFamily="18" charset="0"/>
              </a:rPr>
              <a:pPr/>
              <a:t>45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55DDF8-1267-474D-9F61-95CB06392C59}" type="slidenum">
              <a:rPr lang="en-US" altLang="en-US" sz="1300">
                <a:latin typeface="Times New Roman" panose="02020603050405020304" pitchFamily="18" charset="0"/>
              </a:rPr>
              <a:pPr/>
              <a:t>46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3F68DF0-6905-4D9D-ACCA-81F50CE25A46}" type="slidenum">
              <a:rPr lang="en-US" altLang="en-US" sz="1300">
                <a:latin typeface="Times New Roman" panose="02020603050405020304" pitchFamily="18" charset="0"/>
              </a:rPr>
              <a:pPr/>
              <a:t>47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14055-A8AE-4C05-AC7A-46A0B6A29489}" type="slidenum">
              <a:rPr lang="en-US" altLang="en-US" sz="1300">
                <a:latin typeface="Times New Roman" panose="02020603050405020304" pitchFamily="18" charset="0"/>
              </a:rPr>
              <a:pPr/>
              <a:t>48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229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778487" y="6388691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fld id="{4AAA266F-A005-4455-9502-E3724A964F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99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E6A8F2-4A8B-4A99-BE4D-D3A869CE758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341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8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51659C-1AF3-4FAF-8545-8F03FEBA5E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40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5CEF85-9243-4C03-980F-FEC8A6A7A10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27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8A1303-5D2D-4597-85C3-1555E5FE4DD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32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1EFD54-8803-427D-A9AB-631036F81CD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52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068018-0522-4E2C-B8D9-E5451E9A4DA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10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BA9BFC-BC4C-47B6-8B8E-F3902B6E8A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878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98E8D-185A-414A-A518-5C49E7B629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080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656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745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B007E-8C7F-4E2E-BC7B-2A3A1679722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073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9CFE0C-32D0-48F6-B754-86DDD932679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696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5F951-6F0A-4BC8-8E78-042EB20EDAB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0998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6627F7-2F2A-48BC-9DFD-9A2600CFA5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8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2BFDD5-512B-4522-BA85-F72134273AE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545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058DFD-FDB4-43ED-A73B-376F2F66B10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376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6AB476-D146-4EA7-B6A7-C7ED67CB09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7123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A0457E-5E49-4C84-A5ED-8D6AE6DEE1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171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E47378-4043-40E8-88FD-3B9FC25ACA7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771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185160-A181-4E5D-A8B9-6CC6B5BAC31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9088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1D89C-2CB1-4680-B533-FD01CA337ED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513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17.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A69B54C0-8EB7-4834-9342-A9C86C117E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247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FE058-E24E-44D4-8AE6-4ED6084A3F1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4/6/2023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09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633845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Module 17: Transactions </a:t>
            </a:r>
          </a:p>
        </p:txBody>
      </p:sp>
      <p:sp>
        <p:nvSpPr>
          <p:cNvPr id="2" name="Rectangle 1"/>
          <p:cNvSpPr/>
          <p:nvPr/>
        </p:nvSpPr>
        <p:spPr>
          <a:xfrm>
            <a:off x="412358" y="6439342"/>
            <a:ext cx="8240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</a:rPr>
              <a:t>Slides, having no footer, have been taken from Prof Mohammad </a:t>
            </a:r>
            <a:r>
              <a:rPr lang="en-US" sz="1400" dirty="0" err="1" smtClean="0">
                <a:solidFill>
                  <a:srgbClr val="0070C0"/>
                </a:solidFill>
              </a:rPr>
              <a:t>Hammoud</a:t>
            </a:r>
            <a:r>
              <a:rPr lang="en-US" sz="1400" dirty="0" smtClean="0">
                <a:solidFill>
                  <a:srgbClr val="0070C0"/>
                </a:solidFill>
              </a:rPr>
              <a:t>, CMU Qatar, lecture notes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732450" cy="5367972"/>
          </a:xfrm>
        </p:spPr>
        <p:txBody>
          <a:bodyPr/>
          <a:lstStyle/>
          <a:p>
            <a:r>
              <a:rPr lang="en-US" altLang="en-US" dirty="0"/>
              <a:t>Transaction Concept</a:t>
            </a:r>
          </a:p>
          <a:p>
            <a:r>
              <a:rPr lang="en-US" altLang="en-US" dirty="0"/>
              <a:t>Transaction State</a:t>
            </a:r>
          </a:p>
          <a:p>
            <a:r>
              <a:rPr lang="en-US" altLang="en-US" dirty="0"/>
              <a:t>Concurrent Executions</a:t>
            </a:r>
          </a:p>
          <a:p>
            <a:r>
              <a:rPr lang="en-US" altLang="en-US" dirty="0"/>
              <a:t>Serializability</a:t>
            </a:r>
          </a:p>
          <a:p>
            <a:r>
              <a:rPr lang="en-US" altLang="en-US" dirty="0"/>
              <a:t>Recoverability</a:t>
            </a:r>
          </a:p>
          <a:p>
            <a:r>
              <a:rPr lang="en-US" altLang="en-US" dirty="0"/>
              <a:t>Implementation of Isolation</a:t>
            </a:r>
          </a:p>
          <a:p>
            <a:r>
              <a:rPr lang="en-US" altLang="en-US" dirty="0"/>
              <a:t>Transaction Definition in SQL</a:t>
            </a:r>
          </a:p>
          <a:p>
            <a:r>
              <a:rPr lang="en-US" altLang="en-US" dirty="0"/>
              <a:t>Testing for Serializability.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Concept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94594" cy="5367972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0099"/>
                </a:solidFill>
              </a:rPr>
              <a:t>transaction</a:t>
            </a:r>
            <a:r>
              <a:rPr lang="en-US" altLang="en-US" i="1" dirty="0"/>
              <a:t> </a:t>
            </a:r>
            <a:r>
              <a:rPr lang="en-US" altLang="en-US" dirty="0"/>
              <a:t>is a </a:t>
            </a:r>
            <a:r>
              <a:rPr lang="en-US" altLang="en-US" i="1" dirty="0"/>
              <a:t>unit </a:t>
            </a:r>
            <a:r>
              <a:rPr lang="en-US" altLang="en-US" dirty="0"/>
              <a:t>of program execution that accesses and  possibly updates various data items.</a:t>
            </a:r>
          </a:p>
          <a:p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transaction to transfer </a:t>
            </a:r>
            <a:r>
              <a:rPr lang="en-US" altLang="en-US" dirty="0" smtClean="0"/>
              <a:t>Rs50 </a:t>
            </a:r>
            <a:r>
              <a:rPr lang="en-US" altLang="en-US" dirty="0"/>
              <a:t>from account A to account B: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B)</a:t>
            </a:r>
            <a:endParaRPr lang="en-US" altLang="en-US" dirty="0"/>
          </a:p>
          <a:p>
            <a:r>
              <a:rPr lang="en-US" altLang="en-US" dirty="0"/>
              <a:t>Two main issues to deal with:</a:t>
            </a:r>
          </a:p>
          <a:p>
            <a:pPr lvl="1"/>
            <a:r>
              <a:rPr lang="en-US" altLang="en-US" dirty="0"/>
              <a:t>Failures of various kinds, such as hardware failures and system crashes</a:t>
            </a:r>
          </a:p>
          <a:p>
            <a:pPr lvl="1"/>
            <a:r>
              <a:rPr lang="en-US" altLang="en-US" dirty="0"/>
              <a:t>Concurrent execution of multiple transactions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838983" cy="5367972"/>
          </a:xfrm>
        </p:spPr>
        <p:txBody>
          <a:bodyPr/>
          <a:lstStyle/>
          <a:p>
            <a:r>
              <a:rPr lang="en-US" altLang="en-US" sz="1600" dirty="0"/>
              <a:t>Transaction to transfer </a:t>
            </a:r>
            <a:r>
              <a:rPr lang="en-US" altLang="en-US" sz="1600" dirty="0" smtClean="0"/>
              <a:t>Rs50 </a:t>
            </a:r>
            <a:r>
              <a:rPr lang="en-US" altLang="en-US" sz="1600" dirty="0"/>
              <a:t>from account A to account B: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1.	</a:t>
            </a:r>
            <a:r>
              <a:rPr lang="en-US" altLang="en-US" sz="1400" b="1" dirty="0"/>
              <a:t>read</a:t>
            </a:r>
            <a:r>
              <a:rPr lang="en-US" altLang="en-US" sz="1400" dirty="0"/>
              <a:t>(</a:t>
            </a:r>
            <a:r>
              <a:rPr lang="en-US" altLang="en-US" sz="1400" i="1" dirty="0"/>
              <a:t>A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2.	</a:t>
            </a:r>
            <a:r>
              <a:rPr lang="en-US" altLang="en-US" sz="1400" i="1" dirty="0"/>
              <a:t>A</a:t>
            </a:r>
            <a:r>
              <a:rPr lang="en-US" altLang="en-US" sz="1400" dirty="0"/>
              <a:t> := </a:t>
            </a:r>
            <a:r>
              <a:rPr lang="en-US" altLang="en-US" sz="1400" i="1" dirty="0"/>
              <a:t>A – </a:t>
            </a:r>
            <a:r>
              <a:rPr lang="en-US" altLang="en-US" sz="14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3.	</a:t>
            </a:r>
            <a:r>
              <a:rPr lang="en-US" altLang="en-US" sz="1400" b="1" dirty="0"/>
              <a:t>write</a:t>
            </a:r>
            <a:r>
              <a:rPr lang="en-US" altLang="en-US" sz="1400" dirty="0"/>
              <a:t>(</a:t>
            </a:r>
            <a:r>
              <a:rPr lang="en-US" altLang="en-US" sz="1400" i="1" dirty="0"/>
              <a:t>A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4.	</a:t>
            </a:r>
            <a:r>
              <a:rPr lang="en-US" altLang="en-US" sz="1400" b="1" dirty="0"/>
              <a:t>read</a:t>
            </a:r>
            <a:r>
              <a:rPr lang="en-US" altLang="en-US" sz="1400" dirty="0"/>
              <a:t>(</a:t>
            </a:r>
            <a:r>
              <a:rPr lang="en-US" altLang="en-US" sz="1400" i="1" dirty="0"/>
              <a:t>B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5.	</a:t>
            </a:r>
            <a:r>
              <a:rPr lang="en-US" altLang="en-US" sz="1400" i="1" dirty="0"/>
              <a:t>B</a:t>
            </a:r>
            <a:r>
              <a:rPr lang="en-US" altLang="en-US" sz="1400" dirty="0"/>
              <a:t> := </a:t>
            </a:r>
            <a:r>
              <a:rPr lang="en-US" altLang="en-US" sz="1400" i="1" dirty="0"/>
              <a:t>B + </a:t>
            </a:r>
            <a:r>
              <a:rPr lang="en-US" altLang="en-US" sz="14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6.	</a:t>
            </a:r>
            <a:r>
              <a:rPr lang="en-US" altLang="en-US" sz="1400" b="1" dirty="0"/>
              <a:t>write</a:t>
            </a:r>
            <a:r>
              <a:rPr lang="en-US" altLang="en-US" sz="1400" dirty="0"/>
              <a:t>(</a:t>
            </a:r>
            <a:r>
              <a:rPr lang="en-US" altLang="en-US" sz="1400" i="1" dirty="0"/>
              <a:t>B)</a:t>
            </a:r>
          </a:p>
          <a:p>
            <a:r>
              <a:rPr lang="en-US" altLang="en-US" sz="1600" b="1" dirty="0">
                <a:solidFill>
                  <a:srgbClr val="000099"/>
                </a:solidFill>
              </a:rPr>
              <a:t>Atomicity requirement</a:t>
            </a:r>
            <a:r>
              <a:rPr lang="en-US" altLang="en-US" sz="1600" dirty="0"/>
              <a:t> </a:t>
            </a:r>
          </a:p>
          <a:p>
            <a:pPr lvl="1"/>
            <a:r>
              <a:rPr lang="en-US" altLang="en-US" sz="1600" dirty="0"/>
              <a:t>If the transaction fails after step 3 and before step 6, money will be </a:t>
            </a:r>
            <a:r>
              <a:rPr lang="ja-JP" altLang="en-US" sz="1600" dirty="0"/>
              <a:t>“</a:t>
            </a:r>
            <a:r>
              <a:rPr lang="en-US" altLang="ja-JP" sz="1600" dirty="0"/>
              <a:t>lost</a:t>
            </a:r>
            <a:r>
              <a:rPr lang="ja-JP" altLang="en-US" sz="1600" dirty="0"/>
              <a:t>”</a:t>
            </a:r>
            <a:r>
              <a:rPr lang="en-US" altLang="ja-JP" sz="1600" dirty="0"/>
              <a:t> leading to an inconsistent database state</a:t>
            </a:r>
          </a:p>
          <a:p>
            <a:pPr lvl="2"/>
            <a:r>
              <a:rPr lang="en-US" altLang="en-US" sz="1600" dirty="0"/>
              <a:t>Failure could be due to software or hardware</a:t>
            </a:r>
          </a:p>
          <a:p>
            <a:pPr lvl="1"/>
            <a:r>
              <a:rPr lang="en-US" altLang="en-US" sz="1600" dirty="0"/>
              <a:t>The system should ensure that updates of a partially executed transaction are not reflected in the database</a:t>
            </a:r>
          </a:p>
          <a:p>
            <a:r>
              <a:rPr lang="en-US" altLang="en-US" sz="1600" b="1" dirty="0">
                <a:solidFill>
                  <a:srgbClr val="000099"/>
                </a:solidFill>
              </a:rPr>
              <a:t>Durability requirement</a:t>
            </a:r>
            <a:r>
              <a:rPr lang="en-US" altLang="en-US" sz="1600" dirty="0"/>
              <a:t> — once the user has been notified that the transaction has completed (i.e., the transfer of the </a:t>
            </a:r>
            <a:r>
              <a:rPr lang="en-US" altLang="en-US" sz="1600" dirty="0" smtClean="0"/>
              <a:t>Rs50 </a:t>
            </a:r>
            <a:r>
              <a:rPr lang="en-US" altLang="en-US" sz="1600" dirty="0"/>
              <a:t>has taken place), the updates to the database by the transaction must persist even if there are software or hardware failures.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 (Cont.)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idx="1"/>
          </p:nvPr>
        </p:nvSpPr>
        <p:spPr>
          <a:xfrm>
            <a:off x="358436" y="1050543"/>
            <a:ext cx="8144214" cy="5367972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0099"/>
                </a:solidFill>
              </a:rPr>
              <a:t>Consistency requirement</a:t>
            </a:r>
            <a:r>
              <a:rPr lang="en-US" altLang="en-US" sz="1600" dirty="0"/>
              <a:t> in above example:</a:t>
            </a:r>
          </a:p>
          <a:p>
            <a:pPr lvl="1"/>
            <a:r>
              <a:rPr lang="en-US" altLang="en-US" sz="1600" dirty="0"/>
              <a:t> The sum of A and B is unchanged by the execution of the transaction</a:t>
            </a:r>
          </a:p>
          <a:p>
            <a:r>
              <a:rPr lang="en-US" altLang="en-US" sz="1600" dirty="0"/>
              <a:t>In general, consistency requirements include </a:t>
            </a:r>
          </a:p>
          <a:p>
            <a:pPr lvl="1"/>
            <a:r>
              <a:rPr lang="en-US" altLang="en-US" sz="1600" dirty="0"/>
              <a:t>Explicitly specified integrity constraints such as primary keys and foreign keys</a:t>
            </a:r>
          </a:p>
          <a:p>
            <a:pPr lvl="1"/>
            <a:r>
              <a:rPr lang="en-US" altLang="en-US" sz="1600" dirty="0"/>
              <a:t>Implicit integrity constraints</a:t>
            </a:r>
          </a:p>
          <a:p>
            <a:pPr lvl="2"/>
            <a:r>
              <a:rPr lang="en-US" altLang="en-US" sz="1600" dirty="0"/>
              <a:t>e.g., sum of balances of all accounts, minus sum of loan amounts must equal value of cash-in-hand</a:t>
            </a:r>
          </a:p>
          <a:p>
            <a:pPr lvl="1"/>
            <a:r>
              <a:rPr lang="en-US" altLang="en-US" sz="1600" dirty="0"/>
              <a:t>A transaction must see a consistent database.</a:t>
            </a:r>
          </a:p>
          <a:p>
            <a:pPr lvl="1"/>
            <a:r>
              <a:rPr lang="en-US" altLang="en-US" sz="1600" dirty="0"/>
              <a:t>During transaction execution the database may be temporarily inconsistent.</a:t>
            </a:r>
          </a:p>
          <a:p>
            <a:pPr lvl="1"/>
            <a:r>
              <a:rPr lang="en-US" altLang="en-US" sz="1600" dirty="0"/>
              <a:t>When the transaction completes successfully the database must be consistent</a:t>
            </a:r>
          </a:p>
          <a:p>
            <a:pPr lvl="2"/>
            <a:r>
              <a:rPr lang="en-US" altLang="en-US" sz="1600" dirty="0"/>
              <a:t>Erroneous transaction logic can lead to inconsistency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 (Cont.)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812350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Isolation requirement</a:t>
            </a:r>
            <a:r>
              <a:rPr lang="en-US" altLang="en-US" dirty="0"/>
              <a:t> — if between steps 3 and 6, another transaction T2 is allowed to access the partially updated database, it will see an inconsistent database (the sum  </a:t>
            </a:r>
            <a:r>
              <a:rPr lang="en-US" altLang="en-US" i="1" dirty="0"/>
              <a:t>A + B</a:t>
            </a:r>
            <a:r>
              <a:rPr lang="en-US" altLang="en-US" dirty="0"/>
              <a:t> will be less than it should be</a:t>
            </a:r>
            <a:r>
              <a:rPr lang="en-US" altLang="en-US" dirty="0" smtClean="0"/>
              <a:t>).</a:t>
            </a:r>
          </a:p>
          <a:p>
            <a:pPr marL="0" indent="0"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dirty="0" smtClean="0"/>
              <a:t>      </a:t>
            </a:r>
            <a:r>
              <a:rPr lang="en-US" altLang="en-US" b="1" dirty="0"/>
              <a:t>T1                                        T2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  <a:br>
              <a:rPr lang="en-US" altLang="en-US" sz="1600" dirty="0"/>
            </a:br>
            <a:r>
              <a:rPr lang="en-US" altLang="en-US" sz="1600" dirty="0"/>
              <a:t>                                      read(A), read(B), print(A+B)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Isolation can be ensured trivially by running transactions </a:t>
            </a:r>
            <a:r>
              <a:rPr lang="en-US" altLang="en-US" b="1" dirty="0">
                <a:solidFill>
                  <a:srgbClr val="000099"/>
                </a:solidFill>
              </a:rPr>
              <a:t>serially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That is, one after the other.   </a:t>
            </a:r>
          </a:p>
          <a:p>
            <a:r>
              <a:rPr lang="en-US" altLang="en-US" dirty="0"/>
              <a:t>However, executing multiple transactions concurrently has significant benefits, as we will see later</a:t>
            </a:r>
            <a:r>
              <a:rPr lang="en-US" altLang="en-US" dirty="0" smtClean="0"/>
              <a:t>. 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901295"/>
            <a:ext cx="7856738" cy="4569174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Atomicity</a:t>
            </a:r>
            <a:r>
              <a:rPr lang="en-US" altLang="en-US" b="1" dirty="0"/>
              <a:t>. </a:t>
            </a:r>
            <a:r>
              <a:rPr lang="en-US" altLang="en-US" dirty="0"/>
              <a:t> Either all operations of the transaction are properly reflected in the database or none are.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Consistency</a:t>
            </a:r>
            <a:r>
              <a:rPr lang="en-US" altLang="en-US" b="1" dirty="0"/>
              <a:t>.</a:t>
            </a:r>
            <a:r>
              <a:rPr lang="en-US" altLang="en-US" dirty="0"/>
              <a:t>  Execution of a transaction in isolation preserves the consistency of the database.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Isolation</a:t>
            </a:r>
            <a:r>
              <a:rPr lang="en-US" altLang="en-US" b="1" dirty="0"/>
              <a:t>.</a:t>
            </a:r>
            <a:r>
              <a:rPr lang="en-US" altLang="en-US" dirty="0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</a:p>
          <a:p>
            <a:pPr lvl="1"/>
            <a:r>
              <a:rPr lang="en-US" altLang="en-US" dirty="0"/>
              <a:t>That is, for every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it appears to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that either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finished execution before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started, 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started execution after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finished.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Durability</a:t>
            </a:r>
            <a:r>
              <a:rPr lang="en-US" altLang="en-US" b="1" dirty="0"/>
              <a:t>.  </a:t>
            </a:r>
            <a:r>
              <a:rPr lang="en-US" altLang="en-US" dirty="0"/>
              <a:t>After a transaction completes successfully, the changes it has made to the database persist, even if there are system failures. </a:t>
            </a:r>
            <a:endParaRPr lang="en-US" altLang="en-US" i="1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01336" y="1024131"/>
            <a:ext cx="7670307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700" dirty="0"/>
              <a:t>A  </a:t>
            </a:r>
            <a:r>
              <a:rPr kumimoji="1" lang="en-US" altLang="en-US" sz="1700" b="1" dirty="0">
                <a:solidFill>
                  <a:srgbClr val="000099"/>
                </a:solidFill>
              </a:rPr>
              <a:t>transaction</a:t>
            </a:r>
            <a:r>
              <a:rPr lang="en-US" altLang="en-US" sz="1700" dirty="0"/>
              <a:t>  is a unit of program execution that accesses and possibly updates various data </a:t>
            </a:r>
            <a:r>
              <a:rPr lang="en-US" altLang="en-US" sz="1700" dirty="0" smtClean="0"/>
              <a:t>items. To </a:t>
            </a:r>
            <a:r>
              <a:rPr lang="en-US" altLang="en-US" sz="1700" dirty="0"/>
              <a:t>preserve the integrity of data the database system must ensure: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85176" y="1019369"/>
            <a:ext cx="8811042" cy="3257067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Active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the initial state; the transaction stays in this state while it is executing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Partially committed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after the final statement has been executed.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Failed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sz="1600" b="1" dirty="0"/>
              <a:t>-- </a:t>
            </a:r>
            <a:r>
              <a:rPr lang="en-US" altLang="en-US" dirty="0"/>
              <a:t>after the discovery that normal execution can no longer proceed.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Aborted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after the transaction has been rolled back and the database restored to its state prior to the start of the transaction.  Two options after it has been aborted: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estart </a:t>
            </a:r>
            <a:r>
              <a:rPr lang="en-US" altLang="en-US" dirty="0"/>
              <a:t>the transaction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dirty="0" smtClean="0"/>
              <a:t>Can </a:t>
            </a:r>
            <a:r>
              <a:rPr lang="en-US" altLang="en-US" dirty="0"/>
              <a:t>be done only if no internal logical error</a:t>
            </a:r>
          </a:p>
          <a:p>
            <a:pPr lvl="1"/>
            <a:r>
              <a:rPr lang="en-US" altLang="en-US" dirty="0"/>
              <a:t>K</a:t>
            </a:r>
            <a:r>
              <a:rPr lang="en-US" altLang="en-US" dirty="0" smtClean="0"/>
              <a:t>ill </a:t>
            </a:r>
            <a:r>
              <a:rPr lang="en-US" altLang="en-US" dirty="0"/>
              <a:t>the transaction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Committed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after successful completion.</a:t>
            </a:r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083" y="3470709"/>
            <a:ext cx="4256808" cy="2924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Concurrent Executions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21672" y="1102497"/>
            <a:ext cx="8774545" cy="5367972"/>
          </a:xfrm>
        </p:spPr>
        <p:txBody>
          <a:bodyPr/>
          <a:lstStyle/>
          <a:p>
            <a:r>
              <a:rPr lang="en-US" altLang="en-US" dirty="0"/>
              <a:t>Multiple transactions are allowed to run concurrently in the system.  Advantages are:</a:t>
            </a:r>
          </a:p>
          <a:p>
            <a:pPr lvl="1"/>
            <a:r>
              <a:rPr lang="en-US" altLang="en-US" b="1" dirty="0"/>
              <a:t>Increased processor and disk utilization</a:t>
            </a:r>
            <a:r>
              <a:rPr lang="en-US" altLang="en-US" dirty="0"/>
              <a:t>, leading to better transaction </a:t>
            </a:r>
            <a:r>
              <a:rPr lang="en-US" altLang="en-US" i="1" dirty="0"/>
              <a:t>throughput</a:t>
            </a:r>
          </a:p>
          <a:p>
            <a:pPr lvl="2"/>
            <a:r>
              <a:rPr lang="en-US" altLang="en-US" dirty="0"/>
              <a:t>E</a:t>
            </a:r>
            <a:r>
              <a:rPr lang="en-US" altLang="en-US" dirty="0" smtClean="0"/>
              <a:t>.g</a:t>
            </a:r>
            <a:r>
              <a:rPr lang="en-US" altLang="en-US" dirty="0"/>
              <a:t>., one transaction can be using the CPU while another is reading from or writing to the </a:t>
            </a:r>
            <a:r>
              <a:rPr lang="en-US" altLang="en-US" dirty="0" smtClean="0"/>
              <a:t>disk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Better system throughput</a:t>
            </a:r>
          </a:p>
          <a:p>
            <a:pPr marL="857250" lvl="2" indent="0">
              <a:buNone/>
            </a:pPr>
            <a:endParaRPr lang="en-US" altLang="en-US" dirty="0"/>
          </a:p>
          <a:p>
            <a:pPr lvl="1"/>
            <a:r>
              <a:rPr lang="en-US" altLang="en-US" b="1" dirty="0"/>
              <a:t>Reduced average response time</a:t>
            </a:r>
            <a:r>
              <a:rPr lang="en-US" altLang="en-US" dirty="0"/>
              <a:t> for transactions: short transactions need not wait behind long ones</a:t>
            </a:r>
            <a:r>
              <a:rPr lang="en-US" altLang="en-US" dirty="0" smtClean="0"/>
              <a:t>.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Better response time</a:t>
            </a:r>
          </a:p>
          <a:p>
            <a:pPr lvl="2"/>
            <a:r>
              <a:rPr lang="en-US" dirty="0" smtClean="0">
                <a:solidFill>
                  <a:srgbClr val="00B050"/>
                </a:solidFill>
              </a:rPr>
              <a:t>Fairer</a:t>
            </a:r>
            <a:endParaRPr lang="en-US" altLang="en-US" dirty="0"/>
          </a:p>
          <a:p>
            <a:endParaRPr lang="en-US" altLang="en-US" b="1" dirty="0" smtClean="0">
              <a:solidFill>
                <a:srgbClr val="000099"/>
              </a:solidFill>
            </a:endParaRPr>
          </a:p>
          <a:p>
            <a:r>
              <a:rPr lang="en-US" altLang="en-US" b="1" dirty="0" smtClean="0">
                <a:solidFill>
                  <a:srgbClr val="000099"/>
                </a:solidFill>
              </a:rPr>
              <a:t>Concurrency </a:t>
            </a:r>
            <a:r>
              <a:rPr lang="en-US" altLang="en-US" b="1" dirty="0">
                <a:solidFill>
                  <a:srgbClr val="000099"/>
                </a:solidFill>
              </a:rPr>
              <a:t>control schemes</a:t>
            </a:r>
            <a:r>
              <a:rPr lang="en-US" altLang="en-US" i="1" dirty="0"/>
              <a:t> </a:t>
            </a:r>
            <a:r>
              <a:rPr lang="en-US" altLang="en-US" dirty="0"/>
              <a:t>– mechanisms  to achieve isolation</a:t>
            </a:r>
          </a:p>
          <a:p>
            <a:pPr lvl="1"/>
            <a:r>
              <a:rPr lang="en-US" altLang="en-US" dirty="0"/>
              <a:t>That is, to control the interaction among the concurrent transactions in order to prevent them from destroying the consistency of the </a:t>
            </a:r>
            <a:r>
              <a:rPr lang="en-US" altLang="en-US" dirty="0" smtClean="0"/>
              <a:t>database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97164" y="1102497"/>
            <a:ext cx="8349672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Schedule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 sequences of instructions that specify the chronological order in which instructions of concurrent transactions are executed</a:t>
            </a:r>
          </a:p>
          <a:p>
            <a:pPr lvl="1"/>
            <a:r>
              <a:rPr lang="en-US" altLang="en-US" dirty="0"/>
              <a:t>A schedule for a set of transactions must consist of all instructions of those transactions</a:t>
            </a:r>
          </a:p>
          <a:p>
            <a:pPr lvl="1"/>
            <a:r>
              <a:rPr lang="en-US" altLang="en-US" dirty="0"/>
              <a:t>Must preserve the order in which the instructions appear in each individual transaction.</a:t>
            </a:r>
          </a:p>
          <a:p>
            <a:endParaRPr lang="en-US" altLang="en-US" smtClean="0"/>
          </a:p>
          <a:p>
            <a:r>
              <a:rPr lang="en-US" altLang="en-US" smtClean="0"/>
              <a:t>A </a:t>
            </a:r>
            <a:r>
              <a:rPr lang="en-US" altLang="en-US" dirty="0"/>
              <a:t>transaction that successfully completes its execution will have a commit instructions as the last statement </a:t>
            </a:r>
          </a:p>
          <a:p>
            <a:pPr lvl="1"/>
            <a:r>
              <a:rPr lang="en-US" altLang="en-US" dirty="0"/>
              <a:t>By default transaction assumed to execute commit instruction as its last step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A </a:t>
            </a:r>
            <a:r>
              <a:rPr lang="en-US" altLang="en-US" dirty="0"/>
              <a:t>transaction that fails to successfully complete its execution will have an abort instruction as the last statement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1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67855" y="1111733"/>
            <a:ext cx="8294253" cy="5367972"/>
          </a:xfrm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transfer </a:t>
            </a:r>
            <a:r>
              <a:rPr lang="en-US" altLang="en-US" dirty="0" smtClean="0"/>
              <a:t>Rs50 </a:t>
            </a:r>
            <a:r>
              <a:rPr lang="en-US" altLang="en-US" dirty="0"/>
              <a:t>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</a:t>
            </a:r>
            <a:r>
              <a:rPr lang="en-US" altLang="en-US" dirty="0"/>
              <a:t>,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transfer 10% of the balance 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B.</a:t>
            </a:r>
            <a:r>
              <a:rPr lang="en-US" altLang="en-US" dirty="0"/>
              <a:t>  </a:t>
            </a:r>
          </a:p>
          <a:p>
            <a:pPr>
              <a:lnSpc>
                <a:spcPct val="8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000099"/>
                </a:solidFill>
              </a:rPr>
              <a:t>serial </a:t>
            </a:r>
            <a:r>
              <a:rPr lang="en-US" altLang="en-US" dirty="0"/>
              <a:t>schedule in which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is followed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:</a:t>
            </a:r>
          </a:p>
          <a:p>
            <a:pPr>
              <a:lnSpc>
                <a:spcPct val="8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400" dirty="0"/>
              <a:t>		</a:t>
            </a:r>
          </a:p>
        </p:txBody>
      </p:sp>
      <p:pic>
        <p:nvPicPr>
          <p:cNvPr id="15364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078" y="2324500"/>
            <a:ext cx="3016250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2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A serial schedule where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  <a:r>
              <a:rPr lang="en-US" altLang="en-US" dirty="0"/>
              <a:t> is followed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</a:p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638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1738313"/>
            <a:ext cx="2898775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3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idx="1"/>
          </p:nvPr>
        </p:nvSpPr>
        <p:spPr>
          <a:xfrm>
            <a:off x="341745" y="1102497"/>
            <a:ext cx="8368146" cy="5367972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 smtClean="0"/>
              <a:t>Let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/>
              <a:t>transfer </a:t>
            </a:r>
            <a:r>
              <a:rPr lang="en-US" altLang="en-US" smtClean="0"/>
              <a:t>Rs50 </a:t>
            </a:r>
            <a:r>
              <a:rPr lang="en-US" altLang="en-US" dirty="0"/>
              <a:t>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</a:t>
            </a:r>
            <a:r>
              <a:rPr lang="en-US" altLang="en-US" dirty="0"/>
              <a:t>,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transfer 10% of the balance 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B.</a:t>
            </a:r>
            <a:r>
              <a:rPr lang="en-US" altLang="en-US" dirty="0"/>
              <a:t>  </a:t>
            </a: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 smtClean="0"/>
              <a:t>The </a:t>
            </a:r>
            <a:r>
              <a:rPr lang="en-US" altLang="en-US" dirty="0"/>
              <a:t>following schedule is not a serial schedule, but it is </a:t>
            </a:r>
            <a:r>
              <a:rPr lang="en-US" altLang="en-US" i="1" dirty="0">
                <a:solidFill>
                  <a:srgbClr val="000099"/>
                </a:solidFill>
              </a:rPr>
              <a:t>equivalent</a:t>
            </a:r>
            <a:r>
              <a:rPr lang="en-US" altLang="en-US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to Schedule </a:t>
            </a:r>
            <a:r>
              <a:rPr lang="en-US" altLang="en-US" dirty="0" smtClean="0"/>
              <a:t>1</a:t>
            </a:r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 dirty="0" smtClean="0">
                <a:latin typeface="Arial" panose="020B0604020202020204" pitchFamily="34" charset="0"/>
              </a:rPr>
              <a:t>In </a:t>
            </a:r>
            <a:r>
              <a:rPr lang="en-US" altLang="en-US" sz="1600" dirty="0">
                <a:latin typeface="Arial" panose="020B0604020202020204" pitchFamily="34" charset="0"/>
              </a:rPr>
              <a:t>Schedules 1, 2 and 3, the sum A + B is preserved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741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3" y="1905000"/>
            <a:ext cx="2779712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4</a:t>
            </a:r>
          </a:p>
        </p:txBody>
      </p:sp>
      <p:sp>
        <p:nvSpPr>
          <p:cNvPr id="18435" name="Rectangle 4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The following concurrent schedule does not preserve the value of (</a:t>
            </a:r>
            <a:r>
              <a:rPr lang="en-US" altLang="en-US" i="1" dirty="0"/>
              <a:t>A </a:t>
            </a:r>
            <a:r>
              <a:rPr lang="en-US" altLang="en-US" dirty="0"/>
              <a:t>+ </a:t>
            </a:r>
            <a:r>
              <a:rPr lang="en-US" altLang="en-US" i="1" dirty="0"/>
              <a:t>B</a:t>
            </a:r>
            <a:r>
              <a:rPr lang="en-US" altLang="en-US" dirty="0"/>
              <a:t> </a:t>
            </a:r>
            <a:r>
              <a:rPr lang="en-US" altLang="en-US" i="1" dirty="0"/>
              <a:t>)</a:t>
            </a:r>
            <a:r>
              <a:rPr lang="en-US" altLang="en-US" dirty="0"/>
              <a:t>.			</a:t>
            </a:r>
            <a:endParaRPr lang="en-US" altLang="en-US" i="1" dirty="0"/>
          </a:p>
        </p:txBody>
      </p:sp>
      <p:pic>
        <p:nvPicPr>
          <p:cNvPr id="18436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1630359"/>
            <a:ext cx="2713038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Serializability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046083" cy="5367972"/>
          </a:xfrm>
        </p:spPr>
        <p:txBody>
          <a:bodyPr/>
          <a:lstStyle/>
          <a:p>
            <a:r>
              <a:rPr lang="en-US" altLang="en-US" b="1" dirty="0"/>
              <a:t>Basic Assumption</a:t>
            </a:r>
            <a:r>
              <a:rPr lang="en-US" altLang="en-US" dirty="0"/>
              <a:t> – Each transaction preserves database consistency.</a:t>
            </a:r>
          </a:p>
          <a:p>
            <a:r>
              <a:rPr lang="en-US" altLang="en-US" dirty="0"/>
              <a:t>Thus, serial execution of a set of transactions preserves database consistency.</a:t>
            </a:r>
          </a:p>
          <a:p>
            <a:r>
              <a:rPr lang="en-US" altLang="en-US" dirty="0"/>
              <a:t>A (possibly concurrent) schedule is serializable if it is equivalent to a serial schedule.  Different forms of schedule equivalence give rise to the notions of: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1.	</a:t>
            </a:r>
            <a:r>
              <a:rPr lang="en-US" altLang="en-US" b="1" dirty="0">
                <a:solidFill>
                  <a:srgbClr val="000099"/>
                </a:solidFill>
              </a:rPr>
              <a:t>C</a:t>
            </a:r>
            <a:r>
              <a:rPr lang="en-US" altLang="en-US" b="1" dirty="0" smtClean="0">
                <a:solidFill>
                  <a:srgbClr val="000099"/>
                </a:solidFill>
              </a:rPr>
              <a:t>onflict </a:t>
            </a:r>
            <a:r>
              <a:rPr lang="en-US" altLang="en-US" b="1" dirty="0">
                <a:solidFill>
                  <a:srgbClr val="000099"/>
                </a:solidFill>
              </a:rPr>
              <a:t>serializability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2.	</a:t>
            </a:r>
            <a:r>
              <a:rPr lang="en-US" altLang="en-US" b="1" dirty="0">
                <a:solidFill>
                  <a:srgbClr val="000099"/>
                </a:solidFill>
              </a:rPr>
              <a:t>V</a:t>
            </a:r>
            <a:r>
              <a:rPr lang="en-US" altLang="en-US" b="1" dirty="0" smtClean="0">
                <a:solidFill>
                  <a:srgbClr val="000099"/>
                </a:solidFill>
              </a:rPr>
              <a:t>iew </a:t>
            </a:r>
            <a:r>
              <a:rPr lang="en-US" altLang="en-US" b="1" dirty="0">
                <a:solidFill>
                  <a:srgbClr val="000099"/>
                </a:solidFill>
              </a:rPr>
              <a:t>serializability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Serializable Schedules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Two schedules are said to be </a:t>
            </a:r>
            <a:r>
              <a:rPr lang="en-US" sz="2600" i="1" dirty="0" smtClean="0">
                <a:solidFill>
                  <a:srgbClr val="0070C0"/>
                </a:solidFill>
              </a:rPr>
              <a:t>equivalent</a:t>
            </a:r>
            <a:r>
              <a:rPr lang="en-US" sz="2600" dirty="0" smtClean="0"/>
              <a:t> if for </a:t>
            </a:r>
            <a:r>
              <a:rPr lang="en-US" sz="2600" dirty="0"/>
              <a:t>any database state, the effect </a:t>
            </a:r>
            <a:r>
              <a:rPr lang="en-US" sz="2600" dirty="0" smtClean="0"/>
              <a:t>of </a:t>
            </a:r>
            <a:r>
              <a:rPr lang="en-US" sz="2600" dirty="0"/>
              <a:t>executing the </a:t>
            </a:r>
            <a:r>
              <a:rPr lang="en-US" sz="2600" dirty="0" smtClean="0"/>
              <a:t>1st </a:t>
            </a:r>
            <a:r>
              <a:rPr lang="en-US" sz="2600" dirty="0"/>
              <a:t>schedule is </a:t>
            </a:r>
            <a:r>
              <a:rPr lang="en-US" sz="2600" u="sng" dirty="0"/>
              <a:t>identical</a:t>
            </a:r>
            <a:r>
              <a:rPr lang="en-US" sz="2600" dirty="0"/>
              <a:t> to the effect of executing the </a:t>
            </a:r>
            <a:r>
              <a:rPr lang="en-US" sz="2600" dirty="0" smtClean="0"/>
              <a:t>2nd schedule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 </a:t>
            </a:r>
            <a:r>
              <a:rPr lang="en-US" sz="2600" dirty="0" smtClean="0">
                <a:solidFill>
                  <a:srgbClr val="0070C0"/>
                </a:solidFill>
              </a:rPr>
              <a:t>serializable schedule </a:t>
            </a:r>
            <a:r>
              <a:rPr lang="en-US" sz="2600" dirty="0" smtClean="0"/>
              <a:t>is a </a:t>
            </a:r>
            <a:r>
              <a:rPr lang="en-US" sz="2600" dirty="0"/>
              <a:t>schedule that is equivalent to </a:t>
            </a:r>
            <a:r>
              <a:rPr lang="en-US" sz="2600" dirty="0" smtClean="0"/>
              <a:t>a serial schedule</a:t>
            </a:r>
            <a:endParaRPr lang="en-US" sz="2600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520778" y="370104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58778" y="392964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1766" y="35984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T1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0282" y="36023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5731" y="3913226"/>
            <a:ext cx="8451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721" y="3929644"/>
            <a:ext cx="8451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6434984"/>
            <a:ext cx="2397772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Serializable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Schedule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4821247" y="3700668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059247" y="3929268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2235" y="35981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T1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40751" y="36019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6200" y="3912850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55190" y="3929268"/>
            <a:ext cx="84510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2400" y="6434608"/>
            <a:ext cx="179408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Serial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Schedule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Striped Right Arrow 1"/>
          <p:cNvSpPr/>
          <p:nvPr/>
        </p:nvSpPr>
        <p:spPr>
          <a:xfrm>
            <a:off x="2438400" y="4419600"/>
            <a:ext cx="1371600" cy="892214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Equivalent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7807754" y="368425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45754" y="391285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38742" y="358169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T1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27258" y="35855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72707" y="3896432"/>
            <a:ext cx="8451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41697" y="3912850"/>
            <a:ext cx="8451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W(B)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2501" y="6418190"/>
            <a:ext cx="297293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Another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Serializable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Schedule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Striped Right Arrow 33"/>
          <p:cNvSpPr/>
          <p:nvPr/>
        </p:nvSpPr>
        <p:spPr>
          <a:xfrm rot="10800000">
            <a:off x="5411995" y="4345513"/>
            <a:ext cx="1371600" cy="892214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99296" y="4606954"/>
            <a:ext cx="1166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Equivalent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55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7" grpId="0"/>
      <p:bldP spid="18" grpId="0"/>
      <p:bldP spid="19" grpId="0"/>
      <p:bldP spid="20" grpId="0"/>
      <p:bldP spid="21" grpId="0" animBg="1"/>
      <p:bldP spid="2" grpId="0" animBg="1"/>
      <p:bldP spid="26" grpId="0"/>
      <p:bldP spid="27" grpId="0"/>
      <p:bldP spid="28" grpId="0"/>
      <p:bldP spid="29" grpId="0"/>
      <p:bldP spid="30" grpId="0" animBg="1"/>
      <p:bldP spid="34" grpId="0" animBg="1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Examples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transactions T1 and T2 as follows:</a:t>
            </a: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>
              <a:buFont typeface="Wingdings" pitchFamily="2" charset="2"/>
              <a:buChar char="§"/>
            </a:pPr>
            <a:endParaRPr lang="en-US" i="1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T1 can be thought of as transferring </a:t>
            </a:r>
            <a:r>
              <a:rPr lang="en-US" sz="2800" dirty="0" smtClean="0"/>
              <a:t>$100 </a:t>
            </a:r>
            <a:r>
              <a:rPr lang="en-US" sz="2800" dirty="0"/>
              <a:t>from </a:t>
            </a:r>
            <a:r>
              <a:rPr lang="en-US" sz="2800" dirty="0" smtClean="0"/>
              <a:t>A’s </a:t>
            </a:r>
            <a:r>
              <a:rPr lang="en-US" sz="2800" dirty="0"/>
              <a:t>account to </a:t>
            </a:r>
            <a:r>
              <a:rPr lang="en-US" sz="2800" dirty="0" smtClean="0"/>
              <a:t>B’s account</a:t>
            </a:r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T2 can be thought of as crediting accounts A and B with </a:t>
            </a:r>
            <a:r>
              <a:rPr lang="en-US" sz="2800" dirty="0"/>
              <a:t>a 6% interest payment</a:t>
            </a:r>
            <a:endParaRPr lang="en-US" sz="2800" i="1" dirty="0" smtClean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2362200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T1:	BEGIN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A=A-100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,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B=B +100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T2:	BEGIN   A=1.06*A,   B=1.06*B   END</a:t>
            </a:r>
          </a:p>
        </p:txBody>
      </p:sp>
    </p:spTree>
    <p:extLst>
      <p:ext uri="{BB962C8B-B14F-4D97-AF65-F5344CB8AC3E}">
        <p14:creationId xmlns:p14="http://schemas.microsoft.com/office/powerpoint/2010/main" val="261447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10263" y="4694608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Folded Corner 1"/>
          <p:cNvSpPr/>
          <p:nvPr/>
        </p:nvSpPr>
        <p:spPr>
          <a:xfrm>
            <a:off x="1847294" y="464820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Examples: A </a:t>
            </a:r>
            <a:r>
              <a:rPr lang="en-US" i="1" dirty="0" smtClean="0">
                <a:ea typeface="ＭＳ Ｐゴシック" pitchFamily="34" charset="-128"/>
              </a:rPr>
              <a:t>Serial</a:t>
            </a:r>
            <a:r>
              <a:rPr lang="en-US" dirty="0" smtClean="0">
                <a:ea typeface="ＭＳ Ｐゴシック" pitchFamily="34" charset="-128"/>
              </a:rPr>
              <a:t> Schedule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transactions T1 and T2 as follows:</a:t>
            </a: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2362200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T1:	BEGIN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A=A-100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,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B=B +100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T2:	BEGIN   A=1.06*A,   B=1.06*B  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16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83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95700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T1: Transfer $100 from A to 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59973" y="3678238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T2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Add interest of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6% to A and 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286000" y="4038600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286000" y="4038600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09763" y="42672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367463" y="4021138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48363" y="42545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0163" y="52578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596199" y="4021138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09913" y="52197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16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=1060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383506" y="4924425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519969" y="4924425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0046" y="630750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A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73015" y="6353916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B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50500" y="525602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=1060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85394" y="5256434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=960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8363" y="525602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=1160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0480" y="5241777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6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7" grpId="0" animBg="1"/>
      <p:bldP spid="19" grpId="0" animBg="1"/>
      <p:bldP spid="21" grpId="0" animBg="1"/>
      <p:bldP spid="24" grpId="0" animBg="1"/>
      <p:bldP spid="25" grpId="0" animBg="1"/>
      <p:bldP spid="25" grpId="1" animBg="1"/>
      <p:bldP spid="27" grpId="0" animBg="1"/>
      <p:bldP spid="28" grpId="0" animBg="1"/>
      <p:bldP spid="3" grpId="0"/>
      <p:bldP spid="32" grpId="0"/>
      <p:bldP spid="20" grpId="0" animBg="1"/>
      <p:bldP spid="20" grpId="1" animBg="1"/>
      <p:bldP spid="16" grpId="0" animBg="1"/>
      <p:bldP spid="16" grpId="1" animBg="1"/>
      <p:bldP spid="22" grpId="0" animBg="1"/>
      <p:bldP spid="22" grpId="1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10263" y="4694608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Folded Corner 1"/>
          <p:cNvSpPr/>
          <p:nvPr/>
        </p:nvSpPr>
        <p:spPr>
          <a:xfrm>
            <a:off x="1847294" y="464820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Examples: Another </a:t>
            </a:r>
            <a:r>
              <a:rPr lang="en-US" i="1" dirty="0" smtClean="0">
                <a:ea typeface="ＭＳ Ｐゴシック" pitchFamily="34" charset="-128"/>
              </a:rPr>
              <a:t>Serial</a:t>
            </a:r>
            <a:r>
              <a:rPr lang="en-US" dirty="0" smtClean="0">
                <a:ea typeface="ＭＳ Ｐゴシック" pitchFamily="34" charset="-128"/>
              </a:rPr>
              <a:t> Schedule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transactions T1 and T2 as follows:</a:t>
            </a: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2362200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T1:	BEGIN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A=A-100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,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B=B +100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T2:	BEGIN   A=1.06*A,   B=1.06*B  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16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83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95700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T1: Transfer $100 from A to 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59973" y="3678238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T2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Add interest of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6% to A and 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286000" y="4038600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286000" y="4038600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85394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=900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09763" y="42672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367463" y="4021138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48363" y="42545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10163" y="52578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0111" y="5259935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=1100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596199" y="4021138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09913" y="52197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85394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=954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447800" y="4964660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519969" y="4985015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0046" y="630750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A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73015" y="6353916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B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56909" y="525602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=1166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00271" y="5753510"/>
            <a:ext cx="1871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Previously: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A = </a:t>
            </a:r>
            <a:r>
              <a:rPr kumimoji="0" 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B = </a:t>
            </a:r>
            <a:r>
              <a:rPr kumimoji="0" 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1160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23210" y="4953000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5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6" grpId="0" animBg="1"/>
      <p:bldP spid="16" grpId="1" animBg="1"/>
      <p:bldP spid="17" grpId="0" animBg="1"/>
      <p:bldP spid="19" grpId="0" animBg="1"/>
      <p:bldP spid="21" grpId="0" animBg="1"/>
      <p:bldP spid="22" grpId="0" animBg="1"/>
      <p:bldP spid="22" grpId="1" animBg="1"/>
      <p:bldP spid="24" grpId="0" animBg="1"/>
      <p:bldP spid="25" grpId="0" animBg="1"/>
      <p:bldP spid="25" grpId="1" animBg="1"/>
      <p:bldP spid="27" grpId="0" animBg="1"/>
      <p:bldP spid="28" grpId="0" animBg="1"/>
      <p:bldP spid="3" grpId="0"/>
      <p:bldP spid="32" grpId="0"/>
      <p:bldP spid="20" grpId="0" animBg="1"/>
      <p:bldP spid="20" grpId="1" animBg="1"/>
      <p:bldP spid="2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10263" y="4694608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Folded Corner 1"/>
          <p:cNvSpPr/>
          <p:nvPr/>
        </p:nvSpPr>
        <p:spPr>
          <a:xfrm>
            <a:off x="1847294" y="464820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Examples: A </a:t>
            </a:r>
            <a:r>
              <a:rPr lang="en-US" i="1" dirty="0" smtClean="0">
                <a:ea typeface="ＭＳ Ｐゴシック" pitchFamily="34" charset="-128"/>
              </a:rPr>
              <a:t>Serializable</a:t>
            </a:r>
            <a:r>
              <a:rPr lang="en-US" dirty="0" smtClean="0">
                <a:ea typeface="ＭＳ Ｐゴシック" pitchFamily="34" charset="-128"/>
              </a:rPr>
              <a:t> Schedule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transactions T1 and T2 as follows:</a:t>
            </a: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2362200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T1:	BEGIN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A=A-100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,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B=B +100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T2:	BEGIN   A=1.06*A,   B=1.06*B  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16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83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95700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T1: Transfer $100 from A to 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59973" y="3678238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T2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Add interest of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6% to A and 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286000" y="4038600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286000" y="4038600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85394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=900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09763" y="42672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367463" y="4021138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48363" y="42545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10163" y="52578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60111" y="5259935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=1100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596199" y="4021138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09913" y="52197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885394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=954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383506" y="4953000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536406" y="4980980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0046" y="630750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A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73015" y="6353916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B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56909" y="525602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=1166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28831" y="5753510"/>
            <a:ext cx="2814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Previous Serial Schedule: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A = </a:t>
            </a:r>
            <a:r>
              <a:rPr kumimoji="0" 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954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 B = </a:t>
            </a:r>
            <a:r>
              <a:rPr kumimoji="0" 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1166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23210" y="4953000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79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6" grpId="0" animBg="1"/>
      <p:bldP spid="16" grpId="1" animBg="1"/>
      <p:bldP spid="17" grpId="0" animBg="1"/>
      <p:bldP spid="19" grpId="0" animBg="1"/>
      <p:bldP spid="21" grpId="0" animBg="1"/>
      <p:bldP spid="22" grpId="0" animBg="1"/>
      <p:bldP spid="22" grpId="1" animBg="1"/>
      <p:bldP spid="24" grpId="0" animBg="1"/>
      <p:bldP spid="25" grpId="0" animBg="1"/>
      <p:bldP spid="25" grpId="1" animBg="1"/>
      <p:bldP spid="27" grpId="0" animBg="1"/>
      <p:bldP spid="28" grpId="0" animBg="1"/>
      <p:bldP spid="3" grpId="0"/>
      <p:bldP spid="32" grpId="0"/>
      <p:bldP spid="20" grpId="0" animBg="1"/>
      <p:bldP spid="20" grpId="1" animBg="1"/>
      <p:bldP spid="29" grpId="0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  <a:ea typeface="ＭＳ Ｐゴシック" pitchFamily="34" charset="-128"/>
              </a:rPr>
              <a:t>Anomalies Due to Concurrency</a:t>
            </a:r>
            <a:endParaRPr lang="en-US" dirty="0" smtClean="0">
              <a:solidFill>
                <a:srgbClr val="0070C0"/>
              </a:solidFill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Interleaving actions of different transactions can leave the database in an </a:t>
            </a:r>
            <a:r>
              <a:rPr lang="en-US" sz="2800" dirty="0" smtClean="0">
                <a:solidFill>
                  <a:srgbClr val="0070C0"/>
                </a:solidFill>
              </a:rPr>
              <a:t>inconsistent state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Two actions on the same data object are said to </a:t>
            </a:r>
            <a:r>
              <a:rPr lang="en-US" sz="2800" b="1" i="1" dirty="0" smtClean="0"/>
              <a:t>conflict</a:t>
            </a:r>
            <a:r>
              <a:rPr lang="en-US" sz="2800" dirty="0" smtClean="0"/>
              <a:t> if at least one of them is a write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There are 3 </a:t>
            </a:r>
            <a:r>
              <a:rPr lang="en-US" sz="2800" dirty="0" smtClean="0">
                <a:solidFill>
                  <a:srgbClr val="0070C0"/>
                </a:solidFill>
              </a:rPr>
              <a:t>anomalies</a:t>
            </a:r>
            <a:r>
              <a:rPr lang="en-US" sz="2800" dirty="0" smtClean="0"/>
              <a:t> that can arise upon interleaving actions of different transactions (say, T1 and T2):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B050"/>
                </a:solidFill>
              </a:rPr>
              <a:t>Write-Read (WR) Conflict</a:t>
            </a:r>
            <a:r>
              <a:rPr lang="en-US" sz="2600" dirty="0" smtClean="0"/>
              <a:t>: T2 reads a data object previously written by T1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B050"/>
                </a:solidFill>
              </a:rPr>
              <a:t>Read-Write (RW) Conflict</a:t>
            </a:r>
            <a:r>
              <a:rPr lang="en-US" sz="2600" dirty="0" smtClean="0"/>
              <a:t>: T2 writes a data object previously read by T1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B050"/>
                </a:solidFill>
              </a:rPr>
              <a:t>Write-Write (WW) Conflict</a:t>
            </a:r>
            <a:r>
              <a:rPr lang="en-US" sz="2600" dirty="0" smtClean="0"/>
              <a:t>: T2 writes a data object previously written by T1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01116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WR conflicts arise when transaction T2 reads a data object A that has been modified by another transaction T1, </a:t>
            </a:r>
            <a:r>
              <a:rPr lang="en-US" sz="2600" i="1" dirty="0" smtClean="0"/>
              <a:t>which has not yet committed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Such a read is called a </a:t>
            </a:r>
            <a:r>
              <a:rPr lang="en-US" sz="2600" dirty="0" smtClean="0">
                <a:solidFill>
                  <a:srgbClr val="FF0000"/>
                </a:solidFill>
              </a:rPr>
              <a:t>dirty read</a:t>
            </a:r>
          </a:p>
          <a:p>
            <a:pPr lvl="1">
              <a:buFont typeface="Wingdings" pitchFamily="2" charset="2"/>
              <a:buChar char="§"/>
            </a:pPr>
            <a:endParaRPr lang="en-US" sz="26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Assume T1 and T2 such that: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T1 transfers </a:t>
            </a:r>
            <a:r>
              <a:rPr lang="en-US" sz="2400" dirty="0" smtClean="0"/>
              <a:t>$100 </a:t>
            </a:r>
            <a:r>
              <a:rPr lang="en-US" sz="2400" dirty="0"/>
              <a:t>from </a:t>
            </a:r>
            <a:r>
              <a:rPr lang="en-US" sz="2400" dirty="0" smtClean="0"/>
              <a:t>A’s </a:t>
            </a:r>
            <a:r>
              <a:rPr lang="en-US" sz="2400" dirty="0"/>
              <a:t>account to </a:t>
            </a:r>
            <a:r>
              <a:rPr lang="en-US" sz="2400" dirty="0" smtClean="0"/>
              <a:t>B’s account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T2 credits </a:t>
            </a:r>
            <a:r>
              <a:rPr lang="en-US" sz="2400" dirty="0"/>
              <a:t>accounts A and B with a 6% interest payment</a:t>
            </a:r>
            <a:endParaRPr lang="en-US" sz="2400" i="1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752600" y="5339697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2000" dirty="0">
                <a:latin typeface="Book Antiqua" pitchFamily="18" charset="0"/>
              </a:rPr>
              <a:t>T1:	BEGIN   </a:t>
            </a:r>
            <a:r>
              <a:rPr lang="en-US" sz="2000" dirty="0" smtClean="0">
                <a:latin typeface="Book Antiqua" pitchFamily="18" charset="0"/>
              </a:rPr>
              <a:t>A=A-100</a:t>
            </a:r>
            <a:r>
              <a:rPr lang="en-US" sz="2000" dirty="0">
                <a:latin typeface="Book Antiqua" pitchFamily="18" charset="0"/>
              </a:rPr>
              <a:t>,   </a:t>
            </a:r>
            <a:r>
              <a:rPr lang="en-US" sz="2000" dirty="0" smtClean="0">
                <a:latin typeface="Book Antiqua" pitchFamily="18" charset="0"/>
              </a:rPr>
              <a:t>B=B +100   </a:t>
            </a:r>
            <a:r>
              <a:rPr lang="en-US" sz="2000" dirty="0">
                <a:latin typeface="Book Antiqua" pitchFamily="18" charset="0"/>
              </a:rPr>
              <a:t>END</a:t>
            </a:r>
          </a:p>
          <a:p>
            <a:r>
              <a:rPr lang="en-US" sz="2000" dirty="0">
                <a:latin typeface="Book Antiqua" pitchFamily="18" charset="0"/>
              </a:rPr>
              <a:t>T2:	BEGIN   A=1.06*A,   B=1.06*B   END</a:t>
            </a:r>
          </a:p>
        </p:txBody>
      </p:sp>
    </p:spTree>
    <p:extLst>
      <p:ext uri="{BB962C8B-B14F-4D97-AF65-F5344CB8AC3E}">
        <p14:creationId xmlns:p14="http://schemas.microsoft.com/office/powerpoint/2010/main" val="316345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Suppose that T1 and T2 actions are </a:t>
            </a:r>
            <a:r>
              <a:rPr lang="en-US" sz="2600" i="1" dirty="0" smtClean="0"/>
              <a:t>interleaved</a:t>
            </a:r>
            <a:r>
              <a:rPr lang="en-US" sz="2600" dirty="0" smtClean="0"/>
              <a:t>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deducts </a:t>
            </a:r>
            <a:r>
              <a:rPr lang="en-US" sz="2200" dirty="0" smtClean="0"/>
              <a:t>$100 </a:t>
            </a:r>
            <a:r>
              <a:rPr lang="en-US" sz="2200" dirty="0" smtClean="0"/>
              <a:t>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adds 6% interest to accounts A and B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credits </a:t>
            </a:r>
            <a:r>
              <a:rPr lang="en-US" sz="2200" dirty="0" smtClean="0"/>
              <a:t>$100 </a:t>
            </a:r>
            <a:r>
              <a:rPr lang="en-US" sz="2200" dirty="0" smtClean="0"/>
              <a:t>to account B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29" name="Folded Corner 28"/>
          <p:cNvSpPr/>
          <p:nvPr/>
        </p:nvSpPr>
        <p:spPr>
          <a:xfrm>
            <a:off x="5910263" y="450662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olded Corner 29"/>
          <p:cNvSpPr/>
          <p:nvPr/>
        </p:nvSpPr>
        <p:spPr>
          <a:xfrm>
            <a:off x="1847294" y="446021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71663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8363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50771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Transfer $100 from A to 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59973" y="349025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Add interest of </a:t>
            </a:r>
            <a:r>
              <a:rPr lang="en-US" sz="1600" dirty="0" smtClean="0">
                <a:solidFill>
                  <a:srgbClr val="0000FF"/>
                </a:solidFill>
              </a:rPr>
              <a:t>6% to A and B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10046" y="6119520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A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5773015" y="616592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4126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8" grpId="0"/>
      <p:bldP spid="4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Suppose that T1 and T2 actions are </a:t>
            </a:r>
            <a:r>
              <a:rPr lang="en-US" sz="2600" i="1" dirty="0" smtClean="0"/>
              <a:t>interleaved</a:t>
            </a:r>
            <a:r>
              <a:rPr lang="en-US" sz="2600" dirty="0" smtClean="0"/>
              <a:t>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adds 6% interest to accounts A and B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credits $100 to account B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29" name="Folded Corner 28"/>
          <p:cNvSpPr/>
          <p:nvPr/>
        </p:nvSpPr>
        <p:spPr>
          <a:xfrm>
            <a:off x="5910263" y="450662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olded Corner 29"/>
          <p:cNvSpPr/>
          <p:nvPr/>
        </p:nvSpPr>
        <p:spPr>
          <a:xfrm>
            <a:off x="1847294" y="446021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71663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8363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50771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Transfer $100 from A to 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59973" y="349025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Add interest of </a:t>
            </a:r>
            <a:r>
              <a:rPr lang="en-US" sz="1600" dirty="0" smtClean="0">
                <a:solidFill>
                  <a:srgbClr val="0000FF"/>
                </a:solidFill>
              </a:rPr>
              <a:t>6% to A and B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35" name="Straight Arrow Connector 34"/>
          <p:cNvCxnSpPr>
            <a:stCxn id="33" idx="2"/>
            <a:endCxn id="31" idx="0"/>
          </p:cNvCxnSpPr>
          <p:nvPr/>
        </p:nvCxnSpPr>
        <p:spPr>
          <a:xfrm>
            <a:off x="2286000" y="3850612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3" idx="2"/>
            <a:endCxn id="32" idx="1"/>
          </p:cNvCxnSpPr>
          <p:nvPr/>
        </p:nvCxnSpPr>
        <p:spPr>
          <a:xfrm>
            <a:off x="2286000" y="3850612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885394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909763" y="407921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1</a:t>
            </a:r>
          </a:p>
        </p:txBody>
      </p:sp>
      <p:cxnSp>
        <p:nvCxnSpPr>
          <p:cNvPr id="39" name="Straight Arrow Connector 38"/>
          <p:cNvCxnSpPr>
            <a:stCxn id="34" idx="2"/>
            <a:endCxn id="32" idx="0"/>
          </p:cNvCxnSpPr>
          <p:nvPr/>
        </p:nvCxnSpPr>
        <p:spPr>
          <a:xfrm flipH="1">
            <a:off x="6367463" y="3833150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948363" y="406651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41" name="Rectangle 40"/>
          <p:cNvSpPr/>
          <p:nvPr/>
        </p:nvSpPr>
        <p:spPr>
          <a:xfrm>
            <a:off x="5110163" y="506981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4</a:t>
            </a:r>
          </a:p>
        </p:txBody>
      </p:sp>
      <p:cxnSp>
        <p:nvCxnSpPr>
          <p:cNvPr id="43" name="Straight Arrow Connector 42"/>
          <p:cNvCxnSpPr>
            <a:stCxn id="34" idx="2"/>
          </p:cNvCxnSpPr>
          <p:nvPr/>
        </p:nvCxnSpPr>
        <p:spPr>
          <a:xfrm flipH="1">
            <a:off x="2596199" y="3833150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109913" y="503171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85394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=954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1447800" y="4776672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519969" y="477453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710046" y="6119520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A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5773015" y="616592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B</a:t>
            </a:r>
            <a:endParaRPr lang="en-US" b="1" dirty="0"/>
          </a:p>
        </p:txBody>
      </p:sp>
      <p:sp>
        <p:nvSpPr>
          <p:cNvPr id="51" name="Rectangle 50"/>
          <p:cNvSpPr/>
          <p:nvPr/>
        </p:nvSpPr>
        <p:spPr>
          <a:xfrm>
            <a:off x="5954237" y="5071947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=1060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954237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=1160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52" name="Picture 3" descr="C:\Users\vkolar\AppData\Local\Microsoft\Windows\Temporary Internet Files\Content.IE5\HRUY4RJ7\MC90044152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9406" y="3235828"/>
            <a:ext cx="1047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Box 52"/>
          <p:cNvSpPr txBox="1"/>
          <p:nvPr/>
        </p:nvSpPr>
        <p:spPr>
          <a:xfrm>
            <a:off x="2722592" y="5380672"/>
            <a:ext cx="32271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rgbClr val="FF0000"/>
                </a:solidFill>
              </a:rPr>
              <a:t>Different than any </a:t>
            </a:r>
            <a:br>
              <a:rPr lang="en-US" b="1" i="1" dirty="0" smtClean="0">
                <a:solidFill>
                  <a:srgbClr val="FF0000"/>
                </a:solidFill>
              </a:rPr>
            </a:br>
            <a:r>
              <a:rPr lang="en-US" b="1" i="1" dirty="0" smtClean="0">
                <a:solidFill>
                  <a:srgbClr val="FF0000"/>
                </a:solidFill>
              </a:rPr>
              <a:t>serial schedule. </a:t>
            </a:r>
            <a:r>
              <a:rPr lang="en-US" b="1" dirty="0" smtClean="0">
                <a:solidFill>
                  <a:srgbClr val="FF0000"/>
                </a:solidFill>
              </a:rPr>
              <a:t>(I.e.,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br>
              <a:rPr lang="en-US" b="1" i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Neither: [A = 954 and B = 1166]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Nor: [A = 960 and B = 1160])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7393" y="1918531"/>
            <a:ext cx="3967163" cy="381000"/>
          </a:xfrm>
          <a:prstGeom prst="rect">
            <a:avLst/>
          </a:prstGeom>
          <a:solidFill>
            <a:srgbClr val="FFFF00">
              <a:alpha val="8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43000" y="2362200"/>
            <a:ext cx="4630015" cy="381000"/>
          </a:xfrm>
          <a:prstGeom prst="rect">
            <a:avLst/>
          </a:prstGeom>
          <a:solidFill>
            <a:srgbClr val="FFFF00">
              <a:alpha val="8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2 and 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43000" y="2793762"/>
            <a:ext cx="3967163" cy="381000"/>
          </a:xfrm>
          <a:prstGeom prst="rect">
            <a:avLst/>
          </a:prstGeom>
          <a:solidFill>
            <a:srgbClr val="FFFF00">
              <a:alpha val="8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4755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40" grpId="0" animBg="1"/>
      <p:bldP spid="41" grpId="0" animBg="1"/>
      <p:bldP spid="44" grpId="0" animBg="1"/>
      <p:bldP spid="45" grpId="0" animBg="1"/>
      <p:bldP spid="45" grpId="1" animBg="1"/>
      <p:bldP spid="46" grpId="0" animBg="1"/>
      <p:bldP spid="47" grpId="0" animBg="1"/>
      <p:bldP spid="51" grpId="0" animBg="1"/>
      <p:bldP spid="51" grpId="1" animBg="1"/>
      <p:bldP spid="42" grpId="0" animBg="1"/>
      <p:bldP spid="42" grpId="1" animBg="1"/>
      <p:bldP spid="53" grpId="0"/>
      <p:bldP spid="55" grpId="0" animBg="1"/>
      <p:bldP spid="5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81916" y="2159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719916" y="2388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12904" y="2057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01420" y="2061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46869" y="2372134"/>
            <a:ext cx="65274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515859" y="2388552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Oval 1"/>
          <p:cNvSpPr/>
          <p:nvPr/>
        </p:nvSpPr>
        <p:spPr>
          <a:xfrm>
            <a:off x="4490221" y="2896314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>
          <a:xfrm flipH="1" flipV="1">
            <a:off x="4120653" y="2790917"/>
            <a:ext cx="369568" cy="244978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47431" y="2655943"/>
            <a:ext cx="3489545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The value of A written by T1 is read</a:t>
            </a:r>
            <a:br>
              <a:rPr lang="en-US" dirty="0" smtClean="0"/>
            </a:br>
            <a:r>
              <a:rPr lang="en-US" dirty="0" smtClean="0"/>
              <a:t>by T2 before T1 has completed all</a:t>
            </a:r>
            <a:br>
              <a:rPr lang="en-US" dirty="0" smtClean="0"/>
            </a:br>
            <a:r>
              <a:rPr lang="en-US" dirty="0" smtClean="0"/>
              <a:t>its changes!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638800" y="3835102"/>
            <a:ext cx="3091167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Why is this a problem?</a:t>
            </a:r>
            <a:endParaRPr lang="en-US" sz="2400" b="1" dirty="0"/>
          </a:p>
        </p:txBody>
      </p:sp>
      <p:sp>
        <p:nvSpPr>
          <p:cNvPr id="12" name="Oval 11"/>
          <p:cNvSpPr/>
          <p:nvPr/>
        </p:nvSpPr>
        <p:spPr>
          <a:xfrm>
            <a:off x="3555762" y="2651336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7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81916" y="2159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719916" y="2388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12904" y="2057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01420" y="2061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46869" y="2372134"/>
            <a:ext cx="65274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515859" y="2388552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Oval 1"/>
          <p:cNvSpPr/>
          <p:nvPr/>
        </p:nvSpPr>
        <p:spPr>
          <a:xfrm>
            <a:off x="4490221" y="2896314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555762" y="2651336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>
          <a:xfrm flipH="1" flipV="1">
            <a:off x="4120653" y="2790917"/>
            <a:ext cx="369568" cy="244978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47431" y="2655943"/>
            <a:ext cx="3489545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The value of A written by T1 is read</a:t>
            </a:r>
            <a:br>
              <a:rPr lang="en-US" dirty="0" smtClean="0"/>
            </a:br>
            <a:r>
              <a:rPr lang="en-US" dirty="0" smtClean="0"/>
              <a:t>by T2 before T1 has completed all</a:t>
            </a:r>
            <a:br>
              <a:rPr lang="en-US" dirty="0" smtClean="0"/>
            </a:br>
            <a:r>
              <a:rPr lang="en-US" dirty="0" smtClean="0"/>
              <a:t>its changes!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638800" y="3835102"/>
            <a:ext cx="3091167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Why is this a problem?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5229761"/>
            <a:ext cx="8884355" cy="132343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/>
              <a:t>T1 may write some value into A that makes the database inconsistent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/>
              <a:t>As long as T1 overwrites this value with a ‘correct’ value of A before committing, </a:t>
            </a:r>
            <a:br>
              <a:rPr lang="en-US" sz="2000" dirty="0" smtClean="0"/>
            </a:br>
            <a:r>
              <a:rPr lang="en-US" sz="2000" dirty="0" smtClean="0"/>
              <a:t>no</a:t>
            </a:r>
            <a:r>
              <a:rPr lang="en-US" sz="2000" dirty="0"/>
              <a:t> </a:t>
            </a:r>
            <a:r>
              <a:rPr lang="en-US" sz="2000" dirty="0" smtClean="0"/>
              <a:t>harm is done if T1 and T2 are run in some serial order (this is because T2 </a:t>
            </a:r>
            <a:br>
              <a:rPr lang="en-US" sz="2000" dirty="0" smtClean="0"/>
            </a:br>
            <a:r>
              <a:rPr lang="en-US" sz="2000" dirty="0" smtClean="0"/>
              <a:t>would then not see the </a:t>
            </a:r>
            <a:r>
              <a:rPr lang="en-US" sz="2000" u="sng" dirty="0" smtClean="0"/>
              <a:t>temporary</a:t>
            </a:r>
            <a:r>
              <a:rPr lang="en-US" sz="2000" dirty="0" smtClean="0"/>
              <a:t> inconsistency)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9391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81916" y="2159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719916" y="2388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12904" y="2057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01420" y="2061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46869" y="2372134"/>
            <a:ext cx="8451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515859" y="2388552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Oval 1"/>
          <p:cNvSpPr/>
          <p:nvPr/>
        </p:nvSpPr>
        <p:spPr>
          <a:xfrm>
            <a:off x="4490221" y="2896314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555762" y="2651336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>
          <a:xfrm flipH="1" flipV="1">
            <a:off x="4120653" y="2790917"/>
            <a:ext cx="369568" cy="244978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47431" y="2655943"/>
            <a:ext cx="3489545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The value of A written by T1 is read</a:t>
            </a:r>
            <a:br>
              <a:rPr lang="en-US" dirty="0" smtClean="0"/>
            </a:br>
            <a:r>
              <a:rPr lang="en-US" dirty="0" smtClean="0"/>
              <a:t>by T2 before T1 has completed all</a:t>
            </a:r>
            <a:br>
              <a:rPr lang="en-US" dirty="0" smtClean="0"/>
            </a:br>
            <a:r>
              <a:rPr lang="en-US" dirty="0" smtClean="0"/>
              <a:t>its changes!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638800" y="3835102"/>
            <a:ext cx="3091167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Why is this a problem?</a:t>
            </a:r>
            <a:endParaRPr lang="en-US" sz="24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373432" y="5181600"/>
            <a:ext cx="8455976" cy="12192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Note that although a transaction must leave a database in a consistent state </a:t>
            </a:r>
            <a:r>
              <a:rPr lang="en-US" sz="2400" i="1" dirty="0" smtClean="0">
                <a:solidFill>
                  <a:schemeClr val="tx1"/>
                </a:solidFill>
              </a:rPr>
              <a:t>after</a:t>
            </a:r>
            <a:r>
              <a:rPr lang="en-US" sz="2400" dirty="0" smtClean="0">
                <a:solidFill>
                  <a:schemeClr val="tx1"/>
                </a:solidFill>
              </a:rPr>
              <a:t> it completes, it is not required to keep the database consistent while it is still in progress!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22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Unrepeatable Reads: RW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RW conflicts arise when transaction T2 writes a data object A that has been read by another transaction T1, </a:t>
            </a:r>
            <a:r>
              <a:rPr lang="en-US" sz="2800" i="1" dirty="0" smtClean="0"/>
              <a:t>while T1 is still in progress</a:t>
            </a:r>
          </a:p>
          <a:p>
            <a:pPr>
              <a:buFont typeface="Wingdings" pitchFamily="2" charset="2"/>
              <a:buChar char="§"/>
            </a:pPr>
            <a:endParaRPr lang="en-US" sz="2600" i="1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If T1 tries to read A again, it will get a different result!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Such a read is called an </a:t>
            </a:r>
            <a:r>
              <a:rPr lang="en-US" sz="2600" dirty="0" smtClean="0">
                <a:solidFill>
                  <a:srgbClr val="FF0000"/>
                </a:solidFill>
              </a:rPr>
              <a:t>unrepeatable read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A is the number of available copies for a book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A transaction that places an order on the book reads A, checks that A &gt; 0 and decrements A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Assume two transactions, T1 and T2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2237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Unrepeatable Reads: RW Conflicts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reads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reads A, decrements A and commit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tries to decrement A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30" name="Folded Corner 29"/>
          <p:cNvSpPr/>
          <p:nvPr/>
        </p:nvSpPr>
        <p:spPr>
          <a:xfrm>
            <a:off x="3886200" y="4490834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910569" y="5100434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A=1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3507712"/>
            <a:ext cx="2743200" cy="45468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Places an order on a book of quantity 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59973" y="3490250"/>
            <a:ext cx="2912427" cy="47215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</a:t>
            </a:r>
            <a:r>
              <a:rPr lang="en-US" sz="1600" b="1" i="1" dirty="0">
                <a:solidFill>
                  <a:srgbClr val="2906FA"/>
                </a:solidFill>
              </a:rPr>
              <a:t>Places an order on a book of quantity A</a:t>
            </a:r>
            <a:endParaRPr lang="en-US" sz="1600" dirty="0">
              <a:solidFill>
                <a:srgbClr val="2906FA"/>
              </a:solidFill>
            </a:endParaRPr>
          </a:p>
        </p:txBody>
      </p:sp>
      <p:cxnSp>
        <p:nvCxnSpPr>
          <p:cNvPr id="12" name="Straight Arrow Connector 11"/>
          <p:cNvCxnSpPr>
            <a:endCxn id="31" idx="0"/>
          </p:cNvCxnSpPr>
          <p:nvPr/>
        </p:nvCxnSpPr>
        <p:spPr>
          <a:xfrm>
            <a:off x="2209800" y="3962400"/>
            <a:ext cx="2119869" cy="113803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90600" y="4338434"/>
            <a:ext cx="1771828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1: Read A = 1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34" idx="2"/>
            <a:endCxn id="31" idx="0"/>
          </p:cNvCxnSpPr>
          <p:nvPr/>
        </p:nvCxnSpPr>
        <p:spPr>
          <a:xfrm flipH="1">
            <a:off x="4329669" y="3962400"/>
            <a:ext cx="1986518" cy="113803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562600" y="4490834"/>
            <a:ext cx="16002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2: Read A = 1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924300" y="5100434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53000" y="5105400"/>
            <a:ext cx="26670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  <a:r>
              <a:rPr lang="en-US" dirty="0" smtClean="0"/>
              <a:t>: Decrement A &amp; Commit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14400" y="5105400"/>
            <a:ext cx="26670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4: Decrement A = ERROR!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>
          <a:xfrm>
            <a:off x="381000" y="6172200"/>
            <a:ext cx="8534400" cy="609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This situation will never arise in a serial execution of T1 and T2; T2 would read A and see 0 and therefore not proceed with placing an order!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83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3" grpId="0" animBg="1"/>
      <p:bldP spid="34" grpId="0" animBg="1"/>
      <p:bldP spid="13" grpId="0" animBg="1"/>
      <p:bldP spid="17" grpId="0" animBg="1"/>
      <p:bldP spid="20" grpId="0" animBg="1"/>
      <p:bldP spid="21" grpId="0" animBg="1"/>
      <p:bldP spid="22" grpId="0" animBg="1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Overwriting Uncommitted Data: </a:t>
            </a:r>
            <a:br>
              <a:rPr lang="en-US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WW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7630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W</a:t>
            </a:r>
            <a:r>
              <a:rPr lang="en-US" sz="2600" dirty="0" smtClean="0"/>
              <a:t>W conflicts arise when transaction T2 writes a data object A that has been written by another transaction T1, </a:t>
            </a:r>
            <a:r>
              <a:rPr lang="en-US" sz="2600" i="1" dirty="0" smtClean="0"/>
              <a:t>while T1 is still in progress</a:t>
            </a:r>
          </a:p>
          <a:p>
            <a:pPr>
              <a:buFont typeface="Wingdings" pitchFamily="2" charset="2"/>
              <a:buChar char="§"/>
            </a:pPr>
            <a:endParaRPr lang="en-US" sz="2600" i="1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Suppose that Mohammad and Ahmad are two employees and their salaries </a:t>
            </a:r>
            <a:r>
              <a:rPr lang="en-US" sz="2600" i="1" u="sng" dirty="0" smtClean="0"/>
              <a:t>must be kept equal</a:t>
            </a:r>
          </a:p>
          <a:p>
            <a:pPr>
              <a:buFont typeface="Wingdings" pitchFamily="2" charset="2"/>
              <a:buChar char="§"/>
            </a:pPr>
            <a:endParaRPr lang="en-US" sz="2600" i="1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Assume T1 sets Mohammad’s and Ahmad’s salaries to $1000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Assume T2 sets Mohammad’s and Ahmad’s salaries to $2000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1772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86463" y="300056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923494" y="295415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Overwriting Uncommitted Data: 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WW Conflicts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245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90600" y="200165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Sets Salaries to $1000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36173" y="198419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</a:t>
            </a:r>
            <a:r>
              <a:rPr lang="en-US" sz="1600" dirty="0" smtClean="0">
                <a:solidFill>
                  <a:srgbClr val="0000FF"/>
                </a:solidFill>
              </a:rPr>
              <a:t>Sets Salaries to $2000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362200" y="2344552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362200" y="2344552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85963" y="25731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443663" y="2327090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024563" y="25604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6363" y="35637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672399" y="2327090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86113" y="35256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1459706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611894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13286" y="4631145"/>
            <a:ext cx="213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Mohammad’s Salary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31660" y="4659868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Ahmad’s Salary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6028346" y="3561059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47016" y="3572765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62400" y="3833685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5400" dirty="0" smtClean="0"/>
              <a:t> </a:t>
            </a:r>
            <a:endParaRPr lang="en-US" sz="5400" dirty="0"/>
          </a:p>
        </p:txBody>
      </p:sp>
      <p:sp>
        <p:nvSpPr>
          <p:cNvPr id="22" name="Rectangle 21"/>
          <p:cNvSpPr/>
          <p:nvPr/>
        </p:nvSpPr>
        <p:spPr>
          <a:xfrm>
            <a:off x="6023851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MS=1000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66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7" grpId="0" animBg="1"/>
      <p:bldP spid="19" grpId="0" animBg="1"/>
      <p:bldP spid="21" grpId="0" animBg="1"/>
      <p:bldP spid="24" grpId="0" animBg="1"/>
      <p:bldP spid="27" grpId="0" animBg="1"/>
      <p:bldP spid="28" grpId="0" animBg="1"/>
      <p:bldP spid="3" grpId="0"/>
      <p:bldP spid="32" grpId="0"/>
      <p:bldP spid="20" grpId="0" animBg="1"/>
      <p:bldP spid="20" grpId="1" animBg="1"/>
      <p:bldP spid="25" grpId="0" animBg="1"/>
      <p:bldP spid="25" grpId="1" animBg="1"/>
      <p:bldP spid="7" grpId="0"/>
      <p:bldP spid="22" grpId="0" animBg="1"/>
      <p:bldP spid="22" grpId="1" animBg="1"/>
      <p:bldP spid="16" grpId="0" animBg="1"/>
      <p:bldP spid="16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86463" y="300056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923494" y="295415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Overwriting Uncommitted Data: 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WW Conflicts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245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90600" y="200165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Sets Salaries to $1000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36173" y="198419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</a:t>
            </a:r>
            <a:r>
              <a:rPr lang="en-US" sz="1600" dirty="0" smtClean="0">
                <a:solidFill>
                  <a:srgbClr val="0000FF"/>
                </a:solidFill>
              </a:rPr>
              <a:t>Sets Salaries to $2000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362200" y="2344552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362200" y="2344552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85963" y="25731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443663" y="2327090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024563" y="25604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186363" y="35637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672399" y="2327090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86113" y="35256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1459706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611894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13286" y="4631145"/>
            <a:ext cx="213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Mohammad’s Salary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31660" y="4659868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Ahmad’s Salary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23851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36311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43100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62400" y="3833685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5400" dirty="0" smtClean="0"/>
              <a:t> </a:t>
            </a:r>
            <a:endParaRPr lang="en-US" sz="5400" dirty="0"/>
          </a:p>
        </p:txBody>
      </p:sp>
      <p:pic>
        <p:nvPicPr>
          <p:cNvPr id="30" name="Picture 2" descr="http://easyukpaydayloanss.co.uk/wp-content/uploads/2013/12/happy-man-cartoo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362" y="1612622"/>
            <a:ext cx="1126173" cy="111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762000" y="5257800"/>
            <a:ext cx="7543800" cy="6858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Either serial schedule is </a:t>
            </a:r>
            <a:r>
              <a:rPr lang="en-US" u="sng" dirty="0" smtClean="0">
                <a:solidFill>
                  <a:schemeClr val="tx1"/>
                </a:solidFill>
              </a:rPr>
              <a:t>acceptable</a:t>
            </a:r>
            <a:r>
              <a:rPr lang="en-US" dirty="0" smtClean="0">
                <a:solidFill>
                  <a:schemeClr val="tx1"/>
                </a:solidFill>
              </a:rPr>
              <a:t> from a </a:t>
            </a:r>
            <a:r>
              <a:rPr lang="en-US" i="1" dirty="0" smtClean="0">
                <a:solidFill>
                  <a:schemeClr val="tx1"/>
                </a:solidFill>
              </a:rPr>
              <a:t>consistency standpoint </a:t>
            </a:r>
            <a:r>
              <a:rPr lang="en-US" dirty="0" smtClean="0">
                <a:solidFill>
                  <a:schemeClr val="tx1"/>
                </a:solidFill>
              </a:rPr>
              <a:t>(although Mohammad and Ahmad may prefer higher salaries!)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62000" y="6019800"/>
            <a:ext cx="7543800" cy="6858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Neither T1 nor T2 reads a salary value before writing it- such a write is called a </a:t>
            </a:r>
            <a:r>
              <a:rPr lang="en-US" b="1" i="1" dirty="0" smtClean="0">
                <a:solidFill>
                  <a:schemeClr val="tx1"/>
                </a:solidFill>
              </a:rPr>
              <a:t>blind write!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1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7" grpId="0" animBg="1"/>
      <p:bldP spid="19" grpId="0" animBg="1"/>
      <p:bldP spid="21" grpId="0" animBg="1"/>
      <p:bldP spid="24" grpId="0" animBg="1"/>
      <p:bldP spid="27" grpId="0" animBg="1"/>
      <p:bldP spid="28" grpId="0" animBg="1"/>
      <p:bldP spid="3" grpId="0"/>
      <p:bldP spid="32" grpId="0"/>
      <p:bldP spid="16" grpId="0" animBg="1"/>
      <p:bldP spid="16" grpId="1" animBg="1"/>
      <p:bldP spid="22" grpId="0" animBg="1"/>
      <p:bldP spid="22" grpId="1" animBg="1"/>
      <p:bldP spid="20" grpId="0" animBg="1"/>
      <p:bldP spid="20" grpId="1" animBg="1"/>
      <p:bldP spid="25" grpId="0" animBg="1"/>
      <p:bldP spid="25" grpId="1" animBg="1"/>
      <p:bldP spid="7" grpId="0"/>
      <p:bldP spid="9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86463" y="300056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923494" y="295415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Overwriting Uncommitted Data: 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WW Conflicts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245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90600" y="200165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Sets Salaries to $1000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36173" y="198419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</a:t>
            </a:r>
            <a:r>
              <a:rPr lang="en-US" sz="1600" dirty="0" smtClean="0">
                <a:solidFill>
                  <a:srgbClr val="0000FF"/>
                </a:solidFill>
              </a:rPr>
              <a:t>Sets Salaries to $2000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362200" y="2344552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362200" y="2344552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85963" y="25731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443663" y="2327090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024563" y="25604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6363" y="35637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672399" y="2327090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86113" y="35256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1459706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601382" y="32684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13286" y="4631145"/>
            <a:ext cx="213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Mohammad’s Salary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31660" y="4659868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Ahmad’s Salary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19800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43100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23851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Multiply 3"/>
          <p:cNvSpPr/>
          <p:nvPr/>
        </p:nvSpPr>
        <p:spPr>
          <a:xfrm>
            <a:off x="3893586" y="3801984"/>
            <a:ext cx="1066800" cy="990600"/>
          </a:xfrm>
          <a:prstGeom prst="mathMultiply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" descr="C:\Users\vkolar\AppData\Local\Microsoft\Windows\Temporary Internet Files\Content.IE5\HRUY4RJ7\MC90044152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6913" y="1553977"/>
            <a:ext cx="1047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1143000" y="5257800"/>
            <a:ext cx="6934200" cy="106680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The problem is that we have a </a:t>
            </a:r>
            <a:r>
              <a:rPr lang="en-US" sz="2000" b="1" i="1" u="sng" dirty="0" smtClean="0"/>
              <a:t>lost update</a:t>
            </a:r>
            <a:r>
              <a:rPr lang="en-US" sz="2000" dirty="0" smtClean="0"/>
              <a:t>. In particular, T2 overwrote Mohammad’s Salary as set by T1 (this will never happen with a serializable schedule!)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1681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7" grpId="0" animBg="1"/>
      <p:bldP spid="19" grpId="0" animBg="1"/>
      <p:bldP spid="21" grpId="0" animBg="1"/>
      <p:bldP spid="24" grpId="0" animBg="1"/>
      <p:bldP spid="27" grpId="0" animBg="1"/>
      <p:bldP spid="28" grpId="0" animBg="1"/>
      <p:bldP spid="3" grpId="0"/>
      <p:bldP spid="32" grpId="0"/>
      <p:bldP spid="16" grpId="0" animBg="1"/>
      <p:bldP spid="16" grpId="1" animBg="1"/>
      <p:bldP spid="20" grpId="0" animBg="1"/>
      <p:bldP spid="20" grpId="1" animBg="1"/>
      <p:bldP spid="25" grpId="0" animBg="1"/>
      <p:bldP spid="25" grpId="1" animBg="1"/>
      <p:bldP spid="22" grpId="0" animBg="1"/>
      <p:bldP spid="22" grpId="1" animBg="1"/>
      <p:bldP spid="4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Conflicting Instructions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50206" cy="5367972"/>
          </a:xfrm>
        </p:spPr>
        <p:txBody>
          <a:bodyPr/>
          <a:lstStyle/>
          <a:p>
            <a:r>
              <a:rPr lang="en-US" altLang="en-US" dirty="0"/>
              <a:t>Instructions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respectively, </a:t>
            </a:r>
            <a:r>
              <a:rPr lang="en-US" altLang="en-US" b="1" dirty="0">
                <a:solidFill>
                  <a:srgbClr val="000099"/>
                </a:solidFill>
              </a:rPr>
              <a:t>conflict</a:t>
            </a:r>
            <a:r>
              <a:rPr lang="en-US" altLang="en-US" dirty="0"/>
              <a:t> if and only if there exists some item </a:t>
            </a:r>
            <a:r>
              <a:rPr lang="en-US" altLang="en-US" i="1" dirty="0"/>
              <a:t>Q</a:t>
            </a:r>
            <a:r>
              <a:rPr lang="en-US" altLang="en-US" dirty="0"/>
              <a:t> accessed by both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and at least one of these instructions wrote </a:t>
            </a:r>
            <a:r>
              <a:rPr lang="en-US" altLang="en-US" i="1" dirty="0"/>
              <a:t>Q.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	   1.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=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Q),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=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).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conflict.</a:t>
            </a:r>
            <a:br>
              <a:rPr lang="en-US" altLang="ja-JP" dirty="0"/>
            </a:br>
            <a:r>
              <a:rPr lang="en-US" altLang="ja-JP" dirty="0"/>
              <a:t>   2.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read</a:t>
            </a:r>
            <a:r>
              <a:rPr lang="en-US" altLang="ja-JP" dirty="0"/>
              <a:t>(</a:t>
            </a:r>
            <a:r>
              <a:rPr lang="en-US" altLang="ja-JP" i="1" dirty="0"/>
              <a:t>Q), 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They conflict.</a:t>
            </a:r>
            <a:br>
              <a:rPr lang="en-US" altLang="ja-JP" dirty="0"/>
            </a:br>
            <a:r>
              <a:rPr lang="en-US" altLang="ja-JP" dirty="0"/>
              <a:t>   3.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Q),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read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 They conflict</a:t>
            </a:r>
            <a:br>
              <a:rPr lang="en-US" altLang="ja-JP" dirty="0"/>
            </a:br>
            <a:r>
              <a:rPr lang="en-US" altLang="ja-JP" dirty="0"/>
              <a:t>   4.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Q),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They conflict</a:t>
            </a:r>
          </a:p>
          <a:p>
            <a:r>
              <a:rPr lang="en-US" altLang="en-US" dirty="0"/>
              <a:t>Intuitively, a conflict between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forces a (logical) temporal order between them.  </a:t>
            </a:r>
          </a:p>
          <a:p>
            <a:r>
              <a:rPr lang="en-US" altLang="en-US" dirty="0" smtClean="0"/>
              <a:t>If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are consecutive in a schedule and they do not conflict, their results would remain the same even if they had been interchanged in the schedule.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50206" cy="5367972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If a schedule </a:t>
            </a:r>
            <a:r>
              <a:rPr lang="en-US" altLang="en-US" i="1" dirty="0"/>
              <a:t>S</a:t>
            </a:r>
            <a:r>
              <a:rPr lang="en-US" altLang="en-US" dirty="0"/>
              <a:t> can be transformed into a schedule </a:t>
            </a:r>
            <a:r>
              <a:rPr lang="en-US" altLang="en-US" i="1" dirty="0"/>
              <a:t>S’ </a:t>
            </a:r>
            <a:r>
              <a:rPr lang="en-US" altLang="en-US" dirty="0"/>
              <a:t>by a series of swaps of non-conflicting instructions, we say that </a:t>
            </a:r>
            <a:r>
              <a:rPr lang="en-US" altLang="en-US" i="1" dirty="0"/>
              <a:t>S</a:t>
            </a:r>
            <a:r>
              <a:rPr lang="en-US" altLang="en-US" dirty="0"/>
              <a:t> and </a:t>
            </a:r>
            <a:r>
              <a:rPr lang="en-US" altLang="en-US" i="1" dirty="0"/>
              <a:t>S’ </a:t>
            </a:r>
            <a:r>
              <a:rPr lang="en-US" altLang="en-US" dirty="0"/>
              <a:t>are </a:t>
            </a:r>
            <a:r>
              <a:rPr lang="en-US" altLang="en-US" b="1" dirty="0">
                <a:solidFill>
                  <a:srgbClr val="000099"/>
                </a:solidFill>
              </a:rPr>
              <a:t>conflict equivalent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We say that a schedule </a:t>
            </a:r>
            <a:r>
              <a:rPr lang="en-US" altLang="en-US" i="1" dirty="0"/>
              <a:t>S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0099"/>
                </a:solidFill>
              </a:rPr>
              <a:t>conflict serializable</a:t>
            </a:r>
            <a:r>
              <a:rPr lang="en-US" altLang="en-US" dirty="0"/>
              <a:t> if it is conflict equivalent to a serial schedule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</p:spPr>
        <p:txBody>
          <a:bodyPr/>
          <a:lstStyle/>
          <a:p>
            <a:pPr>
              <a:tabLst>
                <a:tab pos="2063750" algn="l"/>
                <a:tab pos="2511425" algn="l"/>
                <a:tab pos="3262313" algn="l"/>
                <a:tab pos="3881438" algn="l"/>
              </a:tabLst>
            </a:pPr>
            <a:r>
              <a:rPr lang="en-US" altLang="en-US" dirty="0"/>
              <a:t>Schedule 3 can be transformed into Schedule 6, a serial schedule where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follows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by series of swaps of non-conflicting instructions.  Therefore Schedule 3 is conflict serializable.</a:t>
            </a:r>
          </a:p>
        </p:txBody>
      </p:sp>
      <p:sp>
        <p:nvSpPr>
          <p:cNvPr id="23556" name="Text Box 11"/>
          <p:cNvSpPr txBox="1">
            <a:spLocks noChangeArrowheads="1"/>
          </p:cNvSpPr>
          <p:nvPr/>
        </p:nvSpPr>
        <p:spPr bwMode="auto">
          <a:xfrm>
            <a:off x="2209808" y="4922827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3</a:t>
            </a:r>
          </a:p>
        </p:txBody>
      </p:sp>
      <p:sp>
        <p:nvSpPr>
          <p:cNvPr id="23557" name="Text Box 12"/>
          <p:cNvSpPr txBox="1">
            <a:spLocks noChangeArrowheads="1"/>
          </p:cNvSpPr>
          <p:nvPr/>
        </p:nvSpPr>
        <p:spPr bwMode="auto">
          <a:xfrm>
            <a:off x="6105533" y="4926006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6</a:t>
            </a:r>
          </a:p>
        </p:txBody>
      </p:sp>
      <p:pic>
        <p:nvPicPr>
          <p:cNvPr id="2355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217729"/>
            <a:ext cx="3040063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2200272"/>
            <a:ext cx="3111500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88062" cy="5367972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Example of a schedule that is not conflict serializable: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We are unable to swap instructions in the above schedule to obtain either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 &gt;, or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&gt;.</a:t>
            </a:r>
          </a:p>
        </p:txBody>
      </p:sp>
      <p:pic>
        <p:nvPicPr>
          <p:cNvPr id="2458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80" y="1557335"/>
            <a:ext cx="2840037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Testing for Serializability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61285" y="884287"/>
            <a:ext cx="8184265" cy="5688255"/>
          </a:xfrm>
        </p:spPr>
        <p:txBody>
          <a:bodyPr/>
          <a:lstStyle/>
          <a:p>
            <a:r>
              <a:rPr lang="en-US" altLang="en-US" dirty="0"/>
              <a:t>Consider some schedule of a set of transactions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endParaRPr lang="en-US" altLang="en-US" dirty="0"/>
          </a:p>
          <a:p>
            <a:r>
              <a:rPr lang="en-US" altLang="en-US" b="1" dirty="0">
                <a:solidFill>
                  <a:srgbClr val="000099"/>
                </a:solidFill>
              </a:rPr>
              <a:t>Precedence graph</a:t>
            </a:r>
            <a:r>
              <a:rPr lang="en-US" altLang="en-US" i="1" dirty="0"/>
              <a:t> </a:t>
            </a:r>
            <a:r>
              <a:rPr lang="en-US" altLang="en-US" dirty="0"/>
              <a:t>— a direct graph where the vertices are the transactions (names).</a:t>
            </a:r>
          </a:p>
          <a:p>
            <a:r>
              <a:rPr lang="en-US" altLang="en-US" dirty="0"/>
              <a:t>We draw an arc from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to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if the two transaction conflict,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accessed the data item on which the conflict arose earlier.</a:t>
            </a:r>
          </a:p>
          <a:p>
            <a:r>
              <a:rPr lang="en-US" altLang="en-US" dirty="0"/>
              <a:t>We may label the arc by the item that was accessed.</a:t>
            </a:r>
          </a:p>
          <a:p>
            <a:r>
              <a:rPr lang="en-US" altLang="en-US" dirty="0"/>
              <a:t>Example</a:t>
            </a:r>
            <a:r>
              <a:rPr lang="en-US" altLang="en-US" b="1" dirty="0"/>
              <a:t> </a:t>
            </a:r>
            <a:r>
              <a:rPr lang="en-US" altLang="en-US" dirty="0" smtClean="0"/>
              <a:t>of a precedence graph of the following schedule</a:t>
            </a:r>
          </a:p>
          <a:p>
            <a:endParaRPr lang="en-US" altLang="en-US" dirty="0"/>
          </a:p>
        </p:txBody>
      </p:sp>
      <p:pic>
        <p:nvPicPr>
          <p:cNvPr id="28676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052" y="3700467"/>
            <a:ext cx="2174782" cy="136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508" y="3184818"/>
            <a:ext cx="2713038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38255" y="5234354"/>
            <a:ext cx="41072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This schedule is not conflict serializable since it has a cycle.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421548" y="5903448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70C0"/>
                </a:solidFill>
              </a:rPr>
              <a:t>A schedule is conflict serializable if and only if its precedence graph is acyclic.</a:t>
            </a:r>
          </a:p>
        </p:txBody>
      </p:sp>
    </p:spTree>
    <p:extLst>
      <p:ext uri="{BB962C8B-B14F-4D97-AF65-F5344CB8AC3E}">
        <p14:creationId xmlns:p14="http://schemas.microsoft.com/office/powerpoint/2010/main" val="51021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6983" y="1010194"/>
            <a:ext cx="7059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S: R1(A), R3(B), R3(A), R2(B), R2(C), W3(B), W2(C), R1(C), W1(A), W1(C)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96983" y="561109"/>
            <a:ext cx="4389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solidFill>
                  <a:srgbClr val="0070C0"/>
                </a:solidFill>
              </a:rPr>
              <a:t>Is this schedule conflict serializable? </a:t>
            </a:r>
            <a:endParaRPr lang="en-IN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76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6983" y="1010194"/>
            <a:ext cx="5806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S: R1(A), W2(A), W1(A), W3(A), R1(A), W1(A), W2(A), W3(A)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96983" y="561109"/>
            <a:ext cx="4318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solidFill>
                  <a:srgbClr val="0070C0"/>
                </a:solidFill>
              </a:rPr>
              <a:t>Is this schedule conflict serializable?</a:t>
            </a:r>
            <a:endParaRPr lang="en-IN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Other schedule equivalence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937192" cy="5367972"/>
          </a:xfrm>
        </p:spPr>
        <p:txBody>
          <a:bodyPr/>
          <a:lstStyle/>
          <a:p>
            <a:pPr>
              <a:defRPr/>
            </a:pPr>
            <a:r>
              <a:rPr lang="en-US" dirty="0"/>
              <a:t>V</a:t>
            </a:r>
            <a:r>
              <a:rPr lang="en-US" dirty="0" smtClean="0"/>
              <a:t>iew </a:t>
            </a:r>
            <a:r>
              <a:rPr lang="en-US" dirty="0"/>
              <a:t>equivalence is </a:t>
            </a:r>
            <a:r>
              <a:rPr lang="en-US" dirty="0" smtClean="0"/>
              <a:t>based </a:t>
            </a:r>
            <a:r>
              <a:rPr lang="en-US" dirty="0"/>
              <a:t>purely on </a:t>
            </a:r>
            <a:r>
              <a:rPr lang="en-US" b="1" dirty="0"/>
              <a:t>reads </a:t>
            </a:r>
            <a:r>
              <a:rPr lang="en-US" dirty="0"/>
              <a:t>and </a:t>
            </a:r>
            <a:r>
              <a:rPr lang="en-US" b="1" dirty="0"/>
              <a:t>writes</a:t>
            </a:r>
            <a:r>
              <a:rPr lang="en-US" dirty="0"/>
              <a:t> alone</a:t>
            </a:r>
            <a:r>
              <a:rPr lang="en-US" dirty="0" smtClean="0"/>
              <a:t>.</a:t>
            </a:r>
          </a:p>
          <a:p>
            <a:pPr marL="400050">
              <a:defRPr/>
            </a:pPr>
            <a:r>
              <a:rPr lang="en-US" dirty="0" smtClean="0"/>
              <a:t>View Serializability Is not used in practice due to its high degree of computational complexity (NP-complete problem).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Recoverable Schedules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686901"/>
            <a:ext cx="7776839" cy="4783568"/>
          </a:xfrm>
        </p:spPr>
        <p:txBody>
          <a:bodyPr/>
          <a:lstStyle/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Recoverable</a:t>
            </a:r>
            <a:r>
              <a:rPr lang="en-US" altLang="en-US" b="1" i="1" dirty="0">
                <a:solidFill>
                  <a:srgbClr val="000099"/>
                </a:solidFill>
              </a:rPr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schedule</a:t>
            </a:r>
            <a:r>
              <a:rPr lang="en-US" altLang="en-US" dirty="0"/>
              <a:t> — if a transaction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reads a data item previously written by a transaction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 </a:t>
            </a:r>
            <a:r>
              <a:rPr lang="en-US" altLang="en-US" dirty="0"/>
              <a:t>, then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appears before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/>
              <a:t>The following </a:t>
            </a:r>
            <a:r>
              <a:rPr lang="en-US" altLang="en-US" dirty="0" smtClean="0"/>
              <a:t>schedule </a:t>
            </a:r>
            <a:r>
              <a:rPr lang="en-US" altLang="en-US" dirty="0"/>
              <a:t>is not recoverable</a:t>
            </a:r>
            <a:br>
              <a:rPr lang="en-US" altLang="en-US" dirty="0"/>
            </a:br>
            <a:r>
              <a:rPr lang="en-US" altLang="en-US" dirty="0"/>
              <a:t>		</a:t>
            </a:r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 smtClean="0"/>
              <a:t>If </a:t>
            </a:r>
            <a:r>
              <a:rPr lang="en-US" altLang="en-US" i="1" dirty="0"/>
              <a:t>T</a:t>
            </a:r>
            <a:r>
              <a:rPr lang="en-US" altLang="en-US" baseline="-25000" dirty="0"/>
              <a:t>8</a:t>
            </a:r>
            <a:r>
              <a:rPr lang="en-US" altLang="en-US" sz="1600" dirty="0"/>
              <a:t> </a:t>
            </a:r>
            <a:r>
              <a:rPr lang="en-US" altLang="en-US" dirty="0"/>
              <a:t>should abort, </a:t>
            </a:r>
            <a:r>
              <a:rPr lang="en-US" altLang="en-US" i="1" dirty="0"/>
              <a:t>T</a:t>
            </a:r>
            <a:r>
              <a:rPr lang="en-US" altLang="en-US" baseline="-25000" dirty="0"/>
              <a:t>9</a:t>
            </a:r>
            <a:r>
              <a:rPr lang="en-US" altLang="en-US" dirty="0"/>
              <a:t> would have read (and possibly shown to the user) an inconsistent database </a:t>
            </a:r>
            <a:r>
              <a:rPr lang="en-US" altLang="en-US" dirty="0" smtClean="0"/>
              <a:t>state (so </a:t>
            </a:r>
            <a:r>
              <a:rPr lang="en-US" altLang="en-US" i="1" dirty="0" smtClean="0"/>
              <a:t>read(A)</a:t>
            </a:r>
            <a:r>
              <a:rPr lang="en-US" altLang="en-US" dirty="0" smtClean="0"/>
              <a:t> in </a:t>
            </a:r>
            <a:r>
              <a:rPr lang="en-US" altLang="en-US" i="1" dirty="0" smtClean="0"/>
              <a:t>T</a:t>
            </a:r>
            <a:r>
              <a:rPr lang="en-US" altLang="en-US" baseline="-25000" dirty="0" smtClean="0"/>
              <a:t>9</a:t>
            </a:r>
            <a:r>
              <a:rPr lang="en-US" altLang="en-US" dirty="0" smtClean="0"/>
              <a:t> is called a </a:t>
            </a:r>
            <a:r>
              <a:rPr lang="en-US" altLang="en-US" i="1" dirty="0" smtClean="0"/>
              <a:t>dirty read</a:t>
            </a:r>
            <a:r>
              <a:rPr lang="en-US" altLang="en-US" dirty="0" smtClean="0"/>
              <a:t>).  </a:t>
            </a:r>
            <a:r>
              <a:rPr lang="en-US" altLang="en-US" dirty="0"/>
              <a:t>Hence, database must ensure that schedules are </a:t>
            </a:r>
            <a:r>
              <a:rPr lang="en-US" altLang="en-US" dirty="0" smtClean="0"/>
              <a:t>recoverable.</a:t>
            </a:r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 smtClean="0"/>
              <a:t>When there is NO </a:t>
            </a:r>
            <a:r>
              <a:rPr lang="en-US" altLang="en-US" i="1" dirty="0" smtClean="0"/>
              <a:t>dirty read, </a:t>
            </a:r>
            <a:r>
              <a:rPr lang="en-US" altLang="en-US" dirty="0" smtClean="0"/>
              <a:t>the schedule is recoverable</a:t>
            </a:r>
            <a:r>
              <a:rPr lang="en-US" altLang="en-US" i="1" dirty="0" smtClean="0"/>
              <a:t>.</a:t>
            </a:r>
            <a:endParaRPr lang="en-US" altLang="en-US" i="1" dirty="0"/>
          </a:p>
        </p:txBody>
      </p:sp>
      <p:sp>
        <p:nvSpPr>
          <p:cNvPr id="31748" name="Text Box 6"/>
          <p:cNvSpPr txBox="1">
            <a:spLocks noChangeArrowheads="1"/>
          </p:cNvSpPr>
          <p:nvPr/>
        </p:nvSpPr>
        <p:spPr bwMode="auto">
          <a:xfrm>
            <a:off x="-1" y="1124134"/>
            <a:ext cx="89673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0070C0"/>
                </a:solidFill>
              </a:rPr>
              <a:t>Need to address the effect of transaction failures on concurrently </a:t>
            </a:r>
            <a:r>
              <a:rPr lang="en-US" altLang="en-US" sz="1800" dirty="0" smtClean="0">
                <a:solidFill>
                  <a:srgbClr val="0070C0"/>
                </a:solidFill>
              </a:rPr>
              <a:t>running </a:t>
            </a:r>
            <a:r>
              <a:rPr lang="en-US" altLang="en-US" sz="1800" dirty="0">
                <a:solidFill>
                  <a:srgbClr val="0070C0"/>
                </a:solidFill>
              </a:rPr>
              <a:t>transactions.</a:t>
            </a:r>
          </a:p>
        </p:txBody>
      </p:sp>
      <p:pic>
        <p:nvPicPr>
          <p:cNvPr id="3174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814" y="2971608"/>
            <a:ext cx="29130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Cascading Rollbacks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76840" cy="5367972"/>
          </a:xfrm>
        </p:spPr>
        <p:txBody>
          <a:bodyPr/>
          <a:lstStyle/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Cascading rollback</a:t>
            </a:r>
            <a:r>
              <a:rPr lang="en-US" altLang="en-US" dirty="0"/>
              <a:t> – a single transaction failure leads to a series of transaction rollbacks.  Consider the following schedule where none of the transactions has yet committed (so the schedule is recoverable)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If </a:t>
            </a:r>
            <a:r>
              <a:rPr lang="en-US" altLang="en-US" i="1" dirty="0"/>
              <a:t>T</a:t>
            </a:r>
            <a:r>
              <a:rPr lang="en-US" altLang="en-US" baseline="-25000" dirty="0"/>
              <a:t>10</a:t>
            </a:r>
            <a:r>
              <a:rPr lang="en-US" altLang="en-US" dirty="0"/>
              <a:t> fails, </a:t>
            </a:r>
            <a:r>
              <a:rPr lang="en-US" altLang="en-US" i="1" dirty="0"/>
              <a:t>T</a:t>
            </a:r>
            <a:r>
              <a:rPr lang="en-US" altLang="en-US" baseline="-25000" dirty="0"/>
              <a:t>11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12</a:t>
            </a:r>
            <a:r>
              <a:rPr lang="en-US" altLang="en-US" dirty="0"/>
              <a:t> must also be rolled back.</a:t>
            </a:r>
          </a:p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dirty="0"/>
              <a:t>Can lead to the undoing of a significant amount of </a:t>
            </a:r>
            <a:r>
              <a:rPr lang="en-US" altLang="en-US" dirty="0" smtClean="0"/>
              <a:t>work</a:t>
            </a:r>
          </a:p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dirty="0" smtClean="0"/>
              <a:t>When there is NO </a:t>
            </a:r>
            <a:r>
              <a:rPr lang="en-US" altLang="en-US" i="1" dirty="0" smtClean="0"/>
              <a:t>dirty read</a:t>
            </a:r>
            <a:r>
              <a:rPr lang="en-US" altLang="en-US" dirty="0" smtClean="0"/>
              <a:t>, it avoids cascading rollback.</a:t>
            </a:r>
            <a:endParaRPr lang="en-US" altLang="en-US" dirty="0"/>
          </a:p>
        </p:txBody>
      </p:sp>
      <p:pic>
        <p:nvPicPr>
          <p:cNvPr id="3277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647" y="2122396"/>
            <a:ext cx="34290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Cascadeless Schedules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76839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Cascadeless</a:t>
            </a:r>
            <a:r>
              <a:rPr lang="en-US" altLang="en-US" b="1" i="1" dirty="0">
                <a:solidFill>
                  <a:srgbClr val="000099"/>
                </a:solidFill>
              </a:rPr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schedules</a:t>
            </a:r>
            <a:r>
              <a:rPr lang="en-US" altLang="en-US" dirty="0"/>
              <a:t>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For </a:t>
            </a:r>
            <a:r>
              <a:rPr lang="en-US" altLang="en-US" dirty="0"/>
              <a:t>each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such that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 reads a data item previously written by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,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appears before the read operation of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 smtClean="0"/>
              <a:t>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Every </a:t>
            </a:r>
            <a:r>
              <a:rPr lang="en-US" altLang="en-US" dirty="0" smtClean="0"/>
              <a:t>Cascadeless </a:t>
            </a:r>
            <a:r>
              <a:rPr lang="en-US" altLang="en-US" dirty="0"/>
              <a:t>schedule is also </a:t>
            </a:r>
            <a:r>
              <a:rPr lang="en-US" altLang="en-US" dirty="0" smtClean="0"/>
              <a:t>recoverable</a:t>
            </a:r>
          </a:p>
          <a:p>
            <a:endParaRPr lang="en-US" altLang="en-US" dirty="0"/>
          </a:p>
          <a:p>
            <a:r>
              <a:rPr lang="en-US" altLang="en-US" dirty="0"/>
              <a:t>It is desirable to restrict the schedules to those that are cascadeless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8061025" cy="5367972"/>
          </a:xfrm>
        </p:spPr>
        <p:txBody>
          <a:bodyPr/>
          <a:lstStyle/>
          <a:p>
            <a:r>
              <a:rPr lang="en-US" altLang="en-US" dirty="0"/>
              <a:t>A database must provide a mechanism that will ensure that all possible schedules are </a:t>
            </a:r>
          </a:p>
          <a:p>
            <a:pPr lvl="1"/>
            <a:r>
              <a:rPr lang="en-US" altLang="en-US" dirty="0"/>
              <a:t>either conflict or view serializable, and </a:t>
            </a:r>
          </a:p>
          <a:p>
            <a:pPr lvl="1"/>
            <a:r>
              <a:rPr lang="en-US" altLang="en-US" dirty="0"/>
              <a:t>are recoverable and preferably </a:t>
            </a:r>
            <a:r>
              <a:rPr lang="en-US" altLang="en-US" dirty="0" err="1" smtClean="0"/>
              <a:t>cascadeless</a:t>
            </a:r>
            <a:endParaRPr lang="en-US" altLang="en-US" dirty="0" smtClean="0"/>
          </a:p>
          <a:p>
            <a:pPr lvl="1"/>
            <a:endParaRPr lang="en-US" altLang="en-US" dirty="0"/>
          </a:p>
          <a:p>
            <a:r>
              <a:rPr lang="en-US" altLang="en-US" dirty="0"/>
              <a:t>A policy in which only one transaction can execute at a time generates serial schedules, but provides a poor degree of concurrency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0099"/>
                </a:solidFill>
              </a:rPr>
              <a:t>Goal</a:t>
            </a:r>
            <a:r>
              <a:rPr lang="en-US" altLang="en-US" dirty="0"/>
              <a:t> – to develop concurrency control protocols that will assure serializability.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vs. Serializability Tests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05246" y="1102497"/>
            <a:ext cx="8064052" cy="5367972"/>
          </a:xfrm>
        </p:spPr>
        <p:txBody>
          <a:bodyPr/>
          <a:lstStyle/>
          <a:p>
            <a:r>
              <a:rPr lang="en-US" altLang="en-US" dirty="0"/>
              <a:t>Concurrency-control protocols allow concurrent schedules, but ensure that the schedules are conflict/view serializable, and are recoverable and </a:t>
            </a:r>
            <a:r>
              <a:rPr lang="en-US" altLang="en-US" dirty="0" err="1"/>
              <a:t>cascadeless</a:t>
            </a:r>
            <a:r>
              <a:rPr lang="en-US" altLang="en-US" dirty="0"/>
              <a:t> 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Concurrency control protocols (generally) do not examine the precedence graph as it is being created</a:t>
            </a:r>
          </a:p>
          <a:p>
            <a:pPr lvl="1"/>
            <a:r>
              <a:rPr lang="en-US" altLang="en-US" dirty="0"/>
              <a:t>Instead a protocol imposes a discipline that avoids non-serializable schedules</a:t>
            </a:r>
            <a:r>
              <a:rPr lang="en-US" altLang="en-US" dirty="0" smtClean="0"/>
              <a:t>.</a:t>
            </a:r>
          </a:p>
          <a:p>
            <a:pPr lvl="1"/>
            <a:endParaRPr lang="en-US" altLang="en-US" dirty="0"/>
          </a:p>
          <a:p>
            <a:r>
              <a:rPr lang="en-US" altLang="en-US" dirty="0" smtClean="0"/>
              <a:t>Different </a:t>
            </a:r>
            <a:r>
              <a:rPr lang="en-US" altLang="en-US" dirty="0"/>
              <a:t>concurrency control protocols provide different tradeoffs between the amount of concurrency they allow and the amount of overhead that they incur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Tests for serializability help us understand why a concurrency control protocol is correct.   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Levels of Consistency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18209" y="1102497"/>
            <a:ext cx="8627341" cy="5367972"/>
          </a:xfrm>
        </p:spPr>
        <p:txBody>
          <a:bodyPr/>
          <a:lstStyle/>
          <a:p>
            <a:r>
              <a:rPr lang="en-US" altLang="en-US" dirty="0"/>
              <a:t>Some applications are willing to live with weak levels of consistency, allowing schedules that are not serializable</a:t>
            </a:r>
          </a:p>
          <a:p>
            <a:pPr lvl="1"/>
            <a:r>
              <a:rPr lang="en-US" altLang="en-US" dirty="0"/>
              <a:t>E.g., a read-only transaction that wants to get an approximate total balance of all accounts </a:t>
            </a:r>
          </a:p>
          <a:p>
            <a:pPr lvl="1"/>
            <a:r>
              <a:rPr lang="en-US" altLang="en-US" dirty="0"/>
              <a:t>E.g., database statistics computed for query optimization can be </a:t>
            </a:r>
            <a:r>
              <a:rPr lang="en-US" altLang="en-US" dirty="0" smtClean="0"/>
              <a:t>approximate</a:t>
            </a:r>
            <a:endParaRPr lang="en-US" altLang="en-US" dirty="0"/>
          </a:p>
          <a:p>
            <a:pPr lvl="1"/>
            <a:r>
              <a:rPr lang="en-US" altLang="en-US" dirty="0"/>
              <a:t>Such transactions need not be serializable with respect to other </a:t>
            </a:r>
            <a:r>
              <a:rPr lang="en-US" altLang="en-US" dirty="0" smtClean="0"/>
              <a:t>transactions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Tradeoff accuracy for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Levels of Consistency in SQL-92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7705819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Serializable</a:t>
            </a:r>
            <a:r>
              <a:rPr lang="en-US" altLang="en-US" b="1" dirty="0"/>
              <a:t> </a:t>
            </a:r>
            <a:r>
              <a:rPr lang="en-US" altLang="en-US" dirty="0"/>
              <a:t>— default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Repeatable read</a:t>
            </a:r>
            <a:r>
              <a:rPr lang="en-US" altLang="en-US" b="1" dirty="0"/>
              <a:t> </a:t>
            </a:r>
            <a:r>
              <a:rPr lang="en-US" altLang="en-US" dirty="0"/>
              <a:t>—</a:t>
            </a:r>
            <a:r>
              <a:rPr lang="en-US" altLang="en-US" b="1" dirty="0"/>
              <a:t> </a:t>
            </a:r>
            <a:r>
              <a:rPr lang="en-US" altLang="en-US" dirty="0"/>
              <a:t>only committed records to be read. </a:t>
            </a:r>
          </a:p>
          <a:p>
            <a:pPr lvl="1"/>
            <a:r>
              <a:rPr lang="en-US" altLang="en-US" dirty="0"/>
              <a:t>Repeated reads of same record must return same value.</a:t>
            </a:r>
          </a:p>
          <a:p>
            <a:pPr lvl="1"/>
            <a:r>
              <a:rPr lang="en-US" altLang="en-US" dirty="0"/>
              <a:t>However, a transaction may not be serializable – it may find some records inserted by a transaction but not find others.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Read committed</a:t>
            </a:r>
            <a:r>
              <a:rPr lang="en-US" altLang="en-US" b="1" dirty="0"/>
              <a:t> </a:t>
            </a:r>
            <a:r>
              <a:rPr lang="en-US" altLang="en-US" dirty="0"/>
              <a:t>—</a:t>
            </a:r>
            <a:r>
              <a:rPr lang="en-US" altLang="en-US" b="1" dirty="0"/>
              <a:t> </a:t>
            </a:r>
            <a:r>
              <a:rPr lang="en-US" altLang="en-US" dirty="0"/>
              <a:t>only committed records can be read.</a:t>
            </a:r>
          </a:p>
          <a:p>
            <a:pPr lvl="1"/>
            <a:r>
              <a:rPr lang="en-US" altLang="en-US" dirty="0"/>
              <a:t>Successive reads of record may return different (but committed) values.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Read uncommitted</a:t>
            </a:r>
            <a:r>
              <a:rPr lang="en-US" altLang="en-US" dirty="0"/>
              <a:t> —</a:t>
            </a:r>
            <a:r>
              <a:rPr lang="en-US" altLang="en-US" b="1" dirty="0"/>
              <a:t> </a:t>
            </a:r>
            <a:r>
              <a:rPr lang="en-US" altLang="en-US" dirty="0"/>
              <a:t>even uncommitted records may be read. </a:t>
            </a:r>
            <a:endParaRPr lang="en-US" altLang="en-US" b="1" dirty="0"/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538163" y="4135438"/>
            <a:ext cx="75279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ACAF-F04B-44BB-A5C2-EAE4A5FB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of Isolation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06DFC-E228-4A51-A4C2-91BB66D4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2" y="1102497"/>
            <a:ext cx="7741329" cy="5367972"/>
          </a:xfrm>
        </p:spPr>
        <p:txBody>
          <a:bodyPr/>
          <a:lstStyle/>
          <a:p>
            <a:r>
              <a:rPr lang="en-IN" dirty="0" smtClean="0"/>
              <a:t>Locking</a:t>
            </a:r>
            <a:endParaRPr lang="en-IN" dirty="0"/>
          </a:p>
          <a:p>
            <a:pPr lvl="1"/>
            <a:r>
              <a:rPr lang="en-IN" dirty="0"/>
              <a:t>Lock on whole database vs lock on items</a:t>
            </a:r>
          </a:p>
          <a:p>
            <a:pPr lvl="1"/>
            <a:r>
              <a:rPr lang="en-IN" dirty="0"/>
              <a:t>How long to hold lock?</a:t>
            </a:r>
          </a:p>
          <a:p>
            <a:pPr lvl="1"/>
            <a:r>
              <a:rPr lang="en-IN" dirty="0"/>
              <a:t>Shared vs exclusive locks</a:t>
            </a:r>
          </a:p>
          <a:p>
            <a:r>
              <a:rPr lang="en-IN" dirty="0"/>
              <a:t>Timestamps</a:t>
            </a:r>
          </a:p>
          <a:p>
            <a:pPr lvl="1"/>
            <a:r>
              <a:rPr lang="en-IN" dirty="0"/>
              <a:t>Transaction timestamp assigned e.g. when a transaction begins</a:t>
            </a:r>
          </a:p>
          <a:p>
            <a:pPr lvl="1"/>
            <a:r>
              <a:rPr lang="en-IN" dirty="0"/>
              <a:t>Data items store two timestamps</a:t>
            </a:r>
          </a:p>
          <a:p>
            <a:pPr lvl="2"/>
            <a:r>
              <a:rPr lang="en-IN" dirty="0"/>
              <a:t>Read timestamp</a:t>
            </a:r>
          </a:p>
          <a:p>
            <a:pPr lvl="2"/>
            <a:r>
              <a:rPr lang="en-IN" dirty="0"/>
              <a:t>Write timestamp</a:t>
            </a:r>
          </a:p>
          <a:p>
            <a:pPr lvl="1"/>
            <a:r>
              <a:rPr lang="en-IN" dirty="0"/>
              <a:t>Timestamps are used to detect out of order accesses</a:t>
            </a:r>
          </a:p>
          <a:p>
            <a:r>
              <a:rPr lang="en-IN" dirty="0"/>
              <a:t>Multiple versions of each data item</a:t>
            </a:r>
          </a:p>
          <a:p>
            <a:pPr lvl="1"/>
            <a:r>
              <a:rPr lang="en-IN" dirty="0"/>
              <a:t>Allow transactions to read from a “snapshot” of the database</a:t>
            </a:r>
          </a:p>
        </p:txBody>
      </p:sp>
    </p:spTree>
    <p:extLst>
      <p:ext uri="{BB962C8B-B14F-4D97-AF65-F5344CB8AC3E}">
        <p14:creationId xmlns:p14="http://schemas.microsoft.com/office/powerpoint/2010/main" val="334508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6548-0516-4E04-B705-F7A54C9E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Transactions as SQL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5E497-18AF-475A-B6A4-049AF234E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14" y="1003107"/>
            <a:ext cx="8215235" cy="5367972"/>
          </a:xfrm>
        </p:spPr>
        <p:txBody>
          <a:bodyPr/>
          <a:lstStyle/>
          <a:p>
            <a:r>
              <a:rPr lang="en-IN" dirty="0"/>
              <a:t>E.g</a:t>
            </a:r>
            <a:r>
              <a:rPr lang="en-IN" dirty="0" smtClean="0"/>
              <a:t>., </a:t>
            </a:r>
            <a:r>
              <a:rPr lang="en-IN" dirty="0"/>
              <a:t>Transaction 1:</a:t>
            </a:r>
            <a:br>
              <a:rPr lang="en-IN" dirty="0"/>
            </a:br>
            <a:r>
              <a:rPr lang="en-IN" sz="1800" dirty="0"/>
              <a:t>   </a:t>
            </a:r>
            <a:r>
              <a:rPr lang="en-IN" b="1" dirty="0"/>
              <a:t>select</a:t>
            </a:r>
            <a:r>
              <a:rPr lang="en-IN" dirty="0"/>
              <a:t> </a:t>
            </a:r>
            <a:r>
              <a:rPr lang="en-IN" i="1" dirty="0"/>
              <a:t>ID, name  </a:t>
            </a:r>
            <a:r>
              <a:rPr lang="en-IN" dirty="0"/>
              <a:t> </a:t>
            </a:r>
            <a:r>
              <a:rPr lang="en-IN" b="1" dirty="0"/>
              <a:t>from  </a:t>
            </a:r>
            <a:r>
              <a:rPr lang="en-IN" i="1" dirty="0"/>
              <a:t>instructor   </a:t>
            </a:r>
            <a:r>
              <a:rPr lang="en-IN" b="1" dirty="0"/>
              <a:t>where</a:t>
            </a:r>
            <a:r>
              <a:rPr lang="en-IN" dirty="0"/>
              <a:t> </a:t>
            </a:r>
            <a:r>
              <a:rPr lang="en-IN" i="1" dirty="0"/>
              <a:t>salary</a:t>
            </a:r>
            <a:r>
              <a:rPr lang="en-IN" dirty="0"/>
              <a:t> &gt; 90000</a:t>
            </a:r>
            <a:endParaRPr lang="en-IN" sz="1800" dirty="0"/>
          </a:p>
          <a:p>
            <a:r>
              <a:rPr lang="en-IN" dirty="0" smtClean="0"/>
              <a:t>E.g., Transaction </a:t>
            </a:r>
            <a:r>
              <a:rPr lang="en-IN" dirty="0"/>
              <a:t>2:</a:t>
            </a:r>
            <a:br>
              <a:rPr lang="en-IN" dirty="0"/>
            </a:br>
            <a:r>
              <a:rPr lang="en-IN" dirty="0"/>
              <a:t>   </a:t>
            </a:r>
            <a:r>
              <a:rPr lang="en-IN" b="1" dirty="0"/>
              <a:t>insert into</a:t>
            </a:r>
            <a:r>
              <a:rPr lang="en-IN" dirty="0"/>
              <a:t> </a:t>
            </a:r>
            <a:r>
              <a:rPr lang="en-IN" i="1" dirty="0"/>
              <a:t>instructor</a:t>
            </a:r>
            <a:r>
              <a:rPr lang="en-IN" dirty="0"/>
              <a:t> </a:t>
            </a:r>
            <a:r>
              <a:rPr lang="en-IN" b="1" dirty="0"/>
              <a:t>values</a:t>
            </a:r>
            <a:r>
              <a:rPr lang="en-IN" dirty="0"/>
              <a:t> ('11111', 'James', 'Marketing', 100000</a:t>
            </a:r>
            <a:r>
              <a:rPr lang="en-IN" dirty="0" smtClean="0"/>
              <a:t>)</a:t>
            </a:r>
          </a:p>
          <a:p>
            <a:r>
              <a:rPr lang="en-IN" dirty="0" smtClean="0"/>
              <a:t>The result of the query (T1) will be different depending on whether T2 comes before or after T1.</a:t>
            </a:r>
          </a:p>
          <a:p>
            <a:r>
              <a:rPr lang="en-IN" dirty="0" smtClean="0"/>
              <a:t>In concurrent execution of these T1 and T2, conflict occurs </a:t>
            </a:r>
            <a:endParaRPr lang="en-IN" dirty="0"/>
          </a:p>
          <a:p>
            <a:pPr lvl="1"/>
            <a:r>
              <a:rPr lang="en-IN" dirty="0"/>
              <a:t>T1 starts, finds tuples salary &gt; 90000 using index and locks </a:t>
            </a:r>
            <a:r>
              <a:rPr lang="en-IN" dirty="0" smtClean="0"/>
              <a:t>them, and </a:t>
            </a:r>
            <a:r>
              <a:rPr lang="en-IN" dirty="0"/>
              <a:t>then T2 executes.  </a:t>
            </a:r>
          </a:p>
          <a:p>
            <a:pPr lvl="1"/>
            <a:r>
              <a:rPr lang="en-IN" dirty="0" smtClean="0"/>
              <a:t>Instance </a:t>
            </a:r>
            <a:r>
              <a:rPr lang="en-IN" dirty="0"/>
              <a:t>of the </a:t>
            </a:r>
            <a:r>
              <a:rPr lang="en-IN" b="1" dirty="0">
                <a:solidFill>
                  <a:srgbClr val="002060"/>
                </a:solidFill>
              </a:rPr>
              <a:t>phantom phenomenon</a:t>
            </a:r>
          </a:p>
          <a:p>
            <a:endParaRPr lang="en-IN" dirty="0" smtClean="0"/>
          </a:p>
          <a:p>
            <a:r>
              <a:rPr lang="en-IN" dirty="0" smtClean="0"/>
              <a:t>Let’s </a:t>
            </a:r>
            <a:r>
              <a:rPr lang="en-IN" dirty="0"/>
              <a:t>consider T3 below, with Wu’s salary = 90000 </a:t>
            </a:r>
            <a:br>
              <a:rPr lang="en-IN" dirty="0"/>
            </a:br>
            <a:r>
              <a:rPr lang="en-IN" sz="1800" dirty="0"/>
              <a:t>    </a:t>
            </a:r>
            <a:r>
              <a:rPr lang="en-IN" sz="1800" b="1" dirty="0"/>
              <a:t>update</a:t>
            </a:r>
            <a:r>
              <a:rPr lang="en-IN" sz="1800" dirty="0"/>
              <a:t> </a:t>
            </a:r>
            <a:r>
              <a:rPr lang="en-IN" sz="1800" i="1" dirty="0"/>
              <a:t>instructor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set</a:t>
            </a:r>
            <a:r>
              <a:rPr lang="en-IN" sz="1800" dirty="0"/>
              <a:t> </a:t>
            </a:r>
            <a:r>
              <a:rPr lang="en-IN" sz="1800" i="1" dirty="0"/>
              <a:t>salary</a:t>
            </a:r>
            <a:r>
              <a:rPr lang="en-IN" sz="1800" dirty="0"/>
              <a:t> = </a:t>
            </a:r>
            <a:r>
              <a:rPr lang="en-IN" sz="1800" i="1" dirty="0"/>
              <a:t>salary</a:t>
            </a:r>
            <a:r>
              <a:rPr lang="en-IN" sz="1800" dirty="0"/>
              <a:t> * 1.1</a:t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where</a:t>
            </a:r>
            <a:r>
              <a:rPr lang="en-IN" sz="1800" dirty="0"/>
              <a:t> </a:t>
            </a:r>
            <a:r>
              <a:rPr lang="en-IN" sz="1800" i="1" dirty="0"/>
              <a:t>name</a:t>
            </a:r>
            <a:r>
              <a:rPr lang="en-IN" sz="1800" dirty="0"/>
              <a:t> = 'Wu’ </a:t>
            </a:r>
          </a:p>
          <a:p>
            <a:r>
              <a:rPr lang="en-IN" dirty="0"/>
              <a:t>Key idea:  Detect “</a:t>
            </a:r>
            <a:r>
              <a:rPr lang="en-IN" b="1" dirty="0">
                <a:solidFill>
                  <a:srgbClr val="002060"/>
                </a:solidFill>
              </a:rPr>
              <a:t>predicate</a:t>
            </a:r>
            <a:r>
              <a:rPr lang="en-IN" dirty="0"/>
              <a:t>” conflicts, and use some form of  “</a:t>
            </a:r>
            <a:r>
              <a:rPr lang="en-IN" b="1" dirty="0">
                <a:solidFill>
                  <a:srgbClr val="002060"/>
                </a:solidFill>
              </a:rPr>
              <a:t>predicate locking</a:t>
            </a:r>
            <a:r>
              <a:rPr lang="en-IN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748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232727" y="286328"/>
            <a:ext cx="2738250" cy="2339102"/>
            <a:chOff x="1560945" y="1182255"/>
            <a:chExt cx="2738250" cy="2339102"/>
          </a:xfrm>
        </p:grpSpPr>
        <p:sp>
          <p:nvSpPr>
            <p:cNvPr id="2" name="TextBox 1"/>
            <p:cNvSpPr txBox="1"/>
            <p:nvPr/>
          </p:nvSpPr>
          <p:spPr>
            <a:xfrm>
              <a:off x="1560945" y="1182255"/>
              <a:ext cx="2738250" cy="2339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	</a:t>
              </a:r>
              <a:r>
                <a:rPr lang="en-US" sz="1800" dirty="0" smtClean="0"/>
                <a:t>S</a:t>
              </a:r>
              <a:endParaRPr lang="en-US" dirty="0" smtClean="0"/>
            </a:p>
            <a:p>
              <a:r>
                <a:rPr lang="en-US" b="1" dirty="0" smtClean="0">
                  <a:solidFill>
                    <a:srgbClr val="000099"/>
                  </a:solidFill>
                </a:rPr>
                <a:t>T1                 	T2</a:t>
              </a:r>
              <a:endParaRPr lang="en-US" dirty="0" smtClean="0"/>
            </a:p>
            <a:p>
              <a:r>
                <a:rPr lang="en-US" dirty="0" smtClean="0"/>
                <a:t>R(A)		</a:t>
              </a:r>
            </a:p>
            <a:p>
              <a:r>
                <a:rPr lang="en-US" dirty="0"/>
                <a:t>	</a:t>
              </a:r>
              <a:r>
                <a:rPr lang="en-US" dirty="0" smtClean="0"/>
                <a:t>	W(A)</a:t>
              </a:r>
            </a:p>
            <a:p>
              <a:r>
                <a:rPr lang="en-US" dirty="0" smtClean="0"/>
                <a:t>W(A)</a:t>
              </a:r>
            </a:p>
            <a:p>
              <a:r>
                <a:rPr lang="en-US" dirty="0"/>
                <a:t>	</a:t>
              </a:r>
              <a:r>
                <a:rPr lang="en-US" dirty="0" smtClean="0"/>
                <a:t>	W(A)</a:t>
              </a:r>
            </a:p>
            <a:p>
              <a:r>
                <a:rPr lang="en-US" dirty="0"/>
                <a:t>	</a:t>
              </a:r>
              <a:r>
                <a:rPr lang="en-US" dirty="0" smtClean="0"/>
                <a:t>	Commit</a:t>
              </a:r>
            </a:p>
            <a:p>
              <a:r>
                <a:rPr lang="en-US" dirty="0" smtClean="0"/>
                <a:t>R(A)</a:t>
              </a:r>
            </a:p>
            <a:p>
              <a:r>
                <a:rPr lang="en-US" dirty="0" smtClean="0"/>
                <a:t>Commit</a:t>
              </a:r>
              <a:endParaRPr lang="en-IN" dirty="0"/>
            </a:p>
          </p:txBody>
        </p:sp>
        <p:cxnSp>
          <p:nvCxnSpPr>
            <p:cNvPr id="4" name="Straight Arrow Connector 3"/>
            <p:cNvCxnSpPr/>
            <p:nvPr/>
          </p:nvCxnSpPr>
          <p:spPr bwMode="auto">
            <a:xfrm>
              <a:off x="2780145" y="1588655"/>
              <a:ext cx="18473" cy="1828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" name="Group 5"/>
          <p:cNvGrpSpPr/>
          <p:nvPr/>
        </p:nvGrpSpPr>
        <p:grpSpPr>
          <a:xfrm>
            <a:off x="494477" y="2812474"/>
            <a:ext cx="2738250" cy="2339102"/>
            <a:chOff x="1560945" y="1182255"/>
            <a:chExt cx="2738250" cy="2339102"/>
          </a:xfrm>
        </p:grpSpPr>
        <p:sp>
          <p:nvSpPr>
            <p:cNvPr id="7" name="TextBox 6"/>
            <p:cNvSpPr txBox="1"/>
            <p:nvPr/>
          </p:nvSpPr>
          <p:spPr>
            <a:xfrm>
              <a:off x="1560945" y="1182255"/>
              <a:ext cx="2738250" cy="2339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	</a:t>
              </a:r>
              <a:r>
                <a:rPr lang="en-US" sz="1800" dirty="0" smtClean="0"/>
                <a:t>S</a:t>
              </a:r>
              <a:endParaRPr lang="en-US" dirty="0" smtClean="0"/>
            </a:p>
            <a:p>
              <a:r>
                <a:rPr lang="en-US" b="1" dirty="0" smtClean="0">
                  <a:solidFill>
                    <a:srgbClr val="000099"/>
                  </a:solidFill>
                </a:rPr>
                <a:t>T1                 	T2</a:t>
              </a:r>
            </a:p>
            <a:p>
              <a:r>
                <a:rPr lang="en-US" dirty="0" smtClean="0"/>
                <a:t>R(A)</a:t>
              </a:r>
            </a:p>
            <a:p>
              <a:r>
                <a:rPr lang="en-US" dirty="0" smtClean="0"/>
                <a:t>W(A)		</a:t>
              </a:r>
            </a:p>
            <a:p>
              <a:r>
                <a:rPr lang="en-US" dirty="0"/>
                <a:t>	</a:t>
              </a:r>
              <a:r>
                <a:rPr lang="en-US" dirty="0" smtClean="0"/>
                <a:t>	R(A)</a:t>
              </a:r>
            </a:p>
            <a:p>
              <a:r>
                <a:rPr lang="en-US" dirty="0" smtClean="0"/>
                <a:t>		W(A)</a:t>
              </a:r>
            </a:p>
            <a:p>
              <a:r>
                <a:rPr lang="en-US" dirty="0" smtClean="0"/>
                <a:t>		Commit</a:t>
              </a:r>
            </a:p>
            <a:p>
              <a:r>
                <a:rPr lang="en-US" dirty="0" smtClean="0"/>
                <a:t>R(A)</a:t>
              </a:r>
            </a:p>
            <a:p>
              <a:r>
                <a:rPr lang="en-US" dirty="0" smtClean="0"/>
                <a:t>Abort</a:t>
              </a:r>
              <a:r>
                <a:rPr lang="en-US" dirty="0"/>
                <a:t>	</a:t>
              </a:r>
              <a:r>
                <a:rPr lang="en-US" dirty="0" smtClean="0"/>
                <a:t>	</a:t>
              </a:r>
              <a:endParaRPr lang="en-IN" dirty="0"/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>
              <a:off x="2780145" y="1588655"/>
              <a:ext cx="22759" cy="17872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0" name="TextBox 9"/>
          <p:cNvSpPr txBox="1"/>
          <p:nvPr/>
        </p:nvSpPr>
        <p:spPr>
          <a:xfrm>
            <a:off x="3385127" y="4412235"/>
            <a:ext cx="2738250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	</a:t>
            </a:r>
            <a:r>
              <a:rPr lang="en-US" sz="1800" dirty="0" smtClean="0"/>
              <a:t>S</a:t>
            </a:r>
            <a:endParaRPr lang="en-US" dirty="0" smtClean="0"/>
          </a:p>
          <a:p>
            <a:r>
              <a:rPr lang="en-US" dirty="0" smtClean="0">
                <a:solidFill>
                  <a:srgbClr val="000099"/>
                </a:solidFill>
              </a:rPr>
              <a:t>T1                 	T2</a:t>
            </a:r>
          </a:p>
          <a:p>
            <a:r>
              <a:rPr lang="en-US" dirty="0"/>
              <a:t>W</a:t>
            </a:r>
            <a:r>
              <a:rPr lang="en-US" dirty="0" smtClean="0"/>
              <a:t>(A)		</a:t>
            </a:r>
          </a:p>
          <a:p>
            <a:r>
              <a:rPr lang="en-US" dirty="0"/>
              <a:t>	</a:t>
            </a:r>
            <a:r>
              <a:rPr lang="en-US" dirty="0" smtClean="0"/>
              <a:t>	W(A)</a:t>
            </a:r>
          </a:p>
          <a:p>
            <a:r>
              <a:rPr lang="en-US" dirty="0" smtClean="0"/>
              <a:t>		W(B)</a:t>
            </a:r>
          </a:p>
          <a:p>
            <a:r>
              <a:rPr lang="en-US" dirty="0"/>
              <a:t>	</a:t>
            </a:r>
            <a:r>
              <a:rPr lang="en-US" dirty="0" smtClean="0"/>
              <a:t>	Commit</a:t>
            </a:r>
          </a:p>
          <a:p>
            <a:r>
              <a:rPr lang="en-US" dirty="0" smtClean="0"/>
              <a:t>W(B)</a:t>
            </a:r>
          </a:p>
          <a:p>
            <a:r>
              <a:rPr lang="en-US" dirty="0" smtClean="0"/>
              <a:t>Commit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359568" y="3009052"/>
            <a:ext cx="2499402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	</a:t>
            </a:r>
            <a:r>
              <a:rPr lang="en-US" sz="1800" dirty="0" smtClean="0"/>
              <a:t>S</a:t>
            </a:r>
            <a:endParaRPr lang="en-US" dirty="0" smtClean="0"/>
          </a:p>
          <a:p>
            <a:r>
              <a:rPr lang="en-US" b="1" dirty="0" smtClean="0">
                <a:solidFill>
                  <a:srgbClr val="000099"/>
                </a:solidFill>
              </a:rPr>
              <a:t>T1                 	T2</a:t>
            </a:r>
          </a:p>
          <a:p>
            <a:r>
              <a:rPr lang="en-US" dirty="0" smtClean="0"/>
              <a:t>R(A)		</a:t>
            </a:r>
          </a:p>
          <a:p>
            <a:r>
              <a:rPr lang="en-US" dirty="0"/>
              <a:t>	</a:t>
            </a:r>
            <a:r>
              <a:rPr lang="en-US" dirty="0" smtClean="0"/>
              <a:t>	R(A)</a:t>
            </a:r>
          </a:p>
          <a:p>
            <a:r>
              <a:rPr lang="en-US" dirty="0" smtClean="0"/>
              <a:t>		W(A)</a:t>
            </a:r>
          </a:p>
          <a:p>
            <a:r>
              <a:rPr lang="en-US" dirty="0"/>
              <a:t>R</a:t>
            </a:r>
            <a:r>
              <a:rPr lang="en-US" dirty="0" smtClean="0"/>
              <a:t>(A)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4470400" y="5006109"/>
            <a:ext cx="0" cy="1422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>
            <a:off x="7458364" y="3514436"/>
            <a:ext cx="0" cy="1422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469373" y="4977786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Unrepeatable Read </a:t>
            </a:r>
            <a:endParaRPr lang="en-US" b="1" dirty="0" smtClean="0">
              <a:solidFill>
                <a:srgbClr val="000099"/>
              </a:solidFill>
            </a:endParaRPr>
          </a:p>
          <a:p>
            <a:r>
              <a:rPr lang="en-US" b="1" dirty="0" smtClean="0">
                <a:solidFill>
                  <a:srgbClr val="000099"/>
                </a:solidFill>
              </a:rPr>
              <a:t>(</a:t>
            </a:r>
            <a:r>
              <a:rPr lang="en-US" b="1" dirty="0">
                <a:solidFill>
                  <a:srgbClr val="000099"/>
                </a:solidFill>
              </a:rPr>
              <a:t>R-W </a:t>
            </a:r>
            <a:r>
              <a:rPr lang="en-US" b="1" dirty="0" smtClean="0">
                <a:solidFill>
                  <a:srgbClr val="000099"/>
                </a:solidFill>
              </a:rPr>
              <a:t>Conflict)</a:t>
            </a:r>
            <a:endParaRPr lang="en-IN" b="1" dirty="0">
              <a:solidFill>
                <a:srgbClr val="00009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31081" y="6226067"/>
            <a:ext cx="2570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99"/>
                </a:solidFill>
              </a:rPr>
              <a:t>Overwrite (W-W conflict)</a:t>
            </a:r>
            <a:endParaRPr lang="en-IN" b="1" dirty="0">
              <a:solidFill>
                <a:srgbClr val="00009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255" y="5243232"/>
            <a:ext cx="2634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99"/>
                </a:solidFill>
              </a:rPr>
              <a:t>Dirty Read (W-R Conflict)</a:t>
            </a:r>
            <a:endParaRPr lang="en-IN" b="1" dirty="0">
              <a:solidFill>
                <a:srgbClr val="00009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14356" y="2693276"/>
            <a:ext cx="2618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99"/>
                </a:solidFill>
              </a:rPr>
              <a:t>(Not conflict serializable)</a:t>
            </a:r>
            <a:endParaRPr lang="en-IN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3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17" grpId="0"/>
      <p:bldP spid="18" grpId="0"/>
      <p:bldP spid="1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69F0-E989-4F4E-9740-0E12922F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3947" y="2796646"/>
            <a:ext cx="5168964" cy="815505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End of Chapter 17</a:t>
            </a:r>
            <a:endParaRPr lang="en-IN" sz="32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377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90643</TotalTime>
  <Words>3630</Words>
  <Application>Microsoft Office PowerPoint</Application>
  <PresentationFormat>On-screen Show (4:3)</PresentationFormat>
  <Paragraphs>721</Paragraphs>
  <Slides>52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MS PGothic</vt:lpstr>
      <vt:lpstr>MS PGothic</vt:lpstr>
      <vt:lpstr>Arial</vt:lpstr>
      <vt:lpstr>Book Antiqua</vt:lpstr>
      <vt:lpstr>Calibri</vt:lpstr>
      <vt:lpstr>Helvetica</vt:lpstr>
      <vt:lpstr>Monotype Sorts</vt:lpstr>
      <vt:lpstr>Times New Roman</vt:lpstr>
      <vt:lpstr>Webdings</vt:lpstr>
      <vt:lpstr>Wingdings</vt:lpstr>
      <vt:lpstr>db</vt:lpstr>
      <vt:lpstr>Office Theme</vt:lpstr>
      <vt:lpstr>Module 17: Transactions </vt:lpstr>
      <vt:lpstr>Outline</vt:lpstr>
      <vt:lpstr>Transaction Concept</vt:lpstr>
      <vt:lpstr>Example of Fund Transfer</vt:lpstr>
      <vt:lpstr>Example of Fund Transfer (Cont.)</vt:lpstr>
      <vt:lpstr>Example of Fund Transfer (Cont.)</vt:lpstr>
      <vt:lpstr>ACID Properties</vt:lpstr>
      <vt:lpstr>Transaction State</vt:lpstr>
      <vt:lpstr>Concurrent Executions</vt:lpstr>
      <vt:lpstr>Schedules</vt:lpstr>
      <vt:lpstr>Schedule 1</vt:lpstr>
      <vt:lpstr>Schedule 2</vt:lpstr>
      <vt:lpstr>Schedule 3</vt:lpstr>
      <vt:lpstr>Schedule 4</vt:lpstr>
      <vt:lpstr>Serializability</vt:lpstr>
      <vt:lpstr>Serializable Schedules</vt:lpstr>
      <vt:lpstr>Examples</vt:lpstr>
      <vt:lpstr>Examples: A Serial Schedule</vt:lpstr>
      <vt:lpstr>Examples: Another Serial Schedule</vt:lpstr>
      <vt:lpstr>Examples: A Serializable Schedule</vt:lpstr>
      <vt:lpstr>Anomalies Due to Concurrency</vt:lpstr>
      <vt:lpstr>Reading Uncommitted Data: WR Conflicts</vt:lpstr>
      <vt:lpstr>Reading Uncommitted Data: WR Conflicts</vt:lpstr>
      <vt:lpstr>Reading Uncommitted Data: WR Conflicts</vt:lpstr>
      <vt:lpstr>Reading Uncommitted Data: WR Conflicts</vt:lpstr>
      <vt:lpstr>Reading Uncommitted Data: WR Conflicts</vt:lpstr>
      <vt:lpstr>Reading Uncommitted Data: WR Conflicts</vt:lpstr>
      <vt:lpstr>Unrepeatable Reads: RW Conflicts</vt:lpstr>
      <vt:lpstr>Unrepeatable Reads: RW Conflicts</vt:lpstr>
      <vt:lpstr>Overwriting Uncommitted Data:  WW Conflicts</vt:lpstr>
      <vt:lpstr>Overwriting Uncommitted Data:  WW Conflicts</vt:lpstr>
      <vt:lpstr>Overwriting Uncommitted Data:  WW Conflicts</vt:lpstr>
      <vt:lpstr>Overwriting Uncommitted Data:  WW Conflicts</vt:lpstr>
      <vt:lpstr>Conflicting Instructions </vt:lpstr>
      <vt:lpstr>Conflict Serializability</vt:lpstr>
      <vt:lpstr>Conflict Serializability (Cont.)</vt:lpstr>
      <vt:lpstr>Conflict Serializability (Cont.)</vt:lpstr>
      <vt:lpstr>Testing for Serializability </vt:lpstr>
      <vt:lpstr>PowerPoint Presentation</vt:lpstr>
      <vt:lpstr>PowerPoint Presentation</vt:lpstr>
      <vt:lpstr>Other schedule equivalence</vt:lpstr>
      <vt:lpstr>Recoverable Schedules</vt:lpstr>
      <vt:lpstr>Cascading Rollbacks</vt:lpstr>
      <vt:lpstr>Cascadeless Schedules</vt:lpstr>
      <vt:lpstr>Concurrency Control</vt:lpstr>
      <vt:lpstr>Concurrency Control vs. Serializability Tests</vt:lpstr>
      <vt:lpstr>Weak Levels of Consistency</vt:lpstr>
      <vt:lpstr>Levels of Consistency in SQL-92</vt:lpstr>
      <vt:lpstr>Implementation of Isolation Levels</vt:lpstr>
      <vt:lpstr>Transactions as SQL Statements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17: Transactions</dc:title>
  <dc:creator>Silberschatz;Korth and Sudarshan</dc:creator>
  <cp:lastModifiedBy>Mukesh Mohania</cp:lastModifiedBy>
  <cp:revision>648</cp:revision>
  <cp:lastPrinted>1999-06-28T19:27:31Z</cp:lastPrinted>
  <dcterms:created xsi:type="dcterms:W3CDTF">2009-12-21T15:40:23Z</dcterms:created>
  <dcterms:modified xsi:type="dcterms:W3CDTF">2023-04-12T09:18:29Z</dcterms:modified>
</cp:coreProperties>
</file>