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  <p:sldMasterId id="2147483675" r:id="rId3"/>
  </p:sldMasterIdLst>
  <p:notesMasterIdLst>
    <p:notesMasterId r:id="rId74"/>
  </p:notesMasterIdLst>
  <p:handoutMasterIdLst>
    <p:handoutMasterId r:id="rId75"/>
  </p:handoutMasterIdLst>
  <p:sldIdLst>
    <p:sldId id="256" r:id="rId4"/>
    <p:sldId id="1354" r:id="rId5"/>
    <p:sldId id="1395" r:id="rId6"/>
    <p:sldId id="1396" r:id="rId7"/>
    <p:sldId id="1397" r:id="rId8"/>
    <p:sldId id="1398" r:id="rId9"/>
    <p:sldId id="1399" r:id="rId10"/>
    <p:sldId id="1400" r:id="rId11"/>
    <p:sldId id="1404" r:id="rId12"/>
    <p:sldId id="1423" r:id="rId13"/>
    <p:sldId id="1424" r:id="rId14"/>
    <p:sldId id="1405" r:id="rId15"/>
    <p:sldId id="1406" r:id="rId16"/>
    <p:sldId id="1410" r:id="rId17"/>
    <p:sldId id="1407" r:id="rId18"/>
    <p:sldId id="1411" r:id="rId19"/>
    <p:sldId id="1409" r:id="rId20"/>
    <p:sldId id="1412" r:id="rId21"/>
    <p:sldId id="1414" r:id="rId22"/>
    <p:sldId id="1415" r:id="rId23"/>
    <p:sldId id="1417" r:id="rId24"/>
    <p:sldId id="1418" r:id="rId25"/>
    <p:sldId id="1421" r:id="rId26"/>
    <p:sldId id="1419" r:id="rId27"/>
    <p:sldId id="1422" r:id="rId28"/>
    <p:sldId id="1505" r:id="rId29"/>
    <p:sldId id="1506" r:id="rId30"/>
    <p:sldId id="1513" r:id="rId31"/>
    <p:sldId id="1507" r:id="rId32"/>
    <p:sldId id="1508" r:id="rId33"/>
    <p:sldId id="1509" r:id="rId34"/>
    <p:sldId id="1510" r:id="rId35"/>
    <p:sldId id="1511" r:id="rId36"/>
    <p:sldId id="1470" r:id="rId37"/>
    <p:sldId id="1474" r:id="rId38"/>
    <p:sldId id="1475" r:id="rId39"/>
    <p:sldId id="1476" r:id="rId40"/>
    <p:sldId id="1472" r:id="rId41"/>
    <p:sldId id="1477" r:id="rId42"/>
    <p:sldId id="1478" r:id="rId43"/>
    <p:sldId id="1483" r:id="rId44"/>
    <p:sldId id="1479" r:id="rId45"/>
    <p:sldId id="1480" r:id="rId46"/>
    <p:sldId id="1514" r:id="rId47"/>
    <p:sldId id="1515" r:id="rId48"/>
    <p:sldId id="1516" r:id="rId49"/>
    <p:sldId id="1481" r:id="rId50"/>
    <p:sldId id="1482" r:id="rId51"/>
    <p:sldId id="1484" r:id="rId52"/>
    <p:sldId id="1485" r:id="rId53"/>
    <p:sldId id="1486" r:id="rId54"/>
    <p:sldId id="1487" r:id="rId55"/>
    <p:sldId id="1490" r:id="rId56"/>
    <p:sldId id="1491" r:id="rId57"/>
    <p:sldId id="1492" r:id="rId58"/>
    <p:sldId id="1494" r:id="rId59"/>
    <p:sldId id="1495" r:id="rId60"/>
    <p:sldId id="1496" r:id="rId61"/>
    <p:sldId id="1504" r:id="rId62"/>
    <p:sldId id="1517" r:id="rId63"/>
    <p:sldId id="1518" r:id="rId64"/>
    <p:sldId id="1519" r:id="rId65"/>
    <p:sldId id="1521" r:id="rId66"/>
    <p:sldId id="1522" r:id="rId67"/>
    <p:sldId id="1523" r:id="rId68"/>
    <p:sldId id="1524" r:id="rId69"/>
    <p:sldId id="1525" r:id="rId70"/>
    <p:sldId id="1526" r:id="rId71"/>
    <p:sldId id="1527" r:id="rId72"/>
    <p:sldId id="1528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0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835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6CA34-8411-407E-893D-8E71990DC10C}" type="datetimeFigureOut">
              <a:rPr lang="en-US" smtClean="0"/>
              <a:t>4/19/2023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777B9-B548-4935-8E6D-F45127D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7257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7C770-57F1-4183-B1B5-424B207D1741}" type="datetimeFigureOut">
              <a:rPr lang="en-US" smtClean="0"/>
              <a:t>4/19/2023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4ED4D-EFD9-46AD-897E-D5BE4B53C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88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97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8794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1A6D1-0721-4D26-A1A3-1AB4D70577E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8794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47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5248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8794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02E69-A796-456C-8856-48AD9C8C9A4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8794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If a lock cannot be granted, the requesting transaction is made to wait till all incompatible locks held by other transactions have been released.  The lock is then granted.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3331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8794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8A582B-3CD1-4357-870E-F2BE1FD49E7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8794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8970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8794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58FF41-950F-4F96-8279-E010A1BE69B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8794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2285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8794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3A6097-897E-46D6-809E-2E2D3FD64F8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8794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0482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8794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58FF41-950F-4F96-8279-E010A1BE69B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8794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3588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8794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3A6097-897E-46D6-809E-2E2D3FD64F8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8794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9896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8794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57AB9-3BFC-4073-B22E-4956C57EECC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8794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7861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step</a:t>
            </a:r>
            <a:r>
              <a:rPr lang="en-US" baseline="0" dirty="0" smtClean="0"/>
              <a:t> 2, the combination of all </a:t>
            </a:r>
            <a:r>
              <a:rPr lang="en-US" sz="1200" dirty="0" smtClean="0"/>
              <a:t>Query optimization is one of the most important tasks of a relational DBMS</a:t>
            </a:r>
          </a:p>
          <a:p>
            <a:r>
              <a:rPr lang="en-US" baseline="0" dirty="0" smtClean="0"/>
              <a:t>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6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007E-8C7F-4E2E-BC7B-2A3A1679722A}" type="datetime1">
              <a:rPr lang="en-US" smtClean="0"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FE0C-32D0-48F6-B754-86DDD932679A}" type="datetime1">
              <a:rPr lang="en-US" smtClean="0"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8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F951-6F0A-4BC8-8E78-042EB20EDAB0}" type="datetime1">
              <a:rPr lang="en-US" smtClean="0"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3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27F7-2F2A-48BC-9DFD-9A2600CFA556}" type="datetime1">
              <a:rPr lang="en-US" smtClean="0"/>
              <a:t>4/19/2023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76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FDD5-512B-4522-BA85-F72134273AE1}" type="datetime1">
              <a:rPr lang="en-US" smtClean="0"/>
              <a:t>4/19/2023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58DFD-FDB4-43ED-A73B-376F2F66B10F}" type="datetime1">
              <a:rPr lang="en-US" smtClean="0"/>
              <a:t>4/19/2023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5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B476-D146-4EA7-B6A7-C7ED67CB0904}" type="datetime1">
              <a:rPr lang="en-US" smtClean="0"/>
              <a:t>4/19/2023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5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457E-5E49-4C84-A5ED-8D6AE6DEE17A}" type="datetime1">
              <a:rPr lang="en-US" smtClean="0"/>
              <a:t>4/19/2023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5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7378-4043-40E8-88FD-3B9FC25ACA76}" type="datetime1">
              <a:rPr lang="en-US" smtClean="0"/>
              <a:t>4/19/2023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7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5160-A181-4E5D-A8B9-6CC6B5BAC31C}" type="datetime1">
              <a:rPr lang="en-US" smtClean="0"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1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D89C-2CB1-4680-B533-FD01CA337ED3}" type="datetime1">
              <a:rPr lang="en-US" smtClean="0"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56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alt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  <a:b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DC9EC4-5C98-44E9-9772-DADA868FE973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Cover-6Ed">
            <a:extLst>
              <a:ext uri="{FF2B5EF4-FFF2-40B4-BE49-F238E27FC236}">
                <a16:creationId xmlns:a16="http://schemas.microsoft.com/office/drawing/2014/main" id="{5F8709C0-BCA3-4293-869D-7D16F67CF9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2237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C0FF13-A7A4-47FE-9669-E2EFAD58ABE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951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F29D90-88FA-402A-BEA8-1EF51CAB675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989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F592F4-3A7D-46E7-98AB-5C544D380A1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8520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4C0E4B-79D4-46C0-883C-5BC043062C35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369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FDF77F-67A1-48F6-8358-97C70542CB2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8265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16F0F5-1220-4B86-AECD-B7BEE6E1BE7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687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5D68A-6EDF-45EE-BBA8-637BD793E613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218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035670-FB96-4DB8-BA64-B31D7C042BD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7640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E145AF-6EF6-4D3F-9F5A-D9A01965DFC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05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0473E3-C97D-4F1E-BBB4-46F84DAEF79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0498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ED80F2-B6B5-42D7-B641-5532DED86820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515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alt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</a:t>
            </a:r>
            <a:r>
              <a:rPr kumimoji="0" lang="en-US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Korth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and Sudarshan</a:t>
            </a:r>
            <a:b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8533F7-750B-4DBA-96FC-65DC7E364DF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45198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©Silberschatz, Korth and Sudarshan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pic>
        <p:nvPicPr>
          <p:cNvPr id="6" name="Picture 8" descr="Cover-6Ed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DC9EC4-5C98-44E9-9772-DADA868FE97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3820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alt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  <a:b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DC9EC4-5C98-44E9-9772-DADA868FE973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Cover-6Ed">
            <a:extLst>
              <a:ext uri="{FF2B5EF4-FFF2-40B4-BE49-F238E27FC236}">
                <a16:creationId xmlns:a16="http://schemas.microsoft.com/office/drawing/2014/main" id="{5F8709C0-BCA3-4293-869D-7D16F67CF9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3503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C0FF13-A7A4-47FE-9669-E2EFAD58ABE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197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F29D90-88FA-402A-BEA8-1EF51CAB675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40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F592F4-3A7D-46E7-98AB-5C544D380A1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5254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4C0E4B-79D4-46C0-883C-5BC043062C35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6725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FDF77F-67A1-48F6-8358-97C70542CB2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2934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16F0F5-1220-4B86-AECD-B7BEE6E1BE7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788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5D68A-6EDF-45EE-BBA8-637BD793E613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3127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035670-FB96-4DB8-BA64-B31D7C042BD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6840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E145AF-6EF6-4D3F-9F5A-D9A01965DFC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9978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0473E3-C97D-4F1E-BBB4-46F84DAEF79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3257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ED80F2-B6B5-42D7-B641-5532DED86820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128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alt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</a:t>
            </a:r>
            <a:r>
              <a:rPr kumimoji="0" lang="en-US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Korth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and Sudarshan</a:t>
            </a:r>
            <a:b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8533F7-750B-4DBA-96FC-65DC7E364DF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3105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©Silberschatz, Korth and Sudarshan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pic>
        <p:nvPicPr>
          <p:cNvPr id="6" name="Picture 8" descr="Cover-6Ed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DC9EC4-5C98-44E9-9772-DADA868FE97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76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FE058-E24E-44D4-8AE6-4ED6084A3F18}" type="datetime1">
              <a:rPr lang="en-US" smtClean="0"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251494-9320-46DB-9561-B10814EE66F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18.</a:t>
            </a:r>
            <a:fld id="{370CC2A8-7410-4F9E-B2CB-FCF9B3031B7B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charset="0"/>
              </a:rPr>
              <a:t>Database System Concepts - 7</a:t>
            </a:r>
            <a:r>
              <a:rPr kumimoji="0" 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charset="0"/>
              </a:rPr>
              <a:t>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charset="0"/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B1280626-73DF-45AA-8D8E-C04647F395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222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251494-9320-46DB-9561-B10814EE66F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18.</a:t>
            </a:r>
            <a:fld id="{370CC2A8-7410-4F9E-B2CB-FCF9B3031B7B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charset="0"/>
              </a:rPr>
              <a:t>Database System Concepts - 7</a:t>
            </a:r>
            <a:r>
              <a:rPr kumimoji="0" 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charset="0"/>
              </a:rPr>
              <a:t>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MS PGothic" charset="0"/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B1280626-73DF-45AA-8D8E-C04647F395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48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.sv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3352800"/>
          </a:xfrm>
        </p:spPr>
        <p:txBody>
          <a:bodyPr>
            <a:normAutofit/>
          </a:bodyPr>
          <a:lstStyle/>
          <a:p>
            <a:r>
              <a:rPr lang="en-US" sz="4900" dirty="0" smtClean="0"/>
              <a:t>Concurrency Control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019800"/>
            <a:ext cx="6400800" cy="381000"/>
          </a:xfrm>
        </p:spPr>
        <p:txBody>
          <a:bodyPr>
            <a:normAutofit/>
          </a:bodyPr>
          <a:lstStyle/>
          <a:p>
            <a:r>
              <a:rPr lang="en-US" sz="1800" dirty="0" smtClean="0">
                <a:solidFill>
                  <a:srgbClr val="0070C0"/>
                </a:solidFill>
              </a:rPr>
              <a:t>Slides taken from Mohammad </a:t>
            </a:r>
            <a:r>
              <a:rPr lang="en-US" sz="1800" dirty="0" err="1" smtClean="0">
                <a:solidFill>
                  <a:srgbClr val="0070C0"/>
                </a:solidFill>
              </a:rPr>
              <a:t>Hammoud</a:t>
            </a:r>
            <a:r>
              <a:rPr lang="en-US" sz="1800" dirty="0" smtClean="0">
                <a:solidFill>
                  <a:srgbClr val="0070C0"/>
                </a:solidFill>
              </a:rPr>
              <a:t> (CMU, Qatar).</a:t>
            </a:r>
            <a:endParaRPr lang="en-US" sz="18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24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Concurrent Execution of Programs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A database is typically </a:t>
            </a:r>
            <a:r>
              <a:rPr lang="en-US" sz="2600" i="1" dirty="0" smtClean="0"/>
              <a:t>shared</a:t>
            </a:r>
            <a:r>
              <a:rPr lang="en-US" sz="2600" dirty="0" smtClean="0"/>
              <a:t> by a large number of users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DBMSs </a:t>
            </a:r>
            <a:r>
              <a:rPr lang="en-US" sz="2600" i="1" dirty="0" smtClean="0"/>
              <a:t>schedule</a:t>
            </a:r>
            <a:r>
              <a:rPr lang="en-US" sz="2600" dirty="0" smtClean="0"/>
              <a:t> users’ programs </a:t>
            </a:r>
            <a:r>
              <a:rPr lang="en-US" sz="2600" i="1" dirty="0" smtClean="0">
                <a:solidFill>
                  <a:srgbClr val="0070C0"/>
                </a:solidFill>
              </a:rPr>
              <a:t>concurrently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While one user program is waiting for an I/O access to be satisfied, the CPU can process another program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smtClean="0">
                <a:solidFill>
                  <a:srgbClr val="00B050"/>
                </a:solidFill>
              </a:rPr>
              <a:t>Better system throughput</a:t>
            </a:r>
          </a:p>
          <a:p>
            <a:pPr lvl="2">
              <a:buFont typeface="Wingdings" pitchFamily="2" charset="2"/>
              <a:buChar char="§"/>
            </a:pPr>
            <a:endParaRPr lang="en-US" sz="2200" dirty="0" smtClean="0"/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Interleaved executions of short and long programs allow the short program to complete quickly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smtClean="0">
                <a:solidFill>
                  <a:srgbClr val="00B050"/>
                </a:solidFill>
              </a:rPr>
              <a:t>Better response time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smtClean="0">
                <a:solidFill>
                  <a:srgbClr val="00B050"/>
                </a:solidFill>
              </a:rPr>
              <a:t>Fairer</a:t>
            </a:r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lvl="2">
              <a:buFont typeface="Wingdings" pitchFamily="2" charset="2"/>
              <a:buChar char="§"/>
            </a:pPr>
            <a:endParaRPr lang="en-US" sz="2000" i="1" dirty="0" smtClean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5322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Transactions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i="1" dirty="0" smtClean="0"/>
              <a:t>Any </a:t>
            </a:r>
            <a:r>
              <a:rPr lang="en-US" sz="2800" i="1" u="sng" dirty="0" smtClean="0"/>
              <a:t>one</a:t>
            </a:r>
            <a:r>
              <a:rPr lang="en-US" sz="2800" i="1" dirty="0" smtClean="0"/>
              <a:t> execution </a:t>
            </a:r>
            <a:r>
              <a:rPr lang="en-US" sz="2800" dirty="0" smtClean="0"/>
              <a:t>of a user program in a DBMS is denoted as a </a:t>
            </a:r>
            <a:r>
              <a:rPr lang="en-US" sz="2800" dirty="0" smtClean="0">
                <a:solidFill>
                  <a:srgbClr val="0070C0"/>
                </a:solidFill>
              </a:rPr>
              <a:t>transaction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Executing the same program several times will generate several transactions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A transaction is the basic unit of change as seen by a DBMS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E.g., Transfer $100 from account A to account B</a:t>
            </a:r>
          </a:p>
          <a:p>
            <a:pPr lvl="1">
              <a:buFont typeface="Wingdings" pitchFamily="2" charset="2"/>
              <a:buChar char="§"/>
            </a:pPr>
            <a:endParaRPr lang="en-US" sz="26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A </a:t>
            </a:r>
            <a:r>
              <a:rPr lang="en-US" sz="2800" dirty="0" smtClean="0"/>
              <a:t>transaction may </a:t>
            </a:r>
            <a:r>
              <a:rPr lang="en-US" sz="2800" dirty="0"/>
              <a:t>carry out many operations on </a:t>
            </a:r>
            <a:r>
              <a:rPr lang="en-US" sz="2800" dirty="0" smtClean="0"/>
              <a:t>data, </a:t>
            </a:r>
            <a:r>
              <a:rPr lang="en-US" sz="2800" dirty="0"/>
              <a:t>but </a:t>
            </a:r>
            <a:r>
              <a:rPr lang="en-US" sz="2800" dirty="0" smtClean="0"/>
              <a:t>DBMSs are </a:t>
            </a:r>
            <a:r>
              <a:rPr lang="en-US" sz="2800" dirty="0"/>
              <a:t>only concerned about </a:t>
            </a:r>
            <a:r>
              <a:rPr lang="en-US" sz="2800" i="1" dirty="0" smtClean="0">
                <a:solidFill>
                  <a:srgbClr val="00B050"/>
                </a:solidFill>
              </a:rPr>
              <a:t>reads</a:t>
            </a:r>
            <a:r>
              <a:rPr lang="en-US" sz="2800" dirty="0" smtClean="0"/>
              <a:t> and </a:t>
            </a:r>
            <a:r>
              <a:rPr lang="en-US" sz="2800" i="1" dirty="0" smtClean="0">
                <a:solidFill>
                  <a:srgbClr val="00B050"/>
                </a:solidFill>
              </a:rPr>
              <a:t>writes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Thus, in essence a transaction becomes </a:t>
            </a:r>
            <a:r>
              <a:rPr lang="en-US" sz="2800" i="1" dirty="0" smtClean="0"/>
              <a:t>a sequence of reads and writes</a:t>
            </a:r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lvl="2">
              <a:buFont typeface="Wingdings" pitchFamily="2" charset="2"/>
              <a:buChar char="§"/>
            </a:pPr>
            <a:endParaRPr lang="en-US" sz="2000" i="1" dirty="0" smtClean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8709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Transactions (</a:t>
            </a:r>
            <a:r>
              <a:rPr lang="en-US" i="1" dirty="0" smtClean="0">
                <a:ea typeface="ＭＳ Ｐゴシック" pitchFamily="34" charset="-128"/>
              </a:rPr>
              <a:t>Cont’d</a:t>
            </a:r>
            <a:r>
              <a:rPr lang="en-US" dirty="0" smtClean="0">
                <a:ea typeface="ＭＳ Ｐゴシック" pitchFamily="34" charset="-128"/>
              </a:rPr>
              <a:t>)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 addition to reading and writing, a transaction must specify as its final action: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Either</a:t>
            </a:r>
            <a:r>
              <a:rPr lang="en-US" i="1" dirty="0" smtClean="0">
                <a:solidFill>
                  <a:srgbClr val="00B050"/>
                </a:solidFill>
              </a:rPr>
              <a:t> Commit</a:t>
            </a:r>
            <a:r>
              <a:rPr lang="en-US" dirty="0" smtClean="0"/>
              <a:t> (i.e., complete successfully)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Or </a:t>
            </a:r>
            <a:r>
              <a:rPr lang="en-US" i="1" dirty="0" smtClean="0">
                <a:solidFill>
                  <a:srgbClr val="00B050"/>
                </a:solidFill>
              </a:rPr>
              <a:t>Abort</a:t>
            </a:r>
            <a:r>
              <a:rPr lang="en-US" dirty="0" smtClean="0"/>
              <a:t> (i.e., terminate and </a:t>
            </a:r>
            <a:r>
              <a:rPr lang="en-US" i="1" dirty="0" smtClean="0"/>
              <a:t>undo</a:t>
            </a:r>
            <a:r>
              <a:rPr lang="en-US" dirty="0" smtClean="0"/>
              <a:t> actions)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We make two assumptions: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Transactions interact only via database reads and writes (i.e., no </a:t>
            </a:r>
            <a:r>
              <a:rPr lang="en-US" i="1" dirty="0" smtClean="0"/>
              <a:t>message passing</a:t>
            </a:r>
            <a:r>
              <a:rPr lang="en-US" dirty="0" smtClean="0"/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A database is a fixed collection of </a:t>
            </a:r>
            <a:r>
              <a:rPr lang="en-US" i="1" dirty="0" smtClean="0"/>
              <a:t>independent</a:t>
            </a:r>
            <a:r>
              <a:rPr lang="en-US" dirty="0" smtClean="0"/>
              <a:t> objects (A, B, C, etc.)</a:t>
            </a:r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lvl="2">
              <a:buFont typeface="Wingdings" pitchFamily="2" charset="2"/>
              <a:buChar char="§"/>
            </a:pPr>
            <a:endParaRPr lang="en-US" sz="2000" i="1" dirty="0" smtClean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8048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Schedules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A </a:t>
            </a:r>
            <a:r>
              <a:rPr lang="en-US" sz="2600" dirty="0" smtClean="0">
                <a:solidFill>
                  <a:srgbClr val="0070C0"/>
                </a:solidFill>
              </a:rPr>
              <a:t>schedule </a:t>
            </a:r>
            <a:r>
              <a:rPr lang="en-US" sz="2600" dirty="0" smtClean="0"/>
              <a:t>is a list of actions (i.e., read, write, abort, and/or commit) from a </a:t>
            </a:r>
            <a:r>
              <a:rPr lang="en-US" sz="2600" i="1" dirty="0" smtClean="0"/>
              <a:t>set</a:t>
            </a:r>
            <a:r>
              <a:rPr lang="en-US" sz="2600" dirty="0" smtClean="0"/>
              <a:t> of transactions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</a:t>
            </a:r>
            <a:r>
              <a:rPr lang="en-US" sz="2600" i="1" dirty="0" smtClean="0"/>
              <a:t>order</a:t>
            </a:r>
            <a:r>
              <a:rPr lang="en-US" sz="2600" dirty="0" smtClean="0"/>
              <a:t> in which two actions of a transaction </a:t>
            </a:r>
            <a:r>
              <a:rPr lang="en-US" sz="2600" b="1" i="1" dirty="0" smtClean="0"/>
              <a:t>T</a:t>
            </a:r>
            <a:r>
              <a:rPr lang="en-US" sz="2600" dirty="0" smtClean="0"/>
              <a:t> appear in a schedule must be the same as they appear in </a:t>
            </a:r>
            <a:r>
              <a:rPr lang="en-US" sz="2600" b="1" i="1" dirty="0" smtClean="0"/>
              <a:t>T</a:t>
            </a:r>
            <a:r>
              <a:rPr lang="en-US" sz="2600" dirty="0" smtClean="0"/>
              <a:t> itself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Assume </a:t>
            </a:r>
            <a:r>
              <a:rPr lang="en-US" sz="2600" b="1" dirty="0" smtClean="0"/>
              <a:t>T1</a:t>
            </a:r>
            <a:r>
              <a:rPr lang="en-US" sz="2600" dirty="0" smtClean="0"/>
              <a:t> = [R(A), W(A)] and </a:t>
            </a:r>
            <a:r>
              <a:rPr lang="en-US" sz="2600" b="1" dirty="0" smtClean="0"/>
              <a:t>T2</a:t>
            </a:r>
            <a:r>
              <a:rPr lang="en-US" sz="2600" dirty="0" smtClean="0"/>
              <a:t> = [R(B), W(B), R(C), W(C)]</a:t>
            </a:r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lvl="2">
              <a:buFont typeface="Wingdings" pitchFamily="2" charset="2"/>
              <a:buChar char="§"/>
            </a:pPr>
            <a:endParaRPr lang="en-US" sz="2000" i="1" dirty="0" smtClean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384036" y="442031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22036" y="464891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15024" y="431776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503540" y="432159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681972" y="4632496"/>
            <a:ext cx="6639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R(A)</a:t>
            </a:r>
          </a:p>
          <a:p>
            <a:r>
              <a:rPr lang="en-US" dirty="0" smtClean="0"/>
              <a:t>W(A)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17979" y="4648914"/>
            <a:ext cx="6639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R(B)</a:t>
            </a:r>
          </a:p>
          <a:p>
            <a:r>
              <a:rPr lang="en-US" dirty="0" smtClean="0"/>
              <a:t>W(B)</a:t>
            </a:r>
          </a:p>
          <a:p>
            <a:endParaRPr lang="en-US" dirty="0"/>
          </a:p>
          <a:p>
            <a:r>
              <a:rPr lang="en-US" dirty="0" smtClean="0"/>
              <a:t>R(C)</a:t>
            </a:r>
          </a:p>
          <a:p>
            <a:r>
              <a:rPr lang="en-US" dirty="0" smtClean="0"/>
              <a:t>W(C)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517636" y="439539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755636" y="462399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48624" y="42928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637140" y="42966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815572" y="4607572"/>
            <a:ext cx="6639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R(A)</a:t>
            </a:r>
          </a:p>
          <a:p>
            <a:r>
              <a:rPr lang="en-US" dirty="0" smtClean="0"/>
              <a:t>W(A)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551579" y="4623990"/>
            <a:ext cx="6639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R(B)</a:t>
            </a:r>
          </a:p>
          <a:p>
            <a:r>
              <a:rPr lang="en-US" dirty="0" smtClean="0"/>
              <a:t>W(B)</a:t>
            </a:r>
            <a:endParaRPr lang="en-US" dirty="0"/>
          </a:p>
          <a:p>
            <a:r>
              <a:rPr lang="en-US" dirty="0" smtClean="0"/>
              <a:t>R(C)</a:t>
            </a:r>
          </a:p>
          <a:p>
            <a:r>
              <a:rPr lang="en-US" dirty="0" smtClean="0"/>
              <a:t>W(C)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4455" y="6121638"/>
            <a:ext cx="808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4800" dirty="0" smtClean="0"/>
              <a:t> </a:t>
            </a:r>
            <a:endParaRPr lang="en-US" sz="4800" dirty="0"/>
          </a:p>
        </p:txBody>
      </p:sp>
      <p:sp>
        <p:nvSpPr>
          <p:cNvPr id="24" name="TextBox 23"/>
          <p:cNvSpPr txBox="1"/>
          <p:nvPr/>
        </p:nvSpPr>
        <p:spPr>
          <a:xfrm>
            <a:off x="4144765" y="6181460"/>
            <a:ext cx="808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4800" dirty="0" smtClean="0"/>
              <a:t> </a:t>
            </a:r>
            <a:endParaRPr lang="en-US" sz="4800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6464893" y="439539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702893" y="462399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95881" y="42928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584397" y="42966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762829" y="4607572"/>
            <a:ext cx="6639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R(A)</a:t>
            </a:r>
          </a:p>
          <a:p>
            <a:r>
              <a:rPr lang="en-US" dirty="0" smtClean="0"/>
              <a:t>W(A)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498836" y="4623990"/>
            <a:ext cx="6639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R(C)</a:t>
            </a:r>
          </a:p>
          <a:p>
            <a:r>
              <a:rPr lang="en-US" dirty="0" smtClean="0"/>
              <a:t>W(C)</a:t>
            </a:r>
          </a:p>
          <a:p>
            <a:endParaRPr lang="en-US" dirty="0"/>
          </a:p>
          <a:p>
            <a:r>
              <a:rPr lang="en-US" dirty="0" smtClean="0"/>
              <a:t>R(B)</a:t>
            </a:r>
          </a:p>
          <a:p>
            <a:r>
              <a:rPr lang="en-US" dirty="0" smtClean="0"/>
              <a:t>W(B)</a:t>
            </a:r>
          </a:p>
        </p:txBody>
      </p:sp>
      <p:sp>
        <p:nvSpPr>
          <p:cNvPr id="16" name="Multiply 15"/>
          <p:cNvSpPr/>
          <p:nvPr/>
        </p:nvSpPr>
        <p:spPr>
          <a:xfrm>
            <a:off x="6103630" y="6095604"/>
            <a:ext cx="751495" cy="676540"/>
          </a:xfrm>
          <a:prstGeom prst="mathMultiply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4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4" grpId="0"/>
      <p:bldP spid="19" grpId="0"/>
      <p:bldP spid="20" grpId="0"/>
      <p:bldP spid="21" grpId="0"/>
      <p:bldP spid="22" grpId="0"/>
      <p:bldP spid="15" grpId="0"/>
      <p:bldP spid="24" grpId="0"/>
      <p:bldP spid="27" grpId="0"/>
      <p:bldP spid="28" grpId="0"/>
      <p:bldP spid="29" grpId="0"/>
      <p:bldP spid="30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Serial Schedules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 </a:t>
            </a:r>
            <a:r>
              <a:rPr lang="en-US" sz="2800" dirty="0" smtClean="0">
                <a:solidFill>
                  <a:srgbClr val="0070C0"/>
                </a:solidFill>
              </a:rPr>
              <a:t>complete schedule </a:t>
            </a:r>
            <a:r>
              <a:rPr lang="en-US" sz="2800" dirty="0" smtClean="0"/>
              <a:t>must contain all the actions of every transaction that appears on it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If the actions of different transactions are </a:t>
            </a:r>
            <a:r>
              <a:rPr lang="en-US" sz="2800" i="1" u="sng" dirty="0" smtClean="0"/>
              <a:t>not</a:t>
            </a:r>
            <a:r>
              <a:rPr lang="en-US" sz="2800" dirty="0" smtClean="0"/>
              <a:t> </a:t>
            </a:r>
            <a:r>
              <a:rPr lang="en-US" sz="2800" i="1" u="sng" dirty="0" smtClean="0"/>
              <a:t>interleaved</a:t>
            </a:r>
            <a:r>
              <a:rPr lang="en-US" sz="2800" dirty="0" smtClean="0"/>
              <a:t>, the schedule is called a </a:t>
            </a:r>
            <a:r>
              <a:rPr lang="en-US" sz="2800" dirty="0" smtClean="0">
                <a:solidFill>
                  <a:srgbClr val="0070C0"/>
                </a:solidFill>
              </a:rPr>
              <a:t>serial schedule</a:t>
            </a:r>
          </a:p>
          <a:p>
            <a:pPr>
              <a:buFont typeface="Wingdings" pitchFamily="2" charset="2"/>
              <a:buChar char="§"/>
            </a:pPr>
            <a:endParaRPr lang="en-US" sz="2800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lvl="2">
              <a:buFont typeface="Wingdings" pitchFamily="2" charset="2"/>
              <a:buChar char="§"/>
            </a:pPr>
            <a:endParaRPr lang="en-US" sz="2000" i="1" dirty="0" smtClean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450906" y="38363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688906" y="40649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81894" y="37338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570410" y="37376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494249" y="4506125"/>
            <a:ext cx="9284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R(A)</a:t>
            </a:r>
          </a:p>
          <a:p>
            <a:r>
              <a:rPr lang="en-US" dirty="0" smtClean="0"/>
              <a:t>W(A)</a:t>
            </a:r>
          </a:p>
          <a:p>
            <a:r>
              <a:rPr lang="en-US" dirty="0" smtClean="0"/>
              <a:t>Commit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84849" y="4064952"/>
            <a:ext cx="92845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R(B)</a:t>
            </a:r>
          </a:p>
          <a:p>
            <a:r>
              <a:rPr lang="en-US" dirty="0" smtClean="0"/>
              <a:t>W(B)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R(C)</a:t>
            </a:r>
          </a:p>
          <a:p>
            <a:r>
              <a:rPr lang="en-US" dirty="0" smtClean="0"/>
              <a:t>W(C)</a:t>
            </a:r>
          </a:p>
          <a:p>
            <a:r>
              <a:rPr lang="en-US" dirty="0" smtClean="0"/>
              <a:t>Commit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068647" y="386266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306647" y="409126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99635" y="37601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188151" y="37639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133600" y="4074846"/>
            <a:ext cx="9284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R(A)</a:t>
            </a:r>
          </a:p>
          <a:p>
            <a:r>
              <a:rPr lang="en-US" dirty="0" smtClean="0"/>
              <a:t>W(A)</a:t>
            </a:r>
          </a:p>
          <a:p>
            <a:r>
              <a:rPr lang="en-US" dirty="0" smtClean="0"/>
              <a:t>Commit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102590" y="4091264"/>
            <a:ext cx="9284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R(A)</a:t>
            </a:r>
          </a:p>
          <a:p>
            <a:r>
              <a:rPr lang="en-US" dirty="0" smtClean="0"/>
              <a:t>W(A)</a:t>
            </a:r>
            <a:endParaRPr lang="en-US" dirty="0"/>
          </a:p>
          <a:p>
            <a:r>
              <a:rPr lang="en-US" dirty="0" smtClean="0"/>
              <a:t>R(C)</a:t>
            </a:r>
          </a:p>
          <a:p>
            <a:r>
              <a:rPr lang="en-US" dirty="0" smtClean="0"/>
              <a:t>W(C)</a:t>
            </a:r>
          </a:p>
          <a:p>
            <a:r>
              <a:rPr lang="en-US" dirty="0" smtClean="0"/>
              <a:t>Commit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2116" y="6399588"/>
            <a:ext cx="179408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 Serial Schedule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438851" y="6373231"/>
            <a:ext cx="2257349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 Non-Serial Schedule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20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14" grpId="0"/>
      <p:bldP spid="15" grpId="0"/>
      <p:bldP spid="2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Serializable Schedules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Two schedules are said to be </a:t>
            </a:r>
            <a:r>
              <a:rPr lang="en-US" sz="2600" i="1" dirty="0" smtClean="0">
                <a:solidFill>
                  <a:srgbClr val="0070C0"/>
                </a:solidFill>
              </a:rPr>
              <a:t>equivalent</a:t>
            </a:r>
            <a:r>
              <a:rPr lang="en-US" sz="2600" dirty="0" smtClean="0"/>
              <a:t> if for </a:t>
            </a:r>
            <a:r>
              <a:rPr lang="en-US" sz="2600" dirty="0"/>
              <a:t>any database state, the effect </a:t>
            </a:r>
            <a:r>
              <a:rPr lang="en-US" sz="2600" dirty="0" smtClean="0"/>
              <a:t>of </a:t>
            </a:r>
            <a:r>
              <a:rPr lang="en-US" sz="2600" dirty="0"/>
              <a:t>executing the </a:t>
            </a:r>
            <a:r>
              <a:rPr lang="en-US" sz="2600" dirty="0" smtClean="0"/>
              <a:t>1st </a:t>
            </a:r>
            <a:r>
              <a:rPr lang="en-US" sz="2600" dirty="0"/>
              <a:t>schedule is </a:t>
            </a:r>
            <a:r>
              <a:rPr lang="en-US" sz="2600" u="sng" dirty="0"/>
              <a:t>identical</a:t>
            </a:r>
            <a:r>
              <a:rPr lang="en-US" sz="2600" dirty="0"/>
              <a:t> to the effect of executing the </a:t>
            </a:r>
            <a:r>
              <a:rPr lang="en-US" sz="2600" dirty="0" smtClean="0"/>
              <a:t>2nd schedule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 </a:t>
            </a:r>
            <a:r>
              <a:rPr lang="en-US" sz="2600" dirty="0" smtClean="0">
                <a:solidFill>
                  <a:srgbClr val="0070C0"/>
                </a:solidFill>
              </a:rPr>
              <a:t>serializable schedule </a:t>
            </a:r>
            <a:r>
              <a:rPr lang="en-US" sz="2600" dirty="0" smtClean="0"/>
              <a:t>is a </a:t>
            </a:r>
            <a:r>
              <a:rPr lang="en-US" sz="2600" dirty="0"/>
              <a:t>schedule that is equivalent to </a:t>
            </a:r>
            <a:r>
              <a:rPr lang="en-US" sz="2600" dirty="0" smtClean="0"/>
              <a:t>a serial schedule</a:t>
            </a:r>
            <a:endParaRPr lang="en-US" sz="2600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520778" y="370104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58778" y="392964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1766" y="35984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640282" y="36023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85731" y="3913226"/>
            <a:ext cx="8451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Commit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1554721" y="3929644"/>
            <a:ext cx="8451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6434984"/>
            <a:ext cx="2397772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 </a:t>
            </a:r>
            <a:r>
              <a:rPr lang="en-US" i="1" dirty="0" smtClean="0"/>
              <a:t>Serializable</a:t>
            </a:r>
            <a:r>
              <a:rPr lang="en-US" dirty="0" smtClean="0"/>
              <a:t> Schedule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4821247" y="3700668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059247" y="3929268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2235" y="35981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940751" y="36019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886200" y="3912850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4855190" y="3929268"/>
            <a:ext cx="84510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2400" y="6434608"/>
            <a:ext cx="179408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 </a:t>
            </a:r>
            <a:r>
              <a:rPr lang="en-US" i="1" dirty="0" smtClean="0"/>
              <a:t>Serial</a:t>
            </a:r>
            <a:r>
              <a:rPr lang="en-US" dirty="0" smtClean="0"/>
              <a:t> Schedule</a:t>
            </a:r>
            <a:endParaRPr lang="en-US" dirty="0"/>
          </a:p>
        </p:txBody>
      </p:sp>
      <p:sp>
        <p:nvSpPr>
          <p:cNvPr id="2" name="Striped Right Arrow 1"/>
          <p:cNvSpPr/>
          <p:nvPr/>
        </p:nvSpPr>
        <p:spPr>
          <a:xfrm>
            <a:off x="2438400" y="4419600"/>
            <a:ext cx="1371600" cy="892214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Equivalent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7807754" y="368425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45754" y="391285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38742" y="358169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7927258" y="35855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872707" y="3896432"/>
            <a:ext cx="8451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endParaRPr lang="en-US" sz="1600" dirty="0"/>
          </a:p>
          <a:p>
            <a:r>
              <a:rPr lang="en-US" sz="1600" dirty="0" smtClean="0"/>
              <a:t>Commit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7841697" y="3912850"/>
            <a:ext cx="8451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2501" y="6418190"/>
            <a:ext cx="297293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Another </a:t>
            </a:r>
            <a:r>
              <a:rPr lang="en-US" i="1" dirty="0" smtClean="0"/>
              <a:t>Serializable</a:t>
            </a:r>
            <a:r>
              <a:rPr lang="en-US" dirty="0" smtClean="0"/>
              <a:t> Schedule</a:t>
            </a:r>
            <a:endParaRPr lang="en-US" dirty="0"/>
          </a:p>
        </p:txBody>
      </p:sp>
      <p:sp>
        <p:nvSpPr>
          <p:cNvPr id="34" name="Striped Right Arrow 33"/>
          <p:cNvSpPr/>
          <p:nvPr/>
        </p:nvSpPr>
        <p:spPr>
          <a:xfrm rot="10800000">
            <a:off x="5411995" y="4345513"/>
            <a:ext cx="1371600" cy="892214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99296" y="4606954"/>
            <a:ext cx="1166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Equivalent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65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7" grpId="0"/>
      <p:bldP spid="18" grpId="0"/>
      <p:bldP spid="19" grpId="0"/>
      <p:bldP spid="20" grpId="0"/>
      <p:bldP spid="21" grpId="0" animBg="1"/>
      <p:bldP spid="2" grpId="0" animBg="1"/>
      <p:bldP spid="26" grpId="0"/>
      <p:bldP spid="27" grpId="0"/>
      <p:bldP spid="28" grpId="0"/>
      <p:bldP spid="29" grpId="0"/>
      <p:bldP spid="30" grpId="0" animBg="1"/>
      <p:bldP spid="34" grpId="0" animBg="1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Examples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transactions T1 and T2 as follows:</a:t>
            </a: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>
              <a:buFont typeface="Wingdings" pitchFamily="2" charset="2"/>
              <a:buChar char="§"/>
            </a:pPr>
            <a:endParaRPr lang="en-US" i="1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T1 can be thought of as transferring </a:t>
            </a:r>
            <a:r>
              <a:rPr lang="en-US" sz="2800" dirty="0"/>
              <a:t>$100 from </a:t>
            </a:r>
            <a:r>
              <a:rPr lang="en-US" sz="2800" dirty="0" smtClean="0"/>
              <a:t>A’s </a:t>
            </a:r>
            <a:r>
              <a:rPr lang="en-US" sz="2800" dirty="0"/>
              <a:t>account to </a:t>
            </a:r>
            <a:r>
              <a:rPr lang="en-US" sz="2800" dirty="0" smtClean="0"/>
              <a:t>B’s account</a:t>
            </a:r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T2 can be thought of as crediting accounts A and B with </a:t>
            </a:r>
            <a:r>
              <a:rPr lang="en-US" sz="2800" dirty="0"/>
              <a:t>a 6% interest payment</a:t>
            </a:r>
            <a:endParaRPr lang="en-US" sz="2800" i="1" dirty="0" smtClean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2362200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2000" dirty="0">
                <a:latin typeface="Book Antiqua" pitchFamily="18" charset="0"/>
              </a:rPr>
              <a:t>T1:	BEGIN   </a:t>
            </a:r>
            <a:r>
              <a:rPr lang="en-US" sz="2000" dirty="0" smtClean="0">
                <a:latin typeface="Book Antiqua" pitchFamily="18" charset="0"/>
              </a:rPr>
              <a:t>A=A-100</a:t>
            </a:r>
            <a:r>
              <a:rPr lang="en-US" sz="2000" dirty="0">
                <a:latin typeface="Book Antiqua" pitchFamily="18" charset="0"/>
              </a:rPr>
              <a:t>,   </a:t>
            </a:r>
            <a:r>
              <a:rPr lang="en-US" sz="2000" dirty="0" smtClean="0">
                <a:latin typeface="Book Antiqua" pitchFamily="18" charset="0"/>
              </a:rPr>
              <a:t>B=B +100   </a:t>
            </a:r>
            <a:r>
              <a:rPr lang="en-US" sz="2000" dirty="0">
                <a:latin typeface="Book Antiqua" pitchFamily="18" charset="0"/>
              </a:rPr>
              <a:t>END</a:t>
            </a:r>
          </a:p>
          <a:p>
            <a:r>
              <a:rPr lang="en-US" sz="2000" dirty="0">
                <a:latin typeface="Book Antiqua" pitchFamily="18" charset="0"/>
              </a:rPr>
              <a:t>T2:	BEGIN   A=1.06*A,   B=1.06*B   END</a:t>
            </a:r>
          </a:p>
        </p:txBody>
      </p:sp>
    </p:spTree>
    <p:extLst>
      <p:ext uri="{BB962C8B-B14F-4D97-AF65-F5344CB8AC3E}">
        <p14:creationId xmlns:p14="http://schemas.microsoft.com/office/powerpoint/2010/main" val="313157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10263" y="4694608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847294" y="464820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Examples: A </a:t>
            </a:r>
            <a:r>
              <a:rPr lang="en-US" i="1" dirty="0" smtClean="0">
                <a:ea typeface="ＭＳ Ｐゴシック" pitchFamily="34" charset="-128"/>
              </a:rPr>
              <a:t>Serial</a:t>
            </a:r>
            <a:r>
              <a:rPr lang="en-US" dirty="0" smtClean="0">
                <a:ea typeface="ＭＳ Ｐゴシック" pitchFamily="34" charset="-128"/>
              </a:rPr>
              <a:t> Schedule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transactions T1 and T2 as follows:</a:t>
            </a: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2362200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2000" dirty="0">
                <a:latin typeface="Book Antiqua" pitchFamily="18" charset="0"/>
              </a:rPr>
              <a:t>T1:	BEGIN   </a:t>
            </a:r>
            <a:r>
              <a:rPr lang="en-US" sz="2000" dirty="0" smtClean="0">
                <a:latin typeface="Book Antiqua" pitchFamily="18" charset="0"/>
              </a:rPr>
              <a:t>A=A-100</a:t>
            </a:r>
            <a:r>
              <a:rPr lang="en-US" sz="2000" dirty="0">
                <a:latin typeface="Book Antiqua" pitchFamily="18" charset="0"/>
              </a:rPr>
              <a:t>,   </a:t>
            </a:r>
            <a:r>
              <a:rPr lang="en-US" sz="2000" dirty="0" smtClean="0">
                <a:latin typeface="Book Antiqua" pitchFamily="18" charset="0"/>
              </a:rPr>
              <a:t>B=B +100   </a:t>
            </a:r>
            <a:r>
              <a:rPr lang="en-US" sz="2000" dirty="0">
                <a:latin typeface="Book Antiqua" pitchFamily="18" charset="0"/>
              </a:rPr>
              <a:t>END</a:t>
            </a:r>
          </a:p>
          <a:p>
            <a:r>
              <a:rPr lang="en-US" sz="2000" dirty="0">
                <a:latin typeface="Book Antiqua" pitchFamily="18" charset="0"/>
              </a:rPr>
              <a:t>T2:	BEGIN   A=1.06*A,   B=1.06*B  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16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83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95700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Transfer $100 from A to 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59973" y="3678238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Add interest of </a:t>
            </a:r>
            <a:r>
              <a:rPr lang="en-US" sz="1600" dirty="0" smtClean="0">
                <a:solidFill>
                  <a:srgbClr val="0000FF"/>
                </a:solidFill>
              </a:rPr>
              <a:t>6% to A and B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286000" y="4038600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286000" y="4038600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09763" y="42672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367463" y="4021138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48363" y="42545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0163" y="52578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596199" y="4021138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09913" y="52197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16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=1060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383506" y="4924425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519969" y="4924425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10046" y="630750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A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3015" y="6353916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B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5950500" y="525602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=1060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85394" y="5256434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=960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8363" y="525602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=1160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0480" y="5241777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5400" dirty="0" smtClean="0"/>
              <a:t> 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031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7" grpId="0" animBg="1"/>
      <p:bldP spid="19" grpId="0" animBg="1"/>
      <p:bldP spid="21" grpId="0" animBg="1"/>
      <p:bldP spid="24" grpId="0" animBg="1"/>
      <p:bldP spid="25" grpId="0" animBg="1"/>
      <p:bldP spid="25" grpId="1" animBg="1"/>
      <p:bldP spid="27" grpId="0" animBg="1"/>
      <p:bldP spid="28" grpId="0" animBg="1"/>
      <p:bldP spid="3" grpId="0"/>
      <p:bldP spid="32" grpId="0"/>
      <p:bldP spid="20" grpId="0" animBg="1"/>
      <p:bldP spid="20" grpId="1" animBg="1"/>
      <p:bldP spid="16" grpId="0" animBg="1"/>
      <p:bldP spid="16" grpId="1" animBg="1"/>
      <p:bldP spid="22" grpId="0" animBg="1"/>
      <p:bldP spid="22" grpId="1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10263" y="4694608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847294" y="464820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Examples: Another </a:t>
            </a:r>
            <a:r>
              <a:rPr lang="en-US" i="1" dirty="0" smtClean="0">
                <a:ea typeface="ＭＳ Ｐゴシック" pitchFamily="34" charset="-128"/>
              </a:rPr>
              <a:t>Serial</a:t>
            </a:r>
            <a:r>
              <a:rPr lang="en-US" dirty="0" smtClean="0">
                <a:ea typeface="ＭＳ Ｐゴシック" pitchFamily="34" charset="-128"/>
              </a:rPr>
              <a:t> Schedule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transactions T1 and T2 as follows:</a:t>
            </a: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2362200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2000" dirty="0">
                <a:latin typeface="Book Antiqua" pitchFamily="18" charset="0"/>
              </a:rPr>
              <a:t>T1:	BEGIN   </a:t>
            </a:r>
            <a:r>
              <a:rPr lang="en-US" sz="2000" dirty="0" smtClean="0">
                <a:latin typeface="Book Antiqua" pitchFamily="18" charset="0"/>
              </a:rPr>
              <a:t>A=A-100</a:t>
            </a:r>
            <a:r>
              <a:rPr lang="en-US" sz="2000" dirty="0">
                <a:latin typeface="Book Antiqua" pitchFamily="18" charset="0"/>
              </a:rPr>
              <a:t>,   </a:t>
            </a:r>
            <a:r>
              <a:rPr lang="en-US" sz="2000" dirty="0" smtClean="0">
                <a:latin typeface="Book Antiqua" pitchFamily="18" charset="0"/>
              </a:rPr>
              <a:t>B=B +100   </a:t>
            </a:r>
            <a:r>
              <a:rPr lang="en-US" sz="2000" dirty="0">
                <a:latin typeface="Book Antiqua" pitchFamily="18" charset="0"/>
              </a:rPr>
              <a:t>END</a:t>
            </a:r>
          </a:p>
          <a:p>
            <a:r>
              <a:rPr lang="en-US" sz="2000" dirty="0">
                <a:latin typeface="Book Antiqua" pitchFamily="18" charset="0"/>
              </a:rPr>
              <a:t>T2:	BEGIN   A=1.06*A,   B=1.06*B  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16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83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95700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Transfer $100 from A to 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59973" y="3678238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Add interest of </a:t>
            </a:r>
            <a:r>
              <a:rPr lang="en-US" sz="1600" dirty="0" smtClean="0">
                <a:solidFill>
                  <a:srgbClr val="0000FF"/>
                </a:solidFill>
              </a:rPr>
              <a:t>6% to A and B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286000" y="4038600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286000" y="4038600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85394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09763" y="42672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367463" y="4021138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48363" y="42545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110163" y="52578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0111" y="5259935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=1100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596199" y="4021138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09913" y="52197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85394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=954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447800" y="4964660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519969" y="4985015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10046" y="630750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A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3015" y="6353916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B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5956909" y="525602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=1166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00271" y="5753510"/>
            <a:ext cx="1871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 smtClean="0"/>
              <a:t>Previously:</a:t>
            </a:r>
            <a:r>
              <a:rPr lang="en-US" b="1" dirty="0" smtClean="0"/>
              <a:t> </a:t>
            </a:r>
          </a:p>
          <a:p>
            <a:r>
              <a:rPr lang="en-US" b="1" dirty="0" smtClean="0"/>
              <a:t>Account A = </a:t>
            </a:r>
            <a:r>
              <a:rPr lang="en-US" b="1" i="1" dirty="0" smtClean="0"/>
              <a:t>960</a:t>
            </a:r>
          </a:p>
          <a:p>
            <a:r>
              <a:rPr lang="en-US" b="1" dirty="0" smtClean="0"/>
              <a:t>Account B = </a:t>
            </a:r>
            <a:r>
              <a:rPr lang="en-US" b="1" i="1" dirty="0" smtClean="0"/>
              <a:t>1160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923210" y="4953000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5400" dirty="0" smtClean="0"/>
              <a:t> 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86762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6" grpId="0" animBg="1"/>
      <p:bldP spid="16" grpId="1" animBg="1"/>
      <p:bldP spid="17" grpId="0" animBg="1"/>
      <p:bldP spid="19" grpId="0" animBg="1"/>
      <p:bldP spid="21" grpId="0" animBg="1"/>
      <p:bldP spid="22" grpId="0" animBg="1"/>
      <p:bldP spid="22" grpId="1" animBg="1"/>
      <p:bldP spid="24" grpId="0" animBg="1"/>
      <p:bldP spid="25" grpId="0" animBg="1"/>
      <p:bldP spid="25" grpId="1" animBg="1"/>
      <p:bldP spid="27" grpId="0" animBg="1"/>
      <p:bldP spid="28" grpId="0" animBg="1"/>
      <p:bldP spid="3" grpId="0"/>
      <p:bldP spid="32" grpId="0"/>
      <p:bldP spid="20" grpId="0" animBg="1"/>
      <p:bldP spid="20" grpId="1" animBg="1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10263" y="4694608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847294" y="464820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Examples: A </a:t>
            </a:r>
            <a:r>
              <a:rPr lang="en-US" i="1" dirty="0" smtClean="0">
                <a:ea typeface="ＭＳ Ｐゴシック" pitchFamily="34" charset="-128"/>
              </a:rPr>
              <a:t>Serializable</a:t>
            </a:r>
            <a:r>
              <a:rPr lang="en-US" dirty="0" smtClean="0">
                <a:ea typeface="ＭＳ Ｐゴシック" pitchFamily="34" charset="-128"/>
              </a:rPr>
              <a:t> Schedule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transactions T1 and T2 as follows:</a:t>
            </a: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2362200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2000" dirty="0">
                <a:latin typeface="Book Antiqua" pitchFamily="18" charset="0"/>
              </a:rPr>
              <a:t>T1:	BEGIN   </a:t>
            </a:r>
            <a:r>
              <a:rPr lang="en-US" sz="2000" dirty="0" smtClean="0">
                <a:latin typeface="Book Antiqua" pitchFamily="18" charset="0"/>
              </a:rPr>
              <a:t>A=A-100</a:t>
            </a:r>
            <a:r>
              <a:rPr lang="en-US" sz="2000" dirty="0">
                <a:latin typeface="Book Antiqua" pitchFamily="18" charset="0"/>
              </a:rPr>
              <a:t>,   </a:t>
            </a:r>
            <a:r>
              <a:rPr lang="en-US" sz="2000" dirty="0" smtClean="0">
                <a:latin typeface="Book Antiqua" pitchFamily="18" charset="0"/>
              </a:rPr>
              <a:t>B=B +100   </a:t>
            </a:r>
            <a:r>
              <a:rPr lang="en-US" sz="2000" dirty="0">
                <a:latin typeface="Book Antiqua" pitchFamily="18" charset="0"/>
              </a:rPr>
              <a:t>END</a:t>
            </a:r>
          </a:p>
          <a:p>
            <a:r>
              <a:rPr lang="en-US" sz="2000" dirty="0">
                <a:latin typeface="Book Antiqua" pitchFamily="18" charset="0"/>
              </a:rPr>
              <a:t>T2:	BEGIN   A=1.06*A,   B=1.06*B  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16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8363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95700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Transfer $100 from A to 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59973" y="3678238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Add interest of </a:t>
            </a:r>
            <a:r>
              <a:rPr lang="en-US" sz="1600" dirty="0" smtClean="0">
                <a:solidFill>
                  <a:srgbClr val="0000FF"/>
                </a:solidFill>
              </a:rPr>
              <a:t>6% to A and B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286000" y="4038600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286000" y="4038600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85394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09763" y="42672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367463" y="4021138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48363" y="42545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110163" y="52578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5960111" y="5259935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=1100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596199" y="4021138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09913" y="52197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1885394" y="52578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=954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383506" y="4953000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536406" y="4980980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10046" y="630750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A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3015" y="6353916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B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5956909" y="525602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=1166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28831" y="5753510"/>
            <a:ext cx="2814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 smtClean="0"/>
              <a:t>A Previous Serial Schedule:</a:t>
            </a:r>
            <a:r>
              <a:rPr lang="en-US" b="1" dirty="0" smtClean="0"/>
              <a:t> </a:t>
            </a:r>
          </a:p>
          <a:p>
            <a:pPr algn="ctr"/>
            <a:r>
              <a:rPr lang="en-US" b="1" dirty="0" smtClean="0"/>
              <a:t>Account A = </a:t>
            </a:r>
            <a:r>
              <a:rPr lang="en-US" b="1" i="1" dirty="0" smtClean="0"/>
              <a:t>954</a:t>
            </a:r>
          </a:p>
          <a:p>
            <a:pPr algn="ctr"/>
            <a:r>
              <a:rPr lang="en-US" b="1" dirty="0" smtClean="0"/>
              <a:t>Account B = </a:t>
            </a:r>
            <a:r>
              <a:rPr lang="en-US" b="1" i="1" dirty="0" smtClean="0"/>
              <a:t>1166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923210" y="4953000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5400" dirty="0" smtClean="0"/>
              <a:t> 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95020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6" grpId="0" animBg="1"/>
      <p:bldP spid="16" grpId="1" animBg="1"/>
      <p:bldP spid="17" grpId="0" animBg="1"/>
      <p:bldP spid="19" grpId="0" animBg="1"/>
      <p:bldP spid="21" grpId="0" animBg="1"/>
      <p:bldP spid="22" grpId="0" animBg="1"/>
      <p:bldP spid="22" grpId="1" animBg="1"/>
      <p:bldP spid="24" grpId="0" animBg="1"/>
      <p:bldP spid="25" grpId="0" animBg="1"/>
      <p:bldP spid="25" grpId="1" animBg="1"/>
      <p:bldP spid="27" grpId="0" animBg="1"/>
      <p:bldP spid="28" grpId="0" animBg="1"/>
      <p:bldP spid="3" grpId="0"/>
      <p:bldP spid="32" grpId="0"/>
      <p:bldP spid="20" grpId="0" animBg="1"/>
      <p:bldP spid="20" grpId="1" animBg="1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Comments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There is no guarantee that T1 will execute before T2 or vice-versa, if both are submitted </a:t>
            </a:r>
            <a:r>
              <a:rPr lang="en-US" sz="2800" dirty="0" smtClean="0"/>
              <a:t>together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However</a:t>
            </a:r>
            <a:r>
              <a:rPr lang="en-US" sz="2800" dirty="0"/>
              <a:t>, the net effect </a:t>
            </a:r>
            <a:r>
              <a:rPr lang="en-US" sz="2800" i="1" dirty="0"/>
              <a:t>must </a:t>
            </a:r>
            <a:r>
              <a:rPr lang="en-US" sz="2800" dirty="0"/>
              <a:t>be equivalent to these two transactions running </a:t>
            </a:r>
            <a:r>
              <a:rPr lang="en-US" sz="2800" i="1" dirty="0"/>
              <a:t>serially</a:t>
            </a:r>
            <a:r>
              <a:rPr lang="en-US" sz="2800" dirty="0"/>
              <a:t> in some order</a:t>
            </a: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Executing transactions serially in different orders may produce different results, but they are all acceptable!</a:t>
            </a:r>
          </a:p>
          <a:p>
            <a:pPr>
              <a:buFont typeface="Wingdings" pitchFamily="2" charset="2"/>
              <a:buChar char="§"/>
            </a:pPr>
            <a:endParaRPr lang="en-US" sz="2800" i="1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The DBMS makes no guarantees about which result will be the outcome of an interleaved execution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13201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Anomalies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Interleaving actions of different transactions can leave the database in an </a:t>
            </a:r>
            <a:r>
              <a:rPr lang="en-US" sz="2800" dirty="0" smtClean="0">
                <a:solidFill>
                  <a:srgbClr val="0070C0"/>
                </a:solidFill>
              </a:rPr>
              <a:t>inconsistent state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Two actions on the same data object are said to </a:t>
            </a:r>
            <a:r>
              <a:rPr lang="en-US" sz="2800" b="1" i="1" dirty="0" smtClean="0"/>
              <a:t>conflict</a:t>
            </a:r>
            <a:r>
              <a:rPr lang="en-US" sz="2800" dirty="0" smtClean="0"/>
              <a:t> if at least one of them is a write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There are 3 </a:t>
            </a:r>
            <a:r>
              <a:rPr lang="en-US" sz="2800" dirty="0" smtClean="0">
                <a:solidFill>
                  <a:srgbClr val="0070C0"/>
                </a:solidFill>
              </a:rPr>
              <a:t>anomalies</a:t>
            </a:r>
            <a:r>
              <a:rPr lang="en-US" sz="2800" dirty="0" smtClean="0"/>
              <a:t> that can arise upon interleaving actions of different transactions (say, T1 and T2):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B050"/>
                </a:solidFill>
              </a:rPr>
              <a:t>Write-Read (WR) Conflict</a:t>
            </a:r>
            <a:r>
              <a:rPr lang="en-US" sz="2600" dirty="0" smtClean="0"/>
              <a:t>: T2 reads a data object previously written by T1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B050"/>
                </a:solidFill>
              </a:rPr>
              <a:t>Read-Write (RW) Conflict</a:t>
            </a:r>
            <a:r>
              <a:rPr lang="en-US" sz="2600" dirty="0" smtClean="0"/>
              <a:t>: T2 writes a data object previously read by T1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B050"/>
                </a:solidFill>
              </a:rPr>
              <a:t>Write-Write (WW) Conflict</a:t>
            </a:r>
            <a:r>
              <a:rPr lang="en-US" sz="2600" dirty="0" smtClean="0"/>
              <a:t>: T2 writes a data object previously written by T1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77952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WR conflicts arise when transaction T2 reads a data object A that has been modified by another transaction T1, </a:t>
            </a:r>
            <a:r>
              <a:rPr lang="en-US" sz="2600" i="1" dirty="0" smtClean="0"/>
              <a:t>which has not yet committed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Such a read is called a </a:t>
            </a:r>
            <a:r>
              <a:rPr lang="en-US" sz="2600" dirty="0" smtClean="0">
                <a:solidFill>
                  <a:srgbClr val="FF0000"/>
                </a:solidFill>
              </a:rPr>
              <a:t>dirty read</a:t>
            </a:r>
          </a:p>
          <a:p>
            <a:pPr lvl="1">
              <a:buFont typeface="Wingdings" pitchFamily="2" charset="2"/>
              <a:buChar char="§"/>
            </a:pPr>
            <a:endParaRPr lang="en-US" sz="26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Assume T1 and T2 such that: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T1 transfers </a:t>
            </a:r>
            <a:r>
              <a:rPr lang="en-US" sz="2400" dirty="0"/>
              <a:t>$100 from </a:t>
            </a:r>
            <a:r>
              <a:rPr lang="en-US" sz="2400" dirty="0" smtClean="0"/>
              <a:t>A’s </a:t>
            </a:r>
            <a:r>
              <a:rPr lang="en-US" sz="2400" dirty="0"/>
              <a:t>account to </a:t>
            </a:r>
            <a:r>
              <a:rPr lang="en-US" sz="2400" dirty="0" smtClean="0"/>
              <a:t>B’s account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T2 credits </a:t>
            </a:r>
            <a:r>
              <a:rPr lang="en-US" sz="2400" dirty="0"/>
              <a:t>accounts A and B with a 6% interest payment</a:t>
            </a:r>
            <a:endParaRPr lang="en-US" sz="2400" i="1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752600" y="5339697"/>
            <a:ext cx="5410200" cy="705321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2000" dirty="0">
                <a:latin typeface="Book Antiqua" pitchFamily="18" charset="0"/>
              </a:rPr>
              <a:t>T1:	BEGIN   </a:t>
            </a:r>
            <a:r>
              <a:rPr lang="en-US" sz="2000" dirty="0" smtClean="0">
                <a:latin typeface="Book Antiqua" pitchFamily="18" charset="0"/>
              </a:rPr>
              <a:t>A=A-100</a:t>
            </a:r>
            <a:r>
              <a:rPr lang="en-US" sz="2000" dirty="0">
                <a:latin typeface="Book Antiqua" pitchFamily="18" charset="0"/>
              </a:rPr>
              <a:t>,   </a:t>
            </a:r>
            <a:r>
              <a:rPr lang="en-US" sz="2000" dirty="0" smtClean="0">
                <a:latin typeface="Book Antiqua" pitchFamily="18" charset="0"/>
              </a:rPr>
              <a:t>B=B +100   </a:t>
            </a:r>
            <a:r>
              <a:rPr lang="en-US" sz="2000" dirty="0">
                <a:latin typeface="Book Antiqua" pitchFamily="18" charset="0"/>
              </a:rPr>
              <a:t>END</a:t>
            </a:r>
          </a:p>
          <a:p>
            <a:r>
              <a:rPr lang="en-US" sz="2000" dirty="0">
                <a:latin typeface="Book Antiqua" pitchFamily="18" charset="0"/>
              </a:rPr>
              <a:t>T2:	BEGIN   A=1.06*A,   B=1.06*B   END</a:t>
            </a:r>
          </a:p>
        </p:txBody>
      </p:sp>
    </p:spTree>
    <p:extLst>
      <p:ext uri="{BB962C8B-B14F-4D97-AF65-F5344CB8AC3E}">
        <p14:creationId xmlns:p14="http://schemas.microsoft.com/office/powerpoint/2010/main" val="21291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Suppose that T1 and T2 actions are </a:t>
            </a:r>
            <a:r>
              <a:rPr lang="en-US" sz="2600" i="1" dirty="0" smtClean="0"/>
              <a:t>interleaved</a:t>
            </a:r>
            <a:r>
              <a:rPr lang="en-US" sz="2600" dirty="0" smtClean="0"/>
              <a:t>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adds 6% interest to accounts A and B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credits $100 to account B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29" name="Folded Corner 28"/>
          <p:cNvSpPr/>
          <p:nvPr/>
        </p:nvSpPr>
        <p:spPr>
          <a:xfrm>
            <a:off x="5910263" y="450662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olded Corner 29"/>
          <p:cNvSpPr/>
          <p:nvPr/>
        </p:nvSpPr>
        <p:spPr>
          <a:xfrm>
            <a:off x="1847294" y="446021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71663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8363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50771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Transfer $100 from A to 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59973" y="349025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Add interest of </a:t>
            </a:r>
            <a:r>
              <a:rPr lang="en-US" sz="1600" dirty="0" smtClean="0">
                <a:solidFill>
                  <a:srgbClr val="0000FF"/>
                </a:solidFill>
              </a:rPr>
              <a:t>6% to A and B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10046" y="6119520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A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5773015" y="616592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9280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8" grpId="0"/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Suppose that T1 and T2 actions are </a:t>
            </a:r>
            <a:r>
              <a:rPr lang="en-US" sz="2600" i="1" dirty="0" smtClean="0"/>
              <a:t>interleaved</a:t>
            </a:r>
            <a:r>
              <a:rPr lang="en-US" sz="2600" dirty="0" smtClean="0"/>
              <a:t>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adds 6% interest to accounts A and B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credits $100 to account B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29" name="Folded Corner 28"/>
          <p:cNvSpPr/>
          <p:nvPr/>
        </p:nvSpPr>
        <p:spPr>
          <a:xfrm>
            <a:off x="5910263" y="450662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olded Corner 29"/>
          <p:cNvSpPr/>
          <p:nvPr/>
        </p:nvSpPr>
        <p:spPr>
          <a:xfrm>
            <a:off x="1847294" y="446021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71663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8363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50771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Transfer $100 from A to 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59973" y="349025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Add interest of </a:t>
            </a:r>
            <a:r>
              <a:rPr lang="en-US" sz="1600" dirty="0" smtClean="0">
                <a:solidFill>
                  <a:srgbClr val="0000FF"/>
                </a:solidFill>
              </a:rPr>
              <a:t>6% to A and B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35" name="Straight Arrow Connector 34"/>
          <p:cNvCxnSpPr>
            <a:stCxn id="33" idx="2"/>
            <a:endCxn id="31" idx="0"/>
          </p:cNvCxnSpPr>
          <p:nvPr/>
        </p:nvCxnSpPr>
        <p:spPr>
          <a:xfrm>
            <a:off x="2286000" y="3850612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3" idx="2"/>
            <a:endCxn id="32" idx="1"/>
          </p:cNvCxnSpPr>
          <p:nvPr/>
        </p:nvCxnSpPr>
        <p:spPr>
          <a:xfrm>
            <a:off x="2286000" y="3850612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885394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909763" y="407921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1</a:t>
            </a:r>
          </a:p>
        </p:txBody>
      </p:sp>
      <p:cxnSp>
        <p:nvCxnSpPr>
          <p:cNvPr id="39" name="Straight Arrow Connector 38"/>
          <p:cNvCxnSpPr>
            <a:stCxn id="34" idx="2"/>
            <a:endCxn id="32" idx="0"/>
          </p:cNvCxnSpPr>
          <p:nvPr/>
        </p:nvCxnSpPr>
        <p:spPr>
          <a:xfrm flipH="1">
            <a:off x="6367463" y="3833150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948363" y="406651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41" name="Rectangle 40"/>
          <p:cNvSpPr/>
          <p:nvPr/>
        </p:nvSpPr>
        <p:spPr>
          <a:xfrm>
            <a:off x="5110163" y="506981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4</a:t>
            </a:r>
          </a:p>
        </p:txBody>
      </p:sp>
      <p:cxnSp>
        <p:nvCxnSpPr>
          <p:cNvPr id="43" name="Straight Arrow Connector 42"/>
          <p:cNvCxnSpPr>
            <a:stCxn id="34" idx="2"/>
          </p:cNvCxnSpPr>
          <p:nvPr/>
        </p:nvCxnSpPr>
        <p:spPr>
          <a:xfrm flipH="1">
            <a:off x="2596199" y="3833150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109913" y="503171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85394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=954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1447800" y="4776672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519969" y="477453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710046" y="6119520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A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5773015" y="616592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 B</a:t>
            </a:r>
            <a:endParaRPr lang="en-US" b="1" dirty="0"/>
          </a:p>
        </p:txBody>
      </p:sp>
      <p:sp>
        <p:nvSpPr>
          <p:cNvPr id="51" name="Rectangle 50"/>
          <p:cNvSpPr/>
          <p:nvPr/>
        </p:nvSpPr>
        <p:spPr>
          <a:xfrm>
            <a:off x="5954237" y="5071947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=1060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954237" y="506981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 smtClean="0">
                <a:solidFill>
                  <a:schemeClr val="tx1"/>
                </a:solidFill>
              </a:rPr>
              <a:t>Bal</a:t>
            </a:r>
            <a:r>
              <a:rPr lang="en-US" sz="1200" dirty="0" smtClean="0">
                <a:solidFill>
                  <a:schemeClr val="tx1"/>
                </a:solidFill>
              </a:rPr>
              <a:t>=1160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52" name="Picture 3" descr="C:\Users\vkolar\AppData\Local\Microsoft\Windows\Temporary Internet Files\Content.IE5\HRUY4RJ7\MC90044152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9406" y="3235828"/>
            <a:ext cx="1047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Box 52"/>
          <p:cNvSpPr txBox="1"/>
          <p:nvPr/>
        </p:nvSpPr>
        <p:spPr>
          <a:xfrm>
            <a:off x="2722592" y="5380672"/>
            <a:ext cx="32271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rgbClr val="FF0000"/>
                </a:solidFill>
              </a:rPr>
              <a:t>Different than any </a:t>
            </a:r>
            <a:br>
              <a:rPr lang="en-US" b="1" i="1" dirty="0" smtClean="0">
                <a:solidFill>
                  <a:srgbClr val="FF0000"/>
                </a:solidFill>
              </a:rPr>
            </a:br>
            <a:r>
              <a:rPr lang="en-US" b="1" i="1" dirty="0" smtClean="0">
                <a:solidFill>
                  <a:srgbClr val="FF0000"/>
                </a:solidFill>
              </a:rPr>
              <a:t>serial schedule. </a:t>
            </a:r>
            <a:r>
              <a:rPr lang="en-US" b="1" dirty="0" smtClean="0">
                <a:solidFill>
                  <a:srgbClr val="FF0000"/>
                </a:solidFill>
              </a:rPr>
              <a:t>(I.e.,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br>
              <a:rPr lang="en-US" b="1" i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Neither: [A = 954 and B = 1166]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Nor: [A = 960 and B = 1160])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7393" y="1918531"/>
            <a:ext cx="3967163" cy="381000"/>
          </a:xfrm>
          <a:prstGeom prst="rect">
            <a:avLst/>
          </a:prstGeom>
          <a:solidFill>
            <a:srgbClr val="FFFF00">
              <a:alpha val="8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43000" y="2362200"/>
            <a:ext cx="4630015" cy="381000"/>
          </a:xfrm>
          <a:prstGeom prst="rect">
            <a:avLst/>
          </a:prstGeom>
          <a:solidFill>
            <a:srgbClr val="FFFF00">
              <a:alpha val="8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2 and 3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43000" y="2793762"/>
            <a:ext cx="3967163" cy="381000"/>
          </a:xfrm>
          <a:prstGeom prst="rect">
            <a:avLst/>
          </a:prstGeom>
          <a:solidFill>
            <a:srgbClr val="FFFF00">
              <a:alpha val="8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241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40" grpId="0" animBg="1"/>
      <p:bldP spid="41" grpId="0" animBg="1"/>
      <p:bldP spid="44" grpId="0" animBg="1"/>
      <p:bldP spid="45" grpId="0" animBg="1"/>
      <p:bldP spid="45" grpId="1" animBg="1"/>
      <p:bldP spid="46" grpId="0" animBg="1"/>
      <p:bldP spid="47" grpId="0" animBg="1"/>
      <p:bldP spid="51" grpId="0" animBg="1"/>
      <p:bldP spid="51" grpId="1" animBg="1"/>
      <p:bldP spid="42" grpId="0" animBg="1"/>
      <p:bldP spid="42" grpId="1" animBg="1"/>
      <p:bldP spid="53" grpId="0"/>
      <p:bldP spid="55" grpId="0" animBg="1"/>
      <p:bldP spid="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81916" y="2159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719916" y="2388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12904" y="2057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01420" y="2061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46869" y="2372134"/>
            <a:ext cx="8451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515859" y="2388552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Oval 1"/>
          <p:cNvSpPr/>
          <p:nvPr/>
        </p:nvSpPr>
        <p:spPr>
          <a:xfrm>
            <a:off x="4490221" y="2896314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>
          <a:xfrm flipH="1" flipV="1">
            <a:off x="4120653" y="2790917"/>
            <a:ext cx="369568" cy="244978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47431" y="2655943"/>
            <a:ext cx="3489545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The value of A written by T1 is read</a:t>
            </a:r>
            <a:br>
              <a:rPr lang="en-US" dirty="0" smtClean="0"/>
            </a:br>
            <a:r>
              <a:rPr lang="en-US" dirty="0" smtClean="0"/>
              <a:t>by T2 before T1 has completed all</a:t>
            </a:r>
            <a:br>
              <a:rPr lang="en-US" dirty="0" smtClean="0"/>
            </a:br>
            <a:r>
              <a:rPr lang="en-US" dirty="0" smtClean="0"/>
              <a:t>its changes!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638800" y="3835102"/>
            <a:ext cx="3091167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Why is this a problem?</a:t>
            </a:r>
            <a:endParaRPr lang="en-US" sz="2400" b="1" dirty="0"/>
          </a:p>
        </p:txBody>
      </p:sp>
      <p:sp>
        <p:nvSpPr>
          <p:cNvPr id="12" name="Oval 11"/>
          <p:cNvSpPr/>
          <p:nvPr/>
        </p:nvSpPr>
        <p:spPr>
          <a:xfrm>
            <a:off x="3555762" y="2651336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0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81916" y="2159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719916" y="2388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12904" y="2057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01420" y="2061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46869" y="2372134"/>
            <a:ext cx="8451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515859" y="2388552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Oval 1"/>
          <p:cNvSpPr/>
          <p:nvPr/>
        </p:nvSpPr>
        <p:spPr>
          <a:xfrm>
            <a:off x="4490221" y="2896314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555762" y="2651336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>
          <a:xfrm flipH="1" flipV="1">
            <a:off x="4120653" y="2790917"/>
            <a:ext cx="369568" cy="244978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47431" y="2655943"/>
            <a:ext cx="3489545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The value of A written by T1 is read</a:t>
            </a:r>
            <a:br>
              <a:rPr lang="en-US" dirty="0" smtClean="0"/>
            </a:br>
            <a:r>
              <a:rPr lang="en-US" dirty="0" smtClean="0"/>
              <a:t>by T2 before T1 has completed all</a:t>
            </a:r>
            <a:br>
              <a:rPr lang="en-US" dirty="0" smtClean="0"/>
            </a:br>
            <a:r>
              <a:rPr lang="en-US" dirty="0" smtClean="0"/>
              <a:t>its changes!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638800" y="3835102"/>
            <a:ext cx="3091167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Why is this a problem?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5229761"/>
            <a:ext cx="8884355" cy="132343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/>
              <a:t>T1 may write some value into A that makes the database inconsistent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/>
              <a:t>As long as T1 overwrites this value with a ‘correct’ value of A before committing, </a:t>
            </a:r>
            <a:br>
              <a:rPr lang="en-US" sz="2000" dirty="0" smtClean="0"/>
            </a:br>
            <a:r>
              <a:rPr lang="en-US" sz="2000" dirty="0" smtClean="0"/>
              <a:t>no</a:t>
            </a:r>
            <a:r>
              <a:rPr lang="en-US" sz="2000" dirty="0"/>
              <a:t> </a:t>
            </a:r>
            <a:r>
              <a:rPr lang="en-US" sz="2000" dirty="0" smtClean="0"/>
              <a:t>harm is done if T1 and T2 are run in some serial order (this is because T2 </a:t>
            </a:r>
            <a:br>
              <a:rPr lang="en-US" sz="2000" dirty="0" smtClean="0"/>
            </a:br>
            <a:r>
              <a:rPr lang="en-US" sz="2000" dirty="0" smtClean="0"/>
              <a:t>would then not see the </a:t>
            </a:r>
            <a:r>
              <a:rPr lang="en-US" sz="2000" u="sng" dirty="0" smtClean="0"/>
              <a:t>temporary</a:t>
            </a:r>
            <a:r>
              <a:rPr lang="en-US" sz="2000" dirty="0" smtClean="0"/>
              <a:t> inconsistency)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910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Reading Uncommitted Data: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81916" y="2159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719916" y="2388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12904" y="2057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01420" y="2061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46869" y="2372134"/>
            <a:ext cx="8451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515859" y="2388552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Oval 1"/>
          <p:cNvSpPr/>
          <p:nvPr/>
        </p:nvSpPr>
        <p:spPr>
          <a:xfrm>
            <a:off x="4490221" y="2896314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555762" y="2651336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>
          <a:xfrm flipH="1" flipV="1">
            <a:off x="4120653" y="2790917"/>
            <a:ext cx="369568" cy="244978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47431" y="2655943"/>
            <a:ext cx="3489545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The value of A written by T1 is read</a:t>
            </a:r>
            <a:br>
              <a:rPr lang="en-US" dirty="0" smtClean="0"/>
            </a:br>
            <a:r>
              <a:rPr lang="en-US" dirty="0" smtClean="0"/>
              <a:t>by T2 before T1 has completed all</a:t>
            </a:r>
            <a:br>
              <a:rPr lang="en-US" dirty="0" smtClean="0"/>
            </a:br>
            <a:r>
              <a:rPr lang="en-US" dirty="0" smtClean="0"/>
              <a:t>its changes!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638800" y="3835102"/>
            <a:ext cx="3091167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Why is this a problem?</a:t>
            </a:r>
            <a:endParaRPr lang="en-US" sz="24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373432" y="5181600"/>
            <a:ext cx="8455976" cy="12192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Note that although a transaction must leave a database in a consistent state </a:t>
            </a:r>
            <a:r>
              <a:rPr lang="en-US" sz="2400" i="1" dirty="0" smtClean="0">
                <a:solidFill>
                  <a:schemeClr val="tx1"/>
                </a:solidFill>
              </a:rPr>
              <a:t>after</a:t>
            </a:r>
            <a:r>
              <a:rPr lang="en-US" sz="2400" dirty="0" smtClean="0">
                <a:solidFill>
                  <a:schemeClr val="tx1"/>
                </a:solidFill>
              </a:rPr>
              <a:t> it completes, it is not required to keep the database consistent while it is still in progress!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32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Unrepeatable Reads: RW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RW conflicts arise when transaction T2 writes a data object A that has been read by another transaction T1, </a:t>
            </a:r>
            <a:r>
              <a:rPr lang="en-US" sz="2800" i="1" dirty="0" smtClean="0"/>
              <a:t>while T1 is still in progress</a:t>
            </a:r>
          </a:p>
          <a:p>
            <a:pPr>
              <a:buFont typeface="Wingdings" pitchFamily="2" charset="2"/>
              <a:buChar char="§"/>
            </a:pPr>
            <a:endParaRPr lang="en-US" sz="2600" i="1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If T1 tries to read A again, it will get a different result!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Such a read is called an </a:t>
            </a:r>
            <a:r>
              <a:rPr lang="en-US" sz="2600" dirty="0" smtClean="0">
                <a:solidFill>
                  <a:srgbClr val="FF0000"/>
                </a:solidFill>
              </a:rPr>
              <a:t>unrepeatable read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A is the number of available copies for a book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A transaction that places an order on the book reads A, checks that A &gt; 0 and decrements A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Assume two transactions, T1 and T2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22558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Unrepeatable Reads: RW Conflicts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reads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reads A, decrements A and commit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tries to decrement A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30" name="Folded Corner 29"/>
          <p:cNvSpPr/>
          <p:nvPr/>
        </p:nvSpPr>
        <p:spPr>
          <a:xfrm>
            <a:off x="3886200" y="4490834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910569" y="5100434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A=1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3507712"/>
            <a:ext cx="2743200" cy="45468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Places an order on a book of quantity 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59973" y="3490250"/>
            <a:ext cx="2912427" cy="47215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</a:t>
            </a:r>
            <a:r>
              <a:rPr lang="en-US" sz="1600" b="1" i="1" dirty="0">
                <a:solidFill>
                  <a:srgbClr val="2906FA"/>
                </a:solidFill>
              </a:rPr>
              <a:t>Places an order on a book of quantity A</a:t>
            </a:r>
            <a:endParaRPr lang="en-US" sz="1600" dirty="0">
              <a:solidFill>
                <a:srgbClr val="2906FA"/>
              </a:solidFill>
            </a:endParaRPr>
          </a:p>
        </p:txBody>
      </p:sp>
      <p:cxnSp>
        <p:nvCxnSpPr>
          <p:cNvPr id="12" name="Straight Arrow Connector 11"/>
          <p:cNvCxnSpPr>
            <a:endCxn id="31" idx="0"/>
          </p:cNvCxnSpPr>
          <p:nvPr/>
        </p:nvCxnSpPr>
        <p:spPr>
          <a:xfrm>
            <a:off x="2209800" y="3962400"/>
            <a:ext cx="2119869" cy="113803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90600" y="4338434"/>
            <a:ext cx="1771828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1: Read A = 1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34" idx="2"/>
            <a:endCxn id="31" idx="0"/>
          </p:cNvCxnSpPr>
          <p:nvPr/>
        </p:nvCxnSpPr>
        <p:spPr>
          <a:xfrm flipH="1">
            <a:off x="4329669" y="3962400"/>
            <a:ext cx="1986518" cy="113803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562600" y="4490834"/>
            <a:ext cx="16002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2: Read A = 1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924300" y="5100434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53000" y="5105400"/>
            <a:ext cx="26670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  <a:r>
              <a:rPr lang="en-US" dirty="0" smtClean="0"/>
              <a:t>: Decrement A &amp; Commit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14400" y="5105400"/>
            <a:ext cx="26670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4: Decrement A = ERROR!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>
          <a:xfrm>
            <a:off x="381000" y="6172200"/>
            <a:ext cx="8534400" cy="609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This situation will never arise in a serial execution of T1 and T2; T2 would read A and see 0 and therefore not proceed with placing an order!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26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3" grpId="0" animBg="1"/>
      <p:bldP spid="34" grpId="0" animBg="1"/>
      <p:bldP spid="13" grpId="0" animBg="1"/>
      <p:bldP spid="17" grpId="0" animBg="1"/>
      <p:bldP spid="20" grpId="0" animBg="1"/>
      <p:bldP spid="21" grpId="0" animBg="1"/>
      <p:bldP spid="22" grpId="0" animBg="1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Overwriting Uncommitted Data: </a:t>
            </a:r>
            <a:br>
              <a:rPr lang="en-US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WW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7630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W</a:t>
            </a:r>
            <a:r>
              <a:rPr lang="en-US" sz="2600" dirty="0" smtClean="0"/>
              <a:t>W conflicts arise when transaction T2 writes a data object A that has been written by another transaction T1, </a:t>
            </a:r>
            <a:r>
              <a:rPr lang="en-US" sz="2600" i="1" dirty="0" smtClean="0"/>
              <a:t>while T1 is still in progress</a:t>
            </a:r>
          </a:p>
          <a:p>
            <a:pPr>
              <a:buFont typeface="Wingdings" pitchFamily="2" charset="2"/>
              <a:buChar char="§"/>
            </a:pPr>
            <a:endParaRPr lang="en-US" sz="2600" i="1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Suppose that Mohammad and Ahmad are two employees and their salaries </a:t>
            </a:r>
            <a:r>
              <a:rPr lang="en-US" sz="2600" i="1" u="sng" dirty="0" smtClean="0"/>
              <a:t>must be kept equal</a:t>
            </a:r>
          </a:p>
          <a:p>
            <a:pPr>
              <a:buFont typeface="Wingdings" pitchFamily="2" charset="2"/>
              <a:buChar char="§"/>
            </a:pPr>
            <a:endParaRPr lang="en-US" sz="2600" i="1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Assume T1 sets Mohammad’s and Ahmad’s salaries to $1000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Assume T2 sets Mohammad’s and Ahmad’s salaries to $2000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08060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86463" y="300056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923494" y="295415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Overwriting Uncommitted Data: 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WW Conflicts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245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90600" y="200165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Sets Salaries to $1000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36173" y="198419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</a:t>
            </a:r>
            <a:r>
              <a:rPr lang="en-US" sz="1600" dirty="0" smtClean="0">
                <a:solidFill>
                  <a:srgbClr val="0000FF"/>
                </a:solidFill>
              </a:rPr>
              <a:t>Sets Salaries to $2000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362200" y="2344552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362200" y="2344552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85963" y="25731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443663" y="2327090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024563" y="25604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6363" y="35637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672399" y="2327090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86113" y="35256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1459706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611894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13286" y="4631145"/>
            <a:ext cx="213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Mohammad’s Salary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31660" y="4659868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Ahmad’s Salary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6028346" y="3561059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47016" y="3572765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62400" y="3833685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5400" dirty="0" smtClean="0"/>
              <a:t> </a:t>
            </a:r>
            <a:endParaRPr lang="en-US" sz="5400" dirty="0"/>
          </a:p>
        </p:txBody>
      </p:sp>
      <p:sp>
        <p:nvSpPr>
          <p:cNvPr id="22" name="Rectangle 21"/>
          <p:cNvSpPr/>
          <p:nvPr/>
        </p:nvSpPr>
        <p:spPr>
          <a:xfrm>
            <a:off x="6023851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MS=1000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49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7" grpId="0" animBg="1"/>
      <p:bldP spid="19" grpId="0" animBg="1"/>
      <p:bldP spid="21" grpId="0" animBg="1"/>
      <p:bldP spid="24" grpId="0" animBg="1"/>
      <p:bldP spid="27" grpId="0" animBg="1"/>
      <p:bldP spid="28" grpId="0" animBg="1"/>
      <p:bldP spid="3" grpId="0"/>
      <p:bldP spid="32" grpId="0"/>
      <p:bldP spid="20" grpId="0" animBg="1"/>
      <p:bldP spid="20" grpId="1" animBg="1"/>
      <p:bldP spid="25" grpId="0" animBg="1"/>
      <p:bldP spid="25" grpId="1" animBg="1"/>
      <p:bldP spid="7" grpId="0"/>
      <p:bldP spid="22" grpId="0" animBg="1"/>
      <p:bldP spid="22" grpId="1" animBg="1"/>
      <p:bldP spid="16" grpId="0" animBg="1"/>
      <p:bldP spid="1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86463" y="300056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923494" y="295415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Overwriting Uncommitted Data: 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WW Conflicts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245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90600" y="200165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Sets Salaries to $1000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36173" y="198419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</a:t>
            </a:r>
            <a:r>
              <a:rPr lang="en-US" sz="1600" dirty="0" smtClean="0">
                <a:solidFill>
                  <a:srgbClr val="0000FF"/>
                </a:solidFill>
              </a:rPr>
              <a:t>Sets Salaries to $2000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362200" y="2344552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362200" y="2344552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85963" y="25731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443663" y="2327090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024563" y="25604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186363" y="35637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672399" y="2327090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86113" y="35256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1459706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611894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13286" y="4631145"/>
            <a:ext cx="213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Mohammad’s Salary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31660" y="4659868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Ahmad’s Salary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23851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36311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43100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62400" y="3833685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5400" dirty="0" smtClean="0"/>
              <a:t> </a:t>
            </a:r>
            <a:endParaRPr lang="en-US" sz="5400" dirty="0"/>
          </a:p>
        </p:txBody>
      </p:sp>
      <p:pic>
        <p:nvPicPr>
          <p:cNvPr id="30" name="Picture 2" descr="http://easyukpaydayloanss.co.uk/wp-content/uploads/2013/12/happy-man-cartoo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362" y="1612622"/>
            <a:ext cx="1126173" cy="111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762000" y="5257800"/>
            <a:ext cx="7543800" cy="6858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Either serial schedule is </a:t>
            </a:r>
            <a:r>
              <a:rPr lang="en-US" u="sng" dirty="0" smtClean="0">
                <a:solidFill>
                  <a:schemeClr val="tx1"/>
                </a:solidFill>
              </a:rPr>
              <a:t>acceptable</a:t>
            </a:r>
            <a:r>
              <a:rPr lang="en-US" dirty="0" smtClean="0">
                <a:solidFill>
                  <a:schemeClr val="tx1"/>
                </a:solidFill>
              </a:rPr>
              <a:t> from a </a:t>
            </a:r>
            <a:r>
              <a:rPr lang="en-US" i="1" dirty="0" smtClean="0">
                <a:solidFill>
                  <a:schemeClr val="tx1"/>
                </a:solidFill>
              </a:rPr>
              <a:t>consistency standpoint </a:t>
            </a:r>
            <a:r>
              <a:rPr lang="en-US" dirty="0" smtClean="0">
                <a:solidFill>
                  <a:schemeClr val="tx1"/>
                </a:solidFill>
              </a:rPr>
              <a:t>(although Mohammad and Ahmad may prefer higher salaries!)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62000" y="6019800"/>
            <a:ext cx="7543800" cy="6858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Neither T1 nor T2 reads a salary value before writing it- such a write is called a </a:t>
            </a:r>
            <a:r>
              <a:rPr lang="en-US" b="1" i="1" dirty="0" smtClean="0">
                <a:solidFill>
                  <a:schemeClr val="tx1"/>
                </a:solidFill>
              </a:rPr>
              <a:t>blind write!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8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7" grpId="0" animBg="1"/>
      <p:bldP spid="19" grpId="0" animBg="1"/>
      <p:bldP spid="21" grpId="0" animBg="1"/>
      <p:bldP spid="24" grpId="0" animBg="1"/>
      <p:bldP spid="27" grpId="0" animBg="1"/>
      <p:bldP spid="28" grpId="0" animBg="1"/>
      <p:bldP spid="3" grpId="0"/>
      <p:bldP spid="32" grpId="0"/>
      <p:bldP spid="16" grpId="0" animBg="1"/>
      <p:bldP spid="16" grpId="1" animBg="1"/>
      <p:bldP spid="22" grpId="0" animBg="1"/>
      <p:bldP spid="22" grpId="1" animBg="1"/>
      <p:bldP spid="20" grpId="0" animBg="1"/>
      <p:bldP spid="20" grpId="1" animBg="1"/>
      <p:bldP spid="25" grpId="0" animBg="1"/>
      <p:bldP spid="25" grpId="1" animBg="1"/>
      <p:bldP spid="7" grpId="0"/>
      <p:bldP spid="9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lded Corner 30"/>
          <p:cNvSpPr/>
          <p:nvPr/>
        </p:nvSpPr>
        <p:spPr>
          <a:xfrm>
            <a:off x="5986463" y="3000560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ded Corner 1"/>
          <p:cNvSpPr/>
          <p:nvPr/>
        </p:nvSpPr>
        <p:spPr>
          <a:xfrm>
            <a:off x="1923494" y="2954152"/>
            <a:ext cx="914400" cy="1612900"/>
          </a:xfrm>
          <a:prstGeom prst="foldedCorner">
            <a:avLst/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Overwriting Uncommitted Data: 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WW Conflicts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105400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§"/>
            </a:pPr>
            <a:endParaRPr lang="en-US" i="1" dirty="0" smtClean="0"/>
          </a:p>
          <a:p>
            <a:pPr lvl="1">
              <a:buFont typeface="Wingdings" pitchFamily="2" charset="2"/>
              <a:buChar char="§"/>
            </a:pPr>
            <a:endParaRPr lang="en-US" i="1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245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90600" y="2001652"/>
            <a:ext cx="2743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chemeClr val="tx1"/>
                </a:solidFill>
              </a:rPr>
              <a:t>T1: Sets Salaries to $1000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36173" y="1984190"/>
            <a:ext cx="30384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i="1" dirty="0" smtClean="0">
                <a:solidFill>
                  <a:srgbClr val="0000FF"/>
                </a:solidFill>
              </a:rPr>
              <a:t>T2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= </a:t>
            </a:r>
            <a:r>
              <a:rPr lang="en-US" sz="1600" dirty="0" smtClean="0">
                <a:solidFill>
                  <a:srgbClr val="0000FF"/>
                </a:solidFill>
              </a:rPr>
              <a:t>Sets Salaries to $2000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6" idx="0"/>
          </p:cNvCxnSpPr>
          <p:nvPr/>
        </p:nvCxnSpPr>
        <p:spPr>
          <a:xfrm>
            <a:off x="2362200" y="2344552"/>
            <a:ext cx="4763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2"/>
            <a:endCxn id="8" idx="1"/>
          </p:cNvCxnSpPr>
          <p:nvPr/>
        </p:nvCxnSpPr>
        <p:spPr>
          <a:xfrm>
            <a:off x="2362200" y="2344552"/>
            <a:ext cx="3662363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85963" y="25731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cxnSp>
        <p:nvCxnSpPr>
          <p:cNvPr id="18" name="Straight Arrow Connector 17"/>
          <p:cNvCxnSpPr>
            <a:stCxn id="13" idx="2"/>
            <a:endCxn id="8" idx="0"/>
          </p:cNvCxnSpPr>
          <p:nvPr/>
        </p:nvCxnSpPr>
        <p:spPr>
          <a:xfrm flipH="1">
            <a:off x="6443663" y="2327090"/>
            <a:ext cx="11748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024563" y="25604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6363" y="35637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</a:p>
        </p:txBody>
      </p:sp>
      <p:cxnSp>
        <p:nvCxnSpPr>
          <p:cNvPr id="23" name="Straight Arrow Connector 22"/>
          <p:cNvCxnSpPr>
            <a:stCxn id="13" idx="2"/>
          </p:cNvCxnSpPr>
          <p:nvPr/>
        </p:nvCxnSpPr>
        <p:spPr>
          <a:xfrm flipH="1">
            <a:off x="2672399" y="2327090"/>
            <a:ext cx="3783012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86113" y="3525652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1459706" y="32303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601382" y="3268477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13286" y="4631145"/>
            <a:ext cx="213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Mohammad’s Salary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31660" y="4659868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Ahmad’s Salary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1947863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19800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43100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MS=2000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23851" y="3563752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AS=1000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Multiply 3"/>
          <p:cNvSpPr/>
          <p:nvPr/>
        </p:nvSpPr>
        <p:spPr>
          <a:xfrm>
            <a:off x="3893586" y="3801984"/>
            <a:ext cx="1066800" cy="990600"/>
          </a:xfrm>
          <a:prstGeom prst="mathMultiply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" descr="C:\Users\vkolar\AppData\Local\Microsoft\Windows\Temporary Internet Files\Content.IE5\HRUY4RJ7\MC90044152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6913" y="1553977"/>
            <a:ext cx="1047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1143000" y="5257800"/>
            <a:ext cx="6934200" cy="106680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The problem is that we have a </a:t>
            </a:r>
            <a:r>
              <a:rPr lang="en-US" sz="2000" b="1" i="1" u="sng" dirty="0" smtClean="0"/>
              <a:t>lost update</a:t>
            </a:r>
            <a:r>
              <a:rPr lang="en-US" sz="2000" dirty="0" smtClean="0"/>
              <a:t>. In particular, T2 overwrote Mohammad’s Salary as set by T1 (this will never happen with a serializable schedule!)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378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  <p:bldP spid="6" grpId="0" animBg="1"/>
      <p:bldP spid="8" grpId="0" animBg="1"/>
      <p:bldP spid="12" grpId="0" animBg="1"/>
      <p:bldP spid="13" grpId="0" animBg="1"/>
      <p:bldP spid="17" grpId="0" animBg="1"/>
      <p:bldP spid="19" grpId="0" animBg="1"/>
      <p:bldP spid="21" grpId="0" animBg="1"/>
      <p:bldP spid="24" grpId="0" animBg="1"/>
      <p:bldP spid="27" grpId="0" animBg="1"/>
      <p:bldP spid="28" grpId="0" animBg="1"/>
      <p:bldP spid="3" grpId="0"/>
      <p:bldP spid="32" grpId="0"/>
      <p:bldP spid="16" grpId="0" animBg="1"/>
      <p:bldP spid="16" grpId="1" animBg="1"/>
      <p:bldP spid="20" grpId="0" animBg="1"/>
      <p:bldP spid="20" grpId="1" animBg="1"/>
      <p:bldP spid="25" grpId="0" animBg="1"/>
      <p:bldP spid="25" grpId="1" animBg="1"/>
      <p:bldP spid="22" grpId="0" animBg="1"/>
      <p:bldP spid="22" grpId="1" animBg="1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ACAF-F04B-44BB-A5C2-EAE4A5FB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dirty="0"/>
              <a:t>Implementation of Isolation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06DFC-E228-4A51-A4C2-91BB66D4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2" y="1102497"/>
            <a:ext cx="7741329" cy="5367972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Locking</a:t>
            </a:r>
            <a:endParaRPr lang="en-IN" dirty="0"/>
          </a:p>
          <a:p>
            <a:pPr lvl="1"/>
            <a:r>
              <a:rPr lang="en-IN" dirty="0"/>
              <a:t>Lock on whole database vs lock on items</a:t>
            </a:r>
          </a:p>
          <a:p>
            <a:pPr lvl="1"/>
            <a:r>
              <a:rPr lang="en-IN" dirty="0"/>
              <a:t>How long to hold lock?</a:t>
            </a:r>
          </a:p>
          <a:p>
            <a:pPr lvl="1"/>
            <a:r>
              <a:rPr lang="en-IN" dirty="0"/>
              <a:t>Shared vs exclusive locks</a:t>
            </a:r>
          </a:p>
          <a:p>
            <a:r>
              <a:rPr lang="en-IN" dirty="0"/>
              <a:t>Timestamps</a:t>
            </a:r>
          </a:p>
          <a:p>
            <a:pPr lvl="1"/>
            <a:r>
              <a:rPr lang="en-IN" dirty="0"/>
              <a:t>Transaction timestamp assigned e.g. when a transaction begins</a:t>
            </a:r>
          </a:p>
          <a:p>
            <a:pPr lvl="1"/>
            <a:r>
              <a:rPr lang="en-IN" dirty="0"/>
              <a:t>Data items store two timestamps</a:t>
            </a:r>
          </a:p>
          <a:p>
            <a:pPr lvl="2"/>
            <a:r>
              <a:rPr lang="en-IN" dirty="0"/>
              <a:t>Read timestamp</a:t>
            </a:r>
          </a:p>
          <a:p>
            <a:pPr lvl="2"/>
            <a:r>
              <a:rPr lang="en-IN" dirty="0"/>
              <a:t>Write timestamp</a:t>
            </a:r>
          </a:p>
          <a:p>
            <a:pPr lvl="1"/>
            <a:r>
              <a:rPr lang="en-IN" dirty="0"/>
              <a:t>Timestamps are used to detect out of order accesses</a:t>
            </a:r>
          </a:p>
          <a:p>
            <a:r>
              <a:rPr lang="en-IN" dirty="0"/>
              <a:t>Multiple versions of each data item</a:t>
            </a:r>
          </a:p>
          <a:p>
            <a:pPr lvl="1"/>
            <a:r>
              <a:rPr lang="en-IN" dirty="0"/>
              <a:t>Allow transactions to read from a “snapshot” of the database</a:t>
            </a:r>
          </a:p>
        </p:txBody>
      </p:sp>
    </p:spTree>
    <p:extLst>
      <p:ext uri="{BB962C8B-B14F-4D97-AF65-F5344CB8AC3E}">
        <p14:creationId xmlns:p14="http://schemas.microsoft.com/office/powerpoint/2010/main" val="187704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299142" cy="5367972"/>
          </a:xfrm>
        </p:spPr>
        <p:txBody>
          <a:bodyPr/>
          <a:lstStyle/>
          <a:p>
            <a:r>
              <a:rPr lang="en-US" sz="1800" dirty="0"/>
              <a:t>WR, RW and WW anomalies can be avoided using a </a:t>
            </a:r>
            <a:r>
              <a:rPr lang="en-US" sz="1800" i="1" dirty="0" smtClean="0">
                <a:solidFill>
                  <a:srgbClr val="0070C0"/>
                </a:solidFill>
              </a:rPr>
              <a:t>locking </a:t>
            </a:r>
            <a:r>
              <a:rPr lang="en-US" sz="1800" i="1" dirty="0">
                <a:solidFill>
                  <a:srgbClr val="0070C0"/>
                </a:solidFill>
              </a:rPr>
              <a:t>protocol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A </a:t>
            </a:r>
            <a:r>
              <a:rPr lang="en-US" altLang="en-US" dirty="0"/>
              <a:t>lock is a mechanism to control concurrent access to a data item</a:t>
            </a:r>
          </a:p>
          <a:p>
            <a:r>
              <a:rPr lang="en-US" altLang="en-US" dirty="0"/>
              <a:t>Data items can be locked in two modes :</a:t>
            </a:r>
          </a:p>
          <a:p>
            <a:pPr>
              <a:buFont typeface="Monotype Sorts" charset="2"/>
              <a:buNone/>
            </a:pPr>
            <a:r>
              <a:rPr lang="en-US" altLang="en-US" i="1" dirty="0"/>
              <a:t>    </a:t>
            </a:r>
            <a:r>
              <a:rPr lang="en-US" altLang="en-US" dirty="0"/>
              <a:t>1</a:t>
            </a:r>
            <a:r>
              <a:rPr lang="en-US" altLang="en-US" i="1" dirty="0"/>
              <a:t>.  </a:t>
            </a:r>
            <a:r>
              <a:rPr lang="en-US" altLang="en-US" b="1" dirty="0">
                <a:solidFill>
                  <a:srgbClr val="002060"/>
                </a:solidFill>
              </a:rPr>
              <a:t>exclusive</a:t>
            </a:r>
            <a:r>
              <a:rPr lang="en-US" altLang="en-US" i="1" dirty="0"/>
              <a:t> (X) mode</a:t>
            </a:r>
            <a:r>
              <a:rPr lang="en-US" altLang="en-US" dirty="0"/>
              <a:t>. Data item can be both read as well  as  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 written. X-lock is requested using </a:t>
            </a:r>
            <a:r>
              <a:rPr lang="en-US" altLang="en-US" b="1" dirty="0"/>
              <a:t> lock-X</a:t>
            </a:r>
            <a:r>
              <a:rPr lang="en-US" altLang="en-US" dirty="0"/>
              <a:t> instruction.</a:t>
            </a:r>
          </a:p>
          <a:p>
            <a:pPr>
              <a:buFont typeface="Monotype Sorts" charset="2"/>
              <a:buNone/>
            </a:pPr>
            <a:r>
              <a:rPr lang="en-US" altLang="en-US" i="1" dirty="0"/>
              <a:t>    </a:t>
            </a:r>
            <a:r>
              <a:rPr lang="en-US" altLang="en-US" dirty="0"/>
              <a:t>2</a:t>
            </a:r>
            <a:r>
              <a:rPr lang="en-US" altLang="en-US" i="1" dirty="0"/>
              <a:t>.  </a:t>
            </a:r>
            <a:r>
              <a:rPr lang="en-US" altLang="en-US" b="1" dirty="0">
                <a:solidFill>
                  <a:srgbClr val="002060"/>
                </a:solidFill>
              </a:rPr>
              <a:t>shared</a:t>
            </a:r>
            <a:r>
              <a:rPr lang="en-US" altLang="en-US" i="1" dirty="0"/>
              <a:t> (S) mode</a:t>
            </a:r>
            <a:r>
              <a:rPr lang="en-US" altLang="en-US" dirty="0"/>
              <a:t>. Data item can only be read. S-lock is         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 requested using </a:t>
            </a:r>
            <a:r>
              <a:rPr lang="en-US" altLang="en-US" b="1" dirty="0"/>
              <a:t> lock-S</a:t>
            </a:r>
            <a:r>
              <a:rPr lang="en-US" altLang="en-US" dirty="0"/>
              <a:t> instruction.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Lock requests are made to concurrency-control manager. Transaction can proceed only after request is granted</a:t>
            </a:r>
            <a:r>
              <a:rPr lang="en-US" altLang="en-US" dirty="0" smtClean="0"/>
              <a:t>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The part of the DBMS that keeps track of locks is called the </a:t>
            </a:r>
            <a:r>
              <a:rPr lang="en-US" sz="1800" i="1" dirty="0">
                <a:solidFill>
                  <a:srgbClr val="C00000"/>
                </a:solidFill>
              </a:rPr>
              <a:t>lock </a:t>
            </a:r>
            <a:r>
              <a:rPr lang="en-US" sz="1800" i="1" dirty="0" smtClean="0">
                <a:solidFill>
                  <a:srgbClr val="C00000"/>
                </a:solidFill>
              </a:rPr>
              <a:t>manager</a:t>
            </a:r>
            <a:endParaRPr lang="en-US" sz="18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51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Lock Manager Implementation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Usually, a lock manager in a DBMS maintains three types of data structures: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A queue, </a:t>
            </a:r>
            <a:r>
              <a:rPr lang="en-US" sz="2600" b="1" i="1" dirty="0" smtClean="0"/>
              <a:t>Q</a:t>
            </a:r>
            <a:r>
              <a:rPr lang="en-US" sz="2600" dirty="0" smtClean="0"/>
              <a:t>, for each lock, </a:t>
            </a:r>
            <a:r>
              <a:rPr lang="en-US" sz="2600" b="1" i="1" dirty="0" smtClean="0"/>
              <a:t>L</a:t>
            </a:r>
            <a:r>
              <a:rPr lang="en-US" sz="2600" dirty="0" smtClean="0"/>
              <a:t>,</a:t>
            </a:r>
            <a:br>
              <a:rPr lang="en-US" sz="2600" dirty="0" smtClean="0"/>
            </a:br>
            <a:r>
              <a:rPr lang="en-US" sz="2600" dirty="0" smtClean="0"/>
              <a:t>to hold its pending requests</a:t>
            </a:r>
          </a:p>
          <a:p>
            <a:pPr lvl="1">
              <a:buFont typeface="Wingdings" pitchFamily="2" charset="2"/>
              <a:buChar char="§"/>
            </a:pPr>
            <a:endParaRPr lang="en-US" sz="2600" dirty="0" smtClean="0"/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A lock </a:t>
            </a:r>
            <a:r>
              <a:rPr lang="en-US" sz="2600" dirty="0"/>
              <a:t>t</a:t>
            </a:r>
            <a:r>
              <a:rPr lang="en-US" sz="2600" dirty="0" smtClean="0"/>
              <a:t>able, which keeps for </a:t>
            </a:r>
            <a:br>
              <a:rPr lang="en-US" sz="2600" dirty="0" smtClean="0"/>
            </a:br>
            <a:r>
              <a:rPr lang="en-US" sz="2600" dirty="0" smtClean="0"/>
              <a:t>each </a:t>
            </a:r>
            <a:r>
              <a:rPr lang="en-US" sz="2600" b="1" i="1" dirty="0" smtClean="0"/>
              <a:t>L</a:t>
            </a:r>
            <a:r>
              <a:rPr lang="en-US" sz="2600" dirty="0" smtClean="0"/>
              <a:t> associated with </a:t>
            </a:r>
            <a:br>
              <a:rPr lang="en-US" sz="2600" dirty="0" smtClean="0"/>
            </a:br>
            <a:r>
              <a:rPr lang="en-US" sz="2600" dirty="0" smtClean="0"/>
              <a:t>each object, </a:t>
            </a:r>
            <a:r>
              <a:rPr lang="en-US" sz="2600" b="1" i="1" dirty="0" smtClean="0"/>
              <a:t>O</a:t>
            </a:r>
            <a:r>
              <a:rPr lang="en-US" sz="2600" dirty="0" smtClean="0"/>
              <a:t>, a record </a:t>
            </a:r>
            <a:r>
              <a:rPr lang="en-US" sz="2600" b="1" i="1" dirty="0" smtClean="0"/>
              <a:t>R</a:t>
            </a:r>
            <a:r>
              <a:rPr lang="en-US" sz="2600" dirty="0" smtClean="0"/>
              <a:t> </a:t>
            </a:r>
            <a:br>
              <a:rPr lang="en-US" sz="2600" dirty="0" smtClean="0"/>
            </a:br>
            <a:r>
              <a:rPr lang="en-US" sz="2600" dirty="0" smtClean="0"/>
              <a:t>that contains:</a:t>
            </a:r>
          </a:p>
          <a:p>
            <a:pPr lvl="2">
              <a:buFont typeface="Wingdings" pitchFamily="2" charset="2"/>
              <a:buChar char="§"/>
            </a:pPr>
            <a:r>
              <a:rPr lang="en-US" sz="2600" dirty="0" smtClean="0"/>
              <a:t>The </a:t>
            </a:r>
            <a:r>
              <a:rPr lang="en-US" sz="2600" dirty="0"/>
              <a:t>type of </a:t>
            </a:r>
            <a:r>
              <a:rPr lang="en-US" sz="2600" b="1" i="1" dirty="0"/>
              <a:t>L</a:t>
            </a:r>
            <a:r>
              <a:rPr lang="en-US" sz="2600" dirty="0"/>
              <a:t> (e.g., shared or exclusive</a:t>
            </a:r>
            <a:r>
              <a:rPr lang="en-US" sz="2600" dirty="0" smtClean="0"/>
              <a:t>)</a:t>
            </a:r>
          </a:p>
          <a:p>
            <a:pPr lvl="2">
              <a:buFont typeface="Wingdings" pitchFamily="2" charset="2"/>
              <a:buChar char="§"/>
            </a:pPr>
            <a:r>
              <a:rPr lang="en-US" sz="2600" dirty="0" smtClean="0"/>
              <a:t>The number of transactions currently holding </a:t>
            </a:r>
            <a:r>
              <a:rPr lang="en-US" sz="2600" b="1" i="1" dirty="0" smtClean="0"/>
              <a:t>L</a:t>
            </a:r>
            <a:r>
              <a:rPr lang="en-US" sz="2600" dirty="0" smtClean="0"/>
              <a:t> on </a:t>
            </a:r>
            <a:r>
              <a:rPr lang="en-US" sz="2600" b="1" i="1" dirty="0" smtClean="0"/>
              <a:t>O</a:t>
            </a:r>
          </a:p>
          <a:p>
            <a:pPr lvl="2">
              <a:buFont typeface="Wingdings" pitchFamily="2" charset="2"/>
              <a:buChar char="§"/>
            </a:pPr>
            <a:r>
              <a:rPr lang="en-US" sz="2600" dirty="0" smtClean="0"/>
              <a:t>A pointer to </a:t>
            </a:r>
            <a:r>
              <a:rPr lang="en-US" sz="2600" b="1" i="1" dirty="0" smtClean="0"/>
              <a:t>Q</a:t>
            </a:r>
          </a:p>
          <a:p>
            <a:pPr lvl="2">
              <a:buFont typeface="Wingdings" pitchFamily="2" charset="2"/>
              <a:buChar char="§"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A transaction table, which maintains for each transaction, </a:t>
            </a:r>
            <a:r>
              <a:rPr lang="en-US" sz="2600" b="1" i="1" dirty="0" smtClean="0"/>
              <a:t>T</a:t>
            </a:r>
            <a:r>
              <a:rPr lang="en-US" sz="2600" dirty="0" smtClean="0"/>
              <a:t>, a pointer to a list of locks held by </a:t>
            </a:r>
            <a:r>
              <a:rPr lang="en-US" sz="2600" b="1" i="1" dirty="0" smtClean="0"/>
              <a:t>T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2" name="Rectangle 1"/>
          <p:cNvSpPr/>
          <p:nvPr/>
        </p:nvSpPr>
        <p:spPr>
          <a:xfrm>
            <a:off x="4953000" y="1981200"/>
            <a:ext cx="3886200" cy="2286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7365762" y="2480846"/>
            <a:ext cx="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7365762" y="2480846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746762" y="2480846"/>
            <a:ext cx="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22846" y="2818587"/>
            <a:ext cx="1225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Lock Queue 1 </a:t>
            </a:r>
            <a:b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(Q1)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105400" y="3327876"/>
          <a:ext cx="28194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Object</a:t>
                      </a:r>
                      <a:endParaRPr lang="en-US" sz="12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Lock #</a:t>
                      </a:r>
                      <a:endParaRPr lang="en-US" sz="12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Type</a:t>
                      </a:r>
                      <a:endParaRPr lang="en-US" sz="12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# of </a:t>
                      </a:r>
                      <a:r>
                        <a:rPr lang="en-US" sz="1200" b="1" dirty="0" err="1" smtClean="0"/>
                        <a:t>Trx</a:t>
                      </a:r>
                      <a:endParaRPr lang="en-US" sz="12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Q</a:t>
                      </a:r>
                      <a:endParaRPr lang="en-US" sz="12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Q1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8153400" y="3317902"/>
            <a:ext cx="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53400" y="3317902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534400" y="3317902"/>
            <a:ext cx="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66276" y="3082898"/>
            <a:ext cx="9517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Lock Table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8684" y="2117650"/>
            <a:ext cx="1871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Transaction List 1 (LS1)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5181600" y="2345488"/>
          <a:ext cx="12192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err="1" smtClean="0"/>
                        <a:t>Trx</a:t>
                      </a:r>
                      <a:endParaRPr lang="en-US" sz="1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List</a:t>
                      </a:r>
                      <a:endParaRPr lang="en-US" sz="1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LS1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063639" y="2041022"/>
            <a:ext cx="1477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Transaction Table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89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7" grpId="0"/>
      <p:bldP spid="18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696940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Lock-compatibility matrix</a:t>
            </a:r>
          </a:p>
          <a:p>
            <a:endParaRPr lang="en-US" altLang="en-US" dirty="0">
              <a:solidFill>
                <a:schemeClr val="tx2"/>
              </a:solidFill>
            </a:endParaRPr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r>
              <a:rPr lang="en-US" altLang="en-US" dirty="0"/>
              <a:t>A transaction may be granted a lock on an item if the requested lock is compatible with locks already held on the item by other transactions</a:t>
            </a:r>
          </a:p>
          <a:p>
            <a:r>
              <a:rPr lang="en-US" altLang="en-US" dirty="0"/>
              <a:t>Any number of transactions can hold shared locks on an item, </a:t>
            </a:r>
          </a:p>
          <a:p>
            <a:r>
              <a:rPr lang="en-US" altLang="en-US" dirty="0"/>
              <a:t>But if any transaction holds an exclusive on the </a:t>
            </a:r>
            <a:r>
              <a:rPr lang="en-US" altLang="en-US" dirty="0" smtClean="0"/>
              <a:t>item, </a:t>
            </a:r>
            <a:r>
              <a:rPr lang="en-US" altLang="en-US" dirty="0"/>
              <a:t>no other transaction may hold any lock on the item.</a:t>
            </a:r>
          </a:p>
        </p:txBody>
      </p:sp>
      <p:pic>
        <p:nvPicPr>
          <p:cNvPr id="7172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1684338"/>
            <a:ext cx="1912937" cy="109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693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</p:spPr>
        <p:txBody>
          <a:bodyPr/>
          <a:lstStyle/>
          <a:p>
            <a:r>
              <a:rPr lang="en-US" altLang="en-US" dirty="0"/>
              <a:t>Example of a transaction performing locking: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  <a:r>
              <a:rPr lang="en-US" altLang="en-US" dirty="0"/>
              <a:t>:</a:t>
            </a:r>
            <a:r>
              <a:rPr lang="en-US" altLang="en-US" b="1" dirty="0"/>
              <a:t> lock-S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read 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unlock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lock-S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read 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unlock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display</a:t>
            </a:r>
            <a:r>
              <a:rPr lang="en-US" altLang="en-US" i="1" dirty="0"/>
              <a:t>(A+B)</a:t>
            </a:r>
          </a:p>
          <a:p>
            <a:r>
              <a:rPr lang="en-US" altLang="en-US" dirty="0"/>
              <a:t>Locking as above is </a:t>
            </a:r>
            <a:r>
              <a:rPr lang="en-US" altLang="en-US" i="1" u="sng" dirty="0"/>
              <a:t>not sufficient </a:t>
            </a:r>
            <a:r>
              <a:rPr lang="en-US" altLang="en-US" dirty="0"/>
              <a:t>to guarantee serializability</a:t>
            </a:r>
          </a:p>
        </p:txBody>
      </p:sp>
    </p:spTree>
    <p:extLst>
      <p:ext uri="{BB962C8B-B14F-4D97-AF65-F5344CB8AC3E}">
        <p14:creationId xmlns:p14="http://schemas.microsoft.com/office/powerpoint/2010/main" val="342011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DB60-C461-4BD8-BE62-943FF7AA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Schedule With Lock Grants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18C1A-C907-4055-BE08-B00EB60C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3" y="1017143"/>
            <a:ext cx="2959304" cy="5363110"/>
          </a:xfrm>
        </p:spPr>
        <p:txBody>
          <a:bodyPr/>
          <a:lstStyle/>
          <a:p>
            <a:r>
              <a:rPr lang="en-IN" dirty="0"/>
              <a:t>Grants omitted in rest of chapter</a:t>
            </a:r>
          </a:p>
          <a:p>
            <a:pPr lvl="1"/>
            <a:r>
              <a:rPr lang="en-IN" dirty="0"/>
              <a:t>Assume grant happens just before the next instruction following lock request</a:t>
            </a:r>
          </a:p>
          <a:p>
            <a:r>
              <a:rPr lang="en-IN" dirty="0"/>
              <a:t>This schedule is not serializable (why?)</a:t>
            </a:r>
          </a:p>
          <a:p>
            <a:r>
              <a:rPr lang="en-US" altLang="en-US" dirty="0"/>
              <a:t>A  </a:t>
            </a:r>
            <a:r>
              <a:rPr lang="en-US" altLang="en-US" b="1" dirty="0">
                <a:solidFill>
                  <a:srgbClr val="002060"/>
                </a:solidFill>
              </a:rPr>
              <a:t>locking protocol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is a set of rules followed by all transactions while requesting and releasing locks.</a:t>
            </a:r>
          </a:p>
          <a:p>
            <a:r>
              <a:rPr lang="en-US" altLang="en-US" dirty="0"/>
              <a:t>Locking protocols enforce serializability by restricting the set of possible schedules.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AE3D180-B317-4C09-92A6-94ACE70F5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021585" y="971364"/>
            <a:ext cx="4573439" cy="47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0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Deadlock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83029" y="1102497"/>
            <a:ext cx="8284028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Locking can lead to an undesirable situation. For example, consider </a:t>
            </a:r>
            <a:r>
              <a:rPr lang="en-US" altLang="en-US" dirty="0"/>
              <a:t>the partial schedule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Neither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nor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can make progress — executing  </a:t>
            </a:r>
            <a:r>
              <a:rPr lang="en-US" altLang="en-US" b="1" dirty="0"/>
              <a:t>lock-S</a:t>
            </a:r>
            <a:r>
              <a:rPr lang="en-US" altLang="en-US" i="1" dirty="0"/>
              <a:t>(B)</a:t>
            </a:r>
            <a:r>
              <a:rPr lang="en-US" altLang="en-US" dirty="0"/>
              <a:t> causes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to wait for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to release its lock on </a:t>
            </a:r>
            <a:r>
              <a:rPr lang="en-US" altLang="en-US" i="1" dirty="0"/>
              <a:t>B</a:t>
            </a:r>
            <a:r>
              <a:rPr lang="en-US" altLang="en-US" dirty="0"/>
              <a:t>, while executing  </a:t>
            </a:r>
            <a:r>
              <a:rPr lang="en-US" altLang="en-US" b="1" dirty="0"/>
              <a:t>lock-X</a:t>
            </a:r>
            <a:r>
              <a:rPr lang="en-US" altLang="en-US" i="1" dirty="0"/>
              <a:t>(A)</a:t>
            </a:r>
            <a:r>
              <a:rPr lang="en-US" altLang="en-US" dirty="0"/>
              <a:t> causes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i="1" dirty="0"/>
              <a:t> </a:t>
            </a:r>
            <a:r>
              <a:rPr lang="en-US" altLang="en-US" dirty="0"/>
              <a:t> to wait for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to release its lock on </a:t>
            </a:r>
            <a:r>
              <a:rPr lang="en-US" altLang="en-US" i="1" dirty="0"/>
              <a:t>A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Such a situation is called a </a:t>
            </a:r>
            <a:r>
              <a:rPr lang="en-US" altLang="en-US" b="1" dirty="0">
                <a:solidFill>
                  <a:srgbClr val="002060"/>
                </a:solidFill>
              </a:rPr>
              <a:t>deadlock</a:t>
            </a:r>
            <a:r>
              <a:rPr lang="en-US" altLang="en-US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 handle a deadlock one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must be rolled back </a:t>
            </a:r>
            <a:br>
              <a:rPr lang="en-US" altLang="en-US" dirty="0"/>
            </a:br>
            <a:r>
              <a:rPr lang="en-US" altLang="en-US" dirty="0"/>
              <a:t>and its locks released.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106EC28-4654-4E10-A473-7E719F7E7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171057" y="1376516"/>
            <a:ext cx="2646298" cy="263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2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Deadlock 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83030" y="1102497"/>
            <a:ext cx="8229600" cy="5367972"/>
          </a:xfrm>
        </p:spPr>
        <p:txBody>
          <a:bodyPr/>
          <a:lstStyle/>
          <a:p>
            <a:r>
              <a:rPr lang="en-US" altLang="en-US" dirty="0"/>
              <a:t>The potential for deadlock exists in most locking protocols. Deadlocks are a necessary evil.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Starvation</a:t>
            </a:r>
            <a:r>
              <a:rPr lang="en-US" altLang="en-US" dirty="0"/>
              <a:t> is also possible if concurrency control manager is badly designed. For example:</a:t>
            </a:r>
          </a:p>
          <a:p>
            <a:pPr lvl="1"/>
            <a:r>
              <a:rPr lang="en-US" altLang="en-US" dirty="0"/>
              <a:t>A transaction may be waiting for an X-lock on an item, while a sequence of other transactions request and are granted an S-lock on the same item.  </a:t>
            </a:r>
          </a:p>
          <a:p>
            <a:pPr lvl="1"/>
            <a:r>
              <a:rPr lang="en-US" altLang="en-US" dirty="0"/>
              <a:t>The same transaction is repeatedly rolled back due to deadlocks.</a:t>
            </a:r>
          </a:p>
          <a:p>
            <a:r>
              <a:rPr lang="en-US" altLang="en-US" dirty="0"/>
              <a:t>Concurrency control manager can be designed to prevent starvation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r>
              <a:rPr lang="en-US" altLang="en-US" dirty="0" smtClean="0"/>
              <a:t>Starvation of transactions can be avoided by granting the locks as follows:</a:t>
            </a:r>
          </a:p>
          <a:p>
            <a:pPr lvl="1"/>
            <a:r>
              <a:rPr lang="en-US" altLang="en-US" dirty="0" smtClean="0"/>
              <a:t>When </a:t>
            </a:r>
            <a:r>
              <a:rPr lang="en-US" altLang="en-US" dirty="0" err="1" smtClean="0"/>
              <a:t>T</a:t>
            </a:r>
            <a:r>
              <a:rPr lang="en-US" altLang="en-US" baseline="-25000" dirty="0" err="1" smtClean="0"/>
              <a:t>i</a:t>
            </a:r>
            <a:r>
              <a:rPr lang="en-US" altLang="en-US" baseline="-25000" dirty="0" smtClean="0"/>
              <a:t> </a:t>
            </a:r>
            <a:r>
              <a:rPr lang="en-US" altLang="en-US" dirty="0" smtClean="0"/>
              <a:t>requests a lock on a data item </a:t>
            </a:r>
            <a:r>
              <a:rPr lang="en-US" altLang="en-US" i="1" dirty="0" smtClean="0"/>
              <a:t>Q </a:t>
            </a:r>
            <a:r>
              <a:rPr lang="en-US" altLang="en-US" dirty="0" smtClean="0"/>
              <a:t>in a particular mode </a:t>
            </a:r>
            <a:r>
              <a:rPr lang="en-US" altLang="en-US" i="1" dirty="0" smtClean="0"/>
              <a:t>M</a:t>
            </a:r>
            <a:r>
              <a:rPr lang="en-US" altLang="en-US" dirty="0" smtClean="0"/>
              <a:t>, the concurrency control manager grants the lock provided that</a:t>
            </a:r>
          </a:p>
          <a:p>
            <a:pPr lvl="2"/>
            <a:r>
              <a:rPr lang="en-US" altLang="en-US" i="1" dirty="0" smtClean="0"/>
              <a:t>There is no other transaction holding a lock on Q in a mode that conflicts with M</a:t>
            </a:r>
          </a:p>
          <a:p>
            <a:pPr lvl="2"/>
            <a:r>
              <a:rPr lang="en-US" altLang="en-US" i="1" dirty="0" smtClean="0"/>
              <a:t>There is no other transaction that is waiting for a lock on Q and that made its lock request before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171215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Two-Phase Locking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 widely used locking protocol, called </a:t>
            </a:r>
            <a:r>
              <a:rPr lang="en-US" sz="2800" i="1" dirty="0" smtClean="0">
                <a:solidFill>
                  <a:srgbClr val="0070C0"/>
                </a:solidFill>
              </a:rPr>
              <a:t>Two-Phase Locking</a:t>
            </a:r>
            <a:r>
              <a:rPr lang="en-US" sz="2800" dirty="0" smtClean="0"/>
              <a:t> (</a:t>
            </a:r>
            <a:r>
              <a:rPr lang="en-US" sz="2800" i="1" dirty="0" smtClean="0">
                <a:solidFill>
                  <a:srgbClr val="0070C0"/>
                </a:solidFill>
              </a:rPr>
              <a:t>2PL</a:t>
            </a:r>
            <a:r>
              <a:rPr lang="en-US" sz="2800" dirty="0" smtClean="0"/>
              <a:t>), has two rules:	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70C0"/>
                </a:solidFill>
              </a:rPr>
              <a:t>Rule 1</a:t>
            </a:r>
            <a:r>
              <a:rPr lang="en-US" sz="2600" dirty="0" smtClean="0"/>
              <a:t>: if a transaction </a:t>
            </a:r>
            <a:r>
              <a:rPr lang="en-US" sz="2600" b="1" i="1" dirty="0" smtClean="0"/>
              <a:t>T</a:t>
            </a:r>
            <a:r>
              <a:rPr lang="en-US" sz="2600" dirty="0" smtClean="0"/>
              <a:t> wants to read (or write) an object </a:t>
            </a:r>
            <a:r>
              <a:rPr lang="en-US" sz="2600" b="1" i="1" dirty="0" smtClean="0"/>
              <a:t>O</a:t>
            </a:r>
            <a:r>
              <a:rPr lang="en-US" sz="2600" dirty="0" smtClean="0"/>
              <a:t>, it first requests the lock manager for a shared (or exclusive) lock on </a:t>
            </a:r>
            <a:r>
              <a:rPr lang="en-US" sz="2600" b="1" i="1" dirty="0" smtClean="0"/>
              <a:t>O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96" name="Oval 95"/>
          <p:cNvSpPr/>
          <p:nvPr/>
        </p:nvSpPr>
        <p:spPr>
          <a:xfrm>
            <a:off x="404813" y="39608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97" name="Oval 96"/>
          <p:cNvSpPr/>
          <p:nvPr/>
        </p:nvSpPr>
        <p:spPr>
          <a:xfrm>
            <a:off x="1243013" y="39608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98" name="Oval 97"/>
          <p:cNvSpPr/>
          <p:nvPr/>
        </p:nvSpPr>
        <p:spPr>
          <a:xfrm>
            <a:off x="2157413" y="39608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99" name="Oval 98"/>
          <p:cNvSpPr/>
          <p:nvPr/>
        </p:nvSpPr>
        <p:spPr>
          <a:xfrm>
            <a:off x="611188" y="52562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131561" y="4572265"/>
            <a:ext cx="1207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Read </a:t>
            </a:r>
            <a:r>
              <a:rPr lang="en-US" sz="1200" dirty="0"/>
              <a:t>Request 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on Object </a:t>
            </a:r>
            <a:r>
              <a:rPr lang="en-US" sz="1200" b="1" i="1" dirty="0" smtClean="0"/>
              <a:t>O</a:t>
            </a:r>
            <a:endParaRPr lang="en-US" sz="1200" b="1" i="1" dirty="0"/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1700213" y="4567237"/>
            <a:ext cx="11063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“Shared”</a:t>
            </a:r>
          </a:p>
          <a:p>
            <a:pPr algn="ctr" eaLnBrk="1" hangingPunct="1"/>
            <a:r>
              <a:rPr lang="en-US" sz="1200" dirty="0" smtClean="0"/>
              <a:t>Lock </a:t>
            </a:r>
            <a:r>
              <a:rPr lang="en-US" sz="1200" dirty="0"/>
              <a:t>Granted</a:t>
            </a:r>
          </a:p>
        </p:txBody>
      </p:sp>
      <p:cxnSp>
        <p:nvCxnSpPr>
          <p:cNvPr id="102" name="Straight Connector 101"/>
          <p:cNvCxnSpPr/>
          <p:nvPr/>
        </p:nvCxnSpPr>
        <p:spPr>
          <a:xfrm>
            <a:off x="1624013" y="52562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624013" y="5256212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081213" y="52562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328613" y="51800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6" name="TextBox 105"/>
          <p:cNvSpPr txBox="1">
            <a:spLocks noChangeArrowheads="1"/>
          </p:cNvSpPr>
          <p:nvPr/>
        </p:nvSpPr>
        <p:spPr bwMode="auto">
          <a:xfrm rot="16200000">
            <a:off x="1964531" y="5536407"/>
            <a:ext cx="644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cxnSp>
        <p:nvCxnSpPr>
          <p:cNvPr id="107" name="Straight Arrow Connector 106"/>
          <p:cNvCxnSpPr/>
          <p:nvPr/>
        </p:nvCxnSpPr>
        <p:spPr>
          <a:xfrm flipH="1">
            <a:off x="1193801" y="4445000"/>
            <a:ext cx="277812" cy="73501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 flipV="1">
            <a:off x="1471613" y="4418012"/>
            <a:ext cx="38100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6096000" y="38846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 smtClean="0"/>
              <a:t>T0</a:t>
            </a:r>
            <a:endParaRPr lang="en-US" sz="1200" dirty="0"/>
          </a:p>
        </p:txBody>
      </p:sp>
      <p:sp>
        <p:nvSpPr>
          <p:cNvPr id="110" name="Oval 109"/>
          <p:cNvSpPr/>
          <p:nvPr/>
        </p:nvSpPr>
        <p:spPr>
          <a:xfrm>
            <a:off x="6934200" y="38846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11" name="Oval 110"/>
          <p:cNvSpPr/>
          <p:nvPr/>
        </p:nvSpPr>
        <p:spPr>
          <a:xfrm>
            <a:off x="7848600" y="38846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12" name="Oval 111"/>
          <p:cNvSpPr/>
          <p:nvPr/>
        </p:nvSpPr>
        <p:spPr>
          <a:xfrm>
            <a:off x="6302375" y="51800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6296574" y="4445000"/>
            <a:ext cx="1198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Write Request</a:t>
            </a:r>
            <a:br>
              <a:rPr lang="en-US" sz="1200" dirty="0" smtClean="0"/>
            </a:br>
            <a:r>
              <a:rPr lang="en-US" sz="1200" dirty="0" smtClean="0"/>
              <a:t>on Object </a:t>
            </a:r>
            <a:r>
              <a:rPr lang="en-US" sz="1200" b="1" i="1" dirty="0"/>
              <a:t>O</a:t>
            </a:r>
          </a:p>
        </p:txBody>
      </p:sp>
      <p:sp>
        <p:nvSpPr>
          <p:cNvPr id="114" name="TextBox 113"/>
          <p:cNvSpPr txBox="1">
            <a:spLocks noChangeArrowheads="1"/>
          </p:cNvSpPr>
          <p:nvPr/>
        </p:nvSpPr>
        <p:spPr bwMode="auto">
          <a:xfrm>
            <a:off x="8042276" y="4521844"/>
            <a:ext cx="1035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dirty="0"/>
              <a:t>Lock </a:t>
            </a:r>
            <a:r>
              <a:rPr lang="en-US" sz="1200" dirty="0" smtClean="0"/>
              <a:t>Denied</a:t>
            </a:r>
            <a:endParaRPr lang="en-US" sz="1200" dirty="0"/>
          </a:p>
        </p:txBody>
      </p:sp>
      <p:cxnSp>
        <p:nvCxnSpPr>
          <p:cNvPr id="115" name="Straight Connector 114"/>
          <p:cNvCxnSpPr/>
          <p:nvPr/>
        </p:nvCxnSpPr>
        <p:spPr>
          <a:xfrm>
            <a:off x="7315200" y="51800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7315200" y="5180012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772400" y="51800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6019800" y="51038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9" name="TextBox 118"/>
          <p:cNvSpPr txBox="1">
            <a:spLocks noChangeArrowheads="1"/>
          </p:cNvSpPr>
          <p:nvPr/>
        </p:nvSpPr>
        <p:spPr bwMode="auto">
          <a:xfrm rot="16200000">
            <a:off x="7655719" y="5460206"/>
            <a:ext cx="6445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6934200" y="4341812"/>
            <a:ext cx="1143000" cy="762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endCxn id="111" idx="4"/>
          </p:cNvCxnSpPr>
          <p:nvPr/>
        </p:nvCxnSpPr>
        <p:spPr>
          <a:xfrm flipV="1">
            <a:off x="8077200" y="4341812"/>
            <a:ext cx="0" cy="762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3048000" y="39608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123" name="Oval 122"/>
          <p:cNvSpPr/>
          <p:nvPr/>
        </p:nvSpPr>
        <p:spPr>
          <a:xfrm>
            <a:off x="3925887" y="39608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24" name="Oval 123"/>
          <p:cNvSpPr/>
          <p:nvPr/>
        </p:nvSpPr>
        <p:spPr>
          <a:xfrm>
            <a:off x="4800600" y="39608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25" name="Oval 124"/>
          <p:cNvSpPr/>
          <p:nvPr/>
        </p:nvSpPr>
        <p:spPr>
          <a:xfrm>
            <a:off x="3255962" y="52562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sp>
        <p:nvSpPr>
          <p:cNvPr id="126" name="TextBox 125"/>
          <p:cNvSpPr txBox="1">
            <a:spLocks noChangeArrowheads="1"/>
          </p:cNvSpPr>
          <p:nvPr/>
        </p:nvSpPr>
        <p:spPr bwMode="auto">
          <a:xfrm>
            <a:off x="2745315" y="4528668"/>
            <a:ext cx="10054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/>
              <a:t>Read 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Request 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on Object </a:t>
            </a:r>
            <a:r>
              <a:rPr lang="en-US" sz="1200" b="1" i="1" dirty="0"/>
              <a:t>O</a:t>
            </a:r>
          </a:p>
        </p:txBody>
      </p:sp>
      <p:sp>
        <p:nvSpPr>
          <p:cNvPr id="127" name="TextBox 126"/>
          <p:cNvSpPr txBox="1">
            <a:spLocks noChangeArrowheads="1"/>
          </p:cNvSpPr>
          <p:nvPr/>
        </p:nvSpPr>
        <p:spPr bwMode="auto">
          <a:xfrm>
            <a:off x="4048041" y="4445000"/>
            <a:ext cx="11063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“Shared”</a:t>
            </a:r>
          </a:p>
          <a:p>
            <a:pPr algn="ctr" eaLnBrk="1" hangingPunct="1"/>
            <a:r>
              <a:rPr lang="en-US" sz="1200" dirty="0" smtClean="0"/>
              <a:t>Lock </a:t>
            </a:r>
            <a:r>
              <a:rPr lang="en-US" sz="1200" dirty="0"/>
              <a:t>Granted</a:t>
            </a:r>
          </a:p>
        </p:txBody>
      </p:sp>
      <p:cxnSp>
        <p:nvCxnSpPr>
          <p:cNvPr id="128" name="Straight Connector 127"/>
          <p:cNvCxnSpPr/>
          <p:nvPr/>
        </p:nvCxnSpPr>
        <p:spPr>
          <a:xfrm>
            <a:off x="4352747" y="5294311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4352747" y="5294311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4809947" y="5294311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2971800" y="51800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2" name="TextBox 131"/>
          <p:cNvSpPr txBox="1">
            <a:spLocks noChangeArrowheads="1"/>
          </p:cNvSpPr>
          <p:nvPr/>
        </p:nvSpPr>
        <p:spPr bwMode="auto">
          <a:xfrm rot="16200000">
            <a:off x="4694059" y="5575299"/>
            <a:ext cx="644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cxnSp>
        <p:nvCxnSpPr>
          <p:cNvPr id="133" name="Straight Arrow Connector 132"/>
          <p:cNvCxnSpPr>
            <a:stCxn id="122" idx="4"/>
            <a:endCxn id="131" idx="0"/>
          </p:cNvCxnSpPr>
          <p:nvPr/>
        </p:nvCxnSpPr>
        <p:spPr>
          <a:xfrm>
            <a:off x="3276600" y="4418012"/>
            <a:ext cx="876300" cy="762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 flipH="1" flipV="1">
            <a:off x="3505200" y="4341812"/>
            <a:ext cx="990602" cy="83820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7391400" y="5248275"/>
            <a:ext cx="304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2</a:t>
            </a:r>
          </a:p>
        </p:txBody>
      </p:sp>
      <p:cxnSp>
        <p:nvCxnSpPr>
          <p:cNvPr id="140" name="Straight Connector 139"/>
          <p:cNvCxnSpPr/>
          <p:nvPr/>
        </p:nvCxnSpPr>
        <p:spPr>
          <a:xfrm flipV="1">
            <a:off x="2806700" y="3730625"/>
            <a:ext cx="0" cy="2741612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5672138" y="3657600"/>
            <a:ext cx="0" cy="2741612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8" name="Straight Arrow Connector 26627"/>
          <p:cNvCxnSpPr/>
          <p:nvPr/>
        </p:nvCxnSpPr>
        <p:spPr>
          <a:xfrm>
            <a:off x="131561" y="6705600"/>
            <a:ext cx="149245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1" name="TextBox 26630"/>
          <p:cNvSpPr txBox="1"/>
          <p:nvPr/>
        </p:nvSpPr>
        <p:spPr>
          <a:xfrm>
            <a:off x="436142" y="6367330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Time</a:t>
            </a:r>
            <a:endParaRPr lang="en-US" b="1" i="1" dirty="0"/>
          </a:p>
        </p:txBody>
      </p:sp>
      <p:sp>
        <p:nvSpPr>
          <p:cNvPr id="26638" name="TextBox 26637"/>
          <p:cNvSpPr txBox="1"/>
          <p:nvPr/>
        </p:nvSpPr>
        <p:spPr>
          <a:xfrm>
            <a:off x="1373970" y="6246812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t0</a:t>
            </a:r>
            <a:endParaRPr lang="en-US" b="1" i="1" dirty="0"/>
          </a:p>
        </p:txBody>
      </p:sp>
      <p:sp>
        <p:nvSpPr>
          <p:cNvPr id="152" name="TextBox 151"/>
          <p:cNvSpPr txBox="1"/>
          <p:nvPr/>
        </p:nvSpPr>
        <p:spPr>
          <a:xfrm>
            <a:off x="3925887" y="6246812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t1</a:t>
            </a:r>
            <a:endParaRPr lang="en-US" b="1" i="1" dirty="0"/>
          </a:p>
        </p:txBody>
      </p:sp>
      <p:sp>
        <p:nvSpPr>
          <p:cNvPr id="153" name="TextBox 152"/>
          <p:cNvSpPr txBox="1"/>
          <p:nvPr/>
        </p:nvSpPr>
        <p:spPr>
          <a:xfrm>
            <a:off x="7162088" y="6187704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t2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95284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  <p:bldP spid="99" grpId="0" animBg="1"/>
      <p:bldP spid="100" grpId="0"/>
      <p:bldP spid="101" grpId="0"/>
      <p:bldP spid="105" grpId="0" animBg="1"/>
      <p:bldP spid="106" grpId="0"/>
      <p:bldP spid="109" grpId="0" animBg="1"/>
      <p:bldP spid="110" grpId="0" animBg="1"/>
      <p:bldP spid="111" grpId="0" animBg="1"/>
      <p:bldP spid="112" grpId="0" animBg="1"/>
      <p:bldP spid="113" grpId="0"/>
      <p:bldP spid="114" grpId="0"/>
      <p:bldP spid="118" grpId="0" animBg="1"/>
      <p:bldP spid="119" grpId="0"/>
      <p:bldP spid="122" grpId="0" animBg="1"/>
      <p:bldP spid="123" grpId="0" animBg="1"/>
      <p:bldP spid="124" grpId="0" animBg="1"/>
      <p:bldP spid="125" grpId="0" animBg="1"/>
      <p:bldP spid="126" grpId="0"/>
      <p:bldP spid="127" grpId="0"/>
      <p:bldP spid="131" grpId="0" animBg="1"/>
      <p:bldP spid="132" grpId="0"/>
      <p:bldP spid="135" grpId="0" animBg="1"/>
      <p:bldP spid="26631" grpId="0"/>
      <p:bldP spid="26638" grpId="0"/>
      <p:bldP spid="152" grpId="0"/>
      <p:bldP spid="15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Two-Phase Locking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 widely used locking protocol, called </a:t>
            </a:r>
            <a:r>
              <a:rPr lang="en-US" sz="2800" i="1" dirty="0" smtClean="0">
                <a:solidFill>
                  <a:srgbClr val="0070C0"/>
                </a:solidFill>
              </a:rPr>
              <a:t>Two-Phase Locking</a:t>
            </a:r>
            <a:r>
              <a:rPr lang="en-US" sz="2800" dirty="0" smtClean="0"/>
              <a:t> (</a:t>
            </a:r>
            <a:r>
              <a:rPr lang="en-US" sz="2800" i="1" dirty="0" smtClean="0">
                <a:solidFill>
                  <a:srgbClr val="0070C0"/>
                </a:solidFill>
              </a:rPr>
              <a:t>2PL</a:t>
            </a:r>
            <a:r>
              <a:rPr lang="en-US" sz="2800" dirty="0" smtClean="0"/>
              <a:t>), has two rules:	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70C0"/>
                </a:solidFill>
              </a:rPr>
              <a:t>Rule 1</a:t>
            </a:r>
            <a:r>
              <a:rPr lang="en-US" sz="2600" dirty="0" smtClean="0"/>
              <a:t>: if a transaction </a:t>
            </a:r>
            <a:r>
              <a:rPr lang="en-US" sz="2600" b="1" i="1" dirty="0" smtClean="0"/>
              <a:t>T</a:t>
            </a:r>
            <a:r>
              <a:rPr lang="en-US" sz="2600" dirty="0" smtClean="0"/>
              <a:t> wants to read (or write) an object </a:t>
            </a:r>
            <a:r>
              <a:rPr lang="en-US" sz="2600" b="1" i="1" dirty="0" smtClean="0"/>
              <a:t>O</a:t>
            </a:r>
            <a:r>
              <a:rPr lang="en-US" sz="2600" dirty="0" smtClean="0"/>
              <a:t>, it first requests the lock manager for a shared (or exclusive) lock on </a:t>
            </a:r>
            <a:r>
              <a:rPr lang="en-US" sz="2600" b="1" i="1" dirty="0" smtClean="0"/>
              <a:t>O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96" name="Oval 95"/>
          <p:cNvSpPr/>
          <p:nvPr/>
        </p:nvSpPr>
        <p:spPr>
          <a:xfrm>
            <a:off x="404813" y="39608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97" name="Oval 96"/>
          <p:cNvSpPr/>
          <p:nvPr/>
        </p:nvSpPr>
        <p:spPr>
          <a:xfrm>
            <a:off x="1243013" y="39608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98" name="Oval 97"/>
          <p:cNvSpPr/>
          <p:nvPr/>
        </p:nvSpPr>
        <p:spPr>
          <a:xfrm>
            <a:off x="2157413" y="39608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99" name="Oval 98"/>
          <p:cNvSpPr/>
          <p:nvPr/>
        </p:nvSpPr>
        <p:spPr>
          <a:xfrm>
            <a:off x="611188" y="52562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178849" y="4572265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Release Lock</a:t>
            </a:r>
            <a:br>
              <a:rPr lang="en-US" sz="1200" dirty="0" smtClean="0"/>
            </a:br>
            <a:r>
              <a:rPr lang="en-US" sz="1200" dirty="0" smtClean="0"/>
              <a:t>on Object </a:t>
            </a:r>
            <a:r>
              <a:rPr lang="en-US" sz="1200" b="1" i="1" dirty="0" smtClean="0"/>
              <a:t>O</a:t>
            </a:r>
            <a:endParaRPr lang="en-US" sz="1200" b="1" i="1" dirty="0"/>
          </a:p>
        </p:txBody>
      </p:sp>
      <p:cxnSp>
        <p:nvCxnSpPr>
          <p:cNvPr id="102" name="Straight Connector 101"/>
          <p:cNvCxnSpPr/>
          <p:nvPr/>
        </p:nvCxnSpPr>
        <p:spPr>
          <a:xfrm>
            <a:off x="1624013" y="52562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624013" y="5256212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081213" y="52562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328613" y="51800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6" name="TextBox 105"/>
          <p:cNvSpPr txBox="1">
            <a:spLocks noChangeArrowheads="1"/>
          </p:cNvSpPr>
          <p:nvPr/>
        </p:nvSpPr>
        <p:spPr bwMode="auto">
          <a:xfrm rot="16200000">
            <a:off x="1964531" y="5536407"/>
            <a:ext cx="644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cxnSp>
        <p:nvCxnSpPr>
          <p:cNvPr id="107" name="Straight Arrow Connector 106"/>
          <p:cNvCxnSpPr>
            <a:stCxn id="97" idx="4"/>
          </p:cNvCxnSpPr>
          <p:nvPr/>
        </p:nvCxnSpPr>
        <p:spPr>
          <a:xfrm flipH="1">
            <a:off x="1193800" y="4418012"/>
            <a:ext cx="277813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6096000" y="38846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 smtClean="0"/>
              <a:t>T0</a:t>
            </a:r>
            <a:endParaRPr lang="en-US" sz="1200" dirty="0"/>
          </a:p>
        </p:txBody>
      </p:sp>
      <p:sp>
        <p:nvSpPr>
          <p:cNvPr id="110" name="Oval 109"/>
          <p:cNvSpPr/>
          <p:nvPr/>
        </p:nvSpPr>
        <p:spPr>
          <a:xfrm>
            <a:off x="6934200" y="38846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11" name="Oval 110"/>
          <p:cNvSpPr/>
          <p:nvPr/>
        </p:nvSpPr>
        <p:spPr>
          <a:xfrm>
            <a:off x="7848600" y="38846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12" name="Oval 111"/>
          <p:cNvSpPr/>
          <p:nvPr/>
        </p:nvSpPr>
        <p:spPr>
          <a:xfrm>
            <a:off x="6302375" y="51800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sp>
        <p:nvSpPr>
          <p:cNvPr id="114" name="TextBox 113"/>
          <p:cNvSpPr txBox="1">
            <a:spLocks noChangeArrowheads="1"/>
          </p:cNvSpPr>
          <p:nvPr/>
        </p:nvSpPr>
        <p:spPr bwMode="auto">
          <a:xfrm>
            <a:off x="6749044" y="4495800"/>
            <a:ext cx="13051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“Exclusive” Lock</a:t>
            </a:r>
            <a:br>
              <a:rPr lang="en-US" sz="1200" dirty="0" smtClean="0"/>
            </a:br>
            <a:r>
              <a:rPr lang="en-US" sz="1200" dirty="0" smtClean="0"/>
              <a:t>Granted</a:t>
            </a:r>
            <a:endParaRPr lang="en-US" sz="1200" dirty="0"/>
          </a:p>
        </p:txBody>
      </p:sp>
      <p:cxnSp>
        <p:nvCxnSpPr>
          <p:cNvPr id="115" name="Straight Connector 114"/>
          <p:cNvCxnSpPr/>
          <p:nvPr/>
        </p:nvCxnSpPr>
        <p:spPr>
          <a:xfrm>
            <a:off x="7315200" y="51800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7315200" y="5180012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772400" y="51800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6019800" y="51038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9" name="TextBox 118"/>
          <p:cNvSpPr txBox="1">
            <a:spLocks noChangeArrowheads="1"/>
          </p:cNvSpPr>
          <p:nvPr/>
        </p:nvSpPr>
        <p:spPr bwMode="auto">
          <a:xfrm rot="16200000">
            <a:off x="7655719" y="5460206"/>
            <a:ext cx="6445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cxnSp>
        <p:nvCxnSpPr>
          <p:cNvPr id="121" name="Straight Arrow Connector 120"/>
          <p:cNvCxnSpPr>
            <a:endCxn id="111" idx="4"/>
          </p:cNvCxnSpPr>
          <p:nvPr/>
        </p:nvCxnSpPr>
        <p:spPr>
          <a:xfrm flipV="1">
            <a:off x="8077200" y="4341812"/>
            <a:ext cx="0" cy="762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3048000" y="39608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123" name="Oval 122"/>
          <p:cNvSpPr/>
          <p:nvPr/>
        </p:nvSpPr>
        <p:spPr>
          <a:xfrm>
            <a:off x="3925887" y="39608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24" name="Oval 123"/>
          <p:cNvSpPr/>
          <p:nvPr/>
        </p:nvSpPr>
        <p:spPr>
          <a:xfrm>
            <a:off x="4800600" y="39608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25" name="Oval 124"/>
          <p:cNvSpPr/>
          <p:nvPr/>
        </p:nvSpPr>
        <p:spPr>
          <a:xfrm>
            <a:off x="3255962" y="52562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sp>
        <p:nvSpPr>
          <p:cNvPr id="126" name="TextBox 125"/>
          <p:cNvSpPr txBox="1">
            <a:spLocks noChangeArrowheads="1"/>
          </p:cNvSpPr>
          <p:nvPr/>
        </p:nvSpPr>
        <p:spPr bwMode="auto">
          <a:xfrm>
            <a:off x="3925887" y="4572265"/>
            <a:ext cx="11560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Release Lock 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on Object </a:t>
            </a:r>
            <a:r>
              <a:rPr lang="en-US" sz="1200" b="1" i="1" dirty="0"/>
              <a:t>O</a:t>
            </a:r>
          </a:p>
        </p:txBody>
      </p:sp>
      <p:cxnSp>
        <p:nvCxnSpPr>
          <p:cNvPr id="128" name="Straight Connector 127"/>
          <p:cNvCxnSpPr/>
          <p:nvPr/>
        </p:nvCxnSpPr>
        <p:spPr>
          <a:xfrm>
            <a:off x="4352747" y="5294311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4352747" y="5294311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4809947" y="5294311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2971800" y="51800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2" name="TextBox 131"/>
          <p:cNvSpPr txBox="1">
            <a:spLocks noChangeArrowheads="1"/>
          </p:cNvSpPr>
          <p:nvPr/>
        </p:nvSpPr>
        <p:spPr bwMode="auto">
          <a:xfrm rot="16200000">
            <a:off x="4694059" y="5575299"/>
            <a:ext cx="644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cxnSp>
        <p:nvCxnSpPr>
          <p:cNvPr id="133" name="Straight Arrow Connector 132"/>
          <p:cNvCxnSpPr>
            <a:stCxn id="122" idx="5"/>
            <a:endCxn id="131" idx="0"/>
          </p:cNvCxnSpPr>
          <p:nvPr/>
        </p:nvCxnSpPr>
        <p:spPr>
          <a:xfrm>
            <a:off x="3438245" y="4351057"/>
            <a:ext cx="714655" cy="82895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7391400" y="5248275"/>
            <a:ext cx="304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2</a:t>
            </a:r>
          </a:p>
        </p:txBody>
      </p:sp>
      <p:cxnSp>
        <p:nvCxnSpPr>
          <p:cNvPr id="140" name="Straight Connector 139"/>
          <p:cNvCxnSpPr/>
          <p:nvPr/>
        </p:nvCxnSpPr>
        <p:spPr>
          <a:xfrm flipV="1">
            <a:off x="2806700" y="3730625"/>
            <a:ext cx="0" cy="2741612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5672138" y="3657600"/>
            <a:ext cx="0" cy="2741612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8" name="Straight Arrow Connector 26627"/>
          <p:cNvCxnSpPr/>
          <p:nvPr/>
        </p:nvCxnSpPr>
        <p:spPr>
          <a:xfrm>
            <a:off x="131561" y="6705600"/>
            <a:ext cx="149245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1" name="TextBox 26630"/>
          <p:cNvSpPr txBox="1"/>
          <p:nvPr/>
        </p:nvSpPr>
        <p:spPr>
          <a:xfrm>
            <a:off x="436142" y="6367330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Time</a:t>
            </a:r>
            <a:endParaRPr lang="en-US" b="1" i="1" dirty="0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5197105"/>
            <a:ext cx="4191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TextBox 51"/>
          <p:cNvSpPr txBox="1"/>
          <p:nvPr/>
        </p:nvSpPr>
        <p:spPr>
          <a:xfrm>
            <a:off x="1373970" y="62468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t3</a:t>
            </a:r>
            <a:endParaRPr lang="en-US" b="1" i="1" dirty="0"/>
          </a:p>
        </p:txBody>
      </p:sp>
      <p:sp>
        <p:nvSpPr>
          <p:cNvPr id="53" name="TextBox 52"/>
          <p:cNvSpPr txBox="1"/>
          <p:nvPr/>
        </p:nvSpPr>
        <p:spPr>
          <a:xfrm>
            <a:off x="3925887" y="62468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t4</a:t>
            </a:r>
            <a:endParaRPr lang="en-US" b="1" i="1" dirty="0"/>
          </a:p>
        </p:txBody>
      </p:sp>
      <p:sp>
        <p:nvSpPr>
          <p:cNvPr id="54" name="TextBox 53"/>
          <p:cNvSpPr txBox="1"/>
          <p:nvPr/>
        </p:nvSpPr>
        <p:spPr>
          <a:xfrm>
            <a:off x="7162088" y="61877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t5</a:t>
            </a:r>
            <a:endParaRPr lang="en-US" b="1" i="1" dirty="0"/>
          </a:p>
        </p:txBody>
      </p:sp>
      <p:sp>
        <p:nvSpPr>
          <p:cNvPr id="46" name="Rectangle 45"/>
          <p:cNvSpPr/>
          <p:nvPr/>
        </p:nvSpPr>
        <p:spPr>
          <a:xfrm>
            <a:off x="1693864" y="5332413"/>
            <a:ext cx="304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19422" y="5353050"/>
            <a:ext cx="304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98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14" grpId="0"/>
      <p:bldP spid="126" grpId="0"/>
      <p:bldP spid="52" grpId="0"/>
      <p:bldP spid="53" grpId="0"/>
      <p:bldP spid="5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Two-Phase Locking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A widely used locking protocol, called </a:t>
            </a:r>
            <a:r>
              <a:rPr lang="en-US" sz="2800" i="1" dirty="0">
                <a:solidFill>
                  <a:srgbClr val="0070C0"/>
                </a:solidFill>
              </a:rPr>
              <a:t>Two-Phase Locking</a:t>
            </a:r>
            <a:r>
              <a:rPr lang="en-US" sz="2800" dirty="0"/>
              <a:t> (</a:t>
            </a:r>
            <a:r>
              <a:rPr lang="en-US" sz="2800" i="1" dirty="0">
                <a:solidFill>
                  <a:srgbClr val="0070C0"/>
                </a:solidFill>
              </a:rPr>
              <a:t>2PL</a:t>
            </a:r>
            <a:r>
              <a:rPr lang="en-US" sz="2800" dirty="0"/>
              <a:t>), has two rules:	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Rule 1</a:t>
            </a:r>
            <a:r>
              <a:rPr lang="en-US" sz="2600" dirty="0"/>
              <a:t>: if a transaction </a:t>
            </a:r>
            <a:r>
              <a:rPr lang="en-US" sz="2600" b="1" i="1" dirty="0"/>
              <a:t>T</a:t>
            </a:r>
            <a:r>
              <a:rPr lang="en-US" sz="2600" dirty="0"/>
              <a:t> wants to read (or write) an object </a:t>
            </a:r>
            <a:r>
              <a:rPr lang="en-US" sz="2600" b="1" i="1" dirty="0"/>
              <a:t>O</a:t>
            </a:r>
            <a:r>
              <a:rPr lang="en-US" sz="2600" dirty="0"/>
              <a:t>, it first requests the lock manager for a shared (or exclusive) lock on </a:t>
            </a:r>
            <a:r>
              <a:rPr lang="en-US" sz="2600" b="1" i="1" dirty="0"/>
              <a:t>O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96" name="Oval 95"/>
          <p:cNvSpPr/>
          <p:nvPr/>
        </p:nvSpPr>
        <p:spPr>
          <a:xfrm>
            <a:off x="404813" y="39608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97" name="Oval 96"/>
          <p:cNvSpPr/>
          <p:nvPr/>
        </p:nvSpPr>
        <p:spPr>
          <a:xfrm>
            <a:off x="1243013" y="39608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98" name="Oval 97"/>
          <p:cNvSpPr/>
          <p:nvPr/>
        </p:nvSpPr>
        <p:spPr>
          <a:xfrm>
            <a:off x="2157413" y="39608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99" name="Oval 98"/>
          <p:cNvSpPr/>
          <p:nvPr/>
        </p:nvSpPr>
        <p:spPr>
          <a:xfrm>
            <a:off x="611188" y="52562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cxnSp>
        <p:nvCxnSpPr>
          <p:cNvPr id="102" name="Straight Connector 101"/>
          <p:cNvCxnSpPr/>
          <p:nvPr/>
        </p:nvCxnSpPr>
        <p:spPr>
          <a:xfrm>
            <a:off x="1624013" y="52562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624013" y="5256212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081213" y="52562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328613" y="51800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6" name="TextBox 105"/>
          <p:cNvSpPr txBox="1">
            <a:spLocks noChangeArrowheads="1"/>
          </p:cNvSpPr>
          <p:nvPr/>
        </p:nvSpPr>
        <p:spPr bwMode="auto">
          <a:xfrm rot="16200000">
            <a:off x="1964531" y="5536407"/>
            <a:ext cx="644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sp>
        <p:nvSpPr>
          <p:cNvPr id="109" name="Oval 108"/>
          <p:cNvSpPr/>
          <p:nvPr/>
        </p:nvSpPr>
        <p:spPr>
          <a:xfrm>
            <a:off x="6096000" y="38846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 smtClean="0"/>
              <a:t>T0</a:t>
            </a:r>
            <a:endParaRPr lang="en-US" sz="1200" dirty="0"/>
          </a:p>
        </p:txBody>
      </p:sp>
      <p:sp>
        <p:nvSpPr>
          <p:cNvPr id="110" name="Oval 109"/>
          <p:cNvSpPr/>
          <p:nvPr/>
        </p:nvSpPr>
        <p:spPr>
          <a:xfrm>
            <a:off x="6934200" y="38846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11" name="Oval 110"/>
          <p:cNvSpPr/>
          <p:nvPr/>
        </p:nvSpPr>
        <p:spPr>
          <a:xfrm>
            <a:off x="7848600" y="38846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12" name="Oval 111"/>
          <p:cNvSpPr/>
          <p:nvPr/>
        </p:nvSpPr>
        <p:spPr>
          <a:xfrm>
            <a:off x="6302375" y="51800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cxnSp>
        <p:nvCxnSpPr>
          <p:cNvPr id="115" name="Straight Connector 114"/>
          <p:cNvCxnSpPr/>
          <p:nvPr/>
        </p:nvCxnSpPr>
        <p:spPr>
          <a:xfrm>
            <a:off x="7315200" y="51800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7315200" y="5180012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772400" y="51800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6019800" y="51038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9" name="TextBox 118"/>
          <p:cNvSpPr txBox="1">
            <a:spLocks noChangeArrowheads="1"/>
          </p:cNvSpPr>
          <p:nvPr/>
        </p:nvSpPr>
        <p:spPr bwMode="auto">
          <a:xfrm rot="16200000">
            <a:off x="7655719" y="5460206"/>
            <a:ext cx="6445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sp>
        <p:nvSpPr>
          <p:cNvPr id="122" name="Oval 121"/>
          <p:cNvSpPr/>
          <p:nvPr/>
        </p:nvSpPr>
        <p:spPr>
          <a:xfrm>
            <a:off x="3048000" y="39608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123" name="Oval 122"/>
          <p:cNvSpPr/>
          <p:nvPr/>
        </p:nvSpPr>
        <p:spPr>
          <a:xfrm>
            <a:off x="3925887" y="39608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24" name="Oval 123"/>
          <p:cNvSpPr/>
          <p:nvPr/>
        </p:nvSpPr>
        <p:spPr>
          <a:xfrm>
            <a:off x="4800600" y="39608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25" name="Oval 124"/>
          <p:cNvSpPr/>
          <p:nvPr/>
        </p:nvSpPr>
        <p:spPr>
          <a:xfrm>
            <a:off x="3255962" y="52562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cxnSp>
        <p:nvCxnSpPr>
          <p:cNvPr id="128" name="Straight Connector 127"/>
          <p:cNvCxnSpPr/>
          <p:nvPr/>
        </p:nvCxnSpPr>
        <p:spPr>
          <a:xfrm>
            <a:off x="4352747" y="5294311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4352747" y="5294311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4809947" y="5294311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2971800" y="51800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2" name="TextBox 131"/>
          <p:cNvSpPr txBox="1">
            <a:spLocks noChangeArrowheads="1"/>
          </p:cNvSpPr>
          <p:nvPr/>
        </p:nvSpPr>
        <p:spPr bwMode="auto">
          <a:xfrm rot="16200000">
            <a:off x="4694059" y="5575299"/>
            <a:ext cx="644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cxnSp>
        <p:nvCxnSpPr>
          <p:cNvPr id="140" name="Straight Connector 139"/>
          <p:cNvCxnSpPr/>
          <p:nvPr/>
        </p:nvCxnSpPr>
        <p:spPr>
          <a:xfrm flipV="1">
            <a:off x="2806700" y="3730625"/>
            <a:ext cx="0" cy="2741612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5672138" y="3657600"/>
            <a:ext cx="0" cy="2741612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8" name="Straight Arrow Connector 26627"/>
          <p:cNvCxnSpPr/>
          <p:nvPr/>
        </p:nvCxnSpPr>
        <p:spPr>
          <a:xfrm>
            <a:off x="131561" y="6705600"/>
            <a:ext cx="149245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1" name="TextBox 26630"/>
          <p:cNvSpPr txBox="1"/>
          <p:nvPr/>
        </p:nvSpPr>
        <p:spPr>
          <a:xfrm>
            <a:off x="436142" y="6367330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Time</a:t>
            </a:r>
            <a:endParaRPr lang="en-US" b="1" i="1" dirty="0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131561" y="4572265"/>
            <a:ext cx="1207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Read </a:t>
            </a:r>
            <a:r>
              <a:rPr lang="en-US" sz="1200" dirty="0"/>
              <a:t>Request 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on Object </a:t>
            </a:r>
            <a:r>
              <a:rPr lang="en-US" sz="1200" b="1" i="1" dirty="0" smtClean="0"/>
              <a:t>O</a:t>
            </a:r>
            <a:endParaRPr lang="en-US" sz="1200" b="1" i="1" dirty="0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735479" y="4567237"/>
            <a:ext cx="103586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Lock Denied</a:t>
            </a:r>
            <a:endParaRPr lang="en-US" sz="1200" dirty="0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1193801" y="4445000"/>
            <a:ext cx="277812" cy="73501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1471613" y="4418012"/>
            <a:ext cx="38100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700213" y="5294313"/>
            <a:ext cx="304800" cy="3810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/>
              <a:t>1</a:t>
            </a:r>
            <a:endParaRPr lang="en-US" sz="1200" b="1" dirty="0"/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2745315" y="4528668"/>
            <a:ext cx="10054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/>
              <a:t>Read 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Request 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on Object </a:t>
            </a:r>
            <a:r>
              <a:rPr lang="en-US" sz="1200" b="1" i="1" dirty="0"/>
              <a:t>O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083307" y="4599801"/>
            <a:ext cx="103586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Lock Denied</a:t>
            </a:r>
            <a:endParaRPr lang="en-US" sz="1200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276600" y="4418012"/>
            <a:ext cx="876300" cy="762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505200" y="4341812"/>
            <a:ext cx="990602" cy="83820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438472" y="5780086"/>
            <a:ext cx="304800" cy="381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/>
              <a:t>0</a:t>
            </a:r>
            <a:endParaRPr lang="en-US" sz="1200" b="1" dirty="0"/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6382728" y="4396400"/>
            <a:ext cx="11560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Release Lock 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on Object </a:t>
            </a:r>
            <a:r>
              <a:rPr lang="en-US" sz="1200" b="1" i="1" dirty="0"/>
              <a:t>O</a:t>
            </a:r>
          </a:p>
        </p:txBody>
      </p:sp>
      <p:cxnSp>
        <p:nvCxnSpPr>
          <p:cNvPr id="56" name="Straight Arrow Connector 55"/>
          <p:cNvCxnSpPr>
            <a:stCxn id="111" idx="4"/>
          </p:cNvCxnSpPr>
          <p:nvPr/>
        </p:nvCxnSpPr>
        <p:spPr>
          <a:xfrm flipH="1">
            <a:off x="7216775" y="4341812"/>
            <a:ext cx="860425" cy="759619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373970" y="62468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t6</a:t>
            </a:r>
            <a:endParaRPr lang="en-US" b="1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3925887" y="62468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t7</a:t>
            </a:r>
            <a:endParaRPr lang="en-US" b="1" i="1" dirty="0"/>
          </a:p>
        </p:txBody>
      </p:sp>
      <p:sp>
        <p:nvSpPr>
          <p:cNvPr id="61" name="TextBox 60"/>
          <p:cNvSpPr txBox="1"/>
          <p:nvPr/>
        </p:nvSpPr>
        <p:spPr>
          <a:xfrm>
            <a:off x="7162088" y="61877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t8</a:t>
            </a:r>
            <a:endParaRPr lang="en-US" b="1" i="1" dirty="0"/>
          </a:p>
        </p:txBody>
      </p:sp>
      <p:sp>
        <p:nvSpPr>
          <p:cNvPr id="53" name="Rectangle 52"/>
          <p:cNvSpPr/>
          <p:nvPr/>
        </p:nvSpPr>
        <p:spPr>
          <a:xfrm>
            <a:off x="4432122" y="5344857"/>
            <a:ext cx="304800" cy="3810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/>
              <a:t>1</a:t>
            </a:r>
            <a:endParaRPr lang="en-US" sz="1200" b="1" dirty="0"/>
          </a:p>
        </p:txBody>
      </p:sp>
      <p:sp>
        <p:nvSpPr>
          <p:cNvPr id="54" name="Rectangle 53"/>
          <p:cNvSpPr/>
          <p:nvPr/>
        </p:nvSpPr>
        <p:spPr>
          <a:xfrm>
            <a:off x="7400926" y="5685125"/>
            <a:ext cx="304800" cy="381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/>
              <a:t>0</a:t>
            </a:r>
            <a:endParaRPr lang="en-US" sz="1200" b="1" dirty="0"/>
          </a:p>
        </p:txBody>
      </p:sp>
      <p:sp>
        <p:nvSpPr>
          <p:cNvPr id="57" name="Rectangle 56"/>
          <p:cNvSpPr/>
          <p:nvPr/>
        </p:nvSpPr>
        <p:spPr>
          <a:xfrm>
            <a:off x="7394576" y="5249896"/>
            <a:ext cx="304800" cy="3810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/>
              <a:t>1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4056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7" grpId="0" animBg="1"/>
      <p:bldP spid="48" grpId="0"/>
      <p:bldP spid="49" grpId="0"/>
      <p:bldP spid="52" grpId="0" animBg="1"/>
      <p:bldP spid="55" grpId="0"/>
      <p:bldP spid="59" grpId="0"/>
      <p:bldP spid="60" grpId="0"/>
      <p:bldP spid="61" grpId="0"/>
      <p:bldP spid="53" grpId="0" animBg="1"/>
      <p:bldP spid="54" grpId="0" animBg="1"/>
      <p:bldP spid="5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Two-Phase Locking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A widely used locking protocol, called </a:t>
            </a:r>
            <a:r>
              <a:rPr lang="en-US" sz="2800" i="1" dirty="0">
                <a:solidFill>
                  <a:srgbClr val="0070C0"/>
                </a:solidFill>
              </a:rPr>
              <a:t>Two-Phase Locking</a:t>
            </a:r>
            <a:r>
              <a:rPr lang="en-US" sz="2800" dirty="0"/>
              <a:t> (</a:t>
            </a:r>
            <a:r>
              <a:rPr lang="en-US" sz="2800" i="1" dirty="0">
                <a:solidFill>
                  <a:srgbClr val="0070C0"/>
                </a:solidFill>
              </a:rPr>
              <a:t>2PL</a:t>
            </a:r>
            <a:r>
              <a:rPr lang="en-US" sz="2800" dirty="0"/>
              <a:t>), has two rules:	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Rule 1</a:t>
            </a:r>
            <a:r>
              <a:rPr lang="en-US" sz="2600" dirty="0"/>
              <a:t>: if a transaction </a:t>
            </a:r>
            <a:r>
              <a:rPr lang="en-US" sz="2600" b="1" i="1" dirty="0"/>
              <a:t>T</a:t>
            </a:r>
            <a:r>
              <a:rPr lang="en-US" sz="2600" dirty="0"/>
              <a:t> wants to read (or write) an object </a:t>
            </a:r>
            <a:r>
              <a:rPr lang="en-US" sz="2600" b="1" i="1" dirty="0"/>
              <a:t>O</a:t>
            </a:r>
            <a:r>
              <a:rPr lang="en-US" sz="2600" dirty="0"/>
              <a:t>, it first requests the lock manager for a shared (or exclusive) lock on </a:t>
            </a:r>
            <a:r>
              <a:rPr lang="en-US" sz="2600" b="1" i="1" dirty="0"/>
              <a:t>O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96" name="Oval 95"/>
          <p:cNvSpPr/>
          <p:nvPr/>
        </p:nvSpPr>
        <p:spPr>
          <a:xfrm>
            <a:off x="404813" y="39608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97" name="Oval 96"/>
          <p:cNvSpPr/>
          <p:nvPr/>
        </p:nvSpPr>
        <p:spPr>
          <a:xfrm>
            <a:off x="1243013" y="39608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98" name="Oval 97"/>
          <p:cNvSpPr/>
          <p:nvPr/>
        </p:nvSpPr>
        <p:spPr>
          <a:xfrm>
            <a:off x="2157413" y="39608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99" name="Oval 98"/>
          <p:cNvSpPr/>
          <p:nvPr/>
        </p:nvSpPr>
        <p:spPr>
          <a:xfrm>
            <a:off x="611188" y="52562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cxnSp>
        <p:nvCxnSpPr>
          <p:cNvPr id="102" name="Straight Connector 101"/>
          <p:cNvCxnSpPr/>
          <p:nvPr/>
        </p:nvCxnSpPr>
        <p:spPr>
          <a:xfrm>
            <a:off x="1624013" y="52562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624013" y="5256212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081213" y="52562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328613" y="51800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6" name="TextBox 105"/>
          <p:cNvSpPr txBox="1">
            <a:spLocks noChangeArrowheads="1"/>
          </p:cNvSpPr>
          <p:nvPr/>
        </p:nvSpPr>
        <p:spPr bwMode="auto">
          <a:xfrm rot="16200000">
            <a:off x="1964531" y="5536407"/>
            <a:ext cx="644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sp>
        <p:nvSpPr>
          <p:cNvPr id="109" name="Oval 108"/>
          <p:cNvSpPr/>
          <p:nvPr/>
        </p:nvSpPr>
        <p:spPr>
          <a:xfrm>
            <a:off x="6096000" y="38846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 smtClean="0"/>
              <a:t>T0</a:t>
            </a:r>
            <a:endParaRPr lang="en-US" sz="1200" dirty="0"/>
          </a:p>
        </p:txBody>
      </p:sp>
      <p:sp>
        <p:nvSpPr>
          <p:cNvPr id="110" name="Oval 109"/>
          <p:cNvSpPr/>
          <p:nvPr/>
        </p:nvSpPr>
        <p:spPr>
          <a:xfrm>
            <a:off x="6934200" y="38846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11" name="Oval 110"/>
          <p:cNvSpPr/>
          <p:nvPr/>
        </p:nvSpPr>
        <p:spPr>
          <a:xfrm>
            <a:off x="7848600" y="38846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12" name="Oval 111"/>
          <p:cNvSpPr/>
          <p:nvPr/>
        </p:nvSpPr>
        <p:spPr>
          <a:xfrm>
            <a:off x="6302375" y="51800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cxnSp>
        <p:nvCxnSpPr>
          <p:cNvPr id="115" name="Straight Connector 114"/>
          <p:cNvCxnSpPr/>
          <p:nvPr/>
        </p:nvCxnSpPr>
        <p:spPr>
          <a:xfrm>
            <a:off x="7315200" y="51800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7315200" y="5180012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772400" y="5180012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6019800" y="51038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9" name="TextBox 118"/>
          <p:cNvSpPr txBox="1">
            <a:spLocks noChangeArrowheads="1"/>
          </p:cNvSpPr>
          <p:nvPr/>
        </p:nvSpPr>
        <p:spPr bwMode="auto">
          <a:xfrm rot="16200000">
            <a:off x="7655719" y="5460206"/>
            <a:ext cx="6445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sp>
        <p:nvSpPr>
          <p:cNvPr id="122" name="Oval 121"/>
          <p:cNvSpPr/>
          <p:nvPr/>
        </p:nvSpPr>
        <p:spPr>
          <a:xfrm>
            <a:off x="3048000" y="396081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123" name="Oval 122"/>
          <p:cNvSpPr/>
          <p:nvPr/>
        </p:nvSpPr>
        <p:spPr>
          <a:xfrm>
            <a:off x="3925887" y="3960812"/>
            <a:ext cx="457200" cy="4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24" name="Oval 123"/>
          <p:cNvSpPr/>
          <p:nvPr/>
        </p:nvSpPr>
        <p:spPr>
          <a:xfrm>
            <a:off x="4800600" y="3960812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dirty="0"/>
              <a:t>T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25" name="Oval 124"/>
          <p:cNvSpPr/>
          <p:nvPr/>
        </p:nvSpPr>
        <p:spPr>
          <a:xfrm>
            <a:off x="3255962" y="5256212"/>
            <a:ext cx="91440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Lock </a:t>
            </a:r>
            <a:r>
              <a:rPr lang="en-US" sz="1200" b="1" dirty="0">
                <a:solidFill>
                  <a:schemeClr val="tx1"/>
                </a:solidFill>
              </a:rPr>
              <a:t>Manager</a:t>
            </a:r>
          </a:p>
        </p:txBody>
      </p:sp>
      <p:cxnSp>
        <p:nvCxnSpPr>
          <p:cNvPr id="128" name="Straight Connector 127"/>
          <p:cNvCxnSpPr/>
          <p:nvPr/>
        </p:nvCxnSpPr>
        <p:spPr>
          <a:xfrm>
            <a:off x="4352747" y="5294311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4352747" y="5294311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4809947" y="5294311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2971800" y="5180012"/>
            <a:ext cx="2362200" cy="1066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2" name="TextBox 131"/>
          <p:cNvSpPr txBox="1">
            <a:spLocks noChangeArrowheads="1"/>
          </p:cNvSpPr>
          <p:nvPr/>
        </p:nvSpPr>
        <p:spPr bwMode="auto">
          <a:xfrm rot="16200000">
            <a:off x="4694059" y="5575299"/>
            <a:ext cx="644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/>
              <a:t>Queue</a:t>
            </a:r>
          </a:p>
        </p:txBody>
      </p:sp>
      <p:cxnSp>
        <p:nvCxnSpPr>
          <p:cNvPr id="140" name="Straight Connector 139"/>
          <p:cNvCxnSpPr/>
          <p:nvPr/>
        </p:nvCxnSpPr>
        <p:spPr>
          <a:xfrm flipV="1">
            <a:off x="2806700" y="3730625"/>
            <a:ext cx="0" cy="2741612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5672138" y="3657600"/>
            <a:ext cx="0" cy="2741612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8" name="Straight Arrow Connector 26627"/>
          <p:cNvCxnSpPr/>
          <p:nvPr/>
        </p:nvCxnSpPr>
        <p:spPr>
          <a:xfrm>
            <a:off x="131561" y="6705600"/>
            <a:ext cx="149245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1" name="TextBox 26630"/>
          <p:cNvSpPr txBox="1"/>
          <p:nvPr/>
        </p:nvSpPr>
        <p:spPr>
          <a:xfrm>
            <a:off x="436142" y="6367330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Time</a:t>
            </a:r>
            <a:endParaRPr lang="en-US" b="1" i="1" dirty="0"/>
          </a:p>
        </p:txBody>
      </p:sp>
      <p:sp>
        <p:nvSpPr>
          <p:cNvPr id="47" name="Rectangle 46"/>
          <p:cNvSpPr/>
          <p:nvPr/>
        </p:nvSpPr>
        <p:spPr>
          <a:xfrm>
            <a:off x="1700213" y="5294313"/>
            <a:ext cx="304800" cy="3810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/>
              <a:t>1</a:t>
            </a:r>
            <a:endParaRPr lang="en-US" sz="1200" b="1" dirty="0"/>
          </a:p>
        </p:txBody>
      </p:sp>
      <p:sp>
        <p:nvSpPr>
          <p:cNvPr id="52" name="Rectangle 51"/>
          <p:cNvSpPr/>
          <p:nvPr/>
        </p:nvSpPr>
        <p:spPr>
          <a:xfrm>
            <a:off x="4448837" y="5391148"/>
            <a:ext cx="304800" cy="381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/>
              <a:t>0</a:t>
            </a:r>
            <a:endParaRPr lang="en-US" sz="1200" b="1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1700213" y="4567237"/>
            <a:ext cx="11063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“Shared”</a:t>
            </a:r>
          </a:p>
          <a:p>
            <a:pPr algn="ctr" eaLnBrk="1" hangingPunct="1"/>
            <a:r>
              <a:rPr lang="en-US" sz="1200" dirty="0" smtClean="0"/>
              <a:t>Lock </a:t>
            </a:r>
            <a:r>
              <a:rPr lang="en-US" sz="1200" dirty="0"/>
              <a:t>Granted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 flipH="1" flipV="1">
            <a:off x="1471613" y="4418012"/>
            <a:ext cx="38100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048041" y="4445000"/>
            <a:ext cx="11063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“Shared”</a:t>
            </a:r>
          </a:p>
          <a:p>
            <a:pPr algn="ctr" eaLnBrk="1" hangingPunct="1"/>
            <a:r>
              <a:rPr lang="en-US" sz="1200" dirty="0" smtClean="0"/>
              <a:t>Lock </a:t>
            </a:r>
            <a:r>
              <a:rPr lang="en-US" sz="1200" dirty="0"/>
              <a:t>Granted</a:t>
            </a:r>
          </a:p>
        </p:txBody>
      </p:sp>
      <p:cxnSp>
        <p:nvCxnSpPr>
          <p:cNvPr id="58" name="Straight Arrow Connector 57"/>
          <p:cNvCxnSpPr>
            <a:stCxn id="131" idx="0"/>
          </p:cNvCxnSpPr>
          <p:nvPr/>
        </p:nvCxnSpPr>
        <p:spPr>
          <a:xfrm flipH="1" flipV="1">
            <a:off x="3505200" y="4341812"/>
            <a:ext cx="647700" cy="838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918" y="5270498"/>
            <a:ext cx="4191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354" y="5353050"/>
            <a:ext cx="4191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" name="TextBox 60"/>
          <p:cNvSpPr txBox="1"/>
          <p:nvPr/>
        </p:nvSpPr>
        <p:spPr>
          <a:xfrm>
            <a:off x="1373970" y="62468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t9</a:t>
            </a:r>
            <a:endParaRPr lang="en-US" b="1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3925887" y="62468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t9</a:t>
            </a:r>
            <a:endParaRPr lang="en-US" b="1" i="1" dirty="0"/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6296574" y="4445000"/>
            <a:ext cx="1198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200" dirty="0" smtClean="0"/>
              <a:t>Write Request</a:t>
            </a:r>
            <a:br>
              <a:rPr lang="en-US" sz="1200" dirty="0" smtClean="0"/>
            </a:br>
            <a:r>
              <a:rPr lang="en-US" sz="1200" dirty="0" smtClean="0"/>
              <a:t>on Object </a:t>
            </a:r>
            <a:r>
              <a:rPr lang="en-US" sz="1200" b="1" i="1" dirty="0"/>
              <a:t>O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8042276" y="4521844"/>
            <a:ext cx="1035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200" dirty="0"/>
              <a:t>Lock </a:t>
            </a:r>
            <a:r>
              <a:rPr lang="en-US" sz="1200" dirty="0" smtClean="0"/>
              <a:t>Denied</a:t>
            </a:r>
            <a:endParaRPr lang="en-US" sz="1200" dirty="0"/>
          </a:p>
        </p:txBody>
      </p:sp>
      <p:cxnSp>
        <p:nvCxnSpPr>
          <p:cNvPr id="66" name="Straight Arrow Connector 65"/>
          <p:cNvCxnSpPr/>
          <p:nvPr/>
        </p:nvCxnSpPr>
        <p:spPr>
          <a:xfrm flipH="1">
            <a:off x="6934200" y="4341812"/>
            <a:ext cx="1143000" cy="762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8077200" y="4341812"/>
            <a:ext cx="0" cy="762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7391400" y="5248275"/>
            <a:ext cx="304800" cy="381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1799" y="616989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t10</a:t>
            </a:r>
            <a:endParaRPr lang="en-US" b="1" i="1" dirty="0"/>
          </a:p>
        </p:txBody>
      </p:sp>
      <p:sp>
        <p:nvSpPr>
          <p:cNvPr id="51" name="Rectangle 50"/>
          <p:cNvSpPr/>
          <p:nvPr/>
        </p:nvSpPr>
        <p:spPr>
          <a:xfrm>
            <a:off x="1693864" y="5751511"/>
            <a:ext cx="304800" cy="381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/>
              <a:t>0</a:t>
            </a:r>
            <a:endParaRPr lang="en-US" sz="1200" b="1" dirty="0"/>
          </a:p>
        </p:txBody>
      </p:sp>
      <p:pic>
        <p:nvPicPr>
          <p:cNvPr id="5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918" y="5733255"/>
            <a:ext cx="4191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0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7" grpId="0"/>
      <p:bldP spid="61" grpId="0"/>
      <p:bldP spid="62" grpId="0"/>
      <p:bldP spid="64" grpId="0"/>
      <p:bldP spid="65" grpId="0"/>
      <p:bldP spid="68" grpId="0" animBg="1"/>
      <p:bldP spid="6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Two-Phase Locking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44124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A widely used locking protocol, called </a:t>
            </a:r>
            <a:r>
              <a:rPr lang="en-US" sz="2600" i="1" dirty="0" smtClean="0">
                <a:solidFill>
                  <a:srgbClr val="0070C0"/>
                </a:solidFill>
              </a:rPr>
              <a:t>Two-Phase Locking </a:t>
            </a:r>
            <a:r>
              <a:rPr lang="en-US" sz="2600" dirty="0" smtClean="0"/>
              <a:t>(</a:t>
            </a:r>
            <a:r>
              <a:rPr lang="en-US" sz="2600" i="1" dirty="0" smtClean="0">
                <a:solidFill>
                  <a:srgbClr val="0070C0"/>
                </a:solidFill>
              </a:rPr>
              <a:t>2PL</a:t>
            </a:r>
            <a:r>
              <a:rPr lang="en-US" sz="2600" dirty="0" smtClean="0"/>
              <a:t>), has two rules:	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70C0"/>
                </a:solidFill>
              </a:rPr>
              <a:t>Rule 2</a:t>
            </a:r>
            <a:r>
              <a:rPr lang="en-US" sz="2400" dirty="0" smtClean="0"/>
              <a:t>: </a:t>
            </a:r>
            <a:r>
              <a:rPr lang="en-US" sz="2400" b="1" i="1" dirty="0" smtClean="0"/>
              <a:t>T</a:t>
            </a:r>
            <a:r>
              <a:rPr lang="en-US" sz="2400" dirty="0" smtClean="0"/>
              <a:t> can release locks before it </a:t>
            </a:r>
            <a:r>
              <a:rPr lang="en-US" sz="2400" i="1" dirty="0" smtClean="0"/>
              <a:t>commits</a:t>
            </a:r>
            <a:r>
              <a:rPr lang="en-US" sz="2400" dirty="0" smtClean="0"/>
              <a:t> or </a:t>
            </a:r>
            <a:r>
              <a:rPr lang="en-US" sz="2400" i="1" dirty="0" smtClean="0"/>
              <a:t>aborts</a:t>
            </a:r>
            <a:r>
              <a:rPr lang="en-US" sz="2400" dirty="0" smtClean="0"/>
              <a:t>, and cannot request additional locks once it releases </a:t>
            </a:r>
            <a:r>
              <a:rPr lang="en-US" sz="2400" i="1" u="sng" dirty="0" smtClean="0"/>
              <a:t>any</a:t>
            </a:r>
            <a:r>
              <a:rPr lang="en-US" sz="2400" dirty="0" smtClean="0"/>
              <a:t> lock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Thus, every transaction has a “growing” phase in which it acquires locks, followed by a “shrinking” phase in which it releases locks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676400" y="6461336"/>
            <a:ext cx="579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V="1">
            <a:off x="1676400" y="4556336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36538" y="5013536"/>
            <a:ext cx="1055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/>
            <a:r>
              <a:rPr lang="en-US"/>
              <a:t># locks</a:t>
            </a: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1951038" y="4892886"/>
            <a:ext cx="4754562" cy="1568450"/>
          </a:xfrm>
          <a:custGeom>
            <a:avLst/>
            <a:gdLst>
              <a:gd name="T0" fmla="*/ 0 w 2995"/>
              <a:gd name="T1" fmla="*/ 2147483647 h 988"/>
              <a:gd name="T2" fmla="*/ 2147483647 w 2995"/>
              <a:gd name="T3" fmla="*/ 2147483647 h 988"/>
              <a:gd name="T4" fmla="*/ 2147483647 w 2995"/>
              <a:gd name="T5" fmla="*/ 2147483647 h 988"/>
              <a:gd name="T6" fmla="*/ 2147483647 w 2995"/>
              <a:gd name="T7" fmla="*/ 2147483647 h 988"/>
              <a:gd name="T8" fmla="*/ 2147483647 w 2995"/>
              <a:gd name="T9" fmla="*/ 0 h 988"/>
              <a:gd name="T10" fmla="*/ 2147483647 w 2995"/>
              <a:gd name="T11" fmla="*/ 2147483647 h 988"/>
              <a:gd name="T12" fmla="*/ 2147483647 w 2995"/>
              <a:gd name="T13" fmla="*/ 2147483647 h 988"/>
              <a:gd name="T14" fmla="*/ 2147483647 w 2995"/>
              <a:gd name="T15" fmla="*/ 2147483647 h 9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95"/>
              <a:gd name="T25" fmla="*/ 0 h 988"/>
              <a:gd name="T26" fmla="*/ 2995 w 2995"/>
              <a:gd name="T27" fmla="*/ 988 h 9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95" h="988">
                <a:moveTo>
                  <a:pt x="0" y="969"/>
                </a:moveTo>
                <a:lnTo>
                  <a:pt x="451" y="604"/>
                </a:lnTo>
                <a:lnTo>
                  <a:pt x="883" y="316"/>
                </a:lnTo>
                <a:lnTo>
                  <a:pt x="1603" y="28"/>
                </a:lnTo>
                <a:lnTo>
                  <a:pt x="2085" y="0"/>
                </a:lnTo>
                <a:lnTo>
                  <a:pt x="2323" y="220"/>
                </a:lnTo>
                <a:lnTo>
                  <a:pt x="2803" y="460"/>
                </a:lnTo>
                <a:lnTo>
                  <a:pt x="2995" y="98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12"/>
          <p:cNvSpPr>
            <a:spLocks/>
          </p:cNvSpPr>
          <p:nvPr/>
        </p:nvSpPr>
        <p:spPr bwMode="auto">
          <a:xfrm>
            <a:off x="3276600" y="4403936"/>
            <a:ext cx="1905000" cy="2286000"/>
          </a:xfrm>
          <a:custGeom>
            <a:avLst/>
            <a:gdLst>
              <a:gd name="T0" fmla="*/ 2147483647 w 1200"/>
              <a:gd name="T1" fmla="*/ 0 h 1440"/>
              <a:gd name="T2" fmla="*/ 2147483647 w 1200"/>
              <a:gd name="T3" fmla="*/ 2147483647 h 1440"/>
              <a:gd name="T4" fmla="*/ 0 w 1200"/>
              <a:gd name="T5" fmla="*/ 2147483647 h 1440"/>
              <a:gd name="T6" fmla="*/ 0 60000 65536"/>
              <a:gd name="T7" fmla="*/ 0 60000 65536"/>
              <a:gd name="T8" fmla="*/ 0 60000 65536"/>
              <a:gd name="T9" fmla="*/ 0 w 1200"/>
              <a:gd name="T10" fmla="*/ 0 h 1440"/>
              <a:gd name="T11" fmla="*/ 1200 w 1200"/>
              <a:gd name="T12" fmla="*/ 1440 h 14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0" h="1440">
                <a:moveTo>
                  <a:pt x="1200" y="0"/>
                </a:moveTo>
                <a:lnTo>
                  <a:pt x="1200" y="1440"/>
                </a:lnTo>
                <a:lnTo>
                  <a:pt x="0" y="144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1219200" y="6410060"/>
            <a:ext cx="1970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/>
            <a:r>
              <a:rPr lang="en-US" dirty="0"/>
              <a:t>growing phase</a:t>
            </a:r>
          </a:p>
        </p:txBody>
      </p:sp>
      <p:sp>
        <p:nvSpPr>
          <p:cNvPr id="10" name="Freeform 14"/>
          <p:cNvSpPr>
            <a:spLocks/>
          </p:cNvSpPr>
          <p:nvPr/>
        </p:nvSpPr>
        <p:spPr bwMode="auto">
          <a:xfrm>
            <a:off x="5334000" y="4403936"/>
            <a:ext cx="1371600" cy="2286000"/>
          </a:xfrm>
          <a:custGeom>
            <a:avLst/>
            <a:gdLst>
              <a:gd name="T0" fmla="*/ 0 w 864"/>
              <a:gd name="T1" fmla="*/ 0 h 1440"/>
              <a:gd name="T2" fmla="*/ 0 w 864"/>
              <a:gd name="T3" fmla="*/ 2147483647 h 1440"/>
              <a:gd name="T4" fmla="*/ 2147483647 w 864"/>
              <a:gd name="T5" fmla="*/ 2147483647 h 1440"/>
              <a:gd name="T6" fmla="*/ 0 60000 65536"/>
              <a:gd name="T7" fmla="*/ 0 60000 65536"/>
              <a:gd name="T8" fmla="*/ 0 60000 65536"/>
              <a:gd name="T9" fmla="*/ 0 w 864"/>
              <a:gd name="T10" fmla="*/ 0 h 1440"/>
              <a:gd name="T11" fmla="*/ 864 w 864"/>
              <a:gd name="T12" fmla="*/ 1440 h 14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1440">
                <a:moveTo>
                  <a:pt x="0" y="0"/>
                </a:moveTo>
                <a:lnTo>
                  <a:pt x="0" y="1440"/>
                </a:lnTo>
                <a:lnTo>
                  <a:pt x="864" y="144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6705600" y="6385136"/>
            <a:ext cx="2105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/>
            <a:r>
              <a:rPr lang="en-US"/>
              <a:t>shrinking phase</a:t>
            </a:r>
          </a:p>
        </p:txBody>
      </p:sp>
    </p:spTree>
    <p:extLst>
      <p:ext uri="{BB962C8B-B14F-4D97-AF65-F5344CB8AC3E}">
        <p14:creationId xmlns:p14="http://schemas.microsoft.com/office/powerpoint/2010/main" val="366909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/>
      <p:bldP spid="10" grpId="0" animBg="1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Two-Phase Locking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44124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A widely used locking protocol, called </a:t>
            </a:r>
            <a:r>
              <a:rPr lang="en-US" sz="2600" i="1" dirty="0">
                <a:solidFill>
                  <a:srgbClr val="0070C0"/>
                </a:solidFill>
              </a:rPr>
              <a:t>Two-Phase Locking </a:t>
            </a:r>
            <a:r>
              <a:rPr lang="en-US" sz="2600" dirty="0"/>
              <a:t>(</a:t>
            </a:r>
            <a:r>
              <a:rPr lang="en-US" sz="2600" i="1" dirty="0">
                <a:solidFill>
                  <a:srgbClr val="0070C0"/>
                </a:solidFill>
              </a:rPr>
              <a:t>2PL</a:t>
            </a:r>
            <a:r>
              <a:rPr lang="en-US" sz="2600" dirty="0"/>
              <a:t>), has two rules:	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Rule 2</a:t>
            </a:r>
            <a:r>
              <a:rPr lang="en-US" sz="2400" dirty="0"/>
              <a:t>: </a:t>
            </a:r>
            <a:r>
              <a:rPr lang="en-US" sz="2400" b="1" i="1" dirty="0"/>
              <a:t>T</a:t>
            </a:r>
            <a:r>
              <a:rPr lang="en-US" sz="2400" dirty="0"/>
              <a:t> can release locks before it </a:t>
            </a:r>
            <a:r>
              <a:rPr lang="en-US" sz="2400" i="1" dirty="0"/>
              <a:t>commits</a:t>
            </a:r>
            <a:r>
              <a:rPr lang="en-US" sz="2400" dirty="0"/>
              <a:t> or </a:t>
            </a:r>
            <a:r>
              <a:rPr lang="en-US" sz="2400" i="1" dirty="0"/>
              <a:t>aborts</a:t>
            </a:r>
            <a:r>
              <a:rPr lang="en-US" sz="2400" dirty="0"/>
              <a:t>, and cannot request additional locks once it releases </a:t>
            </a:r>
            <a:r>
              <a:rPr lang="en-US" sz="2400" i="1" u="sng" dirty="0"/>
              <a:t>any</a:t>
            </a:r>
            <a:r>
              <a:rPr lang="en-US" sz="2400" dirty="0"/>
              <a:t> lock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Thus, every transaction has a “growing” phase in which it acquires locks, followed by a “shrinking” phase in which it releases locks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676400" y="6461336"/>
            <a:ext cx="579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V="1">
            <a:off x="1676400" y="4556336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36538" y="5013536"/>
            <a:ext cx="1055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/>
            <a:r>
              <a:rPr lang="en-US"/>
              <a:t># locks</a:t>
            </a: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1951038" y="4892886"/>
            <a:ext cx="4754562" cy="1568450"/>
          </a:xfrm>
          <a:custGeom>
            <a:avLst/>
            <a:gdLst>
              <a:gd name="T0" fmla="*/ 0 w 2995"/>
              <a:gd name="T1" fmla="*/ 2147483647 h 988"/>
              <a:gd name="T2" fmla="*/ 2147483647 w 2995"/>
              <a:gd name="T3" fmla="*/ 2147483647 h 988"/>
              <a:gd name="T4" fmla="*/ 2147483647 w 2995"/>
              <a:gd name="T5" fmla="*/ 2147483647 h 988"/>
              <a:gd name="T6" fmla="*/ 2147483647 w 2995"/>
              <a:gd name="T7" fmla="*/ 2147483647 h 988"/>
              <a:gd name="T8" fmla="*/ 2147483647 w 2995"/>
              <a:gd name="T9" fmla="*/ 0 h 988"/>
              <a:gd name="T10" fmla="*/ 2147483647 w 2995"/>
              <a:gd name="T11" fmla="*/ 2147483647 h 988"/>
              <a:gd name="T12" fmla="*/ 2147483647 w 2995"/>
              <a:gd name="T13" fmla="*/ 2147483647 h 988"/>
              <a:gd name="T14" fmla="*/ 2147483647 w 2995"/>
              <a:gd name="T15" fmla="*/ 2147483647 h 9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95"/>
              <a:gd name="T25" fmla="*/ 0 h 988"/>
              <a:gd name="T26" fmla="*/ 2995 w 2995"/>
              <a:gd name="T27" fmla="*/ 988 h 9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95" h="988">
                <a:moveTo>
                  <a:pt x="0" y="969"/>
                </a:moveTo>
                <a:lnTo>
                  <a:pt x="451" y="604"/>
                </a:lnTo>
                <a:lnTo>
                  <a:pt x="883" y="316"/>
                </a:lnTo>
                <a:lnTo>
                  <a:pt x="1603" y="28"/>
                </a:lnTo>
                <a:lnTo>
                  <a:pt x="2085" y="0"/>
                </a:lnTo>
                <a:lnTo>
                  <a:pt x="2323" y="220"/>
                </a:lnTo>
                <a:lnTo>
                  <a:pt x="2803" y="460"/>
                </a:lnTo>
                <a:lnTo>
                  <a:pt x="2995" y="98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AutoShape 14"/>
          <p:cNvSpPr>
            <a:spLocks noChangeArrowheads="1"/>
          </p:cNvSpPr>
          <p:nvPr/>
        </p:nvSpPr>
        <p:spPr bwMode="auto">
          <a:xfrm>
            <a:off x="5137803" y="5618357"/>
            <a:ext cx="228600" cy="2286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28575">
            <a:solidFill>
              <a:srgbClr val="FF0000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3886200" y="5918676"/>
            <a:ext cx="2179638" cy="4572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/>
            <a:r>
              <a:rPr lang="en-US">
                <a:solidFill>
                  <a:schemeClr val="tx2"/>
                </a:solidFill>
              </a:rPr>
              <a:t>violation of 2PL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546362" y="4910270"/>
            <a:ext cx="794403" cy="0"/>
          </a:xfrm>
          <a:prstGeom prst="line">
            <a:avLst/>
          </a:prstGeom>
          <a:ln w="1111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6465" y="4892886"/>
            <a:ext cx="412335" cy="349250"/>
          </a:xfrm>
          <a:prstGeom prst="line">
            <a:avLst/>
          </a:prstGeom>
          <a:ln w="1111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13"/>
          <p:cNvSpPr>
            <a:spLocks/>
          </p:cNvSpPr>
          <p:nvPr/>
        </p:nvSpPr>
        <p:spPr bwMode="auto">
          <a:xfrm>
            <a:off x="4495800" y="4910270"/>
            <a:ext cx="1143000" cy="623888"/>
          </a:xfrm>
          <a:custGeom>
            <a:avLst/>
            <a:gdLst>
              <a:gd name="T0" fmla="*/ 0 w 720"/>
              <a:gd name="T1" fmla="*/ 0 h 393"/>
              <a:gd name="T2" fmla="*/ 2147483647 w 720"/>
              <a:gd name="T3" fmla="*/ 2147483647 h 393"/>
              <a:gd name="T4" fmla="*/ 2147483647 w 720"/>
              <a:gd name="T5" fmla="*/ 2147483647 h 393"/>
              <a:gd name="T6" fmla="*/ 0 60000 65536"/>
              <a:gd name="T7" fmla="*/ 0 60000 65536"/>
              <a:gd name="T8" fmla="*/ 0 60000 65536"/>
              <a:gd name="T9" fmla="*/ 0 w 720"/>
              <a:gd name="T10" fmla="*/ 0 h 393"/>
              <a:gd name="T11" fmla="*/ 720 w 720"/>
              <a:gd name="T12" fmla="*/ 393 h 3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393">
                <a:moveTo>
                  <a:pt x="0" y="0"/>
                </a:moveTo>
                <a:lnTo>
                  <a:pt x="473" y="393"/>
                </a:lnTo>
                <a:lnTo>
                  <a:pt x="720" y="192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5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Resolving RW Conflicts Using 2PL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reads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reads A, decrements A and commits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tries to decrement A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4370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7230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41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449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81507" y="4455886"/>
            <a:ext cx="8451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72304"/>
            <a:ext cx="8451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9659" y="6198552"/>
            <a:ext cx="2197589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Exposes RW Anomaly</a:t>
            </a:r>
            <a:endParaRPr lang="en-US" dirty="0"/>
          </a:p>
        </p:txBody>
      </p:sp>
      <p:sp>
        <p:nvSpPr>
          <p:cNvPr id="3" name="Striped Right Arrow 2"/>
          <p:cNvSpPr/>
          <p:nvPr/>
        </p:nvSpPr>
        <p:spPr>
          <a:xfrm>
            <a:off x="3429000" y="4754795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6075072" y="42173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313072" y="44459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06060" y="41148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194576" y="41186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695399" y="4429534"/>
            <a:ext cx="13332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984" y="5484611"/>
            <a:ext cx="13332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(A)</a:t>
            </a:r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4607" y="4838620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(A)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442676" y="5100994"/>
            <a:ext cx="0" cy="25935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24479" y="5249210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442676" y="5549522"/>
            <a:ext cx="0" cy="22579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98547" y="4450827"/>
            <a:ext cx="1410056" cy="1219868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RW Conflict Resolved!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4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2" grpId="0" animBg="1"/>
      <p:bldP spid="3" grpId="0" animBg="1"/>
      <p:bldP spid="21" grpId="0"/>
      <p:bldP spid="22" grpId="0"/>
      <p:bldP spid="23" grpId="0"/>
      <p:bldP spid="24" grpId="0"/>
      <p:bldP spid="4" grpId="0"/>
      <p:bldP spid="32" grpId="0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Resolving RW Conflicts Using 2PL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reads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reads A, decrements A </a:t>
            </a:r>
            <a:r>
              <a:rPr lang="en-US" sz="2200" smtClean="0"/>
              <a:t>and commits</a:t>
            </a:r>
            <a:endParaRPr lang="en-US" sz="2200" dirty="0" smtClean="0"/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tries to decrement A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4370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7230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41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449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81507" y="4455886"/>
            <a:ext cx="8451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72304"/>
            <a:ext cx="8451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9659" y="6198552"/>
            <a:ext cx="2197589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Exposes RW Anomaly</a:t>
            </a:r>
            <a:endParaRPr lang="en-US" dirty="0"/>
          </a:p>
        </p:txBody>
      </p:sp>
      <p:sp>
        <p:nvSpPr>
          <p:cNvPr id="3" name="Striped Right Arrow 2"/>
          <p:cNvSpPr/>
          <p:nvPr/>
        </p:nvSpPr>
        <p:spPr>
          <a:xfrm>
            <a:off x="3429000" y="4754795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6075072" y="42173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313072" y="44459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06060" y="41148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194576" y="41186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695399" y="4429534"/>
            <a:ext cx="13332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4607" y="4838620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(A)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442676" y="5100994"/>
            <a:ext cx="0" cy="25935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24479" y="5249210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442676" y="5549522"/>
            <a:ext cx="0" cy="22579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0" y="4450827"/>
            <a:ext cx="1593403" cy="1219868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But, it can limit parallelism!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53984" y="5484611"/>
            <a:ext cx="13332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(A)</a:t>
            </a:r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248419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Resolving WW Conflicts Using 2PL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sets Mohammad’s Salary to $1000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sets Ahmad’s Salary to $2000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sets Ahmad’s Salary to $1000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sets Mohammad’s Salary to $2000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T1 and T2 can be represented by the following schedule: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2902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5762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264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303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81507" y="4441202"/>
            <a:ext cx="8451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W(MS)</a:t>
            </a:r>
          </a:p>
          <a:p>
            <a:endParaRPr lang="en-US" sz="1600" dirty="0" smtClean="0"/>
          </a:p>
          <a:p>
            <a:r>
              <a:rPr lang="en-US" sz="1600" dirty="0" smtClean="0"/>
              <a:t>W(AS)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57620"/>
            <a:ext cx="8451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r>
              <a:rPr lang="en-US" sz="1600" dirty="0" smtClean="0"/>
              <a:t>W(AS)</a:t>
            </a:r>
          </a:p>
          <a:p>
            <a:endParaRPr lang="en-US" sz="1600" dirty="0" smtClean="0"/>
          </a:p>
          <a:p>
            <a:r>
              <a:rPr lang="en-US" sz="1600" dirty="0" smtClean="0"/>
              <a:t>W(MS)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" y="5972127"/>
            <a:ext cx="397531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Exposes WW Anomaly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i="1" dirty="0" smtClean="0"/>
              <a:t>assuming, MS &amp; AS must be kept equal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triped Right Arrow 2"/>
          <p:cNvSpPr/>
          <p:nvPr/>
        </p:nvSpPr>
        <p:spPr>
          <a:xfrm>
            <a:off x="3429000" y="4602395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6075072" y="4064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313072" y="4293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06060" y="3962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194576" y="3966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652669" y="4277134"/>
            <a:ext cx="14839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(MS)</a:t>
            </a:r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(AS)</a:t>
            </a:r>
          </a:p>
          <a:p>
            <a:r>
              <a:rPr lang="en-US" sz="1600" dirty="0" smtClean="0"/>
              <a:t>W(MS)</a:t>
            </a:r>
          </a:p>
          <a:p>
            <a:r>
              <a:rPr lang="en-US" sz="1600" dirty="0" smtClean="0"/>
              <a:t>W(AS)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6892" y="5332211"/>
            <a:ext cx="14839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(AS)</a:t>
            </a:r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(MS)</a:t>
            </a:r>
            <a:endParaRPr lang="en-US" sz="1600" dirty="0" smtClean="0"/>
          </a:p>
          <a:p>
            <a:r>
              <a:rPr lang="en-US" sz="1600" dirty="0" smtClean="0"/>
              <a:t>W(AS)</a:t>
            </a:r>
          </a:p>
          <a:p>
            <a:r>
              <a:rPr lang="en-US" sz="1600" dirty="0" smtClean="0"/>
              <a:t>W(MS)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4607" y="468622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(AS)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442676" y="4948594"/>
            <a:ext cx="0" cy="25935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24479" y="5096810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442676" y="5397122"/>
            <a:ext cx="0" cy="22579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98547" y="4298427"/>
            <a:ext cx="1410056" cy="1219868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</a:t>
            </a:r>
            <a:r>
              <a:rPr lang="en-US" sz="2000" dirty="0" smtClean="0">
                <a:solidFill>
                  <a:schemeClr val="tx1"/>
                </a:solidFill>
              </a:rPr>
              <a:t>W Conflict Resolved!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30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2" grpId="0" animBg="1"/>
      <p:bldP spid="3" grpId="0" animBg="1"/>
      <p:bldP spid="21" grpId="0"/>
      <p:bldP spid="22" grpId="0"/>
      <p:bldP spid="23" grpId="0"/>
      <p:bldP spid="24" grpId="0"/>
      <p:bldP spid="4" grpId="0"/>
      <p:bldP spid="32" grpId="0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Resolving WW Conflicts Using 2PL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sets Mohammad’s Salary to $1000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sets Ahmad’s Salary to $2000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sets Ahmad’s Salary to $1000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sets Mohammad’s Salary to $2000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T1 and T2 can be represented by the following schedule: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2902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5762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264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303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81507" y="4441202"/>
            <a:ext cx="8451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W(MS)</a:t>
            </a:r>
          </a:p>
          <a:p>
            <a:endParaRPr lang="en-US" sz="1600" dirty="0" smtClean="0"/>
          </a:p>
          <a:p>
            <a:r>
              <a:rPr lang="en-US" sz="1600" dirty="0" smtClean="0"/>
              <a:t>W(AS)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57620"/>
            <a:ext cx="8451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r>
              <a:rPr lang="en-US" sz="1600" dirty="0" smtClean="0"/>
              <a:t>W(AS)</a:t>
            </a:r>
          </a:p>
          <a:p>
            <a:endParaRPr lang="en-US" sz="1600" dirty="0" smtClean="0"/>
          </a:p>
          <a:p>
            <a:r>
              <a:rPr lang="en-US" sz="1600" dirty="0" smtClean="0"/>
              <a:t>W(MS)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" y="5972127"/>
            <a:ext cx="397531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Exposes WW Anomaly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i="1" dirty="0" smtClean="0"/>
              <a:t>assuming, MS &amp; AS must be kept equal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triped Right Arrow 2"/>
          <p:cNvSpPr/>
          <p:nvPr/>
        </p:nvSpPr>
        <p:spPr>
          <a:xfrm>
            <a:off x="3429000" y="4602395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6075072" y="4064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313072" y="4293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06060" y="3962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194576" y="3966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652669" y="4277134"/>
            <a:ext cx="148393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(MS)</a:t>
            </a:r>
          </a:p>
          <a:p>
            <a:r>
              <a:rPr lang="en-US" sz="1600" dirty="0" smtClean="0"/>
              <a:t>W(MS)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/>
              <a:t>(AS)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0363" y="4599317"/>
            <a:ext cx="1427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(AS)</a:t>
            </a:r>
          </a:p>
          <a:p>
            <a:r>
              <a:rPr lang="en-US" sz="1600" dirty="0" smtClean="0"/>
              <a:t>W(AS)</a:t>
            </a:r>
          </a:p>
          <a:p>
            <a:r>
              <a:rPr lang="en-US" sz="1600" b="1" dirty="0" smtClean="0">
                <a:solidFill>
                  <a:srgbClr val="FF0000"/>
                </a:solidFill>
              </a:rPr>
              <a:t>Lock</a:t>
            </a:r>
            <a:r>
              <a:rPr lang="en-US" sz="1600" dirty="0" smtClean="0"/>
              <a:t>(MS)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74333" y="5074271"/>
            <a:ext cx="0" cy="25935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856136" y="5333629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  <p:sp>
        <p:nvSpPr>
          <p:cNvPr id="29" name="Rounded Rectangle 28"/>
          <p:cNvSpPr/>
          <p:nvPr/>
        </p:nvSpPr>
        <p:spPr>
          <a:xfrm>
            <a:off x="4652669" y="6124339"/>
            <a:ext cx="3505200" cy="499373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Deadlock!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6512773" y="5423271"/>
            <a:ext cx="0" cy="25935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94576" y="5682629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Deadlock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83029" y="1102497"/>
            <a:ext cx="8284028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Locking can lead to an undesirable situation. For example, consider </a:t>
            </a:r>
            <a:r>
              <a:rPr lang="en-US" altLang="en-US" dirty="0"/>
              <a:t>the partial schedule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Neither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nor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can make progress — executing  </a:t>
            </a:r>
            <a:r>
              <a:rPr lang="en-US" altLang="en-US" b="1" dirty="0"/>
              <a:t>lock-S</a:t>
            </a:r>
            <a:r>
              <a:rPr lang="en-US" altLang="en-US" i="1" dirty="0"/>
              <a:t>(B)</a:t>
            </a:r>
            <a:r>
              <a:rPr lang="en-US" altLang="en-US" dirty="0"/>
              <a:t> causes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to wait for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to release its lock on </a:t>
            </a:r>
            <a:r>
              <a:rPr lang="en-US" altLang="en-US" i="1" dirty="0"/>
              <a:t>B</a:t>
            </a:r>
            <a:r>
              <a:rPr lang="en-US" altLang="en-US" dirty="0"/>
              <a:t>, while executing  </a:t>
            </a:r>
            <a:r>
              <a:rPr lang="en-US" altLang="en-US" b="1" dirty="0"/>
              <a:t>lock-X</a:t>
            </a:r>
            <a:r>
              <a:rPr lang="en-US" altLang="en-US" i="1" dirty="0"/>
              <a:t>(A)</a:t>
            </a:r>
            <a:r>
              <a:rPr lang="en-US" altLang="en-US" dirty="0"/>
              <a:t> causes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i="1" dirty="0"/>
              <a:t> </a:t>
            </a:r>
            <a:r>
              <a:rPr lang="en-US" altLang="en-US" dirty="0"/>
              <a:t> to wait for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to release its lock on </a:t>
            </a:r>
            <a:r>
              <a:rPr lang="en-US" altLang="en-US" i="1" dirty="0"/>
              <a:t>A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Such a situation is called a </a:t>
            </a:r>
            <a:r>
              <a:rPr lang="en-US" altLang="en-US" b="1" dirty="0">
                <a:solidFill>
                  <a:srgbClr val="002060"/>
                </a:solidFill>
              </a:rPr>
              <a:t>deadlock</a:t>
            </a:r>
            <a:r>
              <a:rPr lang="en-US" altLang="en-US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 handle a deadlock one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must be rolled back </a:t>
            </a:r>
            <a:br>
              <a:rPr lang="en-US" altLang="en-US" dirty="0"/>
            </a:br>
            <a:r>
              <a:rPr lang="en-US" altLang="en-US" dirty="0"/>
              <a:t>and its locks released.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106EC28-4654-4E10-A473-7E719F7E7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171057" y="1376516"/>
            <a:ext cx="2646298" cy="263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Deadlock 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83030" y="1102497"/>
            <a:ext cx="8229600" cy="5367972"/>
          </a:xfrm>
        </p:spPr>
        <p:txBody>
          <a:bodyPr/>
          <a:lstStyle/>
          <a:p>
            <a:r>
              <a:rPr lang="en-US" altLang="en-US" dirty="0"/>
              <a:t>The potential for deadlock exists in most locking protocols. Deadlocks are a necessary evil.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Starvation</a:t>
            </a:r>
            <a:r>
              <a:rPr lang="en-US" altLang="en-US" dirty="0"/>
              <a:t> is also possible if concurrency control manager is badly designed. For example:</a:t>
            </a:r>
          </a:p>
          <a:p>
            <a:pPr lvl="1"/>
            <a:r>
              <a:rPr lang="en-US" altLang="en-US" dirty="0"/>
              <a:t>A transaction may be waiting for an X-lock on an item, while a sequence of other transactions request and are granted an S-lock on the same item.  </a:t>
            </a:r>
          </a:p>
          <a:p>
            <a:pPr lvl="1"/>
            <a:r>
              <a:rPr lang="en-US" altLang="en-US" dirty="0"/>
              <a:t>The same transaction is repeatedly rolled back due to deadlocks.</a:t>
            </a:r>
          </a:p>
          <a:p>
            <a:r>
              <a:rPr lang="en-US" altLang="en-US" dirty="0"/>
              <a:t>Concurrency control manager can be designed to prevent starvation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r>
              <a:rPr lang="en-US" altLang="en-US" dirty="0" smtClean="0"/>
              <a:t>Starvation of transactions can be avoided by granting the locks as follows:</a:t>
            </a:r>
          </a:p>
          <a:p>
            <a:pPr lvl="1"/>
            <a:r>
              <a:rPr lang="en-US" altLang="en-US" dirty="0" smtClean="0"/>
              <a:t>When </a:t>
            </a:r>
            <a:r>
              <a:rPr lang="en-US" altLang="en-US" dirty="0" err="1" smtClean="0"/>
              <a:t>T</a:t>
            </a:r>
            <a:r>
              <a:rPr lang="en-US" altLang="en-US" baseline="-25000" dirty="0" err="1" smtClean="0"/>
              <a:t>i</a:t>
            </a:r>
            <a:r>
              <a:rPr lang="en-US" altLang="en-US" baseline="-25000" dirty="0" smtClean="0"/>
              <a:t> </a:t>
            </a:r>
            <a:r>
              <a:rPr lang="en-US" altLang="en-US" dirty="0" smtClean="0"/>
              <a:t>requests a lock on a data item </a:t>
            </a:r>
            <a:r>
              <a:rPr lang="en-US" altLang="en-US" i="1" dirty="0" smtClean="0"/>
              <a:t>Q </a:t>
            </a:r>
            <a:r>
              <a:rPr lang="en-US" altLang="en-US" dirty="0" smtClean="0"/>
              <a:t>in a particular mode </a:t>
            </a:r>
            <a:r>
              <a:rPr lang="en-US" altLang="en-US" i="1" dirty="0" smtClean="0"/>
              <a:t>M</a:t>
            </a:r>
            <a:r>
              <a:rPr lang="en-US" altLang="en-US" dirty="0" smtClean="0"/>
              <a:t>, the concurrency control manager grants the lock provided that</a:t>
            </a:r>
          </a:p>
          <a:p>
            <a:pPr lvl="2"/>
            <a:r>
              <a:rPr lang="en-US" altLang="en-US" i="1" dirty="0" smtClean="0"/>
              <a:t>There is no other transaction holding a lock on Q in a mode that conflicts with M</a:t>
            </a:r>
          </a:p>
          <a:p>
            <a:pPr lvl="2"/>
            <a:r>
              <a:rPr lang="en-US" altLang="en-US" i="1" dirty="0" smtClean="0"/>
              <a:t>There is no other transaction that is waiting for a lock on Q and that made its lock request before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8235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0" lang="en-US" altLang="en-US" sz="2400" b="0" kern="12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MS PGothic" panose="020B0600070205080204" pitchFamily="34" charset="-128"/>
              </a:rPr>
              <a:t>Cascading rollback may occur under two-phase locking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635615"/>
            <a:ext cx="7933361" cy="5367972"/>
          </a:xfrm>
        </p:spPr>
        <p:txBody>
          <a:bodyPr/>
          <a:lstStyle/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rgbClr val="000099"/>
                </a:solidFill>
              </a:rPr>
              <a:t> </a:t>
            </a:r>
            <a:r>
              <a:rPr lang="en-US" altLang="en-US" b="1" dirty="0" smtClean="0">
                <a:solidFill>
                  <a:srgbClr val="000099"/>
                </a:solidFill>
              </a:rPr>
              <a:t>    </a:t>
            </a:r>
            <a:r>
              <a:rPr lang="en-US" altLang="en-US" b="1" dirty="0">
                <a:solidFill>
                  <a:srgbClr val="000099"/>
                </a:solidFill>
              </a:rPr>
              <a:t>T5		T6		T7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</a:t>
            </a:r>
            <a:r>
              <a:rPr lang="en-US" altLang="en-US" sz="1400" dirty="0" smtClean="0"/>
              <a:t>lock-X(A)</a:t>
            </a:r>
          </a:p>
          <a:p>
            <a:pPr marL="0" indent="0">
              <a:buNone/>
            </a:pPr>
            <a:r>
              <a:rPr lang="en-US" altLang="en-US" sz="1400" dirty="0" smtClean="0"/>
              <a:t>   read(A)</a:t>
            </a:r>
          </a:p>
          <a:p>
            <a:pPr marL="0" indent="0">
              <a:buNone/>
            </a:pPr>
            <a:r>
              <a:rPr lang="en-US" altLang="en-US" sz="1400" dirty="0"/>
              <a:t> </a:t>
            </a:r>
            <a:r>
              <a:rPr lang="en-US" altLang="en-US" sz="1400" dirty="0" smtClean="0"/>
              <a:t>  lock-S(B)</a:t>
            </a:r>
          </a:p>
          <a:p>
            <a:pPr marL="0" indent="0">
              <a:buNone/>
            </a:pPr>
            <a:r>
              <a:rPr lang="en-US" altLang="en-US" sz="1400" dirty="0" smtClean="0"/>
              <a:t>   read(B)</a:t>
            </a:r>
          </a:p>
          <a:p>
            <a:pPr marL="0" indent="0">
              <a:buNone/>
            </a:pPr>
            <a:r>
              <a:rPr lang="en-US" altLang="en-US" sz="1400" dirty="0"/>
              <a:t> </a:t>
            </a:r>
            <a:r>
              <a:rPr lang="en-US" altLang="en-US" sz="1400" dirty="0" smtClean="0"/>
              <a:t>  write(A)</a:t>
            </a:r>
          </a:p>
          <a:p>
            <a:pPr marL="0" indent="0">
              <a:buNone/>
            </a:pPr>
            <a:r>
              <a:rPr lang="en-US" altLang="en-US" sz="1400" dirty="0"/>
              <a:t> </a:t>
            </a:r>
            <a:r>
              <a:rPr lang="en-US" altLang="en-US" sz="1400" dirty="0" smtClean="0"/>
              <a:t>  unlock(A)</a:t>
            </a:r>
          </a:p>
          <a:p>
            <a:pPr marL="0" indent="0">
              <a:buNone/>
            </a:pPr>
            <a:r>
              <a:rPr lang="en-US" altLang="en-US" sz="1400" dirty="0"/>
              <a:t>	</a:t>
            </a:r>
            <a:r>
              <a:rPr lang="en-US" altLang="en-US" sz="1400" dirty="0" smtClean="0"/>
              <a:t>	lock-X(A)</a:t>
            </a:r>
          </a:p>
          <a:p>
            <a:pPr marL="0" indent="0">
              <a:buNone/>
            </a:pPr>
            <a:r>
              <a:rPr lang="en-US" altLang="en-US" sz="1400" dirty="0"/>
              <a:t>	</a:t>
            </a:r>
            <a:r>
              <a:rPr lang="en-US" altLang="en-US" sz="1400" dirty="0" smtClean="0"/>
              <a:t>	read(A)</a:t>
            </a:r>
          </a:p>
          <a:p>
            <a:pPr marL="0" indent="0">
              <a:buNone/>
            </a:pPr>
            <a:r>
              <a:rPr lang="en-US" altLang="en-US" sz="1400" dirty="0"/>
              <a:t>	</a:t>
            </a:r>
            <a:r>
              <a:rPr lang="en-US" altLang="en-US" sz="1400" dirty="0" smtClean="0"/>
              <a:t>	write(A)</a:t>
            </a:r>
          </a:p>
          <a:p>
            <a:pPr marL="0" indent="0">
              <a:buNone/>
            </a:pPr>
            <a:r>
              <a:rPr lang="en-US" altLang="en-US" sz="1400" dirty="0"/>
              <a:t>	</a:t>
            </a:r>
            <a:r>
              <a:rPr lang="en-US" altLang="en-US" sz="1400" dirty="0" smtClean="0"/>
              <a:t>	unlock(A)</a:t>
            </a:r>
          </a:p>
          <a:p>
            <a:pPr marL="0" indent="0">
              <a:buNone/>
            </a:pPr>
            <a:r>
              <a:rPr lang="en-US" altLang="en-US" dirty="0" smtClean="0"/>
              <a:t>				lock-S(A)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			read(A)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abort</a:t>
            </a:r>
          </a:p>
        </p:txBody>
      </p:sp>
      <p:sp>
        <p:nvSpPr>
          <p:cNvPr id="2" name="Rectangle 1"/>
          <p:cNvSpPr/>
          <p:nvPr/>
        </p:nvSpPr>
        <p:spPr>
          <a:xfrm>
            <a:off x="1262487" y="6020031"/>
            <a:ext cx="6520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Cascading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rollback may occur under two-phase locking.</a:t>
            </a:r>
          </a:p>
        </p:txBody>
      </p:sp>
    </p:spTree>
    <p:extLst>
      <p:ext uri="{BB962C8B-B14F-4D97-AF65-F5344CB8AC3E}">
        <p14:creationId xmlns:p14="http://schemas.microsoft.com/office/powerpoint/2010/main" val="157415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7762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Resolving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8621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/>
              <a:t>Suppose that T1 and T2 actions are </a:t>
            </a:r>
            <a:r>
              <a:rPr lang="en-US" sz="2400" i="1" dirty="0" smtClean="0"/>
              <a:t>interleaved</a:t>
            </a:r>
            <a:r>
              <a:rPr lang="en-US" sz="2400" dirty="0" smtClean="0"/>
              <a:t>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adds 6% interest to accounts A and B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credits $100 to account B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T1 and T2 can be represented by the following schedule: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016554" y="336277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54554" y="359137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47542" y="32602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136058" y="32640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81507" y="3574956"/>
            <a:ext cx="84510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0497" y="359137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8" y="6097728"/>
            <a:ext cx="219964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Exposes WR Anomaly</a:t>
            </a:r>
            <a:endParaRPr lang="en-US" dirty="0"/>
          </a:p>
        </p:txBody>
      </p:sp>
      <p:sp>
        <p:nvSpPr>
          <p:cNvPr id="24" name="Striped Right Arrow 23"/>
          <p:cNvSpPr/>
          <p:nvPr/>
        </p:nvSpPr>
        <p:spPr>
          <a:xfrm>
            <a:off x="3429000" y="4264839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5757257" y="340479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995257" y="363339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88245" y="33022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876761" y="3306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495800" y="3616972"/>
            <a:ext cx="133325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(B)</a:t>
            </a:r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57945" y="3889699"/>
            <a:ext cx="133325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>
                <a:solidFill>
                  <a:srgbClr val="FF0000"/>
                </a:solidFill>
              </a:rPr>
              <a:t>EXCLUSIVE</a:t>
            </a:r>
            <a:r>
              <a:rPr lang="en-US" sz="1600" dirty="0">
                <a:solidFill>
                  <a:srgbClr val="FF0000"/>
                </a:solidFill>
              </a:rPr>
              <a:t>(A)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EXCLUSIVE</a:t>
            </a:r>
            <a:r>
              <a:rPr lang="en-US" sz="1600" dirty="0">
                <a:solidFill>
                  <a:srgbClr val="FF0000"/>
                </a:solidFill>
              </a:rPr>
              <a:t>(B</a:t>
            </a:r>
            <a:r>
              <a:rPr lang="en-US" sz="1600" dirty="0" smtClean="0">
                <a:solidFill>
                  <a:srgbClr val="FF0000"/>
                </a:solidFill>
              </a:rPr>
              <a:t>)</a:t>
            </a:r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57257" y="3889699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(A)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14158" y="4603018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132355" y="4903330"/>
            <a:ext cx="0" cy="22579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6140048" y="4473339"/>
            <a:ext cx="0" cy="25935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57257" y="4135716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(B)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391400" y="3765255"/>
            <a:ext cx="1410056" cy="1219868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WR Conflict Resolved!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24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3" grpId="0" animBg="1"/>
      <p:bldP spid="24" grpId="0" animBg="1"/>
      <p:bldP spid="27" grpId="0"/>
      <p:bldP spid="28" grpId="0"/>
      <p:bldP spid="35" grpId="0"/>
      <p:bldP spid="36" grpId="0"/>
      <p:bldP spid="37" grpId="0"/>
      <p:bldP spid="38" grpId="0"/>
      <p:bldP spid="42" grpId="0"/>
      <p:bldP spid="4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7762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Resolving WR Conflicts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8621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/>
              <a:t>Suppose that T1 and T2 actions are </a:t>
            </a:r>
            <a:r>
              <a:rPr lang="en-US" sz="2400" i="1" dirty="0" smtClean="0"/>
              <a:t>interleaved</a:t>
            </a:r>
            <a:r>
              <a:rPr lang="en-US" sz="2400" dirty="0" smtClean="0"/>
              <a:t>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adds 6% interest to accounts A and B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credits $100 to account B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T1 and T2 can be represented by the following schedule: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016554" y="336277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54554" y="359137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47542" y="32602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136058" y="32640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81507" y="3574956"/>
            <a:ext cx="84510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0497" y="359137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8" y="6097728"/>
            <a:ext cx="219964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Exposes WR Anomaly</a:t>
            </a:r>
            <a:endParaRPr lang="en-US" dirty="0"/>
          </a:p>
        </p:txBody>
      </p:sp>
      <p:sp>
        <p:nvSpPr>
          <p:cNvPr id="24" name="Striped Right Arrow 23"/>
          <p:cNvSpPr/>
          <p:nvPr/>
        </p:nvSpPr>
        <p:spPr>
          <a:xfrm>
            <a:off x="3429000" y="4264839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5757257" y="340479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995257" y="363339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88245" y="33022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876761" y="3306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495800" y="3616972"/>
            <a:ext cx="133325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(B)</a:t>
            </a:r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RELEASE(A)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9399" y="3889699"/>
            <a:ext cx="133325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EXCLUSIVE</a:t>
            </a:r>
            <a:r>
              <a:rPr lang="en-US" sz="1600" dirty="0">
                <a:solidFill>
                  <a:srgbClr val="FF0000"/>
                </a:solidFill>
              </a:rPr>
              <a:t>(B</a:t>
            </a:r>
            <a:r>
              <a:rPr lang="en-US" sz="1600" dirty="0" smtClean="0">
                <a:solidFill>
                  <a:srgbClr val="FF0000"/>
                </a:solidFill>
              </a:rPr>
              <a:t>)</a:t>
            </a:r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57257" y="3889699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(A)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14158" y="4343400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128829" y="4663412"/>
            <a:ext cx="0" cy="22579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57257" y="4135716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(B)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391400" y="3765254"/>
            <a:ext cx="1410056" cy="1642001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WR Conflict is </a:t>
            </a:r>
            <a:r>
              <a:rPr lang="en-US" sz="2000" b="1" i="1" dirty="0" smtClean="0">
                <a:solidFill>
                  <a:schemeClr val="bg1"/>
                </a:solidFill>
              </a:rPr>
              <a:t>NOT</a:t>
            </a:r>
            <a:r>
              <a:rPr lang="en-US" sz="2000" dirty="0" smtClean="0">
                <a:solidFill>
                  <a:schemeClr val="bg1"/>
                </a:solidFill>
              </a:rPr>
              <a:t> Resolved!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5735031" y="5129105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>
            <a:stCxn id="29" idx="2"/>
            <a:endCxn id="31" idx="6"/>
          </p:cNvCxnSpPr>
          <p:nvPr/>
        </p:nvCxnSpPr>
        <p:spPr>
          <a:xfrm flipH="1" flipV="1">
            <a:off x="5144354" y="4521027"/>
            <a:ext cx="590677" cy="747659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554813" y="4381446"/>
            <a:ext cx="589541" cy="279162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7264962" y="5543813"/>
            <a:ext cx="1688182" cy="1107829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How can we solve this?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89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29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i="1" dirty="0" smtClean="0">
                <a:ea typeface="ＭＳ Ｐゴシック" pitchFamily="34" charset="-128"/>
              </a:rPr>
              <a:t>Strict</a:t>
            </a:r>
            <a:r>
              <a:rPr lang="en-US" dirty="0" smtClean="0">
                <a:ea typeface="ＭＳ Ｐゴシック" pitchFamily="34" charset="-128"/>
              </a:rPr>
              <a:t> Two-Phase Locking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WR conflicts (as well as RW &amp; WW) can be solved by making 2PL </a:t>
            </a:r>
            <a:r>
              <a:rPr lang="en-US" sz="3000" i="1" dirty="0" smtClean="0"/>
              <a:t>stricter</a:t>
            </a:r>
            <a:r>
              <a:rPr lang="en-US" sz="3000" dirty="0" smtClean="0"/>
              <a:t> 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In particular, </a:t>
            </a:r>
            <a:r>
              <a:rPr lang="en-US" sz="3000" i="1" dirty="0" smtClean="0">
                <a:solidFill>
                  <a:srgbClr val="0070C0"/>
                </a:solidFill>
              </a:rPr>
              <a:t>Rule 2</a:t>
            </a:r>
            <a:r>
              <a:rPr lang="en-US" sz="3000" dirty="0" smtClean="0"/>
              <a:t> in 2PL can be modified </a:t>
            </a:r>
            <a:br>
              <a:rPr lang="en-US" sz="3000" dirty="0" smtClean="0"/>
            </a:br>
            <a:r>
              <a:rPr lang="en-US" sz="3000" dirty="0" smtClean="0"/>
              <a:t>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900" dirty="0" smtClean="0">
                <a:solidFill>
                  <a:srgbClr val="0070C0"/>
                </a:solidFill>
              </a:rPr>
              <a:t>Rule 2</a:t>
            </a:r>
            <a:r>
              <a:rPr lang="en-US" sz="2900" dirty="0" smtClean="0"/>
              <a:t>: locks of a transaction </a:t>
            </a:r>
            <a:r>
              <a:rPr lang="en-US" sz="2900" b="1" i="1" dirty="0" smtClean="0"/>
              <a:t>T</a:t>
            </a:r>
            <a:r>
              <a:rPr lang="en-US" sz="2900" dirty="0" smtClean="0"/>
              <a:t> can only be released after </a:t>
            </a:r>
            <a:r>
              <a:rPr lang="en-US" sz="2900" b="1" i="1" dirty="0" smtClean="0"/>
              <a:t>T</a:t>
            </a:r>
            <a:r>
              <a:rPr lang="en-US" sz="2900" dirty="0" smtClean="0"/>
              <a:t> completes (i.e., commits or aborts)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This version of 2PL is called </a:t>
            </a:r>
            <a:r>
              <a:rPr lang="en-US" sz="3000" i="1" dirty="0" smtClean="0">
                <a:solidFill>
                  <a:srgbClr val="00B050"/>
                </a:solidFill>
              </a:rPr>
              <a:t>Strict</a:t>
            </a:r>
            <a:r>
              <a:rPr lang="en-US" sz="3000" dirty="0" smtClean="0">
                <a:solidFill>
                  <a:srgbClr val="00B050"/>
                </a:solidFill>
              </a:rPr>
              <a:t> Two-Phase Locking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8010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7762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Resolving WR Conflicts: </a:t>
            </a:r>
            <a:r>
              <a:rPr lang="en-US" i="1" dirty="0" smtClean="0">
                <a:ea typeface="ＭＳ Ｐゴシック" pitchFamily="34" charset="-128"/>
              </a:rPr>
              <a:t>Revisit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8621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/>
              <a:t>Suppose that T1 and T2 actions are </a:t>
            </a:r>
            <a:r>
              <a:rPr lang="en-US" sz="2400" i="1" dirty="0" smtClean="0"/>
              <a:t>interleaved</a:t>
            </a:r>
            <a:r>
              <a:rPr lang="en-US" sz="2400" dirty="0" smtClean="0"/>
              <a:t>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adds 6% interest to accounts A and B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credits $100 to account B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T1 and T2 can be represented by the following schedule: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016554" y="336277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54554" y="359137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47542" y="32602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136058" y="32640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81507" y="3574956"/>
            <a:ext cx="84510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0497" y="359137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8" y="6097728"/>
            <a:ext cx="219964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Exposes WR Anomaly</a:t>
            </a:r>
            <a:endParaRPr lang="en-US" dirty="0"/>
          </a:p>
        </p:txBody>
      </p:sp>
      <p:sp>
        <p:nvSpPr>
          <p:cNvPr id="24" name="Striped Right Arrow 23"/>
          <p:cNvSpPr/>
          <p:nvPr/>
        </p:nvSpPr>
        <p:spPr>
          <a:xfrm>
            <a:off x="3429000" y="4264839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5757257" y="340479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995257" y="363339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88245" y="33022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876761" y="3306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495800" y="3616972"/>
            <a:ext cx="133325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(B)</a:t>
            </a:r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RELEASE(A)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57016" y="3889699"/>
            <a:ext cx="133325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EXCLUSIVE</a:t>
            </a:r>
            <a:r>
              <a:rPr lang="en-US" sz="1600" dirty="0" smtClean="0">
                <a:solidFill>
                  <a:srgbClr val="FF0000"/>
                </a:solidFill>
              </a:rPr>
              <a:t>(A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EXCLUSIVE</a:t>
            </a:r>
            <a:r>
              <a:rPr lang="en-US" sz="1600" dirty="0">
                <a:solidFill>
                  <a:srgbClr val="FF0000"/>
                </a:solidFill>
              </a:rPr>
              <a:t>(B</a:t>
            </a:r>
            <a:r>
              <a:rPr lang="en-US" sz="1600" dirty="0" smtClean="0">
                <a:solidFill>
                  <a:srgbClr val="FF0000"/>
                </a:solidFill>
              </a:rPr>
              <a:t>)</a:t>
            </a:r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57257" y="3889699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(A)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14158" y="4343400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128829" y="4663412"/>
            <a:ext cx="0" cy="22579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57257" y="4135716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(B)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4516452" y="4593997"/>
            <a:ext cx="1194159" cy="36376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81470" y="6336268"/>
            <a:ext cx="2703882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Not allowed with </a:t>
            </a:r>
            <a:r>
              <a:rPr lang="en-US" i="1" dirty="0" smtClean="0"/>
              <a:t>strict</a:t>
            </a:r>
            <a:r>
              <a:rPr lang="en-US" dirty="0" smtClean="0"/>
              <a:t> 2PL</a:t>
            </a:r>
            <a:endParaRPr lang="en-US" dirty="0"/>
          </a:p>
        </p:txBody>
      </p:sp>
      <p:cxnSp>
        <p:nvCxnSpPr>
          <p:cNvPr id="4" name="Straight Arrow Connector 3"/>
          <p:cNvCxnSpPr>
            <a:stCxn id="31" idx="4"/>
            <a:endCxn id="2" idx="0"/>
          </p:cNvCxnSpPr>
          <p:nvPr/>
        </p:nvCxnSpPr>
        <p:spPr>
          <a:xfrm flipH="1">
            <a:off x="4433411" y="4957757"/>
            <a:ext cx="680121" cy="1378511"/>
          </a:xfrm>
          <a:prstGeom prst="straightConnector1">
            <a:avLst/>
          </a:prstGeom>
          <a:ln w="22225"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03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7762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Resolving WR Conflicts: </a:t>
            </a:r>
            <a:r>
              <a:rPr lang="en-US" i="1" dirty="0">
                <a:ea typeface="ＭＳ Ｐゴシック" pitchFamily="34" charset="-128"/>
              </a:rPr>
              <a:t>Revisit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8621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/>
              <a:t>Suppose that T1 and T2 actions are </a:t>
            </a:r>
            <a:r>
              <a:rPr lang="en-US" sz="2400" i="1" dirty="0" smtClean="0"/>
              <a:t>interleaved</a:t>
            </a:r>
            <a:r>
              <a:rPr lang="en-US" sz="2400" dirty="0" smtClean="0"/>
              <a:t>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T2 adds 6% interest to accounts A and B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T1 credits $100 to account B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T1 and T2 can be represented by the following schedule: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016554" y="336277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54554" y="359137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47542" y="32602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136058" y="32640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81507" y="3574956"/>
            <a:ext cx="84510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0497" y="359137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8" y="6097728"/>
            <a:ext cx="219964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Exposes WR Anomaly</a:t>
            </a:r>
            <a:endParaRPr lang="en-US" dirty="0"/>
          </a:p>
        </p:txBody>
      </p:sp>
      <p:sp>
        <p:nvSpPr>
          <p:cNvPr id="24" name="Striped Right Arrow 23"/>
          <p:cNvSpPr/>
          <p:nvPr/>
        </p:nvSpPr>
        <p:spPr>
          <a:xfrm>
            <a:off x="3429000" y="4264839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5757257" y="3404790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995257" y="3633390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88245" y="33022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876761" y="3306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495800" y="3616972"/>
            <a:ext cx="11888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EXCLUSIVE</a:t>
            </a:r>
            <a:r>
              <a:rPr lang="en-US" sz="1400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EXCLUSIVE</a:t>
            </a:r>
            <a:r>
              <a:rPr lang="en-US" sz="1400" dirty="0" smtClean="0">
                <a:solidFill>
                  <a:srgbClr val="FF0000"/>
                </a:solidFill>
              </a:rPr>
              <a:t>(B)</a:t>
            </a:r>
            <a:endParaRPr lang="en-US" sz="14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57730" y="3889699"/>
            <a:ext cx="1260217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b="1" dirty="0" smtClean="0">
              <a:solidFill>
                <a:srgbClr val="FF0000"/>
              </a:solidFill>
            </a:endParaRPr>
          </a:p>
          <a:p>
            <a:endParaRPr lang="en-US" sz="1400" b="1" dirty="0" smtClean="0">
              <a:solidFill>
                <a:srgbClr val="FF0000"/>
              </a:solidFill>
            </a:endParaRPr>
          </a:p>
          <a:p>
            <a:r>
              <a:rPr lang="en-US" sz="1500" b="1" dirty="0" smtClean="0">
                <a:solidFill>
                  <a:srgbClr val="FF0000"/>
                </a:solidFill>
              </a:rPr>
              <a:t>EXCLUSIVE</a:t>
            </a:r>
            <a:r>
              <a:rPr lang="en-US" sz="1500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sz="1500" b="1" dirty="0">
                <a:solidFill>
                  <a:srgbClr val="FF0000"/>
                </a:solidFill>
              </a:rPr>
              <a:t>EXCLUSIVE</a:t>
            </a:r>
            <a:r>
              <a:rPr lang="en-US" sz="1500" dirty="0">
                <a:solidFill>
                  <a:srgbClr val="FF0000"/>
                </a:solidFill>
              </a:rPr>
              <a:t>(B</a:t>
            </a:r>
            <a:r>
              <a:rPr lang="en-US" sz="1500" dirty="0" smtClean="0">
                <a:solidFill>
                  <a:srgbClr val="FF0000"/>
                </a:solidFill>
              </a:rPr>
              <a:t>)</a:t>
            </a:r>
            <a:endParaRPr lang="en-US" sz="1500" dirty="0">
              <a:solidFill>
                <a:srgbClr val="FF0000"/>
              </a:solidFill>
            </a:endParaRPr>
          </a:p>
          <a:p>
            <a:r>
              <a:rPr lang="en-US" sz="1500" dirty="0" smtClean="0"/>
              <a:t>R(A)</a:t>
            </a:r>
          </a:p>
          <a:p>
            <a:r>
              <a:rPr lang="en-US" sz="1500" dirty="0" smtClean="0"/>
              <a:t>W(A)</a:t>
            </a:r>
          </a:p>
          <a:p>
            <a:r>
              <a:rPr lang="en-US" sz="1500" dirty="0" smtClean="0"/>
              <a:t>R(B)</a:t>
            </a:r>
          </a:p>
          <a:p>
            <a:r>
              <a:rPr lang="en-US" sz="1500" dirty="0" smtClean="0"/>
              <a:t>W(B)</a:t>
            </a:r>
          </a:p>
          <a:p>
            <a:r>
              <a:rPr lang="en-US" sz="1500" dirty="0" smtClean="0"/>
              <a:t>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57257" y="3889699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(A)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14158" y="4635795"/>
            <a:ext cx="63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Wait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128829" y="4955807"/>
            <a:ext cx="0" cy="22579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57257" y="4135716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Lock</a:t>
            </a:r>
            <a:r>
              <a:rPr lang="en-US" dirty="0" smtClean="0">
                <a:solidFill>
                  <a:srgbClr val="FF0000"/>
                </a:solidFill>
              </a:rPr>
              <a:t>(B)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264962" y="3444888"/>
            <a:ext cx="1650438" cy="1510919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WR Conflict is Resolved!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64962" y="5068703"/>
            <a:ext cx="1688182" cy="1582939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But, parallelism is limited more!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6131502" y="4447701"/>
            <a:ext cx="0" cy="25935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08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2PL vs. Strict 2PL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3300" dirty="0" smtClean="0">
                <a:solidFill>
                  <a:srgbClr val="00B050"/>
                </a:solidFill>
              </a:rPr>
              <a:t>Two-Phase Locking (2PL):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 smtClean="0">
                <a:ea typeface="ＭＳ Ｐゴシック" charset="-128"/>
              </a:rPr>
              <a:t>Limits </a:t>
            </a:r>
            <a:r>
              <a:rPr lang="en-US" sz="3200" dirty="0">
                <a:ea typeface="ＭＳ Ｐゴシック" charset="-128"/>
              </a:rPr>
              <a:t>concurrency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 smtClean="0">
                <a:ea typeface="ＭＳ Ｐゴシック" charset="-128"/>
              </a:rPr>
              <a:t>May </a:t>
            </a:r>
            <a:r>
              <a:rPr lang="en-US" sz="3200" dirty="0">
                <a:ea typeface="ＭＳ Ｐゴシック" charset="-128"/>
              </a:rPr>
              <a:t>lead to deadlocks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ea typeface="ＭＳ Ｐゴシック" charset="-128"/>
              </a:rPr>
              <a:t>May have ‘dirty reads’ 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sz="3300" dirty="0" smtClean="0">
                <a:solidFill>
                  <a:srgbClr val="00B050"/>
                </a:solidFill>
              </a:rPr>
              <a:t>Strict 2PL: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ea typeface="ＭＳ Ｐゴシック" charset="-128"/>
              </a:rPr>
              <a:t>Limits concurrency more </a:t>
            </a:r>
            <a:r>
              <a:rPr lang="en-US" sz="3200" dirty="0" smtClean="0">
                <a:ea typeface="ＭＳ Ｐゴシック" charset="-128"/>
              </a:rPr>
              <a:t/>
            </a:r>
            <a:br>
              <a:rPr lang="en-US" sz="3200" dirty="0" smtClean="0">
                <a:ea typeface="ＭＳ Ｐゴシック" charset="-128"/>
              </a:rPr>
            </a:br>
            <a:r>
              <a:rPr lang="en-US" sz="3200" dirty="0" smtClean="0">
                <a:ea typeface="ＭＳ Ｐゴシック" charset="-128"/>
              </a:rPr>
              <a:t>(</a:t>
            </a:r>
            <a:r>
              <a:rPr lang="en-US" sz="3200" i="1" dirty="0" smtClean="0">
                <a:ea typeface="ＭＳ Ｐゴシック" charset="-128"/>
              </a:rPr>
              <a:t>but</a:t>
            </a:r>
            <a:r>
              <a:rPr lang="en-US" sz="3200" dirty="0" smtClean="0">
                <a:ea typeface="ＭＳ Ｐゴシック" charset="-128"/>
              </a:rPr>
              <a:t>, actions of different </a:t>
            </a:r>
            <a:br>
              <a:rPr lang="en-US" sz="3200" dirty="0" smtClean="0">
                <a:ea typeface="ＭＳ Ｐゴシック" charset="-128"/>
              </a:rPr>
            </a:br>
            <a:r>
              <a:rPr lang="en-US" sz="3200" dirty="0" smtClean="0">
                <a:ea typeface="ＭＳ Ｐゴシック" charset="-128"/>
              </a:rPr>
              <a:t>transactions can still be interleaved)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 smtClean="0">
                <a:ea typeface="ＭＳ Ｐゴシック" charset="-128"/>
              </a:rPr>
              <a:t>May </a:t>
            </a:r>
            <a:r>
              <a:rPr lang="en-US" sz="3200" dirty="0">
                <a:ea typeface="ＭＳ Ｐゴシック" charset="-128"/>
              </a:rPr>
              <a:t>still lead to </a:t>
            </a:r>
            <a:r>
              <a:rPr lang="en-US" sz="3200" dirty="0" smtClean="0">
                <a:ea typeface="ＭＳ Ｐゴシック" charset="-128"/>
              </a:rPr>
              <a:t>deadlocks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 smtClean="0">
                <a:ea typeface="ＭＳ Ｐゴシック" charset="-128"/>
              </a:rPr>
              <a:t>Avoids </a:t>
            </a:r>
            <a:r>
              <a:rPr lang="en-US" sz="3200" dirty="0">
                <a:ea typeface="ＭＳ Ｐゴシック" charset="-128"/>
              </a:rPr>
              <a:t>‘dirty reads</a:t>
            </a:r>
            <a:r>
              <a:rPr lang="en-US" sz="3200" dirty="0" smtClean="0">
                <a:ea typeface="ＭＳ Ｐゴシック" charset="-128"/>
              </a:rPr>
              <a:t>’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934337" y="1397952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172337" y="1626552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65325" y="1295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053841" y="12992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596680" y="1610134"/>
            <a:ext cx="130625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SHARED(A)</a:t>
            </a:r>
          </a:p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>
                <a:solidFill>
                  <a:srgbClr val="FF0000"/>
                </a:solidFill>
              </a:rPr>
              <a:t>EXCLUSIVE(C)</a:t>
            </a:r>
          </a:p>
          <a:p>
            <a:r>
              <a:rPr lang="en-US" sz="1600" dirty="0" smtClean="0"/>
              <a:t>R(C)</a:t>
            </a:r>
          </a:p>
          <a:p>
            <a:r>
              <a:rPr lang="en-US" sz="1600" dirty="0" smtClean="0"/>
              <a:t>W(C)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8280" y="1626552"/>
            <a:ext cx="141372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>
                <a:solidFill>
                  <a:srgbClr val="FF0000"/>
                </a:solidFill>
              </a:rPr>
              <a:t>SHARED(A)</a:t>
            </a:r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>
                <a:solidFill>
                  <a:srgbClr val="FF0000"/>
                </a:solidFill>
              </a:rPr>
              <a:t>EXECLUSIVE(B)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2674" y="4222093"/>
            <a:ext cx="2937720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 Schedule with </a:t>
            </a:r>
            <a:r>
              <a:rPr lang="en-US" b="1" i="1" dirty="0" smtClean="0"/>
              <a:t>Strict 2PL </a:t>
            </a:r>
            <a:br>
              <a:rPr lang="en-US" b="1" i="1" dirty="0" smtClean="0"/>
            </a:br>
            <a:r>
              <a:rPr lang="en-US" b="1" dirty="0" smtClean="0"/>
              <a:t>and </a:t>
            </a:r>
            <a:r>
              <a:rPr lang="en-US" b="1" i="1" dirty="0" smtClean="0"/>
              <a:t>Interleaved Actions</a:t>
            </a:r>
            <a:endParaRPr lang="en-US" b="1" i="1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502674" y="1295400"/>
            <a:ext cx="0" cy="292669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502674" y="1295400"/>
            <a:ext cx="294402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8446698" y="1299236"/>
            <a:ext cx="0" cy="292669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02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Schedules with </a:t>
            </a:r>
            <a:r>
              <a:rPr lang="en-US" i="1" dirty="0" smtClean="0">
                <a:ea typeface="ＭＳ Ｐゴシック" pitchFamily="34" charset="-128"/>
              </a:rPr>
              <a:t>Aborted</a:t>
            </a:r>
            <a:r>
              <a:rPr lang="en-US" dirty="0" smtClean="0">
                <a:ea typeface="ＭＳ Ｐゴシック" pitchFamily="34" charset="-128"/>
              </a:rPr>
              <a:t> Transactions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T2 adds 6% interest to accounts A and </a:t>
            </a:r>
            <a:r>
              <a:rPr lang="en-US" sz="2200" dirty="0" smtClean="0"/>
              <a:t>B, and commits</a:t>
            </a:r>
            <a:endParaRPr lang="en-US" sz="2200" dirty="0"/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</a:t>
            </a:r>
            <a:r>
              <a:rPr lang="en-US" sz="2200" dirty="0" smtClean="0"/>
              <a:t>is aborted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4370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7230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41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449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320442" y="4455886"/>
            <a:ext cx="66075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Abort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7230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0" y="4594429"/>
            <a:ext cx="557370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T2 read a value for A that should </a:t>
            </a:r>
            <a:r>
              <a:rPr lang="en-US" dirty="0"/>
              <a:t>have never been </a:t>
            </a:r>
            <a:r>
              <a:rPr lang="en-US" dirty="0" smtClean="0"/>
              <a:t>there!</a:t>
            </a:r>
            <a:endParaRPr lang="en-US" dirty="0"/>
          </a:p>
        </p:txBody>
      </p:sp>
      <p:sp>
        <p:nvSpPr>
          <p:cNvPr id="29" name="Rounded Rectangle 28"/>
          <p:cNvSpPr/>
          <p:nvPr/>
        </p:nvSpPr>
        <p:spPr>
          <a:xfrm>
            <a:off x="3124200" y="5127612"/>
            <a:ext cx="5408597" cy="815987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How can we deal with the situation, assuming T2 </a:t>
            </a:r>
            <a:r>
              <a:rPr lang="en-US" sz="2000" i="1" u="sng" dirty="0" smtClean="0">
                <a:solidFill>
                  <a:schemeClr val="bg1"/>
                </a:solidFill>
              </a:rPr>
              <a:t>had not yet committed</a:t>
            </a:r>
            <a:r>
              <a:rPr lang="en-US" sz="2000" dirty="0" smtClean="0">
                <a:solidFill>
                  <a:schemeClr val="bg1"/>
                </a:solidFill>
              </a:rPr>
              <a:t>?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021222" y="4985252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338704" y="4724400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25" idx="6"/>
          </p:cNvCxnSpPr>
          <p:nvPr/>
        </p:nvCxnSpPr>
        <p:spPr>
          <a:xfrm>
            <a:off x="1905000" y="4866762"/>
            <a:ext cx="231058" cy="193999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47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2" grpId="0" animBg="1"/>
      <p:bldP spid="29" grpId="0" animBg="1"/>
      <p:bldP spid="5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Schedules with </a:t>
            </a:r>
            <a:r>
              <a:rPr lang="en-US" i="1" dirty="0" smtClean="0">
                <a:ea typeface="ＭＳ Ｐゴシック" pitchFamily="34" charset="-128"/>
              </a:rPr>
              <a:t>Aborted</a:t>
            </a:r>
            <a:r>
              <a:rPr lang="en-US" dirty="0" smtClean="0">
                <a:ea typeface="ＭＳ Ｐゴシック" pitchFamily="34" charset="-128"/>
              </a:rPr>
              <a:t> Transactions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T2 adds 6% interest to accounts A and </a:t>
            </a:r>
            <a:r>
              <a:rPr lang="en-US" sz="2200" dirty="0" smtClean="0"/>
              <a:t>B, and commits</a:t>
            </a:r>
            <a:endParaRPr lang="en-US" sz="2200" dirty="0"/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</a:t>
            </a:r>
            <a:r>
              <a:rPr lang="en-US" sz="2200" dirty="0" smtClean="0"/>
              <a:t>is aborted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4370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7230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41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449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320442" y="4455886"/>
            <a:ext cx="66075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Abort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7230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5127613"/>
            <a:ext cx="5791200" cy="511187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We can </a:t>
            </a:r>
            <a:r>
              <a:rPr lang="en-US" sz="2000" i="1" u="sng" dirty="0" smtClean="0">
                <a:solidFill>
                  <a:schemeClr val="bg1"/>
                </a:solidFill>
              </a:rPr>
              <a:t>cascade</a:t>
            </a:r>
            <a:r>
              <a:rPr lang="en-US" sz="2000" dirty="0" smtClean="0">
                <a:solidFill>
                  <a:schemeClr val="bg1"/>
                </a:solidFill>
              </a:rPr>
              <a:t> the abort of T1 by aborting T2 as well!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021222" y="4985252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338704" y="4724400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25" idx="6"/>
          </p:cNvCxnSpPr>
          <p:nvPr/>
        </p:nvCxnSpPr>
        <p:spPr>
          <a:xfrm>
            <a:off x="1905000" y="4866762"/>
            <a:ext cx="231058" cy="193999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71800" y="5813413"/>
            <a:ext cx="5791200" cy="704576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This “cascading process” can be </a:t>
            </a:r>
            <a:r>
              <a:rPr lang="en-US" sz="2000" i="1" dirty="0" smtClean="0">
                <a:solidFill>
                  <a:schemeClr val="tx1"/>
                </a:solidFill>
              </a:rPr>
              <a:t>recursively</a:t>
            </a:r>
            <a:r>
              <a:rPr lang="en-US" sz="2000" dirty="0" smtClean="0">
                <a:solidFill>
                  <a:schemeClr val="tx1"/>
                </a:solidFill>
              </a:rPr>
              <a:t> applied to any transaction that read A written by T1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48000" y="4594429"/>
            <a:ext cx="557370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T2 read a value for A that should </a:t>
            </a:r>
            <a:r>
              <a:rPr lang="en-US" dirty="0"/>
              <a:t>have never been </a:t>
            </a:r>
            <a:r>
              <a:rPr lang="en-US" dirty="0" smtClean="0"/>
              <a:t>there!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6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Schedules with </a:t>
            </a:r>
            <a:r>
              <a:rPr lang="en-US" i="1" dirty="0" smtClean="0">
                <a:ea typeface="ＭＳ Ｐゴシック" pitchFamily="34" charset="-128"/>
              </a:rPr>
              <a:t>Aborted</a:t>
            </a:r>
            <a:r>
              <a:rPr lang="en-US" dirty="0" smtClean="0">
                <a:ea typeface="ＭＳ Ｐゴシック" pitchFamily="34" charset="-128"/>
              </a:rPr>
              <a:t> Transactions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T2 adds 6% interest to accounts A and </a:t>
            </a:r>
            <a:r>
              <a:rPr lang="en-US" sz="2200" dirty="0" smtClean="0"/>
              <a:t>B, and commits</a:t>
            </a:r>
            <a:endParaRPr lang="en-US" sz="2200" dirty="0"/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</a:t>
            </a:r>
            <a:r>
              <a:rPr lang="en-US" sz="2200" dirty="0" smtClean="0"/>
              <a:t>is aborted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4370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7230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41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449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320442" y="4455886"/>
            <a:ext cx="66075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Abort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7230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4200" y="5127612"/>
            <a:ext cx="5408597" cy="815987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How can we deal with the situation, assuming T2 </a:t>
            </a:r>
            <a:r>
              <a:rPr lang="en-US" sz="2000" i="1" u="sng" dirty="0" smtClean="0">
                <a:solidFill>
                  <a:schemeClr val="bg1"/>
                </a:solidFill>
              </a:rPr>
              <a:t>had actually committed</a:t>
            </a:r>
            <a:r>
              <a:rPr lang="en-US" sz="2000" dirty="0" smtClean="0">
                <a:solidFill>
                  <a:schemeClr val="bg1"/>
                </a:solidFill>
              </a:rPr>
              <a:t>?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021222" y="4985252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338704" y="4724400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25" idx="6"/>
          </p:cNvCxnSpPr>
          <p:nvPr/>
        </p:nvCxnSpPr>
        <p:spPr>
          <a:xfrm>
            <a:off x="1905000" y="4866762"/>
            <a:ext cx="231058" cy="193999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09957" y="6096000"/>
            <a:ext cx="5422840" cy="511187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The schedule is indeed </a:t>
            </a:r>
            <a:r>
              <a:rPr lang="en-US" sz="2000" i="1" u="sng" dirty="0" smtClean="0">
                <a:solidFill>
                  <a:schemeClr val="bg1"/>
                </a:solidFill>
              </a:rPr>
              <a:t>unrecoverable</a:t>
            </a:r>
            <a:r>
              <a:rPr lang="en-US" sz="2000" dirty="0" smtClean="0">
                <a:solidFill>
                  <a:schemeClr val="bg1"/>
                </a:solidFill>
              </a:rPr>
              <a:t>!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48000" y="4594429"/>
            <a:ext cx="557370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T2 read a value for A that should </a:t>
            </a:r>
            <a:r>
              <a:rPr lang="en-US" dirty="0"/>
              <a:t>have never been </a:t>
            </a:r>
            <a:r>
              <a:rPr lang="en-US" dirty="0" smtClean="0"/>
              <a:t>there!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27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Schedules with </a:t>
            </a:r>
            <a:r>
              <a:rPr lang="en-US" i="1" dirty="0" smtClean="0">
                <a:ea typeface="ＭＳ Ｐゴシック" pitchFamily="34" charset="-128"/>
              </a:rPr>
              <a:t>Aborted</a:t>
            </a:r>
            <a:r>
              <a:rPr lang="en-US" dirty="0" smtClean="0">
                <a:ea typeface="ＭＳ Ｐゴシック" pitchFamily="34" charset="-128"/>
              </a:rPr>
              <a:t> Transactions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T2 adds 6% interest to accounts A and </a:t>
            </a:r>
            <a:r>
              <a:rPr lang="en-US" sz="2200" dirty="0" smtClean="0"/>
              <a:t>B, and commits</a:t>
            </a:r>
            <a:endParaRPr lang="en-US" sz="2200" dirty="0"/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</a:t>
            </a:r>
            <a:r>
              <a:rPr lang="en-US" sz="2200" dirty="0" smtClean="0"/>
              <a:t>is aborted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4370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7230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41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449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320442" y="4455886"/>
            <a:ext cx="66075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Abort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7230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4200" y="5127612"/>
            <a:ext cx="5408597" cy="968388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For a schedule to be </a:t>
            </a:r>
            <a:r>
              <a:rPr lang="en-US" sz="2000" i="1" dirty="0" smtClean="0">
                <a:solidFill>
                  <a:schemeClr val="tx1"/>
                </a:solidFill>
              </a:rPr>
              <a:t>recoverable</a:t>
            </a:r>
            <a:r>
              <a:rPr lang="en-US" sz="2000" dirty="0" smtClean="0">
                <a:solidFill>
                  <a:schemeClr val="tx1"/>
                </a:solidFill>
              </a:rPr>
              <a:t>, transactions should commit only after all transactions whose changes they read commit!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021222" y="4985252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338704" y="4724400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25" idx="6"/>
          </p:cNvCxnSpPr>
          <p:nvPr/>
        </p:nvCxnSpPr>
        <p:spPr>
          <a:xfrm>
            <a:off x="1905000" y="4866762"/>
            <a:ext cx="231058" cy="193999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35594" y="6189292"/>
            <a:ext cx="5408597" cy="457201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“</a:t>
            </a:r>
            <a:r>
              <a:rPr lang="en-US" sz="2000" i="1" dirty="0" smtClean="0">
                <a:solidFill>
                  <a:schemeClr val="tx1"/>
                </a:solidFill>
              </a:rPr>
              <a:t>Recoverable schedules</a:t>
            </a:r>
            <a:r>
              <a:rPr lang="en-US" sz="2000" dirty="0" smtClean="0">
                <a:solidFill>
                  <a:schemeClr val="tx1"/>
                </a:solidFill>
              </a:rPr>
              <a:t>” avoid </a:t>
            </a:r>
            <a:r>
              <a:rPr lang="en-US" sz="2000" i="1" dirty="0" smtClean="0">
                <a:solidFill>
                  <a:schemeClr val="tx1"/>
                </a:solidFill>
              </a:rPr>
              <a:t>cascading aborts</a:t>
            </a:r>
            <a:r>
              <a:rPr lang="en-US" sz="2000" dirty="0" smtClean="0">
                <a:solidFill>
                  <a:schemeClr val="tx1"/>
                </a:solidFill>
              </a:rPr>
              <a:t>!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8000" y="4594429"/>
            <a:ext cx="557370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T2 read a value for A that should </a:t>
            </a:r>
            <a:r>
              <a:rPr lang="en-US" dirty="0"/>
              <a:t>have never been </a:t>
            </a:r>
            <a:r>
              <a:rPr lang="en-US" dirty="0" smtClean="0"/>
              <a:t>there!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6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Schedules with </a:t>
            </a:r>
            <a:r>
              <a:rPr lang="en-US" i="1" dirty="0" smtClean="0">
                <a:ea typeface="ＭＳ Ｐゴシック" pitchFamily="34" charset="-128"/>
              </a:rPr>
              <a:t>Aborted</a:t>
            </a:r>
            <a:r>
              <a:rPr lang="en-US" dirty="0" smtClean="0">
                <a:ea typeface="ＭＳ Ｐゴシック" pitchFamily="34" charset="-128"/>
              </a:rPr>
              <a:t> Transactions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T2 adds 6% interest to accounts A and </a:t>
            </a:r>
            <a:r>
              <a:rPr lang="en-US" sz="2200" dirty="0" smtClean="0"/>
              <a:t>B, and commits</a:t>
            </a:r>
            <a:endParaRPr lang="en-US" sz="2200" dirty="0"/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</a:t>
            </a:r>
            <a:r>
              <a:rPr lang="en-US" sz="2200" dirty="0" smtClean="0"/>
              <a:t>is aborted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4370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7230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41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449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320442" y="4455886"/>
            <a:ext cx="66075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Abort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7230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4200" y="5127612"/>
            <a:ext cx="5408597" cy="484194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How can we ensure “recoverable schedules”?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021222" y="4985252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338704" y="4724400"/>
            <a:ext cx="566296" cy="284723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25" idx="6"/>
          </p:cNvCxnSpPr>
          <p:nvPr/>
        </p:nvCxnSpPr>
        <p:spPr>
          <a:xfrm>
            <a:off x="1905000" y="4866762"/>
            <a:ext cx="231058" cy="193999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05684" y="5773301"/>
            <a:ext cx="5408597" cy="457201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By using Strict 2PL!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8000" y="4594429"/>
            <a:ext cx="557370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T2 read a value for A that should </a:t>
            </a:r>
            <a:r>
              <a:rPr lang="en-US" dirty="0"/>
              <a:t>have never been </a:t>
            </a:r>
            <a:r>
              <a:rPr lang="en-US" dirty="0" smtClean="0"/>
              <a:t>there!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91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Schedules with </a:t>
            </a:r>
            <a:r>
              <a:rPr lang="en-US" i="1" dirty="0" smtClean="0">
                <a:ea typeface="ＭＳ Ｐゴシック" pitchFamily="34" charset="-128"/>
              </a:rPr>
              <a:t>Aborted</a:t>
            </a:r>
            <a:r>
              <a:rPr lang="en-US" dirty="0" smtClean="0">
                <a:ea typeface="ＭＳ Ｐゴシック" pitchFamily="34" charset="-128"/>
              </a:rPr>
              <a:t> Transactions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34454"/>
            <a:ext cx="863876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Suppose that T1 and T2 actions are interleaved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deducts $100 from account A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T2 adds 6% interest to accounts A and </a:t>
            </a:r>
            <a:r>
              <a:rPr lang="en-US" sz="2200" dirty="0" smtClean="0"/>
              <a:t>B, and commits</a:t>
            </a:r>
            <a:endParaRPr lang="en-US" sz="2200" dirty="0"/>
          </a:p>
          <a:p>
            <a:pPr lvl="1">
              <a:buFont typeface="Wingdings" pitchFamily="2" charset="2"/>
              <a:buChar char="§"/>
            </a:pPr>
            <a:r>
              <a:rPr lang="en-US" sz="2200" dirty="0"/>
              <a:t>T1 </a:t>
            </a:r>
            <a:r>
              <a:rPr lang="en-US" sz="2200" dirty="0" smtClean="0"/>
              <a:t>is aborted</a:t>
            </a: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T1 and T2 can be represented by the following schedule: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16554" y="424370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54554" y="447230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542" y="4141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36058" y="41449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320442" y="4455886"/>
            <a:ext cx="66075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Abort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497" y="4472304"/>
            <a:ext cx="84510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R(A)</a:t>
            </a:r>
          </a:p>
          <a:p>
            <a:r>
              <a:rPr lang="en-US" sz="1600" dirty="0" smtClean="0"/>
              <a:t>W(A)</a:t>
            </a:r>
          </a:p>
          <a:p>
            <a:r>
              <a:rPr lang="en-US" sz="1600" dirty="0" smtClean="0"/>
              <a:t>R(B)</a:t>
            </a:r>
          </a:p>
          <a:p>
            <a:r>
              <a:rPr lang="en-US" sz="1600" dirty="0" smtClean="0"/>
              <a:t>W(B)</a:t>
            </a:r>
          </a:p>
          <a:p>
            <a:r>
              <a:rPr lang="en-US" sz="1600" dirty="0" smtClean="0"/>
              <a:t>Commit</a:t>
            </a:r>
          </a:p>
        </p:txBody>
      </p:sp>
      <p:sp>
        <p:nvSpPr>
          <p:cNvPr id="17" name="Striped Right Arrow 16"/>
          <p:cNvSpPr/>
          <p:nvPr/>
        </p:nvSpPr>
        <p:spPr>
          <a:xfrm>
            <a:off x="3200400" y="4800600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5866159" y="3810714"/>
            <a:ext cx="0" cy="16111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104159" y="4039314"/>
            <a:ext cx="1447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97147" y="3708162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 smtClean="0"/>
              <a:t>T1</a:t>
            </a:r>
            <a:endParaRPr lang="en-US" sz="15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985663" y="3711998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 smtClean="0"/>
              <a:t>T2</a:t>
            </a:r>
            <a:endParaRPr lang="en-US" sz="15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604702" y="4022896"/>
            <a:ext cx="12602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EXCLUSIVE</a:t>
            </a:r>
            <a:r>
              <a:rPr lang="en-US" sz="1500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sz="1500" dirty="0" smtClean="0"/>
              <a:t>R(A)</a:t>
            </a:r>
          </a:p>
          <a:p>
            <a:r>
              <a:rPr lang="en-US" sz="1500" dirty="0" smtClean="0"/>
              <a:t>W(A)</a:t>
            </a:r>
          </a:p>
          <a:p>
            <a:endParaRPr lang="en-US" sz="1500" dirty="0" smtClean="0"/>
          </a:p>
          <a:p>
            <a:r>
              <a:rPr lang="en-US" sz="1500" dirty="0" smtClean="0"/>
              <a:t>Abort</a:t>
            </a:r>
          </a:p>
          <a:p>
            <a:r>
              <a:rPr lang="en-US" sz="1500" b="1" dirty="0" smtClean="0">
                <a:solidFill>
                  <a:srgbClr val="FF0000"/>
                </a:solidFill>
              </a:rPr>
              <a:t>UNDO(T1)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71" y="4295623"/>
            <a:ext cx="1260217" cy="263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500" dirty="0" smtClean="0"/>
          </a:p>
          <a:p>
            <a:endParaRPr lang="en-US" sz="1500" dirty="0"/>
          </a:p>
          <a:p>
            <a:endParaRPr lang="en-US" sz="1500" dirty="0" smtClean="0"/>
          </a:p>
          <a:p>
            <a:endParaRPr lang="en-US" sz="1500" dirty="0"/>
          </a:p>
          <a:p>
            <a:r>
              <a:rPr lang="en-US" sz="1500" b="1" dirty="0" smtClean="0">
                <a:solidFill>
                  <a:srgbClr val="FF0000"/>
                </a:solidFill>
              </a:rPr>
              <a:t>EXCLUSIVE</a:t>
            </a:r>
            <a:r>
              <a:rPr lang="en-US" sz="1500" dirty="0" smtClean="0">
                <a:solidFill>
                  <a:srgbClr val="FF0000"/>
                </a:solidFill>
              </a:rPr>
              <a:t>(A</a:t>
            </a:r>
            <a:r>
              <a:rPr lang="en-US" sz="1500" dirty="0">
                <a:solidFill>
                  <a:srgbClr val="FF0000"/>
                </a:solidFill>
              </a:rPr>
              <a:t>)</a:t>
            </a:r>
          </a:p>
          <a:p>
            <a:r>
              <a:rPr lang="en-US" sz="1500" dirty="0" smtClean="0"/>
              <a:t>R(A)</a:t>
            </a:r>
          </a:p>
          <a:p>
            <a:r>
              <a:rPr lang="en-US" sz="1500" dirty="0" smtClean="0"/>
              <a:t>W(A)</a:t>
            </a:r>
          </a:p>
          <a:p>
            <a:r>
              <a:rPr lang="en-US" sz="1500" b="1" dirty="0">
                <a:solidFill>
                  <a:srgbClr val="FF0000"/>
                </a:solidFill>
              </a:rPr>
              <a:t>EXCLUSIVE</a:t>
            </a:r>
            <a:r>
              <a:rPr lang="en-US" sz="1500" dirty="0">
                <a:solidFill>
                  <a:srgbClr val="FF0000"/>
                </a:solidFill>
              </a:rPr>
              <a:t>(B</a:t>
            </a:r>
            <a:r>
              <a:rPr lang="en-US" sz="1500" dirty="0" smtClean="0">
                <a:solidFill>
                  <a:srgbClr val="FF0000"/>
                </a:solidFill>
              </a:rPr>
              <a:t>)</a:t>
            </a:r>
            <a:endParaRPr lang="en-US" sz="1500" dirty="0" smtClean="0"/>
          </a:p>
          <a:p>
            <a:r>
              <a:rPr lang="en-US" sz="1500" dirty="0" smtClean="0"/>
              <a:t>R(B)</a:t>
            </a:r>
          </a:p>
          <a:p>
            <a:r>
              <a:rPr lang="en-US" sz="1500" dirty="0" smtClean="0"/>
              <a:t>W(B)</a:t>
            </a:r>
          </a:p>
          <a:p>
            <a:r>
              <a:rPr lang="en-US" sz="1500" dirty="0" smtClean="0"/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4883" y="4506478"/>
            <a:ext cx="7697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Lock</a:t>
            </a:r>
            <a:r>
              <a:rPr lang="en-US" sz="1500" dirty="0" smtClean="0">
                <a:solidFill>
                  <a:srgbClr val="FF0000"/>
                </a:solidFill>
              </a:rPr>
              <a:t>(A)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23060" y="4749324"/>
            <a:ext cx="56085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Wait</a:t>
            </a:r>
            <a:endParaRPr lang="en-US" sz="15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195001" y="5018060"/>
            <a:ext cx="0" cy="22579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64962" y="4226590"/>
            <a:ext cx="1688182" cy="1582939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Cascaded aborts are avoided!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1" grpId="0"/>
      <p:bldP spid="22" grpId="0"/>
      <p:bldP spid="23" grpId="0"/>
      <p:bldP spid="24" grpId="0"/>
      <p:bldP spid="26" grpId="0"/>
      <p:bldP spid="3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780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Serializable Schedules: </a:t>
            </a:r>
            <a:r>
              <a:rPr lang="en-US" i="1" dirty="0" smtClean="0">
                <a:ea typeface="ＭＳ Ｐゴシック" pitchFamily="34" charset="-128"/>
              </a:rPr>
              <a:t>Redefined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362" y="1295400"/>
            <a:ext cx="8763000" cy="51054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Two schedules are said to be </a:t>
            </a:r>
            <a:r>
              <a:rPr lang="en-US" sz="2800" i="1" dirty="0" smtClean="0">
                <a:solidFill>
                  <a:srgbClr val="0070C0"/>
                </a:solidFill>
              </a:rPr>
              <a:t>equivalent</a:t>
            </a:r>
            <a:r>
              <a:rPr lang="en-US" sz="2800" dirty="0" smtClean="0"/>
              <a:t> if for </a:t>
            </a:r>
            <a:r>
              <a:rPr lang="en-US" sz="2800" dirty="0"/>
              <a:t>any database state, the effect </a:t>
            </a:r>
            <a:r>
              <a:rPr lang="en-US" sz="2800" dirty="0" smtClean="0"/>
              <a:t>of </a:t>
            </a:r>
            <a:r>
              <a:rPr lang="en-US" sz="2800" dirty="0"/>
              <a:t>executing the </a:t>
            </a:r>
            <a:r>
              <a:rPr lang="en-US" sz="2800" dirty="0" smtClean="0"/>
              <a:t>1st </a:t>
            </a:r>
            <a:r>
              <a:rPr lang="en-US" sz="2800" dirty="0"/>
              <a:t>schedule is </a:t>
            </a:r>
            <a:r>
              <a:rPr lang="en-US" sz="2800" u="sng" dirty="0"/>
              <a:t>identical</a:t>
            </a:r>
            <a:r>
              <a:rPr lang="en-US" sz="2800" dirty="0"/>
              <a:t> to the effect of executing the </a:t>
            </a:r>
            <a:r>
              <a:rPr lang="en-US" sz="2800" dirty="0" smtClean="0"/>
              <a:t>2nd schedule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u="sng" dirty="0" smtClean="0"/>
              <a:t>Previously</a:t>
            </a:r>
            <a:r>
              <a:rPr lang="en-US" sz="2800" dirty="0" smtClean="0"/>
              <a:t>: a </a:t>
            </a:r>
            <a:r>
              <a:rPr lang="en-US" sz="2800" i="1" dirty="0" smtClean="0">
                <a:solidFill>
                  <a:srgbClr val="FF0000"/>
                </a:solidFill>
              </a:rPr>
              <a:t>serializable schedule </a:t>
            </a:r>
            <a:r>
              <a:rPr lang="en-US" sz="2800" dirty="0" smtClean="0"/>
              <a:t>is a </a:t>
            </a:r>
            <a:r>
              <a:rPr lang="en-US" sz="2800" dirty="0"/>
              <a:t>schedule that is equivalent to </a:t>
            </a:r>
            <a:r>
              <a:rPr lang="en-US" sz="2800" dirty="0" smtClean="0"/>
              <a:t>a serial schedule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u="sng" dirty="0" smtClean="0"/>
              <a:t>Now</a:t>
            </a:r>
            <a:r>
              <a:rPr lang="en-US" sz="2800" dirty="0" smtClean="0"/>
              <a:t>: </a:t>
            </a:r>
            <a:r>
              <a:rPr lang="en-US" sz="2800" dirty="0"/>
              <a:t>a </a:t>
            </a:r>
            <a:r>
              <a:rPr lang="en-US" sz="2800" i="1" dirty="0">
                <a:solidFill>
                  <a:srgbClr val="FF0000"/>
                </a:solidFill>
              </a:rPr>
              <a:t>serializable schedule </a:t>
            </a:r>
            <a:r>
              <a:rPr lang="en-US" sz="2800" dirty="0"/>
              <a:t>is a schedule that is equivalent to a serial </a:t>
            </a:r>
            <a:r>
              <a:rPr lang="en-US" sz="2800" dirty="0" smtClean="0"/>
              <a:t>schedule </a:t>
            </a:r>
            <a:r>
              <a:rPr lang="en-US" sz="2800" i="1" u="sng" dirty="0" smtClean="0"/>
              <a:t>over a set of committed transactions</a:t>
            </a:r>
          </a:p>
          <a:p>
            <a:pPr>
              <a:buFont typeface="Wingdings" pitchFamily="2" charset="2"/>
              <a:buChar char="§"/>
            </a:pPr>
            <a:endParaRPr lang="en-US" sz="2800" i="1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This definition captures </a:t>
            </a:r>
            <a:r>
              <a:rPr lang="en-US" sz="2800" i="1" dirty="0" smtClean="0">
                <a:solidFill>
                  <a:srgbClr val="0070C0"/>
                </a:solidFill>
              </a:rPr>
              <a:t>serializability</a:t>
            </a:r>
            <a:r>
              <a:rPr lang="en-US" sz="2800" dirty="0" smtClean="0"/>
              <a:t> as well as </a:t>
            </a:r>
            <a:r>
              <a:rPr lang="en-US" sz="2800" i="1" dirty="0" smtClean="0">
                <a:solidFill>
                  <a:srgbClr val="0070C0"/>
                </a:solidFill>
              </a:rPr>
              <a:t>recoverability</a:t>
            </a:r>
            <a:endParaRPr lang="en-US" sz="2800" i="1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16869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Lock Conversions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257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A transaction may need to change the lock it already acquires on an object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From Shared to Exclusive</a:t>
            </a:r>
          </a:p>
          <a:p>
            <a:pPr lvl="2">
              <a:buFont typeface="Wingdings" pitchFamily="2" charset="2"/>
              <a:buChar char="§"/>
            </a:pPr>
            <a:r>
              <a:rPr lang="en-US" sz="2600" dirty="0" smtClean="0"/>
              <a:t>This is referred to as </a:t>
            </a:r>
            <a:r>
              <a:rPr lang="en-US" sz="2600" i="1" dirty="0" smtClean="0">
                <a:solidFill>
                  <a:srgbClr val="0070C0"/>
                </a:solidFill>
              </a:rPr>
              <a:t>lock upgrade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From Exclusive to Shared</a:t>
            </a:r>
          </a:p>
          <a:p>
            <a:pPr lvl="2">
              <a:buFont typeface="Wingdings" pitchFamily="2" charset="2"/>
              <a:buChar char="§"/>
            </a:pPr>
            <a:r>
              <a:rPr lang="en-US" sz="2600" dirty="0" smtClean="0"/>
              <a:t>This is referred to as </a:t>
            </a:r>
            <a:r>
              <a:rPr lang="en-US" sz="2600" i="1" dirty="0" smtClean="0">
                <a:solidFill>
                  <a:srgbClr val="0070C0"/>
                </a:solidFill>
              </a:rPr>
              <a:t>lock downgrade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For example, an SQL update statement might acquire a Shared lock </a:t>
            </a:r>
            <a:r>
              <a:rPr lang="en-US" sz="3000" i="1" u="sng" dirty="0" smtClean="0"/>
              <a:t>on each row</a:t>
            </a:r>
            <a:r>
              <a:rPr lang="en-US" sz="3000" dirty="0" smtClean="0"/>
              <a:t>, </a:t>
            </a:r>
            <a:r>
              <a:rPr lang="en-US" sz="3000" b="1" i="1" dirty="0" smtClean="0"/>
              <a:t>R</a:t>
            </a:r>
            <a:r>
              <a:rPr lang="en-US" sz="3000" dirty="0" smtClean="0"/>
              <a:t>, in a table and if </a:t>
            </a:r>
            <a:r>
              <a:rPr lang="en-US" sz="3000" b="1" i="1" dirty="0" smtClean="0"/>
              <a:t>R</a:t>
            </a:r>
            <a:r>
              <a:rPr lang="en-US" sz="3000" dirty="0" smtClean="0"/>
              <a:t> satisfies the condition (in the WHERE clause), an Exclusive lock must be obtained for </a:t>
            </a:r>
            <a:r>
              <a:rPr lang="en-US" sz="3000" b="1" i="1" dirty="0" smtClean="0"/>
              <a:t>R</a:t>
            </a:r>
            <a:endParaRPr lang="en-US" sz="3000" b="1" i="1" dirty="0"/>
          </a:p>
        </p:txBody>
      </p:sp>
    </p:spTree>
    <p:extLst>
      <p:ext uri="{BB962C8B-B14F-4D97-AF65-F5344CB8AC3E}">
        <p14:creationId xmlns:p14="http://schemas.microsoft.com/office/powerpoint/2010/main" val="179144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Lock Upgrades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686800" cy="54102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 lock upgrade request from a transaction </a:t>
            </a:r>
            <a:r>
              <a:rPr lang="en-US" sz="2800" b="1" i="1" dirty="0" smtClean="0"/>
              <a:t>T</a:t>
            </a:r>
            <a:r>
              <a:rPr lang="en-US" sz="2800" dirty="0" smtClean="0"/>
              <a:t> on object </a:t>
            </a:r>
            <a:r>
              <a:rPr lang="en-US" sz="2800" b="1" i="1" dirty="0" smtClean="0"/>
              <a:t>O</a:t>
            </a:r>
            <a:r>
              <a:rPr lang="en-US" sz="2800" dirty="0" smtClean="0"/>
              <a:t> must be handled specially by: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Granting an Exclusive lock to </a:t>
            </a:r>
            <a:r>
              <a:rPr lang="en-US" sz="2600" b="1" i="1" dirty="0" smtClean="0"/>
              <a:t>T</a:t>
            </a:r>
            <a:r>
              <a:rPr lang="en-US" sz="2600" dirty="0" smtClean="0"/>
              <a:t> immediately </a:t>
            </a:r>
            <a:r>
              <a:rPr lang="en-US" sz="2600" i="1" dirty="0" smtClean="0"/>
              <a:t>if no other transaction holds a lock on </a:t>
            </a:r>
            <a:r>
              <a:rPr lang="en-US" sz="2600" b="1" dirty="0" smtClean="0"/>
              <a:t>O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Otherwise, queuing </a:t>
            </a:r>
            <a:r>
              <a:rPr lang="en-US" sz="2600" b="1" i="1" dirty="0" smtClean="0"/>
              <a:t>T</a:t>
            </a:r>
            <a:r>
              <a:rPr lang="en-US" sz="2600" dirty="0" smtClean="0"/>
              <a:t> at the </a:t>
            </a:r>
            <a:r>
              <a:rPr lang="en-US" sz="2600" i="1" u="sng" dirty="0" smtClean="0">
                <a:solidFill>
                  <a:srgbClr val="FF0000"/>
                </a:solidFill>
              </a:rPr>
              <a:t>front</a:t>
            </a:r>
            <a:r>
              <a:rPr lang="en-US" sz="2600" dirty="0" smtClean="0"/>
              <a:t> of </a:t>
            </a:r>
            <a:r>
              <a:rPr lang="en-US" sz="2600" b="1" i="1" dirty="0" smtClean="0"/>
              <a:t>O</a:t>
            </a:r>
            <a:r>
              <a:rPr lang="en-US" sz="2600" dirty="0" smtClean="0"/>
              <a:t>’s queue </a:t>
            </a:r>
            <a:br>
              <a:rPr lang="en-US" sz="2600" dirty="0" smtClean="0"/>
            </a:br>
            <a:r>
              <a:rPr lang="en-US" sz="2600" dirty="0" smtClean="0"/>
              <a:t>(i.e., </a:t>
            </a:r>
            <a:r>
              <a:rPr lang="en-US" sz="2600" b="1" i="1" u="sng" dirty="0" smtClean="0"/>
              <a:t>T</a:t>
            </a:r>
            <a:r>
              <a:rPr lang="en-US" sz="2600" i="1" u="sng" dirty="0" smtClean="0"/>
              <a:t> is favored</a:t>
            </a:r>
            <a:r>
              <a:rPr lang="en-US" sz="2600" dirty="0" smtClean="0"/>
              <a:t>)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800" b="1" i="1" dirty="0" smtClean="0"/>
              <a:t>T</a:t>
            </a:r>
            <a:r>
              <a:rPr lang="en-US" sz="2800" dirty="0" smtClean="0"/>
              <a:t> is </a:t>
            </a:r>
            <a:r>
              <a:rPr lang="en-US" sz="2800" i="1" dirty="0" smtClean="0"/>
              <a:t>favored</a:t>
            </a:r>
            <a:r>
              <a:rPr lang="en-US" sz="2800" dirty="0" smtClean="0"/>
              <a:t> because it already holds a Shared lock on </a:t>
            </a:r>
            <a:r>
              <a:rPr lang="en-US" sz="2800" b="1" i="1" dirty="0" smtClean="0"/>
              <a:t>O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Queuing </a:t>
            </a:r>
            <a:r>
              <a:rPr lang="en-US" sz="2600" b="1" i="1" dirty="0" smtClean="0"/>
              <a:t>T </a:t>
            </a:r>
            <a:r>
              <a:rPr lang="en-US" sz="2600" i="1" dirty="0" smtClean="0"/>
              <a:t>in front of</a:t>
            </a:r>
            <a:r>
              <a:rPr lang="en-US" sz="2600" dirty="0" smtClean="0"/>
              <a:t> another transaction </a:t>
            </a:r>
            <a:r>
              <a:rPr lang="en-US" sz="2600" b="1" i="1" dirty="0" smtClean="0"/>
              <a:t>T’</a:t>
            </a:r>
            <a:r>
              <a:rPr lang="en-US" sz="2600" dirty="0" smtClean="0"/>
              <a:t> that holds no lock on </a:t>
            </a:r>
            <a:r>
              <a:rPr lang="en-US" sz="2600" b="1" i="1" dirty="0" smtClean="0"/>
              <a:t>O</a:t>
            </a:r>
            <a:r>
              <a:rPr lang="en-US" sz="2600" dirty="0" smtClean="0"/>
              <a:t>, but requested an Exclusive lock on </a:t>
            </a:r>
            <a:r>
              <a:rPr lang="en-US" sz="2600" b="1" i="1" dirty="0" smtClean="0"/>
              <a:t>O</a:t>
            </a:r>
            <a:r>
              <a:rPr lang="en-US" sz="2600" dirty="0" smtClean="0"/>
              <a:t> averts a deadlock!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However, if </a:t>
            </a:r>
            <a:r>
              <a:rPr lang="en-US" sz="2600" b="1" i="1" dirty="0" smtClean="0"/>
              <a:t>T</a:t>
            </a:r>
            <a:r>
              <a:rPr lang="en-US" sz="2600" dirty="0" smtClean="0"/>
              <a:t> and </a:t>
            </a:r>
            <a:r>
              <a:rPr lang="en-US" sz="2600" b="1" i="1" dirty="0" smtClean="0"/>
              <a:t>T’</a:t>
            </a:r>
            <a:r>
              <a:rPr lang="en-US" sz="2600" dirty="0" smtClean="0"/>
              <a:t> hold a Shared lock on </a:t>
            </a:r>
            <a:r>
              <a:rPr lang="en-US" sz="2600" b="1" i="1" dirty="0" smtClean="0"/>
              <a:t>O</a:t>
            </a:r>
            <a:r>
              <a:rPr lang="en-US" sz="2600" dirty="0" smtClean="0"/>
              <a:t>, and both request upgrades to an Exclusive lock, a deadlock will arise regardless!  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80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Lock Downgrades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10600" cy="51054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3300" dirty="0" smtClean="0"/>
              <a:t>Lock upgrades can be entirely avoided by obtaining Exclusive locks </a:t>
            </a:r>
            <a:r>
              <a:rPr lang="en-US" sz="3300" i="1" dirty="0" smtClean="0"/>
              <a:t>initially</a:t>
            </a:r>
            <a:r>
              <a:rPr lang="en-US" sz="3300" dirty="0" smtClean="0"/>
              <a:t>, and downgrade them to Shared locks once needed</a:t>
            </a:r>
          </a:p>
          <a:p>
            <a:pPr>
              <a:buFont typeface="Wingdings" pitchFamily="2" charset="2"/>
              <a:buChar char="§"/>
            </a:pPr>
            <a:endParaRPr lang="en-US" sz="3300" dirty="0"/>
          </a:p>
          <a:p>
            <a:pPr>
              <a:buFont typeface="Wingdings" pitchFamily="2" charset="2"/>
              <a:buChar char="§"/>
            </a:pPr>
            <a:r>
              <a:rPr lang="en-US" sz="3300" dirty="0" smtClean="0">
                <a:solidFill>
                  <a:srgbClr val="0070C0"/>
                </a:solidFill>
              </a:rPr>
              <a:t>Would this violate any 2PL requirement?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dirty="0" smtClean="0"/>
              <a:t>On the surface yes; since the transaction (say, </a:t>
            </a:r>
            <a:r>
              <a:rPr lang="en-US" sz="3100" b="1" i="1" dirty="0" smtClean="0"/>
              <a:t>T</a:t>
            </a:r>
            <a:r>
              <a:rPr lang="en-US" sz="3100" dirty="0" smtClean="0"/>
              <a:t>) may need to upgrade later</a:t>
            </a:r>
          </a:p>
          <a:p>
            <a:pPr lvl="1">
              <a:buFont typeface="Wingdings" pitchFamily="2" charset="2"/>
              <a:buChar char="§"/>
            </a:pPr>
            <a:endParaRPr lang="en-US" sz="3100" dirty="0" smtClean="0"/>
          </a:p>
          <a:p>
            <a:pPr lvl="1">
              <a:buFont typeface="Wingdings" pitchFamily="2" charset="2"/>
              <a:buChar char="§"/>
            </a:pPr>
            <a:r>
              <a:rPr lang="en-US" sz="3100" dirty="0" smtClean="0"/>
              <a:t>This is a special case as </a:t>
            </a:r>
            <a:r>
              <a:rPr lang="en-US" sz="3100" b="1" i="1" dirty="0" smtClean="0"/>
              <a:t>T</a:t>
            </a:r>
            <a:r>
              <a:rPr lang="en-US" sz="3100" dirty="0" smtClean="0"/>
              <a:t> </a:t>
            </a:r>
            <a:r>
              <a:rPr lang="en-US" sz="3100" i="1" u="sng" dirty="0" smtClean="0"/>
              <a:t>conservatively</a:t>
            </a:r>
            <a:r>
              <a:rPr lang="en-US" sz="3100" dirty="0" smtClean="0"/>
              <a:t> obtained an Exclusive lock, and did nothing but read the object that it downgraded</a:t>
            </a:r>
          </a:p>
          <a:p>
            <a:pPr lvl="1">
              <a:buFont typeface="Wingdings" pitchFamily="2" charset="2"/>
              <a:buChar char="§"/>
            </a:pPr>
            <a:endParaRPr lang="en-US" sz="3100" dirty="0" smtClean="0"/>
          </a:p>
          <a:p>
            <a:pPr lvl="1">
              <a:buFont typeface="Wingdings" pitchFamily="2" charset="2"/>
              <a:buChar char="§"/>
            </a:pPr>
            <a:r>
              <a:rPr lang="en-US" sz="3100" dirty="0" smtClean="0"/>
              <a:t>2PL can be safely extended to allow lock downgrades in the growing phase, </a:t>
            </a:r>
            <a:r>
              <a:rPr lang="en-US" sz="3100" i="1" u="sng" dirty="0" smtClean="0"/>
              <a:t>provided that the transaction has not modified the object 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13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Deadlock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816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The lock manager maintains a structure called a </a:t>
            </a:r>
            <a:r>
              <a:rPr lang="en-US" sz="3000" i="1" dirty="0" smtClean="0">
                <a:solidFill>
                  <a:srgbClr val="FF0000"/>
                </a:solidFill>
              </a:rPr>
              <a:t>waits-for graph </a:t>
            </a:r>
            <a:r>
              <a:rPr lang="en-US" sz="3000" dirty="0" smtClean="0"/>
              <a:t>to </a:t>
            </a:r>
            <a:r>
              <a:rPr lang="en-US" sz="3000" i="1" dirty="0" smtClean="0"/>
              <a:t>periodically</a:t>
            </a:r>
            <a:r>
              <a:rPr lang="en-US" sz="3000" dirty="0" smtClean="0"/>
              <a:t> detect deadlocks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In a waits-for graph: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The nodes correspond to active transactions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There is an edge from Ti to </a:t>
            </a:r>
            <a:r>
              <a:rPr lang="en-US" dirty="0" err="1" smtClean="0"/>
              <a:t>Tj</a:t>
            </a:r>
            <a:r>
              <a:rPr lang="en-US" dirty="0" smtClean="0"/>
              <a:t> </a:t>
            </a:r>
            <a:r>
              <a:rPr lang="en-US" i="1" dirty="0" smtClean="0"/>
              <a:t>if and only if</a:t>
            </a:r>
            <a:r>
              <a:rPr lang="en-US" dirty="0" smtClean="0"/>
              <a:t> Ti is waiting for </a:t>
            </a:r>
            <a:r>
              <a:rPr lang="en-US" dirty="0" err="1" smtClean="0"/>
              <a:t>Tj</a:t>
            </a:r>
            <a:r>
              <a:rPr lang="en-US" dirty="0" smtClean="0"/>
              <a:t> to release a lock</a:t>
            </a:r>
          </a:p>
          <a:p>
            <a:pPr lvl="1">
              <a:buFont typeface="Wingdings" pitchFamily="2" charset="2"/>
              <a:buChar char="§"/>
            </a:pPr>
            <a:endParaRPr lang="en-US" sz="31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The lock manager </a:t>
            </a:r>
            <a:r>
              <a:rPr lang="en-US" sz="3000" i="1" dirty="0" smtClean="0"/>
              <a:t>adds</a:t>
            </a:r>
            <a:r>
              <a:rPr lang="en-US" sz="3000" dirty="0" smtClean="0"/>
              <a:t> and </a:t>
            </a:r>
            <a:r>
              <a:rPr lang="en-US" sz="3000" i="1" dirty="0" smtClean="0"/>
              <a:t>removes</a:t>
            </a:r>
            <a:r>
              <a:rPr lang="en-US" sz="3000" dirty="0" smtClean="0"/>
              <a:t> edges to and from a waits-for graph when it </a:t>
            </a:r>
            <a:r>
              <a:rPr lang="en-US" sz="3000" i="1" dirty="0" smtClean="0"/>
              <a:t>queues</a:t>
            </a:r>
            <a:r>
              <a:rPr lang="en-US" sz="3000" dirty="0" smtClean="0"/>
              <a:t> and </a:t>
            </a:r>
            <a:r>
              <a:rPr lang="en-US" sz="3000" i="1" dirty="0" smtClean="0"/>
              <a:t>grants</a:t>
            </a:r>
            <a:r>
              <a:rPr lang="en-US" sz="3000" dirty="0" smtClean="0"/>
              <a:t> lock requests, respectively 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A deadlock is detected when a </a:t>
            </a:r>
            <a:r>
              <a:rPr lang="en-US" sz="3000" i="1" dirty="0" smtClean="0">
                <a:solidFill>
                  <a:srgbClr val="00B050"/>
                </a:solidFill>
              </a:rPr>
              <a:t>cycle </a:t>
            </a:r>
            <a:r>
              <a:rPr lang="en-US" sz="3000" dirty="0" smtClean="0"/>
              <a:t>in the waits-for graph is found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41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Deadlock Detection (</a:t>
            </a:r>
            <a:r>
              <a:rPr lang="en-US" i="1" dirty="0" smtClean="0"/>
              <a:t>Cont’d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The following schedule is free of deadlocks: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2281336"/>
            <a:ext cx="0" cy="29764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62000" y="2509936"/>
            <a:ext cx="35090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4988" y="21787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21992" y="21826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7888" y="2493518"/>
            <a:ext cx="5405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S(A)</a:t>
            </a:r>
          </a:p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S(B)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5237" y="2509936"/>
            <a:ext cx="60465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X(B)</a:t>
            </a:r>
          </a:p>
          <a:p>
            <a:r>
              <a:rPr lang="en-US" sz="1600" dirty="0" smtClean="0"/>
              <a:t>W(B)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X(C)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442290" y="22860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9637" y="2514600"/>
            <a:ext cx="5309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S(C)</a:t>
            </a:r>
          </a:p>
          <a:p>
            <a:r>
              <a:rPr lang="en-US" sz="1600" dirty="0" smtClean="0"/>
              <a:t>R(C)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3424154" y="2497508"/>
            <a:ext cx="5421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X(B)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80490" y="22860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70890" y="21756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T3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474592" y="21763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T4</a:t>
            </a:r>
            <a:endParaRPr lang="en-US" b="1" dirty="0"/>
          </a:p>
        </p:txBody>
      </p:sp>
      <p:sp>
        <p:nvSpPr>
          <p:cNvPr id="22" name="Striped Right Arrow 21"/>
          <p:cNvSpPr/>
          <p:nvPr/>
        </p:nvSpPr>
        <p:spPr>
          <a:xfrm>
            <a:off x="4724400" y="3277915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096000" y="2367286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7543800" y="2370746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6096000" y="3934665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7543800" y="3968218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T3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3" idx="6"/>
          </p:cNvCxnSpPr>
          <p:nvPr/>
        </p:nvCxnSpPr>
        <p:spPr>
          <a:xfrm>
            <a:off x="6781800" y="2707643"/>
            <a:ext cx="7772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5" idx="7"/>
            <a:endCxn id="24" idx="3"/>
          </p:cNvCxnSpPr>
          <p:nvPr/>
        </p:nvCxnSpPr>
        <p:spPr>
          <a:xfrm flipV="1">
            <a:off x="6681367" y="2951772"/>
            <a:ext cx="962866" cy="108258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4" idx="4"/>
            <a:endCxn id="26" idx="0"/>
          </p:cNvCxnSpPr>
          <p:nvPr/>
        </p:nvCxnSpPr>
        <p:spPr>
          <a:xfrm>
            <a:off x="7886700" y="3051460"/>
            <a:ext cx="0" cy="91675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81000" y="6135469"/>
            <a:ext cx="86181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The </a:t>
            </a:r>
            <a:r>
              <a:rPr lang="en-US" dirty="0"/>
              <a:t>nodes correspond to active </a:t>
            </a:r>
            <a:r>
              <a:rPr lang="en-US" dirty="0" smtClean="0"/>
              <a:t>transactions and there </a:t>
            </a:r>
            <a:r>
              <a:rPr lang="en-US" dirty="0"/>
              <a:t>is an edge from </a:t>
            </a:r>
            <a:r>
              <a:rPr lang="en-US" dirty="0" smtClean="0"/>
              <a:t>Ti </a:t>
            </a:r>
            <a:r>
              <a:rPr lang="en-US" dirty="0"/>
              <a:t>to </a:t>
            </a:r>
            <a:r>
              <a:rPr lang="en-US" dirty="0" err="1"/>
              <a:t>Tj</a:t>
            </a:r>
            <a:r>
              <a:rPr lang="en-US" dirty="0"/>
              <a:t> </a:t>
            </a:r>
            <a:r>
              <a:rPr lang="en-US" i="1" dirty="0"/>
              <a:t>if and only if</a:t>
            </a:r>
            <a:r>
              <a:rPr lang="en-US" dirty="0"/>
              <a:t> Ti is waiting for </a:t>
            </a:r>
            <a:r>
              <a:rPr lang="en-US" dirty="0" err="1"/>
              <a:t>Tj</a:t>
            </a:r>
            <a:r>
              <a:rPr lang="en-US" dirty="0"/>
              <a:t> to release a </a:t>
            </a:r>
            <a:r>
              <a:rPr lang="en-US" dirty="0" smtClean="0"/>
              <a:t>lock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334000" y="5328576"/>
            <a:ext cx="366510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 Corresponding </a:t>
            </a:r>
            <a:r>
              <a:rPr lang="en-US" b="1" dirty="0" smtClean="0"/>
              <a:t>Waits-For Graph</a:t>
            </a:r>
            <a:r>
              <a:rPr lang="en-US" b="1" dirty="0" smtClean="0">
                <a:solidFill>
                  <a:srgbClr val="FF0000"/>
                </a:solidFill>
              </a:rPr>
              <a:t>*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6184" y="5362760"/>
            <a:ext cx="3060453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 schedule </a:t>
            </a:r>
            <a:r>
              <a:rPr lang="en-US" i="1" u="sng" dirty="0" smtClean="0"/>
              <a:t>without</a:t>
            </a:r>
            <a:r>
              <a:rPr lang="en-US" dirty="0" smtClean="0"/>
              <a:t> a deadlock</a:t>
            </a:r>
            <a:endParaRPr lang="en-US" dirty="0"/>
          </a:p>
        </p:txBody>
      </p:sp>
      <p:cxnSp>
        <p:nvCxnSpPr>
          <p:cNvPr id="46" name="Straight Arrow Connector 45"/>
          <p:cNvCxnSpPr/>
          <p:nvPr/>
        </p:nvCxnSpPr>
        <p:spPr>
          <a:xfrm flipV="1">
            <a:off x="1098154" y="3155237"/>
            <a:ext cx="623838" cy="33782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1997399" y="3908170"/>
            <a:ext cx="623838" cy="33782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2209800" y="3155237"/>
            <a:ext cx="1472541" cy="128744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10200" y="4720127"/>
            <a:ext cx="3551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smtClean="0">
                <a:solidFill>
                  <a:srgbClr val="FF0000"/>
                </a:solidFill>
              </a:rPr>
              <a:t>No cycles; hence, no deadlocks!</a:t>
            </a:r>
            <a:endParaRPr lang="en-US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40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4" grpId="0"/>
      <p:bldP spid="15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42" grpId="0"/>
      <p:bldP spid="43" grpId="0" animBg="1"/>
      <p:bldP spid="44" grpId="0" animBg="1"/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Deadlock Detection (</a:t>
            </a:r>
            <a:r>
              <a:rPr lang="en-US" i="1" dirty="0" smtClean="0"/>
              <a:t>Cont’d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The following schedule is </a:t>
            </a:r>
            <a:r>
              <a:rPr lang="en-US" sz="3000" b="1" u="sng" dirty="0" smtClean="0"/>
              <a:t>NOT</a:t>
            </a:r>
            <a:r>
              <a:rPr lang="en-US" sz="3000" dirty="0" smtClean="0"/>
              <a:t> free of deadlocks: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2281336"/>
            <a:ext cx="0" cy="29764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62000" y="2509936"/>
            <a:ext cx="35090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4988" y="21787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21992" y="21826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7888" y="2493518"/>
            <a:ext cx="5405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S(A)</a:t>
            </a:r>
          </a:p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S(B)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5237" y="2509936"/>
            <a:ext cx="60465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X(B)</a:t>
            </a:r>
          </a:p>
          <a:p>
            <a:r>
              <a:rPr lang="en-US" sz="1600" dirty="0" smtClean="0"/>
              <a:t>W(B)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X(C)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442290" y="22860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9637" y="2514600"/>
            <a:ext cx="55175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S(C)</a:t>
            </a:r>
          </a:p>
          <a:p>
            <a:r>
              <a:rPr lang="en-US" sz="1600" dirty="0" smtClean="0"/>
              <a:t>R(C)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X(A)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4154" y="2497508"/>
            <a:ext cx="5421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X(B)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80490" y="22860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70890" y="21756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T3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474592" y="21763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T4</a:t>
            </a:r>
            <a:endParaRPr lang="en-US" b="1" dirty="0"/>
          </a:p>
        </p:txBody>
      </p:sp>
      <p:sp>
        <p:nvSpPr>
          <p:cNvPr id="22" name="Striped Right Arrow 21"/>
          <p:cNvSpPr/>
          <p:nvPr/>
        </p:nvSpPr>
        <p:spPr>
          <a:xfrm>
            <a:off x="4724400" y="3277915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096000" y="2367286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7543800" y="2370746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6096000" y="3934665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7543800" y="3968218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T3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3" idx="6"/>
          </p:cNvCxnSpPr>
          <p:nvPr/>
        </p:nvCxnSpPr>
        <p:spPr>
          <a:xfrm>
            <a:off x="6781800" y="2707643"/>
            <a:ext cx="7772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5" idx="7"/>
            <a:endCxn id="24" idx="3"/>
          </p:cNvCxnSpPr>
          <p:nvPr/>
        </p:nvCxnSpPr>
        <p:spPr>
          <a:xfrm flipV="1">
            <a:off x="6681367" y="2951772"/>
            <a:ext cx="962866" cy="108258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4" idx="4"/>
            <a:endCxn id="26" idx="0"/>
          </p:cNvCxnSpPr>
          <p:nvPr/>
        </p:nvCxnSpPr>
        <p:spPr>
          <a:xfrm>
            <a:off x="7886700" y="3051460"/>
            <a:ext cx="0" cy="91675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81000" y="6135469"/>
            <a:ext cx="86181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The </a:t>
            </a:r>
            <a:r>
              <a:rPr lang="en-US" dirty="0"/>
              <a:t>nodes correspond to active </a:t>
            </a:r>
            <a:r>
              <a:rPr lang="en-US" dirty="0" smtClean="0"/>
              <a:t>transactions and there </a:t>
            </a:r>
            <a:r>
              <a:rPr lang="en-US" dirty="0"/>
              <a:t>is an edge from </a:t>
            </a:r>
            <a:r>
              <a:rPr lang="en-US" dirty="0" smtClean="0"/>
              <a:t>Ti </a:t>
            </a:r>
            <a:r>
              <a:rPr lang="en-US" dirty="0"/>
              <a:t>to </a:t>
            </a:r>
            <a:r>
              <a:rPr lang="en-US" dirty="0" err="1"/>
              <a:t>Tj</a:t>
            </a:r>
            <a:r>
              <a:rPr lang="en-US" dirty="0"/>
              <a:t> </a:t>
            </a:r>
            <a:r>
              <a:rPr lang="en-US" i="1" dirty="0"/>
              <a:t>if and only if</a:t>
            </a:r>
            <a:r>
              <a:rPr lang="en-US" dirty="0"/>
              <a:t> Ti is waiting for </a:t>
            </a:r>
            <a:r>
              <a:rPr lang="en-US" dirty="0" err="1"/>
              <a:t>Tj</a:t>
            </a:r>
            <a:r>
              <a:rPr lang="en-US" dirty="0"/>
              <a:t> to release a </a:t>
            </a:r>
            <a:r>
              <a:rPr lang="en-US" dirty="0" smtClean="0"/>
              <a:t>lock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334000" y="5328576"/>
            <a:ext cx="366510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 Corresponding </a:t>
            </a:r>
            <a:r>
              <a:rPr lang="en-US" b="1" dirty="0" smtClean="0"/>
              <a:t>Waits-For Graph</a:t>
            </a:r>
            <a:r>
              <a:rPr lang="en-US" b="1" dirty="0" smtClean="0">
                <a:solidFill>
                  <a:srgbClr val="FF0000"/>
                </a:solidFill>
              </a:rPr>
              <a:t>*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60092" y="5359638"/>
            <a:ext cx="2739853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 schedule </a:t>
            </a:r>
            <a:r>
              <a:rPr lang="en-US" i="1" u="sng" dirty="0" smtClean="0"/>
              <a:t>with</a:t>
            </a:r>
            <a:r>
              <a:rPr lang="en-US" dirty="0" smtClean="0"/>
              <a:t> a deadlock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762000" y="4763102"/>
            <a:ext cx="36576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6" idx="1"/>
            <a:endCxn id="23" idx="5"/>
          </p:cNvCxnSpPr>
          <p:nvPr/>
        </p:nvCxnSpPr>
        <p:spPr>
          <a:xfrm flipH="1" flipV="1">
            <a:off x="6681367" y="2948312"/>
            <a:ext cx="962866" cy="11195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1098154" y="3155237"/>
            <a:ext cx="623838" cy="33782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1997399" y="3908170"/>
            <a:ext cx="623838" cy="33782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2209800" y="3155237"/>
            <a:ext cx="1472541" cy="128744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1295400" y="2667000"/>
            <a:ext cx="1608747" cy="211650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27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Deadlock </a:t>
            </a:r>
            <a:r>
              <a:rPr lang="en-US" dirty="0"/>
              <a:t>Detection (</a:t>
            </a:r>
            <a:r>
              <a:rPr lang="en-US" i="1" dirty="0"/>
              <a:t>Cont’d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The following schedule is </a:t>
            </a:r>
            <a:r>
              <a:rPr lang="en-US" sz="3000" b="1" u="sng" dirty="0" smtClean="0"/>
              <a:t>NOT</a:t>
            </a:r>
            <a:r>
              <a:rPr lang="en-US" sz="3000" dirty="0" smtClean="0"/>
              <a:t> free of deadlocks: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2281336"/>
            <a:ext cx="0" cy="29764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62000" y="2509936"/>
            <a:ext cx="35090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4988" y="21787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T1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21992" y="21826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T2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7888" y="2493518"/>
            <a:ext cx="5405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S(A)</a:t>
            </a:r>
          </a:p>
          <a:p>
            <a:r>
              <a:rPr lang="en-US" sz="1600" dirty="0" smtClean="0"/>
              <a:t>R(A)</a:t>
            </a:r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S(B)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5237" y="2509936"/>
            <a:ext cx="60465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X(B)</a:t>
            </a:r>
          </a:p>
          <a:p>
            <a:r>
              <a:rPr lang="en-US" sz="1600" dirty="0" smtClean="0"/>
              <a:t>W(B)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X(C)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442290" y="22860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9637" y="2514600"/>
            <a:ext cx="55175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S(C)</a:t>
            </a:r>
          </a:p>
          <a:p>
            <a:r>
              <a:rPr lang="en-US" sz="1600" dirty="0" smtClean="0"/>
              <a:t>R(C)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X(A)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4154" y="2497508"/>
            <a:ext cx="5421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 smtClean="0">
                <a:solidFill>
                  <a:srgbClr val="FF0000"/>
                </a:solidFill>
              </a:rPr>
              <a:t>X(B)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80490" y="22860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70890" y="21756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T3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474592" y="21763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T4</a:t>
            </a:r>
            <a:endParaRPr lang="en-US" b="1" dirty="0"/>
          </a:p>
        </p:txBody>
      </p:sp>
      <p:sp>
        <p:nvSpPr>
          <p:cNvPr id="22" name="Striped Right Arrow 21"/>
          <p:cNvSpPr/>
          <p:nvPr/>
        </p:nvSpPr>
        <p:spPr>
          <a:xfrm>
            <a:off x="4724400" y="3277915"/>
            <a:ext cx="838200" cy="735648"/>
          </a:xfrm>
          <a:prstGeom prst="striped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096000" y="2367286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7543800" y="2370746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6096000" y="3934665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7543800" y="3968218"/>
            <a:ext cx="685800" cy="680714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T3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3" idx="6"/>
          </p:cNvCxnSpPr>
          <p:nvPr/>
        </p:nvCxnSpPr>
        <p:spPr>
          <a:xfrm>
            <a:off x="6781800" y="2707643"/>
            <a:ext cx="77724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5" idx="7"/>
            <a:endCxn id="24" idx="3"/>
          </p:cNvCxnSpPr>
          <p:nvPr/>
        </p:nvCxnSpPr>
        <p:spPr>
          <a:xfrm flipV="1">
            <a:off x="6681367" y="2951772"/>
            <a:ext cx="962866" cy="108258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4" idx="4"/>
            <a:endCxn id="26" idx="0"/>
          </p:cNvCxnSpPr>
          <p:nvPr/>
        </p:nvCxnSpPr>
        <p:spPr>
          <a:xfrm>
            <a:off x="7886700" y="3051460"/>
            <a:ext cx="0" cy="91675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81000" y="6135469"/>
            <a:ext cx="86181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The </a:t>
            </a:r>
            <a:r>
              <a:rPr lang="en-US" dirty="0"/>
              <a:t>nodes correspond to active </a:t>
            </a:r>
            <a:r>
              <a:rPr lang="en-US" dirty="0" smtClean="0"/>
              <a:t>transactions and there </a:t>
            </a:r>
            <a:r>
              <a:rPr lang="en-US" dirty="0"/>
              <a:t>is an edge from </a:t>
            </a:r>
            <a:r>
              <a:rPr lang="en-US" dirty="0" smtClean="0"/>
              <a:t>Ti </a:t>
            </a:r>
            <a:r>
              <a:rPr lang="en-US" dirty="0"/>
              <a:t>to </a:t>
            </a:r>
            <a:r>
              <a:rPr lang="en-US" dirty="0" err="1"/>
              <a:t>Tj</a:t>
            </a:r>
            <a:r>
              <a:rPr lang="en-US" dirty="0"/>
              <a:t> </a:t>
            </a:r>
            <a:r>
              <a:rPr lang="en-US" i="1" dirty="0"/>
              <a:t>if and only if</a:t>
            </a:r>
            <a:r>
              <a:rPr lang="en-US" dirty="0"/>
              <a:t> Ti is waiting for </a:t>
            </a:r>
            <a:r>
              <a:rPr lang="en-US" dirty="0" err="1"/>
              <a:t>Tj</a:t>
            </a:r>
            <a:r>
              <a:rPr lang="en-US" dirty="0"/>
              <a:t> to release a </a:t>
            </a:r>
            <a:r>
              <a:rPr lang="en-US" dirty="0" smtClean="0"/>
              <a:t>lock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334000" y="5328576"/>
            <a:ext cx="366510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 Corresponding </a:t>
            </a:r>
            <a:r>
              <a:rPr lang="en-US" b="1" dirty="0" smtClean="0"/>
              <a:t>Waits-For Graph</a:t>
            </a:r>
            <a:r>
              <a:rPr lang="en-US" b="1" dirty="0" smtClean="0">
                <a:solidFill>
                  <a:srgbClr val="FF0000"/>
                </a:solidFill>
              </a:rPr>
              <a:t>*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60092" y="5359638"/>
            <a:ext cx="2739853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 schedule </a:t>
            </a:r>
            <a:r>
              <a:rPr lang="en-US" i="1" u="sng" dirty="0" smtClean="0"/>
              <a:t>with</a:t>
            </a:r>
            <a:r>
              <a:rPr lang="en-US" dirty="0" smtClean="0"/>
              <a:t> a deadlock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762000" y="4763102"/>
            <a:ext cx="36576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6" idx="1"/>
            <a:endCxn id="23" idx="5"/>
          </p:cNvCxnSpPr>
          <p:nvPr/>
        </p:nvCxnSpPr>
        <p:spPr>
          <a:xfrm flipH="1" flipV="1">
            <a:off x="6681367" y="2948312"/>
            <a:ext cx="962866" cy="11195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1098154" y="3155237"/>
            <a:ext cx="623838" cy="33782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1997399" y="3908170"/>
            <a:ext cx="623838" cy="33782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2209800" y="3155237"/>
            <a:ext cx="1472541" cy="128744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1295400" y="2667000"/>
            <a:ext cx="1608747" cy="211650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3" idx="6"/>
            <a:endCxn id="24" idx="2"/>
          </p:cNvCxnSpPr>
          <p:nvPr/>
        </p:nvCxnSpPr>
        <p:spPr>
          <a:xfrm>
            <a:off x="6781800" y="2707643"/>
            <a:ext cx="762000" cy="3460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4" idx="4"/>
            <a:endCxn id="26" idx="0"/>
          </p:cNvCxnSpPr>
          <p:nvPr/>
        </p:nvCxnSpPr>
        <p:spPr>
          <a:xfrm>
            <a:off x="7886700" y="3051460"/>
            <a:ext cx="0" cy="916758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6" idx="1"/>
            <a:endCxn id="23" idx="5"/>
          </p:cNvCxnSpPr>
          <p:nvPr/>
        </p:nvCxnSpPr>
        <p:spPr>
          <a:xfrm flipH="1" flipV="1">
            <a:off x="6681367" y="2948312"/>
            <a:ext cx="962866" cy="1119594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307649" y="4747499"/>
            <a:ext cx="386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Cycle detected; hence, a deadlock!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96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Resolving Deadlocks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81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A deadlock is resolved by aborting a transaction that is on a cycle and releasing its locks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This allows some of the waiting transactions to proceed</a:t>
            </a:r>
          </a:p>
          <a:p>
            <a:pPr lvl="1"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The choice of which transaction to abort can be made using different criteria: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The one with the fewest locks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Or the one that has done the least work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Or the one that is farthest from completion (</a:t>
            </a:r>
            <a:r>
              <a:rPr lang="en-US" sz="2600" i="1" dirty="0" smtClean="0"/>
              <a:t>more accurate</a:t>
            </a:r>
            <a:r>
              <a:rPr lang="en-US" sz="2600" dirty="0" smtClean="0"/>
              <a:t>)</a:t>
            </a:r>
          </a:p>
          <a:p>
            <a:pPr marL="457200" lvl="1" indent="0">
              <a:buNone/>
            </a:pPr>
            <a:endParaRPr lang="en-US" sz="2600" dirty="0" smtClean="0"/>
          </a:p>
          <a:p>
            <a:pPr>
              <a:buFont typeface="Wingdings" pitchFamily="2" charset="2"/>
              <a:buChar char="§"/>
            </a:pPr>
            <a:r>
              <a:rPr lang="en-US" sz="3000" dirty="0" smtClean="0">
                <a:solidFill>
                  <a:srgbClr val="FF0000"/>
                </a:solidFill>
              </a:rPr>
              <a:t>Caveat</a:t>
            </a:r>
            <a:r>
              <a:rPr lang="en-US" sz="3000" dirty="0" smtClean="0"/>
              <a:t>: a transaction that was aborted in the past, should be </a:t>
            </a:r>
            <a:r>
              <a:rPr lang="en-US" sz="3000" i="1" dirty="0" smtClean="0"/>
              <a:t>favored</a:t>
            </a:r>
            <a:r>
              <a:rPr lang="en-US" sz="3000" dirty="0" smtClean="0"/>
              <a:t> subsequently and not aborted upon a deadlock detection!</a:t>
            </a:r>
            <a:endParaRPr lang="en-US" sz="3000" dirty="0"/>
          </a:p>
          <a:p>
            <a:pPr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68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Deadlock Prevention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86800" cy="51816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Studies indicate that deadlocks are relatively infrequent and </a:t>
            </a:r>
            <a:r>
              <a:rPr lang="en-US" sz="3000" i="1" dirty="0" smtClean="0">
                <a:solidFill>
                  <a:srgbClr val="FF0000"/>
                </a:solidFill>
              </a:rPr>
              <a:t>detection-based schemes </a:t>
            </a:r>
            <a:r>
              <a:rPr lang="en-US" sz="3000" dirty="0" smtClean="0"/>
              <a:t>work well in practice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However, if there is a high level of </a:t>
            </a:r>
            <a:r>
              <a:rPr lang="en-US" sz="3000" i="1" dirty="0" smtClean="0"/>
              <a:t>contention</a:t>
            </a:r>
            <a:r>
              <a:rPr lang="en-US" sz="3000" dirty="0" smtClean="0"/>
              <a:t> for locks, </a:t>
            </a:r>
            <a:r>
              <a:rPr lang="en-US" sz="3000" i="1" dirty="0" smtClean="0">
                <a:solidFill>
                  <a:srgbClr val="FF0000"/>
                </a:solidFill>
              </a:rPr>
              <a:t>prevention-based schemes </a:t>
            </a:r>
            <a:r>
              <a:rPr lang="en-US" sz="3000" dirty="0" smtClean="0"/>
              <a:t>could perform better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Deadlocks can be averted by giving each transaction a </a:t>
            </a:r>
            <a:r>
              <a:rPr lang="en-US" sz="3000" i="1" dirty="0" smtClean="0">
                <a:solidFill>
                  <a:srgbClr val="0070C0"/>
                </a:solidFill>
              </a:rPr>
              <a:t>priority</a:t>
            </a:r>
            <a:r>
              <a:rPr lang="en-US" sz="3000" dirty="0" smtClean="0"/>
              <a:t> and ensuring that lower-priority transactions are not allowed to wait for higher-priority ones </a:t>
            </a:r>
            <a:br>
              <a:rPr lang="en-US" sz="3000" dirty="0" smtClean="0"/>
            </a:br>
            <a:r>
              <a:rPr lang="en-US" sz="3000" dirty="0" smtClean="0"/>
              <a:t>(or vice versa)</a:t>
            </a:r>
            <a:endParaRPr lang="en-US" sz="3000" dirty="0"/>
          </a:p>
          <a:p>
            <a:pPr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71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Deadlock Prevention (</a:t>
            </a:r>
            <a:r>
              <a:rPr lang="en-US" i="1" dirty="0" smtClean="0"/>
              <a:t>Cont’d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816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One way to assign priorities is to give each transaction a </a:t>
            </a:r>
            <a:r>
              <a:rPr lang="en-US" sz="3000" i="1" dirty="0" smtClean="0">
                <a:solidFill>
                  <a:srgbClr val="0070C0"/>
                </a:solidFill>
              </a:rPr>
              <a:t>timestamp</a:t>
            </a:r>
            <a:r>
              <a:rPr lang="en-US" sz="3000" dirty="0" smtClean="0"/>
              <a:t> when it is started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Thus, the lower the timestamp, the higher is the transaction’s priority</a:t>
            </a:r>
          </a:p>
          <a:p>
            <a:pPr lvl="1"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If a transaction </a:t>
            </a:r>
            <a:r>
              <a:rPr lang="en-US" sz="3000" b="1" i="1" dirty="0" smtClean="0"/>
              <a:t>Ti</a:t>
            </a:r>
            <a:r>
              <a:rPr lang="en-US" sz="3000" dirty="0" smtClean="0"/>
              <a:t> requests a lock and a transaction </a:t>
            </a:r>
            <a:r>
              <a:rPr lang="en-US" sz="3000" b="1" i="1" dirty="0" err="1" smtClean="0"/>
              <a:t>Tj</a:t>
            </a:r>
            <a:r>
              <a:rPr lang="en-US" sz="3000" dirty="0" smtClean="0"/>
              <a:t> holds a conflicting lock, the lock manager can use one of the following policies: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rgbClr val="00B050"/>
                </a:solidFill>
              </a:rPr>
              <a:t>Wound-Wait</a:t>
            </a:r>
            <a:r>
              <a:rPr lang="en-US" sz="2600" dirty="0"/>
              <a:t>: If </a:t>
            </a:r>
            <a:r>
              <a:rPr lang="en-US" sz="2600" b="1" i="1" dirty="0"/>
              <a:t>Ti</a:t>
            </a:r>
            <a:r>
              <a:rPr lang="en-US" sz="2600" dirty="0"/>
              <a:t> has higher priority, </a:t>
            </a:r>
            <a:r>
              <a:rPr lang="en-US" sz="2600" b="1" i="1" dirty="0" err="1"/>
              <a:t>Tj</a:t>
            </a:r>
            <a:r>
              <a:rPr lang="en-US" sz="2600" dirty="0"/>
              <a:t> is aborted; otherwise, </a:t>
            </a:r>
            <a:r>
              <a:rPr lang="en-US" sz="2600" b="1" i="1" dirty="0"/>
              <a:t>Ti</a:t>
            </a:r>
            <a:r>
              <a:rPr lang="en-US" sz="2600" dirty="0"/>
              <a:t> </a:t>
            </a:r>
            <a:r>
              <a:rPr lang="en-US" sz="2600" dirty="0" smtClean="0"/>
              <a:t>waits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B050"/>
                </a:solidFill>
              </a:rPr>
              <a:t>Wait-Die</a:t>
            </a:r>
            <a:r>
              <a:rPr lang="en-US" sz="2600" dirty="0" smtClean="0"/>
              <a:t>: If </a:t>
            </a:r>
            <a:r>
              <a:rPr lang="en-US" sz="2600" b="1" i="1" dirty="0" smtClean="0"/>
              <a:t>Ti</a:t>
            </a:r>
            <a:r>
              <a:rPr lang="en-US" sz="2600" dirty="0" smtClean="0"/>
              <a:t> has higher priority, it is allowed to wait; otherwise, it is aborted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13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Reissuing Timestamps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81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A subtle point is that we must ensure that no transaction is perennially aborted because it never had a sufficiently high priority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To avoid that, when a transaction is aborted and restarted, it should be given the same timestamp it had originally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This policy is referred to as </a:t>
            </a:r>
            <a:r>
              <a:rPr lang="en-US" dirty="0" smtClean="0">
                <a:solidFill>
                  <a:srgbClr val="0070C0"/>
                </a:solidFill>
              </a:rPr>
              <a:t>reissuing timestamps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r>
              <a:rPr lang="en-US" sz="3000" dirty="0" smtClean="0"/>
              <a:t>Reissuing timestamps ensures that each transaction will eventually become the oldest and accordingly get all the locks it requires!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endParaRPr lang="en-US" sz="2600" dirty="0" smtClean="0"/>
          </a:p>
          <a:p>
            <a:pPr>
              <a:buFont typeface="Wingdings" pitchFamily="2" charset="2"/>
              <a:buChar char="§"/>
            </a:pPr>
            <a:endParaRPr lang="en-US" sz="3000" dirty="0"/>
          </a:p>
          <a:p>
            <a:pPr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60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3.xml><?xml version="1.0" encoding="utf-8"?>
<a:theme xmlns:a="http://schemas.openxmlformats.org/drawingml/2006/main" name="1_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40677</TotalTime>
  <Words>6750</Words>
  <Application>Microsoft Office PowerPoint</Application>
  <PresentationFormat>On-screen Show (4:3)</PresentationFormat>
  <Paragraphs>1734</Paragraphs>
  <Slides>70</Slides>
  <Notes>56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70</vt:i4>
      </vt:variant>
    </vt:vector>
  </HeadingPairs>
  <TitlesOfParts>
    <vt:vector size="83" baseType="lpstr">
      <vt:lpstr>MS PGothic</vt:lpstr>
      <vt:lpstr>MS PGothic</vt:lpstr>
      <vt:lpstr>Arial</vt:lpstr>
      <vt:lpstr>Book Antiqua</vt:lpstr>
      <vt:lpstr>Calibri</vt:lpstr>
      <vt:lpstr>Helvetica</vt:lpstr>
      <vt:lpstr>Monotype Sorts</vt:lpstr>
      <vt:lpstr>Times New Roman</vt:lpstr>
      <vt:lpstr>Webdings</vt:lpstr>
      <vt:lpstr>Wingdings</vt:lpstr>
      <vt:lpstr>Office Theme</vt:lpstr>
      <vt:lpstr>db</vt:lpstr>
      <vt:lpstr>1_db</vt:lpstr>
      <vt:lpstr>Concurrency Control</vt:lpstr>
      <vt:lpstr>Concurrent Execution of Programs</vt:lpstr>
      <vt:lpstr>Transactions</vt:lpstr>
      <vt:lpstr>Transactions (Cont’d)</vt:lpstr>
      <vt:lpstr>Schedules</vt:lpstr>
      <vt:lpstr>Serial Schedules</vt:lpstr>
      <vt:lpstr>Serializable Schedules</vt:lpstr>
      <vt:lpstr>Examples</vt:lpstr>
      <vt:lpstr>Examples: A Serial Schedule</vt:lpstr>
      <vt:lpstr>Examples: Another Serial Schedule</vt:lpstr>
      <vt:lpstr>Examples: A Serializable Schedule</vt:lpstr>
      <vt:lpstr>Comments</vt:lpstr>
      <vt:lpstr>Anomalies</vt:lpstr>
      <vt:lpstr>Reading Uncommitted Data: WR Conflicts</vt:lpstr>
      <vt:lpstr>Reading Uncommitted Data: WR Conflicts</vt:lpstr>
      <vt:lpstr>Reading Uncommitted Data: WR Conflicts</vt:lpstr>
      <vt:lpstr>Reading Uncommitted Data: WR Conflicts</vt:lpstr>
      <vt:lpstr>Reading Uncommitted Data: WR Conflicts</vt:lpstr>
      <vt:lpstr>Reading Uncommitted Data: WR Conflicts</vt:lpstr>
      <vt:lpstr>Unrepeatable Reads: RW Conflicts</vt:lpstr>
      <vt:lpstr>Unrepeatable Reads: RW Conflicts</vt:lpstr>
      <vt:lpstr>Overwriting Uncommitted Data:  WW Conflicts</vt:lpstr>
      <vt:lpstr>Overwriting Uncommitted Data:  WW Conflicts</vt:lpstr>
      <vt:lpstr>Overwriting Uncommitted Data:  WW Conflicts</vt:lpstr>
      <vt:lpstr>Overwriting Uncommitted Data:  WW Conflicts</vt:lpstr>
      <vt:lpstr>Implementation of Isolation Levels</vt:lpstr>
      <vt:lpstr>Lock-Based Protocols</vt:lpstr>
      <vt:lpstr>Lock Manager Implementation</vt:lpstr>
      <vt:lpstr>Lock-Based Protocols (Cont.)</vt:lpstr>
      <vt:lpstr>Lock-Based Protocols (Cont.)</vt:lpstr>
      <vt:lpstr>Schedule With Lock Grants</vt:lpstr>
      <vt:lpstr>Deadlock</vt:lpstr>
      <vt:lpstr>Deadlock (Cont.)</vt:lpstr>
      <vt:lpstr>Two-Phase Locking</vt:lpstr>
      <vt:lpstr>Two-Phase Locking</vt:lpstr>
      <vt:lpstr>Two-Phase Locking</vt:lpstr>
      <vt:lpstr>Two-Phase Locking</vt:lpstr>
      <vt:lpstr>Two-Phase Locking</vt:lpstr>
      <vt:lpstr>Two-Phase Locking</vt:lpstr>
      <vt:lpstr>Resolving RW Conflicts Using 2PL</vt:lpstr>
      <vt:lpstr>Resolving RW Conflicts Using 2PL</vt:lpstr>
      <vt:lpstr>Resolving WW Conflicts Using 2PL</vt:lpstr>
      <vt:lpstr>Resolving WW Conflicts Using 2PL</vt:lpstr>
      <vt:lpstr>Deadlock</vt:lpstr>
      <vt:lpstr>Deadlock (Cont.)</vt:lpstr>
      <vt:lpstr>Cascading rollback may occur under two-phase locking</vt:lpstr>
      <vt:lpstr>Resolving WR Conflicts</vt:lpstr>
      <vt:lpstr>Resolving WR Conflicts</vt:lpstr>
      <vt:lpstr>Strict Two-Phase Locking</vt:lpstr>
      <vt:lpstr>Resolving WR Conflicts: Revisit</vt:lpstr>
      <vt:lpstr>Resolving WR Conflicts: Revisit</vt:lpstr>
      <vt:lpstr>2PL vs. Strict 2PL</vt:lpstr>
      <vt:lpstr>Schedules with Aborted Transactions</vt:lpstr>
      <vt:lpstr>Schedules with Aborted Transactions</vt:lpstr>
      <vt:lpstr>Schedules with Aborted Transactions</vt:lpstr>
      <vt:lpstr>Schedules with Aborted Transactions</vt:lpstr>
      <vt:lpstr>Schedules with Aborted Transactions</vt:lpstr>
      <vt:lpstr>Schedules with Aborted Transactions</vt:lpstr>
      <vt:lpstr>Serializable Schedules: Redefined</vt:lpstr>
      <vt:lpstr>Lock Conversions</vt:lpstr>
      <vt:lpstr>Lock Upgrades</vt:lpstr>
      <vt:lpstr>Lock Downgrades</vt:lpstr>
      <vt:lpstr>Deadlock Detection</vt:lpstr>
      <vt:lpstr>Deadlock Detection (Cont’d)</vt:lpstr>
      <vt:lpstr>Deadlock Detection (Cont’d)</vt:lpstr>
      <vt:lpstr>Deadlock Detection (Cont’d)</vt:lpstr>
      <vt:lpstr>Resolving Deadlocks</vt:lpstr>
      <vt:lpstr>Deadlock Prevention</vt:lpstr>
      <vt:lpstr>Deadlock Prevention (Cont’d)</vt:lpstr>
      <vt:lpstr>Reissuing Timestamps </vt:lpstr>
    </vt:vector>
  </TitlesOfParts>
  <Company>Carnegie Mellon University in Qatar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Dania Abed Rabbou</dc:creator>
  <cp:lastModifiedBy>Mukesh Mohania</cp:lastModifiedBy>
  <cp:revision>3143</cp:revision>
  <dcterms:created xsi:type="dcterms:W3CDTF">2013-11-24T06:45:02Z</dcterms:created>
  <dcterms:modified xsi:type="dcterms:W3CDTF">2023-04-19T08:02:46Z</dcterms:modified>
</cp:coreProperties>
</file>