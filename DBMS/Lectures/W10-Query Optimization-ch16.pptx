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svg" ContentType="image/svg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63" r:id="rId1"/>
  </p:sldMasterIdLst>
  <p:notesMasterIdLst>
    <p:notesMasterId r:id="rId44"/>
  </p:notesMasterIdLst>
  <p:handoutMasterIdLst>
    <p:handoutMasterId r:id="rId45"/>
  </p:handoutMasterIdLst>
  <p:sldIdLst>
    <p:sldId id="370" r:id="rId2"/>
    <p:sldId id="344" r:id="rId3"/>
    <p:sldId id="479" r:id="rId4"/>
    <p:sldId id="319" r:id="rId5"/>
    <p:sldId id="343" r:id="rId6"/>
    <p:sldId id="465" r:id="rId7"/>
    <p:sldId id="476" r:id="rId8"/>
    <p:sldId id="363" r:id="rId9"/>
    <p:sldId id="309" r:id="rId10"/>
    <p:sldId id="310" r:id="rId11"/>
    <p:sldId id="388" r:id="rId12"/>
    <p:sldId id="311" r:id="rId13"/>
    <p:sldId id="312" r:id="rId14"/>
    <p:sldId id="313" r:id="rId15"/>
    <p:sldId id="462" r:id="rId16"/>
    <p:sldId id="463" r:id="rId17"/>
    <p:sldId id="455" r:id="rId18"/>
    <p:sldId id="456" r:id="rId19"/>
    <p:sldId id="342" r:id="rId20"/>
    <p:sldId id="457" r:id="rId21"/>
    <p:sldId id="317" r:id="rId22"/>
    <p:sldId id="318" r:id="rId23"/>
    <p:sldId id="364" r:id="rId24"/>
    <p:sldId id="321" r:id="rId25"/>
    <p:sldId id="325" r:id="rId26"/>
    <p:sldId id="477" r:id="rId27"/>
    <p:sldId id="426" r:id="rId28"/>
    <p:sldId id="427" r:id="rId29"/>
    <p:sldId id="428" r:id="rId30"/>
    <p:sldId id="429" r:id="rId31"/>
    <p:sldId id="430" r:id="rId32"/>
    <p:sldId id="431" r:id="rId33"/>
    <p:sldId id="432" r:id="rId34"/>
    <p:sldId id="433" r:id="rId35"/>
    <p:sldId id="434" r:id="rId36"/>
    <p:sldId id="359" r:id="rId37"/>
    <p:sldId id="368" r:id="rId38"/>
    <p:sldId id="447" r:id="rId39"/>
    <p:sldId id="458" r:id="rId40"/>
    <p:sldId id="444" r:id="rId41"/>
    <p:sldId id="469" r:id="rId42"/>
    <p:sldId id="478" r:id="rId43"/>
  </p:sldIdLst>
  <p:sldSz cx="9144000" cy="6858000" type="screen4x3"/>
  <p:notesSz cx="6997700" cy="92837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6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3399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6924" autoAdjust="0"/>
  </p:normalViewPr>
  <p:slideViewPr>
    <p:cSldViewPr snapToGrid="0">
      <p:cViewPr varScale="1">
        <p:scale>
          <a:sx n="64" d="100"/>
          <a:sy n="64" d="100"/>
        </p:scale>
        <p:origin x="1027" y="62"/>
      </p:cViewPr>
      <p:guideLst>
        <p:guide orient="horz" pos="706"/>
        <p:guide pos="5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8" d="100"/>
        <a:sy n="68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828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image" Target="../media/image9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image" Target="../media/image1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218" name="Rectangle 2">
            <a:extLst>
              <a:ext uri="{FF2B5EF4-FFF2-40B4-BE49-F238E27FC236}">
                <a16:creationId xmlns:a16="http://schemas.microsoft.com/office/drawing/2014/main" id="{A1F08303-2CD9-4788-958C-65C4BFDD754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511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78" tIns="45739" rIns="91478" bIns="45739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3219" name="Rectangle 3">
            <a:extLst>
              <a:ext uri="{FF2B5EF4-FFF2-40B4-BE49-F238E27FC236}">
                <a16:creationId xmlns:a16="http://schemas.microsoft.com/office/drawing/2014/main" id="{161BF148-0A15-46B7-8DD7-02C13C8EF90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7163" y="0"/>
            <a:ext cx="30495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78" tIns="45739" rIns="91478" bIns="45739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3220" name="Rectangle 4">
            <a:extLst>
              <a:ext uri="{FF2B5EF4-FFF2-40B4-BE49-F238E27FC236}">
                <a16:creationId xmlns:a16="http://schemas.microsoft.com/office/drawing/2014/main" id="{7238AF6D-AA32-4C88-BB92-27E791452A17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40788"/>
            <a:ext cx="30511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78" tIns="45739" rIns="91478" bIns="45739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3221" name="Rectangle 5">
            <a:extLst>
              <a:ext uri="{FF2B5EF4-FFF2-40B4-BE49-F238E27FC236}">
                <a16:creationId xmlns:a16="http://schemas.microsoft.com/office/drawing/2014/main" id="{91141A00-8B0B-40AA-9BDC-71C79084B681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7163" y="8840788"/>
            <a:ext cx="30495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78" tIns="45739" rIns="91478" bIns="45739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B36E825B-D795-474E-A44E-EE0311DDC17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6BFD82A-7DBF-496D-8A34-58AC0263377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053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920" tIns="46960" rIns="93920" bIns="46960" numCol="1" anchor="ctr" anchorCtr="0" compatLnSpc="1">
            <a:prstTxWarp prst="textNoShape">
              <a:avLst/>
            </a:prstTxWarp>
          </a:bodyPr>
          <a:lstStyle>
            <a:lvl1pPr defTabSz="938213">
              <a:defRPr sz="1200"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A1F4BD03-B568-40D5-86DC-D2326AF6957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67163" y="0"/>
            <a:ext cx="303053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920" tIns="46960" rIns="93920" bIns="46960" numCol="1" anchor="ctr" anchorCtr="0" compatLnSpc="1">
            <a:prstTxWarp prst="textNoShape">
              <a:avLst/>
            </a:prstTxWarp>
          </a:bodyPr>
          <a:lstStyle>
            <a:lvl1pPr algn="r" defTabSz="938213">
              <a:defRPr sz="1200"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57E6A977-6667-44CC-9695-7786EF5BC62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6913"/>
            <a:ext cx="4640263" cy="34798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07351312-129D-4F3F-81CB-22BFA61745B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08488"/>
            <a:ext cx="5133975" cy="417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920" tIns="46960" rIns="93920" bIns="4696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0"/>
            <a:r>
              <a:rPr lang="en-US" noProof="0"/>
              <a:t>Second level</a:t>
            </a:r>
          </a:p>
          <a:p>
            <a:pPr lvl="0"/>
            <a:r>
              <a:rPr lang="en-US" noProof="0"/>
              <a:t>Third level</a:t>
            </a:r>
          </a:p>
          <a:p>
            <a:pPr lvl="0"/>
            <a:r>
              <a:rPr lang="en-US" noProof="0"/>
              <a:t>Fourth level</a:t>
            </a:r>
          </a:p>
          <a:p>
            <a:pPr lvl="0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59839329-0D0E-4440-AF95-A5CC0C4458A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053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920" tIns="46960" rIns="93920" bIns="46960" numCol="1" anchor="b" anchorCtr="0" compatLnSpc="1">
            <a:prstTxWarp prst="textNoShape">
              <a:avLst/>
            </a:prstTxWarp>
          </a:bodyPr>
          <a:lstStyle>
            <a:lvl1pPr defTabSz="938213">
              <a:defRPr sz="1200"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BE5359F0-274A-4408-8973-E5AB574453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7163" y="8820150"/>
            <a:ext cx="303053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920" tIns="46960" rIns="93920" bIns="46960" numCol="1" anchor="b" anchorCtr="0" compatLnSpc="1">
            <a:prstTxWarp prst="textNoShape">
              <a:avLst/>
            </a:prstTxWarp>
          </a:bodyPr>
          <a:lstStyle>
            <a:lvl1pPr algn="r" defTabSz="938213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E737BEB-9250-4702-B43C-3A636F0CD61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ＭＳ Ｐゴシック" charset="0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31A0E380-F0EE-40D0-AFCE-90433E95E2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D0C9F46-EEC1-44E1-AADF-0C5DFAC157FD}" type="slidenum">
              <a:rPr lang="en-US" altLang="en-US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BEE72DA4-8AA8-4864-8EDE-1781EF2B18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133BAE36-8C0B-40D0-862F-F5862FDA85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D737C83C-5231-400C-ABAC-E802D57250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76960B5-CD0D-4E77-9549-F0BE319614AF}" type="slidenum">
              <a:rPr lang="en-US" altLang="en-US"/>
              <a:pPr>
                <a:spcBef>
                  <a:spcPct val="0"/>
                </a:spcBef>
              </a:pPr>
              <a:t>2</a:t>
            </a:fld>
            <a:endParaRPr lang="en-US" altLang="en-US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9C02F081-F3E5-4E82-A506-8249FCC7EA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E01E14C4-E8D3-4EF2-AE91-C909FDE038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D737C83C-5231-400C-ABAC-E802D57250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76960B5-CD0D-4E77-9549-F0BE319614AF}" type="slidenum">
              <a:rPr lang="en-US" altLang="en-US"/>
              <a:pPr>
                <a:spcBef>
                  <a:spcPct val="0"/>
                </a:spcBef>
              </a:pPr>
              <a:t>3</a:t>
            </a:fld>
            <a:endParaRPr lang="en-US" altLang="en-US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9C02F081-F3E5-4E82-A506-8249FCC7EA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E01E14C4-E8D3-4EF2-AE91-C909FDE038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93502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id="{E0B70E7C-6BD0-4B47-846B-BDFA05BE3F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1FFDD60-6F1F-41F9-AE11-E0C93AB48046}" type="slidenum">
              <a:rPr lang="en-US" altLang="en-US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09056EE3-D9C5-4A86-BC14-5FA0427469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9C850731-90E0-4872-BC7B-AD10870C11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F32DA4FD-03E3-4ADF-B51F-ED6C5C47E17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8F12D1A-C6EE-4D7C-AC44-7E505EC7AF9A}" type="slidenum">
              <a:rPr lang="en-US" altLang="en-US"/>
              <a:pPr>
                <a:spcBef>
                  <a:spcPct val="0"/>
                </a:spcBef>
              </a:pPr>
              <a:t>5</a:t>
            </a:fld>
            <a:endParaRPr lang="en-US" altLang="en-US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0DF77218-C772-4D7B-9568-C8F8165B99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D40D1FB1-38D3-4CD0-9B4F-E6C0968214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>
            <a:extLst>
              <a:ext uri="{FF2B5EF4-FFF2-40B4-BE49-F238E27FC236}">
                <a16:creationId xmlns:a16="http://schemas.microsoft.com/office/drawing/2014/main" id="{C03F6759-721F-432F-A734-55E1C5F224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DB28228-8DD8-403B-A9BF-0CD8617B2CD0}" type="slidenum">
              <a:rPr lang="en-US" altLang="en-US"/>
              <a:pPr>
                <a:spcBef>
                  <a:spcPct val="0"/>
                </a:spcBef>
              </a:pPr>
              <a:t>7</a:t>
            </a:fld>
            <a:endParaRPr lang="en-US" altLang="en-US"/>
          </a:p>
        </p:txBody>
      </p:sp>
      <p:sp>
        <p:nvSpPr>
          <p:cNvPr id="99331" name="Rectangle 2">
            <a:extLst>
              <a:ext uri="{FF2B5EF4-FFF2-40B4-BE49-F238E27FC236}">
                <a16:creationId xmlns:a16="http://schemas.microsoft.com/office/drawing/2014/main" id="{FCA8C569-269B-4964-A6C4-E112A1C17A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>
            <a:extLst>
              <a:ext uri="{FF2B5EF4-FFF2-40B4-BE49-F238E27FC236}">
                <a16:creationId xmlns:a16="http://schemas.microsoft.com/office/drawing/2014/main" id="{FA955F6C-4161-4C7D-96F2-9FF5E5C913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30274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3152DB3B-E3D4-4EB9-891D-3AFF2DD1D40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217FA94-1851-4A4F-882F-690D434D5664}" type="slidenum">
              <a:rPr lang="en-US" altLang="en-US"/>
              <a:pPr>
                <a:spcBef>
                  <a:spcPct val="0"/>
                </a:spcBef>
              </a:pPr>
              <a:t>8</a:t>
            </a:fld>
            <a:endParaRPr lang="en-US" altLang="en-US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AAF0C87B-A3AD-4535-996D-565146AFE9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CC7946C1-AA22-4D30-A389-86F48E7982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88A60A3C-83B9-4899-851B-E58271EE25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F2A6619-26FC-4C2B-BBB5-BE9514BF1391}" type="slidenum">
              <a:rPr lang="en-US" altLang="en-US"/>
              <a:pPr>
                <a:spcBef>
                  <a:spcPct val="0"/>
                </a:spcBef>
              </a:pPr>
              <a:t>9</a:t>
            </a:fld>
            <a:endParaRPr lang="en-US" altLang="en-US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19CE9E0F-6018-43CB-B763-D2A60ACCC8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FE9F0D31-793C-457E-82A5-88A01D82B9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28C1544A-10C5-41D5-BE9F-0F5FFAC90E9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858AEBB-0155-4B61-8D5B-283345223885}" type="slidenum">
              <a:rPr lang="en-US" altLang="en-US"/>
              <a:pPr>
                <a:spcBef>
                  <a:spcPct val="0"/>
                </a:spcBef>
              </a:pPr>
              <a:t>10</a:t>
            </a:fld>
            <a:endParaRPr lang="en-US" altLang="en-US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D6171361-ED55-4304-B92D-1B39E353D0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731805C8-25FE-4591-82A9-583FCE3F77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E15551B6-F202-41C7-9919-C9D7CFDD0FB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C98B507-36CD-452D-B3F8-31AD42CE15FF}" type="slidenum">
              <a:rPr lang="en-US" altLang="en-US"/>
              <a:pPr>
                <a:spcBef>
                  <a:spcPct val="0"/>
                </a:spcBef>
              </a:pPr>
              <a:t>11</a:t>
            </a:fld>
            <a:endParaRPr lang="en-US" altLang="en-US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A97D8762-D09A-4267-9D70-BE56B46690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C64E75D3-B753-40E5-8669-F958D69C70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B0FCF47F-4348-498B-B820-B9B73C6D58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EF0E0E8-D17B-41A3-B753-2245199CBB30}" type="slidenum">
              <a:rPr lang="en-US" altLang="en-US"/>
              <a:pPr>
                <a:spcBef>
                  <a:spcPct val="0"/>
                </a:spcBef>
              </a:pPr>
              <a:t>12</a:t>
            </a:fld>
            <a:endParaRPr lang="en-US" altLang="en-US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E6EC2138-3D91-405A-B29F-B1C527799D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77519BCB-959F-4CA7-86A5-A3590C17A1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CBC8D124-B136-42BA-B33A-1DF2378A5FE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43A896A-CD88-45BB-883A-A5A6ACCFC261}" type="slidenum">
              <a:rPr lang="en-US" altLang="en-US"/>
              <a:pPr>
                <a:spcBef>
                  <a:spcPct val="0"/>
                </a:spcBef>
              </a:pPr>
              <a:t>13</a:t>
            </a:fld>
            <a:endParaRPr lang="en-US" altLang="en-US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D0E5C191-44C7-4313-85F7-8BD71D8C93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F12ECE34-0B14-4777-B117-F516895DED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B375F6E7-BF43-423E-9E8D-8524F7B1F7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E8B0E96-3F79-4205-B0CE-221B7F97329C}" type="slidenum">
              <a:rPr lang="en-US" altLang="en-US"/>
              <a:pPr>
                <a:spcBef>
                  <a:spcPct val="0"/>
                </a:spcBef>
              </a:pPr>
              <a:t>14</a:t>
            </a:fld>
            <a:endParaRPr lang="en-US" altLang="en-US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F61EE5A8-966A-41BB-B726-B2C48308DB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C1EC76AA-7316-448A-A891-5E3CEF9330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B375F6E7-BF43-423E-9E8D-8524F7B1F7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E8B0E96-3F79-4205-B0CE-221B7F97329C}" type="slidenum">
              <a:rPr lang="en-US" altLang="en-US"/>
              <a:pPr>
                <a:spcBef>
                  <a:spcPct val="0"/>
                </a:spcBef>
              </a:pPr>
              <a:t>15</a:t>
            </a:fld>
            <a:endParaRPr lang="en-US" altLang="en-US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F61EE5A8-966A-41BB-B726-B2C48308DB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C1EC76AA-7316-448A-A891-5E3CEF9330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38568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B375F6E7-BF43-423E-9E8D-8524F7B1F7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E8B0E96-3F79-4205-B0CE-221B7F97329C}" type="slidenum">
              <a:rPr lang="en-US" altLang="en-US"/>
              <a:pPr>
                <a:spcBef>
                  <a:spcPct val="0"/>
                </a:spcBef>
              </a:pPr>
              <a:t>16</a:t>
            </a:fld>
            <a:endParaRPr lang="en-US" altLang="en-US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F61EE5A8-966A-41BB-B726-B2C48308DB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C1EC76AA-7316-448A-A891-5E3CEF9330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</a:rPr>
              <a:t>How about </a:t>
            </a:r>
            <a:r>
              <a:rPr lang="en-US" altLang="en-US" dirty="0">
                <a:sym typeface="Greek Symbols" pitchFamily="18" charset="2"/>
              </a:rPr>
              <a:t>(r </a:t>
            </a:r>
            <a:r>
              <a:rPr lang="en-IN" dirty="0"/>
              <a:t>⟕ s) ⟕ t  vs </a:t>
            </a:r>
            <a:r>
              <a:rPr lang="en-US" altLang="en-US" dirty="0">
                <a:sym typeface="Greek Symbols" pitchFamily="18" charset="2"/>
              </a:rPr>
              <a:t>(r </a:t>
            </a:r>
            <a:r>
              <a:rPr lang="en-IN" dirty="0"/>
              <a:t>⟕ t) ⟕ s assuming r has common attributes with s and t?  Hint: consider 2 cases where s and t have common attributes and those where they have no common attribute </a:t>
            </a:r>
            <a:endParaRPr lang="en-US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64848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2FFE2C0B-1E00-41D0-8A11-C4E72548B5D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8C713CF-9607-4470-A273-AC494A38B95B}" type="slidenum">
              <a:rPr lang="en-US" altLang="en-US"/>
              <a:pPr>
                <a:spcBef>
                  <a:spcPct val="0"/>
                </a:spcBef>
              </a:pPr>
              <a:t>19</a:t>
            </a:fld>
            <a:endParaRPr lang="en-US" altLang="en-US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919EB798-4276-4EB1-BA14-2883766AD6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3ECD4996-047F-43DA-BBDD-D548EFF47D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9047973B-0933-4747-BC7D-DC93B515F7A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6076AEA-D4D8-443A-B94D-3E3B52B66C93}" type="slidenum">
              <a:rPr lang="en-US" altLang="en-US"/>
              <a:pPr>
                <a:spcBef>
                  <a:spcPct val="0"/>
                </a:spcBef>
              </a:pPr>
              <a:t>21</a:t>
            </a:fld>
            <a:endParaRPr lang="en-US" altLang="en-US"/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094E1CE2-39F3-415A-A9D3-7A1485FAB1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9618E90F-7E5F-432A-A700-F2B7700B1C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371AD5BA-2A20-45B1-B5ED-8C53DA2ECC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7A7E811-F856-4583-9950-8E1234DCF49C}" type="slidenum">
              <a:rPr lang="en-US" altLang="en-US"/>
              <a:pPr>
                <a:spcBef>
                  <a:spcPct val="0"/>
                </a:spcBef>
              </a:pPr>
              <a:t>22</a:t>
            </a:fld>
            <a:endParaRPr lang="en-US" altLang="en-US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294988F5-3980-4401-8BEA-49271D3F2BC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1081064C-90F0-4D6B-84C2-C2B908F487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>
            <a:extLst>
              <a:ext uri="{FF2B5EF4-FFF2-40B4-BE49-F238E27FC236}">
                <a16:creationId xmlns:a16="http://schemas.microsoft.com/office/drawing/2014/main" id="{DC3B6426-DEBD-439A-B825-EAF23D5313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3591014-7458-4460-9DFD-89B1944A3F9E}" type="slidenum">
              <a:rPr lang="en-US" altLang="en-US"/>
              <a:pPr>
                <a:spcBef>
                  <a:spcPct val="0"/>
                </a:spcBef>
              </a:pPr>
              <a:t>23</a:t>
            </a:fld>
            <a:endParaRPr lang="en-US" altLang="en-US"/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86B845D5-6C90-4896-8EFD-B2EEDA235B7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0ADE95A0-2975-4AFA-9BF4-3B9DD6F099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>
            <a:extLst>
              <a:ext uri="{FF2B5EF4-FFF2-40B4-BE49-F238E27FC236}">
                <a16:creationId xmlns:a16="http://schemas.microsoft.com/office/drawing/2014/main" id="{31B06015-4375-4F47-98C5-80E32064BCC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9566348-BFEE-4085-9B98-BB3E51A967A7}" type="slidenum">
              <a:rPr lang="en-US" altLang="en-US"/>
              <a:pPr>
                <a:spcBef>
                  <a:spcPct val="0"/>
                </a:spcBef>
              </a:pPr>
              <a:t>24</a:t>
            </a:fld>
            <a:endParaRPr lang="en-US" altLang="en-US"/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400DAAEE-9188-46A0-8928-77476B356C7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131AFA1C-1C5D-441D-82BC-5AC4D121B4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>
            <a:extLst>
              <a:ext uri="{FF2B5EF4-FFF2-40B4-BE49-F238E27FC236}">
                <a16:creationId xmlns:a16="http://schemas.microsoft.com/office/drawing/2014/main" id="{4207BE2E-CD49-4007-A746-9E7BC97E9AD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E2F11D3-C453-4FDA-9D45-787E30EAB8E3}" type="slidenum">
              <a:rPr lang="en-US" altLang="en-US"/>
              <a:pPr>
                <a:spcBef>
                  <a:spcPct val="0"/>
                </a:spcBef>
              </a:pPr>
              <a:t>25</a:t>
            </a:fld>
            <a:endParaRPr lang="en-US" altLang="en-US"/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048AD38A-DA1E-4E9E-B746-D9DC296EF4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2FBAAC0F-5BDD-45F4-AAE7-FD45B13CE6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>
            <a:extLst>
              <a:ext uri="{FF2B5EF4-FFF2-40B4-BE49-F238E27FC236}">
                <a16:creationId xmlns:a16="http://schemas.microsoft.com/office/drawing/2014/main" id="{C03F6759-721F-432F-A734-55E1C5F224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DB28228-8DD8-403B-A9BF-0CD8617B2CD0}" type="slidenum">
              <a:rPr lang="en-US" altLang="en-US"/>
              <a:pPr>
                <a:spcBef>
                  <a:spcPct val="0"/>
                </a:spcBef>
              </a:pPr>
              <a:t>26</a:t>
            </a:fld>
            <a:endParaRPr lang="en-US" altLang="en-US"/>
          </a:p>
        </p:txBody>
      </p:sp>
      <p:sp>
        <p:nvSpPr>
          <p:cNvPr id="99331" name="Rectangle 2">
            <a:extLst>
              <a:ext uri="{FF2B5EF4-FFF2-40B4-BE49-F238E27FC236}">
                <a16:creationId xmlns:a16="http://schemas.microsoft.com/office/drawing/2014/main" id="{FCA8C569-269B-4964-A6C4-E112A1C17A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>
            <a:extLst>
              <a:ext uri="{FF2B5EF4-FFF2-40B4-BE49-F238E27FC236}">
                <a16:creationId xmlns:a16="http://schemas.microsoft.com/office/drawing/2014/main" id="{FA955F6C-4161-4C7D-96F2-9FF5E5C913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196291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B8E1D179-B9D0-48F6-B6D0-CA0943E584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87635B1-A065-42E2-B3DD-0514E4CC0D92}" type="slidenum">
              <a:rPr lang="en-US" altLang="en-US"/>
              <a:pPr>
                <a:spcBef>
                  <a:spcPct val="0"/>
                </a:spcBef>
              </a:pPr>
              <a:t>27</a:t>
            </a:fld>
            <a:endParaRPr lang="en-US" altLang="en-US"/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6261093E-637A-458C-94AC-5E33FAC54E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DADF86CC-0D28-4363-A6D7-10D10E9193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>
            <a:extLst>
              <a:ext uri="{FF2B5EF4-FFF2-40B4-BE49-F238E27FC236}">
                <a16:creationId xmlns:a16="http://schemas.microsoft.com/office/drawing/2014/main" id="{1ECC75F1-FF96-44EB-9E57-7B4029AEEEA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918ACC0-49F8-47AD-970F-E6ED5878580B}" type="slidenum">
              <a:rPr lang="en-US" altLang="en-US"/>
              <a:pPr>
                <a:spcBef>
                  <a:spcPct val="0"/>
                </a:spcBef>
              </a:pPr>
              <a:t>28</a:t>
            </a:fld>
            <a:endParaRPr lang="en-US" altLang="en-US"/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94DFE4F3-2356-4D53-BC8E-C847746CD5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57C376C0-3BE1-415B-9426-66FD918A09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FABB337A-7416-4EA0-B63B-3F3E233AD1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C5B2E15-168D-404D-B3E5-D811B39D72AB}" type="slidenum">
              <a:rPr lang="en-US" altLang="en-US"/>
              <a:pPr>
                <a:spcBef>
                  <a:spcPct val="0"/>
                </a:spcBef>
              </a:pPr>
              <a:t>29</a:t>
            </a:fld>
            <a:endParaRPr lang="en-US" altLang="en-US"/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38E8E170-8726-477F-A246-82382BBD6D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8ECF24F5-E536-40B5-A388-459BFDBDDC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83559CD3-DE10-4005-9316-DA78585EA08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BDC10EE-63E0-4227-A36A-67C2F043110C}" type="slidenum">
              <a:rPr lang="en-US" altLang="en-US"/>
              <a:pPr>
                <a:spcBef>
                  <a:spcPct val="0"/>
                </a:spcBef>
              </a:pPr>
              <a:t>30</a:t>
            </a:fld>
            <a:endParaRPr lang="en-US" altLang="en-US"/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C7D3DFD0-427F-437C-952B-2FFAA5FBDA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2C53DDDB-BBE4-4830-A772-48EB4E4562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5F7092FC-A0F3-4562-BBBC-D1152A1026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8A6C910-6398-48B8-8ED3-30ACA795710E}" type="slidenum">
              <a:rPr lang="en-US" altLang="en-US"/>
              <a:pPr>
                <a:spcBef>
                  <a:spcPct val="0"/>
                </a:spcBef>
              </a:pPr>
              <a:t>31</a:t>
            </a:fld>
            <a:endParaRPr lang="en-US" altLang="en-US"/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5A228FE6-43E8-4CC2-93E1-40D7894ECF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4FF91C14-76BF-40D6-A170-A521689250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F89C2380-DD83-417E-8993-3E83E876F2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293E869-9D40-4B88-8E40-B0ACF785DB22}" type="slidenum">
              <a:rPr lang="en-US" altLang="en-US"/>
              <a:pPr>
                <a:spcBef>
                  <a:spcPct val="0"/>
                </a:spcBef>
              </a:pPr>
              <a:t>32</a:t>
            </a:fld>
            <a:endParaRPr lang="en-US" altLang="en-US"/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86891FF3-6310-4B2B-9BBA-3BD705C15E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EE2D25C5-071E-46E9-AB50-21CB676145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>
            <a:extLst>
              <a:ext uri="{FF2B5EF4-FFF2-40B4-BE49-F238E27FC236}">
                <a16:creationId xmlns:a16="http://schemas.microsoft.com/office/drawing/2014/main" id="{1EB7A463-DB2F-4593-9E41-069B4BF3E8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08EC5A6-CA0A-4B93-9AE1-9C51E7E4F0A0}" type="slidenum">
              <a:rPr lang="en-US" altLang="en-US"/>
              <a:pPr>
                <a:spcBef>
                  <a:spcPct val="0"/>
                </a:spcBef>
              </a:pPr>
              <a:t>33</a:t>
            </a:fld>
            <a:endParaRPr lang="en-US" altLang="en-US"/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6CFF0221-CA6B-4D1B-A3C8-6874FCCEEF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id="{B42A2413-B610-4EAB-97EF-BF4B6A27AF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>
            <a:extLst>
              <a:ext uri="{FF2B5EF4-FFF2-40B4-BE49-F238E27FC236}">
                <a16:creationId xmlns:a16="http://schemas.microsoft.com/office/drawing/2014/main" id="{016C5B21-E863-445D-9DA4-2B041C1CE8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9D611E8-E558-46B3-9611-D02AC771076E}" type="slidenum">
              <a:rPr lang="en-US" altLang="en-US"/>
              <a:pPr>
                <a:spcBef>
                  <a:spcPct val="0"/>
                </a:spcBef>
              </a:pPr>
              <a:t>34</a:t>
            </a:fld>
            <a:endParaRPr lang="en-US" altLang="en-US"/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A9B3F4B0-0CA9-477B-9D07-09B144085F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>
            <a:extLst>
              <a:ext uri="{FF2B5EF4-FFF2-40B4-BE49-F238E27FC236}">
                <a16:creationId xmlns:a16="http://schemas.microsoft.com/office/drawing/2014/main" id="{623B7D8A-A03D-4DC1-809E-381D45FDF3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>
            <a:extLst>
              <a:ext uri="{FF2B5EF4-FFF2-40B4-BE49-F238E27FC236}">
                <a16:creationId xmlns:a16="http://schemas.microsoft.com/office/drawing/2014/main" id="{0249BD36-102A-4631-857E-2CB6D1FD67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73CA7CE-698A-4263-91A8-AF3B66C5F188}" type="slidenum">
              <a:rPr lang="en-US" altLang="en-US"/>
              <a:pPr>
                <a:spcBef>
                  <a:spcPct val="0"/>
                </a:spcBef>
              </a:pPr>
              <a:t>35</a:t>
            </a:fld>
            <a:endParaRPr lang="en-US" altLang="en-US"/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6CFF2B0C-4A73-436F-8BB6-A68FABA644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1D40C941-A8A7-46CD-8549-B48D8C1745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>
            <a:extLst>
              <a:ext uri="{FF2B5EF4-FFF2-40B4-BE49-F238E27FC236}">
                <a16:creationId xmlns:a16="http://schemas.microsoft.com/office/drawing/2014/main" id="{E288FAC4-4038-46A2-A12A-7A88395647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B8E3653-64ED-4D8A-A0DD-2DF026C78E72}" type="slidenum">
              <a:rPr lang="en-US" altLang="en-US"/>
              <a:pPr>
                <a:spcBef>
                  <a:spcPct val="0"/>
                </a:spcBef>
              </a:pPr>
              <a:t>36</a:t>
            </a:fld>
            <a:endParaRPr lang="en-US" altLang="en-US"/>
          </a:p>
        </p:txBody>
      </p:sp>
      <p:sp>
        <p:nvSpPr>
          <p:cNvPr id="128003" name="Rectangle 2">
            <a:extLst>
              <a:ext uri="{FF2B5EF4-FFF2-40B4-BE49-F238E27FC236}">
                <a16:creationId xmlns:a16="http://schemas.microsoft.com/office/drawing/2014/main" id="{15CF936A-C5DA-4982-ACDC-E1FF21660F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>
            <a:extLst>
              <a:ext uri="{FF2B5EF4-FFF2-40B4-BE49-F238E27FC236}">
                <a16:creationId xmlns:a16="http://schemas.microsoft.com/office/drawing/2014/main" id="{E5F153B0-EB6B-41C6-A9F2-A3802207F1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>
            <a:extLst>
              <a:ext uri="{FF2B5EF4-FFF2-40B4-BE49-F238E27FC236}">
                <a16:creationId xmlns:a16="http://schemas.microsoft.com/office/drawing/2014/main" id="{B5D7CD0E-03B2-435D-8ABE-5EC3B2BBBD9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433C407-B021-4004-BEFB-2930E33D2AE7}" type="slidenum">
              <a:rPr lang="en-US" altLang="en-US"/>
              <a:pPr>
                <a:spcBef>
                  <a:spcPct val="0"/>
                </a:spcBef>
              </a:pPr>
              <a:t>37</a:t>
            </a:fld>
            <a:endParaRPr lang="en-US" altLang="en-US"/>
          </a:p>
        </p:txBody>
      </p:sp>
      <p:sp>
        <p:nvSpPr>
          <p:cNvPr id="130051" name="Rectangle 2">
            <a:extLst>
              <a:ext uri="{FF2B5EF4-FFF2-40B4-BE49-F238E27FC236}">
                <a16:creationId xmlns:a16="http://schemas.microsoft.com/office/drawing/2014/main" id="{E79ADFA5-7781-480A-87AF-AA0BA997AD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>
            <a:extLst>
              <a:ext uri="{FF2B5EF4-FFF2-40B4-BE49-F238E27FC236}">
                <a16:creationId xmlns:a16="http://schemas.microsoft.com/office/drawing/2014/main" id="{7E916BB3-9301-4BEC-86C7-6F3494D6A9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>
            <a:extLst>
              <a:ext uri="{FF2B5EF4-FFF2-40B4-BE49-F238E27FC236}">
                <a16:creationId xmlns:a16="http://schemas.microsoft.com/office/drawing/2014/main" id="{C4CB9F3B-7097-4D9B-A0CC-C9A19543E17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D910C1C-9B68-4964-8816-B48DEF4567E5}" type="slidenum">
              <a:rPr lang="en-US" altLang="en-US"/>
              <a:pPr>
                <a:spcBef>
                  <a:spcPct val="0"/>
                </a:spcBef>
              </a:pPr>
              <a:t>38</a:t>
            </a:fld>
            <a:endParaRPr lang="en-US" altLang="en-US"/>
          </a:p>
        </p:txBody>
      </p:sp>
      <p:sp>
        <p:nvSpPr>
          <p:cNvPr id="140291" name="Rectangle 2">
            <a:extLst>
              <a:ext uri="{FF2B5EF4-FFF2-40B4-BE49-F238E27FC236}">
                <a16:creationId xmlns:a16="http://schemas.microsoft.com/office/drawing/2014/main" id="{8EE1013D-C394-418F-B045-97FCFBE1C1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2" name="Rectangle 3">
            <a:extLst>
              <a:ext uri="{FF2B5EF4-FFF2-40B4-BE49-F238E27FC236}">
                <a16:creationId xmlns:a16="http://schemas.microsoft.com/office/drawing/2014/main" id="{5A741CBA-D06C-4824-AEDE-7F6DFC75E4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>
            <a:extLst>
              <a:ext uri="{FF2B5EF4-FFF2-40B4-BE49-F238E27FC236}">
                <a16:creationId xmlns:a16="http://schemas.microsoft.com/office/drawing/2014/main" id="{CD4D5D04-50D0-4DB8-8CDA-A17F1E5C1857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67163" y="8820150"/>
            <a:ext cx="3030537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920" tIns="46960" rIns="93920" bIns="46960" anchor="b"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0"/>
              </a:spcBef>
            </a:pPr>
            <a:fld id="{98450238-5616-4D92-9D1B-D7FF94A6CF05}" type="slidenum">
              <a:rPr lang="en-US" altLang="en-US"/>
              <a:pPr algn="r">
                <a:spcBef>
                  <a:spcPct val="0"/>
                </a:spcBef>
              </a:pPr>
              <a:t>39</a:t>
            </a:fld>
            <a:endParaRPr lang="en-US" altLang="en-US"/>
          </a:p>
        </p:txBody>
      </p:sp>
      <p:sp>
        <p:nvSpPr>
          <p:cNvPr id="142339" name="Rectangle 2">
            <a:extLst>
              <a:ext uri="{FF2B5EF4-FFF2-40B4-BE49-F238E27FC236}">
                <a16:creationId xmlns:a16="http://schemas.microsoft.com/office/drawing/2014/main" id="{ADE7A286-C5C9-4466-90C9-D77B5A037E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40" name="Rectangle 3">
            <a:extLst>
              <a:ext uri="{FF2B5EF4-FFF2-40B4-BE49-F238E27FC236}">
                <a16:creationId xmlns:a16="http://schemas.microsoft.com/office/drawing/2014/main" id="{E2AC6789-8E55-480F-8B75-71D3E4E99B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>
            <a:extLst>
              <a:ext uri="{FF2B5EF4-FFF2-40B4-BE49-F238E27FC236}">
                <a16:creationId xmlns:a16="http://schemas.microsoft.com/office/drawing/2014/main" id="{8FA3785B-BC96-4292-A7D7-3490BBAC94E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EDE018D-3132-477A-A792-7CFDAD3B58BC}" type="slidenum">
              <a:rPr lang="en-US" altLang="en-US"/>
              <a:pPr>
                <a:spcBef>
                  <a:spcPct val="0"/>
                </a:spcBef>
              </a:pPr>
              <a:t>40</a:t>
            </a:fld>
            <a:endParaRPr lang="en-US" altLang="en-US"/>
          </a:p>
        </p:txBody>
      </p:sp>
      <p:sp>
        <p:nvSpPr>
          <p:cNvPr id="144387" name="Rectangle 2">
            <a:extLst>
              <a:ext uri="{FF2B5EF4-FFF2-40B4-BE49-F238E27FC236}">
                <a16:creationId xmlns:a16="http://schemas.microsoft.com/office/drawing/2014/main" id="{7FD8AC91-B35C-4516-87D5-C868B4FA3E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8" name="Rectangle 3">
            <a:extLst>
              <a:ext uri="{FF2B5EF4-FFF2-40B4-BE49-F238E27FC236}">
                <a16:creationId xmlns:a16="http://schemas.microsoft.com/office/drawing/2014/main" id="{B964DA40-7F35-438E-811E-E2F7C2A787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>
            <a:extLst>
              <a:ext uri="{FF2B5EF4-FFF2-40B4-BE49-F238E27FC236}">
                <a16:creationId xmlns:a16="http://schemas.microsoft.com/office/drawing/2014/main" id="{C03F6759-721F-432F-A734-55E1C5F224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DB28228-8DD8-403B-A9BF-0CD8617B2CD0}" type="slidenum">
              <a:rPr lang="en-US" altLang="en-US"/>
              <a:pPr>
                <a:spcBef>
                  <a:spcPct val="0"/>
                </a:spcBef>
              </a:pPr>
              <a:t>42</a:t>
            </a:fld>
            <a:endParaRPr lang="en-US" altLang="en-US"/>
          </a:p>
        </p:txBody>
      </p:sp>
      <p:sp>
        <p:nvSpPr>
          <p:cNvPr id="99331" name="Rectangle 2">
            <a:extLst>
              <a:ext uri="{FF2B5EF4-FFF2-40B4-BE49-F238E27FC236}">
                <a16:creationId xmlns:a16="http://schemas.microsoft.com/office/drawing/2014/main" id="{FCA8C569-269B-4964-A6C4-E112A1C17A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>
            <a:extLst>
              <a:ext uri="{FF2B5EF4-FFF2-40B4-BE49-F238E27FC236}">
                <a16:creationId xmlns:a16="http://schemas.microsoft.com/office/drawing/2014/main" id="{FA955F6C-4161-4C7D-96F2-9FF5E5C913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65113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id="{6AB433D2-BE84-467A-82DB-DBFCF9F93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Korth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</a:p>
        </p:txBody>
      </p:sp>
      <p:sp>
        <p:nvSpPr>
          <p:cNvPr id="4874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5B7FE48-B4A0-4404-A94E-2D4837BDADF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 smtClean="0"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118533F7-750B-4DBA-96FC-65DC7E364DFB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0" y="12336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 descr="Cover-6Ed">
            <a:extLst>
              <a:ext uri="{FF2B5EF4-FFF2-40B4-BE49-F238E27FC236}">
                <a16:creationId xmlns:a16="http://schemas.microsoft.com/office/drawing/2014/main" id="{77026798-0827-482F-848C-054321BDFD4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4" y="0"/>
            <a:ext cx="1331912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34172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102497"/>
            <a:ext cx="7772400" cy="5367972"/>
          </a:xfrm>
          <a:prstGeom prst="rect">
            <a:avLst/>
          </a:prstGeo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 sz="1700"/>
            </a:lvl2pPr>
            <a:lvl3pPr marL="1085850" indent="-228600">
              <a:buSzPct val="100000"/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20204" pitchFamily="34" charset="0"/>
              <a:buChar char="•"/>
              <a:defRPr sz="1700"/>
            </a:lvl4pPr>
            <a:lvl5pPr marL="1771650" indent="-228600">
              <a:buSzPct val="100000"/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2D457B-4574-44A7-82F5-364A95AA256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C0FF13-A7A4-47FE-9669-E2EFAD58ABE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7688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44747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4863" y="4073662"/>
            <a:ext cx="7772400" cy="1500187"/>
          </a:xfrm>
          <a:prstGeom prst="rect">
            <a:avLst/>
          </a:prstGeom>
        </p:spPr>
        <p:txBody>
          <a:bodyPr anchor="b"/>
          <a:lstStyle>
            <a:lvl1pPr marL="342900" indent="-342900">
              <a:buFont typeface="Wingdings" panose="05000000000000000000" pitchFamily="2" charset="2"/>
              <a:buChar char="§"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33A2CD-6A4B-4240-88F1-B4D7FEB50A7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F29D90-88FA-402A-BEA8-1EF51CAB6752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22027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C4FAFEB-DA24-40E3-81A3-2C7117781D6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F592F4-3A7D-46E7-98AB-5C544D380A1B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E86E211-15D2-459B-B331-A82FFB150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424" y="1102497"/>
            <a:ext cx="3985352" cy="5367972"/>
          </a:xfrm>
          <a:prstGeom prst="rect">
            <a:avLst/>
          </a:prstGeo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 sz="1700"/>
            </a:lvl2pPr>
            <a:lvl3pPr marL="1085850" indent="-228600">
              <a:buSzPct val="100000"/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20204" pitchFamily="34" charset="0"/>
              <a:buChar char="•"/>
              <a:defRPr sz="1700"/>
            </a:lvl4pPr>
            <a:lvl5pPr marL="1771650" indent="-228600">
              <a:buSzPct val="100000"/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34069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2096E68-496F-4499-93E9-D10C62B93D1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4C0E4B-79D4-46C0-883C-5BC043062C35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72332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F8A17BCC-393D-48FB-8CCD-31D1E0C6FA4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FDF77F-67A1-48F6-8358-97C70542CB22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14179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A54EDB4F-7D4C-4F34-9AD3-169F9858A5E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16F0F5-1220-4B86-AECD-B7BEE6E1BE7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2740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A8DFBA5-2441-4C97-8340-430BD863557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25D68A-6EDF-45EE-BBA8-637BD793E61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67097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8B4ACE8-FA36-4C9A-B2D0-93D5FB40D30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035670-FB96-4DB8-BA64-B31D7C042BD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3817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4388" y="1093788"/>
            <a:ext cx="7661275" cy="490378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77CD6D-A5E2-4543-81E0-D97745649CE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E145AF-6EF6-4D3F-9F5A-D9A01965DFC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931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D4BD1A-4145-49C3-8D7D-1F956B76030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0473E3-C97D-4F1E-BBB4-46F84DAEF79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82299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0" y="117475"/>
            <a:ext cx="8077200" cy="6096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14388" y="1093788"/>
            <a:ext cx="3754437" cy="49037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7C2D5D2-FFA8-4B97-9D6C-DF120847B51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ED80F2-B6B5-42D7-B641-5532DED8682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71861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id="{6E2D77BB-A1E3-4E40-9A08-249BCF8B85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</a:t>
            </a:r>
            <a:r>
              <a:rPr lang="en-US" altLang="en-US" sz="1200" b="1" dirty="0" err="1">
                <a:solidFill>
                  <a:srgbClr val="002060"/>
                </a:solidFill>
              </a:rPr>
              <a:t>Korth</a:t>
            </a:r>
            <a:r>
              <a:rPr lang="en-US" altLang="en-US" sz="1200" b="1" dirty="0">
                <a:solidFill>
                  <a:srgbClr val="002060"/>
                </a:solidFill>
              </a:rPr>
              <a:t>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</a:p>
        </p:txBody>
      </p:sp>
      <p:sp>
        <p:nvSpPr>
          <p:cNvPr id="6133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053C40E-D8FC-4564-9F45-CF1A7087346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2862263" y="5780088"/>
            <a:ext cx="344805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>
                <a:solidFill>
                  <a:srgbClr val="578963"/>
                </a:solidFill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7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2D242F4-2B18-4F93-AF83-C0B3D393143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 smtClean="0"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118533F7-750B-4DBA-96FC-65DC7E364DF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4" y="0"/>
            <a:ext cx="1331912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24774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0B05D94-0FBF-40E0-A0E2-9EC3FEAB3C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50876" y="1093788"/>
            <a:ext cx="7824788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US" altLang="en-US" dirty="0"/>
          </a:p>
        </p:txBody>
      </p:sp>
      <p:sp>
        <p:nvSpPr>
          <p:cNvPr id="486403" name="Rectangle 3">
            <a:extLst>
              <a:ext uri="{FF2B5EF4-FFF2-40B4-BE49-F238E27FC236}">
                <a16:creationId xmlns:a16="http://schemas.microsoft.com/office/drawing/2014/main" id="{A6119F77-21C9-4FBD-95D1-4884EA2BEF6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 smtClean="0">
                <a:solidFill>
                  <a:schemeClr val="bg2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43251494-9320-46DB-9561-B10814EE66F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28" name="Text Box 4">
            <a:extLst>
              <a:ext uri="{FF2B5EF4-FFF2-40B4-BE49-F238E27FC236}">
                <a16:creationId xmlns:a16="http://schemas.microsoft.com/office/drawing/2014/main" id="{DB0C920A-6775-4600-AD1D-310553D67F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©Silberschatz, Korth and Sudarshan</a:t>
            </a:r>
          </a:p>
        </p:txBody>
      </p:sp>
      <p:sp>
        <p:nvSpPr>
          <p:cNvPr id="486405" name="Text Box 5">
            <a:extLst>
              <a:ext uri="{FF2B5EF4-FFF2-40B4-BE49-F238E27FC236}">
                <a16:creationId xmlns:a16="http://schemas.microsoft.com/office/drawing/2014/main" id="{7FED4366-B3D8-4635-90AF-59F6E59B90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4717" y="6613525"/>
            <a:ext cx="51809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16.</a:t>
            </a:r>
            <a:fld id="{370CC2A8-7410-4F9E-B2CB-FCF9B3031B7B}" type="slidenum">
              <a:rPr lang="en-US" altLang="en-US" sz="1000" b="1" smtClean="0">
                <a:solidFill>
                  <a:srgbClr val="002060"/>
                </a:solidFill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 dirty="0">
              <a:solidFill>
                <a:srgbClr val="002060"/>
              </a:solidFill>
            </a:endParaRPr>
          </a:p>
        </p:txBody>
      </p:sp>
      <p:sp>
        <p:nvSpPr>
          <p:cNvPr id="486406" name="Rectangle 6">
            <a:extLst>
              <a:ext uri="{FF2B5EF4-FFF2-40B4-BE49-F238E27FC236}">
                <a16:creationId xmlns:a16="http://schemas.microsoft.com/office/drawing/2014/main" id="{0CE0643F-4358-4AEC-B259-E86C95F0ED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31" name="Text Box 7">
            <a:extLst>
              <a:ext uri="{FF2B5EF4-FFF2-40B4-BE49-F238E27FC236}">
                <a16:creationId xmlns:a16="http://schemas.microsoft.com/office/drawing/2014/main" id="{00361987-037F-4498-968A-B3CB9D3A9E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613525"/>
            <a:ext cx="25717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2060"/>
                </a:solidFill>
              </a:rPr>
              <a:t>Database System Concepts - 7</a:t>
            </a:r>
            <a:r>
              <a:rPr lang="en-US" sz="1000" b="1" baseline="30000" dirty="0">
                <a:solidFill>
                  <a:srgbClr val="002060"/>
                </a:solidFill>
              </a:rPr>
              <a:t>th</a:t>
            </a:r>
            <a:r>
              <a:rPr lang="en-US" sz="1000" b="1" dirty="0">
                <a:solidFill>
                  <a:srgbClr val="002060"/>
                </a:solidFill>
              </a:rPr>
              <a:t> Edition</a:t>
            </a:r>
          </a:p>
        </p:txBody>
      </p:sp>
      <p:sp>
        <p:nvSpPr>
          <p:cNvPr id="1032" name="Freeform 8">
            <a:extLst>
              <a:ext uri="{FF2B5EF4-FFF2-40B4-BE49-F238E27FC236}">
                <a16:creationId xmlns:a16="http://schemas.microsoft.com/office/drawing/2014/main" id="{0669EEB5-E1E1-4615-B40A-87AE23727066}"/>
              </a:ext>
            </a:extLst>
          </p:cNvPr>
          <p:cNvSpPr>
            <a:spLocks/>
          </p:cNvSpPr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35963902 h 61"/>
              <a:gd name="T2" fmla="*/ 1268878 w 285"/>
              <a:gd name="T3" fmla="*/ 29258145 h 61"/>
              <a:gd name="T4" fmla="*/ 5710347 w 285"/>
              <a:gd name="T5" fmla="*/ 20724682 h 61"/>
              <a:gd name="T6" fmla="*/ 10785858 w 285"/>
              <a:gd name="T7" fmla="*/ 15238439 h 61"/>
              <a:gd name="T8" fmla="*/ 19033961 w 285"/>
              <a:gd name="T9" fmla="*/ 10362732 h 61"/>
              <a:gd name="T10" fmla="*/ 28550941 w 285"/>
              <a:gd name="T11" fmla="*/ 6095219 h 61"/>
              <a:gd name="T12" fmla="*/ 36164206 w 285"/>
              <a:gd name="T13" fmla="*/ 3656975 h 61"/>
              <a:gd name="T14" fmla="*/ 44412309 w 285"/>
              <a:gd name="T15" fmla="*/ 1218732 h 61"/>
              <a:gd name="T16" fmla="*/ 53929289 w 285"/>
              <a:gd name="T17" fmla="*/ 0 h 61"/>
              <a:gd name="T18" fmla="*/ 63446270 w 285"/>
              <a:gd name="T19" fmla="*/ 0 h 61"/>
              <a:gd name="T20" fmla="*/ 74866965 w 285"/>
              <a:gd name="T21" fmla="*/ 0 h 61"/>
              <a:gd name="T22" fmla="*/ 86921700 w 285"/>
              <a:gd name="T23" fmla="*/ 0 h 61"/>
              <a:gd name="T24" fmla="*/ 97707558 w 285"/>
              <a:gd name="T25" fmla="*/ 1218732 h 61"/>
              <a:gd name="T26" fmla="*/ 109762293 w 285"/>
              <a:gd name="T27" fmla="*/ 3656975 h 61"/>
              <a:gd name="T28" fmla="*/ 121817029 w 285"/>
              <a:gd name="T29" fmla="*/ 4876488 h 61"/>
              <a:gd name="T30" fmla="*/ 132602887 w 285"/>
              <a:gd name="T31" fmla="*/ 7314732 h 61"/>
              <a:gd name="T32" fmla="*/ 142119867 w 285"/>
              <a:gd name="T33" fmla="*/ 9143219 h 61"/>
              <a:gd name="T34" fmla="*/ 151636847 w 285"/>
              <a:gd name="T35" fmla="*/ 11581463 h 61"/>
              <a:gd name="T36" fmla="*/ 161153827 w 285"/>
              <a:gd name="T37" fmla="*/ 14019707 h 61"/>
              <a:gd name="T38" fmla="*/ 168767890 w 285"/>
              <a:gd name="T39" fmla="*/ 15238439 h 61"/>
              <a:gd name="T40" fmla="*/ 173209359 w 285"/>
              <a:gd name="T41" fmla="*/ 16457951 h 61"/>
              <a:gd name="T42" fmla="*/ 179553747 w 285"/>
              <a:gd name="T43" fmla="*/ 18896195 h 61"/>
              <a:gd name="T44" fmla="*/ 177015992 w 285"/>
              <a:gd name="T45" fmla="*/ 26819902 h 61"/>
              <a:gd name="T46" fmla="*/ 173209359 w 285"/>
              <a:gd name="T47" fmla="*/ 25601170 h 61"/>
              <a:gd name="T48" fmla="*/ 164961257 w 285"/>
              <a:gd name="T49" fmla="*/ 24382439 h 61"/>
              <a:gd name="T50" fmla="*/ 152906521 w 285"/>
              <a:gd name="T51" fmla="*/ 21944195 h 61"/>
              <a:gd name="T52" fmla="*/ 145927296 w 285"/>
              <a:gd name="T53" fmla="*/ 20724682 h 61"/>
              <a:gd name="T54" fmla="*/ 138313234 w 285"/>
              <a:gd name="T55" fmla="*/ 19505951 h 61"/>
              <a:gd name="T56" fmla="*/ 131334009 w 285"/>
              <a:gd name="T57" fmla="*/ 18896195 h 61"/>
              <a:gd name="T58" fmla="*/ 124355581 w 285"/>
              <a:gd name="T59" fmla="*/ 17676682 h 61"/>
              <a:gd name="T60" fmla="*/ 115472641 w 285"/>
              <a:gd name="T61" fmla="*/ 16457951 h 61"/>
              <a:gd name="T62" fmla="*/ 109762293 w 285"/>
              <a:gd name="T63" fmla="*/ 15238439 h 61"/>
              <a:gd name="T64" fmla="*/ 103417905 w 285"/>
              <a:gd name="T65" fmla="*/ 14019707 h 61"/>
              <a:gd name="T66" fmla="*/ 97707558 w 285"/>
              <a:gd name="T67" fmla="*/ 12800195 h 61"/>
              <a:gd name="T68" fmla="*/ 90094292 w 285"/>
              <a:gd name="T69" fmla="*/ 11581463 h 61"/>
              <a:gd name="T70" fmla="*/ 69791454 w 285"/>
              <a:gd name="T71" fmla="*/ 9143219 h 61"/>
              <a:gd name="T72" fmla="*/ 52660412 w 285"/>
              <a:gd name="T73" fmla="*/ 12800195 h 61"/>
              <a:gd name="T74" fmla="*/ 37433084 w 285"/>
              <a:gd name="T75" fmla="*/ 17676682 h 61"/>
              <a:gd name="T76" fmla="*/ 33626451 w 285"/>
              <a:gd name="T77" fmla="*/ 18896195 h 61"/>
              <a:gd name="T78" fmla="*/ 27282063 w 285"/>
              <a:gd name="T79" fmla="*/ 20724682 h 61"/>
              <a:gd name="T80" fmla="*/ 20302838 w 285"/>
              <a:gd name="T81" fmla="*/ 23162926 h 61"/>
              <a:gd name="T82" fmla="*/ 14592491 w 285"/>
              <a:gd name="T83" fmla="*/ 26819902 h 61"/>
              <a:gd name="T84" fmla="*/ 4441470 w 285"/>
              <a:gd name="T85" fmla="*/ 33525658 h 61"/>
              <a:gd name="T86" fmla="*/ 1268878 w 285"/>
              <a:gd name="T87" fmla="*/ 37182633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1" name="Picture 10" descr="Cover-6Ed">
            <a:extLst>
              <a:ext uri="{FF2B5EF4-FFF2-40B4-BE49-F238E27FC236}">
                <a16:creationId xmlns:a16="http://schemas.microsoft.com/office/drawing/2014/main" id="{8415B884-A6BF-4E61-8F45-53870045B3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3" y="0"/>
            <a:ext cx="639762" cy="81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0960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  <p:sldLayoutId id="2147483775" r:id="rId12"/>
    <p:sldLayoutId id="2147483762" r:id="rId13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rgbClr val="002060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MS PGothic" charset="0"/>
          <a:cs typeface="MS PGothic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charset="0"/>
          <a:cs typeface="MS PGothic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charset="0"/>
          <a:cs typeface="MS PGothic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charset="0"/>
          <a:cs typeface="MS PGothic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charset="0"/>
          <a:cs typeface="MS PGothic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9pPr>
    </p:titleStyle>
    <p:bodyStyle>
      <a:lvl1pPr marL="342900" indent="-342900" algn="l" rtl="0" eaLnBrk="1" fontAlgn="base" hangingPunct="1">
        <a:spcBef>
          <a:spcPct val="35000"/>
        </a:spcBef>
        <a:spcAft>
          <a:spcPct val="0"/>
        </a:spcAft>
        <a:buClr>
          <a:srgbClr val="002060"/>
        </a:buClr>
        <a:buSzPct val="100000"/>
        <a:buFont typeface="Monotype Sorts" pitchFamily="-65" charset="2"/>
        <a:buChar char="n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742950" indent="-285750" algn="l" rtl="0" eaLnBrk="1" fontAlgn="base" hangingPunct="1">
        <a:spcBef>
          <a:spcPct val="35000"/>
        </a:spcBef>
        <a:spcAft>
          <a:spcPct val="0"/>
        </a:spcAft>
        <a:buClr>
          <a:srgbClr val="FF9933"/>
        </a:buClr>
        <a:buSzPct val="90000"/>
        <a:buFont typeface="Monotype Sorts" pitchFamily="-65" charset="2"/>
        <a:buChar char="l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2pPr>
      <a:lvl3pPr marL="1085850" indent="-228600" algn="l" rtl="0" eaLnBrk="1" fontAlgn="base" hangingPunct="1">
        <a:spcBef>
          <a:spcPct val="35000"/>
        </a:spcBef>
        <a:spcAft>
          <a:spcPct val="0"/>
        </a:spcAft>
        <a:buClr>
          <a:srgbClr val="33CC33"/>
        </a:buClr>
        <a:buSzPct val="85000"/>
        <a:buFont typeface="Webdings" panose="05030102010509060703" pitchFamily="18" charset="2"/>
        <a:buChar char="4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3pPr>
      <a:lvl4pPr marL="1428750" indent="-228600" algn="l" rtl="0" eaLnBrk="1" fontAlgn="base" hangingPunct="1">
        <a:spcBef>
          <a:spcPct val="35000"/>
        </a:spcBef>
        <a:spcAft>
          <a:spcPct val="0"/>
        </a:spcAft>
        <a:buClr>
          <a:schemeClr val="hlink"/>
        </a:buClr>
        <a:buFont typeface="Times New Roman" panose="02020603050405020304" pitchFamily="18" charset="0"/>
        <a:buChar char="–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4pPr>
      <a:lvl5pPr marL="17716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5pPr>
      <a:lvl6pPr marL="22288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sv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1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2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7" Type="http://schemas.openxmlformats.org/officeDocument/2006/relationships/image" Target="../media/image10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9.emf"/><Relationship Id="rId4" Type="http://schemas.openxmlformats.org/officeDocument/2006/relationships/oleObject" Target="../embeddings/oleObject3.bin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7" Type="http://schemas.openxmlformats.org/officeDocument/2006/relationships/image" Target="../media/image12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11.emf"/><Relationship Id="rId4" Type="http://schemas.openxmlformats.org/officeDocument/2006/relationships/oleObject" Target="../embeddings/oleObject5.bin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130" name="Rectangle 2">
            <a:extLst>
              <a:ext uri="{FF2B5EF4-FFF2-40B4-BE49-F238E27FC236}">
                <a16:creationId xmlns:a16="http://schemas.microsoft.com/office/drawing/2014/main" id="{4BB7257D-8AAC-402C-AE83-4064ED60F5C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Chapter 16: Query Optimization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486" name="Rectangle 6">
            <a:extLst>
              <a:ext uri="{FF2B5EF4-FFF2-40B4-BE49-F238E27FC236}">
                <a16:creationId xmlns:a16="http://schemas.microsoft.com/office/drawing/2014/main" id="{3598BEF7-BBDB-45DA-88AB-4873FD9E5E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Introduction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CE39E27B-873D-4551-A927-6DFB7A85D9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790377" y="2602137"/>
            <a:ext cx="7388619" cy="34964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797899" y="1879042"/>
            <a:ext cx="1847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642593" y="1326052"/>
            <a:ext cx="69005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FF"/>
                </a:solidFill>
              </a:rPr>
              <a:t>List </a:t>
            </a:r>
            <a:r>
              <a:rPr lang="en-US" dirty="0">
                <a:solidFill>
                  <a:srgbClr val="0000FF"/>
                </a:solidFill>
              </a:rPr>
              <a:t>‘Music’ </a:t>
            </a:r>
            <a:r>
              <a:rPr lang="en-US" dirty="0" err="1">
                <a:solidFill>
                  <a:srgbClr val="0000FF"/>
                </a:solidFill>
              </a:rPr>
              <a:t>Dept</a:t>
            </a:r>
            <a:r>
              <a:rPr lang="en-US" dirty="0" smtClean="0">
                <a:solidFill>
                  <a:srgbClr val="0000FF"/>
                </a:solidFill>
              </a:rPr>
              <a:t> instructors along with the course titles they are teaching</a:t>
            </a:r>
            <a:endParaRPr lang="en-IN" dirty="0">
              <a:solidFill>
                <a:srgbClr val="0000FF"/>
              </a:solidFill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4541855" y="2304899"/>
            <a:ext cx="4069582" cy="412604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486" name="Rectangle 6">
            <a:extLst>
              <a:ext uri="{FF2B5EF4-FFF2-40B4-BE49-F238E27FC236}">
                <a16:creationId xmlns:a16="http://schemas.microsoft.com/office/drawing/2014/main" id="{3598BEF7-BBDB-45DA-88AB-4873FD9E5E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Introduction</a:t>
            </a:r>
          </a:p>
        </p:txBody>
      </p:sp>
      <p:sp>
        <p:nvSpPr>
          <p:cNvPr id="9219" name="Rectangle 7">
            <a:extLst>
              <a:ext uri="{FF2B5EF4-FFF2-40B4-BE49-F238E27FC236}">
                <a16:creationId xmlns:a16="http://schemas.microsoft.com/office/drawing/2014/main" id="{07242271-6D11-4330-A09C-537A38CCCF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19899" y="870456"/>
            <a:ext cx="7082131" cy="1039812"/>
          </a:xfrm>
        </p:spPr>
        <p:txBody>
          <a:bodyPr/>
          <a:lstStyle/>
          <a:p>
            <a:r>
              <a:rPr lang="en-US" altLang="en-US" dirty="0"/>
              <a:t>Alternative ways of evaluating a given query</a:t>
            </a:r>
          </a:p>
          <a:p>
            <a:pPr lvl="1"/>
            <a:r>
              <a:rPr lang="en-US" altLang="en-US" dirty="0"/>
              <a:t>Equivalent expressions</a:t>
            </a:r>
          </a:p>
          <a:p>
            <a:pPr lvl="1"/>
            <a:r>
              <a:rPr lang="en-US" altLang="en-US" dirty="0"/>
              <a:t>Different algorithms for each operation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CE39E27B-873D-4551-A927-6DFB7A85D9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790377" y="2602137"/>
            <a:ext cx="7388619" cy="34964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797899" y="1879042"/>
            <a:ext cx="1847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99982" y="1966345"/>
            <a:ext cx="69005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FF"/>
                </a:solidFill>
              </a:rPr>
              <a:t>List </a:t>
            </a:r>
            <a:r>
              <a:rPr lang="en-US" dirty="0">
                <a:solidFill>
                  <a:srgbClr val="0000FF"/>
                </a:solidFill>
              </a:rPr>
              <a:t>‘Music’ </a:t>
            </a:r>
            <a:r>
              <a:rPr lang="en-US" dirty="0" err="1">
                <a:solidFill>
                  <a:srgbClr val="0000FF"/>
                </a:solidFill>
              </a:rPr>
              <a:t>Dept</a:t>
            </a:r>
            <a:r>
              <a:rPr lang="en-US" dirty="0" smtClean="0">
                <a:solidFill>
                  <a:srgbClr val="0000FF"/>
                </a:solidFill>
              </a:rPr>
              <a:t> instructors along with the course titles they are teaching</a:t>
            </a:r>
            <a:endParaRPr lang="en-IN" dirty="0">
              <a:solidFill>
                <a:srgbClr val="0000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65198" y="6238809"/>
            <a:ext cx="6613798" cy="3139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81000" indent="-381000">
              <a:lnSpc>
                <a:spcPct val="90000"/>
              </a:lnSpc>
            </a:pPr>
            <a:r>
              <a:rPr lang="en-US" altLang="en-US" dirty="0">
                <a:solidFill>
                  <a:srgbClr val="0000FF"/>
                </a:solidFill>
              </a:rPr>
              <a:t>Cost difference between evaluation plans for a query can be </a:t>
            </a:r>
            <a:r>
              <a:rPr lang="en-US" altLang="en-US" dirty="0" smtClean="0">
                <a:solidFill>
                  <a:srgbClr val="0000FF"/>
                </a:solidFill>
              </a:rPr>
              <a:t>enormous</a:t>
            </a:r>
            <a:endParaRPr lang="en-US" alt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8272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42" name="Rectangle 2">
            <a:extLst>
              <a:ext uri="{FF2B5EF4-FFF2-40B4-BE49-F238E27FC236}">
                <a16:creationId xmlns:a16="http://schemas.microsoft.com/office/drawing/2014/main" id="{75832F87-A2B9-47F7-BB53-DF9BAE7241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Introduction (Cont.)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3B55794D-DFAA-4CF0-981A-C7BE83AF06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12267" y="1092872"/>
            <a:ext cx="7816402" cy="4494724"/>
          </a:xfrm>
        </p:spPr>
        <p:txBody>
          <a:bodyPr/>
          <a:lstStyle/>
          <a:p>
            <a:r>
              <a:rPr lang="en-US" altLang="en-US" dirty="0"/>
              <a:t>An </a:t>
            </a:r>
            <a:r>
              <a:rPr lang="en-US" altLang="en-US" b="1" dirty="0">
                <a:solidFill>
                  <a:srgbClr val="002060"/>
                </a:solidFill>
              </a:rPr>
              <a:t>evaluation plan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  <a:r>
              <a:rPr lang="en-US" altLang="en-US" dirty="0"/>
              <a:t>defines exactly what algorithm is used for each operation, and how the execution of the operations is coordinated.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endParaRPr lang="en-US" alt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8164316-923D-4EC2-A0F7-CE5F6F3F26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672045" y="1868075"/>
            <a:ext cx="5407032" cy="33937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58" name="Rectangle 2">
            <a:extLst>
              <a:ext uri="{FF2B5EF4-FFF2-40B4-BE49-F238E27FC236}">
                <a16:creationId xmlns:a16="http://schemas.microsoft.com/office/drawing/2014/main" id="{286EDAB9-31F0-445E-9936-BCF7095F2E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Introduction (Cont.)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82FD3551-130F-449A-9742-57CFBE1678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12269" y="1121747"/>
            <a:ext cx="7806088" cy="4220272"/>
          </a:xfrm>
        </p:spPr>
        <p:txBody>
          <a:bodyPr/>
          <a:lstStyle/>
          <a:p>
            <a:pPr marL="381000" indent="-381000">
              <a:lnSpc>
                <a:spcPct val="90000"/>
              </a:lnSpc>
            </a:pPr>
            <a:r>
              <a:rPr lang="en-US" altLang="en-US" dirty="0"/>
              <a:t>Cost difference between evaluation plans for a query can be enormous</a:t>
            </a:r>
          </a:p>
          <a:p>
            <a:pPr marL="800100" lvl="1" indent="-342900">
              <a:lnSpc>
                <a:spcPct val="90000"/>
              </a:lnSpc>
            </a:pPr>
            <a:r>
              <a:rPr lang="en-US" altLang="en-US" dirty="0"/>
              <a:t>E.g., seconds vs. days in some cases</a:t>
            </a:r>
          </a:p>
          <a:p>
            <a:pPr marL="381000" indent="-381000">
              <a:lnSpc>
                <a:spcPct val="90000"/>
              </a:lnSpc>
            </a:pPr>
            <a:r>
              <a:rPr lang="en-US" altLang="en-US" dirty="0"/>
              <a:t>Steps in </a:t>
            </a:r>
            <a:r>
              <a:rPr lang="en-US" altLang="en-US" b="1" dirty="0">
                <a:solidFill>
                  <a:srgbClr val="002060"/>
                </a:solidFill>
              </a:rPr>
              <a:t>cost-based query optimization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altLang="en-US" dirty="0">
                <a:solidFill>
                  <a:srgbClr val="FF9900"/>
                </a:solidFill>
              </a:rPr>
              <a:t>1.</a:t>
            </a:r>
            <a:r>
              <a:rPr lang="en-US" altLang="en-US" dirty="0"/>
              <a:t>   Generate logically equivalent expressions using </a:t>
            </a:r>
            <a:r>
              <a:rPr lang="en-US" altLang="en-US" b="1" dirty="0">
                <a:solidFill>
                  <a:srgbClr val="002060"/>
                </a:solidFill>
              </a:rPr>
              <a:t>equivalence rules</a:t>
            </a:r>
            <a:endParaRPr lang="en-US" altLang="en-US" dirty="0">
              <a:solidFill>
                <a:srgbClr val="002060"/>
              </a:solidFill>
            </a:endParaRPr>
          </a:p>
          <a:p>
            <a:pPr marL="457200" lvl="1" indent="0">
              <a:lnSpc>
                <a:spcPct val="90000"/>
              </a:lnSpc>
              <a:buNone/>
            </a:pPr>
            <a:r>
              <a:rPr lang="en-US" altLang="en-US" dirty="0">
                <a:solidFill>
                  <a:srgbClr val="FF9900"/>
                </a:solidFill>
              </a:rPr>
              <a:t>2.   </a:t>
            </a:r>
            <a:r>
              <a:rPr lang="en-US" altLang="en-US" dirty="0"/>
              <a:t>Annotate resultant expressions to get alternative query plans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altLang="en-US" dirty="0">
                <a:solidFill>
                  <a:srgbClr val="FF9900"/>
                </a:solidFill>
              </a:rPr>
              <a:t>3.   </a:t>
            </a:r>
            <a:r>
              <a:rPr lang="en-US" altLang="en-US" dirty="0"/>
              <a:t>Choose the cheapest plan based on </a:t>
            </a:r>
            <a:r>
              <a:rPr lang="en-US" altLang="en-US" b="1" dirty="0">
                <a:solidFill>
                  <a:srgbClr val="002060"/>
                </a:solidFill>
              </a:rPr>
              <a:t>estimated cost</a:t>
            </a:r>
            <a:endParaRPr lang="en-US" altLang="en-US" dirty="0">
              <a:solidFill>
                <a:srgbClr val="002060"/>
              </a:solidFill>
            </a:endParaRPr>
          </a:p>
          <a:p>
            <a:pPr marL="381000" indent="-381000">
              <a:lnSpc>
                <a:spcPct val="90000"/>
              </a:lnSpc>
            </a:pPr>
            <a:r>
              <a:rPr lang="en-US" altLang="en-US" dirty="0"/>
              <a:t>Estimation of plan cost based on:</a:t>
            </a:r>
          </a:p>
          <a:p>
            <a:pPr marL="800100" lvl="1" indent="-342900">
              <a:lnSpc>
                <a:spcPct val="90000"/>
              </a:lnSpc>
            </a:pPr>
            <a:r>
              <a:rPr lang="en-US" altLang="en-US" dirty="0"/>
              <a:t>Statistical information about relations. Examples:</a:t>
            </a:r>
          </a:p>
          <a:p>
            <a:pPr marL="1200150" lvl="2" indent="-342900">
              <a:lnSpc>
                <a:spcPct val="90000"/>
              </a:lnSpc>
            </a:pPr>
            <a:r>
              <a:rPr lang="en-US" altLang="en-US" dirty="0"/>
              <a:t>number of tuples, number of distinct values for an attribute</a:t>
            </a:r>
          </a:p>
          <a:p>
            <a:pPr marL="800100" lvl="1" indent="-342900">
              <a:lnSpc>
                <a:spcPct val="90000"/>
              </a:lnSpc>
            </a:pPr>
            <a:r>
              <a:rPr lang="en-US" altLang="en-US" dirty="0"/>
              <a:t>Statistics estimation for intermediate results</a:t>
            </a:r>
          </a:p>
          <a:p>
            <a:pPr marL="1200150" lvl="2" indent="-342900">
              <a:lnSpc>
                <a:spcPct val="90000"/>
              </a:lnSpc>
            </a:pPr>
            <a:r>
              <a:rPr lang="en-US" altLang="en-US" dirty="0"/>
              <a:t>to compute cost of complex expressions</a:t>
            </a:r>
          </a:p>
          <a:p>
            <a:pPr marL="800100" lvl="1" indent="-342900">
              <a:lnSpc>
                <a:spcPct val="90000"/>
              </a:lnSpc>
            </a:pPr>
            <a:r>
              <a:rPr lang="en-US" altLang="en-US" dirty="0"/>
              <a:t>Cost formulae for algorithms, computed using statistics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7E00F-E685-47A5-84F9-E60D4C1A2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Viewing Query Evaluation Plans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CC1549-6E63-4CF8-ADF8-9777B7E541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1693" y="1092872"/>
            <a:ext cx="8070412" cy="4393528"/>
          </a:xfrm>
        </p:spPr>
        <p:txBody>
          <a:bodyPr/>
          <a:lstStyle/>
          <a:p>
            <a:r>
              <a:rPr lang="en-IN" dirty="0"/>
              <a:t>Most database support  </a:t>
            </a:r>
            <a:r>
              <a:rPr lang="en-IN" b="1" dirty="0">
                <a:solidFill>
                  <a:srgbClr val="002060"/>
                </a:solidFill>
              </a:rPr>
              <a:t>explain</a:t>
            </a:r>
            <a:r>
              <a:rPr lang="en-IN" dirty="0"/>
              <a:t> &lt;query&gt;</a:t>
            </a:r>
          </a:p>
          <a:p>
            <a:pPr lvl="1"/>
            <a:r>
              <a:rPr lang="en-IN" dirty="0"/>
              <a:t>Displays plan chosen by query optimizer, along with cost estimates</a:t>
            </a:r>
          </a:p>
          <a:p>
            <a:pPr lvl="1"/>
            <a:r>
              <a:rPr lang="en-IN" dirty="0"/>
              <a:t>Some syntax variations between databases</a:t>
            </a:r>
          </a:p>
          <a:p>
            <a:pPr lvl="2"/>
            <a:r>
              <a:rPr lang="en-IN" dirty="0"/>
              <a:t>Oracle:  </a:t>
            </a:r>
            <a:r>
              <a:rPr lang="en-IN" b="1" dirty="0">
                <a:solidFill>
                  <a:srgbClr val="002060"/>
                </a:solidFill>
              </a:rPr>
              <a:t>explain plan for </a:t>
            </a:r>
            <a:r>
              <a:rPr lang="en-IN" dirty="0">
                <a:solidFill>
                  <a:srgbClr val="002060"/>
                </a:solidFill>
              </a:rPr>
              <a:t>&lt;query&gt; </a:t>
            </a:r>
            <a:r>
              <a:rPr lang="en-IN" dirty="0"/>
              <a:t>followed by </a:t>
            </a:r>
            <a:r>
              <a:rPr lang="en-IN" b="1" dirty="0">
                <a:solidFill>
                  <a:srgbClr val="002060"/>
                </a:solidFill>
              </a:rPr>
              <a:t>select</a:t>
            </a:r>
            <a:r>
              <a:rPr lang="en-IN" dirty="0"/>
              <a:t> * </a:t>
            </a:r>
            <a:r>
              <a:rPr lang="en-IN" b="1" dirty="0">
                <a:solidFill>
                  <a:srgbClr val="002060"/>
                </a:solidFill>
              </a:rPr>
              <a:t>from</a:t>
            </a:r>
            <a:r>
              <a:rPr lang="en-IN" dirty="0"/>
              <a:t> table (</a:t>
            </a:r>
            <a:r>
              <a:rPr lang="en-IN" i="1" dirty="0" err="1"/>
              <a:t>dbms_xplan.display</a:t>
            </a:r>
            <a:r>
              <a:rPr lang="en-IN" dirty="0"/>
              <a:t>)</a:t>
            </a:r>
          </a:p>
          <a:p>
            <a:pPr lvl="2"/>
            <a:r>
              <a:rPr lang="en-IN" dirty="0"/>
              <a:t>SQL Server:  </a:t>
            </a:r>
            <a:r>
              <a:rPr lang="en-IN" b="1" dirty="0">
                <a:solidFill>
                  <a:srgbClr val="002060"/>
                </a:solidFill>
              </a:rPr>
              <a:t>set </a:t>
            </a:r>
            <a:r>
              <a:rPr lang="en-IN" b="1" dirty="0" err="1">
                <a:solidFill>
                  <a:srgbClr val="002060"/>
                </a:solidFill>
              </a:rPr>
              <a:t>showplan_text</a:t>
            </a:r>
            <a:r>
              <a:rPr lang="en-IN" b="1" dirty="0">
                <a:solidFill>
                  <a:srgbClr val="002060"/>
                </a:solidFill>
              </a:rPr>
              <a:t> on</a:t>
            </a:r>
          </a:p>
          <a:p>
            <a:pPr algn="just"/>
            <a:r>
              <a:rPr lang="en-IN" dirty="0"/>
              <a:t>Some databases (e.g. PostgreSQL) support  </a:t>
            </a:r>
            <a:r>
              <a:rPr lang="en-IN" b="1" dirty="0">
                <a:solidFill>
                  <a:srgbClr val="002060"/>
                </a:solidFill>
              </a:rPr>
              <a:t>explain analyse</a:t>
            </a:r>
            <a:r>
              <a:rPr lang="en-IN" dirty="0"/>
              <a:t> &lt;query&gt;</a:t>
            </a:r>
          </a:p>
          <a:p>
            <a:pPr lvl="1" algn="just"/>
            <a:r>
              <a:rPr lang="en-IN" dirty="0"/>
              <a:t>Shows actual runtime statistics found by running the query, in addition to showing the plan </a:t>
            </a:r>
          </a:p>
          <a:p>
            <a:endParaRPr lang="en-US" altLang="en-US" dirty="0" smtClean="0"/>
          </a:p>
          <a:p>
            <a:r>
              <a:rPr lang="en-US" altLang="en-US" sz="1800" dirty="0" smtClean="0">
                <a:solidFill>
                  <a:srgbClr val="0000FF"/>
                </a:solidFill>
              </a:rPr>
              <a:t>Find </a:t>
            </a:r>
            <a:r>
              <a:rPr lang="en-US" altLang="en-US" sz="1800" dirty="0">
                <a:solidFill>
                  <a:srgbClr val="0000FF"/>
                </a:solidFill>
              </a:rPr>
              <a:t>out how to view query execution plans </a:t>
            </a:r>
            <a:r>
              <a:rPr lang="en-US" altLang="en-US" sz="1800" dirty="0" smtClean="0">
                <a:solidFill>
                  <a:srgbClr val="0000FF"/>
                </a:solidFill>
              </a:rPr>
              <a:t>in MySQL????</a:t>
            </a:r>
            <a:endParaRPr lang="en-US" altLang="en-US" sz="18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8626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86919" y="2632801"/>
            <a:ext cx="71949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MS PGothic" charset="0"/>
              </a:rPr>
              <a:t>Generating Equivalent Expressions</a:t>
            </a:r>
            <a:endParaRPr kumimoji="1" 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0368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938" name="Rectangle 2">
            <a:extLst>
              <a:ext uri="{FF2B5EF4-FFF2-40B4-BE49-F238E27FC236}">
                <a16:creationId xmlns:a16="http://schemas.microsoft.com/office/drawing/2014/main" id="{C3630E94-546B-44A3-9C2A-A6A0EA10DA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2887" y="82731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Transformation of Relational Expressions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DE3790DE-27F5-44AA-ADB0-8D5296161F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61257" y="1112545"/>
            <a:ext cx="8131972" cy="4283419"/>
          </a:xfrm>
        </p:spPr>
        <p:txBody>
          <a:bodyPr/>
          <a:lstStyle/>
          <a:p>
            <a:r>
              <a:rPr lang="en-US" altLang="en-US" dirty="0"/>
              <a:t>Two relational algebra expressions are said to be </a:t>
            </a:r>
            <a:r>
              <a:rPr lang="en-US" altLang="en-US" b="1" dirty="0">
                <a:solidFill>
                  <a:srgbClr val="002060"/>
                </a:solidFill>
              </a:rPr>
              <a:t>equivalent</a:t>
            </a:r>
            <a:r>
              <a:rPr lang="en-US" altLang="en-US" dirty="0"/>
              <a:t> if the two expressions generate the same set of tuples on every </a:t>
            </a:r>
            <a:r>
              <a:rPr lang="en-US" altLang="en-US" i="1" dirty="0"/>
              <a:t>legal</a:t>
            </a:r>
            <a:r>
              <a:rPr lang="en-US" altLang="en-US" dirty="0"/>
              <a:t> database instance</a:t>
            </a:r>
          </a:p>
          <a:p>
            <a:pPr lvl="1"/>
            <a:r>
              <a:rPr lang="en-US" altLang="en-US" sz="1600" dirty="0"/>
              <a:t>Note: order of tuples is irrelevant</a:t>
            </a:r>
          </a:p>
          <a:p>
            <a:pPr lvl="1"/>
            <a:r>
              <a:rPr lang="en-US" altLang="en-US" sz="1600" dirty="0"/>
              <a:t>we don’</a:t>
            </a:r>
            <a:r>
              <a:rPr lang="en-US" altLang="ja-JP" sz="1600" dirty="0"/>
              <a:t>t care if they generate different results on databases that violate integrity constraints</a:t>
            </a:r>
          </a:p>
          <a:p>
            <a:endParaRPr lang="en-US" altLang="en-US" dirty="0" smtClean="0"/>
          </a:p>
          <a:p>
            <a:r>
              <a:rPr lang="en-US" altLang="en-US" dirty="0" smtClean="0"/>
              <a:t>In </a:t>
            </a:r>
            <a:r>
              <a:rPr lang="en-US" altLang="en-US" dirty="0"/>
              <a:t>SQL, inputs and outputs are multisets of tuples</a:t>
            </a:r>
          </a:p>
          <a:p>
            <a:pPr lvl="1"/>
            <a:r>
              <a:rPr lang="en-US" altLang="en-US" sz="1600" dirty="0"/>
              <a:t>Two expressions in the multiset version of the relational algebra are said to be equivalent if the two expressions generate the same multiset of tuples on every legal database instance. </a:t>
            </a:r>
          </a:p>
          <a:p>
            <a:endParaRPr lang="en-US" altLang="en-US" dirty="0" smtClean="0"/>
          </a:p>
          <a:p>
            <a:r>
              <a:rPr lang="en-US" altLang="en-US" dirty="0" smtClean="0"/>
              <a:t>An </a:t>
            </a:r>
            <a:r>
              <a:rPr lang="en-US" altLang="en-US" b="1" dirty="0">
                <a:solidFill>
                  <a:srgbClr val="002060"/>
                </a:solidFill>
              </a:rPr>
              <a:t>equivalence rule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  <a:r>
              <a:rPr lang="en-US" altLang="en-US" dirty="0"/>
              <a:t>says that expressions of two forms are equivalent</a:t>
            </a:r>
          </a:p>
          <a:p>
            <a:pPr lvl="1"/>
            <a:r>
              <a:rPr lang="en-US" altLang="en-US" dirty="0"/>
              <a:t>Can replace expression of first form by second, or vice versa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2" name="Rectangle 2">
            <a:extLst>
              <a:ext uri="{FF2B5EF4-FFF2-40B4-BE49-F238E27FC236}">
                <a16:creationId xmlns:a16="http://schemas.microsoft.com/office/drawing/2014/main" id="{95081A04-D8E9-4687-B8DF-F240A7F2C5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Equivalence Rules</a:t>
            </a:r>
          </a:p>
        </p:txBody>
      </p:sp>
      <p:sp>
        <p:nvSpPr>
          <p:cNvPr id="358403" name="Rectangle 3">
            <a:extLst>
              <a:ext uri="{FF2B5EF4-FFF2-40B4-BE49-F238E27FC236}">
                <a16:creationId xmlns:a16="http://schemas.microsoft.com/office/drawing/2014/main" id="{5F88891E-6FB7-4A93-A7DD-19CC40EB4AB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3394" y="1102497"/>
            <a:ext cx="7777212" cy="3729385"/>
          </a:xfrm>
        </p:spPr>
        <p:txBody>
          <a:bodyPr/>
          <a:lstStyle/>
          <a:p>
            <a:pPr marL="381000" indent="-381000">
              <a:buFont typeface="Monotype Sorts" pitchFamily="-65" charset="2"/>
              <a:buNone/>
            </a:pPr>
            <a:r>
              <a:rPr lang="en-US" altLang="en-US" dirty="0"/>
              <a:t>1.	Conjunctive selection operations can be deconstructed into a sequence of individual selections.</a:t>
            </a:r>
            <a:br>
              <a:rPr lang="en-US" altLang="en-US" dirty="0"/>
            </a:br>
            <a:r>
              <a:rPr lang="en-US" altLang="en-US" dirty="0"/>
              <a:t>                 </a:t>
            </a:r>
            <a:r>
              <a:rPr lang="el-GR" dirty="0"/>
              <a:t>σ</a:t>
            </a:r>
            <a:r>
              <a:rPr lang="en-US" altLang="en-US" baseline="-25000" dirty="0">
                <a:sym typeface="Symbol" panose="05050102010706020507" pitchFamily="18" charset="2"/>
              </a:rPr>
              <a:t></a:t>
            </a:r>
            <a:r>
              <a:rPr lang="en-US" altLang="en-US" baseline="-46000" dirty="0">
                <a:sym typeface="Greek Symbols" pitchFamily="18" charset="2"/>
              </a:rPr>
              <a:t>1 </a:t>
            </a:r>
            <a:r>
              <a:rPr lang="en-US" altLang="en-US" baseline="-25000" dirty="0">
                <a:sym typeface="Symbol" panose="05050102010706020507" pitchFamily="18" charset="2"/>
              </a:rPr>
              <a:t> </a:t>
            </a:r>
            <a:r>
              <a:rPr lang="en-US" altLang="en-US" i="1" baseline="-46000" dirty="0">
                <a:sym typeface="Greek Symbols" pitchFamily="18" charset="2"/>
              </a:rPr>
              <a:t>2 </a:t>
            </a:r>
            <a:r>
              <a:rPr lang="en-US" altLang="en-US" dirty="0"/>
              <a:t>(E) </a:t>
            </a:r>
            <a:r>
              <a:rPr lang="en-US" altLang="en-US" baseline="-25000" dirty="0"/>
              <a:t>    </a:t>
            </a:r>
            <a:r>
              <a:rPr lang="en-IN" dirty="0"/>
              <a:t>≡  </a:t>
            </a:r>
            <a:r>
              <a:rPr lang="el-GR" dirty="0"/>
              <a:t>σ</a:t>
            </a:r>
            <a:r>
              <a:rPr lang="en-US" altLang="en-US" baseline="-25000" dirty="0">
                <a:sym typeface="Symbol" panose="05050102010706020507" pitchFamily="18" charset="2"/>
              </a:rPr>
              <a:t></a:t>
            </a:r>
            <a:r>
              <a:rPr lang="en-US" altLang="en-US" baseline="-46000" dirty="0">
                <a:sym typeface="Greek Symbols" pitchFamily="18" charset="2"/>
              </a:rPr>
              <a:t>1</a:t>
            </a:r>
            <a:r>
              <a:rPr lang="en-US" altLang="en-US" baseline="-25000" dirty="0">
                <a:sym typeface="Symbol" panose="05050102010706020507" pitchFamily="18" charset="2"/>
              </a:rPr>
              <a:t> </a:t>
            </a:r>
            <a:r>
              <a:rPr lang="en-IN" dirty="0"/>
              <a:t>(</a:t>
            </a:r>
            <a:r>
              <a:rPr lang="el-GR" dirty="0"/>
              <a:t>σ</a:t>
            </a:r>
            <a:r>
              <a:rPr lang="en-US" altLang="en-US" baseline="-25000" dirty="0">
                <a:sym typeface="Symbol" panose="05050102010706020507" pitchFamily="18" charset="2"/>
              </a:rPr>
              <a:t></a:t>
            </a:r>
            <a:r>
              <a:rPr lang="en-US" altLang="en-US" i="1" baseline="-46000" dirty="0">
                <a:sym typeface="Greek Symbols" pitchFamily="18" charset="2"/>
              </a:rPr>
              <a:t>2 </a:t>
            </a:r>
            <a:r>
              <a:rPr lang="en-US" altLang="en-US" dirty="0"/>
              <a:t>(E))</a:t>
            </a:r>
            <a:r>
              <a:rPr lang="en-US" altLang="en-US" baseline="-25000" dirty="0"/>
              <a:t> </a:t>
            </a:r>
            <a:endParaRPr lang="en-US" altLang="en-US" dirty="0"/>
          </a:p>
          <a:p>
            <a:pPr marL="381000" indent="-381000">
              <a:buFont typeface="Monotype Sorts" pitchFamily="-65" charset="2"/>
              <a:buNone/>
            </a:pPr>
            <a:r>
              <a:rPr lang="en-US" altLang="en-US" dirty="0"/>
              <a:t>2.	Selection operations are commutative.</a:t>
            </a:r>
            <a:br>
              <a:rPr lang="en-US" altLang="en-US" dirty="0"/>
            </a:br>
            <a:r>
              <a:rPr lang="en-US" altLang="en-US" dirty="0"/>
              <a:t>                 </a:t>
            </a:r>
            <a:r>
              <a:rPr lang="el-GR" dirty="0"/>
              <a:t>σ</a:t>
            </a:r>
            <a:r>
              <a:rPr lang="en-US" altLang="en-US" baseline="-25000" dirty="0">
                <a:sym typeface="Symbol" panose="05050102010706020507" pitchFamily="18" charset="2"/>
              </a:rPr>
              <a:t></a:t>
            </a:r>
            <a:r>
              <a:rPr lang="en-US" altLang="en-US" baseline="-46000" dirty="0">
                <a:sym typeface="Greek Symbols" pitchFamily="18" charset="2"/>
              </a:rPr>
              <a:t>1</a:t>
            </a:r>
            <a:r>
              <a:rPr lang="en-IN" dirty="0"/>
              <a:t>(</a:t>
            </a:r>
            <a:r>
              <a:rPr lang="el-GR" dirty="0"/>
              <a:t>σ</a:t>
            </a:r>
            <a:r>
              <a:rPr lang="en-US" altLang="en-US" baseline="-25000" dirty="0">
                <a:sym typeface="Symbol" panose="05050102010706020507" pitchFamily="18" charset="2"/>
              </a:rPr>
              <a:t></a:t>
            </a:r>
            <a:r>
              <a:rPr lang="en-US" altLang="en-US" i="1" baseline="-46000" dirty="0">
                <a:sym typeface="Greek Symbols" pitchFamily="18" charset="2"/>
              </a:rPr>
              <a:t>2</a:t>
            </a:r>
            <a:r>
              <a:rPr lang="en-US" altLang="en-US" dirty="0"/>
              <a:t>(E))</a:t>
            </a:r>
            <a:r>
              <a:rPr lang="en-US" altLang="en-US" baseline="-25000" dirty="0"/>
              <a:t>    </a:t>
            </a:r>
            <a:r>
              <a:rPr lang="en-IN" dirty="0"/>
              <a:t>≡   </a:t>
            </a:r>
            <a:r>
              <a:rPr lang="el-GR" dirty="0"/>
              <a:t>σ</a:t>
            </a:r>
            <a:r>
              <a:rPr lang="en-US" altLang="en-US" baseline="-25000" dirty="0">
                <a:sym typeface="Symbol" panose="05050102010706020507" pitchFamily="18" charset="2"/>
              </a:rPr>
              <a:t></a:t>
            </a:r>
            <a:r>
              <a:rPr lang="en-US" altLang="en-US" baseline="-46000" dirty="0">
                <a:sym typeface="Greek Symbols" pitchFamily="18" charset="2"/>
              </a:rPr>
              <a:t>2</a:t>
            </a:r>
            <a:r>
              <a:rPr lang="en-US" altLang="en-US" baseline="-25000" dirty="0">
                <a:sym typeface="Symbol" panose="05050102010706020507" pitchFamily="18" charset="2"/>
              </a:rPr>
              <a:t> </a:t>
            </a:r>
            <a:r>
              <a:rPr lang="en-IN" dirty="0"/>
              <a:t>(</a:t>
            </a:r>
            <a:r>
              <a:rPr lang="el-GR" dirty="0"/>
              <a:t>σ</a:t>
            </a:r>
            <a:r>
              <a:rPr lang="en-US" altLang="en-US" baseline="-25000" dirty="0">
                <a:sym typeface="Symbol" panose="05050102010706020507" pitchFamily="18" charset="2"/>
              </a:rPr>
              <a:t></a:t>
            </a:r>
            <a:r>
              <a:rPr lang="en-US" altLang="en-US" i="1" baseline="-46000" dirty="0">
                <a:sym typeface="Greek Symbols" pitchFamily="18" charset="2"/>
              </a:rPr>
              <a:t>1</a:t>
            </a:r>
            <a:r>
              <a:rPr lang="en-US" altLang="en-US" dirty="0"/>
              <a:t>(E))</a:t>
            </a:r>
          </a:p>
          <a:p>
            <a:pPr marL="381000" indent="-381000">
              <a:buNone/>
            </a:pPr>
            <a:r>
              <a:rPr lang="en-US" altLang="en-US" dirty="0"/>
              <a:t>3.	Only the last in a sequence of projection operations is needed, the others can be omitted.</a:t>
            </a:r>
            <a:br>
              <a:rPr lang="en-US" altLang="en-US" dirty="0"/>
            </a:br>
            <a:r>
              <a:rPr lang="en-US" altLang="en-US" dirty="0"/>
              <a:t>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 </a:t>
            </a:r>
            <a:r>
              <a:rPr lang="en-IN" baseline="-25000" dirty="0"/>
              <a:t>L</a:t>
            </a:r>
            <a:r>
              <a:rPr lang="en-US" altLang="en-US" baseline="-46000" dirty="0">
                <a:sym typeface="Greek Symbols" pitchFamily="18" charset="2"/>
              </a:rPr>
              <a:t>1</a:t>
            </a:r>
            <a:r>
              <a:rPr lang="en-IN" dirty="0"/>
              <a:t>(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 </a:t>
            </a:r>
            <a:r>
              <a:rPr lang="en-IN" baseline="-25000" dirty="0"/>
              <a:t>L</a:t>
            </a:r>
            <a:r>
              <a:rPr lang="en-US" altLang="en-US" baseline="-46000" dirty="0">
                <a:sym typeface="Greek Symbols" pitchFamily="18" charset="2"/>
              </a:rPr>
              <a:t>2</a:t>
            </a:r>
            <a:r>
              <a:rPr lang="en-IN" dirty="0"/>
              <a:t>(…(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 </a:t>
            </a:r>
            <a:r>
              <a:rPr lang="en-IN" baseline="-25000" dirty="0"/>
              <a:t>L</a:t>
            </a:r>
            <a:r>
              <a:rPr lang="en-US" altLang="en-US" baseline="-46000" dirty="0">
                <a:sym typeface="Greek Symbols" pitchFamily="18" charset="2"/>
              </a:rPr>
              <a:t>n</a:t>
            </a:r>
            <a:r>
              <a:rPr lang="en-IN" dirty="0"/>
              <a:t>(E))…))     ≡    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 </a:t>
            </a:r>
            <a:r>
              <a:rPr lang="en-IN" baseline="-25000" dirty="0"/>
              <a:t>L</a:t>
            </a:r>
            <a:r>
              <a:rPr lang="en-US" altLang="en-US" baseline="-46000" dirty="0">
                <a:sym typeface="Greek Symbols" pitchFamily="18" charset="2"/>
              </a:rPr>
              <a:t>1</a:t>
            </a:r>
            <a:r>
              <a:rPr lang="en-IN" dirty="0"/>
              <a:t>(E)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where </a:t>
            </a:r>
            <a:r>
              <a:rPr lang="en-US" altLang="en-US" i="1" dirty="0"/>
              <a:t>L</a:t>
            </a:r>
            <a:r>
              <a:rPr lang="en-US" altLang="en-US" i="1" baseline="-25000" dirty="0"/>
              <a:t>1</a:t>
            </a:r>
            <a:r>
              <a:rPr lang="en-US" altLang="en-US" dirty="0"/>
              <a:t> </a:t>
            </a:r>
            <a:r>
              <a:rPr lang="en-IN" dirty="0"/>
              <a:t>⊆</a:t>
            </a:r>
            <a:r>
              <a:rPr lang="en-US" altLang="en-US" dirty="0"/>
              <a:t> </a:t>
            </a:r>
            <a:r>
              <a:rPr lang="en-US" altLang="en-US" i="1" dirty="0"/>
              <a:t>L</a:t>
            </a:r>
            <a:r>
              <a:rPr lang="en-US" altLang="en-US" i="1" baseline="-25000" dirty="0"/>
              <a:t>2</a:t>
            </a:r>
            <a:r>
              <a:rPr lang="en-US" altLang="en-US" dirty="0"/>
              <a:t> … </a:t>
            </a:r>
            <a:r>
              <a:rPr lang="en-IN" dirty="0"/>
              <a:t>⊆</a:t>
            </a:r>
            <a:r>
              <a:rPr lang="en-US" altLang="en-US" dirty="0"/>
              <a:t> </a:t>
            </a:r>
            <a:r>
              <a:rPr lang="en-US" altLang="en-US" i="1" dirty="0"/>
              <a:t>L</a:t>
            </a:r>
            <a:r>
              <a:rPr lang="en-US" altLang="en-US" i="1" baseline="-25000" dirty="0"/>
              <a:t>n</a:t>
            </a:r>
          </a:p>
          <a:p>
            <a:pPr marL="0" indent="0">
              <a:buNone/>
            </a:pPr>
            <a:r>
              <a:rPr lang="en-US" altLang="en-US" dirty="0"/>
              <a:t>4.    Selections can be combined with Cartesian products and theta joins.</a:t>
            </a:r>
          </a:p>
          <a:p>
            <a:pPr marL="800100" lvl="1" indent="-342900">
              <a:buFont typeface="Monotype Sorts" pitchFamily="-65" charset="2"/>
              <a:buAutoNum type="alphaLcPeriod"/>
            </a:pP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l-GR" dirty="0"/>
              <a:t>σ</a:t>
            </a:r>
            <a:r>
              <a:rPr lang="en-US" altLang="en-US" baseline="-25000" dirty="0">
                <a:sym typeface="Symbol" panose="05050102010706020507" pitchFamily="18" charset="2"/>
              </a:rPr>
              <a:t></a:t>
            </a:r>
            <a:r>
              <a:rPr lang="en-US" altLang="en-US" baseline="-46000" dirty="0">
                <a:sym typeface="Greek Symbols" pitchFamily="18" charset="2"/>
              </a:rPr>
              <a:t> </a:t>
            </a:r>
            <a:r>
              <a:rPr lang="en-US" altLang="en-US" dirty="0"/>
              <a:t>(E</a:t>
            </a:r>
            <a:r>
              <a:rPr lang="en-US" altLang="en-US" baseline="-25000" dirty="0"/>
              <a:t>1</a:t>
            </a:r>
            <a:r>
              <a:rPr lang="en-US" altLang="en-US" dirty="0"/>
              <a:t> x E</a:t>
            </a:r>
            <a:r>
              <a:rPr lang="en-US" altLang="en-US" baseline="-25000" dirty="0"/>
              <a:t>2</a:t>
            </a:r>
            <a:r>
              <a:rPr lang="en-US" altLang="en-US" dirty="0"/>
              <a:t>)</a:t>
            </a:r>
            <a:r>
              <a:rPr lang="en-US" altLang="en-US" baseline="-25000" dirty="0"/>
              <a:t>     </a:t>
            </a:r>
            <a:r>
              <a:rPr lang="en-IN" dirty="0"/>
              <a:t>≡    </a:t>
            </a:r>
            <a:r>
              <a:rPr lang="en-US" altLang="en-US" dirty="0"/>
              <a:t>E</a:t>
            </a:r>
            <a:r>
              <a:rPr lang="en-US" altLang="en-US" baseline="-25000" dirty="0"/>
              <a:t>1</a:t>
            </a:r>
            <a:r>
              <a:rPr lang="en-US" altLang="en-US" dirty="0"/>
              <a:t> </a:t>
            </a:r>
            <a:r>
              <a:rPr lang="en-IN" altLang="en-US" dirty="0"/>
              <a:t>⨝</a:t>
            </a:r>
            <a:r>
              <a:rPr lang="en-US" altLang="en-US" i="1" dirty="0"/>
              <a:t> </a:t>
            </a:r>
            <a:r>
              <a:rPr lang="en-US" altLang="en-US" baseline="-25000" dirty="0">
                <a:sym typeface="Symbol" panose="05050102010706020507" pitchFamily="18" charset="2"/>
              </a:rPr>
              <a:t></a:t>
            </a:r>
            <a:r>
              <a:rPr lang="en-US" altLang="en-US" dirty="0"/>
              <a:t> E</a:t>
            </a:r>
            <a:r>
              <a:rPr lang="en-US" altLang="en-US" baseline="-25000" dirty="0"/>
              <a:t>2</a:t>
            </a:r>
            <a:endParaRPr lang="en-US" altLang="en-US" baseline="-25000" dirty="0">
              <a:sym typeface="Symbol" panose="05050102010706020507" pitchFamily="18" charset="2"/>
            </a:endParaRPr>
          </a:p>
          <a:p>
            <a:pPr marL="800100" lvl="1" indent="-342900">
              <a:buFont typeface="Monotype Sorts" pitchFamily="-65" charset="2"/>
              <a:buAutoNum type="alphaLcPeriod"/>
            </a:pP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l-GR" dirty="0"/>
              <a:t>σ</a:t>
            </a:r>
            <a:r>
              <a:rPr lang="en-US" altLang="en-US" baseline="-25000" dirty="0">
                <a:sym typeface="Symbol" panose="05050102010706020507" pitchFamily="18" charset="2"/>
              </a:rPr>
              <a:t> </a:t>
            </a:r>
            <a:r>
              <a:rPr lang="en-US" altLang="en-US" baseline="-46000" dirty="0">
                <a:sym typeface="Greek Symbols" pitchFamily="18" charset="2"/>
              </a:rPr>
              <a:t>1 </a:t>
            </a:r>
            <a:r>
              <a:rPr lang="en-US" altLang="en-US" dirty="0"/>
              <a:t>(E</a:t>
            </a:r>
            <a:r>
              <a:rPr lang="en-US" altLang="en-US" baseline="-25000" dirty="0"/>
              <a:t>1</a:t>
            </a:r>
            <a:r>
              <a:rPr lang="en-US" altLang="en-US" dirty="0"/>
              <a:t> </a:t>
            </a:r>
            <a:r>
              <a:rPr lang="en-IN" altLang="en-US" dirty="0"/>
              <a:t>⨝</a:t>
            </a:r>
            <a:r>
              <a:rPr lang="en-US" altLang="en-US" baseline="-25000" dirty="0">
                <a:sym typeface="Symbol" panose="05050102010706020507" pitchFamily="18" charset="2"/>
              </a:rPr>
              <a:t></a:t>
            </a:r>
            <a:r>
              <a:rPr lang="en-US" altLang="en-US" baseline="-46000" dirty="0">
                <a:sym typeface="Greek Symbols" pitchFamily="18" charset="2"/>
              </a:rPr>
              <a:t>2</a:t>
            </a:r>
            <a:r>
              <a:rPr lang="en-US" altLang="en-US" dirty="0"/>
              <a:t> E</a:t>
            </a:r>
            <a:r>
              <a:rPr lang="en-US" altLang="en-US" baseline="-25000" dirty="0"/>
              <a:t>2</a:t>
            </a:r>
            <a:r>
              <a:rPr lang="en-US" altLang="en-US" dirty="0"/>
              <a:t>)</a:t>
            </a:r>
            <a:r>
              <a:rPr lang="en-US" altLang="en-US" baseline="-25000" dirty="0"/>
              <a:t>     </a:t>
            </a:r>
            <a:r>
              <a:rPr lang="en-IN" dirty="0"/>
              <a:t>≡    </a:t>
            </a:r>
            <a:r>
              <a:rPr lang="en-US" altLang="en-US" dirty="0"/>
              <a:t>E</a:t>
            </a:r>
            <a:r>
              <a:rPr lang="en-US" altLang="en-US" baseline="-25000" dirty="0"/>
              <a:t>1</a:t>
            </a:r>
            <a:r>
              <a:rPr lang="en-US" altLang="en-US" dirty="0"/>
              <a:t> </a:t>
            </a:r>
            <a:r>
              <a:rPr lang="en-IN" altLang="en-US" dirty="0"/>
              <a:t>⨝</a:t>
            </a:r>
            <a:r>
              <a:rPr lang="en-US" altLang="en-US" i="1" dirty="0"/>
              <a:t> </a:t>
            </a:r>
            <a:r>
              <a:rPr lang="en-US" altLang="en-US" baseline="-25000" dirty="0">
                <a:sym typeface="Symbol" panose="05050102010706020507" pitchFamily="18" charset="2"/>
              </a:rPr>
              <a:t></a:t>
            </a:r>
            <a:r>
              <a:rPr lang="en-US" altLang="en-US" baseline="-46000" dirty="0">
                <a:sym typeface="Greek Symbols" pitchFamily="18" charset="2"/>
              </a:rPr>
              <a:t>1</a:t>
            </a:r>
            <a:r>
              <a:rPr lang="en-IN" baseline="-25000" dirty="0"/>
              <a:t>∧</a:t>
            </a:r>
            <a:r>
              <a:rPr lang="en-US" altLang="en-US" baseline="-25000" dirty="0">
                <a:sym typeface="Symbol" panose="05050102010706020507" pitchFamily="18" charset="2"/>
              </a:rPr>
              <a:t></a:t>
            </a:r>
            <a:r>
              <a:rPr lang="en-US" altLang="en-US" baseline="-46000" dirty="0">
                <a:sym typeface="Greek Symbols" pitchFamily="18" charset="2"/>
              </a:rPr>
              <a:t>2</a:t>
            </a:r>
            <a:r>
              <a:rPr lang="en-US" altLang="en-US" dirty="0"/>
              <a:t> E</a:t>
            </a:r>
            <a:r>
              <a:rPr lang="en-US" altLang="en-US" baseline="-25000" dirty="0"/>
              <a:t>2</a:t>
            </a:r>
            <a:endParaRPr lang="en-US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0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426" name="Rectangle 2">
            <a:extLst>
              <a:ext uri="{FF2B5EF4-FFF2-40B4-BE49-F238E27FC236}">
                <a16:creationId xmlns:a16="http://schemas.microsoft.com/office/drawing/2014/main" id="{8091ABB1-6B13-4524-B9B6-6B007212FB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Equivalence Rules (Cont.)</a:t>
            </a:r>
          </a:p>
        </p:txBody>
      </p:sp>
      <p:sp>
        <p:nvSpPr>
          <p:cNvPr id="359427" name="Rectangle 3">
            <a:extLst>
              <a:ext uri="{FF2B5EF4-FFF2-40B4-BE49-F238E27FC236}">
                <a16:creationId xmlns:a16="http://schemas.microsoft.com/office/drawing/2014/main" id="{96C4720A-18C3-455E-B064-C93B8601E2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93018" y="1102497"/>
            <a:ext cx="7469205" cy="5367972"/>
          </a:xfrm>
        </p:spPr>
        <p:txBody>
          <a:bodyPr/>
          <a:lstStyle/>
          <a:p>
            <a:pPr marL="0" indent="0">
              <a:buNone/>
              <a:tabLst>
                <a:tab pos="3376613" algn="ctr"/>
              </a:tabLst>
            </a:pPr>
            <a:r>
              <a:rPr lang="en-US" altLang="en-US" dirty="0"/>
              <a:t>5.  Theta-join operations (and natural joins) are commutative.</a:t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	          </a:t>
            </a:r>
            <a:r>
              <a:rPr lang="en-US" altLang="en-US" i="1" dirty="0"/>
              <a:t>E</a:t>
            </a:r>
            <a:r>
              <a:rPr lang="en-US" altLang="en-US" baseline="-25000" dirty="0"/>
              <a:t>1</a:t>
            </a:r>
            <a:r>
              <a:rPr lang="en-IN" altLang="en-US" dirty="0"/>
              <a:t> ⨝</a:t>
            </a:r>
            <a:r>
              <a:rPr lang="en-US" altLang="en-US" i="1" dirty="0"/>
              <a:t> </a:t>
            </a:r>
            <a:r>
              <a:rPr lang="en-US" altLang="en-US" baseline="-25000" dirty="0">
                <a:sym typeface="Symbol" panose="05050102010706020507" pitchFamily="18" charset="2"/>
              </a:rPr>
              <a:t> </a:t>
            </a:r>
            <a:r>
              <a:rPr lang="en-US" altLang="en-US" i="1" dirty="0"/>
              <a:t>E</a:t>
            </a:r>
            <a:r>
              <a:rPr lang="en-US" altLang="en-US" i="1" baseline="-25000" dirty="0"/>
              <a:t>2</a:t>
            </a:r>
            <a:r>
              <a:rPr lang="en-US" altLang="en-US" dirty="0"/>
              <a:t>    </a:t>
            </a:r>
            <a:r>
              <a:rPr lang="en-IN" dirty="0"/>
              <a:t>≡    </a:t>
            </a:r>
            <a:r>
              <a:rPr lang="en-US" altLang="en-US" i="1" dirty="0"/>
              <a:t>E</a:t>
            </a:r>
            <a:r>
              <a:rPr lang="en-US" altLang="en-US" baseline="-25000" dirty="0"/>
              <a:t>2</a:t>
            </a:r>
            <a:r>
              <a:rPr lang="en-IN" altLang="en-US" dirty="0"/>
              <a:t> ⨝</a:t>
            </a:r>
            <a:r>
              <a:rPr lang="en-US" altLang="en-US" dirty="0"/>
              <a:t> </a:t>
            </a:r>
            <a:r>
              <a:rPr lang="en-US" altLang="en-US" i="1" dirty="0"/>
              <a:t>E</a:t>
            </a:r>
            <a:r>
              <a:rPr lang="en-US" altLang="en-US" baseline="-25000" dirty="0"/>
              <a:t>1</a:t>
            </a:r>
            <a:r>
              <a:rPr lang="en-US" altLang="en-US" dirty="0"/>
              <a:t/>
            </a:r>
            <a:br>
              <a:rPr lang="en-US" altLang="en-US" dirty="0"/>
            </a:br>
            <a:endParaRPr lang="en-US" altLang="en-US" baseline="-25000" dirty="0">
              <a:sym typeface="Greek Symbols" pitchFamily="18" charset="2"/>
            </a:endParaRPr>
          </a:p>
          <a:p>
            <a:pPr>
              <a:buFont typeface="Monotype Sorts" pitchFamily="-65" charset="2"/>
              <a:buNone/>
              <a:tabLst>
                <a:tab pos="3376613" algn="ctr"/>
              </a:tabLst>
            </a:pPr>
            <a:r>
              <a:rPr lang="en-US" altLang="en-US" dirty="0">
                <a:sym typeface="Greek Symbols" pitchFamily="18" charset="2"/>
              </a:rPr>
              <a:t>6.	(a) Natural join operations are associative:</a:t>
            </a:r>
          </a:p>
          <a:p>
            <a:pPr>
              <a:buNone/>
              <a:tabLst>
                <a:tab pos="3376613" algn="ctr"/>
              </a:tabLst>
            </a:pPr>
            <a:r>
              <a:rPr lang="en-US" altLang="en-US" dirty="0">
                <a:sym typeface="Greek Symbols" pitchFamily="18" charset="2"/>
              </a:rPr>
              <a:t>	                </a:t>
            </a:r>
            <a:r>
              <a:rPr lang="en-US" altLang="en-US" dirty="0"/>
              <a:t> </a:t>
            </a:r>
            <a:r>
              <a:rPr lang="en-US" altLang="en-US" dirty="0">
                <a:sym typeface="Greek Symbols" pitchFamily="18" charset="2"/>
              </a:rPr>
              <a:t>(</a:t>
            </a:r>
            <a:r>
              <a:rPr lang="en-US" altLang="en-US" i="1" dirty="0"/>
              <a:t>E</a:t>
            </a:r>
            <a:r>
              <a:rPr lang="en-US" altLang="en-US" baseline="-25000" dirty="0"/>
              <a:t>1</a:t>
            </a:r>
            <a:r>
              <a:rPr lang="en-IN" altLang="en-US" dirty="0"/>
              <a:t> ⨝</a:t>
            </a:r>
            <a:r>
              <a:rPr lang="en-US" altLang="en-US" i="1" dirty="0"/>
              <a:t> </a:t>
            </a:r>
            <a:r>
              <a:rPr lang="en-US" altLang="en-US" baseline="-25000" dirty="0">
                <a:sym typeface="Symbol" panose="05050102010706020507" pitchFamily="18" charset="2"/>
              </a:rPr>
              <a:t> </a:t>
            </a:r>
            <a:r>
              <a:rPr lang="en-US" altLang="en-US" i="1" dirty="0"/>
              <a:t>E</a:t>
            </a:r>
            <a:r>
              <a:rPr lang="en-US" altLang="en-US" i="1" baseline="-25000" dirty="0"/>
              <a:t>2</a:t>
            </a:r>
            <a:r>
              <a:rPr lang="en-US" altLang="en-US" dirty="0"/>
              <a:t>) </a:t>
            </a:r>
            <a:r>
              <a:rPr lang="en-IN" altLang="en-US" dirty="0"/>
              <a:t>⨝</a:t>
            </a:r>
            <a:r>
              <a:rPr lang="en-US" altLang="en-US" baseline="-25000" dirty="0">
                <a:sym typeface="Symbol" panose="05050102010706020507" pitchFamily="18" charset="2"/>
              </a:rPr>
              <a:t> </a:t>
            </a:r>
            <a:r>
              <a:rPr lang="en-US" altLang="en-US" baseline="-46000" dirty="0">
                <a:sym typeface="Greek Symbols" pitchFamily="18" charset="2"/>
              </a:rPr>
              <a:t> </a:t>
            </a:r>
            <a:r>
              <a:rPr lang="en-US" altLang="en-US" i="1" dirty="0"/>
              <a:t>E</a:t>
            </a:r>
            <a:r>
              <a:rPr lang="en-US" altLang="en-US" i="1" baseline="-25000" dirty="0"/>
              <a:t>3</a:t>
            </a:r>
            <a:r>
              <a:rPr lang="en-US" altLang="en-US" i="1" dirty="0"/>
              <a:t>     </a:t>
            </a:r>
            <a:r>
              <a:rPr lang="en-IN" dirty="0"/>
              <a:t>≡     </a:t>
            </a:r>
            <a:r>
              <a:rPr lang="en-US" altLang="en-US" i="1" dirty="0"/>
              <a:t>E</a:t>
            </a:r>
            <a:r>
              <a:rPr lang="en-US" altLang="en-US" baseline="-25000" dirty="0"/>
              <a:t>1</a:t>
            </a:r>
            <a:r>
              <a:rPr lang="en-IN" altLang="en-US" dirty="0"/>
              <a:t> ⨝</a:t>
            </a:r>
            <a:r>
              <a:rPr lang="en-US" altLang="en-US" dirty="0"/>
              <a:t> (</a:t>
            </a:r>
            <a:r>
              <a:rPr lang="en-US" altLang="en-US" i="1" dirty="0"/>
              <a:t>E</a:t>
            </a:r>
            <a:r>
              <a:rPr lang="en-US" altLang="en-US" baseline="-25000" dirty="0"/>
              <a:t>2</a:t>
            </a:r>
            <a:r>
              <a:rPr lang="en-IN" altLang="en-US" dirty="0"/>
              <a:t> ⨝</a:t>
            </a:r>
            <a:r>
              <a:rPr lang="en-US" altLang="en-US" i="1" dirty="0"/>
              <a:t> E</a:t>
            </a:r>
            <a:r>
              <a:rPr lang="en-US" altLang="en-US" baseline="-25000" dirty="0"/>
              <a:t>3</a:t>
            </a:r>
            <a:r>
              <a:rPr lang="en-US" altLang="en-US" dirty="0"/>
              <a:t>)</a:t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(b) Theta joins are associative in the following manner:</a:t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	       </a:t>
            </a:r>
            <a:r>
              <a:rPr lang="en-US" altLang="en-US" dirty="0">
                <a:sym typeface="Greek Symbols" pitchFamily="18" charset="2"/>
              </a:rPr>
              <a:t>(</a:t>
            </a:r>
            <a:r>
              <a:rPr lang="en-US" altLang="en-US" i="1" dirty="0"/>
              <a:t>E</a:t>
            </a:r>
            <a:r>
              <a:rPr lang="en-US" altLang="en-US" baseline="-25000" dirty="0"/>
              <a:t>1</a:t>
            </a:r>
            <a:r>
              <a:rPr lang="en-IN" altLang="en-US" dirty="0"/>
              <a:t> ⨝</a:t>
            </a:r>
            <a:r>
              <a:rPr lang="en-US" altLang="en-US" i="1" dirty="0"/>
              <a:t> </a:t>
            </a:r>
            <a:r>
              <a:rPr lang="en-US" altLang="en-US" baseline="-25000" dirty="0">
                <a:sym typeface="Symbol" panose="05050102010706020507" pitchFamily="18" charset="2"/>
              </a:rPr>
              <a:t></a:t>
            </a:r>
            <a:r>
              <a:rPr lang="en-US" altLang="en-US" baseline="-46000" dirty="0">
                <a:sym typeface="Greek Symbols" pitchFamily="18" charset="2"/>
              </a:rPr>
              <a:t>1</a:t>
            </a:r>
            <a:r>
              <a:rPr lang="en-US" altLang="en-US" baseline="-25000" dirty="0">
                <a:sym typeface="Symbol" panose="05050102010706020507" pitchFamily="18" charset="2"/>
              </a:rPr>
              <a:t> </a:t>
            </a:r>
            <a:r>
              <a:rPr lang="en-US" altLang="en-US" i="1" dirty="0"/>
              <a:t>E</a:t>
            </a:r>
            <a:r>
              <a:rPr lang="en-US" altLang="en-US" i="1" baseline="-25000" dirty="0"/>
              <a:t>2</a:t>
            </a:r>
            <a:r>
              <a:rPr lang="en-US" altLang="en-US" dirty="0"/>
              <a:t>) </a:t>
            </a:r>
            <a:r>
              <a:rPr lang="en-IN" altLang="en-US" dirty="0"/>
              <a:t>⨝</a:t>
            </a:r>
            <a:r>
              <a:rPr lang="en-US" altLang="en-US" baseline="-25000" dirty="0">
                <a:sym typeface="Symbol" panose="05050102010706020507" pitchFamily="18" charset="2"/>
              </a:rPr>
              <a:t> </a:t>
            </a:r>
            <a:r>
              <a:rPr lang="en-US" altLang="en-US" baseline="-46000" dirty="0">
                <a:sym typeface="Greek Symbols" pitchFamily="18" charset="2"/>
              </a:rPr>
              <a:t>2 </a:t>
            </a:r>
            <a:r>
              <a:rPr lang="en-US" altLang="en-US" baseline="-25000" dirty="0">
                <a:sym typeface="Symbol" panose="05050102010706020507" pitchFamily="18" charset="2"/>
              </a:rPr>
              <a:t> </a:t>
            </a:r>
            <a:r>
              <a:rPr lang="en-US" altLang="en-US" baseline="-46000" dirty="0">
                <a:sym typeface="Greek Symbols" pitchFamily="18" charset="2"/>
              </a:rPr>
              <a:t>3 </a:t>
            </a:r>
            <a:r>
              <a:rPr lang="en-US" altLang="en-US" i="1" dirty="0"/>
              <a:t>E</a:t>
            </a:r>
            <a:r>
              <a:rPr lang="en-US" altLang="en-US" i="1" baseline="-25000" dirty="0"/>
              <a:t>3</a:t>
            </a:r>
            <a:r>
              <a:rPr lang="en-US" altLang="en-US" i="1" dirty="0"/>
              <a:t>    </a:t>
            </a:r>
            <a:r>
              <a:rPr lang="en-IN" dirty="0"/>
              <a:t>≡    </a:t>
            </a:r>
            <a:r>
              <a:rPr lang="en-US" altLang="en-US" i="1" dirty="0"/>
              <a:t>E</a:t>
            </a:r>
            <a:r>
              <a:rPr lang="en-US" altLang="en-US" baseline="-25000" dirty="0"/>
              <a:t>1</a:t>
            </a:r>
            <a:r>
              <a:rPr lang="en-IN" altLang="en-US" dirty="0"/>
              <a:t> ⨝</a:t>
            </a:r>
            <a:r>
              <a:rPr lang="en-US" altLang="en-US" baseline="-25000" dirty="0">
                <a:sym typeface="Symbol" panose="05050102010706020507" pitchFamily="18" charset="2"/>
              </a:rPr>
              <a:t></a:t>
            </a:r>
            <a:r>
              <a:rPr lang="en-US" altLang="en-US" baseline="-46000" dirty="0">
                <a:sym typeface="Greek Symbols" pitchFamily="18" charset="2"/>
              </a:rPr>
              <a:t>1 </a:t>
            </a:r>
            <a:r>
              <a:rPr lang="en-US" altLang="en-US" baseline="-25000" dirty="0">
                <a:sym typeface="Symbol" panose="05050102010706020507" pitchFamily="18" charset="2"/>
              </a:rPr>
              <a:t> </a:t>
            </a:r>
            <a:r>
              <a:rPr lang="en-US" altLang="en-US" baseline="-46000" dirty="0">
                <a:sym typeface="Greek Symbols" pitchFamily="18" charset="2"/>
              </a:rPr>
              <a:t>3</a:t>
            </a:r>
            <a:r>
              <a:rPr lang="en-US" altLang="en-US" dirty="0"/>
              <a:t> (</a:t>
            </a:r>
            <a:r>
              <a:rPr lang="en-US" altLang="en-US" i="1" dirty="0"/>
              <a:t>E</a:t>
            </a:r>
            <a:r>
              <a:rPr lang="en-US" altLang="en-US" baseline="-25000" dirty="0"/>
              <a:t>2</a:t>
            </a:r>
            <a:r>
              <a:rPr lang="en-IN" altLang="en-US" dirty="0"/>
              <a:t> ⨝</a:t>
            </a:r>
            <a:r>
              <a:rPr lang="en-US" altLang="en-US" baseline="-25000" dirty="0">
                <a:sym typeface="Symbol" panose="05050102010706020507" pitchFamily="18" charset="2"/>
              </a:rPr>
              <a:t> </a:t>
            </a:r>
            <a:r>
              <a:rPr lang="en-US" altLang="en-US" baseline="-46000" dirty="0">
                <a:sym typeface="Greek Symbols" pitchFamily="18" charset="2"/>
              </a:rPr>
              <a:t>2</a:t>
            </a:r>
            <a:r>
              <a:rPr lang="en-US" altLang="en-US" i="1" dirty="0"/>
              <a:t> E</a:t>
            </a:r>
            <a:r>
              <a:rPr lang="en-US" altLang="en-US" baseline="-25000" dirty="0"/>
              <a:t>3</a:t>
            </a:r>
            <a:r>
              <a:rPr lang="en-US" altLang="en-US" dirty="0"/>
              <a:t>)</a:t>
            </a:r>
            <a:br>
              <a:rPr lang="en-US" altLang="en-US" dirty="0"/>
            </a:br>
            <a:r>
              <a:rPr lang="en-US" altLang="en-US" dirty="0"/>
              <a:t>     </a:t>
            </a:r>
            <a:br>
              <a:rPr lang="en-US" altLang="en-US" dirty="0"/>
            </a:br>
            <a:r>
              <a:rPr lang="en-US" altLang="en-US" dirty="0"/>
              <a:t>     where </a:t>
            </a:r>
            <a:r>
              <a:rPr lang="en-US" altLang="en-US" dirty="0">
                <a:sym typeface="Symbol" panose="05050102010706020507" pitchFamily="18" charset="2"/>
              </a:rPr>
              <a:t></a:t>
            </a:r>
            <a:r>
              <a:rPr lang="en-US" altLang="en-US" i="1" baseline="-25000" dirty="0">
                <a:sym typeface="Greek Symbols" pitchFamily="18" charset="2"/>
              </a:rPr>
              <a:t>2</a:t>
            </a:r>
            <a:r>
              <a:rPr lang="en-US" altLang="en-US" i="1" dirty="0">
                <a:sym typeface="Greek Symbols" pitchFamily="18" charset="2"/>
              </a:rPr>
              <a:t> </a:t>
            </a:r>
            <a:r>
              <a:rPr lang="en-US" altLang="en-US" dirty="0">
                <a:sym typeface="Greek Symbols" pitchFamily="18" charset="2"/>
              </a:rPr>
              <a:t>involves attributes from only </a:t>
            </a:r>
            <a:r>
              <a:rPr lang="en-US" altLang="en-US" i="1" dirty="0">
                <a:sym typeface="Greek Symbols" pitchFamily="18" charset="2"/>
              </a:rPr>
              <a:t>E</a:t>
            </a:r>
            <a:r>
              <a:rPr lang="en-US" altLang="en-US" baseline="-25000" dirty="0">
                <a:sym typeface="Greek Symbols" pitchFamily="18" charset="2"/>
              </a:rPr>
              <a:t>2</a:t>
            </a:r>
            <a:r>
              <a:rPr lang="en-US" altLang="en-US" dirty="0">
                <a:sym typeface="Greek Symbols" pitchFamily="18" charset="2"/>
              </a:rPr>
              <a:t> and </a:t>
            </a:r>
            <a:r>
              <a:rPr lang="en-US" altLang="en-US" i="1" dirty="0">
                <a:sym typeface="Greek Symbols" pitchFamily="18" charset="2"/>
              </a:rPr>
              <a:t>E</a:t>
            </a:r>
            <a:r>
              <a:rPr lang="en-US" altLang="en-US" i="1" baseline="-25000" dirty="0">
                <a:sym typeface="Greek Symbols" pitchFamily="18" charset="2"/>
              </a:rPr>
              <a:t>3</a:t>
            </a:r>
            <a:r>
              <a:rPr lang="en-US" altLang="en-US" i="1" dirty="0">
                <a:sym typeface="Greek Symbols" pitchFamily="18" charset="2"/>
              </a:rPr>
              <a:t>.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84B99422-6334-4E45-9086-F1F2684CA3D1}"/>
              </a:ext>
            </a:extLst>
          </p:cNvPr>
          <p:cNvSpPr txBox="1"/>
          <p:nvPr/>
        </p:nvSpPr>
        <p:spPr bwMode="auto">
          <a:xfrm>
            <a:off x="1647612" y="5188653"/>
            <a:ext cx="2792413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normAutofit/>
          </a:bodyPr>
          <a:lstStyle/>
          <a:p>
            <a:endParaRPr lang="en-IN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9427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634" name="Rectangle 2">
            <a:extLst>
              <a:ext uri="{FF2B5EF4-FFF2-40B4-BE49-F238E27FC236}">
                <a16:creationId xmlns:a16="http://schemas.microsoft.com/office/drawing/2014/main" id="{13BE5181-BC0D-4E3C-B803-BDBB6753C8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6788" y="55563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Pictorial Depiction of Equivalence Rules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BF349FB-4CB9-462F-A282-31330CD919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516627" y="1065978"/>
            <a:ext cx="6917843" cy="513314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50" name="Rectangle 2">
            <a:extLst>
              <a:ext uri="{FF2B5EF4-FFF2-40B4-BE49-F238E27FC236}">
                <a16:creationId xmlns:a16="http://schemas.microsoft.com/office/drawing/2014/main" id="{6B49CD74-8487-4512-88D7-665692A992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Equivalence Rules (Cont.)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D1631F66-0C00-49F9-97DF-D953852A7E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73768" y="1102497"/>
            <a:ext cx="7700211" cy="5367972"/>
          </a:xfrm>
        </p:spPr>
        <p:txBody>
          <a:bodyPr/>
          <a:lstStyle/>
          <a:p>
            <a:pPr>
              <a:buNone/>
            </a:pPr>
            <a:r>
              <a:rPr lang="en-US" altLang="en-US" dirty="0"/>
              <a:t>7.	The selection operation distributes over the theta join operation under the following two conditions:</a:t>
            </a:r>
            <a:br>
              <a:rPr lang="en-US" altLang="en-US" dirty="0"/>
            </a:br>
            <a:r>
              <a:rPr lang="en-US" altLang="en-US" dirty="0"/>
              <a:t>(a)  When all the attributes in </a:t>
            </a:r>
            <a:r>
              <a:rPr lang="en-US" altLang="en-US" dirty="0">
                <a:sym typeface="Symbol" panose="05050102010706020507" pitchFamily="18" charset="2"/>
              </a:rPr>
              <a:t></a:t>
            </a:r>
            <a:r>
              <a:rPr lang="en-US" altLang="en-US" baseline="-25000" dirty="0">
                <a:sym typeface="Greek Symbols" pitchFamily="18" charset="2"/>
              </a:rPr>
              <a:t>0 </a:t>
            </a:r>
            <a:r>
              <a:rPr lang="en-US" altLang="en-US" dirty="0">
                <a:sym typeface="Greek Symbols" pitchFamily="18" charset="2"/>
              </a:rPr>
              <a:t> involve only the attributes of one </a:t>
            </a:r>
            <a:br>
              <a:rPr lang="en-US" altLang="en-US" dirty="0">
                <a:sym typeface="Greek Symbols" pitchFamily="18" charset="2"/>
              </a:rPr>
            </a:br>
            <a:r>
              <a:rPr lang="en-US" altLang="en-US" dirty="0">
                <a:sym typeface="Greek Symbols" pitchFamily="18" charset="2"/>
              </a:rPr>
              <a:t>       of the expressions (</a:t>
            </a:r>
            <a:r>
              <a:rPr lang="en-US" altLang="en-US" i="1" dirty="0">
                <a:sym typeface="Greek Symbols" pitchFamily="18" charset="2"/>
              </a:rPr>
              <a:t>E</a:t>
            </a:r>
            <a:r>
              <a:rPr lang="en-US" altLang="en-US" baseline="-25000" dirty="0">
                <a:sym typeface="Greek Symbols" pitchFamily="18" charset="2"/>
              </a:rPr>
              <a:t>1</a:t>
            </a:r>
            <a:r>
              <a:rPr lang="en-US" altLang="en-US" dirty="0">
                <a:sym typeface="Greek Symbols" pitchFamily="18" charset="2"/>
              </a:rPr>
              <a:t>) being joined.</a:t>
            </a:r>
            <a:br>
              <a:rPr lang="en-US" altLang="en-US" dirty="0">
                <a:sym typeface="Greek Symbols" pitchFamily="18" charset="2"/>
              </a:rPr>
            </a:br>
            <a:r>
              <a:rPr lang="en-US" altLang="en-US" dirty="0">
                <a:sym typeface="Greek Symbols" pitchFamily="18" charset="2"/>
              </a:rPr>
              <a:t/>
            </a:r>
            <a:br>
              <a:rPr lang="en-US" altLang="en-US" dirty="0">
                <a:sym typeface="Greek Symbols" pitchFamily="18" charset="2"/>
              </a:rPr>
            </a:br>
            <a:r>
              <a:rPr lang="en-US" altLang="en-US" dirty="0">
                <a:sym typeface="Greek Symbols" pitchFamily="18" charset="2"/>
              </a:rPr>
              <a:t>                </a:t>
            </a:r>
            <a:r>
              <a:rPr lang="en-US" altLang="en-US" dirty="0">
                <a:sym typeface="Symbol" panose="05050102010706020507" pitchFamily="18" charset="2"/>
              </a:rPr>
              <a:t></a:t>
            </a:r>
            <a:r>
              <a:rPr lang="en-US" altLang="en-US" baseline="-25000" dirty="0">
                <a:sym typeface="Symbol" panose="05050102010706020507" pitchFamily="18" charset="2"/>
              </a:rPr>
              <a:t></a:t>
            </a:r>
            <a:r>
              <a:rPr lang="en-US" altLang="en-US" baseline="-46000" dirty="0">
                <a:sym typeface="Greek Symbols" pitchFamily="18" charset="2"/>
              </a:rPr>
              <a:t>0 </a:t>
            </a:r>
            <a:r>
              <a:rPr lang="en-US" altLang="en-US" dirty="0">
                <a:sym typeface="Symbol" panose="05050102010706020507" pitchFamily="18" charset="2"/>
              </a:rPr>
              <a:t>E</a:t>
            </a:r>
            <a:r>
              <a:rPr lang="en-US" altLang="en-US" baseline="-25000" dirty="0">
                <a:sym typeface="Symbol" panose="05050102010706020507" pitchFamily="18" charset="2"/>
              </a:rPr>
              <a:t>1 </a:t>
            </a:r>
            <a:r>
              <a:rPr lang="en-IN" altLang="en-US" dirty="0"/>
              <a:t>⨝</a:t>
            </a:r>
            <a:r>
              <a:rPr lang="en-US" altLang="en-US" baseline="-25000" dirty="0">
                <a:sym typeface="Symbol" panose="05050102010706020507" pitchFamily="18" charset="2"/>
              </a:rPr>
              <a:t> </a:t>
            </a:r>
            <a:r>
              <a:rPr lang="en-US" altLang="en-US" dirty="0">
                <a:sym typeface="Symbol" panose="05050102010706020507" pitchFamily="18" charset="2"/>
              </a:rPr>
              <a:t>E</a:t>
            </a:r>
            <a:r>
              <a:rPr lang="en-US" altLang="en-US" baseline="-25000" dirty="0">
                <a:sym typeface="Symbol" panose="05050102010706020507" pitchFamily="18" charset="2"/>
              </a:rPr>
              <a:t>2</a:t>
            </a:r>
            <a:r>
              <a:rPr lang="en-US" altLang="en-US" dirty="0">
                <a:sym typeface="Symbol" panose="05050102010706020507" pitchFamily="18" charset="2"/>
              </a:rPr>
              <a:t>)      </a:t>
            </a:r>
            <a:r>
              <a:rPr lang="en-IN" dirty="0"/>
              <a:t>≡    </a:t>
            </a:r>
            <a:r>
              <a:rPr lang="en-US" altLang="en-US" dirty="0">
                <a:sym typeface="Symbol" panose="05050102010706020507" pitchFamily="18" charset="2"/>
              </a:rPr>
              <a:t> (</a:t>
            </a:r>
            <a:r>
              <a:rPr lang="en-US" altLang="en-US" baseline="-25000" dirty="0">
                <a:sym typeface="Symbol" panose="05050102010706020507" pitchFamily="18" charset="2"/>
              </a:rPr>
              <a:t></a:t>
            </a:r>
            <a:r>
              <a:rPr lang="en-US" altLang="en-US" baseline="-46000" dirty="0">
                <a:sym typeface="Greek Symbols" pitchFamily="18" charset="2"/>
              </a:rPr>
              <a:t>0</a:t>
            </a:r>
            <a:r>
              <a:rPr lang="en-US" altLang="en-US" dirty="0">
                <a:sym typeface="Symbol" panose="05050102010706020507" pitchFamily="18" charset="2"/>
              </a:rPr>
              <a:t>(E</a:t>
            </a:r>
            <a:r>
              <a:rPr lang="en-US" altLang="en-US" baseline="-25000" dirty="0">
                <a:sym typeface="Symbol" panose="05050102010706020507" pitchFamily="18" charset="2"/>
              </a:rPr>
              <a:t>1</a:t>
            </a:r>
            <a:r>
              <a:rPr lang="en-US" altLang="en-US" dirty="0">
                <a:sym typeface="Symbol" panose="05050102010706020507" pitchFamily="18" charset="2"/>
              </a:rPr>
              <a:t>)) </a:t>
            </a:r>
            <a:r>
              <a:rPr lang="en-IN" altLang="en-US" dirty="0"/>
              <a:t>⨝</a:t>
            </a:r>
            <a:r>
              <a:rPr lang="en-US" altLang="en-US" baseline="-25000" dirty="0">
                <a:sym typeface="Symbol" panose="05050102010706020507" pitchFamily="18" charset="2"/>
              </a:rPr>
              <a:t> </a:t>
            </a:r>
            <a:r>
              <a:rPr lang="en-US" altLang="en-US" dirty="0">
                <a:sym typeface="Symbol" panose="05050102010706020507" pitchFamily="18" charset="2"/>
              </a:rPr>
              <a:t>E</a:t>
            </a:r>
            <a:r>
              <a:rPr lang="en-US" altLang="en-US" baseline="-25000" dirty="0">
                <a:sym typeface="Symbol" panose="05050102010706020507" pitchFamily="18" charset="2"/>
              </a:rPr>
              <a:t>2</a:t>
            </a:r>
            <a:r>
              <a:rPr lang="en-US" altLang="en-US" dirty="0">
                <a:sym typeface="Greek Symbols" pitchFamily="18" charset="2"/>
              </a:rPr>
              <a:t> </a:t>
            </a:r>
            <a:br>
              <a:rPr lang="en-US" altLang="en-US" dirty="0">
                <a:sym typeface="Greek Symbols" pitchFamily="18" charset="2"/>
              </a:rPr>
            </a:br>
            <a:endParaRPr lang="en-US" altLang="en-US" dirty="0">
              <a:sym typeface="Greek Symbols" pitchFamily="18" charset="2"/>
            </a:endParaRPr>
          </a:p>
          <a:p>
            <a:pPr>
              <a:buFont typeface="Monotype Sorts" pitchFamily="-65" charset="2"/>
              <a:buNone/>
            </a:pPr>
            <a:r>
              <a:rPr lang="en-US" altLang="en-US" dirty="0">
                <a:sym typeface="Greek Symbols" pitchFamily="18" charset="2"/>
              </a:rPr>
              <a:t>	(b) When </a:t>
            </a:r>
            <a:r>
              <a:rPr lang="en-US" altLang="en-US" dirty="0">
                <a:sym typeface="Symbol" panose="05050102010706020507" pitchFamily="18" charset="2"/>
              </a:rPr>
              <a:t></a:t>
            </a:r>
            <a:r>
              <a:rPr lang="en-US" altLang="en-US" baseline="-25000" dirty="0">
                <a:sym typeface="Greek Symbols" pitchFamily="18" charset="2"/>
              </a:rPr>
              <a:t>1 </a:t>
            </a:r>
            <a:r>
              <a:rPr lang="en-US" altLang="en-US" dirty="0">
                <a:sym typeface="Greek Symbols" pitchFamily="18" charset="2"/>
              </a:rPr>
              <a:t>involves only the attributes of </a:t>
            </a:r>
            <a:r>
              <a:rPr lang="en-US" altLang="en-US" i="1" dirty="0">
                <a:sym typeface="Greek Symbols" pitchFamily="18" charset="2"/>
              </a:rPr>
              <a:t>E</a:t>
            </a:r>
            <a:r>
              <a:rPr lang="en-US" altLang="en-US" baseline="-25000" dirty="0">
                <a:sym typeface="Greek Symbols" pitchFamily="18" charset="2"/>
              </a:rPr>
              <a:t>1</a:t>
            </a:r>
            <a:r>
              <a:rPr lang="en-US" altLang="en-US" dirty="0">
                <a:sym typeface="Greek Symbols" pitchFamily="18" charset="2"/>
              </a:rPr>
              <a:t> and</a:t>
            </a:r>
            <a:r>
              <a:rPr lang="en-US" altLang="en-US" i="1" dirty="0">
                <a:sym typeface="Greek Symbols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</a:t>
            </a:r>
            <a:r>
              <a:rPr lang="en-US" altLang="en-US" baseline="-25000" dirty="0">
                <a:sym typeface="Greek Symbols" pitchFamily="18" charset="2"/>
              </a:rPr>
              <a:t>2 </a:t>
            </a:r>
            <a:r>
              <a:rPr lang="en-US" altLang="en-US" dirty="0">
                <a:sym typeface="Greek Symbols" pitchFamily="18" charset="2"/>
              </a:rPr>
              <a:t> involves  </a:t>
            </a:r>
            <a:br>
              <a:rPr lang="en-US" altLang="en-US" dirty="0">
                <a:sym typeface="Greek Symbols" pitchFamily="18" charset="2"/>
              </a:rPr>
            </a:br>
            <a:r>
              <a:rPr lang="en-US" altLang="en-US" dirty="0">
                <a:sym typeface="Greek Symbols" pitchFamily="18" charset="2"/>
              </a:rPr>
              <a:t>      only the attributes of </a:t>
            </a:r>
            <a:r>
              <a:rPr lang="en-US" altLang="en-US" i="1" dirty="0">
                <a:sym typeface="Greek Symbols" pitchFamily="18" charset="2"/>
              </a:rPr>
              <a:t>E</a:t>
            </a:r>
            <a:r>
              <a:rPr lang="en-US" altLang="en-US" baseline="-25000" dirty="0">
                <a:sym typeface="Greek Symbols" pitchFamily="18" charset="2"/>
              </a:rPr>
              <a:t>2</a:t>
            </a:r>
            <a:r>
              <a:rPr lang="en-US" altLang="en-US" dirty="0">
                <a:sym typeface="Greek Symbols" pitchFamily="18" charset="2"/>
              </a:rPr>
              <a:t>.</a:t>
            </a:r>
          </a:p>
          <a:p>
            <a:pPr>
              <a:buNone/>
            </a:pPr>
            <a:r>
              <a:rPr lang="en-US" altLang="en-US" dirty="0">
                <a:sym typeface="Symbol" panose="05050102010706020507" pitchFamily="18" charset="2"/>
              </a:rPr>
              <a:t>	                </a:t>
            </a:r>
            <a:r>
              <a:rPr lang="en-US" altLang="en-US" baseline="-25000" dirty="0">
                <a:sym typeface="Symbol" panose="05050102010706020507" pitchFamily="18" charset="2"/>
              </a:rPr>
              <a:t></a:t>
            </a:r>
            <a:r>
              <a:rPr lang="en-US" altLang="en-US" baseline="-46000" dirty="0">
                <a:sym typeface="Greek Symbols" pitchFamily="18" charset="2"/>
              </a:rPr>
              <a:t>1</a:t>
            </a:r>
            <a:r>
              <a:rPr lang="en-US" altLang="en-US" baseline="-25000" dirty="0">
                <a:sym typeface="Symbol" panose="05050102010706020507" pitchFamily="18" charset="2"/>
              </a:rPr>
              <a:t> </a:t>
            </a:r>
            <a:r>
              <a:rPr lang="en-US" altLang="en-US" baseline="-25000" dirty="0">
                <a:sym typeface="Greek Symbols" pitchFamily="18" charset="2"/>
              </a:rPr>
              <a:t> </a:t>
            </a:r>
            <a:r>
              <a:rPr lang="en-US" altLang="en-US" baseline="-25000" dirty="0">
                <a:sym typeface="Symbol" panose="05050102010706020507" pitchFamily="18" charset="2"/>
              </a:rPr>
              <a:t></a:t>
            </a:r>
            <a:r>
              <a:rPr lang="en-US" altLang="en-US" baseline="-46000" dirty="0">
                <a:sym typeface="Greek Symbols" pitchFamily="18" charset="2"/>
              </a:rPr>
              <a:t>2</a:t>
            </a:r>
            <a:r>
              <a:rPr lang="en-US" altLang="en-US" baseline="-25000" dirty="0"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E</a:t>
            </a:r>
            <a:r>
              <a:rPr lang="en-US" altLang="en-US" baseline="-25000" dirty="0">
                <a:sym typeface="Symbol" panose="05050102010706020507" pitchFamily="18" charset="2"/>
              </a:rPr>
              <a:t>1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IN" altLang="en-US" dirty="0"/>
              <a:t>⨝</a:t>
            </a:r>
            <a:r>
              <a:rPr lang="en-US" altLang="en-US" baseline="-25000" dirty="0">
                <a:sym typeface="Symbol" panose="05050102010706020507" pitchFamily="18" charset="2"/>
              </a:rPr>
              <a:t> </a:t>
            </a:r>
            <a:r>
              <a:rPr lang="en-US" altLang="en-US" dirty="0">
                <a:sym typeface="Symbol" panose="05050102010706020507" pitchFamily="18" charset="2"/>
              </a:rPr>
              <a:t>E</a:t>
            </a:r>
            <a:r>
              <a:rPr lang="en-US" altLang="en-US" baseline="-25000" dirty="0">
                <a:sym typeface="Symbol" panose="05050102010706020507" pitchFamily="18" charset="2"/>
              </a:rPr>
              <a:t>2</a:t>
            </a:r>
            <a:r>
              <a:rPr lang="en-US" altLang="en-US" dirty="0">
                <a:sym typeface="Symbol" panose="05050102010706020507" pitchFamily="18" charset="2"/>
              </a:rPr>
              <a:t>)     </a:t>
            </a:r>
            <a:r>
              <a:rPr lang="en-IN" dirty="0"/>
              <a:t>≡</a:t>
            </a:r>
            <a:r>
              <a:rPr lang="en-US" altLang="en-US" dirty="0">
                <a:sym typeface="Symbol" panose="05050102010706020507" pitchFamily="18" charset="2"/>
              </a:rPr>
              <a:t>      (</a:t>
            </a:r>
            <a:r>
              <a:rPr lang="en-US" altLang="en-US" baseline="-25000" dirty="0">
                <a:sym typeface="Symbol" panose="05050102010706020507" pitchFamily="18" charset="2"/>
              </a:rPr>
              <a:t></a:t>
            </a:r>
            <a:r>
              <a:rPr lang="en-US" altLang="en-US" baseline="-46000" dirty="0">
                <a:sym typeface="Greek Symbols" pitchFamily="18" charset="2"/>
              </a:rPr>
              <a:t>1</a:t>
            </a:r>
            <a:r>
              <a:rPr lang="en-US" altLang="en-US" dirty="0">
                <a:sym typeface="Symbol" panose="05050102010706020507" pitchFamily="18" charset="2"/>
              </a:rPr>
              <a:t>(E</a:t>
            </a:r>
            <a:r>
              <a:rPr lang="en-US" altLang="en-US" baseline="-25000" dirty="0">
                <a:sym typeface="Symbol" panose="05050102010706020507" pitchFamily="18" charset="2"/>
              </a:rPr>
              <a:t>1</a:t>
            </a:r>
            <a:r>
              <a:rPr lang="en-US" altLang="en-US" dirty="0">
                <a:sym typeface="Symbol" panose="05050102010706020507" pitchFamily="18" charset="2"/>
              </a:rPr>
              <a:t>))</a:t>
            </a:r>
            <a:r>
              <a:rPr lang="en-IN" altLang="en-US" dirty="0"/>
              <a:t> ⨝</a:t>
            </a:r>
            <a:r>
              <a:rPr lang="en-US" altLang="en-US" baseline="-25000" dirty="0">
                <a:sym typeface="Symbol" panose="05050102010706020507" pitchFamily="18" charset="2"/>
              </a:rPr>
              <a:t></a:t>
            </a:r>
            <a:r>
              <a:rPr lang="en-US" altLang="en-US" dirty="0">
                <a:sym typeface="Symbol" panose="05050102010706020507" pitchFamily="18" charset="2"/>
              </a:rPr>
              <a:t> (</a:t>
            </a:r>
            <a:r>
              <a:rPr lang="en-US" altLang="en-US" baseline="-25000" dirty="0">
                <a:sym typeface="Symbol" panose="05050102010706020507" pitchFamily="18" charset="2"/>
              </a:rPr>
              <a:t></a:t>
            </a:r>
            <a:r>
              <a:rPr lang="en-US" altLang="en-US" baseline="-46000" dirty="0">
                <a:sym typeface="Greek Symbols" pitchFamily="18" charset="2"/>
              </a:rPr>
              <a:t>2</a:t>
            </a:r>
            <a:r>
              <a:rPr lang="en-US" altLang="en-US" dirty="0">
                <a:sym typeface="Symbol" panose="05050102010706020507" pitchFamily="18" charset="2"/>
              </a:rPr>
              <a:t>(E</a:t>
            </a:r>
            <a:r>
              <a:rPr lang="en-US" altLang="en-US" baseline="-25000" dirty="0">
                <a:sym typeface="Symbol" panose="05050102010706020507" pitchFamily="18" charset="2"/>
              </a:rPr>
              <a:t>2</a:t>
            </a:r>
            <a:r>
              <a:rPr lang="en-US" altLang="en-US" dirty="0">
                <a:sym typeface="Symbol" panose="05050102010706020507" pitchFamily="18" charset="2"/>
              </a:rPr>
              <a:t>))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>
            <a:extLst>
              <a:ext uri="{FF2B5EF4-FFF2-40B4-BE49-F238E27FC236}">
                <a16:creationId xmlns:a16="http://schemas.microsoft.com/office/drawing/2014/main" id="{B646A50B-011F-454A-8351-8C638211E9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3394" y="1102497"/>
            <a:ext cx="7757962" cy="5367972"/>
          </a:xfrm>
        </p:spPr>
        <p:txBody>
          <a:bodyPr/>
          <a:lstStyle/>
          <a:p>
            <a:pPr>
              <a:buFont typeface="Monotype Sorts" pitchFamily="-65" charset="2"/>
              <a:buNone/>
              <a:tabLst>
                <a:tab pos="3087688" algn="ctr"/>
              </a:tabLst>
            </a:pPr>
            <a:r>
              <a:rPr lang="en-US" altLang="en-US" dirty="0"/>
              <a:t>8.	The projection operation distributes over the theta join operation as follows:</a:t>
            </a:r>
          </a:p>
          <a:p>
            <a:pPr>
              <a:buFont typeface="Monotype Sorts" pitchFamily="-65" charset="2"/>
              <a:buNone/>
              <a:tabLst>
                <a:tab pos="3087688" algn="ctr"/>
              </a:tabLst>
            </a:pPr>
            <a:r>
              <a:rPr lang="en-US" altLang="en-US" dirty="0"/>
              <a:t>	(a) if </a:t>
            </a:r>
            <a:r>
              <a:rPr kumimoji="0" lang="en-US" altLang="en-US" dirty="0">
                <a:solidFill>
                  <a:srgbClr val="000000"/>
                </a:solidFill>
                <a:sym typeface="Symbol" panose="05050102010706020507" pitchFamily="18" charset="2"/>
              </a:rPr>
              <a:t></a:t>
            </a:r>
            <a:r>
              <a:rPr lang="en-US" altLang="en-US" dirty="0">
                <a:sym typeface="Greek Symbols" pitchFamily="18" charset="2"/>
              </a:rPr>
              <a:t> involves only attributes from </a:t>
            </a:r>
            <a:r>
              <a:rPr lang="en-US" altLang="en-US" i="1" dirty="0">
                <a:sym typeface="Greek Symbols" pitchFamily="18" charset="2"/>
              </a:rPr>
              <a:t>L</a:t>
            </a:r>
            <a:r>
              <a:rPr lang="en-US" altLang="en-US" baseline="-25000" dirty="0">
                <a:sym typeface="Greek Symbols" pitchFamily="18" charset="2"/>
              </a:rPr>
              <a:t>1</a:t>
            </a:r>
            <a:r>
              <a:rPr lang="en-US" altLang="en-US" dirty="0">
                <a:sym typeface="Greek Symbols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 </a:t>
            </a:r>
            <a:r>
              <a:rPr lang="en-US" altLang="en-US" i="1" dirty="0">
                <a:sym typeface="Symbol" panose="05050102010706020507" pitchFamily="18" charset="2"/>
              </a:rPr>
              <a:t>L</a:t>
            </a:r>
            <a:r>
              <a:rPr lang="en-US" altLang="en-US" baseline="-25000" dirty="0">
                <a:sym typeface="Symbol" panose="05050102010706020507" pitchFamily="18" charset="2"/>
              </a:rPr>
              <a:t>2</a:t>
            </a:r>
            <a:r>
              <a:rPr lang="en-US" altLang="en-US" dirty="0">
                <a:sym typeface="Symbol" panose="05050102010706020507" pitchFamily="18" charset="2"/>
              </a:rPr>
              <a:t>:</a:t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IN" altLang="en-US" dirty="0">
                <a:sym typeface="Symbol" panose="05050102010706020507" pitchFamily="18" charset="2"/>
              </a:rPr>
              <a:t>        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 </a:t>
            </a:r>
            <a:r>
              <a:rPr lang="en-IN" baseline="-25000" dirty="0"/>
              <a:t>L</a:t>
            </a:r>
            <a:r>
              <a:rPr lang="en-US" altLang="en-US" baseline="-46000" dirty="0">
                <a:sym typeface="Greek Symbols" pitchFamily="18" charset="2"/>
              </a:rPr>
              <a:t>1</a:t>
            </a:r>
            <a:r>
              <a:rPr lang="en-IN" baseline="-25000" dirty="0"/>
              <a:t> </a:t>
            </a:r>
            <a:r>
              <a:rPr lang="en-US" altLang="en-US" baseline="-25000" dirty="0">
                <a:sym typeface="Symbol" panose="05050102010706020507" pitchFamily="18" charset="2"/>
              </a:rPr>
              <a:t> </a:t>
            </a:r>
            <a:r>
              <a:rPr lang="en-IN" baseline="-25000" dirty="0"/>
              <a:t>L</a:t>
            </a:r>
            <a:r>
              <a:rPr lang="en-US" baseline="-46000" dirty="0">
                <a:sym typeface="Greek Symbols" pitchFamily="18" charset="2"/>
              </a:rPr>
              <a:t>2</a:t>
            </a:r>
            <a:r>
              <a:rPr lang="en-IN" dirty="0"/>
              <a:t>(</a:t>
            </a:r>
            <a:r>
              <a:rPr lang="en-US" altLang="en-US" i="1" dirty="0"/>
              <a:t>E</a:t>
            </a:r>
            <a:r>
              <a:rPr lang="en-US" altLang="en-US" baseline="-25000" dirty="0"/>
              <a:t>1</a:t>
            </a:r>
            <a:r>
              <a:rPr lang="en-IN" altLang="en-US" dirty="0"/>
              <a:t> ⨝</a:t>
            </a:r>
            <a:r>
              <a:rPr lang="en-US" altLang="en-US" baseline="-25000" dirty="0">
                <a:sym typeface="Symbol" panose="05050102010706020507" pitchFamily="18" charset="2"/>
              </a:rPr>
              <a:t></a:t>
            </a:r>
            <a:r>
              <a:rPr lang="en-US" altLang="en-US" i="1" dirty="0"/>
              <a:t> </a:t>
            </a:r>
            <a:r>
              <a:rPr lang="en-US" altLang="en-US" baseline="-25000" dirty="0">
                <a:sym typeface="Symbol" panose="05050102010706020507" pitchFamily="18" charset="2"/>
              </a:rPr>
              <a:t> </a:t>
            </a:r>
            <a:r>
              <a:rPr lang="en-US" altLang="en-US" i="1" dirty="0"/>
              <a:t>E</a:t>
            </a:r>
            <a:r>
              <a:rPr lang="en-US" altLang="en-US" i="1" baseline="-25000" dirty="0"/>
              <a:t>2</a:t>
            </a:r>
            <a:r>
              <a:rPr lang="en-US" altLang="en-US" dirty="0"/>
              <a:t>)     </a:t>
            </a:r>
            <a:r>
              <a:rPr lang="en-IN" dirty="0"/>
              <a:t>≡    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 </a:t>
            </a:r>
            <a:r>
              <a:rPr lang="en-IN" baseline="-25000" dirty="0"/>
              <a:t>L</a:t>
            </a:r>
            <a:r>
              <a:rPr lang="en-US" altLang="en-US" baseline="-46000" dirty="0">
                <a:sym typeface="Greek Symbols" pitchFamily="18" charset="2"/>
              </a:rPr>
              <a:t>1</a:t>
            </a:r>
            <a:r>
              <a:rPr lang="en-IN" dirty="0"/>
              <a:t>(</a:t>
            </a:r>
            <a:r>
              <a:rPr lang="en-US" altLang="en-US" i="1" dirty="0"/>
              <a:t>E</a:t>
            </a:r>
            <a:r>
              <a:rPr lang="en-US" altLang="en-US" baseline="-25000" dirty="0"/>
              <a:t>1</a:t>
            </a:r>
            <a:r>
              <a:rPr lang="en-IN" altLang="en-US" dirty="0"/>
              <a:t>) ⨝</a:t>
            </a:r>
            <a:r>
              <a:rPr lang="en-US" altLang="en-US" baseline="-25000" dirty="0">
                <a:sym typeface="Symbol" panose="05050102010706020507" pitchFamily="18" charset="2"/>
              </a:rPr>
              <a:t></a:t>
            </a:r>
            <a:r>
              <a:rPr lang="en-US" altLang="en-US" i="1" dirty="0"/>
              <a:t>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 </a:t>
            </a:r>
            <a:r>
              <a:rPr lang="en-IN" baseline="-25000" dirty="0"/>
              <a:t>L</a:t>
            </a:r>
            <a:r>
              <a:rPr lang="en-US" altLang="en-US" baseline="-46000" dirty="0">
                <a:sym typeface="Greek Symbols" pitchFamily="18" charset="2"/>
              </a:rPr>
              <a:t>2</a:t>
            </a:r>
            <a:r>
              <a:rPr lang="en-IN" dirty="0"/>
              <a:t>(</a:t>
            </a:r>
            <a:r>
              <a:rPr lang="en-US" altLang="en-US" i="1" dirty="0"/>
              <a:t>E</a:t>
            </a:r>
            <a:r>
              <a:rPr lang="en-US" altLang="en-US" i="1" baseline="-25000" dirty="0"/>
              <a:t>2</a:t>
            </a:r>
            <a:r>
              <a:rPr lang="en-IN" altLang="en-US" dirty="0"/>
              <a:t>)</a:t>
            </a:r>
            <a:r>
              <a:rPr lang="en-US" alt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	</a:t>
            </a:r>
          </a:p>
          <a:p>
            <a:pPr>
              <a:buFont typeface="Monotype Sorts" pitchFamily="-65" charset="2"/>
              <a:buNone/>
              <a:tabLst>
                <a:tab pos="3087688" algn="ctr"/>
              </a:tabLst>
            </a:pPr>
            <a:r>
              <a:rPr lang="en-US" altLang="en-US" dirty="0">
                <a:sym typeface="Symbol" panose="05050102010706020507" pitchFamily="18" charset="2"/>
              </a:rPr>
              <a:t>	(b) In general, consider a join </a:t>
            </a:r>
            <a:r>
              <a:rPr lang="en-US" altLang="en-US" i="1" dirty="0"/>
              <a:t>E</a:t>
            </a:r>
            <a:r>
              <a:rPr lang="en-US" altLang="en-US" baseline="-25000" dirty="0"/>
              <a:t>1</a:t>
            </a:r>
            <a:r>
              <a:rPr lang="en-IN" altLang="en-US" dirty="0"/>
              <a:t> ⨝</a:t>
            </a:r>
            <a:r>
              <a:rPr lang="en-US" altLang="en-US" baseline="-25000" dirty="0">
                <a:sym typeface="Symbol" panose="05050102010706020507" pitchFamily="18" charset="2"/>
              </a:rPr>
              <a:t></a:t>
            </a:r>
            <a:r>
              <a:rPr lang="en-US" altLang="en-US" i="1" dirty="0"/>
              <a:t> </a:t>
            </a:r>
            <a:r>
              <a:rPr lang="en-US" altLang="en-US" baseline="-25000" dirty="0">
                <a:sym typeface="Symbol" panose="05050102010706020507" pitchFamily="18" charset="2"/>
              </a:rPr>
              <a:t> </a:t>
            </a:r>
            <a:r>
              <a:rPr lang="en-US" altLang="en-US" i="1" dirty="0"/>
              <a:t>E</a:t>
            </a:r>
            <a:r>
              <a:rPr lang="en-US" altLang="en-US" i="1" baseline="-25000" dirty="0"/>
              <a:t>2</a:t>
            </a:r>
            <a:r>
              <a:rPr lang="en-US" altLang="en-US" dirty="0">
                <a:sym typeface="Greek Symbols" pitchFamily="18" charset="2"/>
              </a:rPr>
              <a:t>. </a:t>
            </a:r>
          </a:p>
          <a:p>
            <a:pPr lvl="1">
              <a:tabLst>
                <a:tab pos="3087688" algn="ctr"/>
              </a:tabLst>
            </a:pPr>
            <a:r>
              <a:rPr lang="en-US" altLang="en-US" dirty="0">
                <a:sym typeface="Greek Symbols" pitchFamily="18" charset="2"/>
              </a:rPr>
              <a:t> Let </a:t>
            </a:r>
            <a:r>
              <a:rPr lang="en-US" altLang="en-US" i="1" dirty="0">
                <a:sym typeface="Greek Symbols" pitchFamily="18" charset="2"/>
              </a:rPr>
              <a:t>L</a:t>
            </a:r>
            <a:r>
              <a:rPr lang="en-US" altLang="en-US" baseline="-25000" dirty="0">
                <a:sym typeface="Greek Symbols" pitchFamily="18" charset="2"/>
              </a:rPr>
              <a:t>1</a:t>
            </a:r>
            <a:r>
              <a:rPr lang="en-US" altLang="en-US" dirty="0">
                <a:sym typeface="Greek Symbols" pitchFamily="18" charset="2"/>
              </a:rPr>
              <a:t> and </a:t>
            </a:r>
            <a:r>
              <a:rPr lang="en-US" altLang="en-US" i="1" dirty="0">
                <a:sym typeface="Symbol" panose="05050102010706020507" pitchFamily="18" charset="2"/>
              </a:rPr>
              <a:t>L</a:t>
            </a:r>
            <a:r>
              <a:rPr lang="en-US" altLang="en-US" baseline="-25000" dirty="0">
                <a:sym typeface="Symbol" panose="05050102010706020507" pitchFamily="18" charset="2"/>
              </a:rPr>
              <a:t>2</a:t>
            </a:r>
            <a:r>
              <a:rPr lang="en-US" altLang="en-US" dirty="0">
                <a:sym typeface="Symbol" panose="05050102010706020507" pitchFamily="18" charset="2"/>
              </a:rPr>
              <a:t> be sets of attributes from </a:t>
            </a:r>
            <a:r>
              <a:rPr lang="en-US" altLang="en-US" i="1" dirty="0">
                <a:sym typeface="Symbol" panose="05050102010706020507" pitchFamily="18" charset="2"/>
              </a:rPr>
              <a:t>E</a:t>
            </a:r>
            <a:r>
              <a:rPr lang="en-US" altLang="en-US" baseline="-25000" dirty="0">
                <a:sym typeface="Symbol" panose="05050102010706020507" pitchFamily="18" charset="2"/>
              </a:rPr>
              <a:t>1</a:t>
            </a:r>
            <a:r>
              <a:rPr lang="en-US" altLang="en-US" dirty="0">
                <a:sym typeface="Symbol" panose="05050102010706020507" pitchFamily="18" charset="2"/>
              </a:rPr>
              <a:t> and </a:t>
            </a:r>
            <a:r>
              <a:rPr lang="en-US" altLang="en-US" i="1" dirty="0">
                <a:sym typeface="Greek Symbols" pitchFamily="18" charset="2"/>
              </a:rPr>
              <a:t>E</a:t>
            </a:r>
            <a:r>
              <a:rPr lang="en-US" altLang="en-US" baseline="-25000" dirty="0">
                <a:sym typeface="Greek Symbols" pitchFamily="18" charset="2"/>
              </a:rPr>
              <a:t>2</a:t>
            </a:r>
            <a:r>
              <a:rPr lang="en-US" altLang="en-US" dirty="0">
                <a:sym typeface="Greek Symbols" pitchFamily="18" charset="2"/>
              </a:rPr>
              <a:t>, respectively.  </a:t>
            </a:r>
          </a:p>
          <a:p>
            <a:pPr lvl="1">
              <a:tabLst>
                <a:tab pos="3087688" algn="ctr"/>
              </a:tabLst>
            </a:pPr>
            <a:r>
              <a:rPr lang="en-US" altLang="en-US" dirty="0">
                <a:sym typeface="Greek Symbols" pitchFamily="18" charset="2"/>
              </a:rPr>
              <a:t>Let </a:t>
            </a:r>
            <a:r>
              <a:rPr lang="en-US" altLang="en-US" i="1" dirty="0">
                <a:sym typeface="Symbol" panose="05050102010706020507" pitchFamily="18" charset="2"/>
              </a:rPr>
              <a:t>L</a:t>
            </a:r>
            <a:r>
              <a:rPr lang="en-US" altLang="en-US" baseline="-25000" dirty="0">
                <a:sym typeface="Symbol" panose="05050102010706020507" pitchFamily="18" charset="2"/>
              </a:rPr>
              <a:t>3</a:t>
            </a:r>
            <a:r>
              <a:rPr lang="en-US" altLang="en-US" dirty="0">
                <a:sym typeface="Symbol" panose="05050102010706020507" pitchFamily="18" charset="2"/>
              </a:rPr>
              <a:t> be attributes of </a:t>
            </a:r>
            <a:r>
              <a:rPr lang="en-US" altLang="en-US" i="1" dirty="0">
                <a:sym typeface="Symbol" panose="05050102010706020507" pitchFamily="18" charset="2"/>
              </a:rPr>
              <a:t>E</a:t>
            </a:r>
            <a:r>
              <a:rPr lang="en-US" altLang="en-US" baseline="-25000" dirty="0">
                <a:sym typeface="Symbol" panose="05050102010706020507" pitchFamily="18" charset="2"/>
              </a:rPr>
              <a:t>1</a:t>
            </a:r>
            <a:r>
              <a:rPr lang="en-US" altLang="en-US" dirty="0">
                <a:sym typeface="Symbol" panose="05050102010706020507" pitchFamily="18" charset="2"/>
              </a:rPr>
              <a:t> that are involved in join condition </a:t>
            </a:r>
            <a:r>
              <a:rPr lang="en-US" altLang="en-US" i="1" dirty="0">
                <a:sym typeface="Greek Symbols" pitchFamily="18" charset="2"/>
              </a:rPr>
              <a:t>, </a:t>
            </a:r>
            <a:r>
              <a:rPr lang="en-US" altLang="en-US" dirty="0">
                <a:sym typeface="Greek Symbols" pitchFamily="18" charset="2"/>
              </a:rPr>
              <a:t>but are not in </a:t>
            </a:r>
            <a:r>
              <a:rPr lang="en-US" altLang="en-US" i="1" dirty="0">
                <a:sym typeface="Greek Symbols" pitchFamily="18" charset="2"/>
              </a:rPr>
              <a:t>L</a:t>
            </a:r>
            <a:r>
              <a:rPr lang="en-US" altLang="en-US" baseline="-25000" dirty="0">
                <a:sym typeface="Greek Symbols" pitchFamily="18" charset="2"/>
              </a:rPr>
              <a:t>1</a:t>
            </a:r>
            <a:r>
              <a:rPr lang="en-US" altLang="en-US" dirty="0">
                <a:sym typeface="Greek Symbols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 </a:t>
            </a:r>
            <a:r>
              <a:rPr lang="en-US" altLang="en-US" i="1" dirty="0">
                <a:sym typeface="Symbol" panose="05050102010706020507" pitchFamily="18" charset="2"/>
              </a:rPr>
              <a:t>L</a:t>
            </a:r>
            <a:r>
              <a:rPr lang="en-US" altLang="en-US" baseline="-25000" dirty="0">
                <a:sym typeface="Symbol" panose="05050102010706020507" pitchFamily="18" charset="2"/>
              </a:rPr>
              <a:t>2</a:t>
            </a:r>
            <a:r>
              <a:rPr lang="en-US" altLang="en-US" dirty="0">
                <a:sym typeface="Symbol" panose="05050102010706020507" pitchFamily="18" charset="2"/>
              </a:rPr>
              <a:t>, and</a:t>
            </a:r>
          </a:p>
          <a:p>
            <a:pPr lvl="1">
              <a:tabLst>
                <a:tab pos="3087688" algn="ctr"/>
              </a:tabLst>
            </a:pPr>
            <a:r>
              <a:rPr lang="en-US" altLang="en-US" dirty="0">
                <a:sym typeface="Symbol" panose="05050102010706020507" pitchFamily="18" charset="2"/>
              </a:rPr>
              <a:t> let </a:t>
            </a:r>
            <a:r>
              <a:rPr lang="en-US" altLang="en-US" i="1" dirty="0">
                <a:sym typeface="Greek Symbols" pitchFamily="18" charset="2"/>
              </a:rPr>
              <a:t>L</a:t>
            </a:r>
            <a:r>
              <a:rPr lang="en-US" altLang="en-US" baseline="-25000" dirty="0">
                <a:sym typeface="Greek Symbols" pitchFamily="18" charset="2"/>
              </a:rPr>
              <a:t>4</a:t>
            </a:r>
            <a:r>
              <a:rPr lang="en-US" altLang="en-US" dirty="0">
                <a:sym typeface="Greek Symbols" pitchFamily="18" charset="2"/>
              </a:rPr>
              <a:t> be attributes of </a:t>
            </a:r>
            <a:r>
              <a:rPr lang="en-US" altLang="en-US" i="1" dirty="0">
                <a:sym typeface="Greek Symbols" pitchFamily="18" charset="2"/>
              </a:rPr>
              <a:t>E</a:t>
            </a:r>
            <a:r>
              <a:rPr lang="en-US" altLang="en-US" baseline="-25000" dirty="0">
                <a:sym typeface="Greek Symbols" pitchFamily="18" charset="2"/>
              </a:rPr>
              <a:t>2 </a:t>
            </a:r>
            <a:r>
              <a:rPr lang="en-US" altLang="en-US" dirty="0">
                <a:sym typeface="Greek Symbols" pitchFamily="18" charset="2"/>
              </a:rPr>
              <a:t>that are involved in join condition </a:t>
            </a:r>
            <a:r>
              <a:rPr lang="en-US" altLang="en-US" dirty="0">
                <a:sym typeface="Symbol" panose="05050102010706020507" pitchFamily="18" charset="2"/>
              </a:rPr>
              <a:t></a:t>
            </a:r>
            <a:r>
              <a:rPr lang="en-US" altLang="en-US" dirty="0">
                <a:sym typeface="Greek Symbols" pitchFamily="18" charset="2"/>
              </a:rPr>
              <a:t>, but are not in </a:t>
            </a:r>
            <a:r>
              <a:rPr lang="en-US" altLang="en-US" i="1" dirty="0">
                <a:sym typeface="Greek Symbols" pitchFamily="18" charset="2"/>
              </a:rPr>
              <a:t>L</a:t>
            </a:r>
            <a:r>
              <a:rPr lang="en-US" altLang="en-US" baseline="-25000" dirty="0">
                <a:sym typeface="Greek Symbols" pitchFamily="18" charset="2"/>
              </a:rPr>
              <a:t>1</a:t>
            </a:r>
            <a:r>
              <a:rPr lang="en-US" altLang="en-US" dirty="0">
                <a:sym typeface="Greek Symbols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 </a:t>
            </a:r>
            <a:r>
              <a:rPr lang="en-US" altLang="en-US" i="1" dirty="0">
                <a:sym typeface="Symbol" panose="05050102010706020507" pitchFamily="18" charset="2"/>
              </a:rPr>
              <a:t>L</a:t>
            </a:r>
            <a:r>
              <a:rPr lang="en-US" altLang="en-US" baseline="-25000" dirty="0">
                <a:sym typeface="Symbol" panose="05050102010706020507" pitchFamily="18" charset="2"/>
              </a:rPr>
              <a:t>2</a:t>
            </a:r>
            <a:r>
              <a:rPr lang="en-US" altLang="en-US" dirty="0">
                <a:sym typeface="Symbol" panose="05050102010706020507" pitchFamily="18" charset="2"/>
              </a:rPr>
              <a:t>.</a:t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 </a:t>
            </a:r>
            <a:r>
              <a:rPr lang="en-IN" baseline="-25000" dirty="0"/>
              <a:t>L</a:t>
            </a:r>
            <a:r>
              <a:rPr lang="en-US" altLang="en-US" baseline="-46000" dirty="0">
                <a:sym typeface="Greek Symbols" pitchFamily="18" charset="2"/>
              </a:rPr>
              <a:t>1</a:t>
            </a:r>
            <a:r>
              <a:rPr lang="en-IN" baseline="-25000" dirty="0"/>
              <a:t> </a:t>
            </a:r>
            <a:r>
              <a:rPr lang="en-US" altLang="en-US" baseline="-25000" dirty="0">
                <a:sym typeface="Symbol" panose="05050102010706020507" pitchFamily="18" charset="2"/>
              </a:rPr>
              <a:t> </a:t>
            </a:r>
            <a:r>
              <a:rPr lang="en-IN" baseline="-25000" dirty="0"/>
              <a:t>L</a:t>
            </a:r>
            <a:r>
              <a:rPr lang="en-US" baseline="-46000" dirty="0">
                <a:sym typeface="Greek Symbols" pitchFamily="18" charset="2"/>
              </a:rPr>
              <a:t>2</a:t>
            </a:r>
            <a:r>
              <a:rPr lang="en-IN" dirty="0"/>
              <a:t>(</a:t>
            </a:r>
            <a:r>
              <a:rPr lang="en-US" altLang="en-US" i="1" dirty="0"/>
              <a:t>E</a:t>
            </a:r>
            <a:r>
              <a:rPr lang="en-US" altLang="en-US" baseline="-25000" dirty="0"/>
              <a:t>1</a:t>
            </a:r>
            <a:r>
              <a:rPr lang="en-IN" altLang="en-US" dirty="0"/>
              <a:t> ⨝</a:t>
            </a:r>
            <a:r>
              <a:rPr lang="en-US" altLang="en-US" baseline="-25000" dirty="0">
                <a:sym typeface="Symbol" panose="05050102010706020507" pitchFamily="18" charset="2"/>
              </a:rPr>
              <a:t></a:t>
            </a:r>
            <a:r>
              <a:rPr lang="en-US" altLang="en-US" i="1" dirty="0"/>
              <a:t> </a:t>
            </a:r>
            <a:r>
              <a:rPr lang="en-US" altLang="en-US" baseline="-25000" dirty="0">
                <a:sym typeface="Symbol" panose="05050102010706020507" pitchFamily="18" charset="2"/>
              </a:rPr>
              <a:t> </a:t>
            </a:r>
            <a:r>
              <a:rPr lang="en-US" altLang="en-US" i="1" dirty="0"/>
              <a:t>E</a:t>
            </a:r>
            <a:r>
              <a:rPr lang="en-US" altLang="en-US" i="1" baseline="-25000" dirty="0"/>
              <a:t>2</a:t>
            </a:r>
            <a:r>
              <a:rPr lang="en-US" altLang="en-US" dirty="0"/>
              <a:t>)     </a:t>
            </a:r>
            <a:r>
              <a:rPr lang="en-IN" dirty="0"/>
              <a:t>≡   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 </a:t>
            </a:r>
            <a:r>
              <a:rPr lang="en-IN" baseline="-25000" dirty="0"/>
              <a:t>L</a:t>
            </a:r>
            <a:r>
              <a:rPr lang="en-US" altLang="en-US" baseline="-46000" dirty="0">
                <a:sym typeface="Greek Symbols" pitchFamily="18" charset="2"/>
              </a:rPr>
              <a:t>1</a:t>
            </a:r>
            <a:r>
              <a:rPr lang="en-IN" baseline="-25000" dirty="0"/>
              <a:t> </a:t>
            </a:r>
            <a:r>
              <a:rPr lang="en-US" altLang="en-US" baseline="-25000" dirty="0">
                <a:sym typeface="Symbol" panose="05050102010706020507" pitchFamily="18" charset="2"/>
              </a:rPr>
              <a:t> </a:t>
            </a:r>
            <a:r>
              <a:rPr lang="en-IN" baseline="-25000" dirty="0"/>
              <a:t>L</a:t>
            </a:r>
            <a:r>
              <a:rPr lang="en-US" baseline="-46000" dirty="0">
                <a:sym typeface="Greek Symbols" pitchFamily="18" charset="2"/>
              </a:rPr>
              <a:t>2</a:t>
            </a:r>
            <a:r>
              <a:rPr lang="en-IN" dirty="0"/>
              <a:t>(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 </a:t>
            </a:r>
            <a:r>
              <a:rPr lang="en-IN" baseline="-25000" dirty="0"/>
              <a:t>L</a:t>
            </a:r>
            <a:r>
              <a:rPr lang="en-US" altLang="en-US" baseline="-46000" dirty="0">
                <a:sym typeface="Greek Symbols" pitchFamily="18" charset="2"/>
              </a:rPr>
              <a:t>1</a:t>
            </a:r>
            <a:r>
              <a:rPr lang="en-IN" baseline="-25000" dirty="0"/>
              <a:t> </a:t>
            </a:r>
            <a:r>
              <a:rPr lang="en-US" altLang="en-US" baseline="-25000" dirty="0">
                <a:sym typeface="Symbol" panose="05050102010706020507" pitchFamily="18" charset="2"/>
              </a:rPr>
              <a:t> </a:t>
            </a:r>
            <a:r>
              <a:rPr lang="en-IN" baseline="-25000" dirty="0"/>
              <a:t>L</a:t>
            </a:r>
            <a:r>
              <a:rPr lang="en-US" baseline="-46000" dirty="0">
                <a:sym typeface="Greek Symbols" pitchFamily="18" charset="2"/>
              </a:rPr>
              <a:t>3</a:t>
            </a:r>
            <a:r>
              <a:rPr lang="en-IN" dirty="0"/>
              <a:t>(</a:t>
            </a:r>
            <a:r>
              <a:rPr lang="en-US" altLang="en-US" i="1" dirty="0"/>
              <a:t>E</a:t>
            </a:r>
            <a:r>
              <a:rPr lang="en-US" altLang="en-US" baseline="-25000" dirty="0"/>
              <a:t>1</a:t>
            </a:r>
            <a:r>
              <a:rPr lang="en-IN" altLang="en-US" dirty="0"/>
              <a:t>) ⨝</a:t>
            </a:r>
            <a:r>
              <a:rPr lang="en-US" altLang="en-US" baseline="-25000" dirty="0">
                <a:sym typeface="Symbol" panose="05050102010706020507" pitchFamily="18" charset="2"/>
              </a:rPr>
              <a:t></a:t>
            </a:r>
            <a:r>
              <a:rPr lang="en-US" altLang="en-US" i="1" dirty="0"/>
              <a:t>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 </a:t>
            </a:r>
            <a:r>
              <a:rPr lang="en-IN" baseline="-25000" dirty="0"/>
              <a:t>L</a:t>
            </a:r>
            <a:r>
              <a:rPr lang="en-US" altLang="en-US" baseline="-46000" dirty="0">
                <a:sym typeface="Greek Symbols" pitchFamily="18" charset="2"/>
              </a:rPr>
              <a:t>2</a:t>
            </a:r>
            <a:r>
              <a:rPr lang="en-IN" baseline="-25000" dirty="0"/>
              <a:t> </a:t>
            </a:r>
            <a:r>
              <a:rPr lang="en-US" altLang="en-US" baseline="-25000" dirty="0">
                <a:sym typeface="Symbol" panose="05050102010706020507" pitchFamily="18" charset="2"/>
              </a:rPr>
              <a:t> </a:t>
            </a:r>
            <a:r>
              <a:rPr lang="en-IN" baseline="-25000" dirty="0"/>
              <a:t>L</a:t>
            </a:r>
            <a:r>
              <a:rPr lang="en-US" baseline="-46000" dirty="0">
                <a:sym typeface="Greek Symbols" pitchFamily="18" charset="2"/>
              </a:rPr>
              <a:t>4</a:t>
            </a:r>
            <a:r>
              <a:rPr lang="en-IN" dirty="0"/>
              <a:t>(</a:t>
            </a:r>
            <a:r>
              <a:rPr lang="en-US" altLang="en-US" i="1" dirty="0"/>
              <a:t>E</a:t>
            </a:r>
            <a:r>
              <a:rPr lang="en-US" altLang="en-US" baseline="-25000" dirty="0"/>
              <a:t>2</a:t>
            </a:r>
            <a:r>
              <a:rPr lang="en-IN" altLang="en-US" dirty="0"/>
              <a:t>))</a:t>
            </a:r>
          </a:p>
          <a:p>
            <a:pPr lvl="1">
              <a:tabLst>
                <a:tab pos="3087688" algn="ctr"/>
              </a:tabLst>
            </a:pPr>
            <a:endParaRPr lang="en-IN" altLang="en-US" dirty="0"/>
          </a:p>
          <a:p>
            <a:pPr marL="457200" lvl="1" indent="0">
              <a:buNone/>
              <a:tabLst>
                <a:tab pos="3087688" algn="ctr"/>
              </a:tabLst>
            </a:pPr>
            <a:r>
              <a:rPr lang="en-IN" altLang="en-US" dirty="0"/>
              <a:t>Similar equivalences hold for </a:t>
            </a:r>
            <a:r>
              <a:rPr lang="en-IN" altLang="en-US" dirty="0" err="1"/>
              <a:t>outerjoin</a:t>
            </a:r>
            <a:r>
              <a:rPr lang="en-IN" altLang="en-US" dirty="0"/>
              <a:t> operations: </a:t>
            </a:r>
            <a:r>
              <a:rPr lang="en-IN" dirty="0"/>
              <a:t>⟕, ⟖, and ⟗</a:t>
            </a:r>
            <a:r>
              <a:rPr lang="en-IN" altLang="en-US" dirty="0"/>
              <a:t> </a:t>
            </a:r>
            <a:endParaRPr lang="en-US" altLang="en-US" dirty="0">
              <a:sym typeface="Symbol" panose="05050102010706020507" pitchFamily="18" charset="2"/>
            </a:endParaRPr>
          </a:p>
        </p:txBody>
      </p:sp>
      <p:sp>
        <p:nvSpPr>
          <p:cNvPr id="361474" name="Rectangle 2">
            <a:extLst>
              <a:ext uri="{FF2B5EF4-FFF2-40B4-BE49-F238E27FC236}">
                <a16:creationId xmlns:a16="http://schemas.microsoft.com/office/drawing/2014/main" id="{CC6BF4E4-7BA6-4F5E-9757-648842B6E4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Equivalence Rules (Cont.)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>
            <a:extLst>
              <a:ext uri="{FF2B5EF4-FFF2-40B4-BE49-F238E27FC236}">
                <a16:creationId xmlns:a16="http://schemas.microsoft.com/office/drawing/2014/main" id="{A280E042-4593-4F00-8739-31BAD978BB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Equivalence Rules (Cont.)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2499" name="Rectangle 3">
                <a:extLst>
                  <a:ext uri="{FF2B5EF4-FFF2-40B4-BE49-F238E27FC236}">
                    <a16:creationId xmlns:a16="http://schemas.microsoft.com/office/drawing/2014/main" id="{CD34A2FB-3E13-4F06-8207-CFF2D7389F2B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673768" y="1096159"/>
                <a:ext cx="7401828" cy="4659747"/>
              </a:xfrm>
            </p:spPr>
            <p:txBody>
              <a:bodyPr/>
              <a:lstStyle/>
              <a:p>
                <a:pPr marL="0" indent="0">
                  <a:buNone/>
                  <a:tabLst>
                    <a:tab pos="2279650" algn="l"/>
                  </a:tabLst>
                </a:pPr>
                <a:r>
                  <a:rPr lang="en-US" altLang="en-US" dirty="0">
                    <a:solidFill>
                      <a:srgbClr val="002060"/>
                    </a:solidFill>
                  </a:rPr>
                  <a:t> 9.  </a:t>
                </a:r>
                <a:r>
                  <a:rPr lang="en-US" altLang="en-US" dirty="0"/>
                  <a:t>The set operations union and intersection are commutative</a:t>
                </a:r>
                <a:br>
                  <a:rPr lang="en-US" altLang="en-US" dirty="0"/>
                </a:br>
                <a:r>
                  <a:rPr lang="en-US" altLang="en-US" dirty="0"/>
                  <a:t>               </a:t>
                </a:r>
                <a:r>
                  <a:rPr lang="en-US" altLang="en-US" i="1" dirty="0"/>
                  <a:t>E</a:t>
                </a:r>
                <a:r>
                  <a:rPr lang="en-US" altLang="en-US" baseline="-25000" dirty="0"/>
                  <a:t>1</a:t>
                </a:r>
                <a:r>
                  <a:rPr lang="en-US" altLang="en-US" dirty="0"/>
                  <a:t> </a:t>
                </a:r>
                <a:r>
                  <a:rPr lang="en-US" altLang="en-US" dirty="0">
                    <a:sym typeface="Symbol" panose="05050102010706020507" pitchFamily="18" charset="2"/>
                  </a:rPr>
                  <a:t> </a:t>
                </a:r>
                <a:r>
                  <a:rPr lang="en-US" altLang="en-US" i="1" dirty="0">
                    <a:sym typeface="Symbol" panose="05050102010706020507" pitchFamily="18" charset="2"/>
                  </a:rPr>
                  <a:t>E</a:t>
                </a:r>
                <a:r>
                  <a:rPr lang="en-US" altLang="en-US" baseline="-25000" dirty="0">
                    <a:sym typeface="Symbol" panose="05050102010706020507" pitchFamily="18" charset="2"/>
                  </a:rPr>
                  <a:t>2     </a:t>
                </a:r>
                <a:r>
                  <a:rPr lang="en-IN" dirty="0"/>
                  <a:t>≡   </a:t>
                </a:r>
                <a:r>
                  <a:rPr lang="en-US" altLang="en-US" baseline="-25000" dirty="0">
                    <a:sym typeface="Symbol" panose="05050102010706020507" pitchFamily="18" charset="2"/>
                  </a:rPr>
                  <a:t> </a:t>
                </a:r>
                <a:r>
                  <a:rPr lang="en-US" altLang="en-US" i="1" dirty="0"/>
                  <a:t>E</a:t>
                </a:r>
                <a:r>
                  <a:rPr lang="en-US" altLang="en-US" baseline="-25000" dirty="0"/>
                  <a:t>2</a:t>
                </a:r>
                <a:r>
                  <a:rPr lang="en-US" altLang="en-US" dirty="0"/>
                  <a:t> </a:t>
                </a:r>
                <a:r>
                  <a:rPr lang="en-US" altLang="en-US" dirty="0">
                    <a:sym typeface="Symbol" panose="05050102010706020507" pitchFamily="18" charset="2"/>
                  </a:rPr>
                  <a:t> </a:t>
                </a:r>
                <a:r>
                  <a:rPr lang="en-US" altLang="en-US" i="1" dirty="0">
                    <a:sym typeface="Symbol" panose="05050102010706020507" pitchFamily="18" charset="2"/>
                  </a:rPr>
                  <a:t>E</a:t>
                </a:r>
                <a:r>
                  <a:rPr lang="en-US" altLang="en-US" baseline="-25000" dirty="0">
                    <a:sym typeface="Symbol" panose="05050102010706020507" pitchFamily="18" charset="2"/>
                  </a:rPr>
                  <a:t>1 </a:t>
                </a:r>
                <a:br>
                  <a:rPr lang="en-US" altLang="en-US" baseline="-25000" dirty="0">
                    <a:sym typeface="Symbol" panose="05050102010706020507" pitchFamily="18" charset="2"/>
                  </a:rPr>
                </a:br>
                <a:r>
                  <a:rPr lang="en-US" altLang="en-US" dirty="0"/>
                  <a:t>               </a:t>
                </a:r>
                <a:r>
                  <a:rPr lang="en-US" altLang="en-US" i="1" dirty="0" err="1"/>
                  <a:t>E</a:t>
                </a:r>
                <a:r>
                  <a:rPr lang="en-US" altLang="en-US" baseline="-25000" dirty="0" err="1"/>
                  <a:t>1</a:t>
                </a:r>
                <a:r>
                  <a:rPr lang="en-US" altLang="en-US" dirty="0"/>
                  <a:t> </a:t>
                </a:r>
                <a:r>
                  <a:rPr lang="en-US" altLang="en-US" dirty="0">
                    <a:sym typeface="Symbol" panose="05050102010706020507" pitchFamily="18" charset="2"/>
                  </a:rPr>
                  <a:t> </a:t>
                </a:r>
                <a:r>
                  <a:rPr lang="en-US" altLang="en-US" i="1" dirty="0">
                    <a:sym typeface="Symbol" panose="05050102010706020507" pitchFamily="18" charset="2"/>
                  </a:rPr>
                  <a:t>E</a:t>
                </a:r>
                <a:r>
                  <a:rPr lang="en-US" altLang="en-US" baseline="-25000" dirty="0">
                    <a:sym typeface="Symbol" panose="05050102010706020507" pitchFamily="18" charset="2"/>
                  </a:rPr>
                  <a:t>2     </a:t>
                </a:r>
                <a:r>
                  <a:rPr lang="en-IN" dirty="0"/>
                  <a:t>≡   </a:t>
                </a:r>
                <a:r>
                  <a:rPr lang="en-US" altLang="en-US" baseline="-25000" dirty="0">
                    <a:sym typeface="Symbol" panose="05050102010706020507" pitchFamily="18" charset="2"/>
                  </a:rPr>
                  <a:t> </a:t>
                </a:r>
                <a:r>
                  <a:rPr lang="en-US" altLang="en-US" i="1" dirty="0"/>
                  <a:t>E</a:t>
                </a:r>
                <a:r>
                  <a:rPr lang="en-US" altLang="en-US" baseline="-25000" dirty="0"/>
                  <a:t>2</a:t>
                </a:r>
                <a:r>
                  <a:rPr lang="en-US" altLang="en-US" dirty="0"/>
                  <a:t> </a:t>
                </a:r>
                <a:r>
                  <a:rPr lang="en-US" altLang="en-US" dirty="0">
                    <a:sym typeface="Symbol" panose="05050102010706020507" pitchFamily="18" charset="2"/>
                  </a:rPr>
                  <a:t> </a:t>
                </a:r>
                <a:r>
                  <a:rPr lang="en-US" altLang="en-US" i="1" dirty="0">
                    <a:sym typeface="Symbol" panose="05050102010706020507" pitchFamily="18" charset="2"/>
                  </a:rPr>
                  <a:t>E</a:t>
                </a:r>
                <a:r>
                  <a:rPr lang="en-US" altLang="en-US" baseline="-25000" dirty="0">
                    <a:sym typeface="Symbol" panose="05050102010706020507" pitchFamily="18" charset="2"/>
                  </a:rPr>
                  <a:t>1</a:t>
                </a:r>
                <a:r>
                  <a:rPr lang="en-US" altLang="en-US" dirty="0">
                    <a:sym typeface="Symbol" panose="05050102010706020507" pitchFamily="18" charset="2"/>
                  </a:rPr>
                  <a:t/>
                </a:r>
                <a:br>
                  <a:rPr lang="en-US" altLang="en-US" dirty="0">
                    <a:sym typeface="Symbol" panose="05050102010706020507" pitchFamily="18" charset="2"/>
                  </a:rPr>
                </a:br>
                <a:r>
                  <a:rPr lang="en-US" altLang="en-US" i="1" dirty="0"/>
                  <a:t>       </a:t>
                </a:r>
                <a:r>
                  <a:rPr lang="en-US" altLang="en-US" dirty="0"/>
                  <a:t>(set difference is not commutative).</a:t>
                </a:r>
                <a:endParaRPr lang="en-US" altLang="en-US" dirty="0">
                  <a:sym typeface="Symbol" panose="05050102010706020507" pitchFamily="18" charset="2"/>
                </a:endParaRPr>
              </a:p>
              <a:p>
                <a:pPr marL="0" indent="0">
                  <a:buNone/>
                  <a:tabLst>
                    <a:tab pos="2279650" algn="l"/>
                  </a:tabLst>
                </a:pPr>
                <a:r>
                  <a:rPr lang="en-US" altLang="en-US" dirty="0">
                    <a:solidFill>
                      <a:srgbClr val="002060"/>
                    </a:solidFill>
                    <a:sym typeface="Symbol" panose="05050102010706020507" pitchFamily="18" charset="2"/>
                  </a:rPr>
                  <a:t>10.  </a:t>
                </a:r>
                <a:r>
                  <a:rPr lang="en-US" altLang="en-US" dirty="0">
                    <a:sym typeface="Symbol" panose="05050102010706020507" pitchFamily="18" charset="2"/>
                  </a:rPr>
                  <a:t>Set union and intersection are associative.</a:t>
                </a:r>
                <a:br>
                  <a:rPr lang="en-US" altLang="en-US" dirty="0">
                    <a:sym typeface="Symbol" panose="05050102010706020507" pitchFamily="18" charset="2"/>
                  </a:rPr>
                </a:br>
                <a:r>
                  <a:rPr lang="en-US" altLang="en-US" dirty="0">
                    <a:sym typeface="Symbol" panose="05050102010706020507" pitchFamily="18" charset="2"/>
                  </a:rPr>
                  <a:t>           </a:t>
                </a:r>
                <a:r>
                  <a:rPr lang="en-US" altLang="en-US" dirty="0"/>
                  <a:t> (</a:t>
                </a:r>
                <a:r>
                  <a:rPr lang="en-US" altLang="en-US" i="1" dirty="0"/>
                  <a:t>E</a:t>
                </a:r>
                <a:r>
                  <a:rPr lang="en-US" altLang="en-US" baseline="-25000" dirty="0"/>
                  <a:t>1</a:t>
                </a:r>
                <a:r>
                  <a:rPr lang="en-US" altLang="en-US" dirty="0"/>
                  <a:t> </a:t>
                </a:r>
                <a:r>
                  <a:rPr lang="en-US" altLang="en-US" dirty="0">
                    <a:sym typeface="Symbol" panose="05050102010706020507" pitchFamily="18" charset="2"/>
                  </a:rPr>
                  <a:t> </a:t>
                </a:r>
                <a:r>
                  <a:rPr lang="en-US" altLang="en-US" i="1" dirty="0">
                    <a:sym typeface="Symbol" panose="05050102010706020507" pitchFamily="18" charset="2"/>
                  </a:rPr>
                  <a:t>E</a:t>
                </a:r>
                <a:r>
                  <a:rPr lang="en-US" altLang="en-US" baseline="-25000" dirty="0">
                    <a:sym typeface="Symbol" panose="05050102010706020507" pitchFamily="18" charset="2"/>
                  </a:rPr>
                  <a:t>2 </a:t>
                </a:r>
                <a:r>
                  <a:rPr lang="en-IN" dirty="0"/>
                  <a:t>) </a:t>
                </a:r>
                <a:r>
                  <a:rPr lang="en-US" altLang="en-US" dirty="0">
                    <a:sym typeface="Symbol" panose="05050102010706020507" pitchFamily="18" charset="2"/>
                  </a:rPr>
                  <a:t> </a:t>
                </a:r>
                <a:r>
                  <a:rPr lang="en-US" altLang="en-US" i="1" dirty="0">
                    <a:sym typeface="Symbol" panose="05050102010706020507" pitchFamily="18" charset="2"/>
                  </a:rPr>
                  <a:t>E</a:t>
                </a:r>
                <a:r>
                  <a:rPr lang="en-US" altLang="en-US" baseline="-25000" dirty="0">
                    <a:sym typeface="Symbol" panose="05050102010706020507" pitchFamily="18" charset="2"/>
                  </a:rPr>
                  <a:t>3    </a:t>
                </a:r>
                <a:r>
                  <a:rPr lang="en-IN" dirty="0"/>
                  <a:t>≡</a:t>
                </a:r>
                <a:r>
                  <a:rPr lang="en-US" altLang="en-US" baseline="-25000" dirty="0">
                    <a:sym typeface="Symbol" panose="05050102010706020507" pitchFamily="18" charset="2"/>
                  </a:rPr>
                  <a:t>    </a:t>
                </a:r>
                <a:r>
                  <a:rPr lang="en-US" altLang="en-US" i="1" dirty="0"/>
                  <a:t>E</a:t>
                </a:r>
                <a:r>
                  <a:rPr lang="en-US" altLang="en-US" baseline="-25000" dirty="0"/>
                  <a:t>1</a:t>
                </a:r>
                <a:r>
                  <a:rPr lang="en-US" altLang="en-US" dirty="0"/>
                  <a:t> </a:t>
                </a:r>
                <a:r>
                  <a:rPr lang="en-US" altLang="en-US" dirty="0">
                    <a:sym typeface="Symbol" panose="05050102010706020507" pitchFamily="18" charset="2"/>
                  </a:rPr>
                  <a:t> </a:t>
                </a:r>
                <a:r>
                  <a:rPr lang="en-US" altLang="en-US" dirty="0"/>
                  <a:t>(</a:t>
                </a:r>
                <a:r>
                  <a:rPr lang="en-US" altLang="en-US" i="1" dirty="0">
                    <a:sym typeface="Symbol" panose="05050102010706020507" pitchFamily="18" charset="2"/>
                  </a:rPr>
                  <a:t>E</a:t>
                </a:r>
                <a:r>
                  <a:rPr lang="en-US" altLang="en-US" baseline="-25000" dirty="0">
                    <a:sym typeface="Symbol" panose="05050102010706020507" pitchFamily="18" charset="2"/>
                  </a:rPr>
                  <a:t>2</a:t>
                </a:r>
                <a:r>
                  <a:rPr lang="en-US" altLang="en-US" dirty="0">
                    <a:sym typeface="Symbol" panose="05050102010706020507" pitchFamily="18" charset="2"/>
                  </a:rPr>
                  <a:t>  </a:t>
                </a:r>
                <a:r>
                  <a:rPr lang="en-US" altLang="en-US" i="1" dirty="0">
                    <a:sym typeface="Symbol" panose="05050102010706020507" pitchFamily="18" charset="2"/>
                  </a:rPr>
                  <a:t>E</a:t>
                </a:r>
                <a:r>
                  <a:rPr lang="en-US" altLang="en-US" baseline="-25000" dirty="0">
                    <a:sym typeface="Symbol" panose="05050102010706020507" pitchFamily="18" charset="2"/>
                  </a:rPr>
                  <a:t>3</a:t>
                </a:r>
                <a:r>
                  <a:rPr lang="en-IN" dirty="0"/>
                  <a:t>)</a:t>
                </a:r>
                <a:r>
                  <a:rPr lang="en-US" altLang="en-US" baseline="-25000" dirty="0">
                    <a:sym typeface="Symbol" panose="05050102010706020507" pitchFamily="18" charset="2"/>
                  </a:rPr>
                  <a:t> </a:t>
                </a:r>
                <a:br>
                  <a:rPr lang="en-US" altLang="en-US" baseline="-25000" dirty="0">
                    <a:sym typeface="Symbol" panose="05050102010706020507" pitchFamily="18" charset="2"/>
                  </a:rPr>
                </a:br>
                <a:r>
                  <a:rPr lang="en-US" altLang="en-US" baseline="-25000" dirty="0">
                    <a:sym typeface="Symbol" panose="05050102010706020507" pitchFamily="18" charset="2"/>
                  </a:rPr>
                  <a:t>              </a:t>
                </a:r>
                <a:r>
                  <a:rPr lang="en-US" altLang="en-US" dirty="0">
                    <a:sym typeface="Symbol" panose="05050102010706020507" pitchFamily="18" charset="2"/>
                  </a:rPr>
                  <a:t>  </a:t>
                </a:r>
                <a:r>
                  <a:rPr lang="en-US" altLang="en-US" dirty="0"/>
                  <a:t> (</a:t>
                </a:r>
                <a:r>
                  <a:rPr lang="en-US" altLang="en-US" i="1" dirty="0"/>
                  <a:t>E</a:t>
                </a:r>
                <a:r>
                  <a:rPr lang="en-US" altLang="en-US" baseline="-25000" dirty="0"/>
                  <a:t>1</a:t>
                </a:r>
                <a:r>
                  <a:rPr lang="en-US" altLang="en-US" dirty="0"/>
                  <a:t> </a:t>
                </a:r>
                <a:r>
                  <a:rPr lang="en-US" altLang="en-US" dirty="0">
                    <a:sym typeface="Symbol" panose="05050102010706020507" pitchFamily="18" charset="2"/>
                  </a:rPr>
                  <a:t> </a:t>
                </a:r>
                <a:r>
                  <a:rPr lang="en-US" altLang="en-US" i="1" dirty="0">
                    <a:sym typeface="Symbol" panose="05050102010706020507" pitchFamily="18" charset="2"/>
                  </a:rPr>
                  <a:t>E</a:t>
                </a:r>
                <a:r>
                  <a:rPr lang="en-US" altLang="en-US" baseline="-25000" dirty="0">
                    <a:sym typeface="Symbol" panose="05050102010706020507" pitchFamily="18" charset="2"/>
                  </a:rPr>
                  <a:t>2 </a:t>
                </a:r>
                <a:r>
                  <a:rPr lang="en-IN" dirty="0"/>
                  <a:t>) </a:t>
                </a:r>
                <a:r>
                  <a:rPr lang="en-US" altLang="en-US" dirty="0">
                    <a:sym typeface="Symbol" panose="05050102010706020507" pitchFamily="18" charset="2"/>
                  </a:rPr>
                  <a:t> </a:t>
                </a:r>
                <a:r>
                  <a:rPr lang="en-US" altLang="en-US" i="1" dirty="0">
                    <a:sym typeface="Symbol" panose="05050102010706020507" pitchFamily="18" charset="2"/>
                  </a:rPr>
                  <a:t>E</a:t>
                </a:r>
                <a:r>
                  <a:rPr lang="en-US" altLang="en-US" baseline="-25000" dirty="0">
                    <a:sym typeface="Symbol" panose="05050102010706020507" pitchFamily="18" charset="2"/>
                  </a:rPr>
                  <a:t>3    </a:t>
                </a:r>
                <a:r>
                  <a:rPr lang="en-IN" dirty="0"/>
                  <a:t>≡   </a:t>
                </a:r>
                <a:r>
                  <a:rPr lang="en-US" altLang="en-US" baseline="-25000" dirty="0">
                    <a:sym typeface="Symbol" panose="05050102010706020507" pitchFamily="18" charset="2"/>
                  </a:rPr>
                  <a:t> </a:t>
                </a:r>
                <a:r>
                  <a:rPr lang="en-US" altLang="en-US" i="1" dirty="0"/>
                  <a:t>E</a:t>
                </a:r>
                <a:r>
                  <a:rPr lang="en-US" altLang="en-US" baseline="-25000" dirty="0"/>
                  <a:t>1</a:t>
                </a:r>
                <a:r>
                  <a:rPr lang="en-US" altLang="en-US" dirty="0"/>
                  <a:t> </a:t>
                </a:r>
                <a:r>
                  <a:rPr lang="en-US" altLang="en-US" dirty="0">
                    <a:sym typeface="Symbol" panose="05050102010706020507" pitchFamily="18" charset="2"/>
                  </a:rPr>
                  <a:t> </a:t>
                </a:r>
                <a:r>
                  <a:rPr lang="en-US" altLang="en-US" dirty="0"/>
                  <a:t>(</a:t>
                </a:r>
                <a:r>
                  <a:rPr lang="en-US" altLang="en-US" i="1" dirty="0">
                    <a:sym typeface="Symbol" panose="05050102010706020507" pitchFamily="18" charset="2"/>
                  </a:rPr>
                  <a:t>E</a:t>
                </a:r>
                <a:r>
                  <a:rPr lang="en-US" altLang="en-US" baseline="-25000" dirty="0">
                    <a:sym typeface="Symbol" panose="05050102010706020507" pitchFamily="18" charset="2"/>
                  </a:rPr>
                  <a:t>2</a:t>
                </a:r>
                <a:r>
                  <a:rPr lang="en-US" altLang="en-US" dirty="0">
                    <a:sym typeface="Symbol" panose="05050102010706020507" pitchFamily="18" charset="2"/>
                  </a:rPr>
                  <a:t>  </a:t>
                </a:r>
                <a:r>
                  <a:rPr lang="en-US" altLang="en-US" i="1" dirty="0">
                    <a:sym typeface="Symbol" panose="05050102010706020507" pitchFamily="18" charset="2"/>
                  </a:rPr>
                  <a:t>E</a:t>
                </a:r>
                <a:r>
                  <a:rPr lang="en-US" altLang="en-US" baseline="-25000" dirty="0">
                    <a:sym typeface="Symbol" panose="05050102010706020507" pitchFamily="18" charset="2"/>
                  </a:rPr>
                  <a:t>3</a:t>
                </a:r>
                <a:r>
                  <a:rPr lang="en-IN" dirty="0"/>
                  <a:t>)</a:t>
                </a:r>
                <a:r>
                  <a:rPr lang="en-US" altLang="en-US" baseline="-25000" dirty="0">
                    <a:sym typeface="Symbol" panose="05050102010706020507" pitchFamily="18" charset="2"/>
                  </a:rPr>
                  <a:t> </a:t>
                </a:r>
                <a:endParaRPr lang="en-US" altLang="en-US" dirty="0">
                  <a:sym typeface="Symbol" panose="05050102010706020507" pitchFamily="18" charset="2"/>
                </a:endParaRPr>
              </a:p>
              <a:p>
                <a:pPr marL="0" indent="0">
                  <a:buNone/>
                  <a:tabLst>
                    <a:tab pos="2279650" algn="l"/>
                  </a:tabLst>
                </a:pPr>
                <a:r>
                  <a:rPr lang="en-US" altLang="en-US" dirty="0">
                    <a:solidFill>
                      <a:srgbClr val="002060"/>
                    </a:solidFill>
                    <a:sym typeface="Symbol" panose="05050102010706020507" pitchFamily="18" charset="2"/>
                  </a:rPr>
                  <a:t>11.  </a:t>
                </a:r>
                <a:r>
                  <a:rPr lang="en-US" altLang="en-US" dirty="0">
                    <a:sym typeface="Symbol" panose="05050102010706020507" pitchFamily="18" charset="2"/>
                  </a:rPr>
                  <a:t>The selection operation distributes over ,  and –. </a:t>
                </a:r>
                <a:br>
                  <a:rPr lang="en-US" altLang="en-US" dirty="0">
                    <a:sym typeface="Symbol" panose="05050102010706020507" pitchFamily="18" charset="2"/>
                  </a:rPr>
                </a:br>
                <a:r>
                  <a:rPr lang="en-IN" altLang="en-US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en-US" dirty="0"/>
                      <m:t>	</m:t>
                    </m:r>
                  </m:oMath>
                </a14:m>
                <a:r>
                  <a:rPr lang="en-US" altLang="en-US" dirty="0">
                    <a:sym typeface="Symbol" panose="05050102010706020507" pitchFamily="18" charset="2"/>
                  </a:rPr>
                  <a:t>           a.  </a:t>
                </a:r>
                <a:r>
                  <a:rPr lang="en-US" altLang="en-US" i="1" dirty="0">
                    <a:sym typeface="Symbol" panose="05050102010706020507" pitchFamily="18" charset="2"/>
                  </a:rPr>
                  <a:t></a:t>
                </a:r>
                <a:r>
                  <a:rPr lang="en-US" altLang="en-US" baseline="-25000" dirty="0">
                    <a:sym typeface="Symbol" panose="05050102010706020507" pitchFamily="18" charset="2"/>
                  </a:rPr>
                  <a:t></a:t>
                </a:r>
                <a:r>
                  <a:rPr lang="en-US" altLang="en-US" i="1" dirty="0">
                    <a:sym typeface="Symbol" panose="05050102010706020507" pitchFamily="18" charset="2"/>
                  </a:rPr>
                  <a:t> </a:t>
                </a:r>
                <a:r>
                  <a:rPr lang="en-US" altLang="en-US" dirty="0">
                    <a:sym typeface="Greek Symbols" pitchFamily="18" charset="2"/>
                  </a:rPr>
                  <a:t>(</a:t>
                </a:r>
                <a:r>
                  <a:rPr lang="en-US" altLang="en-US" i="1" dirty="0">
                    <a:sym typeface="Greek Symbols" pitchFamily="18" charset="2"/>
                  </a:rPr>
                  <a:t>E</a:t>
                </a:r>
                <a:r>
                  <a:rPr lang="en-US" altLang="en-US" baseline="-25000" dirty="0">
                    <a:sym typeface="Greek Symbols" pitchFamily="18" charset="2"/>
                  </a:rPr>
                  <a:t>1</a:t>
                </a:r>
                <a:r>
                  <a:rPr lang="en-US" altLang="en-US" dirty="0">
                    <a:sym typeface="Greek Symbols" pitchFamily="18" charset="2"/>
                  </a:rPr>
                  <a:t> </a:t>
                </a:r>
                <a:r>
                  <a:rPr lang="en-US" altLang="en-US" dirty="0">
                    <a:sym typeface="Symbol" panose="05050102010706020507" pitchFamily="18" charset="2"/>
                  </a:rPr>
                  <a:t></a:t>
                </a:r>
                <a:r>
                  <a:rPr lang="en-US" altLang="en-US" dirty="0">
                    <a:sym typeface="Greek Symbols" pitchFamily="18" charset="2"/>
                  </a:rPr>
                  <a:t> </a:t>
                </a:r>
                <a:r>
                  <a:rPr lang="en-US" altLang="en-US" i="1" dirty="0">
                    <a:sym typeface="Greek Symbols" pitchFamily="18" charset="2"/>
                  </a:rPr>
                  <a:t>E</a:t>
                </a:r>
                <a:r>
                  <a:rPr lang="en-US" altLang="en-US" baseline="-25000" dirty="0">
                    <a:sym typeface="Greek Symbols" pitchFamily="18" charset="2"/>
                  </a:rPr>
                  <a:t>2</a:t>
                </a:r>
                <a:r>
                  <a:rPr lang="en-US" altLang="en-US" dirty="0">
                    <a:sym typeface="Greek Symbols" pitchFamily="18" charset="2"/>
                  </a:rPr>
                  <a:t>)    </a:t>
                </a:r>
                <a:r>
                  <a:rPr lang="en-IN" dirty="0"/>
                  <a:t>≡   </a:t>
                </a:r>
                <a:r>
                  <a:rPr lang="en-US" altLang="en-US" dirty="0">
                    <a:sym typeface="Greek Symbols" pitchFamily="18" charset="2"/>
                  </a:rPr>
                  <a:t> </a:t>
                </a:r>
                <a:r>
                  <a:rPr lang="en-US" altLang="en-US" i="1" dirty="0">
                    <a:sym typeface="Symbol" panose="05050102010706020507" pitchFamily="18" charset="2"/>
                  </a:rPr>
                  <a:t></a:t>
                </a:r>
                <a:r>
                  <a:rPr lang="en-US" altLang="en-US" baseline="-25000" dirty="0">
                    <a:sym typeface="Symbol" panose="05050102010706020507" pitchFamily="18" charset="2"/>
                  </a:rPr>
                  <a:t></a:t>
                </a:r>
                <a:r>
                  <a:rPr lang="en-US" altLang="en-US" i="1" dirty="0">
                    <a:sym typeface="Greek Symbols" pitchFamily="18" charset="2"/>
                  </a:rPr>
                  <a:t> </a:t>
                </a:r>
                <a:r>
                  <a:rPr lang="en-US" altLang="en-US" dirty="0">
                    <a:sym typeface="Greek Symbols" pitchFamily="18" charset="2"/>
                  </a:rPr>
                  <a:t>(</a:t>
                </a:r>
                <a:r>
                  <a:rPr lang="en-US" altLang="en-US" i="1" dirty="0">
                    <a:sym typeface="Greek Symbols" pitchFamily="18" charset="2"/>
                  </a:rPr>
                  <a:t>E</a:t>
                </a:r>
                <a:r>
                  <a:rPr lang="en-US" altLang="en-US" baseline="-25000" dirty="0">
                    <a:sym typeface="Greek Symbols" pitchFamily="18" charset="2"/>
                  </a:rPr>
                  <a:t>1</a:t>
                </a:r>
                <a:r>
                  <a:rPr lang="en-US" altLang="en-US" dirty="0">
                    <a:sym typeface="Greek Symbols" pitchFamily="18" charset="2"/>
                  </a:rPr>
                  <a:t>) </a:t>
                </a:r>
                <a:r>
                  <a:rPr lang="en-US" altLang="en-US" dirty="0">
                    <a:sym typeface="Symbol" panose="05050102010706020507" pitchFamily="18" charset="2"/>
                  </a:rPr>
                  <a:t></a:t>
                </a:r>
                <a:r>
                  <a:rPr lang="en-US" altLang="en-US" dirty="0">
                    <a:sym typeface="Greek Symbols" pitchFamily="18" charset="2"/>
                  </a:rPr>
                  <a:t> </a:t>
                </a:r>
                <a:r>
                  <a:rPr lang="en-US" altLang="en-US" i="1" dirty="0">
                    <a:sym typeface="Symbol" panose="05050102010706020507" pitchFamily="18" charset="2"/>
                  </a:rPr>
                  <a:t></a:t>
                </a:r>
                <a:r>
                  <a:rPr lang="en-US" altLang="en-US" baseline="-25000" dirty="0">
                    <a:sym typeface="Symbol" panose="05050102010706020507" pitchFamily="18" charset="2"/>
                  </a:rPr>
                  <a:t></a:t>
                </a:r>
                <a:r>
                  <a:rPr lang="en-US" altLang="en-US" dirty="0">
                    <a:sym typeface="Greek Symbols" pitchFamily="18" charset="2"/>
                  </a:rPr>
                  <a:t>(</a:t>
                </a:r>
                <a:r>
                  <a:rPr lang="en-US" altLang="en-US" i="1" dirty="0">
                    <a:sym typeface="Greek Symbols" pitchFamily="18" charset="2"/>
                  </a:rPr>
                  <a:t>E</a:t>
                </a:r>
                <a:r>
                  <a:rPr lang="en-US" altLang="en-US" baseline="-25000" dirty="0">
                    <a:sym typeface="Greek Symbols" pitchFamily="18" charset="2"/>
                  </a:rPr>
                  <a:t>2</a:t>
                </a:r>
                <a:r>
                  <a:rPr lang="en-US" altLang="en-US" dirty="0">
                    <a:sym typeface="Greek Symbols" pitchFamily="18" charset="2"/>
                  </a:rPr>
                  <a:t>)</a:t>
                </a:r>
                <a:br>
                  <a:rPr lang="en-US" altLang="en-US" dirty="0">
                    <a:sym typeface="Greek Symbols" pitchFamily="18" charset="2"/>
                  </a:rPr>
                </a:br>
                <a:r>
                  <a:rPr lang="en-US" altLang="en-US" dirty="0">
                    <a:sym typeface="Greek Symbols" pitchFamily="18" charset="2"/>
                  </a:rPr>
                  <a:t>            b.  </a:t>
                </a:r>
                <a:r>
                  <a:rPr lang="en-US" altLang="en-US" i="1" dirty="0">
                    <a:sym typeface="Symbol" panose="05050102010706020507" pitchFamily="18" charset="2"/>
                  </a:rPr>
                  <a:t></a:t>
                </a:r>
                <a:r>
                  <a:rPr lang="en-US" altLang="en-US" baseline="-25000" dirty="0">
                    <a:sym typeface="Symbol" panose="05050102010706020507" pitchFamily="18" charset="2"/>
                  </a:rPr>
                  <a:t></a:t>
                </a:r>
                <a:r>
                  <a:rPr lang="en-US" altLang="en-US" i="1" dirty="0">
                    <a:sym typeface="Symbol" panose="05050102010706020507" pitchFamily="18" charset="2"/>
                  </a:rPr>
                  <a:t> </a:t>
                </a:r>
                <a:r>
                  <a:rPr lang="en-US" altLang="en-US" dirty="0">
                    <a:sym typeface="Greek Symbols" pitchFamily="18" charset="2"/>
                  </a:rPr>
                  <a:t>(</a:t>
                </a:r>
                <a:r>
                  <a:rPr lang="en-US" altLang="en-US" i="1" dirty="0">
                    <a:sym typeface="Greek Symbols" pitchFamily="18" charset="2"/>
                  </a:rPr>
                  <a:t>E</a:t>
                </a:r>
                <a:r>
                  <a:rPr lang="en-US" altLang="en-US" baseline="-25000" dirty="0">
                    <a:sym typeface="Greek Symbols" pitchFamily="18" charset="2"/>
                  </a:rPr>
                  <a:t>1</a:t>
                </a:r>
                <a:r>
                  <a:rPr lang="en-US" altLang="en-US" dirty="0">
                    <a:sym typeface="Greek Symbols" pitchFamily="18" charset="2"/>
                  </a:rPr>
                  <a:t> </a:t>
                </a:r>
                <a:r>
                  <a:rPr lang="en-US" altLang="en-US" dirty="0">
                    <a:sym typeface="Symbol" panose="05050102010706020507" pitchFamily="18" charset="2"/>
                  </a:rPr>
                  <a:t></a:t>
                </a:r>
                <a:r>
                  <a:rPr lang="en-US" altLang="en-US" dirty="0">
                    <a:sym typeface="Greek Symbols" pitchFamily="18" charset="2"/>
                  </a:rPr>
                  <a:t> </a:t>
                </a:r>
                <a:r>
                  <a:rPr lang="en-US" altLang="en-US" i="1" dirty="0">
                    <a:sym typeface="Greek Symbols" pitchFamily="18" charset="2"/>
                  </a:rPr>
                  <a:t>E</a:t>
                </a:r>
                <a:r>
                  <a:rPr lang="en-US" altLang="en-US" baseline="-25000" dirty="0">
                    <a:sym typeface="Greek Symbols" pitchFamily="18" charset="2"/>
                  </a:rPr>
                  <a:t>2</a:t>
                </a:r>
                <a:r>
                  <a:rPr lang="en-US" altLang="en-US" dirty="0">
                    <a:sym typeface="Greek Symbols" pitchFamily="18" charset="2"/>
                  </a:rPr>
                  <a:t>)    </a:t>
                </a:r>
                <a:r>
                  <a:rPr lang="en-IN" dirty="0"/>
                  <a:t>≡</a:t>
                </a:r>
                <a:r>
                  <a:rPr lang="en-US" altLang="en-US" dirty="0">
                    <a:sym typeface="Greek Symbols" pitchFamily="18" charset="2"/>
                  </a:rPr>
                  <a:t>    </a:t>
                </a:r>
                <a:r>
                  <a:rPr lang="en-US" altLang="en-US" i="1" dirty="0">
                    <a:sym typeface="Symbol" panose="05050102010706020507" pitchFamily="18" charset="2"/>
                  </a:rPr>
                  <a:t></a:t>
                </a:r>
                <a:r>
                  <a:rPr lang="en-US" altLang="en-US" baseline="-25000" dirty="0">
                    <a:sym typeface="Symbol" panose="05050102010706020507" pitchFamily="18" charset="2"/>
                  </a:rPr>
                  <a:t></a:t>
                </a:r>
                <a:r>
                  <a:rPr lang="en-US" altLang="en-US" i="1" dirty="0">
                    <a:sym typeface="Greek Symbols" pitchFamily="18" charset="2"/>
                  </a:rPr>
                  <a:t> </a:t>
                </a:r>
                <a:r>
                  <a:rPr lang="en-US" altLang="en-US" dirty="0">
                    <a:sym typeface="Greek Symbols" pitchFamily="18" charset="2"/>
                  </a:rPr>
                  <a:t>(</a:t>
                </a:r>
                <a:r>
                  <a:rPr lang="en-US" altLang="en-US" i="1" dirty="0">
                    <a:sym typeface="Greek Symbols" pitchFamily="18" charset="2"/>
                  </a:rPr>
                  <a:t>E</a:t>
                </a:r>
                <a:r>
                  <a:rPr lang="en-US" altLang="en-US" baseline="-25000" dirty="0">
                    <a:sym typeface="Greek Symbols" pitchFamily="18" charset="2"/>
                  </a:rPr>
                  <a:t>1</a:t>
                </a:r>
                <a:r>
                  <a:rPr lang="en-US" altLang="en-US" dirty="0">
                    <a:sym typeface="Greek Symbols" pitchFamily="18" charset="2"/>
                  </a:rPr>
                  <a:t>) </a:t>
                </a:r>
                <a:r>
                  <a:rPr lang="en-US" altLang="en-US" dirty="0">
                    <a:sym typeface="Symbol" panose="05050102010706020507" pitchFamily="18" charset="2"/>
                  </a:rPr>
                  <a:t></a:t>
                </a:r>
                <a:r>
                  <a:rPr lang="en-US" altLang="en-US" dirty="0">
                    <a:sym typeface="Greek Symbols" pitchFamily="18" charset="2"/>
                  </a:rPr>
                  <a:t> </a:t>
                </a:r>
                <a:r>
                  <a:rPr lang="en-US" altLang="en-US" i="1" dirty="0">
                    <a:sym typeface="Symbol" panose="05050102010706020507" pitchFamily="18" charset="2"/>
                  </a:rPr>
                  <a:t></a:t>
                </a:r>
                <a:r>
                  <a:rPr lang="en-US" altLang="en-US" baseline="-25000" dirty="0">
                    <a:sym typeface="Symbol" panose="05050102010706020507" pitchFamily="18" charset="2"/>
                  </a:rPr>
                  <a:t></a:t>
                </a:r>
                <a:r>
                  <a:rPr lang="en-US" altLang="en-US" dirty="0">
                    <a:sym typeface="Greek Symbols" pitchFamily="18" charset="2"/>
                  </a:rPr>
                  <a:t>(</a:t>
                </a:r>
                <a:r>
                  <a:rPr lang="en-US" altLang="en-US" i="1" dirty="0">
                    <a:sym typeface="Greek Symbols" pitchFamily="18" charset="2"/>
                  </a:rPr>
                  <a:t>E</a:t>
                </a:r>
                <a:r>
                  <a:rPr lang="en-US" altLang="en-US" baseline="-25000" dirty="0">
                    <a:sym typeface="Greek Symbols" pitchFamily="18" charset="2"/>
                  </a:rPr>
                  <a:t>2</a:t>
                </a:r>
                <a:r>
                  <a:rPr lang="en-US" altLang="en-US" dirty="0">
                    <a:sym typeface="Greek Symbols" pitchFamily="18" charset="2"/>
                  </a:rPr>
                  <a:t>)</a:t>
                </a:r>
                <a:br>
                  <a:rPr lang="en-US" altLang="en-US" dirty="0">
                    <a:sym typeface="Greek Symbols" pitchFamily="18" charset="2"/>
                  </a:rPr>
                </a:br>
                <a:r>
                  <a:rPr lang="en-US" altLang="en-US" dirty="0">
                    <a:sym typeface="Greek Symbols" pitchFamily="18" charset="2"/>
                  </a:rPr>
                  <a:t>            c.   </a:t>
                </a:r>
                <a:r>
                  <a:rPr lang="en-US" altLang="en-US" i="1" dirty="0">
                    <a:sym typeface="Symbol" panose="05050102010706020507" pitchFamily="18" charset="2"/>
                  </a:rPr>
                  <a:t></a:t>
                </a:r>
                <a:r>
                  <a:rPr lang="en-US" altLang="en-US" baseline="-25000" dirty="0">
                    <a:sym typeface="Symbol" panose="05050102010706020507" pitchFamily="18" charset="2"/>
                  </a:rPr>
                  <a:t></a:t>
                </a:r>
                <a:r>
                  <a:rPr lang="en-US" altLang="en-US" i="1" dirty="0">
                    <a:sym typeface="Symbol" panose="05050102010706020507" pitchFamily="18" charset="2"/>
                  </a:rPr>
                  <a:t> </a:t>
                </a:r>
                <a:r>
                  <a:rPr lang="en-US" altLang="en-US" dirty="0">
                    <a:sym typeface="Greek Symbols" pitchFamily="18" charset="2"/>
                  </a:rPr>
                  <a:t>(</a:t>
                </a:r>
                <a:r>
                  <a:rPr lang="en-US" altLang="en-US" i="1" dirty="0">
                    <a:sym typeface="Greek Symbols" pitchFamily="18" charset="2"/>
                  </a:rPr>
                  <a:t>E</a:t>
                </a:r>
                <a:r>
                  <a:rPr lang="en-US" altLang="en-US" baseline="-25000" dirty="0">
                    <a:sym typeface="Greek Symbols" pitchFamily="18" charset="2"/>
                  </a:rPr>
                  <a:t>1</a:t>
                </a:r>
                <a:r>
                  <a:rPr lang="en-US" altLang="en-US" dirty="0">
                    <a:sym typeface="Greek Symbols" pitchFamily="18" charset="2"/>
                  </a:rPr>
                  <a:t> – </a:t>
                </a:r>
                <a:r>
                  <a:rPr lang="en-US" altLang="en-US" i="1" dirty="0">
                    <a:sym typeface="Greek Symbols" pitchFamily="18" charset="2"/>
                  </a:rPr>
                  <a:t>E</a:t>
                </a:r>
                <a:r>
                  <a:rPr lang="en-US" altLang="en-US" baseline="-25000" dirty="0">
                    <a:sym typeface="Greek Symbols" pitchFamily="18" charset="2"/>
                  </a:rPr>
                  <a:t>2</a:t>
                </a:r>
                <a:r>
                  <a:rPr lang="en-US" altLang="en-US" dirty="0">
                    <a:sym typeface="Greek Symbols" pitchFamily="18" charset="2"/>
                  </a:rPr>
                  <a:t>)    </a:t>
                </a:r>
                <a:r>
                  <a:rPr lang="en-IN" dirty="0"/>
                  <a:t>≡   </a:t>
                </a:r>
                <a:r>
                  <a:rPr lang="en-US" altLang="en-US" dirty="0">
                    <a:sym typeface="Greek Symbols" pitchFamily="18" charset="2"/>
                  </a:rPr>
                  <a:t> </a:t>
                </a:r>
                <a:r>
                  <a:rPr lang="en-US" altLang="en-US" i="1" dirty="0">
                    <a:sym typeface="Symbol" panose="05050102010706020507" pitchFamily="18" charset="2"/>
                  </a:rPr>
                  <a:t></a:t>
                </a:r>
                <a:r>
                  <a:rPr lang="en-US" altLang="en-US" baseline="-25000" dirty="0">
                    <a:sym typeface="Symbol" panose="05050102010706020507" pitchFamily="18" charset="2"/>
                  </a:rPr>
                  <a:t></a:t>
                </a:r>
                <a:r>
                  <a:rPr lang="en-US" altLang="en-US" i="1" dirty="0">
                    <a:sym typeface="Greek Symbols" pitchFamily="18" charset="2"/>
                  </a:rPr>
                  <a:t> </a:t>
                </a:r>
                <a:r>
                  <a:rPr lang="en-US" altLang="en-US" dirty="0">
                    <a:sym typeface="Greek Symbols" pitchFamily="18" charset="2"/>
                  </a:rPr>
                  <a:t>(</a:t>
                </a:r>
                <a:r>
                  <a:rPr lang="en-US" altLang="en-US" i="1" dirty="0">
                    <a:sym typeface="Greek Symbols" pitchFamily="18" charset="2"/>
                  </a:rPr>
                  <a:t>E</a:t>
                </a:r>
                <a:r>
                  <a:rPr lang="en-US" altLang="en-US" baseline="-25000" dirty="0">
                    <a:sym typeface="Greek Symbols" pitchFamily="18" charset="2"/>
                  </a:rPr>
                  <a:t>1</a:t>
                </a:r>
                <a:r>
                  <a:rPr lang="en-US" altLang="en-US" dirty="0">
                    <a:sym typeface="Greek Symbols" pitchFamily="18" charset="2"/>
                  </a:rPr>
                  <a:t>) – </a:t>
                </a:r>
                <a:r>
                  <a:rPr lang="en-US" altLang="en-US" i="1" dirty="0">
                    <a:sym typeface="Symbol" panose="05050102010706020507" pitchFamily="18" charset="2"/>
                  </a:rPr>
                  <a:t></a:t>
                </a:r>
                <a:r>
                  <a:rPr lang="en-US" altLang="en-US" baseline="-25000" dirty="0">
                    <a:sym typeface="Symbol" panose="05050102010706020507" pitchFamily="18" charset="2"/>
                  </a:rPr>
                  <a:t></a:t>
                </a:r>
                <a:r>
                  <a:rPr lang="en-US" altLang="en-US" dirty="0">
                    <a:sym typeface="Greek Symbols" pitchFamily="18" charset="2"/>
                  </a:rPr>
                  <a:t>(</a:t>
                </a:r>
                <a:r>
                  <a:rPr lang="en-US" altLang="en-US" i="1" dirty="0">
                    <a:sym typeface="Greek Symbols" pitchFamily="18" charset="2"/>
                  </a:rPr>
                  <a:t>E</a:t>
                </a:r>
                <a:r>
                  <a:rPr lang="en-US" altLang="en-US" baseline="-25000" dirty="0">
                    <a:sym typeface="Greek Symbols" pitchFamily="18" charset="2"/>
                  </a:rPr>
                  <a:t>2</a:t>
                </a:r>
                <a:r>
                  <a:rPr lang="en-US" altLang="en-US" dirty="0">
                    <a:sym typeface="Greek Symbols" pitchFamily="18" charset="2"/>
                  </a:rPr>
                  <a:t>)</a:t>
                </a:r>
                <a:br>
                  <a:rPr lang="en-US" altLang="en-US" dirty="0">
                    <a:sym typeface="Greek Symbols" pitchFamily="18" charset="2"/>
                  </a:rPr>
                </a:br>
                <a:r>
                  <a:rPr lang="en-US" altLang="en-US" dirty="0">
                    <a:sym typeface="Greek Symbols" pitchFamily="18" charset="2"/>
                  </a:rPr>
                  <a:t>            d.   </a:t>
                </a:r>
                <a:r>
                  <a:rPr lang="en-US" altLang="en-US" i="1" dirty="0">
                    <a:sym typeface="Symbol" panose="05050102010706020507" pitchFamily="18" charset="2"/>
                  </a:rPr>
                  <a:t></a:t>
                </a:r>
                <a:r>
                  <a:rPr lang="en-US" altLang="en-US" baseline="-25000" dirty="0">
                    <a:sym typeface="Symbol" panose="05050102010706020507" pitchFamily="18" charset="2"/>
                  </a:rPr>
                  <a:t></a:t>
                </a:r>
                <a:r>
                  <a:rPr lang="en-US" altLang="en-US" i="1" dirty="0">
                    <a:sym typeface="Greek Symbols" pitchFamily="18" charset="2"/>
                  </a:rPr>
                  <a:t> </a:t>
                </a:r>
                <a:r>
                  <a:rPr lang="en-US" altLang="en-US" dirty="0">
                    <a:sym typeface="Greek Symbols" pitchFamily="18" charset="2"/>
                  </a:rPr>
                  <a:t>(</a:t>
                </a:r>
                <a:r>
                  <a:rPr lang="en-US" altLang="en-US" i="1" dirty="0">
                    <a:sym typeface="Greek Symbols" pitchFamily="18" charset="2"/>
                  </a:rPr>
                  <a:t>E</a:t>
                </a:r>
                <a:r>
                  <a:rPr lang="en-US" altLang="en-US" baseline="-25000" dirty="0">
                    <a:sym typeface="Greek Symbols" pitchFamily="18" charset="2"/>
                  </a:rPr>
                  <a:t>1</a:t>
                </a:r>
                <a:r>
                  <a:rPr lang="en-US" altLang="en-US" dirty="0">
                    <a:sym typeface="Greek Symbols" pitchFamily="18" charset="2"/>
                  </a:rPr>
                  <a:t> </a:t>
                </a:r>
                <a:r>
                  <a:rPr lang="en-US" altLang="en-US" dirty="0">
                    <a:sym typeface="Symbol" panose="05050102010706020507" pitchFamily="18" charset="2"/>
                  </a:rPr>
                  <a:t></a:t>
                </a:r>
                <a:r>
                  <a:rPr lang="en-US" altLang="en-US" dirty="0">
                    <a:sym typeface="Greek Symbols" pitchFamily="18" charset="2"/>
                  </a:rPr>
                  <a:t> </a:t>
                </a:r>
                <a:r>
                  <a:rPr lang="en-US" altLang="en-US" i="1" dirty="0">
                    <a:sym typeface="Greek Symbols" pitchFamily="18" charset="2"/>
                  </a:rPr>
                  <a:t>E</a:t>
                </a:r>
                <a:r>
                  <a:rPr lang="en-US" altLang="en-US" baseline="-25000" dirty="0">
                    <a:sym typeface="Greek Symbols" pitchFamily="18" charset="2"/>
                  </a:rPr>
                  <a:t>2</a:t>
                </a:r>
                <a:r>
                  <a:rPr lang="en-US" altLang="en-US" dirty="0">
                    <a:sym typeface="Greek Symbols" pitchFamily="18" charset="2"/>
                  </a:rPr>
                  <a:t>)   </a:t>
                </a:r>
                <a:r>
                  <a:rPr lang="en-IN" dirty="0"/>
                  <a:t>≡</a:t>
                </a:r>
                <a:r>
                  <a:rPr lang="en-US" altLang="en-US" dirty="0">
                    <a:sym typeface="Greek Symbols" pitchFamily="18" charset="2"/>
                  </a:rPr>
                  <a:t>    </a:t>
                </a:r>
                <a:r>
                  <a:rPr lang="en-US" altLang="en-US" i="1" dirty="0">
                    <a:sym typeface="Symbol" panose="05050102010706020507" pitchFamily="18" charset="2"/>
                  </a:rPr>
                  <a:t></a:t>
                </a:r>
                <a:r>
                  <a:rPr lang="en-US" altLang="en-US" baseline="-25000" dirty="0">
                    <a:sym typeface="Symbol" panose="05050102010706020507" pitchFamily="18" charset="2"/>
                  </a:rPr>
                  <a:t></a:t>
                </a:r>
                <a:r>
                  <a:rPr lang="en-US" altLang="en-US" dirty="0">
                    <a:sym typeface="Greek Symbols" pitchFamily="18" charset="2"/>
                  </a:rPr>
                  <a:t>(</a:t>
                </a:r>
                <a:r>
                  <a:rPr lang="en-US" altLang="en-US" i="1" dirty="0">
                    <a:sym typeface="Greek Symbols" pitchFamily="18" charset="2"/>
                  </a:rPr>
                  <a:t>E</a:t>
                </a:r>
                <a:r>
                  <a:rPr lang="en-US" altLang="en-US" baseline="-25000" dirty="0">
                    <a:sym typeface="Greek Symbols" pitchFamily="18" charset="2"/>
                  </a:rPr>
                  <a:t>1</a:t>
                </a:r>
                <a:r>
                  <a:rPr lang="en-US" altLang="en-US" dirty="0">
                    <a:sym typeface="Greek Symbols" pitchFamily="18" charset="2"/>
                  </a:rPr>
                  <a:t>) </a:t>
                </a:r>
                <a:r>
                  <a:rPr lang="en-US" altLang="en-US" dirty="0">
                    <a:sym typeface="Symbol" panose="05050102010706020507" pitchFamily="18" charset="2"/>
                  </a:rPr>
                  <a:t></a:t>
                </a:r>
                <a:r>
                  <a:rPr lang="en-US" altLang="en-US" dirty="0">
                    <a:sym typeface="Greek Symbols" pitchFamily="18" charset="2"/>
                  </a:rPr>
                  <a:t> </a:t>
                </a:r>
                <a:r>
                  <a:rPr lang="en-US" altLang="en-US" i="1" dirty="0">
                    <a:sym typeface="Greek Symbols" pitchFamily="18" charset="2"/>
                  </a:rPr>
                  <a:t>E</a:t>
                </a:r>
                <a:r>
                  <a:rPr lang="en-US" altLang="en-US" baseline="-25000" dirty="0">
                    <a:sym typeface="Greek Symbols" pitchFamily="18" charset="2"/>
                  </a:rPr>
                  <a:t>2</a:t>
                </a:r>
                <a:br>
                  <a:rPr lang="en-US" altLang="en-US" baseline="-25000" dirty="0">
                    <a:sym typeface="Greek Symbols" pitchFamily="18" charset="2"/>
                  </a:rPr>
                </a:br>
                <a:r>
                  <a:rPr lang="en-US" altLang="en-US" baseline="-25000" dirty="0">
                    <a:sym typeface="Greek Symbols" pitchFamily="18" charset="2"/>
                  </a:rPr>
                  <a:t>                  </a:t>
                </a:r>
                <a:r>
                  <a:rPr lang="en-US" altLang="en-US" dirty="0">
                    <a:sym typeface="Greek Symbols" pitchFamily="18" charset="2"/>
                  </a:rPr>
                  <a:t>e.   </a:t>
                </a:r>
                <a:r>
                  <a:rPr lang="en-US" altLang="en-US" i="1" dirty="0">
                    <a:sym typeface="Symbol" panose="05050102010706020507" pitchFamily="18" charset="2"/>
                  </a:rPr>
                  <a:t></a:t>
                </a:r>
                <a:r>
                  <a:rPr lang="en-US" altLang="en-US" baseline="-25000" dirty="0">
                    <a:sym typeface="Symbol" panose="05050102010706020507" pitchFamily="18" charset="2"/>
                  </a:rPr>
                  <a:t></a:t>
                </a:r>
                <a:r>
                  <a:rPr lang="en-US" altLang="en-US" i="1" dirty="0">
                    <a:sym typeface="Greek Symbols" pitchFamily="18" charset="2"/>
                  </a:rPr>
                  <a:t> </a:t>
                </a:r>
                <a:r>
                  <a:rPr lang="en-US" altLang="en-US" dirty="0">
                    <a:sym typeface="Greek Symbols" pitchFamily="18" charset="2"/>
                  </a:rPr>
                  <a:t>(</a:t>
                </a:r>
                <a:r>
                  <a:rPr lang="en-US" altLang="en-US" i="1" dirty="0">
                    <a:sym typeface="Greek Symbols" pitchFamily="18" charset="2"/>
                  </a:rPr>
                  <a:t>E</a:t>
                </a:r>
                <a:r>
                  <a:rPr lang="en-US" altLang="en-US" baseline="-25000" dirty="0">
                    <a:sym typeface="Greek Symbols" pitchFamily="18" charset="2"/>
                  </a:rPr>
                  <a:t>1</a:t>
                </a:r>
                <a:r>
                  <a:rPr lang="en-US" altLang="en-US" dirty="0">
                    <a:sym typeface="Greek Symbols" pitchFamily="18" charset="2"/>
                  </a:rPr>
                  <a:t> – </a:t>
                </a:r>
                <a:r>
                  <a:rPr lang="en-US" altLang="en-US" i="1" dirty="0">
                    <a:sym typeface="Greek Symbols" pitchFamily="18" charset="2"/>
                  </a:rPr>
                  <a:t>E</a:t>
                </a:r>
                <a:r>
                  <a:rPr lang="en-US" altLang="en-US" baseline="-25000" dirty="0">
                    <a:sym typeface="Greek Symbols" pitchFamily="18" charset="2"/>
                  </a:rPr>
                  <a:t>2</a:t>
                </a:r>
                <a:r>
                  <a:rPr lang="en-US" altLang="en-US" dirty="0">
                    <a:sym typeface="Greek Symbols" pitchFamily="18" charset="2"/>
                  </a:rPr>
                  <a:t>)    </a:t>
                </a:r>
                <a:r>
                  <a:rPr lang="en-IN" dirty="0"/>
                  <a:t>≡</a:t>
                </a:r>
                <a:r>
                  <a:rPr lang="en-US" altLang="en-US" dirty="0">
                    <a:sym typeface="Greek Symbols" pitchFamily="18" charset="2"/>
                  </a:rPr>
                  <a:t>    </a:t>
                </a:r>
                <a:r>
                  <a:rPr lang="en-US" altLang="en-US" i="1" dirty="0">
                    <a:sym typeface="Symbol" panose="05050102010706020507" pitchFamily="18" charset="2"/>
                  </a:rPr>
                  <a:t></a:t>
                </a:r>
                <a:r>
                  <a:rPr lang="en-US" altLang="en-US" baseline="-25000" dirty="0">
                    <a:sym typeface="Symbol" panose="05050102010706020507" pitchFamily="18" charset="2"/>
                  </a:rPr>
                  <a:t></a:t>
                </a:r>
                <a:r>
                  <a:rPr lang="en-US" altLang="en-US" dirty="0">
                    <a:sym typeface="Greek Symbols" pitchFamily="18" charset="2"/>
                  </a:rPr>
                  <a:t>(</a:t>
                </a:r>
                <a:r>
                  <a:rPr lang="en-US" altLang="en-US" i="1" dirty="0">
                    <a:sym typeface="Greek Symbols" pitchFamily="18" charset="2"/>
                  </a:rPr>
                  <a:t>E</a:t>
                </a:r>
                <a:r>
                  <a:rPr lang="en-US" altLang="en-US" baseline="-25000" dirty="0">
                    <a:sym typeface="Greek Symbols" pitchFamily="18" charset="2"/>
                  </a:rPr>
                  <a:t>1</a:t>
                </a:r>
                <a:r>
                  <a:rPr lang="en-US" altLang="en-US" dirty="0">
                    <a:sym typeface="Greek Symbols" pitchFamily="18" charset="2"/>
                  </a:rPr>
                  <a:t>) – </a:t>
                </a:r>
                <a:r>
                  <a:rPr lang="en-US" altLang="en-US" i="1" dirty="0">
                    <a:sym typeface="Greek Symbols" pitchFamily="18" charset="2"/>
                  </a:rPr>
                  <a:t>E</a:t>
                </a:r>
                <a:r>
                  <a:rPr lang="en-US" altLang="en-US" baseline="-25000" dirty="0">
                    <a:sym typeface="Greek Symbols" pitchFamily="18" charset="2"/>
                  </a:rPr>
                  <a:t>2</a:t>
                </a:r>
                <a:r>
                  <a:rPr lang="en-US" altLang="en-US" dirty="0">
                    <a:sym typeface="Greek Symbols" pitchFamily="18" charset="2"/>
                  </a:rPr>
                  <a:t/>
                </a:r>
                <a:br>
                  <a:rPr lang="en-US" altLang="en-US" dirty="0">
                    <a:sym typeface="Greek Symbols" pitchFamily="18" charset="2"/>
                  </a:rPr>
                </a:br>
                <a:r>
                  <a:rPr lang="en-US" altLang="en-US" dirty="0">
                    <a:sym typeface="Greek Symbols" pitchFamily="18" charset="2"/>
                  </a:rPr>
                  <a:t>        preceding equivalence does not hold for</a:t>
                </a:r>
                <a:r>
                  <a:rPr lang="en-US" altLang="en-US" dirty="0">
                    <a:sym typeface="Symbol" panose="05050102010706020507" pitchFamily="18" charset="2"/>
                  </a:rPr>
                  <a:t> </a:t>
                </a:r>
              </a:p>
              <a:p>
                <a:pPr marL="0" indent="0">
                  <a:buNone/>
                  <a:tabLst>
                    <a:tab pos="2279650" algn="l"/>
                  </a:tabLst>
                </a:pPr>
                <a:r>
                  <a:rPr lang="en-US" altLang="en-US" dirty="0">
                    <a:solidFill>
                      <a:srgbClr val="002060"/>
                    </a:solidFill>
                    <a:sym typeface="Greek Symbols" pitchFamily="18" charset="2"/>
                  </a:rPr>
                  <a:t>12.  </a:t>
                </a:r>
                <a:r>
                  <a:rPr lang="en-US" altLang="en-US" dirty="0">
                    <a:sym typeface="Greek Symbols" pitchFamily="18" charset="2"/>
                  </a:rPr>
                  <a:t>The projection operation distributes over union</a:t>
                </a:r>
                <a:br>
                  <a:rPr lang="en-US" altLang="en-US" dirty="0">
                    <a:sym typeface="Greek Symbols" pitchFamily="18" charset="2"/>
                  </a:rPr>
                </a:br>
                <a:r>
                  <a:rPr lang="en-US" altLang="en-US" dirty="0">
                    <a:sym typeface="Greek Symbols" pitchFamily="18" charset="2"/>
                  </a:rPr>
                  <a:t>        </a:t>
                </a:r>
                <a:r>
                  <a:rPr lang="en-US" altLang="en-US" dirty="0">
                    <a:sym typeface="Symbol" panose="05050102010706020507" pitchFamily="18" charset="2"/>
                  </a:rPr>
                  <a:t></a:t>
                </a:r>
                <a:r>
                  <a:rPr lang="en-US" altLang="en-US" baseline="-25000" dirty="0">
                    <a:sym typeface="Symbol" panose="05050102010706020507" pitchFamily="18" charset="2"/>
                  </a:rPr>
                  <a:t>L</a:t>
                </a:r>
                <a:r>
                  <a:rPr lang="en-US" altLang="en-US" dirty="0">
                    <a:sym typeface="Symbol" panose="05050102010706020507" pitchFamily="18" charset="2"/>
                  </a:rPr>
                  <a:t>(</a:t>
                </a:r>
                <a:r>
                  <a:rPr lang="en-US" altLang="en-US" i="1" dirty="0"/>
                  <a:t>E</a:t>
                </a:r>
                <a:r>
                  <a:rPr lang="en-US" altLang="en-US" baseline="-25000" dirty="0"/>
                  <a:t>1</a:t>
                </a:r>
                <a:r>
                  <a:rPr lang="en-US" altLang="en-US" dirty="0"/>
                  <a:t> </a:t>
                </a:r>
                <a:r>
                  <a:rPr lang="en-US" altLang="en-US" dirty="0">
                    <a:sym typeface="Symbol" panose="05050102010706020507" pitchFamily="18" charset="2"/>
                  </a:rPr>
                  <a:t> </a:t>
                </a:r>
                <a:r>
                  <a:rPr lang="en-US" altLang="en-US" i="1" dirty="0">
                    <a:sym typeface="Symbol" panose="05050102010706020507" pitchFamily="18" charset="2"/>
                  </a:rPr>
                  <a:t>E</a:t>
                </a:r>
                <a:r>
                  <a:rPr lang="en-US" altLang="en-US" baseline="-25000" dirty="0">
                    <a:sym typeface="Symbol" panose="05050102010706020507" pitchFamily="18" charset="2"/>
                  </a:rPr>
                  <a:t>2</a:t>
                </a:r>
                <a:r>
                  <a:rPr lang="en-US" altLang="en-US" dirty="0">
                    <a:sym typeface="Symbol" panose="05050102010706020507" pitchFamily="18" charset="2"/>
                  </a:rPr>
                  <a:t>)     </a:t>
                </a:r>
                <a:r>
                  <a:rPr lang="en-IN" dirty="0"/>
                  <a:t>≡</a:t>
                </a:r>
                <a:r>
                  <a:rPr lang="en-US" altLang="en-US" dirty="0">
                    <a:sym typeface="Symbol" panose="05050102010706020507" pitchFamily="18" charset="2"/>
                  </a:rPr>
                  <a:t>     (</a:t>
                </a:r>
                <a:r>
                  <a:rPr lang="en-US" altLang="en-US" baseline="-25000" dirty="0">
                    <a:sym typeface="Symbol" panose="05050102010706020507" pitchFamily="18" charset="2"/>
                  </a:rPr>
                  <a:t>L</a:t>
                </a:r>
                <a:r>
                  <a:rPr lang="en-US" altLang="en-US" dirty="0">
                    <a:sym typeface="Symbol" panose="05050102010706020507" pitchFamily="18" charset="2"/>
                  </a:rPr>
                  <a:t>(</a:t>
                </a:r>
                <a:r>
                  <a:rPr lang="en-US" altLang="en-US" i="1" dirty="0"/>
                  <a:t>E</a:t>
                </a:r>
                <a:r>
                  <a:rPr lang="en-US" altLang="en-US" baseline="-25000" dirty="0"/>
                  <a:t>1</a:t>
                </a:r>
                <a:r>
                  <a:rPr lang="en-US" altLang="en-US" dirty="0"/>
                  <a:t>)) </a:t>
                </a:r>
                <a:r>
                  <a:rPr lang="en-US" altLang="en-US" dirty="0">
                    <a:sym typeface="Symbol" panose="05050102010706020507" pitchFamily="18" charset="2"/>
                  </a:rPr>
                  <a:t> (</a:t>
                </a:r>
                <a:r>
                  <a:rPr lang="en-US" altLang="en-US" baseline="-25000" dirty="0">
                    <a:sym typeface="Symbol" panose="05050102010706020507" pitchFamily="18" charset="2"/>
                  </a:rPr>
                  <a:t>L</a:t>
                </a:r>
                <a:r>
                  <a:rPr lang="en-US" altLang="en-US" dirty="0">
                    <a:sym typeface="Symbol" panose="05050102010706020507" pitchFamily="18" charset="2"/>
                  </a:rPr>
                  <a:t>(</a:t>
                </a:r>
                <a:r>
                  <a:rPr lang="en-US" altLang="en-US" i="1" dirty="0"/>
                  <a:t>E</a:t>
                </a:r>
                <a:r>
                  <a:rPr lang="en-US" altLang="en-US" baseline="-25000" dirty="0"/>
                  <a:t>2</a:t>
                </a:r>
                <a:r>
                  <a:rPr lang="en-US" altLang="en-US" dirty="0"/>
                  <a:t>)) </a:t>
                </a:r>
                <a:endParaRPr lang="en-US" altLang="en-US" dirty="0">
                  <a:sym typeface="Greek Symbols" pitchFamily="18" charset="2"/>
                </a:endParaRPr>
              </a:p>
              <a:p>
                <a:pPr marL="404813" indent="-404813">
                  <a:buFont typeface="Monotype Sorts" pitchFamily="-65" charset="2"/>
                  <a:buAutoNum type="arabicPeriod" startAt="10"/>
                  <a:tabLst>
                    <a:tab pos="2279650" algn="l"/>
                  </a:tabLst>
                </a:pPr>
                <a:endParaRPr lang="en-US" altLang="en-US" dirty="0">
                  <a:sym typeface="Symbol" panose="05050102010706020507" pitchFamily="18" charset="2"/>
                </a:endParaRPr>
              </a:p>
              <a:p>
                <a:pPr marL="404813" indent="-404813">
                  <a:buFont typeface="Monotype Sorts" pitchFamily="-65" charset="2"/>
                  <a:buNone/>
                  <a:tabLst>
                    <a:tab pos="2279650" algn="l"/>
                  </a:tabLst>
                </a:pPr>
                <a:endParaRPr lang="en-US" altLang="en-US" dirty="0"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362499" name="Rectangle 3">
                <a:extLst>
                  <a:ext uri="{FF2B5EF4-FFF2-40B4-BE49-F238E27FC236}">
                    <a16:creationId xmlns:a16="http://schemas.microsoft.com/office/drawing/2014/main" id="{CD34A2FB-3E13-4F06-8207-CFF2D7389F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3768" y="1096159"/>
                <a:ext cx="7401828" cy="4659747"/>
              </a:xfrm>
              <a:blipFill>
                <a:blip r:embed="rId3"/>
                <a:stretch>
                  <a:fillRect l="-577" t="-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2499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>
            <a:extLst>
              <a:ext uri="{FF2B5EF4-FFF2-40B4-BE49-F238E27FC236}">
                <a16:creationId xmlns:a16="http://schemas.microsoft.com/office/drawing/2014/main" id="{A280E042-4593-4F00-8739-31BAD978BB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Equivalence Rules (Cont.)</a:t>
            </a:r>
          </a:p>
        </p:txBody>
      </p:sp>
      <p:sp>
        <p:nvSpPr>
          <p:cNvPr id="362499" name="Rectangle 3">
            <a:extLst>
              <a:ext uri="{FF2B5EF4-FFF2-40B4-BE49-F238E27FC236}">
                <a16:creationId xmlns:a16="http://schemas.microsoft.com/office/drawing/2014/main" id="{CD34A2FB-3E13-4F06-8207-CFF2D7389F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93020" y="932534"/>
            <a:ext cx="7806088" cy="5642002"/>
          </a:xfrm>
        </p:spPr>
        <p:txBody>
          <a:bodyPr/>
          <a:lstStyle/>
          <a:p>
            <a:pPr marL="0" indent="0">
              <a:buNone/>
              <a:tabLst>
                <a:tab pos="2279650" algn="l"/>
              </a:tabLst>
            </a:pPr>
            <a:r>
              <a:rPr lang="en-US" altLang="en-US" dirty="0">
                <a:solidFill>
                  <a:srgbClr val="002060"/>
                </a:solidFill>
                <a:sym typeface="Greek Symbols" pitchFamily="18" charset="2"/>
              </a:rPr>
              <a:t>13.</a:t>
            </a:r>
            <a:r>
              <a:rPr lang="en-US" altLang="en-US" dirty="0">
                <a:sym typeface="Greek Symbols" pitchFamily="18" charset="2"/>
              </a:rPr>
              <a:t>  Selection distributes over aggregation as below</a:t>
            </a:r>
            <a:br>
              <a:rPr lang="en-US" altLang="en-US" dirty="0">
                <a:sym typeface="Greek Symbols" pitchFamily="18" charset="2"/>
              </a:rPr>
            </a:br>
            <a:r>
              <a:rPr lang="en-US" altLang="en-US" dirty="0">
                <a:sym typeface="Greek Symbols" pitchFamily="18" charset="2"/>
              </a:rPr>
              <a:t>          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baseline="-25000" dirty="0">
                <a:sym typeface="Symbol" panose="05050102010706020507" pitchFamily="18" charset="2"/>
              </a:rPr>
              <a:t></a:t>
            </a:r>
            <a:r>
              <a:rPr lang="en-US" altLang="en-US" dirty="0">
                <a:sym typeface="Greek Symbols" pitchFamily="18" charset="2"/>
              </a:rPr>
              <a:t>(</a:t>
            </a:r>
            <a:r>
              <a:rPr lang="en-US" altLang="en-US" baseline="-25000" dirty="0">
                <a:sym typeface="Greek Symbols" pitchFamily="18" charset="2"/>
              </a:rPr>
              <a:t>G</a:t>
            </a:r>
            <a:r>
              <a:rPr lang="en-IN" dirty="0"/>
              <a:t>𝛾</a:t>
            </a:r>
            <a:r>
              <a:rPr lang="en-US" altLang="en-US" baseline="-25000" dirty="0">
                <a:sym typeface="Greek Symbols" pitchFamily="18" charset="2"/>
              </a:rPr>
              <a:t>A</a:t>
            </a:r>
            <a:r>
              <a:rPr lang="en-US" altLang="en-US" dirty="0">
                <a:sym typeface="Greek Symbols" pitchFamily="18" charset="2"/>
              </a:rPr>
              <a:t>(</a:t>
            </a:r>
            <a:r>
              <a:rPr lang="en-US" altLang="en-US" i="1" dirty="0">
                <a:sym typeface="Greek Symbols" pitchFamily="18" charset="2"/>
              </a:rPr>
              <a:t>E</a:t>
            </a:r>
            <a:r>
              <a:rPr lang="en-US" altLang="en-US" dirty="0">
                <a:sym typeface="Greek Symbols" pitchFamily="18" charset="2"/>
              </a:rPr>
              <a:t>))    </a:t>
            </a:r>
            <a:r>
              <a:rPr lang="en-IN" dirty="0"/>
              <a:t>≡   </a:t>
            </a:r>
            <a:r>
              <a:rPr lang="en-US" altLang="en-US" baseline="-25000" dirty="0">
                <a:sym typeface="Greek Symbols" pitchFamily="18" charset="2"/>
              </a:rPr>
              <a:t>G</a:t>
            </a:r>
            <a:r>
              <a:rPr lang="en-IN" dirty="0"/>
              <a:t>𝛾</a:t>
            </a:r>
            <a:r>
              <a:rPr lang="en-US" altLang="en-US" baseline="-25000" dirty="0">
                <a:sym typeface="Greek Symbols" pitchFamily="18" charset="2"/>
              </a:rPr>
              <a:t>A</a:t>
            </a:r>
            <a:r>
              <a:rPr lang="en-US" altLang="en-US" dirty="0">
                <a:sym typeface="Greek Symbols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baseline="-25000" dirty="0">
                <a:sym typeface="Symbol" panose="05050102010706020507" pitchFamily="18" charset="2"/>
              </a:rPr>
              <a:t></a:t>
            </a:r>
            <a:r>
              <a:rPr lang="en-US" altLang="en-US" dirty="0">
                <a:sym typeface="Greek Symbols" pitchFamily="18" charset="2"/>
              </a:rPr>
              <a:t>(</a:t>
            </a:r>
            <a:r>
              <a:rPr lang="en-US" altLang="en-US" i="1" dirty="0">
                <a:sym typeface="Greek Symbols" pitchFamily="18" charset="2"/>
              </a:rPr>
              <a:t>E</a:t>
            </a:r>
            <a:r>
              <a:rPr lang="en-US" altLang="en-US" dirty="0">
                <a:sym typeface="Greek Symbols" pitchFamily="18" charset="2"/>
              </a:rPr>
              <a:t>)) </a:t>
            </a:r>
            <a:br>
              <a:rPr lang="en-US" altLang="en-US" dirty="0">
                <a:sym typeface="Greek Symbols" pitchFamily="18" charset="2"/>
              </a:rPr>
            </a:br>
            <a:r>
              <a:rPr lang="en-US" altLang="en-US" dirty="0">
                <a:sym typeface="Greek Symbols" pitchFamily="18" charset="2"/>
              </a:rPr>
              <a:t>       provided </a:t>
            </a:r>
            <a:r>
              <a:rPr lang="en-US" altLang="en-US" dirty="0">
                <a:sym typeface="Symbol" panose="05050102010706020507" pitchFamily="18" charset="2"/>
              </a:rPr>
              <a:t></a:t>
            </a:r>
            <a:r>
              <a:rPr lang="en-US" altLang="en-US" dirty="0">
                <a:sym typeface="Greek Symbols" pitchFamily="18" charset="2"/>
              </a:rPr>
              <a:t> only involves attributes in G</a:t>
            </a:r>
          </a:p>
          <a:p>
            <a:pPr marL="0" indent="0">
              <a:spcBef>
                <a:spcPts val="714"/>
              </a:spcBef>
              <a:buNone/>
              <a:tabLst>
                <a:tab pos="2279650" algn="l"/>
              </a:tabLst>
            </a:pPr>
            <a:r>
              <a:rPr lang="en-US" altLang="en-US" dirty="0">
                <a:solidFill>
                  <a:srgbClr val="002060"/>
                </a:solidFill>
                <a:sym typeface="Greek Symbols" pitchFamily="18" charset="2"/>
              </a:rPr>
              <a:t>14.</a:t>
            </a:r>
            <a:r>
              <a:rPr lang="en-US" altLang="en-US" dirty="0">
                <a:sym typeface="Greek Symbols" pitchFamily="18" charset="2"/>
              </a:rPr>
              <a:t>  a. Full </a:t>
            </a:r>
            <a:r>
              <a:rPr lang="en-US" altLang="en-US" dirty="0" err="1">
                <a:sym typeface="Greek Symbols" pitchFamily="18" charset="2"/>
              </a:rPr>
              <a:t>outerjoin</a:t>
            </a:r>
            <a:r>
              <a:rPr lang="en-US" altLang="en-US" dirty="0">
                <a:sym typeface="Greek Symbols" pitchFamily="18" charset="2"/>
              </a:rPr>
              <a:t> is commutative:</a:t>
            </a:r>
            <a:br>
              <a:rPr lang="en-US" altLang="en-US" dirty="0">
                <a:sym typeface="Greek Symbols" pitchFamily="18" charset="2"/>
              </a:rPr>
            </a:br>
            <a:r>
              <a:rPr lang="en-US" altLang="en-US" dirty="0">
                <a:sym typeface="Greek Symbols" pitchFamily="18" charset="2"/>
              </a:rPr>
              <a:t>            </a:t>
            </a:r>
            <a:r>
              <a:rPr lang="en-US" altLang="en-US" i="1" dirty="0"/>
              <a:t>E</a:t>
            </a:r>
            <a:r>
              <a:rPr lang="en-US" altLang="en-US" baseline="-25000" dirty="0"/>
              <a:t>1</a:t>
            </a:r>
            <a:r>
              <a:rPr lang="en-US" altLang="en-US" dirty="0"/>
              <a:t> </a:t>
            </a:r>
            <a:r>
              <a:rPr lang="en-IN" dirty="0"/>
              <a:t>⟗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dirty="0">
                <a:sym typeface="Symbol" panose="05050102010706020507" pitchFamily="18" charset="2"/>
              </a:rPr>
              <a:t>E</a:t>
            </a:r>
            <a:r>
              <a:rPr lang="en-US" altLang="en-US" baseline="-25000" dirty="0">
                <a:sym typeface="Symbol" panose="05050102010706020507" pitchFamily="18" charset="2"/>
              </a:rPr>
              <a:t>2     </a:t>
            </a:r>
            <a:r>
              <a:rPr lang="en-IN" dirty="0"/>
              <a:t>≡   </a:t>
            </a:r>
            <a:r>
              <a:rPr lang="en-US" altLang="en-US" baseline="-25000" dirty="0">
                <a:sym typeface="Symbol" panose="05050102010706020507" pitchFamily="18" charset="2"/>
              </a:rPr>
              <a:t> </a:t>
            </a:r>
            <a:r>
              <a:rPr lang="en-US" altLang="en-US" i="1" dirty="0"/>
              <a:t>E</a:t>
            </a:r>
            <a:r>
              <a:rPr lang="en-US" altLang="en-US" baseline="-25000" dirty="0"/>
              <a:t>2</a:t>
            </a:r>
            <a:r>
              <a:rPr lang="en-US" altLang="en-US" dirty="0"/>
              <a:t> </a:t>
            </a:r>
            <a:r>
              <a:rPr lang="en-IN" dirty="0"/>
              <a:t>⟗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dirty="0">
                <a:sym typeface="Symbol" panose="05050102010706020507" pitchFamily="18" charset="2"/>
              </a:rPr>
              <a:t>E</a:t>
            </a:r>
            <a:r>
              <a:rPr lang="en-US" altLang="en-US" baseline="-25000" dirty="0">
                <a:sym typeface="Symbol" panose="05050102010706020507" pitchFamily="18" charset="2"/>
              </a:rPr>
              <a:t>1 </a:t>
            </a:r>
            <a:br>
              <a:rPr lang="en-US" altLang="en-US" baseline="-25000" dirty="0">
                <a:sym typeface="Symbol" panose="05050102010706020507" pitchFamily="18" charset="2"/>
              </a:rPr>
            </a:br>
            <a:r>
              <a:rPr lang="en-US" altLang="en-US" baseline="-25000" dirty="0">
                <a:sym typeface="Symbol" panose="05050102010706020507" pitchFamily="18" charset="2"/>
              </a:rPr>
              <a:t>           </a:t>
            </a:r>
            <a:r>
              <a:rPr lang="en-US" altLang="en-US" dirty="0">
                <a:sym typeface="Symbol" panose="05050102010706020507" pitchFamily="18" charset="2"/>
              </a:rPr>
              <a:t>b. Left and right </a:t>
            </a:r>
            <a:r>
              <a:rPr lang="en-US" altLang="en-US" dirty="0" err="1">
                <a:sym typeface="Symbol" panose="05050102010706020507" pitchFamily="18" charset="2"/>
              </a:rPr>
              <a:t>outerjoin</a:t>
            </a:r>
            <a:r>
              <a:rPr lang="en-US" altLang="en-US" dirty="0">
                <a:sym typeface="Symbol" panose="05050102010706020507" pitchFamily="18" charset="2"/>
              </a:rPr>
              <a:t> are not commutative, but:</a:t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>            </a:t>
            </a:r>
            <a:r>
              <a:rPr lang="en-US" altLang="en-US" i="1" dirty="0"/>
              <a:t>E</a:t>
            </a:r>
            <a:r>
              <a:rPr lang="en-US" altLang="en-US" baseline="-25000" dirty="0"/>
              <a:t>1</a:t>
            </a:r>
            <a:r>
              <a:rPr lang="en-US" altLang="en-US" dirty="0"/>
              <a:t> </a:t>
            </a:r>
            <a:r>
              <a:rPr lang="en-IN" dirty="0"/>
              <a:t>⟕ </a:t>
            </a:r>
            <a:r>
              <a:rPr lang="en-US" altLang="en-US" i="1" dirty="0">
                <a:sym typeface="Symbol" panose="05050102010706020507" pitchFamily="18" charset="2"/>
              </a:rPr>
              <a:t>E</a:t>
            </a:r>
            <a:r>
              <a:rPr lang="en-US" altLang="en-US" baseline="-25000" dirty="0">
                <a:sym typeface="Symbol" panose="05050102010706020507" pitchFamily="18" charset="2"/>
              </a:rPr>
              <a:t>2     </a:t>
            </a:r>
            <a:r>
              <a:rPr lang="en-IN" dirty="0"/>
              <a:t>≡   </a:t>
            </a:r>
            <a:r>
              <a:rPr lang="en-US" altLang="en-US" baseline="-25000" dirty="0">
                <a:sym typeface="Symbol" panose="05050102010706020507" pitchFamily="18" charset="2"/>
              </a:rPr>
              <a:t> </a:t>
            </a:r>
            <a:r>
              <a:rPr lang="en-US" altLang="en-US" i="1" dirty="0"/>
              <a:t>E</a:t>
            </a:r>
            <a:r>
              <a:rPr lang="en-US" altLang="en-US" baseline="-25000" dirty="0"/>
              <a:t>2</a:t>
            </a:r>
            <a:r>
              <a:rPr lang="en-US" altLang="en-US" dirty="0"/>
              <a:t> </a:t>
            </a:r>
            <a:r>
              <a:rPr lang="en-IN" dirty="0"/>
              <a:t>⟖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dirty="0">
                <a:sym typeface="Symbol" panose="05050102010706020507" pitchFamily="18" charset="2"/>
              </a:rPr>
              <a:t>E</a:t>
            </a:r>
            <a:r>
              <a:rPr lang="en-US" altLang="en-US" baseline="-25000" dirty="0">
                <a:sym typeface="Symbol" panose="05050102010706020507" pitchFamily="18" charset="2"/>
              </a:rPr>
              <a:t>1</a:t>
            </a:r>
            <a:endParaRPr lang="en-US" altLang="en-US" dirty="0">
              <a:sym typeface="Greek Symbols" pitchFamily="18" charset="2"/>
            </a:endParaRPr>
          </a:p>
          <a:p>
            <a:pPr marL="0" indent="0">
              <a:spcBef>
                <a:spcPts val="714"/>
              </a:spcBef>
              <a:buNone/>
              <a:tabLst>
                <a:tab pos="2279650" algn="l"/>
              </a:tabLst>
            </a:pPr>
            <a:r>
              <a:rPr lang="en-US" altLang="en-US" dirty="0">
                <a:solidFill>
                  <a:srgbClr val="002060"/>
                </a:solidFill>
                <a:sym typeface="Greek Symbols" pitchFamily="18" charset="2"/>
              </a:rPr>
              <a:t>15.  </a:t>
            </a:r>
            <a:r>
              <a:rPr lang="en-US" altLang="en-US" dirty="0">
                <a:sym typeface="Greek Symbols" pitchFamily="18" charset="2"/>
              </a:rPr>
              <a:t>Selection distributes over left and right </a:t>
            </a:r>
            <a:r>
              <a:rPr lang="en-US" altLang="en-US" dirty="0" err="1">
                <a:sym typeface="Greek Symbols" pitchFamily="18" charset="2"/>
              </a:rPr>
              <a:t>outerjoins</a:t>
            </a:r>
            <a:r>
              <a:rPr lang="en-US" altLang="en-US" dirty="0">
                <a:sym typeface="Greek Symbols" pitchFamily="18" charset="2"/>
              </a:rPr>
              <a:t> as below, provided </a:t>
            </a:r>
            <a:r>
              <a:rPr lang="en-US" altLang="en-US" dirty="0">
                <a:sym typeface="Symbol" panose="05050102010706020507" pitchFamily="18" charset="2"/>
              </a:rPr>
              <a:t></a:t>
            </a:r>
            <a:r>
              <a:rPr lang="en-US" altLang="en-US" baseline="-25000" dirty="0">
                <a:sym typeface="Symbol" panose="05050102010706020507" pitchFamily="18" charset="2"/>
              </a:rPr>
              <a:t>1</a:t>
            </a:r>
            <a:r>
              <a:rPr lang="en-US" altLang="en-US" dirty="0">
                <a:sym typeface="Greek Symbols" pitchFamily="18" charset="2"/>
              </a:rPr>
              <a:t>             </a:t>
            </a:r>
          </a:p>
          <a:p>
            <a:pPr marL="0" indent="0">
              <a:spcBef>
                <a:spcPts val="0"/>
              </a:spcBef>
              <a:buNone/>
              <a:tabLst>
                <a:tab pos="2279650" algn="l"/>
              </a:tabLst>
            </a:pPr>
            <a:r>
              <a:rPr lang="en-US" altLang="en-US" dirty="0">
                <a:sym typeface="Greek Symbols" pitchFamily="18" charset="2"/>
              </a:rPr>
              <a:t>       only involves attributes of </a:t>
            </a:r>
            <a:r>
              <a:rPr lang="en-US" altLang="en-US" i="1" dirty="0">
                <a:sym typeface="Symbol" panose="05050102010706020507" pitchFamily="18" charset="2"/>
              </a:rPr>
              <a:t>E</a:t>
            </a:r>
            <a:r>
              <a:rPr lang="en-US" altLang="en-US" baseline="-25000" dirty="0">
                <a:sym typeface="Symbol" panose="05050102010706020507" pitchFamily="18" charset="2"/>
              </a:rPr>
              <a:t>1</a:t>
            </a:r>
            <a:r>
              <a:rPr lang="en-US" altLang="en-US" dirty="0">
                <a:sym typeface="Symbol" panose="05050102010706020507" pitchFamily="18" charset="2"/>
              </a:rPr>
              <a:t>  </a:t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>       a. 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baseline="-25000" dirty="0">
                <a:sym typeface="Symbol" panose="05050102010706020507" pitchFamily="18" charset="2"/>
              </a:rPr>
              <a:t></a:t>
            </a:r>
            <a:r>
              <a:rPr lang="en-US" altLang="en-US" baseline="-38000" dirty="0">
                <a:sym typeface="Symbol" panose="05050102010706020507" pitchFamily="18" charset="2"/>
              </a:rPr>
              <a:t>1</a:t>
            </a:r>
            <a:r>
              <a:rPr lang="en-US" altLang="en-US" i="1" dirty="0"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Greek Symbols" pitchFamily="18" charset="2"/>
              </a:rPr>
              <a:t>(</a:t>
            </a:r>
            <a:r>
              <a:rPr lang="en-US" altLang="en-US" i="1" dirty="0">
                <a:sym typeface="Greek Symbols" pitchFamily="18" charset="2"/>
              </a:rPr>
              <a:t>E</a:t>
            </a:r>
            <a:r>
              <a:rPr lang="en-US" altLang="en-US" baseline="-25000" dirty="0">
                <a:sym typeface="Greek Symbols" pitchFamily="18" charset="2"/>
              </a:rPr>
              <a:t>1</a:t>
            </a:r>
            <a:r>
              <a:rPr lang="en-US" altLang="en-US" dirty="0">
                <a:sym typeface="Greek Symbols" pitchFamily="18" charset="2"/>
              </a:rPr>
              <a:t> </a:t>
            </a:r>
            <a:r>
              <a:rPr lang="en-IN" dirty="0"/>
              <a:t>⟕</a:t>
            </a:r>
            <a:r>
              <a:rPr lang="en-US" altLang="en-US" baseline="-25000" dirty="0">
                <a:sym typeface="Symbol" panose="05050102010706020507" pitchFamily="18" charset="2"/>
              </a:rPr>
              <a:t></a:t>
            </a:r>
            <a:r>
              <a:rPr lang="en-US" altLang="en-US" dirty="0">
                <a:sym typeface="Greek Symbols" pitchFamily="18" charset="2"/>
              </a:rPr>
              <a:t> </a:t>
            </a:r>
            <a:r>
              <a:rPr lang="en-US" altLang="en-US" i="1" dirty="0">
                <a:sym typeface="Greek Symbols" pitchFamily="18" charset="2"/>
              </a:rPr>
              <a:t>E</a:t>
            </a:r>
            <a:r>
              <a:rPr lang="en-US" altLang="en-US" baseline="-25000" dirty="0">
                <a:sym typeface="Greek Symbols" pitchFamily="18" charset="2"/>
              </a:rPr>
              <a:t>2</a:t>
            </a:r>
            <a:r>
              <a:rPr lang="en-US" altLang="en-US" dirty="0">
                <a:sym typeface="Greek Symbols" pitchFamily="18" charset="2"/>
              </a:rPr>
              <a:t>)    </a:t>
            </a:r>
            <a:r>
              <a:rPr lang="en-IN" dirty="0"/>
              <a:t>≡   </a:t>
            </a:r>
            <a:r>
              <a:rPr lang="en-US" altLang="en-US" dirty="0">
                <a:sym typeface="Greek Symbols" pitchFamily="18" charset="2"/>
              </a:rPr>
              <a:t> (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baseline="-25000" dirty="0">
                <a:sym typeface="Symbol" panose="05050102010706020507" pitchFamily="18" charset="2"/>
              </a:rPr>
              <a:t></a:t>
            </a:r>
            <a:r>
              <a:rPr lang="en-US" altLang="en-US" baseline="-38000" dirty="0">
                <a:sym typeface="Symbol" panose="05050102010706020507" pitchFamily="18" charset="2"/>
              </a:rPr>
              <a:t>1</a:t>
            </a:r>
            <a:r>
              <a:rPr lang="en-US" altLang="en-US" i="1" dirty="0">
                <a:sym typeface="Greek Symbols" pitchFamily="18" charset="2"/>
              </a:rPr>
              <a:t> </a:t>
            </a:r>
            <a:r>
              <a:rPr lang="en-US" altLang="en-US" dirty="0">
                <a:sym typeface="Greek Symbols" pitchFamily="18" charset="2"/>
              </a:rPr>
              <a:t>(</a:t>
            </a:r>
            <a:r>
              <a:rPr lang="en-US" altLang="en-US" i="1" dirty="0">
                <a:sym typeface="Greek Symbols" pitchFamily="18" charset="2"/>
              </a:rPr>
              <a:t>E</a:t>
            </a:r>
            <a:r>
              <a:rPr lang="en-US" altLang="en-US" baseline="-25000" dirty="0">
                <a:sym typeface="Greek Symbols" pitchFamily="18" charset="2"/>
              </a:rPr>
              <a:t>1</a:t>
            </a:r>
            <a:r>
              <a:rPr lang="en-US" altLang="en-US" dirty="0">
                <a:sym typeface="Greek Symbols" pitchFamily="18" charset="2"/>
              </a:rPr>
              <a:t>)) </a:t>
            </a:r>
            <a:r>
              <a:rPr lang="en-IN" dirty="0"/>
              <a:t>⟕</a:t>
            </a:r>
            <a:r>
              <a:rPr lang="en-US" altLang="en-US" baseline="-25000" dirty="0">
                <a:sym typeface="Symbol" panose="05050102010706020507" pitchFamily="18" charset="2"/>
              </a:rPr>
              <a:t></a:t>
            </a:r>
            <a:r>
              <a:rPr lang="en-US" altLang="en-US" dirty="0">
                <a:sym typeface="Greek Symbols" pitchFamily="18" charset="2"/>
              </a:rPr>
              <a:t> </a:t>
            </a:r>
            <a:r>
              <a:rPr lang="en-US" altLang="en-US" i="1" dirty="0">
                <a:sym typeface="Greek Symbols" pitchFamily="18" charset="2"/>
              </a:rPr>
              <a:t>E</a:t>
            </a:r>
            <a:r>
              <a:rPr lang="en-US" altLang="en-US" baseline="-25000" dirty="0">
                <a:sym typeface="Greek Symbols" pitchFamily="18" charset="2"/>
              </a:rPr>
              <a:t>2</a:t>
            </a:r>
            <a:r>
              <a:rPr lang="en-US" altLang="en-US" dirty="0">
                <a:sym typeface="Greek Symbols" pitchFamily="18" charset="2"/>
              </a:rPr>
              <a:t> </a:t>
            </a:r>
            <a:br>
              <a:rPr lang="en-US" altLang="en-US" dirty="0">
                <a:sym typeface="Greek Symbols" pitchFamily="18" charset="2"/>
              </a:rPr>
            </a:br>
            <a:r>
              <a:rPr lang="en-US" altLang="en-US" dirty="0">
                <a:sym typeface="Greek Symbols" pitchFamily="18" charset="2"/>
              </a:rPr>
              <a:t>       b. 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baseline="-25000" dirty="0">
                <a:sym typeface="Symbol" panose="05050102010706020507" pitchFamily="18" charset="2"/>
              </a:rPr>
              <a:t></a:t>
            </a:r>
            <a:r>
              <a:rPr lang="en-US" altLang="en-US" baseline="-38000" dirty="0">
                <a:sym typeface="Symbol" panose="05050102010706020507" pitchFamily="18" charset="2"/>
              </a:rPr>
              <a:t>1</a:t>
            </a:r>
            <a:r>
              <a:rPr lang="en-US" altLang="en-US" i="1" dirty="0"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Greek Symbols" pitchFamily="18" charset="2"/>
              </a:rPr>
              <a:t>(</a:t>
            </a:r>
            <a:r>
              <a:rPr lang="en-US" altLang="en-US" i="1" dirty="0">
                <a:sym typeface="Greek Symbols" pitchFamily="18" charset="2"/>
              </a:rPr>
              <a:t>E</a:t>
            </a:r>
            <a:r>
              <a:rPr lang="en-US" altLang="en-US" baseline="-25000" dirty="0">
                <a:sym typeface="Greek Symbols" pitchFamily="18" charset="2"/>
              </a:rPr>
              <a:t>1</a:t>
            </a:r>
            <a:r>
              <a:rPr lang="en-US" altLang="en-US" dirty="0">
                <a:sym typeface="Greek Symbols" pitchFamily="18" charset="2"/>
              </a:rPr>
              <a:t> </a:t>
            </a:r>
            <a:r>
              <a:rPr lang="en-IN" dirty="0"/>
              <a:t>⟖</a:t>
            </a:r>
            <a:r>
              <a:rPr lang="en-US" altLang="en-US" baseline="-25000" dirty="0">
                <a:sym typeface="Symbol" panose="05050102010706020507" pitchFamily="18" charset="2"/>
              </a:rPr>
              <a:t></a:t>
            </a:r>
            <a:r>
              <a:rPr lang="en-US" altLang="en-US" dirty="0">
                <a:sym typeface="Greek Symbols" pitchFamily="18" charset="2"/>
              </a:rPr>
              <a:t> </a:t>
            </a:r>
            <a:r>
              <a:rPr lang="en-US" altLang="en-US" i="1" dirty="0">
                <a:sym typeface="Greek Symbols" pitchFamily="18" charset="2"/>
              </a:rPr>
              <a:t>E</a:t>
            </a:r>
            <a:r>
              <a:rPr lang="en-US" altLang="en-US" baseline="-25000" dirty="0">
                <a:sym typeface="Greek Symbols" pitchFamily="18" charset="2"/>
              </a:rPr>
              <a:t>2</a:t>
            </a:r>
            <a:r>
              <a:rPr lang="en-US" altLang="en-US" dirty="0">
                <a:sym typeface="Greek Symbols" pitchFamily="18" charset="2"/>
              </a:rPr>
              <a:t>)    </a:t>
            </a:r>
            <a:r>
              <a:rPr lang="en-IN" dirty="0"/>
              <a:t>≡    </a:t>
            </a:r>
            <a:r>
              <a:rPr lang="en-US" altLang="en-US" i="1" dirty="0">
                <a:sym typeface="Greek Symbols" pitchFamily="18" charset="2"/>
              </a:rPr>
              <a:t>E</a:t>
            </a:r>
            <a:r>
              <a:rPr lang="en-US" altLang="en-US" baseline="-25000" dirty="0">
                <a:sym typeface="Greek Symbols" pitchFamily="18" charset="2"/>
              </a:rPr>
              <a:t>2 </a:t>
            </a:r>
            <a:r>
              <a:rPr lang="en-IN" dirty="0"/>
              <a:t>⟕</a:t>
            </a:r>
            <a:r>
              <a:rPr lang="en-US" altLang="en-US" baseline="-25000" dirty="0">
                <a:sym typeface="Symbol" panose="05050102010706020507" pitchFamily="18" charset="2"/>
              </a:rPr>
              <a:t></a:t>
            </a:r>
            <a:r>
              <a:rPr lang="en-US" altLang="en-US" dirty="0">
                <a:sym typeface="Greek Symbols" pitchFamily="18" charset="2"/>
              </a:rPr>
              <a:t> (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baseline="-25000" dirty="0">
                <a:sym typeface="Symbol" panose="05050102010706020507" pitchFamily="18" charset="2"/>
              </a:rPr>
              <a:t></a:t>
            </a:r>
            <a:r>
              <a:rPr lang="en-US" altLang="en-US" baseline="-38000" dirty="0">
                <a:sym typeface="Symbol" panose="05050102010706020507" pitchFamily="18" charset="2"/>
              </a:rPr>
              <a:t>1</a:t>
            </a:r>
            <a:r>
              <a:rPr lang="en-US" altLang="en-US" i="1" dirty="0">
                <a:sym typeface="Greek Symbols" pitchFamily="18" charset="2"/>
              </a:rPr>
              <a:t> </a:t>
            </a:r>
            <a:r>
              <a:rPr lang="en-US" altLang="en-US" dirty="0">
                <a:sym typeface="Greek Symbols" pitchFamily="18" charset="2"/>
              </a:rPr>
              <a:t>(</a:t>
            </a:r>
            <a:r>
              <a:rPr lang="en-US" altLang="en-US" i="1" dirty="0">
                <a:sym typeface="Greek Symbols" pitchFamily="18" charset="2"/>
              </a:rPr>
              <a:t>E</a:t>
            </a:r>
            <a:r>
              <a:rPr lang="en-US" altLang="en-US" baseline="-25000" dirty="0">
                <a:sym typeface="Greek Symbols" pitchFamily="18" charset="2"/>
              </a:rPr>
              <a:t>1</a:t>
            </a:r>
            <a:r>
              <a:rPr lang="en-US" altLang="en-US" dirty="0">
                <a:sym typeface="Greek Symbols" pitchFamily="18" charset="2"/>
              </a:rPr>
              <a:t>))</a:t>
            </a:r>
          </a:p>
          <a:p>
            <a:pPr marL="0" indent="0">
              <a:buNone/>
              <a:tabLst>
                <a:tab pos="2279650" algn="l"/>
              </a:tabLst>
            </a:pPr>
            <a:r>
              <a:rPr lang="en-US" altLang="en-US" dirty="0">
                <a:solidFill>
                  <a:srgbClr val="002060"/>
                </a:solidFill>
                <a:sym typeface="Greek Symbols" pitchFamily="18" charset="2"/>
              </a:rPr>
              <a:t>16.  </a:t>
            </a:r>
            <a:r>
              <a:rPr lang="en-US" altLang="en-US" dirty="0" err="1">
                <a:sym typeface="Greek Symbols" pitchFamily="18" charset="2"/>
              </a:rPr>
              <a:t>Outerjoins</a:t>
            </a:r>
            <a:r>
              <a:rPr lang="en-US" altLang="en-US" dirty="0">
                <a:sym typeface="Greek Symbols" pitchFamily="18" charset="2"/>
              </a:rPr>
              <a:t> can be replaced by inner joins under some conditions</a:t>
            </a:r>
          </a:p>
          <a:p>
            <a:pPr marL="0" indent="0">
              <a:buNone/>
              <a:tabLst>
                <a:tab pos="2279650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        a. 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baseline="-25000" dirty="0">
                <a:sym typeface="Symbol" panose="05050102010706020507" pitchFamily="18" charset="2"/>
              </a:rPr>
              <a:t></a:t>
            </a:r>
            <a:r>
              <a:rPr lang="en-US" altLang="en-US" baseline="-38000" dirty="0">
                <a:sym typeface="Symbol" panose="05050102010706020507" pitchFamily="18" charset="2"/>
              </a:rPr>
              <a:t>1</a:t>
            </a:r>
            <a:r>
              <a:rPr lang="en-US" altLang="en-US" i="1" dirty="0"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Greek Symbols" pitchFamily="18" charset="2"/>
              </a:rPr>
              <a:t>(</a:t>
            </a:r>
            <a:r>
              <a:rPr lang="en-US" altLang="en-US" i="1" dirty="0">
                <a:sym typeface="Greek Symbols" pitchFamily="18" charset="2"/>
              </a:rPr>
              <a:t>E</a:t>
            </a:r>
            <a:r>
              <a:rPr lang="en-US" altLang="en-US" baseline="-25000" dirty="0">
                <a:sym typeface="Greek Symbols" pitchFamily="18" charset="2"/>
              </a:rPr>
              <a:t>1</a:t>
            </a:r>
            <a:r>
              <a:rPr lang="en-US" altLang="en-US" dirty="0">
                <a:sym typeface="Greek Symbols" pitchFamily="18" charset="2"/>
              </a:rPr>
              <a:t> </a:t>
            </a:r>
            <a:r>
              <a:rPr lang="en-IN" dirty="0"/>
              <a:t>⟕</a:t>
            </a:r>
            <a:r>
              <a:rPr lang="en-US" altLang="en-US" baseline="-25000" dirty="0">
                <a:sym typeface="Symbol" panose="05050102010706020507" pitchFamily="18" charset="2"/>
              </a:rPr>
              <a:t></a:t>
            </a:r>
            <a:r>
              <a:rPr lang="en-US" altLang="en-US" dirty="0">
                <a:sym typeface="Greek Symbols" pitchFamily="18" charset="2"/>
              </a:rPr>
              <a:t> </a:t>
            </a:r>
            <a:r>
              <a:rPr lang="en-US" altLang="en-US" i="1" dirty="0">
                <a:sym typeface="Greek Symbols" pitchFamily="18" charset="2"/>
              </a:rPr>
              <a:t>E</a:t>
            </a:r>
            <a:r>
              <a:rPr lang="en-US" altLang="en-US" baseline="-25000" dirty="0">
                <a:sym typeface="Greek Symbols" pitchFamily="18" charset="2"/>
              </a:rPr>
              <a:t>2</a:t>
            </a:r>
            <a:r>
              <a:rPr lang="en-US" altLang="en-US" dirty="0">
                <a:sym typeface="Greek Symbols" pitchFamily="18" charset="2"/>
              </a:rPr>
              <a:t>)    </a:t>
            </a:r>
            <a:r>
              <a:rPr lang="en-IN" dirty="0"/>
              <a:t>≡   </a:t>
            </a:r>
            <a:r>
              <a:rPr lang="en-US" altLang="en-US" dirty="0">
                <a:sym typeface="Greek Symbols" pitchFamily="18" charset="2"/>
              </a:rPr>
              <a:t> 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baseline="-25000" dirty="0">
                <a:sym typeface="Symbol" panose="05050102010706020507" pitchFamily="18" charset="2"/>
              </a:rPr>
              <a:t></a:t>
            </a:r>
            <a:r>
              <a:rPr lang="en-US" altLang="en-US" baseline="-38000" dirty="0">
                <a:sym typeface="Symbol" panose="05050102010706020507" pitchFamily="18" charset="2"/>
              </a:rPr>
              <a:t>1</a:t>
            </a:r>
            <a:r>
              <a:rPr lang="en-US" altLang="en-US" i="1" dirty="0">
                <a:sym typeface="Greek Symbols" pitchFamily="18" charset="2"/>
              </a:rPr>
              <a:t> </a:t>
            </a:r>
            <a:r>
              <a:rPr lang="en-US" altLang="en-US" dirty="0">
                <a:sym typeface="Greek Symbols" pitchFamily="18" charset="2"/>
              </a:rPr>
              <a:t>(</a:t>
            </a:r>
            <a:r>
              <a:rPr lang="en-US" altLang="en-US" i="1" dirty="0">
                <a:sym typeface="Greek Symbols" pitchFamily="18" charset="2"/>
              </a:rPr>
              <a:t>E</a:t>
            </a:r>
            <a:r>
              <a:rPr lang="en-US" altLang="en-US" baseline="-25000" dirty="0">
                <a:sym typeface="Greek Symbols" pitchFamily="18" charset="2"/>
              </a:rPr>
              <a:t>1</a:t>
            </a:r>
            <a:r>
              <a:rPr lang="en-US" altLang="en-US" dirty="0">
                <a:sym typeface="Greek Symbols" pitchFamily="18" charset="2"/>
              </a:rPr>
              <a:t> </a:t>
            </a:r>
            <a:r>
              <a:rPr lang="en-IN" altLang="en-US" dirty="0"/>
              <a:t>⨝</a:t>
            </a:r>
            <a:r>
              <a:rPr lang="en-US" altLang="en-US" baseline="-25000" dirty="0">
                <a:sym typeface="Symbol" panose="05050102010706020507" pitchFamily="18" charset="2"/>
              </a:rPr>
              <a:t></a:t>
            </a:r>
            <a:r>
              <a:rPr lang="en-US" altLang="en-US" dirty="0">
                <a:sym typeface="Greek Symbols" pitchFamily="18" charset="2"/>
              </a:rPr>
              <a:t> </a:t>
            </a:r>
            <a:r>
              <a:rPr lang="en-US" altLang="en-US" i="1" dirty="0">
                <a:sym typeface="Greek Symbols" pitchFamily="18" charset="2"/>
              </a:rPr>
              <a:t>E</a:t>
            </a:r>
            <a:r>
              <a:rPr lang="en-US" altLang="en-US" baseline="-25000" dirty="0">
                <a:sym typeface="Greek Symbols" pitchFamily="18" charset="2"/>
              </a:rPr>
              <a:t>2</a:t>
            </a:r>
            <a:r>
              <a:rPr lang="en-US" altLang="en-US" dirty="0">
                <a:sym typeface="Greek Symbols" pitchFamily="18" charset="2"/>
              </a:rPr>
              <a:t>)</a:t>
            </a:r>
            <a:br>
              <a:rPr lang="en-US" altLang="en-US" dirty="0">
                <a:sym typeface="Greek Symbols" pitchFamily="18" charset="2"/>
              </a:rPr>
            </a:br>
            <a:r>
              <a:rPr lang="en-US" altLang="en-US" dirty="0">
                <a:sym typeface="Greek Symbols" pitchFamily="18" charset="2"/>
              </a:rPr>
              <a:t>        b. 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baseline="-25000" dirty="0">
                <a:sym typeface="Symbol" panose="05050102010706020507" pitchFamily="18" charset="2"/>
              </a:rPr>
              <a:t></a:t>
            </a:r>
            <a:r>
              <a:rPr lang="en-US" altLang="en-US" baseline="-38000" dirty="0">
                <a:sym typeface="Symbol" panose="05050102010706020507" pitchFamily="18" charset="2"/>
              </a:rPr>
              <a:t>1</a:t>
            </a:r>
            <a:r>
              <a:rPr lang="en-US" altLang="en-US" i="1" dirty="0"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Greek Symbols" pitchFamily="18" charset="2"/>
              </a:rPr>
              <a:t>(</a:t>
            </a:r>
            <a:r>
              <a:rPr lang="en-US" altLang="en-US" i="1" dirty="0">
                <a:sym typeface="Greek Symbols" pitchFamily="18" charset="2"/>
              </a:rPr>
              <a:t>E</a:t>
            </a:r>
            <a:r>
              <a:rPr lang="en-US" altLang="en-US" baseline="-25000" dirty="0">
                <a:sym typeface="Greek Symbols" pitchFamily="18" charset="2"/>
              </a:rPr>
              <a:t>1</a:t>
            </a:r>
            <a:r>
              <a:rPr lang="en-US" altLang="en-US" dirty="0">
                <a:sym typeface="Greek Symbols" pitchFamily="18" charset="2"/>
              </a:rPr>
              <a:t> </a:t>
            </a:r>
            <a:r>
              <a:rPr lang="en-IN" dirty="0"/>
              <a:t>⟖</a:t>
            </a:r>
            <a:r>
              <a:rPr lang="en-US" altLang="en-US" baseline="-25000" dirty="0">
                <a:sym typeface="Symbol" panose="05050102010706020507" pitchFamily="18" charset="2"/>
              </a:rPr>
              <a:t></a:t>
            </a:r>
            <a:r>
              <a:rPr lang="en-US" altLang="en-US" dirty="0">
                <a:sym typeface="Greek Symbols" pitchFamily="18" charset="2"/>
              </a:rPr>
              <a:t> </a:t>
            </a:r>
            <a:r>
              <a:rPr lang="en-US" altLang="en-US" i="1" dirty="0">
                <a:sym typeface="Greek Symbols" pitchFamily="18" charset="2"/>
              </a:rPr>
              <a:t>E</a:t>
            </a:r>
            <a:r>
              <a:rPr lang="en-US" altLang="en-US" baseline="-25000" dirty="0">
                <a:sym typeface="Greek Symbols" pitchFamily="18" charset="2"/>
              </a:rPr>
              <a:t>1</a:t>
            </a:r>
            <a:r>
              <a:rPr lang="en-US" altLang="en-US" dirty="0">
                <a:sym typeface="Greek Symbols" pitchFamily="18" charset="2"/>
              </a:rPr>
              <a:t>)    </a:t>
            </a:r>
            <a:r>
              <a:rPr lang="en-IN" dirty="0"/>
              <a:t>≡    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baseline="-25000" dirty="0">
                <a:sym typeface="Symbol" panose="05050102010706020507" pitchFamily="18" charset="2"/>
              </a:rPr>
              <a:t></a:t>
            </a:r>
            <a:r>
              <a:rPr lang="en-US" altLang="en-US" baseline="-38000" dirty="0">
                <a:sym typeface="Symbol" panose="05050102010706020507" pitchFamily="18" charset="2"/>
              </a:rPr>
              <a:t>1</a:t>
            </a:r>
            <a:r>
              <a:rPr lang="en-US" altLang="en-US" i="1" dirty="0">
                <a:sym typeface="Greek Symbols" pitchFamily="18" charset="2"/>
              </a:rPr>
              <a:t> </a:t>
            </a:r>
            <a:r>
              <a:rPr lang="en-US" altLang="en-US" dirty="0">
                <a:sym typeface="Greek Symbols" pitchFamily="18" charset="2"/>
              </a:rPr>
              <a:t>(</a:t>
            </a:r>
            <a:r>
              <a:rPr lang="en-US" altLang="en-US" i="1" dirty="0">
                <a:sym typeface="Greek Symbols" pitchFamily="18" charset="2"/>
              </a:rPr>
              <a:t>E</a:t>
            </a:r>
            <a:r>
              <a:rPr lang="en-US" altLang="en-US" baseline="-25000" dirty="0">
                <a:sym typeface="Greek Symbols" pitchFamily="18" charset="2"/>
              </a:rPr>
              <a:t>1</a:t>
            </a:r>
            <a:r>
              <a:rPr lang="en-US" altLang="en-US" dirty="0">
                <a:sym typeface="Greek Symbols" pitchFamily="18" charset="2"/>
              </a:rPr>
              <a:t> </a:t>
            </a:r>
            <a:r>
              <a:rPr lang="en-IN" altLang="en-US" dirty="0"/>
              <a:t>⨝</a:t>
            </a:r>
            <a:r>
              <a:rPr lang="en-US" altLang="en-US" baseline="-25000" dirty="0">
                <a:sym typeface="Symbol" panose="05050102010706020507" pitchFamily="18" charset="2"/>
              </a:rPr>
              <a:t></a:t>
            </a:r>
            <a:r>
              <a:rPr lang="en-US" altLang="en-US" dirty="0">
                <a:sym typeface="Greek Symbols" pitchFamily="18" charset="2"/>
              </a:rPr>
              <a:t> </a:t>
            </a:r>
            <a:r>
              <a:rPr lang="en-US" altLang="en-US" i="1" dirty="0">
                <a:sym typeface="Greek Symbols" pitchFamily="18" charset="2"/>
              </a:rPr>
              <a:t>E</a:t>
            </a:r>
            <a:r>
              <a:rPr lang="en-US" altLang="en-US" baseline="-25000" dirty="0">
                <a:sym typeface="Greek Symbols" pitchFamily="18" charset="2"/>
              </a:rPr>
              <a:t>2</a:t>
            </a:r>
            <a:r>
              <a:rPr lang="en-US" altLang="en-US" dirty="0">
                <a:sym typeface="Greek Symbols" pitchFamily="18" charset="2"/>
              </a:rPr>
              <a:t>)</a:t>
            </a:r>
            <a:br>
              <a:rPr lang="en-US" altLang="en-US" dirty="0">
                <a:sym typeface="Greek Symbols" pitchFamily="18" charset="2"/>
              </a:rPr>
            </a:br>
            <a:r>
              <a:rPr lang="en-US" altLang="en-US" dirty="0">
                <a:sym typeface="Greek Symbols" pitchFamily="18" charset="2"/>
              </a:rPr>
              <a:t>        provided </a:t>
            </a:r>
            <a:r>
              <a:rPr lang="en-US" altLang="en-US" dirty="0">
                <a:sym typeface="Symbol" panose="05050102010706020507" pitchFamily="18" charset="2"/>
              </a:rPr>
              <a:t></a:t>
            </a:r>
            <a:r>
              <a:rPr lang="en-US" altLang="en-US" baseline="-25000" dirty="0">
                <a:sym typeface="Symbol" panose="05050102010706020507" pitchFamily="18" charset="2"/>
              </a:rPr>
              <a:t>1</a:t>
            </a:r>
            <a:r>
              <a:rPr lang="en-US" altLang="en-US" dirty="0">
                <a:sym typeface="Symbol" panose="05050102010706020507" pitchFamily="18" charset="2"/>
              </a:rPr>
              <a:t> is null rejecting on </a:t>
            </a:r>
            <a:r>
              <a:rPr lang="en-US" altLang="en-US" i="1" dirty="0">
                <a:sym typeface="Greek Symbols" pitchFamily="18" charset="2"/>
              </a:rPr>
              <a:t>E</a:t>
            </a:r>
            <a:r>
              <a:rPr lang="en-US" altLang="en-US" baseline="-25000" dirty="0">
                <a:sym typeface="Greek Symbols" pitchFamily="18" charset="2"/>
              </a:rPr>
              <a:t>2</a:t>
            </a:r>
            <a:r>
              <a:rPr lang="en-US" altLang="en-US" dirty="0">
                <a:sym typeface="Greek Symbols" pitchFamily="18" charset="2"/>
              </a:rPr>
              <a:t> </a:t>
            </a:r>
          </a:p>
          <a:p>
            <a:pPr marL="457200" indent="-457200">
              <a:buFont typeface="Monotype Sorts" pitchFamily="-65" charset="2"/>
              <a:buAutoNum type="arabicPeriod" startAt="13"/>
              <a:tabLst>
                <a:tab pos="2279650" algn="l"/>
              </a:tabLst>
            </a:pPr>
            <a:endParaRPr lang="en-US" altLang="en-US" dirty="0">
              <a:sym typeface="Greek Symbols" pitchFamily="18" charset="2"/>
            </a:endParaRPr>
          </a:p>
          <a:p>
            <a:pPr marL="457200" indent="-457200">
              <a:buFont typeface="Monotype Sorts" pitchFamily="-65" charset="2"/>
              <a:buAutoNum type="arabicPeriod" startAt="13"/>
              <a:tabLst>
                <a:tab pos="2279650" algn="l"/>
              </a:tabLst>
            </a:pPr>
            <a:endParaRPr lang="en-US" altLang="en-US" dirty="0">
              <a:sym typeface="Greek Symbols" pitchFamily="18" charset="2"/>
            </a:endParaRPr>
          </a:p>
          <a:p>
            <a:pPr marL="457200" indent="-457200">
              <a:buFont typeface="Monotype Sorts" pitchFamily="-65" charset="2"/>
              <a:buAutoNum type="arabicPeriod" startAt="13"/>
              <a:tabLst>
                <a:tab pos="2279650" algn="l"/>
              </a:tabLst>
            </a:pPr>
            <a:endParaRPr lang="en-US" altLang="en-US" dirty="0">
              <a:sym typeface="Greek Symbols" pitchFamily="18" charset="2"/>
            </a:endParaRPr>
          </a:p>
          <a:p>
            <a:pPr marL="404813" indent="-404813">
              <a:buFont typeface="Monotype Sorts" pitchFamily="-65" charset="2"/>
              <a:buNone/>
              <a:tabLst>
                <a:tab pos="2279650" algn="l"/>
              </a:tabLst>
            </a:pPr>
            <a:endParaRPr lang="en-US" altLang="en-US" dirty="0">
              <a:sym typeface="Symbol" panose="05050102010706020507" pitchFamily="18" charset="2"/>
            </a:endParaRPr>
          </a:p>
          <a:p>
            <a:pPr marL="404813" indent="-404813">
              <a:buFont typeface="Monotype Sorts" pitchFamily="-65" charset="2"/>
              <a:buNone/>
              <a:tabLst>
                <a:tab pos="2279650" algn="l"/>
              </a:tabLst>
            </a:pPr>
            <a:endParaRPr lang="en-US" altLang="en-US" dirty="0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860106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2499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>
            <a:extLst>
              <a:ext uri="{FF2B5EF4-FFF2-40B4-BE49-F238E27FC236}">
                <a16:creationId xmlns:a16="http://schemas.microsoft.com/office/drawing/2014/main" id="{A280E042-4593-4F00-8739-31BAD978BB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Equivalence Rules (Cont.)</a:t>
            </a:r>
          </a:p>
        </p:txBody>
      </p:sp>
      <p:sp>
        <p:nvSpPr>
          <p:cNvPr id="362499" name="Rectangle 3">
            <a:extLst>
              <a:ext uri="{FF2B5EF4-FFF2-40B4-BE49-F238E27FC236}">
                <a16:creationId xmlns:a16="http://schemas.microsoft.com/office/drawing/2014/main" id="{CD34A2FB-3E13-4F06-8207-CFF2D7389F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3394" y="932534"/>
            <a:ext cx="7796463" cy="5642002"/>
          </a:xfrm>
        </p:spPr>
        <p:txBody>
          <a:bodyPr/>
          <a:lstStyle/>
          <a:p>
            <a:pPr marL="0" indent="0">
              <a:buNone/>
              <a:tabLst>
                <a:tab pos="2279650" algn="l"/>
              </a:tabLst>
            </a:pPr>
            <a:r>
              <a:rPr lang="en-US" altLang="en-US" dirty="0">
                <a:sym typeface="Greek Symbols" pitchFamily="18" charset="2"/>
              </a:rPr>
              <a:t>Note that several equivalences that hold for joins do not hold for </a:t>
            </a:r>
            <a:r>
              <a:rPr lang="en-US" altLang="en-US" dirty="0" err="1">
                <a:sym typeface="Greek Symbols" pitchFamily="18" charset="2"/>
              </a:rPr>
              <a:t>outerjoins</a:t>
            </a:r>
            <a:endParaRPr lang="en-US" altLang="en-US" dirty="0">
              <a:sym typeface="Greek Symbols" pitchFamily="18" charset="2"/>
            </a:endParaRPr>
          </a:p>
          <a:p>
            <a:pPr>
              <a:tabLst>
                <a:tab pos="2279650" algn="l"/>
              </a:tabLst>
            </a:pP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baseline="-25000" dirty="0">
                <a:sym typeface="Symbol" panose="05050102010706020507" pitchFamily="18" charset="2"/>
              </a:rPr>
              <a:t>year=2017</a:t>
            </a:r>
            <a:r>
              <a:rPr lang="en-US" altLang="en-US" dirty="0">
                <a:sym typeface="Greek Symbols" pitchFamily="18" charset="2"/>
              </a:rPr>
              <a:t>(</a:t>
            </a:r>
            <a:r>
              <a:rPr lang="en-US" altLang="en-US" i="1" dirty="0">
                <a:sym typeface="Greek Symbols" pitchFamily="18" charset="2"/>
              </a:rPr>
              <a:t>instructor</a:t>
            </a:r>
            <a:r>
              <a:rPr lang="en-US" altLang="en-US" dirty="0">
                <a:sym typeface="Greek Symbols" pitchFamily="18" charset="2"/>
              </a:rPr>
              <a:t> </a:t>
            </a:r>
            <a:r>
              <a:rPr lang="en-IN" dirty="0"/>
              <a:t>⟕</a:t>
            </a:r>
            <a:r>
              <a:rPr lang="en-US" altLang="en-US" dirty="0">
                <a:sym typeface="Greek Symbols" pitchFamily="18" charset="2"/>
              </a:rPr>
              <a:t> </a:t>
            </a:r>
            <a:r>
              <a:rPr lang="en-US" altLang="en-US" i="1" dirty="0">
                <a:sym typeface="Greek Symbols" pitchFamily="18" charset="2"/>
              </a:rPr>
              <a:t>teaches</a:t>
            </a:r>
            <a:r>
              <a:rPr lang="en-US" altLang="en-US" dirty="0">
                <a:sym typeface="Greek Symbols" pitchFamily="18" charset="2"/>
              </a:rPr>
              <a:t>)  </a:t>
            </a:r>
            <a:r>
              <a:rPr lang="en-IN" dirty="0"/>
              <a:t>≢</a:t>
            </a:r>
            <a:r>
              <a:rPr lang="en-US" altLang="en-US" dirty="0">
                <a:sym typeface="Greek Symbols" pitchFamily="18" charset="2"/>
              </a:rPr>
              <a:t> 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baseline="-25000" dirty="0">
                <a:sym typeface="Symbol" panose="05050102010706020507" pitchFamily="18" charset="2"/>
              </a:rPr>
              <a:t>year=2017</a:t>
            </a:r>
            <a:r>
              <a:rPr lang="en-US" altLang="en-US" dirty="0">
                <a:sym typeface="Greek Symbols" pitchFamily="18" charset="2"/>
              </a:rPr>
              <a:t>(</a:t>
            </a:r>
            <a:r>
              <a:rPr lang="en-US" altLang="en-US" i="1" dirty="0">
                <a:sym typeface="Greek Symbols" pitchFamily="18" charset="2"/>
              </a:rPr>
              <a:t>instructor</a:t>
            </a:r>
            <a:r>
              <a:rPr lang="en-US" altLang="en-US" dirty="0">
                <a:sym typeface="Greek Symbols" pitchFamily="18" charset="2"/>
              </a:rPr>
              <a:t> </a:t>
            </a:r>
            <a:r>
              <a:rPr lang="en-IN" altLang="en-US" dirty="0"/>
              <a:t>⨝</a:t>
            </a:r>
            <a:r>
              <a:rPr lang="en-US" altLang="en-US" dirty="0">
                <a:sym typeface="Greek Symbols" pitchFamily="18" charset="2"/>
              </a:rPr>
              <a:t> </a:t>
            </a:r>
            <a:r>
              <a:rPr lang="en-US" altLang="en-US" i="1" dirty="0">
                <a:sym typeface="Greek Symbols" pitchFamily="18" charset="2"/>
              </a:rPr>
              <a:t>teaches</a:t>
            </a:r>
            <a:r>
              <a:rPr lang="en-US" altLang="en-US" dirty="0">
                <a:sym typeface="Greek Symbols" pitchFamily="18" charset="2"/>
              </a:rPr>
              <a:t>)</a:t>
            </a:r>
          </a:p>
          <a:p>
            <a:pPr>
              <a:tabLst>
                <a:tab pos="2279650" algn="l"/>
              </a:tabLst>
            </a:pPr>
            <a:r>
              <a:rPr lang="en-US" altLang="en-US" dirty="0" err="1">
                <a:sym typeface="Greek Symbols" pitchFamily="18" charset="2"/>
              </a:rPr>
              <a:t>Outerjoins</a:t>
            </a:r>
            <a:r>
              <a:rPr lang="en-US" altLang="en-US" dirty="0">
                <a:sym typeface="Greek Symbols" pitchFamily="18" charset="2"/>
              </a:rPr>
              <a:t> are not associative</a:t>
            </a:r>
            <a:br>
              <a:rPr lang="en-US" altLang="en-US" dirty="0">
                <a:sym typeface="Greek Symbols" pitchFamily="18" charset="2"/>
              </a:rPr>
            </a:br>
            <a:r>
              <a:rPr lang="en-US" altLang="en-US" dirty="0">
                <a:sym typeface="Greek Symbols" pitchFamily="18" charset="2"/>
              </a:rPr>
              <a:t>               (r </a:t>
            </a:r>
            <a:r>
              <a:rPr lang="en-IN" dirty="0"/>
              <a:t>⟕ s) ⟕ t     ≢     r ⟕ (s ⟕ t)</a:t>
            </a:r>
          </a:p>
          <a:p>
            <a:pPr lvl="1">
              <a:tabLst>
                <a:tab pos="2279650" algn="l"/>
              </a:tabLst>
            </a:pPr>
            <a:r>
              <a:rPr lang="en-IN" altLang="en-US" dirty="0">
                <a:sym typeface="Greek Symbols" pitchFamily="18" charset="2"/>
              </a:rPr>
              <a:t>e.g. with r(A,B) = {(1,1),    s(B,C) = { (1,1)},   t(A,C) = { }</a:t>
            </a:r>
            <a:endParaRPr lang="en-US" altLang="en-US" dirty="0">
              <a:sym typeface="Greek Symbols" pitchFamily="18" charset="2"/>
            </a:endParaRPr>
          </a:p>
          <a:p>
            <a:pPr marL="457200" indent="-457200">
              <a:buFont typeface="Monotype Sorts" pitchFamily="-65" charset="2"/>
              <a:buAutoNum type="arabicPeriod" startAt="16"/>
              <a:tabLst>
                <a:tab pos="2279650" algn="l"/>
              </a:tabLst>
            </a:pPr>
            <a:endParaRPr lang="en-US" altLang="en-US" dirty="0">
              <a:sym typeface="Greek Symbols" pitchFamily="18" charset="2"/>
            </a:endParaRPr>
          </a:p>
          <a:p>
            <a:pPr marL="404813" indent="-404813">
              <a:buFont typeface="Monotype Sorts" pitchFamily="-65" charset="2"/>
              <a:buNone/>
              <a:tabLst>
                <a:tab pos="2279650" algn="l"/>
              </a:tabLst>
            </a:pPr>
            <a:endParaRPr lang="en-US" altLang="en-US" dirty="0">
              <a:sym typeface="Symbol" panose="05050102010706020507" pitchFamily="18" charset="2"/>
            </a:endParaRPr>
          </a:p>
          <a:p>
            <a:pPr marL="404813" indent="-404813">
              <a:buFont typeface="Monotype Sorts" pitchFamily="-65" charset="2"/>
              <a:buNone/>
              <a:tabLst>
                <a:tab pos="2279650" algn="l"/>
              </a:tabLst>
            </a:pPr>
            <a:endParaRPr lang="en-US" altLang="en-US" dirty="0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323210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2499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>
            <a:extLst>
              <a:ext uri="{FF2B5EF4-FFF2-40B4-BE49-F238E27FC236}">
                <a16:creationId xmlns:a16="http://schemas.microsoft.com/office/drawing/2014/main" id="{C9AB4C80-3C53-4A22-A0BA-9A1ABBED19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>
              <a:defRPr/>
            </a:pPr>
            <a:r>
              <a:rPr lang="en-US" alt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Transformation Example: Pushing Selections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F387F6FF-70A9-4D77-9B93-3363D0FBA8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44892" y="1102497"/>
            <a:ext cx="8036884" cy="5367972"/>
          </a:xfrm>
        </p:spPr>
        <p:txBody>
          <a:bodyPr/>
          <a:lstStyle/>
          <a:p>
            <a:r>
              <a:rPr lang="en-US" altLang="en-US" dirty="0"/>
              <a:t>Query:  Find the names of all instructors in the Music department, along with the titles of the courses that they teach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</a:t>
            </a:r>
            <a:r>
              <a:rPr lang="en-US" altLang="en-US" i="1" baseline="-25000" dirty="0">
                <a:sym typeface="Symbol" panose="05050102010706020507" pitchFamily="18" charset="2"/>
              </a:rPr>
              <a:t>name, title</a:t>
            </a:r>
            <a:r>
              <a:rPr lang="en-US" altLang="en-US" dirty="0">
                <a:sym typeface="Symbol" panose="05050102010706020507" pitchFamily="18" charset="2"/>
              </a:rPr>
              <a:t>(</a:t>
            </a:r>
            <a:r>
              <a:rPr lang="en-US" altLang="en-US" i="1" baseline="-25000" dirty="0">
                <a:sym typeface="Symbol" panose="05050102010706020507" pitchFamily="18" charset="2"/>
              </a:rPr>
              <a:t>dept_name= </a:t>
            </a:r>
            <a:r>
              <a:rPr lang="en-IN" altLang="ja-JP" i="1" baseline="-25000" dirty="0">
                <a:sym typeface="Symbol" panose="05050102010706020507" pitchFamily="18" charset="2"/>
              </a:rPr>
              <a:t>‘</a:t>
            </a:r>
            <a:r>
              <a:rPr lang="en-US" altLang="ja-JP" baseline="-25000" dirty="0">
                <a:sym typeface="Symbol" panose="05050102010706020507" pitchFamily="18" charset="2"/>
              </a:rPr>
              <a:t>Music</a:t>
            </a:r>
            <a:r>
              <a:rPr lang="en-IN" altLang="ja-JP" baseline="-25000" dirty="0">
                <a:sym typeface="Symbol" panose="05050102010706020507" pitchFamily="18" charset="2"/>
              </a:rPr>
              <a:t>’</a:t>
            </a:r>
            <a:r>
              <a:rPr lang="en-US" altLang="ja-JP" dirty="0">
                <a:sym typeface="Symbol" panose="05050102010706020507" pitchFamily="18" charset="2"/>
              </a:rPr>
              <a:t/>
            </a:r>
            <a:br>
              <a:rPr lang="en-US" altLang="ja-JP" dirty="0">
                <a:sym typeface="Symbol" panose="05050102010706020507" pitchFamily="18" charset="2"/>
              </a:rPr>
            </a:br>
            <a:r>
              <a:rPr lang="en-US" altLang="ja-JP" dirty="0">
                <a:sym typeface="Symbol" panose="05050102010706020507" pitchFamily="18" charset="2"/>
              </a:rPr>
              <a:t>               (</a:t>
            </a:r>
            <a:r>
              <a:rPr lang="en-US" altLang="ja-JP" i="1" dirty="0">
                <a:sym typeface="Symbol" panose="05050102010706020507" pitchFamily="18" charset="2"/>
              </a:rPr>
              <a:t>instructor </a:t>
            </a:r>
            <a:r>
              <a:rPr lang="en-IN" altLang="en-US" dirty="0">
                <a:ea typeface="MS PGothic" panose="020B0600070205080204" pitchFamily="34" charset="-128"/>
              </a:rPr>
              <a:t>⨝</a:t>
            </a:r>
            <a:r>
              <a:rPr lang="en-US" altLang="en-US" i="1" dirty="0">
                <a:ea typeface="MS PGothic" panose="020B0600070205080204" pitchFamily="34" charset="-128"/>
              </a:rPr>
              <a:t> </a:t>
            </a:r>
            <a:r>
              <a:rPr lang="en-US" altLang="ja-JP" i="1" dirty="0">
                <a:sym typeface="Symbol" panose="05050102010706020507" pitchFamily="18" charset="2"/>
              </a:rPr>
              <a:t>(teaches </a:t>
            </a:r>
            <a:r>
              <a:rPr lang="en-IN" altLang="en-US" dirty="0">
                <a:ea typeface="MS PGothic" panose="020B0600070205080204" pitchFamily="34" charset="-128"/>
              </a:rPr>
              <a:t>⨝</a:t>
            </a:r>
            <a:r>
              <a:rPr lang="en-US" altLang="ja-JP" i="1" dirty="0">
                <a:sym typeface="Symbol" panose="05050102010706020507" pitchFamily="18" charset="2"/>
              </a:rPr>
              <a:t> </a:t>
            </a:r>
            <a:r>
              <a:rPr lang="en-US" altLang="ja-JP" dirty="0">
                <a:sym typeface="Symbol" panose="05050102010706020507" pitchFamily="18" charset="2"/>
              </a:rPr>
              <a:t></a:t>
            </a:r>
            <a:r>
              <a:rPr lang="en-US" altLang="ja-JP" i="1" baseline="-25000" dirty="0" err="1">
                <a:sym typeface="Symbol" panose="05050102010706020507" pitchFamily="18" charset="2"/>
              </a:rPr>
              <a:t>course_id</a:t>
            </a:r>
            <a:r>
              <a:rPr lang="en-US" altLang="ja-JP" i="1" baseline="-25000" dirty="0">
                <a:sym typeface="Symbol" panose="05050102010706020507" pitchFamily="18" charset="2"/>
              </a:rPr>
              <a:t>, title</a:t>
            </a:r>
            <a:r>
              <a:rPr lang="en-US" altLang="ja-JP" i="1" dirty="0">
                <a:sym typeface="Symbol" panose="05050102010706020507" pitchFamily="18" charset="2"/>
              </a:rPr>
              <a:t> </a:t>
            </a:r>
            <a:r>
              <a:rPr lang="en-US" altLang="ja-JP" dirty="0">
                <a:sym typeface="Symbol" panose="05050102010706020507" pitchFamily="18" charset="2"/>
              </a:rPr>
              <a:t>(</a:t>
            </a:r>
            <a:r>
              <a:rPr lang="en-US" altLang="ja-JP" i="1" dirty="0">
                <a:sym typeface="Symbol" panose="05050102010706020507" pitchFamily="18" charset="2"/>
              </a:rPr>
              <a:t>course</a:t>
            </a:r>
            <a:r>
              <a:rPr lang="en-US" altLang="ja-JP" dirty="0">
                <a:sym typeface="Symbol" panose="05050102010706020507" pitchFamily="18" charset="2"/>
              </a:rPr>
              <a:t>))))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Transformation using rule 7a.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</a:t>
            </a:r>
            <a:r>
              <a:rPr lang="en-US" altLang="en-US" i="1" baseline="-25000" dirty="0">
                <a:sym typeface="Symbol" panose="05050102010706020507" pitchFamily="18" charset="2"/>
              </a:rPr>
              <a:t>name, title</a:t>
            </a:r>
            <a:r>
              <a:rPr lang="en-US" altLang="en-US" dirty="0">
                <a:sym typeface="Symbol" panose="05050102010706020507" pitchFamily="18" charset="2"/>
              </a:rPr>
              <a:t>((</a:t>
            </a:r>
            <a:r>
              <a:rPr lang="en-US" altLang="en-US" i="1" baseline="-25000" dirty="0">
                <a:sym typeface="Symbol" panose="05050102010706020507" pitchFamily="18" charset="2"/>
              </a:rPr>
              <a:t>dept_name= </a:t>
            </a:r>
            <a:r>
              <a:rPr lang="en-IN" altLang="en-US" i="1" baseline="-25000" dirty="0">
                <a:sym typeface="Symbol" panose="05050102010706020507" pitchFamily="18" charset="2"/>
              </a:rPr>
              <a:t>‘</a:t>
            </a:r>
            <a:r>
              <a:rPr lang="en-US" altLang="ja-JP" baseline="-25000" dirty="0">
                <a:sym typeface="Symbol" panose="05050102010706020507" pitchFamily="18" charset="2"/>
              </a:rPr>
              <a:t>Music</a:t>
            </a:r>
            <a:r>
              <a:rPr lang="en-IN" altLang="ja-JP" baseline="-25000" dirty="0">
                <a:sym typeface="Symbol" panose="05050102010706020507" pitchFamily="18" charset="2"/>
              </a:rPr>
              <a:t>’</a:t>
            </a:r>
            <a:r>
              <a:rPr lang="en-US" altLang="ja-JP" dirty="0">
                <a:sym typeface="Symbol" panose="05050102010706020507" pitchFamily="18" charset="2"/>
              </a:rPr>
              <a:t>(</a:t>
            </a:r>
            <a:r>
              <a:rPr lang="en-US" altLang="ja-JP" i="1" dirty="0">
                <a:sym typeface="Symbol" panose="05050102010706020507" pitchFamily="18" charset="2"/>
              </a:rPr>
              <a:t>instructor</a:t>
            </a:r>
            <a:r>
              <a:rPr lang="en-US" altLang="ja-JP" dirty="0">
                <a:sym typeface="Symbol" panose="05050102010706020507" pitchFamily="18" charset="2"/>
              </a:rPr>
              <a:t>))</a:t>
            </a:r>
            <a:r>
              <a:rPr lang="en-IN" altLang="en-US" dirty="0">
                <a:ea typeface="MS PGothic" panose="020B0600070205080204" pitchFamily="34" charset="-128"/>
              </a:rPr>
              <a:t> ⨝</a:t>
            </a:r>
            <a:r>
              <a:rPr lang="en-US" altLang="ja-JP" i="1" dirty="0">
                <a:sym typeface="Symbol" panose="05050102010706020507" pitchFamily="18" charset="2"/>
              </a:rPr>
              <a:t>   </a:t>
            </a:r>
            <a:br>
              <a:rPr lang="en-US" altLang="ja-JP" i="1" dirty="0">
                <a:sym typeface="Symbol" panose="05050102010706020507" pitchFamily="18" charset="2"/>
              </a:rPr>
            </a:br>
            <a:r>
              <a:rPr lang="en-US" altLang="ja-JP" i="1" dirty="0">
                <a:sym typeface="Symbol" panose="05050102010706020507" pitchFamily="18" charset="2"/>
              </a:rPr>
              <a:t>               (teaches </a:t>
            </a:r>
            <a:r>
              <a:rPr lang="en-IN" altLang="en-US" dirty="0">
                <a:ea typeface="MS PGothic" panose="020B0600070205080204" pitchFamily="34" charset="-128"/>
              </a:rPr>
              <a:t>⨝</a:t>
            </a:r>
            <a:r>
              <a:rPr lang="en-US" altLang="ja-JP" i="1" dirty="0">
                <a:sym typeface="Symbol" panose="05050102010706020507" pitchFamily="18" charset="2"/>
              </a:rPr>
              <a:t> </a:t>
            </a:r>
            <a:r>
              <a:rPr lang="en-US" altLang="ja-JP" dirty="0">
                <a:sym typeface="Symbol" panose="05050102010706020507" pitchFamily="18" charset="2"/>
              </a:rPr>
              <a:t></a:t>
            </a:r>
            <a:r>
              <a:rPr lang="en-US" altLang="ja-JP" i="1" baseline="-25000" dirty="0" err="1">
                <a:sym typeface="Symbol" panose="05050102010706020507" pitchFamily="18" charset="2"/>
              </a:rPr>
              <a:t>course_id</a:t>
            </a:r>
            <a:r>
              <a:rPr lang="en-US" altLang="ja-JP" i="1" baseline="-25000" dirty="0">
                <a:sym typeface="Symbol" panose="05050102010706020507" pitchFamily="18" charset="2"/>
              </a:rPr>
              <a:t>, title</a:t>
            </a:r>
            <a:r>
              <a:rPr lang="en-US" altLang="ja-JP" i="1" dirty="0">
                <a:sym typeface="Symbol" panose="05050102010706020507" pitchFamily="18" charset="2"/>
              </a:rPr>
              <a:t> </a:t>
            </a:r>
            <a:r>
              <a:rPr lang="en-US" altLang="ja-JP" dirty="0">
                <a:sym typeface="Symbol" panose="05050102010706020507" pitchFamily="18" charset="2"/>
              </a:rPr>
              <a:t>(</a:t>
            </a:r>
            <a:r>
              <a:rPr lang="en-US" altLang="ja-JP" i="1" dirty="0">
                <a:sym typeface="Symbol" panose="05050102010706020507" pitchFamily="18" charset="2"/>
              </a:rPr>
              <a:t>course</a:t>
            </a:r>
            <a:r>
              <a:rPr lang="en-US" altLang="ja-JP" dirty="0">
                <a:sym typeface="Symbol" panose="05050102010706020507" pitchFamily="18" charset="2"/>
              </a:rPr>
              <a:t>)))</a:t>
            </a:r>
          </a:p>
          <a:p>
            <a:endParaRPr lang="en-US" altLang="en-US" sz="1800" dirty="0" smtClean="0">
              <a:solidFill>
                <a:srgbClr val="0000FF"/>
              </a:solidFill>
              <a:sym typeface="Symbol" panose="05050102010706020507" pitchFamily="18" charset="2"/>
            </a:endParaRPr>
          </a:p>
          <a:p>
            <a:r>
              <a:rPr lang="en-US" altLang="en-US" sz="1800" dirty="0" smtClean="0">
                <a:solidFill>
                  <a:srgbClr val="0000FF"/>
                </a:solidFill>
                <a:sym typeface="Symbol" panose="05050102010706020507" pitchFamily="18" charset="2"/>
              </a:rPr>
              <a:t>Performing </a:t>
            </a:r>
            <a:r>
              <a:rPr lang="en-US" altLang="en-US" sz="1800" dirty="0">
                <a:solidFill>
                  <a:srgbClr val="0000FF"/>
                </a:solidFill>
                <a:sym typeface="Symbol" panose="05050102010706020507" pitchFamily="18" charset="2"/>
              </a:rPr>
              <a:t>the selection as early as possible reduces the size of the relation to be joined. </a:t>
            </a:r>
            <a:endParaRPr lang="en-US" altLang="en-US" sz="1800" baseline="-25000" dirty="0">
              <a:solidFill>
                <a:srgbClr val="0000FF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>
            <a:extLst>
              <a:ext uri="{FF2B5EF4-FFF2-40B4-BE49-F238E27FC236}">
                <a16:creationId xmlns:a16="http://schemas.microsoft.com/office/drawing/2014/main" id="{0C250CDD-B570-4445-BF3F-3A786F80E8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Example with Multiple Transformations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AE12142C-2886-40EF-8A6F-FA29A95487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44892" y="1102497"/>
            <a:ext cx="7757963" cy="5367972"/>
          </a:xfrm>
        </p:spPr>
        <p:txBody>
          <a:bodyPr/>
          <a:lstStyle/>
          <a:p>
            <a:r>
              <a:rPr lang="en-US" altLang="en-US" dirty="0"/>
              <a:t>Query: Find the names of all instructors in the Music department who have taught a course in 2017, along with the titles of the courses that they taught</a:t>
            </a:r>
          </a:p>
          <a:p>
            <a:pPr lvl="1">
              <a:lnSpc>
                <a:spcPct val="110000"/>
              </a:lnSpc>
            </a:pPr>
            <a:r>
              <a:rPr lang="en-US" altLang="en-US" dirty="0">
                <a:sym typeface="Symbol" panose="05050102010706020507" pitchFamily="18" charset="2"/>
              </a:rPr>
              <a:t></a:t>
            </a:r>
            <a:r>
              <a:rPr lang="en-US" altLang="en-US" i="1" baseline="-25000" dirty="0">
                <a:sym typeface="Symbol" panose="05050102010706020507" pitchFamily="18" charset="2"/>
              </a:rPr>
              <a:t>name, title</a:t>
            </a:r>
            <a:r>
              <a:rPr lang="en-US" altLang="en-US" dirty="0">
                <a:sym typeface="Symbol" panose="05050102010706020507" pitchFamily="18" charset="2"/>
              </a:rPr>
              <a:t>(</a:t>
            </a:r>
            <a:r>
              <a:rPr lang="en-US" altLang="en-US" i="1" baseline="-25000" dirty="0">
                <a:sym typeface="Symbol" panose="05050102010706020507" pitchFamily="18" charset="2"/>
              </a:rPr>
              <a:t>dept_name= </a:t>
            </a:r>
            <a:r>
              <a:rPr lang="en-IN" altLang="ja-JP" i="1" baseline="-25000" dirty="0">
                <a:sym typeface="Symbol" panose="05050102010706020507" pitchFamily="18" charset="2"/>
              </a:rPr>
              <a:t>"</a:t>
            </a:r>
            <a:r>
              <a:rPr lang="en-US" altLang="ja-JP" baseline="-25000" dirty="0">
                <a:sym typeface="Symbol" panose="05050102010706020507" pitchFamily="18" charset="2"/>
              </a:rPr>
              <a:t>Music</a:t>
            </a:r>
            <a:r>
              <a:rPr lang="en-IN" altLang="ja-JP" baseline="-25000" dirty="0">
                <a:sym typeface="Symbol" panose="05050102010706020507" pitchFamily="18" charset="2"/>
              </a:rPr>
              <a:t>”</a:t>
            </a:r>
            <a:r>
              <a:rPr lang="en-US" altLang="ja-JP" baseline="-25000" dirty="0">
                <a:sym typeface="Symbol" panose="05050102010706020507" pitchFamily="18" charset="2"/>
              </a:rPr>
              <a:t></a:t>
            </a:r>
            <a:r>
              <a:rPr lang="en-US" altLang="ja-JP" i="1" baseline="-25000" dirty="0">
                <a:sym typeface="Symbol" panose="05050102010706020507" pitchFamily="18" charset="2"/>
              </a:rPr>
              <a:t>year</a:t>
            </a:r>
            <a:r>
              <a:rPr lang="en-US" altLang="ja-JP" baseline="-25000" dirty="0">
                <a:sym typeface="Symbol" panose="05050102010706020507" pitchFamily="18" charset="2"/>
              </a:rPr>
              <a:t> = 2017</a:t>
            </a:r>
            <a:r>
              <a:rPr lang="en-US" altLang="ja-JP" dirty="0">
                <a:sym typeface="Symbol" panose="05050102010706020507" pitchFamily="18" charset="2"/>
              </a:rPr>
              <a:t/>
            </a:r>
            <a:br>
              <a:rPr lang="en-US" altLang="ja-JP" dirty="0">
                <a:sym typeface="Symbol" panose="05050102010706020507" pitchFamily="18" charset="2"/>
              </a:rPr>
            </a:br>
            <a:r>
              <a:rPr lang="en-US" altLang="ja-JP" dirty="0">
                <a:sym typeface="Symbol" panose="05050102010706020507" pitchFamily="18" charset="2"/>
              </a:rPr>
              <a:t>         (</a:t>
            </a:r>
            <a:r>
              <a:rPr lang="en-US" altLang="ja-JP" i="1" dirty="0">
                <a:sym typeface="Symbol" panose="05050102010706020507" pitchFamily="18" charset="2"/>
              </a:rPr>
              <a:t>instructor </a:t>
            </a:r>
            <a:r>
              <a:rPr lang="en-IN" altLang="en-US" dirty="0">
                <a:ea typeface="MS PGothic" panose="020B0600070205080204" pitchFamily="34" charset="-128"/>
              </a:rPr>
              <a:t>⨝</a:t>
            </a:r>
            <a:r>
              <a:rPr lang="en-US" altLang="en-US" i="1" dirty="0">
                <a:ea typeface="MS PGothic" panose="020B0600070205080204" pitchFamily="34" charset="-128"/>
              </a:rPr>
              <a:t> </a:t>
            </a:r>
            <a:r>
              <a:rPr lang="en-US" altLang="ja-JP" i="1" dirty="0">
                <a:sym typeface="Symbol" panose="05050102010706020507" pitchFamily="18" charset="2"/>
              </a:rPr>
              <a:t>(teaches </a:t>
            </a:r>
            <a:r>
              <a:rPr lang="en-IN" altLang="en-US" dirty="0">
                <a:ea typeface="MS PGothic" panose="020B0600070205080204" pitchFamily="34" charset="-128"/>
              </a:rPr>
              <a:t>⨝</a:t>
            </a:r>
            <a:r>
              <a:rPr lang="en-US" altLang="en-US" i="1" dirty="0">
                <a:ea typeface="MS PGothic" panose="020B0600070205080204" pitchFamily="34" charset="-128"/>
              </a:rPr>
              <a:t> </a:t>
            </a:r>
            <a:r>
              <a:rPr lang="en-US" altLang="ja-JP" dirty="0">
                <a:sym typeface="Symbol" panose="05050102010706020507" pitchFamily="18" charset="2"/>
              </a:rPr>
              <a:t></a:t>
            </a:r>
            <a:r>
              <a:rPr lang="en-US" altLang="ja-JP" i="1" baseline="-25000" dirty="0" err="1">
                <a:sym typeface="Symbol" panose="05050102010706020507" pitchFamily="18" charset="2"/>
              </a:rPr>
              <a:t>course_id</a:t>
            </a:r>
            <a:r>
              <a:rPr lang="en-US" altLang="ja-JP" i="1" baseline="-25000" dirty="0">
                <a:sym typeface="Symbol" panose="05050102010706020507" pitchFamily="18" charset="2"/>
              </a:rPr>
              <a:t>, title</a:t>
            </a:r>
            <a:r>
              <a:rPr lang="en-US" altLang="ja-JP" i="1" dirty="0">
                <a:sym typeface="Symbol" panose="05050102010706020507" pitchFamily="18" charset="2"/>
              </a:rPr>
              <a:t> </a:t>
            </a:r>
            <a:r>
              <a:rPr lang="en-US" altLang="ja-JP" dirty="0">
                <a:sym typeface="Symbol" panose="05050102010706020507" pitchFamily="18" charset="2"/>
              </a:rPr>
              <a:t>(</a:t>
            </a:r>
            <a:r>
              <a:rPr lang="en-US" altLang="ja-JP" i="1" dirty="0">
                <a:sym typeface="Symbol" panose="05050102010706020507" pitchFamily="18" charset="2"/>
              </a:rPr>
              <a:t>course</a:t>
            </a:r>
            <a:r>
              <a:rPr lang="en-US" altLang="ja-JP" dirty="0">
                <a:sym typeface="Symbol" panose="05050102010706020507" pitchFamily="18" charset="2"/>
              </a:rPr>
              <a:t>))))</a:t>
            </a:r>
            <a:endParaRPr lang="en-US" altLang="ja-JP" dirty="0"/>
          </a:p>
          <a:p>
            <a:endParaRPr lang="en-US" altLang="en-US" dirty="0" smtClean="0">
              <a:solidFill>
                <a:srgbClr val="0000FF"/>
              </a:solidFill>
              <a:sym typeface="Symbol" panose="05050102010706020507" pitchFamily="18" charset="2"/>
            </a:endParaRPr>
          </a:p>
          <a:p>
            <a:r>
              <a:rPr lang="en-US" altLang="en-US" dirty="0" smtClean="0">
                <a:solidFill>
                  <a:srgbClr val="0000FF"/>
                </a:solidFill>
                <a:sym typeface="Symbol" panose="05050102010706020507" pitchFamily="18" charset="2"/>
              </a:rPr>
              <a:t>Transformation </a:t>
            </a:r>
            <a:r>
              <a:rPr lang="en-US" altLang="en-US" dirty="0">
                <a:solidFill>
                  <a:srgbClr val="0000FF"/>
                </a:solidFill>
                <a:sym typeface="Symbol" panose="05050102010706020507" pitchFamily="18" charset="2"/>
              </a:rPr>
              <a:t>using join associatively (Rule 6a):</a:t>
            </a:r>
          </a:p>
          <a:p>
            <a:pPr lvl="1">
              <a:lnSpc>
                <a:spcPct val="120000"/>
              </a:lnSpc>
            </a:pPr>
            <a:r>
              <a:rPr lang="en-US" altLang="en-US" dirty="0">
                <a:sym typeface="Symbol" panose="05050102010706020507" pitchFamily="18" charset="2"/>
              </a:rPr>
              <a:t></a:t>
            </a:r>
            <a:r>
              <a:rPr lang="en-US" altLang="en-US" i="1" baseline="-25000" dirty="0">
                <a:sym typeface="Symbol" panose="05050102010706020507" pitchFamily="18" charset="2"/>
              </a:rPr>
              <a:t>name, title</a:t>
            </a:r>
            <a:r>
              <a:rPr lang="en-US" altLang="en-US" dirty="0">
                <a:sym typeface="Symbol" panose="05050102010706020507" pitchFamily="18" charset="2"/>
              </a:rPr>
              <a:t>(</a:t>
            </a:r>
            <a:r>
              <a:rPr lang="en-US" altLang="en-US" i="1" baseline="-25000" dirty="0">
                <a:sym typeface="Symbol" panose="05050102010706020507" pitchFamily="18" charset="2"/>
              </a:rPr>
              <a:t>dept_name= </a:t>
            </a:r>
            <a:r>
              <a:rPr lang="en-IN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baseline="-25000" dirty="0">
                <a:sym typeface="Symbol" panose="05050102010706020507" pitchFamily="18" charset="2"/>
              </a:rPr>
              <a:t>Music</a:t>
            </a:r>
            <a:r>
              <a:rPr lang="en-IN" altLang="ja-JP" baseline="-25000" dirty="0">
                <a:sym typeface="Symbol" panose="05050102010706020507" pitchFamily="18" charset="2"/>
              </a:rPr>
              <a:t>”</a:t>
            </a:r>
            <a:r>
              <a:rPr lang="en-US" altLang="ja-JP" baseline="-25000" dirty="0">
                <a:sym typeface="Symbol" panose="05050102010706020507" pitchFamily="18" charset="2"/>
              </a:rPr>
              <a:t></a:t>
            </a:r>
            <a:r>
              <a:rPr lang="en-US" altLang="ja-JP" i="1" baseline="-25000" dirty="0">
                <a:sym typeface="Symbol" panose="05050102010706020507" pitchFamily="18" charset="2"/>
              </a:rPr>
              <a:t>year</a:t>
            </a:r>
            <a:r>
              <a:rPr lang="en-US" altLang="ja-JP" baseline="-25000" dirty="0">
                <a:sym typeface="Symbol" panose="05050102010706020507" pitchFamily="18" charset="2"/>
              </a:rPr>
              <a:t> = 2017</a:t>
            </a:r>
            <a:r>
              <a:rPr lang="en-US" altLang="ja-JP" dirty="0">
                <a:sym typeface="Symbol" panose="05050102010706020507" pitchFamily="18" charset="2"/>
              </a:rPr>
              <a:t/>
            </a:r>
            <a:br>
              <a:rPr lang="en-US" altLang="ja-JP" dirty="0">
                <a:sym typeface="Symbol" panose="05050102010706020507" pitchFamily="18" charset="2"/>
              </a:rPr>
            </a:br>
            <a:r>
              <a:rPr lang="en-US" altLang="ja-JP" dirty="0">
                <a:sym typeface="Symbol" panose="05050102010706020507" pitchFamily="18" charset="2"/>
              </a:rPr>
              <a:t>         ((</a:t>
            </a:r>
            <a:r>
              <a:rPr lang="en-US" altLang="ja-JP" i="1" dirty="0">
                <a:sym typeface="Symbol" panose="05050102010706020507" pitchFamily="18" charset="2"/>
              </a:rPr>
              <a:t>instructor </a:t>
            </a:r>
            <a:r>
              <a:rPr lang="en-IN" altLang="en-US" dirty="0">
                <a:ea typeface="MS PGothic" panose="020B0600070205080204" pitchFamily="34" charset="-128"/>
              </a:rPr>
              <a:t>⨝</a:t>
            </a:r>
            <a:r>
              <a:rPr lang="en-US" altLang="en-US" i="1" dirty="0">
                <a:ea typeface="MS PGothic" panose="020B0600070205080204" pitchFamily="34" charset="-128"/>
              </a:rPr>
              <a:t> </a:t>
            </a:r>
            <a:r>
              <a:rPr lang="en-US" altLang="ja-JP" i="1" dirty="0">
                <a:sym typeface="Symbol" panose="05050102010706020507" pitchFamily="18" charset="2"/>
              </a:rPr>
              <a:t>teaches)</a:t>
            </a:r>
            <a:r>
              <a:rPr lang="en-IN" altLang="en-US" dirty="0">
                <a:ea typeface="MS PGothic" panose="020B0600070205080204" pitchFamily="34" charset="-128"/>
              </a:rPr>
              <a:t> ⨝</a:t>
            </a:r>
            <a:r>
              <a:rPr lang="en-US" altLang="ja-JP" i="1" dirty="0">
                <a:sym typeface="Symbol" panose="05050102010706020507" pitchFamily="18" charset="2"/>
              </a:rPr>
              <a:t>  </a:t>
            </a:r>
            <a:r>
              <a:rPr lang="en-US" altLang="ja-JP" dirty="0">
                <a:sym typeface="Symbol" panose="05050102010706020507" pitchFamily="18" charset="2"/>
              </a:rPr>
              <a:t></a:t>
            </a:r>
            <a:r>
              <a:rPr lang="en-US" altLang="ja-JP" i="1" baseline="-25000" dirty="0" err="1">
                <a:sym typeface="Symbol" panose="05050102010706020507" pitchFamily="18" charset="2"/>
              </a:rPr>
              <a:t>course_id</a:t>
            </a:r>
            <a:r>
              <a:rPr lang="en-US" altLang="ja-JP" i="1" baseline="-25000" dirty="0">
                <a:sym typeface="Symbol" panose="05050102010706020507" pitchFamily="18" charset="2"/>
              </a:rPr>
              <a:t>, title</a:t>
            </a:r>
            <a:r>
              <a:rPr lang="en-US" altLang="ja-JP" i="1" dirty="0">
                <a:sym typeface="Symbol" panose="05050102010706020507" pitchFamily="18" charset="2"/>
              </a:rPr>
              <a:t> </a:t>
            </a:r>
            <a:r>
              <a:rPr lang="en-US" altLang="ja-JP" dirty="0">
                <a:sym typeface="Symbol" panose="05050102010706020507" pitchFamily="18" charset="2"/>
              </a:rPr>
              <a:t>(</a:t>
            </a:r>
            <a:r>
              <a:rPr lang="en-US" altLang="ja-JP" i="1" dirty="0">
                <a:sym typeface="Symbol" panose="05050102010706020507" pitchFamily="18" charset="2"/>
              </a:rPr>
              <a:t>course</a:t>
            </a:r>
            <a:r>
              <a:rPr lang="en-US" altLang="ja-JP" dirty="0">
                <a:sym typeface="Symbol" panose="05050102010706020507" pitchFamily="18" charset="2"/>
              </a:rPr>
              <a:t>)))</a:t>
            </a:r>
          </a:p>
          <a:p>
            <a:endParaRPr lang="en-US" altLang="en-US" dirty="0" smtClean="0">
              <a:sym typeface="Symbol" panose="05050102010706020507" pitchFamily="18" charset="2"/>
            </a:endParaRPr>
          </a:p>
          <a:p>
            <a:r>
              <a:rPr lang="en-US" altLang="en-US" dirty="0" smtClean="0">
                <a:sym typeface="Symbol" panose="05050102010706020507" pitchFamily="18" charset="2"/>
              </a:rPr>
              <a:t>Second </a:t>
            </a:r>
            <a:r>
              <a:rPr lang="en-US" altLang="en-US" dirty="0">
                <a:sym typeface="Symbol" panose="05050102010706020507" pitchFamily="18" charset="2"/>
              </a:rPr>
              <a:t>form provides an opportunity to apply the </a:t>
            </a:r>
            <a:r>
              <a:rPr lang="ja-JP" altLang="en-US" dirty="0">
                <a:sym typeface="Symbol" panose="05050102010706020507" pitchFamily="18" charset="2"/>
              </a:rPr>
              <a:t>“</a:t>
            </a:r>
            <a:r>
              <a:rPr lang="en-US" altLang="ja-JP" dirty="0">
                <a:solidFill>
                  <a:srgbClr val="0000FF"/>
                </a:solidFill>
                <a:sym typeface="Symbol" panose="05050102010706020507" pitchFamily="18" charset="2"/>
              </a:rPr>
              <a:t>perform selections early</a:t>
            </a:r>
            <a:r>
              <a:rPr lang="ja-JP" altLang="en-US" dirty="0">
                <a:sym typeface="Symbol" panose="05050102010706020507" pitchFamily="18" charset="2"/>
              </a:rPr>
              <a:t>”</a:t>
            </a:r>
            <a:r>
              <a:rPr lang="en-US" altLang="ja-JP" dirty="0">
                <a:sym typeface="Symbol" panose="05050102010706020507" pitchFamily="18" charset="2"/>
              </a:rPr>
              <a:t> rule, resulting in the subexpression</a:t>
            </a:r>
          </a:p>
          <a:p>
            <a:pPr>
              <a:buFont typeface="Monotype Sorts" pitchFamily="-65" charset="2"/>
              <a:buNone/>
            </a:pPr>
            <a:r>
              <a:rPr lang="en-US" altLang="en-US" dirty="0">
                <a:sym typeface="Symbol" panose="05050102010706020507" pitchFamily="18" charset="2"/>
              </a:rPr>
              <a:t>           </a:t>
            </a:r>
            <a:r>
              <a:rPr lang="en-US" altLang="en-US" i="1" baseline="-25000" dirty="0">
                <a:sym typeface="Symbol" panose="05050102010706020507" pitchFamily="18" charset="2"/>
              </a:rPr>
              <a:t>dept_name = </a:t>
            </a:r>
            <a:r>
              <a:rPr lang="en-IN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baseline="-25000" dirty="0">
                <a:sym typeface="Symbol" panose="05050102010706020507" pitchFamily="18" charset="2"/>
              </a:rPr>
              <a:t>Music</a:t>
            </a:r>
            <a:r>
              <a:rPr lang="en-IN" altLang="ja-JP" baseline="-25000" dirty="0">
                <a:sym typeface="Symbol" panose="05050102010706020507" pitchFamily="18" charset="2"/>
              </a:rPr>
              <a:t>”</a:t>
            </a:r>
            <a:r>
              <a:rPr lang="en-US" altLang="ja-JP" baseline="-25000" dirty="0">
                <a:sym typeface="Symbol" panose="05050102010706020507" pitchFamily="18" charset="2"/>
              </a:rPr>
              <a:t> </a:t>
            </a:r>
            <a:r>
              <a:rPr lang="en-US" altLang="ja-JP" dirty="0">
                <a:sym typeface="Symbol" panose="05050102010706020507" pitchFamily="18" charset="2"/>
              </a:rPr>
              <a:t>(</a:t>
            </a:r>
            <a:r>
              <a:rPr lang="en-US" altLang="ja-JP" i="1" dirty="0">
                <a:sym typeface="Symbol" panose="05050102010706020507" pitchFamily="18" charset="2"/>
              </a:rPr>
              <a:t>instructor</a:t>
            </a:r>
            <a:r>
              <a:rPr lang="en-US" altLang="ja-JP" dirty="0">
                <a:sym typeface="Symbol" panose="05050102010706020507" pitchFamily="18" charset="2"/>
              </a:rPr>
              <a:t>) </a:t>
            </a:r>
            <a:r>
              <a:rPr lang="en-IN" altLang="en-US" dirty="0">
                <a:ea typeface="MS PGothic" panose="020B0600070205080204" pitchFamily="34" charset="-128"/>
              </a:rPr>
              <a:t>⨝</a:t>
            </a:r>
            <a:r>
              <a:rPr lang="en-US" altLang="ja-JP" dirty="0">
                <a:sym typeface="Symbol" panose="05050102010706020507" pitchFamily="18" charset="2"/>
              </a:rPr>
              <a:t>  </a:t>
            </a:r>
            <a:r>
              <a:rPr lang="en-US" altLang="ja-JP" i="1" baseline="-25000" dirty="0">
                <a:sym typeface="Symbol" panose="05050102010706020507" pitchFamily="18" charset="2"/>
              </a:rPr>
              <a:t>year = 2017</a:t>
            </a:r>
            <a:r>
              <a:rPr lang="en-US" altLang="ja-JP" dirty="0">
                <a:sym typeface="Symbol" panose="05050102010706020507" pitchFamily="18" charset="2"/>
              </a:rPr>
              <a:t> (</a:t>
            </a:r>
            <a:r>
              <a:rPr lang="en-US" altLang="ja-JP" i="1" dirty="0">
                <a:sym typeface="Symbol" panose="05050102010706020507" pitchFamily="18" charset="2"/>
              </a:rPr>
              <a:t>teaches</a:t>
            </a:r>
            <a:r>
              <a:rPr lang="en-US" altLang="ja-JP" dirty="0">
                <a:sym typeface="Symbol" panose="05050102010706020507" pitchFamily="18" charset="2"/>
              </a:rPr>
              <a:t>)</a:t>
            </a:r>
          </a:p>
          <a:p>
            <a:pPr>
              <a:buFont typeface="Monotype Sorts" pitchFamily="-65" charset="2"/>
              <a:buNone/>
            </a:pPr>
            <a:endParaRPr lang="en-US" altLang="en-US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6" name="Rectangle 2">
            <a:extLst>
              <a:ext uri="{FF2B5EF4-FFF2-40B4-BE49-F238E27FC236}">
                <a16:creationId xmlns:a16="http://schemas.microsoft.com/office/drawing/2014/main" id="{4E491A4A-3C0A-4D6B-A8E6-DAADB455E4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Multiple Transformations (Cont.)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3E806A7-61B5-4CE6-B8A7-DDF13E6D67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458393" y="1301164"/>
            <a:ext cx="8227213" cy="361025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>
            <a:extLst>
              <a:ext uri="{FF2B5EF4-FFF2-40B4-BE49-F238E27FC236}">
                <a16:creationId xmlns:a16="http://schemas.microsoft.com/office/drawing/2014/main" id="{8DA5B014-9A7D-4BC3-B609-3F8C59E676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>
              <a:defRPr/>
            </a:pPr>
            <a:r>
              <a:rPr lang="en-US" alt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Transformation Example: Pushing Projections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FFF184D8-343D-426D-8603-75BB32384B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00968" y="1102497"/>
            <a:ext cx="8943032" cy="536797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Consider: </a:t>
            </a:r>
            <a:r>
              <a:rPr lang="en-US" altLang="en-US" i="1" baseline="-25000" dirty="0">
                <a:sym typeface="Symbol" panose="05050102010706020507" pitchFamily="18" charset="2"/>
              </a:rPr>
              <a:t>name, title</a:t>
            </a:r>
            <a:r>
              <a:rPr lang="en-US" altLang="en-US" dirty="0">
                <a:sym typeface="Symbol" panose="05050102010706020507" pitchFamily="18" charset="2"/>
              </a:rPr>
              <a:t>(</a:t>
            </a:r>
            <a:r>
              <a:rPr lang="en-US" altLang="en-US" i="1" baseline="-25000" dirty="0">
                <a:sym typeface="Symbol" panose="05050102010706020507" pitchFamily="18" charset="2"/>
              </a:rPr>
              <a:t>dept_name= 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baseline="-25000" dirty="0">
                <a:sym typeface="Symbol" panose="05050102010706020507" pitchFamily="18" charset="2"/>
              </a:rPr>
              <a:t>Music</a:t>
            </a:r>
            <a:r>
              <a:rPr lang="ja-JP" altLang="en-US" baseline="-25000" dirty="0">
                <a:sym typeface="Symbol" panose="05050102010706020507" pitchFamily="18" charset="2"/>
              </a:rPr>
              <a:t>”</a:t>
            </a:r>
            <a:r>
              <a:rPr lang="en-US" altLang="ja-JP" baseline="-25000" dirty="0">
                <a:sym typeface="Symbol" panose="05050102010706020507" pitchFamily="18" charset="2"/>
              </a:rPr>
              <a:t> </a:t>
            </a:r>
            <a:r>
              <a:rPr lang="en-US" altLang="ja-JP" dirty="0">
                <a:sym typeface="Symbol" panose="05050102010706020507" pitchFamily="18" charset="2"/>
              </a:rPr>
              <a:t>(</a:t>
            </a:r>
            <a:r>
              <a:rPr lang="en-US" altLang="ja-JP" i="1" dirty="0">
                <a:sym typeface="Symbol" panose="05050102010706020507" pitchFamily="18" charset="2"/>
              </a:rPr>
              <a:t>instructor) </a:t>
            </a:r>
            <a:r>
              <a:rPr lang="en-IN" altLang="en-US" dirty="0">
                <a:ea typeface="MS PGothic" panose="020B0600070205080204" pitchFamily="34" charset="-128"/>
              </a:rPr>
              <a:t>⨝</a:t>
            </a:r>
            <a:r>
              <a:rPr lang="en-US" altLang="en-US" i="1" dirty="0">
                <a:ea typeface="MS PGothic" panose="020B0600070205080204" pitchFamily="34" charset="-128"/>
              </a:rPr>
              <a:t> </a:t>
            </a:r>
            <a:r>
              <a:rPr lang="en-US" altLang="ja-JP" i="1" dirty="0">
                <a:sym typeface="Symbol" panose="05050102010706020507" pitchFamily="18" charset="2"/>
              </a:rPr>
              <a:t>teaches</a:t>
            </a:r>
            <a:r>
              <a:rPr lang="en-US" altLang="ja-JP" dirty="0">
                <a:sym typeface="Symbol" panose="05050102010706020507" pitchFamily="18" charset="2"/>
              </a:rPr>
              <a:t>) </a:t>
            </a:r>
            <a:r>
              <a:rPr lang="en-US" altLang="ja-JP" i="1" dirty="0">
                <a:sym typeface="Symbol" panose="05050102010706020507" pitchFamily="18" charset="2"/>
              </a:rPr>
              <a:t/>
            </a:r>
            <a:br>
              <a:rPr lang="en-US" altLang="ja-JP" i="1" dirty="0">
                <a:sym typeface="Symbol" panose="05050102010706020507" pitchFamily="18" charset="2"/>
              </a:rPr>
            </a:br>
            <a:r>
              <a:rPr lang="en-US" altLang="ja-JP" i="1" dirty="0">
                <a:sym typeface="Symbol" panose="05050102010706020507" pitchFamily="18" charset="2"/>
              </a:rPr>
              <a:t>                                   </a:t>
            </a:r>
            <a:r>
              <a:rPr lang="en-IN" altLang="en-US" dirty="0">
                <a:ea typeface="MS PGothic" panose="020B0600070205080204" pitchFamily="34" charset="-128"/>
              </a:rPr>
              <a:t>⨝</a:t>
            </a:r>
            <a:r>
              <a:rPr lang="en-US" altLang="ja-JP" i="1" dirty="0">
                <a:sym typeface="Symbol" panose="05050102010706020507" pitchFamily="18" charset="2"/>
              </a:rPr>
              <a:t>  </a:t>
            </a:r>
            <a:r>
              <a:rPr lang="en-US" altLang="ja-JP" dirty="0">
                <a:sym typeface="Symbol" panose="05050102010706020507" pitchFamily="18" charset="2"/>
              </a:rPr>
              <a:t></a:t>
            </a:r>
            <a:r>
              <a:rPr lang="en-US" altLang="ja-JP" i="1" baseline="-25000" dirty="0" err="1">
                <a:sym typeface="Symbol" panose="05050102010706020507" pitchFamily="18" charset="2"/>
              </a:rPr>
              <a:t>course_id</a:t>
            </a:r>
            <a:r>
              <a:rPr lang="en-US" altLang="ja-JP" i="1" baseline="-25000" dirty="0">
                <a:sym typeface="Symbol" panose="05050102010706020507" pitchFamily="18" charset="2"/>
              </a:rPr>
              <a:t>, title</a:t>
            </a:r>
            <a:r>
              <a:rPr lang="en-US" altLang="ja-JP" i="1" dirty="0">
                <a:sym typeface="Symbol" panose="05050102010706020507" pitchFamily="18" charset="2"/>
              </a:rPr>
              <a:t> </a:t>
            </a:r>
            <a:r>
              <a:rPr lang="en-US" altLang="ja-JP" dirty="0">
                <a:sym typeface="Symbol" panose="05050102010706020507" pitchFamily="18" charset="2"/>
              </a:rPr>
              <a:t>(</a:t>
            </a:r>
            <a:r>
              <a:rPr lang="en-US" altLang="ja-JP" i="1" dirty="0">
                <a:sym typeface="Symbol" panose="05050102010706020507" pitchFamily="18" charset="2"/>
              </a:rPr>
              <a:t>course</a:t>
            </a:r>
            <a:r>
              <a:rPr lang="en-US" altLang="ja-JP" dirty="0">
                <a:sym typeface="Symbol" panose="05050102010706020507" pitchFamily="18" charset="2"/>
              </a:rPr>
              <a:t>))))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When we compute</a:t>
            </a:r>
          </a:p>
          <a:p>
            <a:pPr>
              <a:lnSpc>
                <a:spcPct val="90000"/>
              </a:lnSpc>
              <a:buFont typeface="Monotype Sorts" pitchFamily="-65" charset="2"/>
              <a:buNone/>
            </a:pPr>
            <a:r>
              <a:rPr lang="en-US" altLang="en-US" dirty="0"/>
              <a:t>		(</a:t>
            </a:r>
            <a:r>
              <a:rPr lang="en-US" altLang="en-US" dirty="0">
                <a:sym typeface="Symbol" panose="05050102010706020507" pitchFamily="18" charset="2"/>
              </a:rPr>
              <a:t></a:t>
            </a:r>
            <a:r>
              <a:rPr lang="en-US" altLang="en-US" i="1" baseline="-25000" dirty="0">
                <a:sym typeface="Symbol" panose="05050102010706020507" pitchFamily="18" charset="2"/>
              </a:rPr>
              <a:t>dept_name</a:t>
            </a:r>
            <a:r>
              <a:rPr lang="en-US" altLang="en-US" baseline="-25000" dirty="0">
                <a:sym typeface="Symbol" panose="05050102010706020507" pitchFamily="18" charset="2"/>
              </a:rPr>
              <a:t> = </a:t>
            </a:r>
            <a:r>
              <a:rPr lang="ja-JP" altLang="en-US" baseline="-25000" dirty="0">
                <a:sym typeface="Symbol" panose="05050102010706020507" pitchFamily="18" charset="2"/>
              </a:rPr>
              <a:t>“</a:t>
            </a:r>
            <a:r>
              <a:rPr lang="en-US" altLang="ja-JP" baseline="-25000" dirty="0">
                <a:sym typeface="Symbol" panose="05050102010706020507" pitchFamily="18" charset="2"/>
              </a:rPr>
              <a:t>Music</a:t>
            </a:r>
            <a:r>
              <a:rPr lang="ja-JP" altLang="en-US" baseline="-25000" dirty="0">
                <a:sym typeface="Symbol" panose="05050102010706020507" pitchFamily="18" charset="2"/>
              </a:rPr>
              <a:t>”</a:t>
            </a:r>
            <a:r>
              <a:rPr lang="en-US" altLang="ja-JP" dirty="0">
                <a:sym typeface="Symbol" panose="05050102010706020507" pitchFamily="18" charset="2"/>
              </a:rPr>
              <a:t> (</a:t>
            </a:r>
            <a:r>
              <a:rPr lang="en-US" altLang="ja-JP" i="1" dirty="0">
                <a:sym typeface="Symbol" panose="05050102010706020507" pitchFamily="18" charset="2"/>
              </a:rPr>
              <a:t>instructor</a:t>
            </a:r>
            <a:r>
              <a:rPr lang="en-US" altLang="ja-JP" dirty="0">
                <a:sym typeface="Symbol" panose="05050102010706020507" pitchFamily="18" charset="2"/>
              </a:rPr>
              <a:t> </a:t>
            </a:r>
            <a:r>
              <a:rPr lang="en-IN" altLang="en-US" dirty="0">
                <a:ea typeface="MS PGothic" panose="020B0600070205080204" pitchFamily="34" charset="-128"/>
              </a:rPr>
              <a:t>⨝</a:t>
            </a:r>
            <a:r>
              <a:rPr lang="en-US" altLang="ja-JP" dirty="0">
                <a:sym typeface="Symbol" panose="05050102010706020507" pitchFamily="18" charset="2"/>
              </a:rPr>
              <a:t> </a:t>
            </a:r>
            <a:r>
              <a:rPr lang="en-US" altLang="ja-JP" i="1" dirty="0">
                <a:sym typeface="Symbol" panose="05050102010706020507" pitchFamily="18" charset="2"/>
              </a:rPr>
              <a:t>teaches</a:t>
            </a:r>
            <a:r>
              <a:rPr lang="en-US" altLang="ja-JP" dirty="0">
                <a:sym typeface="Symbol" panose="05050102010706020507" pitchFamily="18" charset="2"/>
              </a:rPr>
              <a:t>)</a:t>
            </a:r>
          </a:p>
          <a:p>
            <a:pPr>
              <a:lnSpc>
                <a:spcPct val="90000"/>
              </a:lnSpc>
              <a:buFont typeface="Monotype Sorts" pitchFamily="-65" charset="2"/>
              <a:buNone/>
            </a:pPr>
            <a:r>
              <a:rPr lang="en-US" altLang="en-US" dirty="0">
                <a:sym typeface="Symbol" panose="05050102010706020507" pitchFamily="18" charset="2"/>
              </a:rPr>
              <a:t/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>we obtain a relation whose schema is:</a:t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ID, name, dept_name, salary, </a:t>
            </a:r>
            <a:r>
              <a:rPr lang="en-US" altLang="en-US" i="1" dirty="0" err="1">
                <a:sym typeface="Symbol" panose="05050102010706020507" pitchFamily="18" charset="2"/>
              </a:rPr>
              <a:t>course_id</a:t>
            </a:r>
            <a:r>
              <a:rPr lang="en-US" altLang="en-US" i="1" dirty="0">
                <a:sym typeface="Symbol" panose="05050102010706020507" pitchFamily="18" charset="2"/>
              </a:rPr>
              <a:t>, </a:t>
            </a:r>
            <a:r>
              <a:rPr lang="en-US" altLang="en-US" i="1" dirty="0" err="1">
                <a:sym typeface="Symbol" panose="05050102010706020507" pitchFamily="18" charset="2"/>
              </a:rPr>
              <a:t>sec_id</a:t>
            </a:r>
            <a:r>
              <a:rPr lang="en-US" altLang="en-US" i="1" dirty="0">
                <a:sym typeface="Symbol" panose="05050102010706020507" pitchFamily="18" charset="2"/>
              </a:rPr>
              <a:t>, semester, year)</a:t>
            </a:r>
          </a:p>
          <a:p>
            <a:pPr>
              <a:lnSpc>
                <a:spcPct val="90000"/>
              </a:lnSpc>
            </a:pPr>
            <a:endParaRPr lang="en-US" altLang="en-US" dirty="0" smtClean="0"/>
          </a:p>
          <a:p>
            <a:pPr>
              <a:lnSpc>
                <a:spcPct val="90000"/>
              </a:lnSpc>
            </a:pPr>
            <a:r>
              <a:rPr lang="en-US" altLang="en-US" dirty="0" smtClean="0"/>
              <a:t>Push </a:t>
            </a:r>
            <a:r>
              <a:rPr lang="en-US" altLang="en-US" dirty="0"/>
              <a:t>projections using equivalence rules 8a and 8b; eliminate unneeded attributes from intermediate results to get</a:t>
            </a:r>
            <a:r>
              <a:rPr lang="en-US" altLang="en-US" dirty="0" smtClean="0"/>
              <a:t>:</a:t>
            </a:r>
            <a:endParaRPr lang="en-US" altLang="en-US" dirty="0"/>
          </a:p>
          <a:p>
            <a:pPr marL="0" indent="0">
              <a:lnSpc>
                <a:spcPct val="90000"/>
              </a:lnSpc>
              <a:buNone/>
            </a:pPr>
            <a:r>
              <a:rPr lang="en-US" altLang="en-US" dirty="0" smtClean="0">
                <a:sym typeface="Symbol" panose="05050102010706020507" pitchFamily="18" charset="2"/>
              </a:rPr>
              <a:t></a:t>
            </a:r>
            <a:r>
              <a:rPr lang="en-US" altLang="en-US" i="1" baseline="-25000" dirty="0">
                <a:sym typeface="Symbol" panose="05050102010706020507" pitchFamily="18" charset="2"/>
              </a:rPr>
              <a:t>name, title</a:t>
            </a:r>
            <a:r>
              <a:rPr lang="en-US" altLang="en-US" dirty="0">
                <a:sym typeface="Symbol" panose="05050102010706020507" pitchFamily="18" charset="2"/>
              </a:rPr>
              <a:t>(</a:t>
            </a:r>
            <a:r>
              <a:rPr lang="en-US" altLang="en-US" i="1" baseline="-25000" dirty="0">
                <a:sym typeface="Symbol" panose="05050102010706020507" pitchFamily="18" charset="2"/>
              </a:rPr>
              <a:t>name, 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course_id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dirty="0" smtClean="0">
                <a:sym typeface="Symbol" panose="05050102010706020507" pitchFamily="18" charset="2"/>
              </a:rPr>
              <a:t>(</a:t>
            </a:r>
            <a:r>
              <a:rPr lang="en-US" altLang="en-US" i="1" baseline="-25000" dirty="0">
                <a:sym typeface="Symbol" panose="05050102010706020507" pitchFamily="18" charset="2"/>
              </a:rPr>
              <a:t>dept_name= 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baseline="-25000" dirty="0">
                <a:sym typeface="Symbol" panose="05050102010706020507" pitchFamily="18" charset="2"/>
              </a:rPr>
              <a:t>Music</a:t>
            </a:r>
            <a:r>
              <a:rPr lang="ja-JP" altLang="en-US" baseline="-25000" dirty="0">
                <a:sym typeface="Symbol" panose="05050102010706020507" pitchFamily="18" charset="2"/>
              </a:rPr>
              <a:t>”</a:t>
            </a:r>
            <a:r>
              <a:rPr lang="en-US" altLang="ja-JP" baseline="-25000" dirty="0">
                <a:sym typeface="Symbol" panose="05050102010706020507" pitchFamily="18" charset="2"/>
              </a:rPr>
              <a:t> </a:t>
            </a:r>
            <a:r>
              <a:rPr lang="en-US" altLang="ja-JP" dirty="0">
                <a:sym typeface="Symbol" panose="05050102010706020507" pitchFamily="18" charset="2"/>
              </a:rPr>
              <a:t>(</a:t>
            </a:r>
            <a:r>
              <a:rPr lang="en-US" altLang="ja-JP" i="1" dirty="0">
                <a:sym typeface="Symbol" panose="05050102010706020507" pitchFamily="18" charset="2"/>
              </a:rPr>
              <a:t>instructor) </a:t>
            </a:r>
            <a:r>
              <a:rPr lang="en-IN" altLang="en-US" dirty="0">
                <a:ea typeface="MS PGothic" panose="020B0600070205080204" pitchFamily="34" charset="-128"/>
              </a:rPr>
              <a:t>⨝</a:t>
            </a:r>
            <a:r>
              <a:rPr lang="en-US" altLang="en-US" i="1" dirty="0">
                <a:ea typeface="MS PGothic" panose="020B0600070205080204" pitchFamily="34" charset="-128"/>
              </a:rPr>
              <a:t> </a:t>
            </a:r>
            <a:r>
              <a:rPr lang="en-US" altLang="ja-JP" i="1" dirty="0">
                <a:sym typeface="Symbol" panose="05050102010706020507" pitchFamily="18" charset="2"/>
              </a:rPr>
              <a:t>teaches</a:t>
            </a:r>
            <a:r>
              <a:rPr lang="en-US" altLang="ja-JP" dirty="0" smtClean="0">
                <a:sym typeface="Symbol" panose="05050102010706020507" pitchFamily="18" charset="2"/>
              </a:rPr>
              <a:t>)</a:t>
            </a:r>
            <a:r>
              <a:rPr lang="en-US" altLang="ja-JP" i="1" dirty="0" smtClean="0">
                <a:sym typeface="Symbol" panose="05050102010706020507" pitchFamily="18" charset="2"/>
              </a:rPr>
              <a:t> </a:t>
            </a:r>
            <a:r>
              <a:rPr lang="en-IN" altLang="en-US" dirty="0">
                <a:ea typeface="MS PGothic" panose="020B0600070205080204" pitchFamily="34" charset="-128"/>
              </a:rPr>
              <a:t>⨝</a:t>
            </a:r>
            <a:r>
              <a:rPr lang="en-US" altLang="ja-JP" i="1" dirty="0">
                <a:sym typeface="Symbol" panose="05050102010706020507" pitchFamily="18" charset="2"/>
              </a:rPr>
              <a:t>   </a:t>
            </a:r>
            <a:r>
              <a:rPr lang="en-US" altLang="ja-JP" dirty="0">
                <a:sym typeface="Symbol" panose="05050102010706020507" pitchFamily="18" charset="2"/>
              </a:rPr>
              <a:t></a:t>
            </a:r>
            <a:r>
              <a:rPr lang="en-US" altLang="ja-JP" i="1" baseline="-25000" dirty="0" err="1">
                <a:sym typeface="Symbol" panose="05050102010706020507" pitchFamily="18" charset="2"/>
              </a:rPr>
              <a:t>course_id</a:t>
            </a:r>
            <a:r>
              <a:rPr lang="en-US" altLang="ja-JP" i="1" baseline="-25000" dirty="0">
                <a:sym typeface="Symbol" panose="05050102010706020507" pitchFamily="18" charset="2"/>
              </a:rPr>
              <a:t>, title</a:t>
            </a:r>
            <a:r>
              <a:rPr lang="en-US" altLang="ja-JP" i="1" dirty="0">
                <a:sym typeface="Symbol" panose="05050102010706020507" pitchFamily="18" charset="2"/>
              </a:rPr>
              <a:t> </a:t>
            </a:r>
            <a:r>
              <a:rPr lang="en-US" altLang="ja-JP" dirty="0">
                <a:sym typeface="Symbol" panose="05050102010706020507" pitchFamily="18" charset="2"/>
              </a:rPr>
              <a:t>(</a:t>
            </a:r>
            <a:r>
              <a:rPr lang="en-US" altLang="ja-JP" i="1" dirty="0">
                <a:sym typeface="Symbol" panose="05050102010706020507" pitchFamily="18" charset="2"/>
              </a:rPr>
              <a:t>course</a:t>
            </a:r>
            <a:r>
              <a:rPr lang="en-US" altLang="ja-JP" dirty="0" smtClean="0">
                <a:sym typeface="Symbol" panose="05050102010706020507" pitchFamily="18" charset="2"/>
              </a:rPr>
              <a:t>))</a:t>
            </a:r>
            <a:endParaRPr lang="en-US" altLang="ja-JP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</a:pPr>
            <a:endParaRPr lang="en-US" altLang="en-US" dirty="0" smtClean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</a:pPr>
            <a:r>
              <a:rPr lang="en-US" altLang="en-US" sz="1800" dirty="0" smtClean="0">
                <a:solidFill>
                  <a:srgbClr val="0000FF"/>
                </a:solidFill>
                <a:sym typeface="Symbol" panose="05050102010706020507" pitchFamily="18" charset="2"/>
              </a:rPr>
              <a:t>Performing </a:t>
            </a:r>
            <a:r>
              <a:rPr lang="en-US" altLang="en-US" sz="1800" dirty="0">
                <a:solidFill>
                  <a:srgbClr val="0000FF"/>
                </a:solidFill>
                <a:sym typeface="Symbol" panose="05050102010706020507" pitchFamily="18" charset="2"/>
              </a:rPr>
              <a:t>the projection as early as possible reduces the size of the relation to be joined. </a:t>
            </a:r>
            <a:endParaRPr lang="en-US" altLang="en-US" sz="18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594" name="Rectangle 2">
            <a:extLst>
              <a:ext uri="{FF2B5EF4-FFF2-40B4-BE49-F238E27FC236}">
                <a16:creationId xmlns:a16="http://schemas.microsoft.com/office/drawing/2014/main" id="{C6E47C56-A0BE-493D-99C6-FE63BED90C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Join Ordering Example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7C1CF120-E4F7-4429-B2DB-787B5E5C06E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64144" y="1073622"/>
            <a:ext cx="7594332" cy="5367972"/>
          </a:xfrm>
        </p:spPr>
        <p:txBody>
          <a:bodyPr/>
          <a:lstStyle/>
          <a:p>
            <a:pPr>
              <a:tabLst>
                <a:tab pos="1947863" algn="l"/>
              </a:tabLst>
            </a:pPr>
            <a:r>
              <a:rPr lang="en-US" altLang="en-US" dirty="0"/>
              <a:t>For all relations </a:t>
            </a:r>
            <a:r>
              <a:rPr lang="en-US" altLang="en-US" i="1" dirty="0"/>
              <a:t>r</a:t>
            </a:r>
            <a:r>
              <a:rPr lang="en-US" altLang="en-US" baseline="-25000" dirty="0"/>
              <a:t>1, </a:t>
            </a:r>
            <a:r>
              <a:rPr lang="en-US" altLang="en-US" i="1" dirty="0"/>
              <a:t>r</a:t>
            </a:r>
            <a:r>
              <a:rPr lang="en-US" altLang="en-US" baseline="-25000" dirty="0"/>
              <a:t>2, </a:t>
            </a:r>
            <a:r>
              <a:rPr lang="en-US" altLang="en-US" dirty="0"/>
              <a:t>and </a:t>
            </a:r>
            <a:r>
              <a:rPr lang="en-US" altLang="en-US" i="1" dirty="0"/>
              <a:t>r</a:t>
            </a:r>
            <a:r>
              <a:rPr lang="en-US" altLang="en-US" baseline="-25000" dirty="0"/>
              <a:t>3</a:t>
            </a:r>
            <a:r>
              <a:rPr lang="en-US" altLang="en-US" dirty="0"/>
              <a:t>,</a:t>
            </a:r>
          </a:p>
          <a:p>
            <a:pPr>
              <a:buFont typeface="Monotype Sorts" pitchFamily="-65" charset="2"/>
              <a:buNone/>
              <a:tabLst>
                <a:tab pos="1947863" algn="l"/>
              </a:tabLst>
            </a:pPr>
            <a:r>
              <a:rPr lang="en-US" altLang="en-US" dirty="0"/>
              <a:t>		(</a:t>
            </a:r>
            <a:r>
              <a:rPr lang="en-US" altLang="en-US" i="1" dirty="0"/>
              <a:t>r</a:t>
            </a:r>
            <a:r>
              <a:rPr lang="en-US" altLang="en-US" baseline="-25000" dirty="0"/>
              <a:t>1</a:t>
            </a:r>
            <a:r>
              <a:rPr lang="en-IN" altLang="en-US" dirty="0">
                <a:ea typeface="MS PGothic" panose="020B0600070205080204" pitchFamily="34" charset="-128"/>
              </a:rPr>
              <a:t> ⨝</a:t>
            </a:r>
            <a:r>
              <a:rPr lang="en-US" altLang="en-US" i="1" dirty="0">
                <a:ea typeface="MS PGothic" panose="020B0600070205080204" pitchFamily="34" charset="-128"/>
              </a:rPr>
              <a:t> </a:t>
            </a:r>
            <a:r>
              <a:rPr lang="en-US" altLang="en-US" i="1" dirty="0"/>
              <a:t>r</a:t>
            </a:r>
            <a:r>
              <a:rPr lang="en-US" altLang="en-US" baseline="-25000" dirty="0"/>
              <a:t>2</a:t>
            </a:r>
            <a:r>
              <a:rPr lang="en-US" altLang="en-US" dirty="0"/>
              <a:t>) </a:t>
            </a:r>
            <a:r>
              <a:rPr lang="en-IN" altLang="en-US" dirty="0">
                <a:ea typeface="MS PGothic" panose="020B0600070205080204" pitchFamily="34" charset="-128"/>
              </a:rPr>
              <a:t>⨝</a:t>
            </a:r>
            <a:r>
              <a:rPr lang="en-US" altLang="en-US" i="1" dirty="0">
                <a:ea typeface="MS PGothic" panose="020B0600070205080204" pitchFamily="34" charset="-128"/>
              </a:rPr>
              <a:t> </a:t>
            </a:r>
            <a:r>
              <a:rPr lang="en-US" altLang="en-US" i="1" dirty="0"/>
              <a:t>r</a:t>
            </a:r>
            <a:r>
              <a:rPr lang="en-US" altLang="en-US" baseline="-25000" dirty="0"/>
              <a:t>3  </a:t>
            </a:r>
            <a:r>
              <a:rPr lang="en-US" altLang="en-US" dirty="0"/>
              <a:t>= </a:t>
            </a:r>
            <a:r>
              <a:rPr lang="en-US" altLang="en-US" i="1" dirty="0"/>
              <a:t>r</a:t>
            </a:r>
            <a:r>
              <a:rPr lang="en-US" altLang="en-US" baseline="-25000" dirty="0"/>
              <a:t>1</a:t>
            </a:r>
            <a:r>
              <a:rPr lang="en-US" altLang="en-US" dirty="0"/>
              <a:t> </a:t>
            </a:r>
            <a:r>
              <a:rPr lang="en-IN" altLang="en-US" dirty="0">
                <a:ea typeface="MS PGothic" panose="020B0600070205080204" pitchFamily="34" charset="-128"/>
              </a:rPr>
              <a:t>⨝</a:t>
            </a:r>
            <a:r>
              <a:rPr lang="en-US" altLang="en-US" i="1" dirty="0">
                <a:ea typeface="MS PGothic" panose="020B0600070205080204" pitchFamily="34" charset="-128"/>
              </a:rPr>
              <a:t> </a:t>
            </a:r>
            <a:r>
              <a:rPr lang="en-US" altLang="en-US" dirty="0"/>
              <a:t>(</a:t>
            </a:r>
            <a:r>
              <a:rPr lang="en-US" altLang="en-US" i="1" dirty="0"/>
              <a:t>r</a:t>
            </a:r>
            <a:r>
              <a:rPr lang="en-US" altLang="en-US" baseline="-25000" dirty="0"/>
              <a:t>2</a:t>
            </a:r>
            <a:r>
              <a:rPr lang="en-US" altLang="en-US" dirty="0"/>
              <a:t> </a:t>
            </a:r>
            <a:r>
              <a:rPr lang="en-IN" altLang="en-US" dirty="0">
                <a:ea typeface="MS PGothic" panose="020B0600070205080204" pitchFamily="34" charset="-128"/>
              </a:rPr>
              <a:t>⨝</a:t>
            </a:r>
            <a:r>
              <a:rPr lang="en-US" altLang="en-US" i="1" dirty="0">
                <a:ea typeface="MS PGothic" panose="020B0600070205080204" pitchFamily="34" charset="-128"/>
              </a:rPr>
              <a:t> </a:t>
            </a:r>
            <a:r>
              <a:rPr lang="en-US" altLang="en-US" i="1" dirty="0"/>
              <a:t>r</a:t>
            </a:r>
            <a:r>
              <a:rPr lang="en-US" altLang="en-US" baseline="-25000" dirty="0"/>
              <a:t>3 </a:t>
            </a:r>
            <a:r>
              <a:rPr lang="en-US" altLang="en-US" dirty="0"/>
              <a:t>)</a:t>
            </a:r>
          </a:p>
          <a:p>
            <a:pPr marL="0" indent="0">
              <a:buNone/>
              <a:tabLst>
                <a:tab pos="1947863" algn="l"/>
              </a:tabLst>
            </a:pPr>
            <a:endParaRPr lang="en-US" altLang="en-US" dirty="0" smtClean="0"/>
          </a:p>
          <a:p>
            <a:pPr>
              <a:tabLst>
                <a:tab pos="1947863" algn="l"/>
              </a:tabLst>
            </a:pPr>
            <a:r>
              <a:rPr lang="en-US" altLang="en-US" dirty="0" smtClean="0"/>
              <a:t>If </a:t>
            </a:r>
            <a:r>
              <a:rPr lang="en-US" altLang="en-US" i="1" dirty="0"/>
              <a:t>r</a:t>
            </a:r>
            <a:r>
              <a:rPr lang="en-US" altLang="en-US" baseline="-25000" dirty="0"/>
              <a:t>2</a:t>
            </a:r>
            <a:r>
              <a:rPr lang="en-US" altLang="en-US" dirty="0"/>
              <a:t> </a:t>
            </a:r>
            <a:r>
              <a:rPr lang="en-IN" altLang="en-US" dirty="0">
                <a:ea typeface="MS PGothic" panose="020B0600070205080204" pitchFamily="34" charset="-128"/>
              </a:rPr>
              <a:t>⨝</a:t>
            </a:r>
            <a:r>
              <a:rPr lang="en-US" altLang="en-US" dirty="0"/>
              <a:t>  </a:t>
            </a:r>
            <a:r>
              <a:rPr lang="en-US" altLang="en-US" i="1" dirty="0"/>
              <a:t>r</a:t>
            </a:r>
            <a:r>
              <a:rPr lang="en-US" altLang="en-US" baseline="-25000" dirty="0"/>
              <a:t>3 </a:t>
            </a:r>
            <a:r>
              <a:rPr lang="en-US" altLang="en-US" dirty="0"/>
              <a:t> is quite large and </a:t>
            </a:r>
            <a:r>
              <a:rPr lang="en-US" altLang="en-US" i="1" dirty="0"/>
              <a:t>r</a:t>
            </a:r>
            <a:r>
              <a:rPr lang="en-US" altLang="en-US" baseline="-25000" dirty="0"/>
              <a:t>1</a:t>
            </a:r>
            <a:r>
              <a:rPr lang="en-US" altLang="en-US" dirty="0"/>
              <a:t> </a:t>
            </a:r>
            <a:r>
              <a:rPr lang="en-IN" altLang="en-US" dirty="0">
                <a:ea typeface="MS PGothic" panose="020B0600070205080204" pitchFamily="34" charset="-128"/>
              </a:rPr>
              <a:t>⨝</a:t>
            </a:r>
            <a:r>
              <a:rPr lang="en-US" altLang="en-US" dirty="0"/>
              <a:t> </a:t>
            </a:r>
            <a:r>
              <a:rPr lang="en-US" altLang="en-US" i="1" dirty="0"/>
              <a:t>r</a:t>
            </a:r>
            <a:r>
              <a:rPr lang="en-US" altLang="en-US" baseline="-25000" dirty="0"/>
              <a:t>2</a:t>
            </a:r>
            <a:r>
              <a:rPr lang="en-US" altLang="en-US" dirty="0"/>
              <a:t> is small, we choose</a:t>
            </a:r>
          </a:p>
          <a:p>
            <a:pPr>
              <a:buFont typeface="Monotype Sorts" pitchFamily="-65" charset="2"/>
              <a:buNone/>
              <a:tabLst>
                <a:tab pos="1947863" algn="l"/>
              </a:tabLst>
            </a:pPr>
            <a:r>
              <a:rPr lang="en-US" altLang="en-US" baseline="-25000" dirty="0"/>
              <a:t/>
            </a:r>
            <a:br>
              <a:rPr lang="en-US" altLang="en-US" baseline="-25000" dirty="0"/>
            </a:br>
            <a:r>
              <a:rPr lang="en-US" altLang="en-US" baseline="-25000" dirty="0"/>
              <a:t>	 </a:t>
            </a:r>
            <a:r>
              <a:rPr lang="en-US" altLang="en-US" dirty="0"/>
              <a:t>(</a:t>
            </a:r>
            <a:r>
              <a:rPr lang="en-US" altLang="en-US" i="1" dirty="0"/>
              <a:t>r</a:t>
            </a:r>
            <a:r>
              <a:rPr lang="en-US" altLang="en-US" baseline="-25000" dirty="0"/>
              <a:t>1</a:t>
            </a:r>
            <a:r>
              <a:rPr lang="en-US" altLang="en-US" dirty="0"/>
              <a:t> </a:t>
            </a:r>
            <a:r>
              <a:rPr lang="en-IN" altLang="en-US" dirty="0">
                <a:ea typeface="MS PGothic" panose="020B0600070205080204" pitchFamily="34" charset="-128"/>
              </a:rPr>
              <a:t>⨝</a:t>
            </a:r>
            <a:r>
              <a:rPr lang="en-US" altLang="en-US" i="1" dirty="0">
                <a:ea typeface="MS PGothic" panose="020B0600070205080204" pitchFamily="34" charset="-128"/>
              </a:rPr>
              <a:t> </a:t>
            </a:r>
            <a:r>
              <a:rPr lang="en-US" altLang="en-US" i="1" dirty="0"/>
              <a:t>r</a:t>
            </a:r>
            <a:r>
              <a:rPr lang="en-US" altLang="en-US" baseline="-25000" dirty="0"/>
              <a:t>2</a:t>
            </a:r>
            <a:r>
              <a:rPr lang="en-US" altLang="en-US" dirty="0"/>
              <a:t>) </a:t>
            </a:r>
            <a:r>
              <a:rPr lang="en-IN" altLang="en-US" dirty="0">
                <a:ea typeface="MS PGothic" panose="020B0600070205080204" pitchFamily="34" charset="-128"/>
              </a:rPr>
              <a:t>⨝</a:t>
            </a:r>
            <a:r>
              <a:rPr lang="en-US" altLang="en-US" dirty="0"/>
              <a:t> </a:t>
            </a:r>
            <a:r>
              <a:rPr lang="en-US" altLang="en-US" i="1" dirty="0"/>
              <a:t>r</a:t>
            </a:r>
            <a:r>
              <a:rPr lang="en-US" altLang="en-US" baseline="-25000" dirty="0"/>
              <a:t>3</a:t>
            </a:r>
            <a:endParaRPr lang="en-US" altLang="en-US" dirty="0"/>
          </a:p>
          <a:p>
            <a:pPr>
              <a:buFont typeface="Monotype Sorts" pitchFamily="-65" charset="2"/>
              <a:buNone/>
              <a:tabLst>
                <a:tab pos="1947863" algn="l"/>
              </a:tabLst>
            </a:pPr>
            <a:r>
              <a:rPr lang="en-US" altLang="en-US" dirty="0"/>
              <a:t>	so that we compute and store a smaller temporary relation.</a:t>
            </a:r>
            <a:endParaRPr lang="en-US" altLang="en-US" baseline="-25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618" name="Rectangle 2">
            <a:extLst>
              <a:ext uri="{FF2B5EF4-FFF2-40B4-BE49-F238E27FC236}">
                <a16:creationId xmlns:a16="http://schemas.microsoft.com/office/drawing/2014/main" id="{A7DFCF53-4E54-4048-AC08-C5BD5617B1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Join Ordering Example (Cont.)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FC58C06D-6BC1-4E20-A3A3-6AFD666C4D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60774" y="1073622"/>
            <a:ext cx="8088078" cy="5367972"/>
          </a:xfrm>
        </p:spPr>
        <p:txBody>
          <a:bodyPr/>
          <a:lstStyle/>
          <a:p>
            <a:pPr>
              <a:tabLst>
                <a:tab pos="1198563" algn="l"/>
              </a:tabLst>
            </a:pPr>
            <a:r>
              <a:rPr lang="en-US" altLang="en-US" dirty="0"/>
              <a:t>Consider the expression</a:t>
            </a:r>
          </a:p>
          <a:p>
            <a:pPr>
              <a:buFont typeface="Monotype Sorts" pitchFamily="-65" charset="2"/>
              <a:buNone/>
              <a:tabLst>
                <a:tab pos="1198563" algn="l"/>
              </a:tabLst>
            </a:pPr>
            <a:r>
              <a:rPr lang="en-US" altLang="en-US" dirty="0"/>
              <a:t>	</a:t>
            </a:r>
            <a:r>
              <a:rPr lang="en-US" altLang="en-US" dirty="0" smtClean="0">
                <a:sym typeface="Symbol" panose="05050102010706020507" pitchFamily="18" charset="2"/>
              </a:rPr>
              <a:t></a:t>
            </a:r>
            <a:r>
              <a:rPr lang="en-US" altLang="en-US" i="1" baseline="-25000" dirty="0">
                <a:sym typeface="Symbol" panose="05050102010706020507" pitchFamily="18" charset="2"/>
              </a:rPr>
              <a:t>name, title</a:t>
            </a:r>
            <a:r>
              <a:rPr lang="en-US" altLang="en-US" dirty="0" smtClean="0">
                <a:sym typeface="Symbol" panose="05050102010706020507" pitchFamily="18" charset="2"/>
              </a:rPr>
              <a:t>((</a:t>
            </a:r>
            <a:r>
              <a:rPr lang="en-US" altLang="en-US" i="1" baseline="-25000" dirty="0">
                <a:sym typeface="Symbol" panose="05050102010706020507" pitchFamily="18" charset="2"/>
              </a:rPr>
              <a:t>dept_name= 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baseline="-25000" dirty="0">
                <a:sym typeface="Symbol" panose="05050102010706020507" pitchFamily="18" charset="2"/>
              </a:rPr>
              <a:t>Music</a:t>
            </a:r>
            <a:r>
              <a:rPr lang="ja-JP" altLang="en-US" baseline="-25000" dirty="0">
                <a:sym typeface="Symbol" panose="05050102010706020507" pitchFamily="18" charset="2"/>
              </a:rPr>
              <a:t>”</a:t>
            </a:r>
            <a:r>
              <a:rPr lang="en-US" altLang="ja-JP" baseline="-25000" dirty="0">
                <a:sym typeface="Symbol" panose="05050102010706020507" pitchFamily="18" charset="2"/>
              </a:rPr>
              <a:t> </a:t>
            </a:r>
            <a:r>
              <a:rPr lang="en-US" altLang="ja-JP" dirty="0">
                <a:sym typeface="Symbol" panose="05050102010706020507" pitchFamily="18" charset="2"/>
              </a:rPr>
              <a:t>(</a:t>
            </a:r>
            <a:r>
              <a:rPr lang="en-US" altLang="ja-JP" i="1" dirty="0">
                <a:sym typeface="Symbol" panose="05050102010706020507" pitchFamily="18" charset="2"/>
              </a:rPr>
              <a:t>instructor)</a:t>
            </a:r>
            <a:r>
              <a:rPr lang="en-IN" altLang="en-US" dirty="0">
                <a:ea typeface="MS PGothic" panose="020B0600070205080204" pitchFamily="34" charset="-128"/>
              </a:rPr>
              <a:t> ⨝</a:t>
            </a:r>
            <a:r>
              <a:rPr lang="en-US" altLang="ja-JP" i="1" dirty="0">
                <a:sym typeface="Symbol" panose="05050102010706020507" pitchFamily="18" charset="2"/>
              </a:rPr>
              <a:t> teaches</a:t>
            </a:r>
            <a:r>
              <a:rPr lang="en-US" altLang="ja-JP" dirty="0">
                <a:sym typeface="Symbol" panose="05050102010706020507" pitchFamily="18" charset="2"/>
              </a:rPr>
              <a:t>) </a:t>
            </a:r>
            <a:r>
              <a:rPr lang="en-IN" altLang="en-US" dirty="0" smtClean="0">
                <a:ea typeface="MS PGothic" panose="020B0600070205080204" pitchFamily="34" charset="-128"/>
              </a:rPr>
              <a:t>⨝</a:t>
            </a:r>
            <a:r>
              <a:rPr lang="en-US" altLang="ja-JP" i="1" dirty="0" smtClean="0">
                <a:sym typeface="Symbol" panose="05050102010706020507" pitchFamily="18" charset="2"/>
              </a:rPr>
              <a:t>  </a:t>
            </a:r>
            <a:r>
              <a:rPr lang="en-US" altLang="ja-JP" dirty="0">
                <a:sym typeface="Symbol" panose="05050102010706020507" pitchFamily="18" charset="2"/>
              </a:rPr>
              <a:t></a:t>
            </a:r>
            <a:r>
              <a:rPr lang="en-US" altLang="ja-JP" i="1" baseline="-25000" dirty="0" err="1">
                <a:sym typeface="Symbol" panose="05050102010706020507" pitchFamily="18" charset="2"/>
              </a:rPr>
              <a:t>course_id</a:t>
            </a:r>
            <a:r>
              <a:rPr lang="en-US" altLang="ja-JP" i="1" baseline="-25000" dirty="0">
                <a:sym typeface="Symbol" panose="05050102010706020507" pitchFamily="18" charset="2"/>
              </a:rPr>
              <a:t>, title</a:t>
            </a:r>
            <a:r>
              <a:rPr lang="en-US" altLang="ja-JP" i="1" dirty="0">
                <a:sym typeface="Symbol" panose="05050102010706020507" pitchFamily="18" charset="2"/>
              </a:rPr>
              <a:t> </a:t>
            </a:r>
            <a:r>
              <a:rPr lang="en-US" altLang="ja-JP" dirty="0">
                <a:sym typeface="Symbol" panose="05050102010706020507" pitchFamily="18" charset="2"/>
              </a:rPr>
              <a:t>(</a:t>
            </a:r>
            <a:r>
              <a:rPr lang="en-US" altLang="ja-JP" i="1" dirty="0">
                <a:sym typeface="Symbol" panose="05050102010706020507" pitchFamily="18" charset="2"/>
              </a:rPr>
              <a:t>course</a:t>
            </a:r>
            <a:r>
              <a:rPr lang="en-US" altLang="ja-JP" dirty="0" smtClean="0">
                <a:sym typeface="Symbol" panose="05050102010706020507" pitchFamily="18" charset="2"/>
              </a:rPr>
              <a:t>))</a:t>
            </a:r>
            <a:endParaRPr lang="en-US" altLang="ja-JP" dirty="0">
              <a:sym typeface="Symbol" panose="05050102010706020507" pitchFamily="18" charset="2"/>
            </a:endParaRPr>
          </a:p>
          <a:p>
            <a:pPr>
              <a:tabLst>
                <a:tab pos="1198563" algn="l"/>
              </a:tabLst>
            </a:pPr>
            <a:endParaRPr lang="en-US" altLang="en-US" dirty="0" smtClean="0"/>
          </a:p>
          <a:p>
            <a:pPr>
              <a:tabLst>
                <a:tab pos="1198563" algn="l"/>
              </a:tabLst>
            </a:pPr>
            <a:r>
              <a:rPr lang="en-US" altLang="en-US" dirty="0" smtClean="0"/>
              <a:t>Could </a:t>
            </a:r>
            <a:r>
              <a:rPr lang="en-US" altLang="en-US" dirty="0"/>
              <a:t>compute   </a:t>
            </a:r>
            <a:r>
              <a:rPr lang="en-US" altLang="en-US" i="1" dirty="0"/>
              <a:t>teaches </a:t>
            </a:r>
            <a:r>
              <a:rPr lang="en-IN" altLang="en-US" dirty="0">
                <a:ea typeface="MS PGothic" panose="020B0600070205080204" pitchFamily="34" charset="-128"/>
              </a:rPr>
              <a:t>⨝</a:t>
            </a:r>
            <a:r>
              <a:rPr lang="en-US" altLang="en-US" i="1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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course_id</a:t>
            </a:r>
            <a:r>
              <a:rPr lang="en-US" altLang="en-US" i="1" baseline="-25000" dirty="0">
                <a:sym typeface="Symbol" panose="05050102010706020507" pitchFamily="18" charset="2"/>
              </a:rPr>
              <a:t>, title</a:t>
            </a:r>
            <a:r>
              <a:rPr lang="en-US" altLang="en-US" i="1" dirty="0"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course</a:t>
            </a:r>
            <a:r>
              <a:rPr lang="en-US" altLang="en-US" dirty="0">
                <a:sym typeface="Symbol" panose="05050102010706020507" pitchFamily="18" charset="2"/>
              </a:rPr>
              <a:t>)</a:t>
            </a:r>
            <a:r>
              <a:rPr lang="en-US" altLang="en-US" i="1" dirty="0"/>
              <a:t> </a:t>
            </a:r>
            <a:r>
              <a:rPr lang="en-US" altLang="en-US" dirty="0"/>
              <a:t>first, and join result with </a:t>
            </a:r>
            <a:br>
              <a:rPr lang="en-US" altLang="en-US" dirty="0"/>
            </a:br>
            <a:r>
              <a:rPr lang="en-US" altLang="en-US" dirty="0"/>
              <a:t>	 </a:t>
            </a:r>
            <a:r>
              <a:rPr lang="en-US" altLang="en-US" dirty="0">
                <a:sym typeface="Symbol" panose="05050102010706020507" pitchFamily="18" charset="2"/>
              </a:rPr>
              <a:t></a:t>
            </a:r>
            <a:r>
              <a:rPr lang="en-US" altLang="en-US" i="1" baseline="-25000" dirty="0">
                <a:sym typeface="Symbol" panose="05050102010706020507" pitchFamily="18" charset="2"/>
              </a:rPr>
              <a:t>dept_name= 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baseline="-25000" dirty="0">
                <a:sym typeface="Symbol" panose="05050102010706020507" pitchFamily="18" charset="2"/>
              </a:rPr>
              <a:t>Music</a:t>
            </a:r>
            <a:r>
              <a:rPr lang="ja-JP" altLang="en-US" baseline="-25000" dirty="0">
                <a:sym typeface="Symbol" panose="05050102010706020507" pitchFamily="18" charset="2"/>
              </a:rPr>
              <a:t>”</a:t>
            </a:r>
            <a:r>
              <a:rPr lang="en-US" altLang="ja-JP" baseline="-25000" dirty="0">
                <a:sym typeface="Symbol" panose="05050102010706020507" pitchFamily="18" charset="2"/>
              </a:rPr>
              <a:t> </a:t>
            </a:r>
            <a:r>
              <a:rPr lang="en-US" altLang="ja-JP" dirty="0">
                <a:sym typeface="Symbol" panose="05050102010706020507" pitchFamily="18" charset="2"/>
              </a:rPr>
              <a:t>(</a:t>
            </a:r>
            <a:r>
              <a:rPr lang="en-US" altLang="ja-JP" i="1" dirty="0">
                <a:sym typeface="Symbol" panose="05050102010706020507" pitchFamily="18" charset="2"/>
              </a:rPr>
              <a:t>instructor</a:t>
            </a:r>
            <a:r>
              <a:rPr lang="en-US" altLang="ja-JP" dirty="0">
                <a:sym typeface="Symbol" panose="05050102010706020507" pitchFamily="18" charset="2"/>
              </a:rPr>
              <a:t>)</a:t>
            </a:r>
            <a:r>
              <a:rPr lang="en-US" altLang="ja-JP" i="1" dirty="0">
                <a:sym typeface="Symbol" panose="05050102010706020507" pitchFamily="18" charset="2"/>
              </a:rPr>
              <a:t> </a:t>
            </a:r>
            <a:br>
              <a:rPr lang="en-US" altLang="ja-JP" i="1" dirty="0">
                <a:sym typeface="Symbol" panose="05050102010706020507" pitchFamily="18" charset="2"/>
              </a:rPr>
            </a:br>
            <a:r>
              <a:rPr lang="en-US" altLang="ja-JP" dirty="0" smtClean="0">
                <a:sym typeface="Symbol" panose="05050102010706020507" pitchFamily="18" charset="2"/>
              </a:rPr>
              <a:t>but </a:t>
            </a:r>
            <a:r>
              <a:rPr lang="en-US" altLang="ja-JP" dirty="0">
                <a:sym typeface="Symbol" panose="05050102010706020507" pitchFamily="18" charset="2"/>
              </a:rPr>
              <a:t>the result of the first join</a:t>
            </a:r>
            <a:r>
              <a:rPr lang="en-US" altLang="ja-JP" i="1" dirty="0">
                <a:sym typeface="Symbol" panose="05050102010706020507" pitchFamily="18" charset="2"/>
              </a:rPr>
              <a:t> </a:t>
            </a:r>
            <a:r>
              <a:rPr lang="en-US" altLang="ja-JP" dirty="0">
                <a:sym typeface="Symbol" panose="05050102010706020507" pitchFamily="18" charset="2"/>
              </a:rPr>
              <a:t>is likely to be a large relation.</a:t>
            </a:r>
          </a:p>
          <a:p>
            <a:pPr>
              <a:tabLst>
                <a:tab pos="1198563" algn="l"/>
              </a:tabLst>
            </a:pPr>
            <a:endParaRPr lang="en-US" altLang="en-US" dirty="0" smtClean="0">
              <a:sym typeface="Symbol" panose="05050102010706020507" pitchFamily="18" charset="2"/>
            </a:endParaRPr>
          </a:p>
          <a:p>
            <a:pPr>
              <a:tabLst>
                <a:tab pos="1198563" algn="l"/>
              </a:tabLst>
            </a:pPr>
            <a:r>
              <a:rPr lang="en-US" altLang="en-US" dirty="0" smtClean="0">
                <a:sym typeface="Symbol" panose="05050102010706020507" pitchFamily="18" charset="2"/>
              </a:rPr>
              <a:t>Only </a:t>
            </a:r>
            <a:r>
              <a:rPr lang="en-US" altLang="en-US" dirty="0">
                <a:sym typeface="Symbol" panose="05050102010706020507" pitchFamily="18" charset="2"/>
              </a:rPr>
              <a:t>a small fraction of the university</a:t>
            </a:r>
            <a:r>
              <a:rPr lang="ja-JP" altLang="en-US" dirty="0">
                <a:sym typeface="Symbol" panose="05050102010706020507" pitchFamily="18" charset="2"/>
              </a:rPr>
              <a:t>’</a:t>
            </a:r>
            <a:r>
              <a:rPr lang="en-US" altLang="ja-JP" dirty="0">
                <a:sym typeface="Symbol" panose="05050102010706020507" pitchFamily="18" charset="2"/>
              </a:rPr>
              <a:t>s instructors are likely to be from the Music department</a:t>
            </a:r>
          </a:p>
          <a:p>
            <a:pPr lvl="1">
              <a:tabLst>
                <a:tab pos="1198563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 it is better to compute</a:t>
            </a:r>
          </a:p>
          <a:p>
            <a:pPr>
              <a:buFont typeface="Monotype Sorts" pitchFamily="-65" charset="2"/>
              <a:buNone/>
              <a:tabLst>
                <a:tab pos="1198563" algn="l"/>
              </a:tabLst>
            </a:pPr>
            <a:r>
              <a:rPr lang="en-US" altLang="en-US" dirty="0"/>
              <a:t>		 </a:t>
            </a:r>
            <a:r>
              <a:rPr lang="en-US" altLang="en-US" dirty="0">
                <a:sym typeface="Symbol" panose="05050102010706020507" pitchFamily="18" charset="2"/>
              </a:rPr>
              <a:t></a:t>
            </a:r>
            <a:r>
              <a:rPr lang="en-US" altLang="en-US" i="1" baseline="-25000" dirty="0">
                <a:sym typeface="Symbol" panose="05050102010706020507" pitchFamily="18" charset="2"/>
              </a:rPr>
              <a:t>dept_name= </a:t>
            </a:r>
            <a:r>
              <a:rPr lang="ja-JP" altLang="en-US" i="1" baseline="-25000" dirty="0">
                <a:sym typeface="Symbol" panose="05050102010706020507" pitchFamily="18" charset="2"/>
              </a:rPr>
              <a:t>“</a:t>
            </a:r>
            <a:r>
              <a:rPr lang="en-US" altLang="ja-JP" baseline="-25000" dirty="0">
                <a:sym typeface="Symbol" panose="05050102010706020507" pitchFamily="18" charset="2"/>
              </a:rPr>
              <a:t>Music</a:t>
            </a:r>
            <a:r>
              <a:rPr lang="ja-JP" altLang="en-US" baseline="-25000" dirty="0">
                <a:sym typeface="Symbol" panose="05050102010706020507" pitchFamily="18" charset="2"/>
              </a:rPr>
              <a:t>”</a:t>
            </a:r>
            <a:r>
              <a:rPr lang="en-US" altLang="ja-JP" baseline="-25000" dirty="0">
                <a:sym typeface="Symbol" panose="05050102010706020507" pitchFamily="18" charset="2"/>
              </a:rPr>
              <a:t> </a:t>
            </a:r>
            <a:r>
              <a:rPr lang="en-US" altLang="ja-JP" dirty="0">
                <a:sym typeface="Symbol" panose="05050102010706020507" pitchFamily="18" charset="2"/>
              </a:rPr>
              <a:t>(</a:t>
            </a:r>
            <a:r>
              <a:rPr lang="en-US" altLang="ja-JP" i="1" dirty="0">
                <a:sym typeface="Symbol" panose="05050102010706020507" pitchFamily="18" charset="2"/>
              </a:rPr>
              <a:t>instructor) </a:t>
            </a:r>
            <a:r>
              <a:rPr lang="en-IN" altLang="en-US" dirty="0">
                <a:ea typeface="MS PGothic" panose="020B0600070205080204" pitchFamily="34" charset="-128"/>
              </a:rPr>
              <a:t>⨝</a:t>
            </a:r>
            <a:r>
              <a:rPr lang="en-US" altLang="ja-JP" i="1" dirty="0">
                <a:sym typeface="Symbol" panose="05050102010706020507" pitchFamily="18" charset="2"/>
              </a:rPr>
              <a:t> teaches </a:t>
            </a:r>
          </a:p>
          <a:p>
            <a:pPr>
              <a:buFont typeface="Monotype Sorts" pitchFamily="-65" charset="2"/>
              <a:buNone/>
              <a:tabLst>
                <a:tab pos="1198563" algn="l"/>
              </a:tabLst>
            </a:pPr>
            <a:r>
              <a:rPr lang="en-US" altLang="en-US" i="1" dirty="0">
                <a:sym typeface="Symbol" panose="05050102010706020507" pitchFamily="18" charset="2"/>
              </a:rPr>
              <a:t>	       </a:t>
            </a:r>
            <a:r>
              <a:rPr lang="en-US" altLang="en-US" dirty="0">
                <a:sym typeface="Symbol" panose="05050102010706020507" pitchFamily="18" charset="2"/>
              </a:rPr>
              <a:t>first.</a:t>
            </a:r>
            <a:r>
              <a:rPr lang="en-US" altLang="en-US" dirty="0"/>
              <a:t> </a:t>
            </a:r>
          </a:p>
          <a:p>
            <a:pPr>
              <a:buFont typeface="Monotype Sorts" pitchFamily="-65" charset="2"/>
              <a:buNone/>
              <a:tabLst>
                <a:tab pos="1198563" algn="l"/>
              </a:tabLst>
            </a:pP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962" name="Rectangle 2">
            <a:extLst>
              <a:ext uri="{FF2B5EF4-FFF2-40B4-BE49-F238E27FC236}">
                <a16:creationId xmlns:a16="http://schemas.microsoft.com/office/drawing/2014/main" id="{A6C3F11C-A25B-4E42-A39E-BB138AAD92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Enumeration of Equivalent Expressions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F6C31D7E-F789-4652-9488-B1AEE7EED4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41644" y="1102497"/>
            <a:ext cx="8802356" cy="5367972"/>
          </a:xfrm>
        </p:spPr>
        <p:txBody>
          <a:bodyPr/>
          <a:lstStyle/>
          <a:p>
            <a:r>
              <a:rPr lang="en-US" altLang="en-US" dirty="0"/>
              <a:t>Query optimizers use equivalence rules to </a:t>
            </a:r>
            <a:r>
              <a:rPr lang="en-US" altLang="en-US" b="1" dirty="0"/>
              <a:t>systematically</a:t>
            </a:r>
            <a:r>
              <a:rPr lang="en-US" altLang="en-US" dirty="0"/>
              <a:t> generate expressions equivalent to the given expression</a:t>
            </a:r>
          </a:p>
          <a:p>
            <a:r>
              <a:rPr lang="en-US" altLang="en-US" dirty="0"/>
              <a:t>Can generate all equivalent expressions as follows: </a:t>
            </a:r>
          </a:p>
          <a:p>
            <a:pPr lvl="1"/>
            <a:r>
              <a:rPr lang="en-US" altLang="en-US" dirty="0"/>
              <a:t> Repeat</a:t>
            </a:r>
          </a:p>
          <a:p>
            <a:pPr lvl="2"/>
            <a:r>
              <a:rPr lang="en-US" altLang="en-US" sz="1600" dirty="0"/>
              <a:t>apply all applicable </a:t>
            </a:r>
            <a:r>
              <a:rPr lang="en-US" altLang="en-US" sz="1600" dirty="0" smtClean="0"/>
              <a:t>equivalence </a:t>
            </a:r>
            <a:r>
              <a:rPr lang="en-US" altLang="en-US" sz="1600" dirty="0"/>
              <a:t>rules on every subexpression of every equivalent expression found so far</a:t>
            </a:r>
          </a:p>
          <a:p>
            <a:pPr lvl="2"/>
            <a:r>
              <a:rPr lang="en-US" altLang="en-US" sz="1600" dirty="0"/>
              <a:t>add newly generated expressions to the set of equivalent expressions </a:t>
            </a:r>
          </a:p>
          <a:p>
            <a:pPr lvl="2">
              <a:buFont typeface="Webdings" panose="05030102010509060703" pitchFamily="18" charset="2"/>
              <a:buNone/>
            </a:pPr>
            <a:r>
              <a:rPr lang="en-US" altLang="en-US" dirty="0"/>
              <a:t>Until no new equivalent expressions are generated above</a:t>
            </a:r>
          </a:p>
          <a:p>
            <a:r>
              <a:rPr lang="en-US" altLang="en-US" dirty="0"/>
              <a:t>The above approach is very expensive in space and </a:t>
            </a:r>
            <a:r>
              <a:rPr lang="en-US" altLang="en-US" dirty="0" smtClean="0"/>
              <a:t>time</a:t>
            </a:r>
          </a:p>
          <a:p>
            <a:pPr lvl="1"/>
            <a:r>
              <a:rPr lang="en-US" altLang="en-US" dirty="0"/>
              <a:t>Space requirements reduced by sharing common </a:t>
            </a:r>
            <a:r>
              <a:rPr lang="en-US" altLang="en-US" dirty="0" smtClean="0"/>
              <a:t>sub-expressions</a:t>
            </a:r>
          </a:p>
          <a:p>
            <a:pPr lvl="1"/>
            <a:r>
              <a:rPr lang="en-US" altLang="en-US" dirty="0"/>
              <a:t>Time requirements are reduced by not generating all </a:t>
            </a:r>
            <a:r>
              <a:rPr lang="en-US" altLang="en-US" dirty="0" smtClean="0"/>
              <a:t>expressions (use dynamic programming)</a:t>
            </a:r>
            <a:endParaRPr lang="en-US" altLang="en-US" dirty="0"/>
          </a:p>
          <a:p>
            <a:pPr lvl="1"/>
            <a:r>
              <a:rPr lang="en-US" altLang="en-US" dirty="0"/>
              <a:t>Two approaches</a:t>
            </a:r>
          </a:p>
          <a:p>
            <a:pPr lvl="2"/>
            <a:r>
              <a:rPr lang="en-US" altLang="en-US" sz="1600" dirty="0"/>
              <a:t>Optimized plan generation based on transformation rules</a:t>
            </a:r>
          </a:p>
          <a:p>
            <a:pPr lvl="2"/>
            <a:r>
              <a:rPr lang="en-US" altLang="en-US" sz="1600" dirty="0"/>
              <a:t>Special case approach for queries with only selections, projections and joins</a:t>
            </a:r>
          </a:p>
          <a:p>
            <a:pPr>
              <a:buFont typeface="Monotype Sorts" pitchFamily="-65" charset="2"/>
              <a:buNone/>
            </a:pP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Rectangle 2">
            <a:extLst>
              <a:ext uri="{FF2B5EF4-FFF2-40B4-BE49-F238E27FC236}">
                <a16:creationId xmlns:a16="http://schemas.microsoft.com/office/drawing/2014/main" id="{D488288B-9F1E-41DE-952D-1B18F0FF90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Cost-Based Optimization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704B53F0-B238-43C6-8666-D94F62176F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3394" y="1102497"/>
            <a:ext cx="7700210" cy="5367972"/>
          </a:xfrm>
        </p:spPr>
        <p:txBody>
          <a:bodyPr/>
          <a:lstStyle/>
          <a:p>
            <a:r>
              <a:rPr lang="en-US" altLang="en-US" dirty="0"/>
              <a:t>Consider finding the best join-order for </a:t>
            </a:r>
            <a:r>
              <a:rPr lang="en-US" altLang="en-US" i="1" dirty="0"/>
              <a:t>r</a:t>
            </a:r>
            <a:r>
              <a:rPr lang="en-US" altLang="en-US" baseline="-25000" dirty="0"/>
              <a:t>1</a:t>
            </a:r>
            <a:r>
              <a:rPr lang="en-US" altLang="en-US" dirty="0"/>
              <a:t> </a:t>
            </a:r>
            <a:r>
              <a:rPr lang="en-IN" altLang="en-US" dirty="0">
                <a:ea typeface="MS PGothic" panose="020B0600070205080204" pitchFamily="34" charset="-128"/>
              </a:rPr>
              <a:t>⨝</a:t>
            </a:r>
            <a:r>
              <a:rPr lang="en-US" altLang="en-US" dirty="0"/>
              <a:t> </a:t>
            </a:r>
            <a:r>
              <a:rPr lang="en-US" altLang="en-US" i="1" dirty="0"/>
              <a:t>r</a:t>
            </a:r>
            <a:r>
              <a:rPr lang="en-US" altLang="en-US" baseline="-25000" dirty="0"/>
              <a:t>2 </a:t>
            </a:r>
            <a:r>
              <a:rPr lang="en-IN" altLang="en-US" dirty="0">
                <a:ea typeface="MS PGothic" panose="020B0600070205080204" pitchFamily="34" charset="-128"/>
              </a:rPr>
              <a:t>⨝</a:t>
            </a:r>
            <a:r>
              <a:rPr lang="en-US" altLang="en-US" baseline="-25000" dirty="0"/>
              <a:t>   </a:t>
            </a:r>
            <a:r>
              <a:rPr lang="en-US" altLang="en-US" dirty="0"/>
              <a:t>. . .</a:t>
            </a:r>
            <a:r>
              <a:rPr lang="en-IN" altLang="en-US" dirty="0">
                <a:ea typeface="MS PGothic" panose="020B0600070205080204" pitchFamily="34" charset="-128"/>
              </a:rPr>
              <a:t> ⨝</a:t>
            </a:r>
            <a:r>
              <a:rPr lang="en-US" altLang="en-US" dirty="0"/>
              <a:t> </a:t>
            </a:r>
            <a:r>
              <a:rPr lang="en-US" altLang="en-US" i="1" dirty="0" err="1"/>
              <a:t>r</a:t>
            </a:r>
            <a:r>
              <a:rPr lang="en-US" altLang="en-US" i="1" baseline="-25000" dirty="0" err="1"/>
              <a:t>n</a:t>
            </a:r>
            <a:r>
              <a:rPr lang="en-US" altLang="en-US" dirty="0"/>
              <a:t>.</a:t>
            </a:r>
          </a:p>
          <a:p>
            <a:r>
              <a:rPr lang="en-US" altLang="en-US" dirty="0"/>
              <a:t>There are (2(</a:t>
            </a:r>
            <a:r>
              <a:rPr lang="en-US" altLang="en-US" i="1" dirty="0"/>
              <a:t>n</a:t>
            </a:r>
            <a:r>
              <a:rPr lang="en-US" altLang="en-US" dirty="0"/>
              <a:t> – 1))!/(</a:t>
            </a:r>
            <a:r>
              <a:rPr lang="en-US" altLang="en-US" i="1" dirty="0"/>
              <a:t>n</a:t>
            </a:r>
            <a:r>
              <a:rPr lang="en-US" altLang="en-US" dirty="0"/>
              <a:t> – 1)! different join orders for above expression.  With </a:t>
            </a:r>
            <a:r>
              <a:rPr lang="en-US" altLang="en-US" i="1" dirty="0"/>
              <a:t>n</a:t>
            </a:r>
            <a:r>
              <a:rPr lang="en-US" altLang="en-US" dirty="0"/>
              <a:t> = 7, the number is 665280, with </a:t>
            </a:r>
            <a:r>
              <a:rPr lang="en-US" altLang="en-US" i="1" dirty="0"/>
              <a:t>n = </a:t>
            </a:r>
            <a:r>
              <a:rPr lang="en-US" altLang="en-US" dirty="0"/>
              <a:t>10, the</a:t>
            </a:r>
            <a:r>
              <a:rPr lang="en-US" altLang="en-US" i="1" dirty="0"/>
              <a:t> </a:t>
            </a:r>
            <a:r>
              <a:rPr lang="en-US" altLang="en-US" dirty="0"/>
              <a:t>number is greater than 176 billion!</a:t>
            </a:r>
          </a:p>
          <a:p>
            <a:r>
              <a:rPr lang="en-US" altLang="en-US" dirty="0"/>
              <a:t>No need to generate all the join orders.  Using dynamic programming, the least-cost join order for any subset of </a:t>
            </a:r>
            <a:br>
              <a:rPr lang="en-US" altLang="en-US" dirty="0"/>
            </a:br>
            <a:r>
              <a:rPr lang="en-US" altLang="en-US" dirty="0"/>
              <a:t>{</a:t>
            </a:r>
            <a:r>
              <a:rPr lang="en-US" altLang="en-US" i="1" dirty="0"/>
              <a:t>r</a:t>
            </a:r>
            <a:r>
              <a:rPr lang="en-US" altLang="en-US" baseline="-25000" dirty="0"/>
              <a:t>1</a:t>
            </a:r>
            <a:r>
              <a:rPr lang="en-US" altLang="en-US" dirty="0"/>
              <a:t>, </a:t>
            </a:r>
            <a:r>
              <a:rPr lang="en-US" altLang="en-US" i="1" dirty="0"/>
              <a:t>r</a:t>
            </a:r>
            <a:r>
              <a:rPr lang="en-US" altLang="en-US" baseline="-25000" dirty="0"/>
              <a:t>2</a:t>
            </a:r>
            <a:r>
              <a:rPr lang="en-US" altLang="en-US" dirty="0"/>
              <a:t>, . . . </a:t>
            </a:r>
            <a:r>
              <a:rPr lang="en-US" altLang="en-US" i="1" dirty="0" err="1"/>
              <a:t>r</a:t>
            </a:r>
            <a:r>
              <a:rPr lang="en-US" altLang="en-US" i="1" baseline="-25000" dirty="0" err="1"/>
              <a:t>n</a:t>
            </a:r>
            <a:r>
              <a:rPr lang="en-US" altLang="en-US" dirty="0"/>
              <a:t>} is computed only once and stored for future use.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Rectangle 2">
            <a:extLst>
              <a:ext uri="{FF2B5EF4-FFF2-40B4-BE49-F238E27FC236}">
                <a16:creationId xmlns:a16="http://schemas.microsoft.com/office/drawing/2014/main" id="{82ED439D-5E84-4683-953D-387E702F78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Heuristic Optimization</a:t>
            </a:r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63FE8240-83B1-4C08-8204-3A38A6B7C47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35267" y="1073622"/>
            <a:ext cx="7911967" cy="5367972"/>
          </a:xfrm>
        </p:spPr>
        <p:txBody>
          <a:bodyPr/>
          <a:lstStyle/>
          <a:p>
            <a:r>
              <a:rPr lang="en-US" altLang="en-US" dirty="0"/>
              <a:t>Cost-based optimization is expensive, even with dynamic programming.</a:t>
            </a:r>
          </a:p>
          <a:p>
            <a:r>
              <a:rPr lang="en-US" altLang="en-US" dirty="0"/>
              <a:t>Systems may use </a:t>
            </a:r>
            <a:r>
              <a:rPr lang="en-US" altLang="en-US" i="1" dirty="0"/>
              <a:t>heuristics </a:t>
            </a:r>
            <a:r>
              <a:rPr lang="en-US" altLang="en-US" dirty="0"/>
              <a:t>to reduce the number of choices that must be made in a cost-based fashion.</a:t>
            </a:r>
          </a:p>
          <a:p>
            <a:r>
              <a:rPr lang="en-US" altLang="en-US" dirty="0"/>
              <a:t>Heuristic optimization transforms the query-tree by using a set of rules that typically (but not in all cases) improve execution performance:</a:t>
            </a:r>
          </a:p>
          <a:p>
            <a:pPr lvl="1"/>
            <a:r>
              <a:rPr lang="en-US" altLang="en-US" dirty="0"/>
              <a:t>Perform selection early (reduces the number of tuples)</a:t>
            </a:r>
          </a:p>
          <a:p>
            <a:pPr lvl="1"/>
            <a:r>
              <a:rPr lang="en-US" altLang="en-US" dirty="0"/>
              <a:t>Perform projection early (reduces the number of attributes)</a:t>
            </a:r>
          </a:p>
          <a:p>
            <a:pPr lvl="1"/>
            <a:r>
              <a:rPr lang="en-US" altLang="en-US" dirty="0"/>
              <a:t>Perform most restrictive selection and join operations (i.e., with smallest result size) before other similar operations.</a:t>
            </a:r>
          </a:p>
          <a:p>
            <a:pPr lvl="1"/>
            <a:r>
              <a:rPr lang="en-US" altLang="en-US" dirty="0"/>
              <a:t>Some systems use only heuristics, others combine heuristics with partial cost-based optimization.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80211" y="2770453"/>
            <a:ext cx="71949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MS PGothic" charset="0"/>
              </a:rPr>
              <a:t>Statistics for Cost Estimation</a:t>
            </a:r>
            <a:endParaRPr kumimoji="1" 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0261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666" name="Rectangle 2">
            <a:extLst>
              <a:ext uri="{FF2B5EF4-FFF2-40B4-BE49-F238E27FC236}">
                <a16:creationId xmlns:a16="http://schemas.microsoft.com/office/drawing/2014/main" id="{252523AE-0431-4C86-991C-4ADEC55815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8350" y="117474"/>
            <a:ext cx="8375650" cy="671665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Statistical Information for Cost Estimation</a:t>
            </a:r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47BD364A-03AF-4F06-BA7E-96341C7F43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54518" y="1102497"/>
            <a:ext cx="7806088" cy="5367972"/>
          </a:xfrm>
        </p:spPr>
        <p:txBody>
          <a:bodyPr/>
          <a:lstStyle/>
          <a:p>
            <a:r>
              <a:rPr lang="en-US" altLang="en-US" i="1" dirty="0" err="1"/>
              <a:t>n</a:t>
            </a:r>
            <a:r>
              <a:rPr lang="en-US" altLang="en-US" i="1" baseline="-25000" dirty="0" err="1"/>
              <a:t>r</a:t>
            </a:r>
            <a:r>
              <a:rPr lang="en-US" altLang="en-US" i="1" dirty="0"/>
              <a:t>:  </a:t>
            </a:r>
            <a:r>
              <a:rPr lang="en-US" altLang="en-US" dirty="0"/>
              <a:t>number of tuples in a relation </a:t>
            </a:r>
            <a:r>
              <a:rPr lang="en-US" altLang="en-US" i="1" dirty="0"/>
              <a:t>r.</a:t>
            </a:r>
            <a:endParaRPr lang="en-US" altLang="en-US" dirty="0"/>
          </a:p>
          <a:p>
            <a:r>
              <a:rPr lang="en-US" altLang="en-US" i="1" dirty="0" err="1"/>
              <a:t>b</a:t>
            </a:r>
            <a:r>
              <a:rPr lang="en-US" altLang="en-US" i="1" baseline="-25000" dirty="0" err="1"/>
              <a:t>r</a:t>
            </a:r>
            <a:r>
              <a:rPr lang="en-US" altLang="en-US" dirty="0"/>
              <a:t>: number of blocks containing tuples of </a:t>
            </a:r>
            <a:r>
              <a:rPr lang="en-US" altLang="en-US" i="1" dirty="0"/>
              <a:t>r.</a:t>
            </a:r>
            <a:endParaRPr lang="en-US" altLang="en-US" dirty="0"/>
          </a:p>
          <a:p>
            <a:r>
              <a:rPr lang="en-US" altLang="en-US" i="1" dirty="0" err="1"/>
              <a:t>l</a:t>
            </a:r>
            <a:r>
              <a:rPr lang="en-US" altLang="en-US" i="1" baseline="-25000" dirty="0" err="1"/>
              <a:t>r</a:t>
            </a:r>
            <a:r>
              <a:rPr lang="en-US" altLang="en-US" dirty="0"/>
              <a:t>: size of a tuple of </a:t>
            </a:r>
            <a:r>
              <a:rPr lang="en-US" altLang="en-US" i="1" dirty="0"/>
              <a:t>r.</a:t>
            </a:r>
          </a:p>
          <a:p>
            <a:r>
              <a:rPr lang="en-US" altLang="en-US" i="1" dirty="0" err="1"/>
              <a:t>f</a:t>
            </a:r>
            <a:r>
              <a:rPr lang="en-US" altLang="en-US" i="1" baseline="-25000" dirty="0" err="1"/>
              <a:t>r</a:t>
            </a:r>
            <a:r>
              <a:rPr lang="en-US" altLang="en-US" i="1" dirty="0"/>
              <a:t>: </a:t>
            </a:r>
            <a:r>
              <a:rPr lang="en-US" altLang="en-US" dirty="0"/>
              <a:t>blocking factor of </a:t>
            </a:r>
            <a:r>
              <a:rPr lang="en-US" altLang="en-US" i="1" dirty="0"/>
              <a:t>r</a:t>
            </a:r>
            <a:r>
              <a:rPr lang="en-US" altLang="en-US" dirty="0"/>
              <a:t> — i.e., the number of tuples of </a:t>
            </a:r>
            <a:r>
              <a:rPr lang="en-US" altLang="en-US" i="1" dirty="0"/>
              <a:t>r </a:t>
            </a:r>
            <a:r>
              <a:rPr lang="en-US" altLang="en-US" dirty="0"/>
              <a:t>that fit into one block.</a:t>
            </a:r>
          </a:p>
          <a:p>
            <a:r>
              <a:rPr lang="en-US" altLang="en-US" i="1" dirty="0"/>
              <a:t>V(A, r):</a:t>
            </a:r>
            <a:r>
              <a:rPr lang="en-US" altLang="en-US" dirty="0"/>
              <a:t> number of distinct values that appear in </a:t>
            </a:r>
            <a:r>
              <a:rPr lang="en-US" altLang="en-US" i="1" dirty="0"/>
              <a:t>r</a:t>
            </a:r>
            <a:r>
              <a:rPr lang="en-US" altLang="en-US" dirty="0"/>
              <a:t> for attribute </a:t>
            </a:r>
            <a:r>
              <a:rPr lang="en-US" altLang="en-US" i="1" dirty="0"/>
              <a:t>A; </a:t>
            </a:r>
            <a:r>
              <a:rPr lang="en-US" altLang="en-US" dirty="0"/>
              <a:t>same as the size of </a:t>
            </a:r>
            <a:r>
              <a:rPr lang="en-US" altLang="en-US" dirty="0">
                <a:sym typeface="Symbol" panose="05050102010706020507" pitchFamily="18" charset="2"/>
              </a:rPr>
              <a:t></a:t>
            </a:r>
            <a:r>
              <a:rPr lang="en-US" altLang="en-US" i="1" baseline="-25000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dirty="0">
                <a:sym typeface="Symbol" panose="05050102010706020507" pitchFamily="18" charset="2"/>
              </a:rPr>
              <a:t>).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If tuples of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dirty="0">
                <a:sym typeface="Symbol" panose="05050102010706020507" pitchFamily="18" charset="2"/>
              </a:rPr>
              <a:t> are stored together physically in a file, then: </a:t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/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/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/>
            </a:r>
            <a:br>
              <a:rPr lang="en-US" altLang="en-US" dirty="0">
                <a:sym typeface="Symbol" panose="05050102010706020507" pitchFamily="18" charset="2"/>
              </a:rPr>
            </a:br>
            <a:endParaRPr lang="en-US" altLang="en-US" dirty="0">
              <a:sym typeface="Symbol" panose="05050102010706020507" pitchFamily="18" charset="2"/>
            </a:endParaRPr>
          </a:p>
        </p:txBody>
      </p:sp>
      <p:graphicFrame>
        <p:nvGraphicFramePr>
          <p:cNvPr id="71684" name="Object 2">
            <a:extLst>
              <a:ext uri="{FF2B5EF4-FFF2-40B4-BE49-F238E27FC236}">
                <a16:creationId xmlns:a16="http://schemas.microsoft.com/office/drawing/2014/main" id="{55A18B11-A2C4-4B33-91D7-440CA26062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2656673"/>
              </p:ext>
            </p:extLst>
          </p:nvPr>
        </p:nvGraphicFramePr>
        <p:xfrm>
          <a:off x="3590642" y="3691271"/>
          <a:ext cx="8890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20" name="Equation" r:id="rId4" imgW="889000" imgH="660400" progId="Equation.3">
                  <p:embed/>
                </p:oleObj>
              </mc:Choice>
              <mc:Fallback>
                <p:oleObj name="Equation" r:id="rId4" imgW="889000" imgH="6604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0642" y="3691271"/>
                        <a:ext cx="8890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690" name="Rectangle 2">
            <a:extLst>
              <a:ext uri="{FF2B5EF4-FFF2-40B4-BE49-F238E27FC236}">
                <a16:creationId xmlns:a16="http://schemas.microsoft.com/office/drawing/2014/main" id="{4CBB64EA-64A3-40D7-A007-B17EF0C9D1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Histograms</a:t>
            </a:r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8BCD9F34-1091-43A5-8EC9-11FA490274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4418" y="1061261"/>
            <a:ext cx="5123708" cy="2907838"/>
          </a:xfrm>
        </p:spPr>
        <p:txBody>
          <a:bodyPr/>
          <a:lstStyle/>
          <a:p>
            <a:r>
              <a:rPr lang="en-US" altLang="en-US" dirty="0"/>
              <a:t>Histogram on attribute </a:t>
            </a:r>
            <a:r>
              <a:rPr lang="en-US" altLang="en-US" i="1" dirty="0"/>
              <a:t>age</a:t>
            </a:r>
            <a:r>
              <a:rPr lang="en-US" altLang="en-US" dirty="0"/>
              <a:t> of relation </a:t>
            </a:r>
            <a:r>
              <a:rPr lang="en-US" altLang="en-US" i="1" dirty="0" smtClean="0"/>
              <a:t>person</a:t>
            </a:r>
            <a:endParaRPr lang="en-US" altLang="en-US" dirty="0"/>
          </a:p>
          <a:p>
            <a:r>
              <a:rPr lang="en-US" altLang="en-US" b="1" dirty="0" err="1">
                <a:solidFill>
                  <a:srgbClr val="002060"/>
                </a:solidFill>
              </a:rPr>
              <a:t>Equi</a:t>
            </a:r>
            <a:r>
              <a:rPr lang="en-US" altLang="en-US" b="1" dirty="0">
                <a:solidFill>
                  <a:srgbClr val="002060"/>
                </a:solidFill>
              </a:rPr>
              <a:t>-width</a:t>
            </a:r>
            <a:r>
              <a:rPr lang="en-US" altLang="en-US" dirty="0"/>
              <a:t> histograms</a:t>
            </a:r>
          </a:p>
          <a:p>
            <a:r>
              <a:rPr lang="en-US" altLang="en-US" b="1" dirty="0" err="1">
                <a:solidFill>
                  <a:srgbClr val="002060"/>
                </a:solidFill>
              </a:rPr>
              <a:t>Equi</a:t>
            </a:r>
            <a:r>
              <a:rPr lang="en-US" altLang="en-US" b="1" dirty="0">
                <a:solidFill>
                  <a:srgbClr val="002060"/>
                </a:solidFill>
              </a:rPr>
              <a:t>-depth</a:t>
            </a:r>
            <a:r>
              <a:rPr lang="en-US" altLang="en-US" dirty="0"/>
              <a:t> histograms break up range such that each range has (approximately) the same number of tuples</a:t>
            </a:r>
          </a:p>
          <a:p>
            <a:r>
              <a:rPr lang="en-US" altLang="en-US" dirty="0" smtClean="0"/>
              <a:t>Many </a:t>
            </a:r>
            <a:r>
              <a:rPr lang="en-US" altLang="en-US" dirty="0"/>
              <a:t>databases also store </a:t>
            </a:r>
            <a:r>
              <a:rPr lang="en-US" altLang="en-US" i="1" dirty="0"/>
              <a:t>n </a:t>
            </a:r>
            <a:r>
              <a:rPr lang="en-US" altLang="en-US" b="1" dirty="0">
                <a:solidFill>
                  <a:srgbClr val="002060"/>
                </a:solidFill>
              </a:rPr>
              <a:t>most-frequent values </a:t>
            </a:r>
            <a:r>
              <a:rPr lang="en-US" altLang="en-US" dirty="0"/>
              <a:t>and their counts</a:t>
            </a:r>
          </a:p>
          <a:p>
            <a:pPr lvl="1"/>
            <a:r>
              <a:rPr lang="en-US" altLang="en-US" dirty="0"/>
              <a:t>Histogram is built on remaining values only</a:t>
            </a:r>
          </a:p>
        </p:txBody>
      </p:sp>
      <p:pic>
        <p:nvPicPr>
          <p:cNvPr id="73732" name="Picture 5">
            <a:extLst>
              <a:ext uri="{FF2B5EF4-FFF2-40B4-BE49-F238E27FC236}">
                <a16:creationId xmlns:a16="http://schemas.microsoft.com/office/drawing/2014/main" id="{A3C2BFE6-D0A1-4BB1-AFE8-7CD8B81AB1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1425" y="961821"/>
            <a:ext cx="4092575" cy="28839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124418" y="4584176"/>
            <a:ext cx="8617648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Histograms and other statistics usually computed based on a </a:t>
            </a:r>
            <a:r>
              <a:rPr lang="en-IN" sz="1800" b="1" dirty="0">
                <a:solidFill>
                  <a:srgbClr val="002060"/>
                </a:solidFill>
              </a:rPr>
              <a:t>random </a:t>
            </a:r>
            <a:r>
              <a:rPr lang="en-IN" sz="1800" b="1" dirty="0" smtClean="0">
                <a:solidFill>
                  <a:srgbClr val="002060"/>
                </a:solidFill>
              </a:rPr>
              <a:t>sample</a:t>
            </a:r>
            <a:endParaRPr lang="en-IN" sz="1800" b="1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Statistics may be out of date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Some database require </a:t>
            </a:r>
            <a:r>
              <a:rPr lang="en-IN" dirty="0" smtClean="0"/>
              <a:t>an ‘</a:t>
            </a:r>
            <a:r>
              <a:rPr lang="en-IN" b="1" dirty="0" smtClean="0"/>
              <a:t>analyse' </a:t>
            </a:r>
            <a:r>
              <a:rPr lang="en-IN" dirty="0" smtClean="0"/>
              <a:t> </a:t>
            </a:r>
            <a:r>
              <a:rPr lang="en-IN" dirty="0"/>
              <a:t>command to be executed to update statistics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Others automatically </a:t>
            </a:r>
            <a:r>
              <a:rPr lang="en-IN" dirty="0" smtClean="0"/>
              <a:t>re-compute </a:t>
            </a:r>
            <a:r>
              <a:rPr lang="en-IN" dirty="0"/>
              <a:t>statistics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1400" dirty="0"/>
              <a:t>e.g., when number of tuples in a relation changes by some percentage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9" name="Rectangle 3">
            <a:extLst>
              <a:ext uri="{FF2B5EF4-FFF2-40B4-BE49-F238E27FC236}">
                <a16:creationId xmlns:a16="http://schemas.microsoft.com/office/drawing/2014/main" id="{A902C18D-987A-402C-B20E-660F1DA6FA13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54519" y="1092794"/>
            <a:ext cx="7843762" cy="4903787"/>
          </a:xfrm>
          <a:prstGeom prst="rect">
            <a:avLst/>
          </a:prstGeom>
        </p:spPr>
        <p:txBody>
          <a:bodyPr/>
          <a:lstStyle/>
          <a:p>
            <a:pPr>
              <a:buSzPct val="110000"/>
              <a:buFont typeface="Wingdings" panose="05000000000000000000" pitchFamily="2" charset="2"/>
              <a:buChar char="§"/>
            </a:pPr>
            <a:r>
              <a:rPr lang="en-US" altLang="en-US" b="1" dirty="0">
                <a:sym typeface="Symbol" panose="05050102010706020507" pitchFamily="18" charset="2"/>
              </a:rPr>
              <a:t></a:t>
            </a:r>
            <a:r>
              <a:rPr lang="en-US" altLang="en-US" b="1" i="1" baseline="-25000" dirty="0">
                <a:sym typeface="Symbol" panose="05050102010706020507" pitchFamily="18" charset="2"/>
              </a:rPr>
              <a:t>A=v</a:t>
            </a:r>
            <a:r>
              <a:rPr lang="en-US" altLang="en-US" b="1" dirty="0">
                <a:sym typeface="Symbol" panose="05050102010706020507" pitchFamily="18" charset="2"/>
              </a:rPr>
              <a:t>(</a:t>
            </a:r>
            <a:r>
              <a:rPr lang="en-US" altLang="en-US" b="1" i="1" dirty="0">
                <a:sym typeface="Symbol" panose="05050102010706020507" pitchFamily="18" charset="2"/>
              </a:rPr>
              <a:t>r</a:t>
            </a:r>
            <a:r>
              <a:rPr lang="en-US" altLang="en-US" b="1" dirty="0">
                <a:sym typeface="Symbol" panose="05050102010706020507" pitchFamily="18" charset="2"/>
              </a:rPr>
              <a:t>)</a:t>
            </a:r>
            <a:endParaRPr lang="en-US" altLang="en-US" dirty="0"/>
          </a:p>
          <a:p>
            <a:pPr lvl="1">
              <a:buSzPct val="110000"/>
              <a:buFont typeface="Arial" panose="020B0604020202020204" pitchFamily="34" charset="0"/>
              <a:buChar char="•"/>
            </a:pPr>
            <a:r>
              <a:rPr lang="en-US" altLang="en-US" i="1" dirty="0" err="1">
                <a:sym typeface="Symbol" panose="05050102010706020507" pitchFamily="18" charset="2"/>
              </a:rPr>
              <a:t>n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r</a:t>
            </a:r>
            <a:r>
              <a:rPr lang="en-US" altLang="en-US" i="1" dirty="0">
                <a:sym typeface="Symbol" panose="05050102010706020507" pitchFamily="18" charset="2"/>
              </a:rPr>
              <a:t> / V(</a:t>
            </a:r>
            <a:r>
              <a:rPr lang="en-US" altLang="en-US" i="1" dirty="0" err="1">
                <a:sym typeface="Symbol" panose="05050102010706020507" pitchFamily="18" charset="2"/>
              </a:rPr>
              <a:t>A,r</a:t>
            </a:r>
            <a:r>
              <a:rPr lang="en-US" altLang="en-US" i="1" dirty="0">
                <a:sym typeface="Symbol" panose="05050102010706020507" pitchFamily="18" charset="2"/>
              </a:rPr>
              <a:t>) </a:t>
            </a:r>
            <a:r>
              <a:rPr lang="en-US" altLang="en-US" dirty="0">
                <a:sym typeface="Symbol" panose="05050102010706020507" pitchFamily="18" charset="2"/>
              </a:rPr>
              <a:t>: number of records that will satisfy the selection</a:t>
            </a:r>
          </a:p>
          <a:p>
            <a:pPr lvl="1">
              <a:buSzPct val="110000"/>
              <a:buFont typeface="Arial" panose="020B0604020202020204" pitchFamily="34" charset="0"/>
              <a:buChar char="•"/>
            </a:pPr>
            <a:r>
              <a:rPr lang="en-US" altLang="en-US" dirty="0">
                <a:sym typeface="Symbol" panose="05050102010706020507" pitchFamily="18" charset="2"/>
              </a:rPr>
              <a:t>Equality condition on a key attribute:</a:t>
            </a:r>
            <a:r>
              <a:rPr lang="en-US" altLang="en-US" i="1" dirty="0">
                <a:sym typeface="Symbol" panose="05050102010706020507" pitchFamily="18" charset="2"/>
              </a:rPr>
              <a:t> size estimate = </a:t>
            </a:r>
            <a:r>
              <a:rPr lang="en-US" altLang="en-US" dirty="0">
                <a:sym typeface="Symbol" panose="05050102010706020507" pitchFamily="18" charset="2"/>
              </a:rPr>
              <a:t>1</a:t>
            </a:r>
          </a:p>
          <a:p>
            <a:pPr>
              <a:buSzPct val="110000"/>
              <a:buFont typeface="Wingdings" panose="05000000000000000000" pitchFamily="2" charset="2"/>
              <a:buChar char="§"/>
            </a:pPr>
            <a:r>
              <a:rPr kumimoji="0" lang="en-US" altLang="en-US" dirty="0">
                <a:sym typeface="Symbol" panose="05050102010706020507" pitchFamily="18" charset="2"/>
              </a:rPr>
              <a:t></a:t>
            </a:r>
            <a:r>
              <a:rPr kumimoji="0" lang="en-US" altLang="en-US" i="1" baseline="-25000" dirty="0">
                <a:sym typeface="Symbol" panose="05050102010706020507" pitchFamily="18" charset="2"/>
              </a:rPr>
              <a:t>A</a:t>
            </a:r>
            <a:r>
              <a:rPr kumimoji="0" lang="en-US" altLang="en-US" baseline="-25000" dirty="0">
                <a:sym typeface="Symbol" panose="05050102010706020507" pitchFamily="18" charset="2"/>
              </a:rPr>
              <a:t></a:t>
            </a:r>
            <a:r>
              <a:rPr kumimoji="0" lang="en-US" altLang="en-US" i="1" baseline="-25000" dirty="0">
                <a:sym typeface="Symbol" panose="05050102010706020507" pitchFamily="18" charset="2"/>
              </a:rPr>
              <a:t>V</a:t>
            </a:r>
            <a:r>
              <a:rPr kumimoji="0" lang="en-US" altLang="en-US" dirty="0">
                <a:sym typeface="Symbol" panose="05050102010706020507" pitchFamily="18" charset="2"/>
              </a:rPr>
              <a:t>(</a:t>
            </a:r>
            <a:r>
              <a:rPr kumimoji="0" lang="en-US" altLang="en-US" i="1" dirty="0">
                <a:sym typeface="Symbol" panose="05050102010706020507" pitchFamily="18" charset="2"/>
              </a:rPr>
              <a:t>r</a:t>
            </a:r>
            <a:r>
              <a:rPr kumimoji="0" lang="en-US" altLang="en-US" dirty="0">
                <a:sym typeface="Symbol" panose="05050102010706020507" pitchFamily="18" charset="2"/>
              </a:rPr>
              <a:t>) (case of </a:t>
            </a:r>
            <a:r>
              <a:rPr kumimoji="0" lang="en-US" altLang="en-US" i="1" baseline="-25000" dirty="0">
                <a:sym typeface="Symbol" panose="05050102010706020507" pitchFamily="18" charset="2"/>
              </a:rPr>
              <a:t>A </a:t>
            </a:r>
            <a:r>
              <a:rPr kumimoji="0" lang="en-US" altLang="en-US" baseline="-25000" dirty="0">
                <a:sym typeface="Symbol" panose="05050102010706020507" pitchFamily="18" charset="2"/>
              </a:rPr>
              <a:t> </a:t>
            </a:r>
            <a:r>
              <a:rPr kumimoji="0" lang="en-US" altLang="en-US" i="1" baseline="-25000" dirty="0">
                <a:sym typeface="Symbol" panose="05050102010706020507" pitchFamily="18" charset="2"/>
              </a:rPr>
              <a:t>V</a:t>
            </a:r>
            <a:r>
              <a:rPr kumimoji="0" lang="en-US" altLang="en-US" dirty="0">
                <a:sym typeface="Symbol" panose="05050102010706020507" pitchFamily="18" charset="2"/>
              </a:rPr>
              <a:t>(</a:t>
            </a:r>
            <a:r>
              <a:rPr kumimoji="0" lang="en-US" altLang="en-US" i="1" dirty="0">
                <a:sym typeface="Symbol" panose="05050102010706020507" pitchFamily="18" charset="2"/>
              </a:rPr>
              <a:t>r</a:t>
            </a:r>
            <a:r>
              <a:rPr kumimoji="0" lang="en-US" altLang="en-US" dirty="0">
                <a:sym typeface="Symbol" panose="05050102010706020507" pitchFamily="18" charset="2"/>
              </a:rPr>
              <a:t>) is symmetric)</a:t>
            </a:r>
            <a:endParaRPr lang="en-US" altLang="en-US" dirty="0"/>
          </a:p>
          <a:p>
            <a:pPr lvl="1">
              <a:buSzPct val="110000"/>
              <a:buFont typeface="Arial" panose="020B0604020202020204" pitchFamily="34" charset="0"/>
              <a:buChar char="•"/>
            </a:pPr>
            <a:r>
              <a:rPr lang="en-US" altLang="en-US" dirty="0"/>
              <a:t>Let c denote  the estimated number of tuples satisfying the condition. </a:t>
            </a:r>
          </a:p>
          <a:p>
            <a:pPr lvl="1">
              <a:buSzPct val="110000"/>
              <a:buFont typeface="Arial" panose="020B0604020202020204" pitchFamily="34" charset="0"/>
              <a:buChar char="•"/>
            </a:pPr>
            <a:r>
              <a:rPr lang="en-US" altLang="en-US" dirty="0">
                <a:sym typeface="Symbol" panose="05050102010706020507" pitchFamily="18" charset="2"/>
              </a:rPr>
              <a:t>If min(</a:t>
            </a:r>
            <a:r>
              <a:rPr lang="en-US" altLang="en-US" dirty="0" err="1">
                <a:sym typeface="Symbol" panose="05050102010706020507" pitchFamily="18" charset="2"/>
              </a:rPr>
              <a:t>A,r</a:t>
            </a:r>
            <a:r>
              <a:rPr lang="en-US" altLang="en-US" dirty="0">
                <a:sym typeface="Symbol" panose="05050102010706020507" pitchFamily="18" charset="2"/>
              </a:rPr>
              <a:t>) and max(</a:t>
            </a:r>
            <a:r>
              <a:rPr lang="en-US" altLang="en-US" dirty="0" err="1">
                <a:sym typeface="Symbol" panose="05050102010706020507" pitchFamily="18" charset="2"/>
              </a:rPr>
              <a:t>A,r</a:t>
            </a:r>
            <a:r>
              <a:rPr lang="en-US" altLang="en-US" dirty="0">
                <a:sym typeface="Symbol" panose="05050102010706020507" pitchFamily="18" charset="2"/>
              </a:rPr>
              <a:t>) are available in catalog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altLang="en-US" dirty="0"/>
              <a:t>c = 0 if v &lt; min(</a:t>
            </a:r>
            <a:r>
              <a:rPr lang="en-US" altLang="en-US" dirty="0" err="1"/>
              <a:t>A,r</a:t>
            </a:r>
            <a:r>
              <a:rPr lang="en-US" altLang="en-US" dirty="0"/>
              <a:t>)</a:t>
            </a:r>
            <a:br>
              <a:rPr lang="en-US" altLang="en-US" dirty="0"/>
            </a:br>
            <a:endParaRPr lang="en-US" altLang="en-US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en-US" altLang="en-US" dirty="0"/>
              <a:t>c =</a:t>
            </a:r>
            <a:br>
              <a:rPr lang="en-US" altLang="en-US" dirty="0"/>
            </a:br>
            <a:endParaRPr lang="en-US" altLang="en-US" dirty="0"/>
          </a:p>
          <a:p>
            <a:pPr lvl="1">
              <a:buSzPct val="110000"/>
              <a:buFont typeface="Arial" panose="020B0604020202020204" pitchFamily="34" charset="0"/>
              <a:buChar char="•"/>
            </a:pPr>
            <a:r>
              <a:rPr lang="en-US" altLang="en-US" dirty="0" smtClean="0"/>
              <a:t>If </a:t>
            </a:r>
            <a:r>
              <a:rPr lang="en-US" altLang="en-US" dirty="0"/>
              <a:t>histograms available, can refine above estimate</a:t>
            </a:r>
          </a:p>
          <a:p>
            <a:pPr lvl="1">
              <a:buSzPct val="110000"/>
              <a:buFont typeface="Arial" panose="020B0604020202020204" pitchFamily="34" charset="0"/>
              <a:buChar char="•"/>
            </a:pPr>
            <a:r>
              <a:rPr lang="en-US" altLang="en-US" dirty="0"/>
              <a:t>In absence of statistical information</a:t>
            </a:r>
            <a:r>
              <a:rPr lang="en-US" altLang="en-US" i="1" dirty="0"/>
              <a:t> c </a:t>
            </a:r>
            <a:r>
              <a:rPr lang="en-US" altLang="en-US" dirty="0"/>
              <a:t>is assumed to be</a:t>
            </a:r>
            <a:r>
              <a:rPr lang="en-US" altLang="en-US" i="1" dirty="0"/>
              <a:t> </a:t>
            </a:r>
            <a:r>
              <a:rPr lang="en-US" altLang="en-US" i="1" dirty="0" err="1">
                <a:sym typeface="Symbol" panose="05050102010706020507" pitchFamily="18" charset="2"/>
              </a:rPr>
              <a:t>n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r</a:t>
            </a:r>
            <a:r>
              <a:rPr lang="en-US" altLang="en-US" i="1" baseline="-25000" dirty="0">
                <a:sym typeface="Symbol" panose="05050102010706020507" pitchFamily="18" charset="2"/>
              </a:rPr>
              <a:t> </a:t>
            </a:r>
            <a:r>
              <a:rPr lang="en-US" altLang="en-US" i="1" dirty="0">
                <a:sym typeface="Symbol" panose="05050102010706020507" pitchFamily="18" charset="2"/>
              </a:rPr>
              <a:t>/ </a:t>
            </a:r>
            <a:r>
              <a:rPr lang="en-US" altLang="en-US" dirty="0">
                <a:sym typeface="Symbol" panose="05050102010706020507" pitchFamily="18" charset="2"/>
              </a:rPr>
              <a:t>2.</a:t>
            </a:r>
          </a:p>
          <a:p>
            <a:pPr lvl="2"/>
            <a:endParaRPr lang="en-US" altLang="en-US" sz="1600" dirty="0">
              <a:sym typeface="Symbol" panose="05050102010706020507" pitchFamily="18" charset="2"/>
            </a:endParaRPr>
          </a:p>
        </p:txBody>
      </p:sp>
      <p:sp>
        <p:nvSpPr>
          <p:cNvPr id="499714" name="Rectangle 2">
            <a:extLst>
              <a:ext uri="{FF2B5EF4-FFF2-40B4-BE49-F238E27FC236}">
                <a16:creationId xmlns:a16="http://schemas.microsoft.com/office/drawing/2014/main" id="{C897B721-DA5B-48DB-89C5-0ECC40E42E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Selection Size Estimation</a:t>
            </a:r>
          </a:p>
        </p:txBody>
      </p:sp>
      <p:graphicFrame>
        <p:nvGraphicFramePr>
          <p:cNvPr id="75780" name="Object 2">
            <a:extLst>
              <a:ext uri="{FF2B5EF4-FFF2-40B4-BE49-F238E27FC236}">
                <a16:creationId xmlns:a16="http://schemas.microsoft.com/office/drawing/2014/main" id="{51A7D16A-0EF1-42C9-84D1-BB8084DBD575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7245174"/>
              </p:ext>
            </p:extLst>
          </p:nvPr>
        </p:nvGraphicFramePr>
        <p:xfrm>
          <a:off x="2217019" y="3701147"/>
          <a:ext cx="2167090" cy="5972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918" name="Equation" r:id="rId4" imgW="1612900" imgH="444500" progId="Equation.3">
                  <p:embed/>
                </p:oleObj>
              </mc:Choice>
              <mc:Fallback>
                <p:oleObj name="Equation" r:id="rId4" imgW="1612900" imgH="4445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7019" y="3701147"/>
                        <a:ext cx="2167090" cy="5972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738" name="Rectangle 2">
            <a:extLst>
              <a:ext uri="{FF2B5EF4-FFF2-40B4-BE49-F238E27FC236}">
                <a16:creationId xmlns:a16="http://schemas.microsoft.com/office/drawing/2014/main" id="{25B34E41-68A0-4111-B5A3-5964468F8F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Size Estimation of Complex Selections</a:t>
            </a:r>
          </a:p>
        </p:txBody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2F37CA3D-1CFA-4DD3-8583-A2203BB9D1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71306" y="1102497"/>
            <a:ext cx="8574244" cy="5367972"/>
          </a:xfrm>
        </p:spPr>
        <p:txBody>
          <a:bodyPr/>
          <a:lstStyle/>
          <a:p>
            <a:pPr>
              <a:tabLst>
                <a:tab pos="2338388" algn="l"/>
              </a:tabLst>
            </a:pPr>
            <a:r>
              <a:rPr lang="en-US" altLang="en-US" dirty="0"/>
              <a:t>The </a:t>
            </a:r>
            <a:r>
              <a:rPr lang="en-US" altLang="en-US" b="1" dirty="0">
                <a:solidFill>
                  <a:srgbClr val="002060"/>
                </a:solidFill>
              </a:rPr>
              <a:t>selectivity </a:t>
            </a:r>
            <a:r>
              <a:rPr lang="en-US" altLang="en-US" dirty="0"/>
              <a:t>of a condition </a:t>
            </a:r>
            <a:r>
              <a:rPr lang="en-US" altLang="en-US" sz="2000" dirty="0">
                <a:sym typeface="Symbol" panose="05050102010706020507" pitchFamily="18" charset="2"/>
              </a:rPr>
              <a:t></a:t>
            </a:r>
            <a:r>
              <a:rPr lang="en-US" altLang="en-US" i="1" baseline="-25000" dirty="0" err="1">
                <a:sym typeface="Greek Symbols" pitchFamily="18" charset="2"/>
              </a:rPr>
              <a:t>i</a:t>
            </a:r>
            <a:r>
              <a:rPr lang="en-US" altLang="en-US" dirty="0">
                <a:sym typeface="Greek Symbols" pitchFamily="18" charset="2"/>
              </a:rPr>
              <a:t> is the probability that a tuple in the relation </a:t>
            </a:r>
            <a:r>
              <a:rPr lang="en-US" altLang="en-US" i="1" dirty="0">
                <a:sym typeface="Greek Symbols" pitchFamily="18" charset="2"/>
              </a:rPr>
              <a:t>r</a:t>
            </a:r>
            <a:r>
              <a:rPr lang="en-US" altLang="en-US" dirty="0">
                <a:sym typeface="Greek Symbols" pitchFamily="18" charset="2"/>
              </a:rPr>
              <a:t> satisfies </a:t>
            </a:r>
            <a:r>
              <a:rPr lang="en-US" altLang="en-US" sz="2000" dirty="0">
                <a:sym typeface="Symbol" panose="05050102010706020507" pitchFamily="18" charset="2"/>
              </a:rPr>
              <a:t></a:t>
            </a:r>
            <a:r>
              <a:rPr lang="en-US" altLang="en-US" i="1" baseline="-25000" dirty="0" err="1">
                <a:sym typeface="Greek Symbols" pitchFamily="18" charset="2"/>
              </a:rPr>
              <a:t>i</a:t>
            </a:r>
            <a:r>
              <a:rPr lang="en-US" altLang="en-US" dirty="0">
                <a:sym typeface="Greek Symbols" pitchFamily="18" charset="2"/>
              </a:rPr>
              <a:t> . </a:t>
            </a:r>
          </a:p>
          <a:p>
            <a:pPr lvl="1">
              <a:tabLst>
                <a:tab pos="2338388" algn="l"/>
              </a:tabLst>
            </a:pPr>
            <a:r>
              <a:rPr lang="en-US" altLang="en-US" dirty="0" smtClean="0">
                <a:sym typeface="Greek Symbols" pitchFamily="18" charset="2"/>
              </a:rPr>
              <a:t>If </a:t>
            </a:r>
            <a:r>
              <a:rPr lang="en-US" altLang="en-US" i="1" dirty="0" err="1">
                <a:sym typeface="Greek Symbols" pitchFamily="18" charset="2"/>
              </a:rPr>
              <a:t>s</a:t>
            </a:r>
            <a:r>
              <a:rPr lang="en-US" altLang="en-US" i="1" baseline="-25000" dirty="0" err="1">
                <a:sym typeface="Greek Symbols" pitchFamily="18" charset="2"/>
              </a:rPr>
              <a:t>i</a:t>
            </a:r>
            <a:r>
              <a:rPr lang="en-US" altLang="en-US" i="1" dirty="0">
                <a:sym typeface="Greek Symbols" pitchFamily="18" charset="2"/>
              </a:rPr>
              <a:t> </a:t>
            </a:r>
            <a:r>
              <a:rPr lang="en-US" altLang="en-US" dirty="0">
                <a:sym typeface="Greek Symbols" pitchFamily="18" charset="2"/>
              </a:rPr>
              <a:t> is the number of satisfying tuples in </a:t>
            </a:r>
            <a:r>
              <a:rPr lang="en-US" altLang="en-US" i="1" dirty="0">
                <a:sym typeface="Greek Symbols" pitchFamily="18" charset="2"/>
              </a:rPr>
              <a:t>r, </a:t>
            </a:r>
            <a:r>
              <a:rPr lang="en-US" altLang="en-US" dirty="0">
                <a:sym typeface="Greek Symbols" pitchFamily="18" charset="2"/>
              </a:rPr>
              <a:t>the selectivity of </a:t>
            </a:r>
            <a:r>
              <a:rPr lang="en-US" altLang="en-US" i="1" dirty="0">
                <a:sym typeface="Greek Symbols" pitchFamily="18" charset="2"/>
              </a:rPr>
              <a:t> </a:t>
            </a:r>
            <a:r>
              <a:rPr lang="en-US" altLang="en-US" sz="2000" dirty="0">
                <a:sym typeface="Symbol" panose="05050102010706020507" pitchFamily="18" charset="2"/>
              </a:rPr>
              <a:t></a:t>
            </a:r>
            <a:r>
              <a:rPr lang="en-US" altLang="en-US" i="1" baseline="-25000" dirty="0" err="1">
                <a:sym typeface="Greek Symbols" pitchFamily="18" charset="2"/>
              </a:rPr>
              <a:t>i</a:t>
            </a:r>
            <a:r>
              <a:rPr lang="en-US" altLang="en-US" dirty="0">
                <a:sym typeface="Greek Symbols" pitchFamily="18" charset="2"/>
              </a:rPr>
              <a:t> is given by </a:t>
            </a:r>
            <a:r>
              <a:rPr lang="en-US" altLang="en-US" i="1" dirty="0" err="1">
                <a:sym typeface="Greek Symbols" pitchFamily="18" charset="2"/>
              </a:rPr>
              <a:t>s</a:t>
            </a:r>
            <a:r>
              <a:rPr lang="en-US" altLang="en-US" i="1" baseline="-25000" dirty="0" err="1">
                <a:sym typeface="Greek Symbols" pitchFamily="18" charset="2"/>
              </a:rPr>
              <a:t>i</a:t>
            </a:r>
            <a:r>
              <a:rPr lang="en-US" altLang="en-US" i="1" dirty="0">
                <a:sym typeface="Greek Symbols" pitchFamily="18" charset="2"/>
              </a:rPr>
              <a:t> /</a:t>
            </a:r>
            <a:r>
              <a:rPr lang="en-US" altLang="en-US" i="1" dirty="0" err="1">
                <a:sym typeface="Greek Symbols" pitchFamily="18" charset="2"/>
              </a:rPr>
              <a:t>n</a:t>
            </a:r>
            <a:r>
              <a:rPr lang="en-US" altLang="en-US" i="1" baseline="-25000" dirty="0" err="1">
                <a:sym typeface="Greek Symbols" pitchFamily="18" charset="2"/>
              </a:rPr>
              <a:t>r</a:t>
            </a:r>
            <a:r>
              <a:rPr lang="en-US" altLang="en-US" i="1" dirty="0">
                <a:sym typeface="Greek Symbols" pitchFamily="18" charset="2"/>
              </a:rPr>
              <a:t>.</a:t>
            </a:r>
            <a:endParaRPr lang="en-US" altLang="en-US" dirty="0">
              <a:sym typeface="Greek Symbols" pitchFamily="18" charset="2"/>
            </a:endParaRPr>
          </a:p>
          <a:p>
            <a:pPr>
              <a:tabLst>
                <a:tab pos="2338388" algn="l"/>
              </a:tabLst>
            </a:pPr>
            <a:r>
              <a:rPr lang="en-US" altLang="en-US" b="1" dirty="0">
                <a:sym typeface="Greek Symbols" pitchFamily="18" charset="2"/>
              </a:rPr>
              <a:t>Conjunction:  </a:t>
            </a:r>
            <a:r>
              <a:rPr lang="en-US" altLang="en-US" sz="2000" i="1" dirty="0">
                <a:sym typeface="Symbol" panose="05050102010706020507" pitchFamily="18" charset="2"/>
              </a:rPr>
              <a:t></a:t>
            </a:r>
            <a:r>
              <a:rPr lang="en-US" altLang="en-US" sz="2400" baseline="-25000" dirty="0">
                <a:sym typeface="Symbol" panose="05050102010706020507" pitchFamily="18" charset="2"/>
              </a:rPr>
              <a:t></a:t>
            </a:r>
            <a:r>
              <a:rPr lang="en-US" altLang="en-US" sz="2000" baseline="-25000" dirty="0">
                <a:sym typeface="Greek Symbols" pitchFamily="18" charset="2"/>
              </a:rPr>
              <a:t>1</a:t>
            </a:r>
            <a:r>
              <a:rPr lang="en-US" altLang="en-US" sz="2000" baseline="-25000" dirty="0">
                <a:sym typeface="Symbol" panose="05050102010706020507" pitchFamily="18" charset="2"/>
              </a:rPr>
              <a:t> </a:t>
            </a:r>
            <a:r>
              <a:rPr lang="en-US" altLang="en-US" sz="2400" baseline="-25000" dirty="0">
                <a:sym typeface="Symbol" panose="05050102010706020507" pitchFamily="18" charset="2"/>
              </a:rPr>
              <a:t></a:t>
            </a:r>
            <a:r>
              <a:rPr lang="en-US" altLang="en-US" sz="2000" baseline="-25000" dirty="0">
                <a:sym typeface="Greek Symbols" pitchFamily="18" charset="2"/>
              </a:rPr>
              <a:t>2</a:t>
            </a:r>
            <a:r>
              <a:rPr lang="en-US" altLang="en-US" sz="2000" baseline="-25000" dirty="0">
                <a:sym typeface="Symbol" panose="05050102010706020507" pitchFamily="18" charset="2"/>
              </a:rPr>
              <a:t>. . .  </a:t>
            </a:r>
            <a:r>
              <a:rPr lang="en-US" altLang="en-US" sz="2400" baseline="-25000" dirty="0">
                <a:sym typeface="Symbol" panose="05050102010706020507" pitchFamily="18" charset="2"/>
              </a:rPr>
              <a:t></a:t>
            </a:r>
            <a:r>
              <a:rPr lang="en-US" altLang="en-US" sz="2000" i="1" baseline="-25000" dirty="0">
                <a:sym typeface="Greek Symbols" pitchFamily="18" charset="2"/>
              </a:rPr>
              <a:t>n</a:t>
            </a:r>
            <a:r>
              <a:rPr lang="en-US" altLang="en-US" sz="2000" dirty="0">
                <a:sym typeface="Symbol" panose="05050102010706020507" pitchFamily="18" charset="2"/>
              </a:rPr>
              <a:t> (</a:t>
            </a:r>
            <a:r>
              <a:rPr lang="en-US" altLang="en-US" i="1" dirty="0">
                <a:sym typeface="Symbol" panose="05050102010706020507" pitchFamily="18" charset="2"/>
              </a:rPr>
              <a:t>r).  Assuming independence, </a:t>
            </a:r>
            <a:r>
              <a:rPr lang="en-US" altLang="en-US" dirty="0">
                <a:sym typeface="Symbol" panose="05050102010706020507" pitchFamily="18" charset="2"/>
              </a:rPr>
              <a:t>estimate of</a:t>
            </a:r>
            <a:r>
              <a:rPr lang="en-US" altLang="en-US" sz="2000" dirty="0">
                <a:sym typeface="Symbol" panose="05050102010706020507" pitchFamily="18" charset="2"/>
              </a:rPr>
              <a:t> </a:t>
            </a:r>
            <a:br>
              <a:rPr lang="en-US" altLang="en-US" sz="2000" dirty="0">
                <a:sym typeface="Symbol" panose="05050102010706020507" pitchFamily="18" charset="2"/>
              </a:rPr>
            </a:br>
            <a:r>
              <a:rPr lang="en-US" altLang="en-US" sz="2000" dirty="0">
                <a:sym typeface="Symbol" panose="05050102010706020507" pitchFamily="18" charset="2"/>
              </a:rPr>
              <a:t> </a:t>
            </a:r>
            <a:br>
              <a:rPr lang="en-US" altLang="en-US" sz="2000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>tuples in the</a:t>
            </a:r>
            <a:r>
              <a:rPr lang="en-US" altLang="en-US" sz="2400" dirty="0"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result is:</a:t>
            </a:r>
            <a:r>
              <a:rPr lang="en-US" altLang="en-US" sz="2800" dirty="0">
                <a:sym typeface="Symbol" panose="05050102010706020507" pitchFamily="18" charset="2"/>
              </a:rPr>
              <a:t/>
            </a:r>
            <a:br>
              <a:rPr lang="en-US" altLang="en-US" sz="2800" dirty="0">
                <a:sym typeface="Symbol" panose="05050102010706020507" pitchFamily="18" charset="2"/>
              </a:rPr>
            </a:br>
            <a:endParaRPr lang="en-US" altLang="en-US" dirty="0">
              <a:sym typeface="Symbol" panose="05050102010706020507" pitchFamily="18" charset="2"/>
            </a:endParaRPr>
          </a:p>
          <a:p>
            <a:pPr>
              <a:tabLst>
                <a:tab pos="2338388" algn="l"/>
              </a:tabLst>
            </a:pPr>
            <a:endParaRPr lang="en-US" altLang="en-US" b="1" dirty="0" smtClean="0">
              <a:sym typeface="Symbol" panose="05050102010706020507" pitchFamily="18" charset="2"/>
            </a:endParaRPr>
          </a:p>
          <a:p>
            <a:pPr>
              <a:tabLst>
                <a:tab pos="2338388" algn="l"/>
              </a:tabLst>
            </a:pPr>
            <a:r>
              <a:rPr lang="en-US" altLang="en-US" b="1" dirty="0" smtClean="0">
                <a:sym typeface="Symbol" panose="05050102010706020507" pitchFamily="18" charset="2"/>
              </a:rPr>
              <a:t>Disjunction</a:t>
            </a:r>
            <a:r>
              <a:rPr lang="en-US" altLang="en-US" b="1" dirty="0">
                <a:sym typeface="Symbol" panose="05050102010706020507" pitchFamily="18" charset="2"/>
              </a:rPr>
              <a:t>: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sz="2400" baseline="-25000" dirty="0">
                <a:sym typeface="Symbol" panose="05050102010706020507" pitchFamily="18" charset="2"/>
              </a:rPr>
              <a:t></a:t>
            </a:r>
            <a:r>
              <a:rPr lang="en-US" altLang="en-US" baseline="-25000" dirty="0">
                <a:sym typeface="Greek Symbols" pitchFamily="18" charset="2"/>
              </a:rPr>
              <a:t>1</a:t>
            </a:r>
            <a:r>
              <a:rPr lang="en-US" altLang="en-US" baseline="-25000" dirty="0">
                <a:sym typeface="Symbol" panose="05050102010706020507" pitchFamily="18" charset="2"/>
              </a:rPr>
              <a:t>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sz="2400" baseline="-25000" dirty="0">
                <a:sym typeface="Symbol" panose="05050102010706020507" pitchFamily="18" charset="2"/>
              </a:rPr>
              <a:t></a:t>
            </a:r>
            <a:r>
              <a:rPr lang="en-US" altLang="en-US" baseline="-25000" dirty="0">
                <a:sym typeface="Greek Symbols" pitchFamily="18" charset="2"/>
              </a:rPr>
              <a:t>2</a:t>
            </a:r>
            <a:r>
              <a:rPr lang="en-US" altLang="en-US" sz="1400" baseline="-25000" dirty="0">
                <a:sym typeface="Greek Symbols" pitchFamily="18" charset="2"/>
              </a:rPr>
              <a:t> </a:t>
            </a:r>
            <a:r>
              <a:rPr lang="en-US" altLang="en-US" baseline="-25000" dirty="0">
                <a:sym typeface="Symbol" panose="05050102010706020507" pitchFamily="18" charset="2"/>
              </a:rPr>
              <a:t>. . . 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sz="2400" baseline="-25000" dirty="0">
                <a:sym typeface="Symbol" panose="05050102010706020507" pitchFamily="18" charset="2"/>
              </a:rPr>
              <a:t></a:t>
            </a:r>
            <a:r>
              <a:rPr lang="en-US" altLang="en-US" i="1" baseline="-25000" dirty="0">
                <a:sym typeface="Greek Symbols" pitchFamily="18" charset="2"/>
              </a:rPr>
              <a:t>n 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r). </a:t>
            </a:r>
            <a:r>
              <a:rPr lang="en-US" altLang="en-US" dirty="0">
                <a:sym typeface="Symbol" panose="05050102010706020507" pitchFamily="18" charset="2"/>
              </a:rPr>
              <a:t>  Estimated number of tuples:</a:t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/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/>
            </a:r>
            <a:br>
              <a:rPr lang="en-US" altLang="en-US" dirty="0">
                <a:sym typeface="Symbol" panose="05050102010706020507" pitchFamily="18" charset="2"/>
              </a:rPr>
            </a:br>
            <a:endParaRPr lang="en-US" altLang="en-US" dirty="0">
              <a:sym typeface="Symbol" panose="05050102010706020507" pitchFamily="18" charset="2"/>
            </a:endParaRPr>
          </a:p>
          <a:p>
            <a:pPr>
              <a:tabLst>
                <a:tab pos="2338388" algn="l"/>
              </a:tabLst>
            </a:pPr>
            <a:endParaRPr lang="en-US" altLang="en-US" b="1" dirty="0" smtClean="0">
              <a:sym typeface="Symbol" panose="05050102010706020507" pitchFamily="18" charset="2"/>
            </a:endParaRPr>
          </a:p>
          <a:p>
            <a:pPr>
              <a:tabLst>
                <a:tab pos="2338388" algn="l"/>
              </a:tabLst>
            </a:pPr>
            <a:r>
              <a:rPr lang="en-US" altLang="en-US" b="1" dirty="0" smtClean="0">
                <a:sym typeface="Symbol" panose="05050102010706020507" pitchFamily="18" charset="2"/>
              </a:rPr>
              <a:t>Negation</a:t>
            </a:r>
            <a:r>
              <a:rPr lang="en-US" altLang="en-US" b="1" dirty="0">
                <a:sym typeface="Symbol" panose="05050102010706020507" pitchFamily="18" charset="2"/>
              </a:rPr>
              <a:t>:  </a:t>
            </a:r>
            <a:r>
              <a:rPr lang="en-US" altLang="en-US" i="1" dirty="0">
                <a:sym typeface="Symbol" panose="05050102010706020507" pitchFamily="18" charset="2"/>
              </a:rPr>
              <a:t></a:t>
            </a:r>
            <a:r>
              <a:rPr lang="en-US" altLang="en-US" baseline="-25000" dirty="0">
                <a:sym typeface="Symbol" panose="05050102010706020507" pitchFamily="18" charset="2"/>
              </a:rPr>
              <a:t>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r). </a:t>
            </a:r>
            <a:r>
              <a:rPr lang="en-US" altLang="en-US" dirty="0">
                <a:sym typeface="Symbol" panose="05050102010706020507" pitchFamily="18" charset="2"/>
              </a:rPr>
              <a:t> Estimated number of tuples:</a:t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>	</a:t>
            </a:r>
            <a:r>
              <a:rPr lang="en-US" altLang="en-US" i="1" dirty="0" err="1">
                <a:sym typeface="Symbol" panose="05050102010706020507" pitchFamily="18" charset="2"/>
              </a:rPr>
              <a:t>n</a:t>
            </a:r>
            <a:r>
              <a:rPr lang="en-US" altLang="en-US" baseline="-25000" dirty="0" err="1">
                <a:sym typeface="Symbol" panose="05050102010706020507" pitchFamily="18" charset="2"/>
              </a:rPr>
              <a:t>r</a:t>
            </a:r>
            <a:r>
              <a:rPr lang="en-US" altLang="en-US" i="1" baseline="-25000" dirty="0">
                <a:sym typeface="Symbol" panose="05050102010706020507" pitchFamily="18" charset="2"/>
              </a:rPr>
              <a:t> </a:t>
            </a:r>
            <a:r>
              <a:rPr lang="en-US" altLang="en-US" i="1" dirty="0">
                <a:sym typeface="Symbol" panose="05050102010706020507" pitchFamily="18" charset="2"/>
              </a:rPr>
              <a:t>–</a:t>
            </a:r>
            <a:r>
              <a:rPr lang="en-US" altLang="en-US" sz="2000" i="1" dirty="0">
                <a:sym typeface="Symbol" panose="05050102010706020507" pitchFamily="18" charset="2"/>
              </a:rPr>
              <a:t> </a:t>
            </a:r>
            <a:r>
              <a:rPr lang="en-US" altLang="en-US" i="1" dirty="0">
                <a:sym typeface="Symbol" panose="05050102010706020507" pitchFamily="18" charset="2"/>
              </a:rPr>
              <a:t>size(</a:t>
            </a:r>
            <a:r>
              <a:rPr lang="en-US" altLang="en-US" i="1" baseline="-25000" dirty="0">
                <a:sym typeface="Symbol" panose="05050102010706020507" pitchFamily="18" charset="2"/>
              </a:rPr>
              <a:t>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r))</a:t>
            </a:r>
          </a:p>
        </p:txBody>
      </p:sp>
      <p:graphicFrame>
        <p:nvGraphicFramePr>
          <p:cNvPr id="77828" name="Object 2">
            <a:extLst>
              <a:ext uri="{FF2B5EF4-FFF2-40B4-BE49-F238E27FC236}">
                <a16:creationId xmlns:a16="http://schemas.microsoft.com/office/drawing/2014/main" id="{63B73BDC-F3BD-4665-84D2-AF3E2262D8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9054291"/>
              </p:ext>
            </p:extLst>
          </p:nvPr>
        </p:nvGraphicFramePr>
        <p:xfrm>
          <a:off x="3146794" y="2763452"/>
          <a:ext cx="2286000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100" name="Equation" r:id="rId4" imgW="1155700" imgH="431800" progId="Equation.3">
                  <p:embed/>
                </p:oleObj>
              </mc:Choice>
              <mc:Fallback>
                <p:oleObj name="Equation" r:id="rId4" imgW="1155700" imgH="431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6794" y="2763452"/>
                        <a:ext cx="2286000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29" name="Object 3">
            <a:extLst>
              <a:ext uri="{FF2B5EF4-FFF2-40B4-BE49-F238E27FC236}">
                <a16:creationId xmlns:a16="http://schemas.microsoft.com/office/drawing/2014/main" id="{DB4B5B34-2CC2-46E0-ADA1-80DC084DAD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59088" y="4232275"/>
          <a:ext cx="4130675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101" name="Equation" r:id="rId6" imgW="2374900" imgH="482600" progId="Equation.3">
                  <p:embed/>
                </p:oleObj>
              </mc:Choice>
              <mc:Fallback>
                <p:oleObj name="Equation" r:id="rId6" imgW="2374900" imgH="482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9088" y="4232275"/>
                        <a:ext cx="4130675" cy="836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62" name="Rectangle 2">
            <a:extLst>
              <a:ext uri="{FF2B5EF4-FFF2-40B4-BE49-F238E27FC236}">
                <a16:creationId xmlns:a16="http://schemas.microsoft.com/office/drawing/2014/main" id="{FA826EF6-8A13-43AB-AA82-CE18A68AE1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Join Operation:  Running Example</a:t>
            </a:r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D2C97EEF-6D3D-4C8B-9254-896CBF0B1A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73768" y="1102497"/>
            <a:ext cx="7873466" cy="5367972"/>
          </a:xfrm>
        </p:spPr>
        <p:txBody>
          <a:bodyPr/>
          <a:lstStyle/>
          <a:p>
            <a:pPr>
              <a:lnSpc>
                <a:spcPct val="90000"/>
              </a:lnSpc>
              <a:buNone/>
              <a:tabLst>
                <a:tab pos="635000" algn="l"/>
                <a:tab pos="2568575" algn="l"/>
              </a:tabLst>
            </a:pPr>
            <a:r>
              <a:rPr lang="en-US" altLang="en-US" dirty="0"/>
              <a:t>Running example: </a:t>
            </a:r>
            <a:br>
              <a:rPr lang="en-US" altLang="en-US" dirty="0"/>
            </a:br>
            <a:r>
              <a:rPr lang="en-US" altLang="en-US" dirty="0"/>
              <a:t>	</a:t>
            </a:r>
            <a:r>
              <a:rPr lang="en-US" altLang="en-US" i="1" dirty="0"/>
              <a:t>student </a:t>
            </a:r>
            <a:r>
              <a:rPr lang="en-IN" dirty="0"/>
              <a:t>⨝</a:t>
            </a:r>
            <a:r>
              <a:rPr lang="en-US" altLang="en-US" dirty="0"/>
              <a:t> </a:t>
            </a:r>
            <a:r>
              <a:rPr lang="en-US" altLang="en-US" i="1" dirty="0"/>
              <a:t>takes</a:t>
            </a:r>
          </a:p>
          <a:p>
            <a:pPr>
              <a:lnSpc>
                <a:spcPct val="90000"/>
              </a:lnSpc>
              <a:buFont typeface="Monotype Sorts" pitchFamily="-65" charset="2"/>
              <a:buNone/>
              <a:tabLst>
                <a:tab pos="635000" algn="l"/>
                <a:tab pos="2568575" algn="l"/>
              </a:tabLst>
            </a:pPr>
            <a:r>
              <a:rPr lang="en-US" altLang="en-US" dirty="0"/>
              <a:t>Catalog information for join examples:</a:t>
            </a:r>
          </a:p>
          <a:p>
            <a:pPr>
              <a:lnSpc>
                <a:spcPct val="90000"/>
              </a:lnSpc>
              <a:tabLst>
                <a:tab pos="635000" algn="l"/>
                <a:tab pos="2568575" algn="l"/>
              </a:tabLst>
            </a:pPr>
            <a:r>
              <a:rPr lang="en-US" altLang="en-US" i="1" dirty="0" err="1"/>
              <a:t>n</a:t>
            </a:r>
            <a:r>
              <a:rPr lang="en-US" altLang="en-US" i="1" baseline="-25000" dirty="0" err="1"/>
              <a:t>student</a:t>
            </a:r>
            <a:r>
              <a:rPr lang="en-US" altLang="en-US" i="1" dirty="0"/>
              <a:t> = 5</a:t>
            </a:r>
            <a:r>
              <a:rPr lang="en-US" altLang="en-US" dirty="0"/>
              <a:t>,000.</a:t>
            </a:r>
          </a:p>
          <a:p>
            <a:pPr>
              <a:lnSpc>
                <a:spcPct val="90000"/>
              </a:lnSpc>
              <a:tabLst>
                <a:tab pos="635000" algn="l"/>
                <a:tab pos="2568575" algn="l"/>
              </a:tabLst>
            </a:pPr>
            <a:r>
              <a:rPr lang="en-US" altLang="en-US" i="1" dirty="0" err="1"/>
              <a:t>f</a:t>
            </a:r>
            <a:r>
              <a:rPr lang="en-US" altLang="en-US" i="1" baseline="-25000" dirty="0" err="1"/>
              <a:t>student</a:t>
            </a:r>
            <a:r>
              <a:rPr lang="en-US" altLang="en-US" i="1" dirty="0"/>
              <a:t>  = 50, </a:t>
            </a:r>
            <a:r>
              <a:rPr lang="en-US" altLang="en-US" dirty="0"/>
              <a:t>which implies that </a:t>
            </a:r>
            <a:br>
              <a:rPr lang="en-US" altLang="en-US" dirty="0"/>
            </a:br>
            <a:r>
              <a:rPr lang="en-US" altLang="en-US" i="1" dirty="0"/>
              <a:t>	</a:t>
            </a:r>
            <a:r>
              <a:rPr lang="en-US" altLang="en-US" i="1" dirty="0" err="1"/>
              <a:t>b</a:t>
            </a:r>
            <a:r>
              <a:rPr lang="en-US" altLang="en-US" i="1" baseline="-25000" dirty="0" err="1"/>
              <a:t>student</a:t>
            </a:r>
            <a:r>
              <a:rPr lang="en-US" altLang="en-US" dirty="0"/>
              <a:t> =5000/50 = 100.</a:t>
            </a:r>
          </a:p>
          <a:p>
            <a:pPr>
              <a:lnSpc>
                <a:spcPct val="90000"/>
              </a:lnSpc>
              <a:tabLst>
                <a:tab pos="635000" algn="l"/>
                <a:tab pos="2568575" algn="l"/>
              </a:tabLst>
            </a:pPr>
            <a:r>
              <a:rPr lang="en-US" altLang="en-US" i="1" dirty="0" err="1"/>
              <a:t>n</a:t>
            </a:r>
            <a:r>
              <a:rPr lang="en-US" altLang="en-US" i="1" baseline="-25000" dirty="0" err="1"/>
              <a:t>takes</a:t>
            </a:r>
            <a:r>
              <a:rPr lang="en-US" altLang="en-US" i="1" dirty="0"/>
              <a:t> = </a:t>
            </a:r>
            <a:r>
              <a:rPr lang="en-US" altLang="en-US" dirty="0"/>
              <a:t>10000.</a:t>
            </a:r>
          </a:p>
          <a:p>
            <a:pPr>
              <a:lnSpc>
                <a:spcPct val="90000"/>
              </a:lnSpc>
              <a:tabLst>
                <a:tab pos="635000" algn="l"/>
                <a:tab pos="2568575" algn="l"/>
              </a:tabLst>
            </a:pPr>
            <a:r>
              <a:rPr lang="en-US" altLang="en-US" i="1" dirty="0" err="1"/>
              <a:t>f</a:t>
            </a:r>
            <a:r>
              <a:rPr lang="en-US" altLang="en-US" i="1" baseline="-25000" dirty="0" err="1"/>
              <a:t>takes</a:t>
            </a:r>
            <a:r>
              <a:rPr lang="en-US" altLang="en-US" baseline="-25000" dirty="0"/>
              <a:t>   </a:t>
            </a:r>
            <a:r>
              <a:rPr lang="en-US" altLang="en-US" dirty="0"/>
              <a:t>= 25, which implies that </a:t>
            </a:r>
            <a:br>
              <a:rPr lang="en-US" altLang="en-US" dirty="0"/>
            </a:br>
            <a:r>
              <a:rPr lang="en-US" altLang="en-US" dirty="0"/>
              <a:t>	</a:t>
            </a:r>
            <a:r>
              <a:rPr lang="en-US" altLang="en-US" i="1" dirty="0" err="1"/>
              <a:t>b</a:t>
            </a:r>
            <a:r>
              <a:rPr lang="en-US" altLang="en-US" i="1" baseline="-25000" dirty="0" err="1"/>
              <a:t>takes</a:t>
            </a:r>
            <a:r>
              <a:rPr lang="en-US" altLang="en-US" baseline="-25000" dirty="0"/>
              <a:t> </a:t>
            </a:r>
            <a:r>
              <a:rPr lang="en-US" altLang="en-US" dirty="0"/>
              <a:t>= 10000/25 = 400.</a:t>
            </a:r>
          </a:p>
          <a:p>
            <a:pPr>
              <a:lnSpc>
                <a:spcPct val="90000"/>
              </a:lnSpc>
              <a:tabLst>
                <a:tab pos="635000" algn="l"/>
                <a:tab pos="2568575" algn="l"/>
              </a:tabLst>
            </a:pPr>
            <a:r>
              <a:rPr lang="en-US" altLang="en-US" i="1" dirty="0"/>
              <a:t>V(ID, takes)</a:t>
            </a:r>
            <a:r>
              <a:rPr lang="en-US" altLang="en-US" dirty="0"/>
              <a:t> = 2500, which implies that on average, each student who has taken a course has taken 4 courses.</a:t>
            </a:r>
          </a:p>
          <a:p>
            <a:pPr lvl="1">
              <a:lnSpc>
                <a:spcPct val="90000"/>
              </a:lnSpc>
              <a:tabLst>
                <a:tab pos="635000" algn="l"/>
                <a:tab pos="2568575" algn="l"/>
              </a:tabLst>
            </a:pPr>
            <a:r>
              <a:rPr lang="en-US" altLang="en-US" dirty="0"/>
              <a:t>Attribute </a:t>
            </a:r>
            <a:r>
              <a:rPr lang="en-US" altLang="en-US" i="1" dirty="0"/>
              <a:t>ID</a:t>
            </a:r>
            <a:r>
              <a:rPr lang="en-US" altLang="en-US" dirty="0"/>
              <a:t> in </a:t>
            </a:r>
            <a:r>
              <a:rPr lang="en-US" altLang="en-US" i="1" dirty="0"/>
              <a:t>takes </a:t>
            </a:r>
            <a:r>
              <a:rPr lang="en-US" altLang="en-US" dirty="0"/>
              <a:t>is a foreign key referencing </a:t>
            </a:r>
            <a:r>
              <a:rPr lang="en-US" altLang="en-US" i="1" dirty="0"/>
              <a:t>student.</a:t>
            </a:r>
          </a:p>
          <a:p>
            <a:pPr lvl="1">
              <a:lnSpc>
                <a:spcPct val="90000"/>
              </a:lnSpc>
              <a:tabLst>
                <a:tab pos="635000" algn="l"/>
                <a:tab pos="2568575" algn="l"/>
              </a:tabLst>
            </a:pPr>
            <a:r>
              <a:rPr lang="en-US" altLang="en-US" i="1" dirty="0"/>
              <a:t>V</a:t>
            </a:r>
            <a:r>
              <a:rPr lang="en-US" altLang="en-US" dirty="0"/>
              <a:t>(</a:t>
            </a:r>
            <a:r>
              <a:rPr lang="en-US" altLang="en-US" i="1" dirty="0"/>
              <a:t>ID, student</a:t>
            </a:r>
            <a:r>
              <a:rPr lang="en-US" altLang="en-US" dirty="0"/>
              <a:t>)</a:t>
            </a:r>
            <a:r>
              <a:rPr lang="en-US" altLang="en-US" i="1" dirty="0"/>
              <a:t> = </a:t>
            </a:r>
            <a:r>
              <a:rPr lang="en-US" altLang="en-US" dirty="0"/>
              <a:t>5000 (</a:t>
            </a:r>
            <a:r>
              <a:rPr lang="en-US" altLang="en-US" i="1" dirty="0"/>
              <a:t>primary key!</a:t>
            </a:r>
            <a:r>
              <a:rPr lang="en-US" altLang="en-US" dirty="0"/>
              <a:t>)</a:t>
            </a:r>
          </a:p>
          <a:p>
            <a:pPr>
              <a:lnSpc>
                <a:spcPct val="90000"/>
              </a:lnSpc>
              <a:buFont typeface="Monotype Sorts" pitchFamily="-65" charset="2"/>
              <a:buNone/>
              <a:tabLst>
                <a:tab pos="635000" algn="l"/>
                <a:tab pos="2568575" algn="l"/>
              </a:tabLst>
            </a:pPr>
            <a:r>
              <a:rPr lang="en-US" altLang="en-US" i="1" dirty="0"/>
              <a:t>	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786" name="Rectangle 2">
            <a:extLst>
              <a:ext uri="{FF2B5EF4-FFF2-40B4-BE49-F238E27FC236}">
                <a16:creationId xmlns:a16="http://schemas.microsoft.com/office/drawing/2014/main" id="{314F7A57-1A86-4D79-8FA6-C690DD6D68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Estimation of the Size of Joins</a:t>
            </a:r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033E0BC4-167E-4CFA-AE98-7AD901C33D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1354" y="1102497"/>
            <a:ext cx="8564196" cy="5367972"/>
          </a:xfrm>
        </p:spPr>
        <p:txBody>
          <a:bodyPr/>
          <a:lstStyle/>
          <a:p>
            <a:r>
              <a:rPr lang="en-US" altLang="en-US" dirty="0"/>
              <a:t>The Cartesian product </a:t>
            </a:r>
            <a:r>
              <a:rPr lang="en-US" altLang="en-US" i="1" dirty="0"/>
              <a:t>r</a:t>
            </a:r>
            <a:r>
              <a:rPr lang="en-US" altLang="en-US" dirty="0"/>
              <a:t>  x </a:t>
            </a:r>
            <a:r>
              <a:rPr lang="en-US" altLang="en-US" i="1" dirty="0"/>
              <a:t>s </a:t>
            </a:r>
            <a:r>
              <a:rPr lang="en-US" altLang="en-US" dirty="0"/>
              <a:t>contains </a:t>
            </a:r>
            <a:r>
              <a:rPr lang="en-US" altLang="en-US" i="1" dirty="0" err="1"/>
              <a:t>n</a:t>
            </a:r>
            <a:r>
              <a:rPr lang="en-US" altLang="en-US" i="1" baseline="-25000" dirty="0" err="1"/>
              <a:t>r</a:t>
            </a:r>
            <a:r>
              <a:rPr lang="en-US" altLang="en-US" i="1" baseline="-25000" dirty="0"/>
              <a:t> </a:t>
            </a:r>
            <a:r>
              <a:rPr lang="en-US" altLang="en-US" i="1" dirty="0"/>
              <a:t>.n</a:t>
            </a:r>
            <a:r>
              <a:rPr lang="en-US" altLang="en-US" i="1" baseline="-25000" dirty="0"/>
              <a:t>s</a:t>
            </a:r>
            <a:r>
              <a:rPr lang="en-US" altLang="en-US" i="1" dirty="0"/>
              <a:t> </a:t>
            </a:r>
            <a:r>
              <a:rPr lang="en-US" altLang="en-US" dirty="0"/>
              <a:t>tuples; each tuple occupies </a:t>
            </a:r>
            <a:r>
              <a:rPr lang="en-US" altLang="en-US" i="1" dirty="0" err="1"/>
              <a:t>s</a:t>
            </a:r>
            <a:r>
              <a:rPr lang="en-US" altLang="en-US" i="1" baseline="-25000" dirty="0" err="1"/>
              <a:t>r</a:t>
            </a:r>
            <a:r>
              <a:rPr lang="en-US" altLang="en-US" i="1" dirty="0"/>
              <a:t> + </a:t>
            </a:r>
            <a:r>
              <a:rPr lang="en-US" altLang="en-US" i="1" dirty="0" err="1"/>
              <a:t>s</a:t>
            </a:r>
            <a:r>
              <a:rPr lang="en-US" altLang="en-US" i="1" baseline="-25000" dirty="0" err="1"/>
              <a:t>s</a:t>
            </a:r>
            <a:r>
              <a:rPr lang="en-US" altLang="en-US" i="1" dirty="0"/>
              <a:t> </a:t>
            </a:r>
            <a:r>
              <a:rPr lang="en-US" altLang="en-US" dirty="0"/>
              <a:t>bytes.</a:t>
            </a:r>
          </a:p>
          <a:p>
            <a:r>
              <a:rPr lang="en-US" altLang="en-US" dirty="0"/>
              <a:t>If </a:t>
            </a:r>
            <a:r>
              <a:rPr lang="en-US" altLang="en-US" i="1" dirty="0"/>
              <a:t>R </a:t>
            </a:r>
            <a:r>
              <a:rPr lang="en-US" altLang="en-US" dirty="0">
                <a:sym typeface="Symbol" panose="05050102010706020507" pitchFamily="18" charset="2"/>
              </a:rPr>
              <a:t> </a:t>
            </a:r>
            <a:r>
              <a:rPr lang="en-US" altLang="en-US" i="1" dirty="0">
                <a:sym typeface="Symbol" panose="05050102010706020507" pitchFamily="18" charset="2"/>
              </a:rPr>
              <a:t>S</a:t>
            </a:r>
            <a:r>
              <a:rPr lang="en-US" altLang="en-US" dirty="0">
                <a:sym typeface="Symbol" panose="05050102010706020507" pitchFamily="18" charset="2"/>
              </a:rPr>
              <a:t> = , then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IN" dirty="0"/>
              <a:t>⋈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dirty="0">
                <a:sym typeface="Symbol" panose="05050102010706020507" pitchFamily="18" charset="2"/>
              </a:rPr>
              <a:t>s</a:t>
            </a:r>
            <a:r>
              <a:rPr lang="en-US" altLang="en-US" dirty="0">
                <a:sym typeface="Symbol" panose="05050102010706020507" pitchFamily="18" charset="2"/>
              </a:rPr>
              <a:t> is the same as </a:t>
            </a:r>
            <a:r>
              <a:rPr lang="en-US" altLang="en-US" i="1" dirty="0">
                <a:sym typeface="Symbol" panose="05050102010706020507" pitchFamily="18" charset="2"/>
              </a:rPr>
              <a:t>r  </a:t>
            </a:r>
            <a:r>
              <a:rPr lang="en-US" altLang="en-US" dirty="0">
                <a:sym typeface="Symbol" panose="05050102010706020507" pitchFamily="18" charset="2"/>
              </a:rPr>
              <a:t>x </a:t>
            </a:r>
            <a:r>
              <a:rPr lang="en-US" altLang="en-US" i="1" dirty="0">
                <a:sym typeface="Symbol" panose="05050102010706020507" pitchFamily="18" charset="2"/>
              </a:rPr>
              <a:t>s. 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If </a:t>
            </a:r>
            <a:r>
              <a:rPr lang="en-US" altLang="en-US" i="1" dirty="0"/>
              <a:t>R </a:t>
            </a:r>
            <a:r>
              <a:rPr lang="en-US" altLang="en-US" dirty="0">
                <a:sym typeface="Symbol" panose="05050102010706020507" pitchFamily="18" charset="2"/>
              </a:rPr>
              <a:t> </a:t>
            </a:r>
            <a:r>
              <a:rPr lang="en-US" altLang="en-US" i="1" dirty="0">
                <a:sym typeface="Symbol" panose="05050102010706020507" pitchFamily="18" charset="2"/>
              </a:rPr>
              <a:t>S</a:t>
            </a:r>
            <a:r>
              <a:rPr lang="en-US" altLang="en-US" dirty="0">
                <a:sym typeface="Symbol" panose="05050102010706020507" pitchFamily="18" charset="2"/>
              </a:rPr>
              <a:t> is a key for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dirty="0">
                <a:sym typeface="Symbol" panose="05050102010706020507" pitchFamily="18" charset="2"/>
              </a:rPr>
              <a:t>, then a tuple of </a:t>
            </a:r>
            <a:r>
              <a:rPr lang="en-US" altLang="en-US" i="1" dirty="0">
                <a:sym typeface="Symbol" panose="05050102010706020507" pitchFamily="18" charset="2"/>
              </a:rPr>
              <a:t>s</a:t>
            </a:r>
            <a:r>
              <a:rPr lang="en-US" altLang="en-US" dirty="0">
                <a:sym typeface="Symbol" panose="05050102010706020507" pitchFamily="18" charset="2"/>
              </a:rPr>
              <a:t> will join with at most one tuple from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endParaRPr lang="en-US" altLang="en-US" dirty="0">
              <a:sym typeface="Symbol" panose="05050102010706020507" pitchFamily="18" charset="2"/>
            </a:endParaRP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therefore, the number of tuples in </a:t>
            </a:r>
            <a:r>
              <a:rPr lang="en-US" altLang="en-US" i="1" dirty="0">
                <a:sym typeface="Symbol" panose="05050102010706020507" pitchFamily="18" charset="2"/>
              </a:rPr>
              <a:t>r </a:t>
            </a:r>
            <a:r>
              <a:rPr lang="en-IN" dirty="0"/>
              <a:t>⋈</a:t>
            </a:r>
            <a:r>
              <a:rPr lang="en-US" altLang="en-US" i="1" dirty="0">
                <a:sym typeface="Symbol" panose="05050102010706020507" pitchFamily="18" charset="2"/>
              </a:rPr>
              <a:t> s</a:t>
            </a:r>
            <a:r>
              <a:rPr lang="en-US" altLang="en-US" dirty="0">
                <a:sym typeface="Symbol" panose="05050102010706020507" pitchFamily="18" charset="2"/>
              </a:rPr>
              <a:t> is no greater than the number of tuples in </a:t>
            </a:r>
            <a:r>
              <a:rPr lang="en-US" altLang="en-US" i="1" dirty="0">
                <a:sym typeface="Symbol" panose="05050102010706020507" pitchFamily="18" charset="2"/>
              </a:rPr>
              <a:t>s.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If </a:t>
            </a:r>
            <a:r>
              <a:rPr lang="en-US" altLang="en-US" i="1" dirty="0"/>
              <a:t>R </a:t>
            </a:r>
            <a:r>
              <a:rPr lang="en-US" altLang="en-US" dirty="0">
                <a:sym typeface="Symbol" panose="05050102010706020507" pitchFamily="18" charset="2"/>
              </a:rPr>
              <a:t> </a:t>
            </a:r>
            <a:r>
              <a:rPr lang="en-US" altLang="en-US" i="1" dirty="0">
                <a:sym typeface="Symbol" panose="05050102010706020507" pitchFamily="18" charset="2"/>
              </a:rPr>
              <a:t>S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dirty="0">
                <a:sym typeface="Symbol" panose="05050102010706020507" pitchFamily="18" charset="2"/>
              </a:rPr>
              <a:t>in </a:t>
            </a:r>
            <a:r>
              <a:rPr lang="en-US" altLang="en-US" dirty="0">
                <a:sym typeface="Symbol" panose="05050102010706020507" pitchFamily="18" charset="2"/>
              </a:rPr>
              <a:t>S is a foreign key in </a:t>
            </a:r>
            <a:r>
              <a:rPr lang="en-US" altLang="en-US" i="1" dirty="0">
                <a:sym typeface="Symbol" panose="05050102010706020507" pitchFamily="18" charset="2"/>
              </a:rPr>
              <a:t>S</a:t>
            </a:r>
            <a:r>
              <a:rPr lang="en-US" altLang="en-US" dirty="0">
                <a:sym typeface="Symbol" panose="05050102010706020507" pitchFamily="18" charset="2"/>
              </a:rPr>
              <a:t> referencing </a:t>
            </a:r>
            <a:r>
              <a:rPr lang="en-US" altLang="en-US" i="1" dirty="0">
                <a:sym typeface="Symbol" panose="05050102010706020507" pitchFamily="18" charset="2"/>
              </a:rPr>
              <a:t>R, </a:t>
            </a:r>
            <a:r>
              <a:rPr lang="en-US" altLang="en-US" dirty="0">
                <a:sym typeface="Symbol" panose="05050102010706020507" pitchFamily="18" charset="2"/>
              </a:rPr>
              <a:t>then the number of tuples in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IN" dirty="0"/>
              <a:t>⋈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dirty="0">
                <a:sym typeface="Symbol" panose="05050102010706020507" pitchFamily="18" charset="2"/>
              </a:rPr>
              <a:t>s</a:t>
            </a:r>
            <a:r>
              <a:rPr lang="en-US" altLang="en-US" dirty="0">
                <a:sym typeface="Symbol" panose="05050102010706020507" pitchFamily="18" charset="2"/>
              </a:rPr>
              <a:t> is exactly the same as the number of tuples in </a:t>
            </a:r>
            <a:r>
              <a:rPr lang="en-US" altLang="en-US" i="1" dirty="0">
                <a:sym typeface="Symbol" panose="05050102010706020507" pitchFamily="18" charset="2"/>
              </a:rPr>
              <a:t>s.</a:t>
            </a:r>
          </a:p>
          <a:p>
            <a:pPr lvl="2"/>
            <a:r>
              <a:rPr lang="en-US" altLang="en-US" dirty="0">
                <a:sym typeface="Symbol" panose="05050102010706020507" pitchFamily="18" charset="2"/>
              </a:rPr>
              <a:t>The case for </a:t>
            </a:r>
            <a:r>
              <a:rPr lang="en-US" altLang="en-US" i="1" dirty="0"/>
              <a:t>R </a:t>
            </a:r>
            <a:r>
              <a:rPr lang="en-US" altLang="en-US" dirty="0">
                <a:sym typeface="Symbol" panose="05050102010706020507" pitchFamily="18" charset="2"/>
              </a:rPr>
              <a:t> </a:t>
            </a:r>
            <a:r>
              <a:rPr lang="en-US" altLang="en-US" i="1" dirty="0">
                <a:sym typeface="Symbol" panose="05050102010706020507" pitchFamily="18" charset="2"/>
              </a:rPr>
              <a:t>S</a:t>
            </a:r>
            <a:r>
              <a:rPr lang="en-US" altLang="en-US" dirty="0">
                <a:sym typeface="Symbol" panose="05050102010706020507" pitchFamily="18" charset="2"/>
              </a:rPr>
              <a:t> being a foreign key referencing </a:t>
            </a:r>
            <a:r>
              <a:rPr lang="en-US" altLang="en-US" i="1" dirty="0">
                <a:sym typeface="Symbol" panose="05050102010706020507" pitchFamily="18" charset="2"/>
              </a:rPr>
              <a:t>S</a:t>
            </a:r>
            <a:r>
              <a:rPr lang="en-US" altLang="en-US" dirty="0">
                <a:sym typeface="Symbol" panose="05050102010706020507" pitchFamily="18" charset="2"/>
              </a:rPr>
              <a:t> is symmetric.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In the example query </a:t>
            </a:r>
            <a:r>
              <a:rPr lang="en-US" altLang="en-US" i="1" dirty="0">
                <a:sym typeface="Symbol" panose="05050102010706020507" pitchFamily="18" charset="2"/>
              </a:rPr>
              <a:t>student </a:t>
            </a:r>
            <a:r>
              <a:rPr lang="en-IN" dirty="0"/>
              <a:t>⋈</a:t>
            </a:r>
            <a:r>
              <a:rPr lang="en-US" altLang="en-US" i="1" dirty="0">
                <a:sym typeface="Symbol" panose="05050102010706020507" pitchFamily="18" charset="2"/>
              </a:rPr>
              <a:t> takes, ID </a:t>
            </a:r>
            <a:r>
              <a:rPr lang="en-US" altLang="en-US" dirty="0">
                <a:sym typeface="Symbol" panose="05050102010706020507" pitchFamily="18" charset="2"/>
              </a:rPr>
              <a:t>in </a:t>
            </a:r>
            <a:r>
              <a:rPr lang="en-US" altLang="en-US" i="1" dirty="0">
                <a:sym typeface="Symbol" panose="05050102010706020507" pitchFamily="18" charset="2"/>
              </a:rPr>
              <a:t> takes</a:t>
            </a:r>
            <a:r>
              <a:rPr lang="en-US" altLang="en-US" dirty="0">
                <a:sym typeface="Symbol" panose="05050102010706020507" pitchFamily="18" charset="2"/>
              </a:rPr>
              <a:t> is a foreign key referencing </a:t>
            </a:r>
            <a:r>
              <a:rPr lang="en-US" altLang="en-US" i="1" dirty="0">
                <a:sym typeface="Symbol" panose="05050102010706020507" pitchFamily="18" charset="2"/>
              </a:rPr>
              <a:t>student</a:t>
            </a:r>
          </a:p>
          <a:p>
            <a:pPr lvl="1"/>
            <a:r>
              <a:rPr lang="en-US" altLang="en-US" i="1" dirty="0"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hence, the result has exactly </a:t>
            </a:r>
            <a:r>
              <a:rPr lang="en-US" altLang="en-US" i="1" dirty="0" err="1">
                <a:sym typeface="Symbol" panose="05050102010706020507" pitchFamily="18" charset="2"/>
              </a:rPr>
              <a:t>n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takes</a:t>
            </a:r>
            <a:r>
              <a:rPr lang="en-US" altLang="en-US" i="1" baseline="-25000" dirty="0"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tuples, which is 10000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810" name="Rectangle 2">
            <a:extLst>
              <a:ext uri="{FF2B5EF4-FFF2-40B4-BE49-F238E27FC236}">
                <a16:creationId xmlns:a16="http://schemas.microsoft.com/office/drawing/2014/main" id="{0AB19342-4FF9-4A9B-B2BA-C0A3F54610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Estimation of the Size of Joins (Cont.)</a:t>
            </a:r>
          </a:p>
        </p:txBody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453F706E-437A-424E-8BAC-8F39FBBEE5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93018" y="1102497"/>
            <a:ext cx="7652085" cy="5367972"/>
          </a:xfrm>
        </p:spPr>
        <p:txBody>
          <a:bodyPr/>
          <a:lstStyle/>
          <a:p>
            <a:r>
              <a:rPr lang="en-US" altLang="en-US" dirty="0"/>
              <a:t>If </a:t>
            </a:r>
            <a:r>
              <a:rPr lang="en-US" altLang="en-US" i="1" dirty="0"/>
              <a:t>R </a:t>
            </a:r>
            <a:r>
              <a:rPr lang="en-US" altLang="en-US" dirty="0">
                <a:sym typeface="Symbol" panose="05050102010706020507" pitchFamily="18" charset="2"/>
              </a:rPr>
              <a:t> </a:t>
            </a:r>
            <a:r>
              <a:rPr lang="en-US" altLang="en-US" i="1" dirty="0">
                <a:sym typeface="Symbol" panose="05050102010706020507" pitchFamily="18" charset="2"/>
              </a:rPr>
              <a:t>S</a:t>
            </a:r>
            <a:r>
              <a:rPr lang="en-US" altLang="en-US" dirty="0">
                <a:sym typeface="Symbol" panose="05050102010706020507" pitchFamily="18" charset="2"/>
              </a:rPr>
              <a:t> = {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} is not a key for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dirty="0">
                <a:sym typeface="Symbol" panose="05050102010706020507" pitchFamily="18" charset="2"/>
              </a:rPr>
              <a:t> or </a:t>
            </a:r>
            <a:r>
              <a:rPr lang="en-US" altLang="en-US" i="1" dirty="0">
                <a:sym typeface="Symbol" panose="05050102010706020507" pitchFamily="18" charset="2"/>
              </a:rPr>
              <a:t>S</a:t>
            </a:r>
            <a:r>
              <a:rPr lang="en-US" altLang="en-US" dirty="0">
                <a:sym typeface="Symbol" panose="05050102010706020507" pitchFamily="18" charset="2"/>
              </a:rPr>
              <a:t>.</a:t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>If we assume that every tuple </a:t>
            </a:r>
            <a:r>
              <a:rPr lang="en-US" altLang="en-US" i="1" dirty="0">
                <a:sym typeface="Symbol" panose="05050102010706020507" pitchFamily="18" charset="2"/>
              </a:rPr>
              <a:t>t </a:t>
            </a:r>
            <a:r>
              <a:rPr lang="en-US" altLang="en-US" dirty="0">
                <a:sym typeface="Symbol" panose="05050102010706020507" pitchFamily="18" charset="2"/>
              </a:rPr>
              <a:t>in </a:t>
            </a:r>
            <a:r>
              <a:rPr lang="en-US" altLang="en-US" i="1" dirty="0">
                <a:sym typeface="Symbol" panose="05050102010706020507" pitchFamily="18" charset="2"/>
              </a:rPr>
              <a:t>R </a:t>
            </a:r>
            <a:r>
              <a:rPr lang="en-US" altLang="en-US" dirty="0">
                <a:sym typeface="Symbol" panose="05050102010706020507" pitchFamily="18" charset="2"/>
              </a:rPr>
              <a:t>produces tuples in </a:t>
            </a:r>
            <a:r>
              <a:rPr lang="en-US" altLang="en-US" i="1" dirty="0">
                <a:sym typeface="Symbol" panose="05050102010706020507" pitchFamily="18" charset="2"/>
              </a:rPr>
              <a:t>R    S,</a:t>
            </a:r>
            <a:r>
              <a:rPr lang="en-US" altLang="en-US" dirty="0">
                <a:sym typeface="Symbol" panose="05050102010706020507" pitchFamily="18" charset="2"/>
              </a:rPr>
              <a:t> the number of tuples in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IN" dirty="0"/>
              <a:t>⨝ </a:t>
            </a:r>
            <a:r>
              <a:rPr lang="en-US" altLang="en-US" i="1" dirty="0">
                <a:sym typeface="Symbol" panose="05050102010706020507" pitchFamily="18" charset="2"/>
              </a:rPr>
              <a:t>S</a:t>
            </a:r>
            <a:r>
              <a:rPr lang="en-US" altLang="en-US" dirty="0">
                <a:sym typeface="Symbol" panose="05050102010706020507" pitchFamily="18" charset="2"/>
              </a:rPr>
              <a:t> is estimated to be:</a:t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/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/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/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>If the reverse is true, the estimate obtained will be:</a:t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/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/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/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>The lower of these two estimates is probably the more accurate one.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Can improve on above if histograms are available</a:t>
            </a:r>
          </a:p>
          <a:p>
            <a:pPr lvl="1"/>
            <a:r>
              <a:rPr lang="en-US" altLang="en-US" dirty="0"/>
              <a:t>Use formula similar to above, for each cell of histograms on the two relations </a:t>
            </a:r>
          </a:p>
        </p:txBody>
      </p:sp>
      <p:graphicFrame>
        <p:nvGraphicFramePr>
          <p:cNvPr id="83972" name="Object 2">
            <a:extLst>
              <a:ext uri="{FF2B5EF4-FFF2-40B4-BE49-F238E27FC236}">
                <a16:creationId xmlns:a16="http://schemas.microsoft.com/office/drawing/2014/main" id="{799F05C6-5B00-47E1-8A10-FB2E19EAA2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6892794"/>
              </p:ext>
            </p:extLst>
          </p:nvPr>
        </p:nvGraphicFramePr>
        <p:xfrm>
          <a:off x="3300413" y="2013038"/>
          <a:ext cx="722312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242" name="Equation" r:id="rId4" imgW="723900" imgH="609600" progId="Equation.3">
                  <p:embed/>
                </p:oleObj>
              </mc:Choice>
              <mc:Fallback>
                <p:oleObj name="Equation" r:id="rId4" imgW="723900" imgH="609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0413" y="2013038"/>
                        <a:ext cx="722312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3" name="Object 3">
            <a:extLst>
              <a:ext uri="{FF2B5EF4-FFF2-40B4-BE49-F238E27FC236}">
                <a16:creationId xmlns:a16="http://schemas.microsoft.com/office/drawing/2014/main" id="{7A835DD4-2EAD-4678-8CA1-83AD2E948E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3574267"/>
              </p:ext>
            </p:extLst>
          </p:nvPr>
        </p:nvGraphicFramePr>
        <p:xfrm>
          <a:off x="3327300" y="3056004"/>
          <a:ext cx="7112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243" name="Equation" r:id="rId6" imgW="711200" imgH="609600" progId="Equation.3">
                  <p:embed/>
                </p:oleObj>
              </mc:Choice>
              <mc:Fallback>
                <p:oleObj name="Equation" r:id="rId6" imgW="711200" imgH="609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7300" y="3056004"/>
                        <a:ext cx="7112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74" name="AutoShape 6">
            <a:extLst>
              <a:ext uri="{FF2B5EF4-FFF2-40B4-BE49-F238E27FC236}">
                <a16:creationId xmlns:a16="http://schemas.microsoft.com/office/drawing/2014/main" id="{4ED660ED-50BB-4EAF-940E-64528E92EFBB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578881" y="1455531"/>
            <a:ext cx="188912" cy="173037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834" name="Rectangle 2">
            <a:extLst>
              <a:ext uri="{FF2B5EF4-FFF2-40B4-BE49-F238E27FC236}">
                <a16:creationId xmlns:a16="http://schemas.microsoft.com/office/drawing/2014/main" id="{8F2D20B7-60A0-4B85-91B1-82F9610E7F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Estimation of the Size of Joins (Cont.)</a:t>
            </a:r>
          </a:p>
        </p:txBody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11DFF1FD-CE11-4E85-AD10-1BC936EE5A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71306" y="1102497"/>
            <a:ext cx="8574244" cy="5367972"/>
          </a:xfrm>
        </p:spPr>
        <p:txBody>
          <a:bodyPr/>
          <a:lstStyle/>
          <a:p>
            <a:r>
              <a:rPr lang="en-US" altLang="en-US" dirty="0"/>
              <a:t>Compute the size estimates for </a:t>
            </a:r>
            <a:r>
              <a:rPr lang="en-US" altLang="en-US" i="1" dirty="0" smtClean="0"/>
              <a:t>student </a:t>
            </a:r>
            <a:r>
              <a:rPr lang="en-IN" dirty="0"/>
              <a:t>⨝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dirty="0" smtClean="0"/>
              <a:t>takes</a:t>
            </a:r>
            <a:r>
              <a:rPr lang="en-US" altLang="en-US" dirty="0" smtClean="0"/>
              <a:t> </a:t>
            </a:r>
            <a:r>
              <a:rPr lang="en-US" altLang="en-US" dirty="0"/>
              <a:t>without using information about foreign keys:</a:t>
            </a:r>
          </a:p>
          <a:p>
            <a:pPr lvl="1">
              <a:lnSpc>
                <a:spcPct val="90000"/>
              </a:lnSpc>
              <a:tabLst>
                <a:tab pos="635000" algn="l"/>
                <a:tab pos="2568575" algn="l"/>
              </a:tabLst>
            </a:pPr>
            <a:r>
              <a:rPr lang="en-US" altLang="en-US" i="1" dirty="0" err="1"/>
              <a:t>n</a:t>
            </a:r>
            <a:r>
              <a:rPr lang="en-US" altLang="en-US" i="1" baseline="-25000" dirty="0" err="1"/>
              <a:t>student</a:t>
            </a:r>
            <a:r>
              <a:rPr lang="en-US" altLang="en-US" i="1" dirty="0"/>
              <a:t> = 5</a:t>
            </a:r>
            <a:r>
              <a:rPr lang="en-US" altLang="en-US" dirty="0"/>
              <a:t>,000.</a:t>
            </a:r>
          </a:p>
          <a:p>
            <a:pPr lvl="1">
              <a:lnSpc>
                <a:spcPct val="90000"/>
              </a:lnSpc>
              <a:tabLst>
                <a:tab pos="635000" algn="l"/>
                <a:tab pos="2568575" algn="l"/>
              </a:tabLst>
            </a:pPr>
            <a:r>
              <a:rPr lang="en-US" altLang="en-US" i="1" dirty="0" err="1" smtClean="0"/>
              <a:t>n</a:t>
            </a:r>
            <a:r>
              <a:rPr lang="en-US" altLang="en-US" i="1" baseline="-25000" dirty="0" err="1" smtClean="0"/>
              <a:t>takes</a:t>
            </a:r>
            <a:r>
              <a:rPr lang="en-US" altLang="en-US" i="1" dirty="0" smtClean="0"/>
              <a:t> </a:t>
            </a:r>
            <a:r>
              <a:rPr lang="en-US" altLang="en-US" i="1" dirty="0"/>
              <a:t>= </a:t>
            </a:r>
            <a:r>
              <a:rPr lang="en-US" altLang="en-US" dirty="0"/>
              <a:t>10000</a:t>
            </a:r>
            <a:r>
              <a:rPr lang="en-US" altLang="en-US" dirty="0" smtClean="0"/>
              <a:t>.</a:t>
            </a:r>
            <a:endParaRPr lang="en-US" altLang="en-US" sz="1400" i="1" dirty="0" smtClean="0"/>
          </a:p>
          <a:p>
            <a:pPr lvl="1"/>
            <a:r>
              <a:rPr lang="en-US" altLang="en-US" sz="1400" i="1" dirty="0" smtClean="0"/>
              <a:t>V(ID</a:t>
            </a:r>
            <a:r>
              <a:rPr lang="en-US" altLang="en-US" sz="1400" i="1" dirty="0"/>
              <a:t>, takes) = </a:t>
            </a:r>
            <a:r>
              <a:rPr lang="en-US" altLang="en-US" sz="1400" dirty="0"/>
              <a:t>2500, and</a:t>
            </a:r>
            <a:br>
              <a:rPr lang="en-US" altLang="en-US" sz="1400" dirty="0"/>
            </a:br>
            <a:r>
              <a:rPr lang="en-US" altLang="en-US" sz="1400" i="1" dirty="0"/>
              <a:t>V(ID, student) </a:t>
            </a:r>
            <a:r>
              <a:rPr lang="en-US" altLang="en-US" sz="1400" dirty="0"/>
              <a:t>= 5000</a:t>
            </a:r>
          </a:p>
          <a:p>
            <a:pPr lvl="1"/>
            <a:endParaRPr lang="en-US" altLang="en-US" sz="1400" dirty="0" smtClean="0"/>
          </a:p>
          <a:p>
            <a:pPr lvl="1"/>
            <a:r>
              <a:rPr lang="en-US" altLang="en-US" sz="1400" dirty="0" smtClean="0"/>
              <a:t>The </a:t>
            </a:r>
            <a:r>
              <a:rPr lang="en-US" altLang="en-US" sz="1400" dirty="0"/>
              <a:t>two estimates are 5000 * 10000/2500 = 20,000 and 5000 * 10000/5000 = 10000</a:t>
            </a:r>
          </a:p>
          <a:p>
            <a:pPr lvl="1"/>
            <a:endParaRPr lang="en-US" altLang="en-US" sz="1400" dirty="0" smtClean="0"/>
          </a:p>
          <a:p>
            <a:pPr lvl="1"/>
            <a:r>
              <a:rPr lang="en-US" altLang="en-US" sz="1400" dirty="0" smtClean="0"/>
              <a:t>We </a:t>
            </a:r>
            <a:r>
              <a:rPr lang="en-US" altLang="en-US" sz="1400" dirty="0"/>
              <a:t>choose the lower estimate, which in this case, is the same as our earlier computation using foreign keys.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858" name="Rectangle 2">
            <a:extLst>
              <a:ext uri="{FF2B5EF4-FFF2-40B4-BE49-F238E27FC236}">
                <a16:creationId xmlns:a16="http://schemas.microsoft.com/office/drawing/2014/main" id="{0EF026D3-1C62-4F9B-83DF-E48C514F7D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Size Estimation for Other Operations</a:t>
            </a:r>
          </a:p>
        </p:txBody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835D04BD-25AA-4350-AEBE-DCE43ACCA9D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31112" y="951771"/>
            <a:ext cx="8701872" cy="5367972"/>
          </a:xfrm>
        </p:spPr>
        <p:txBody>
          <a:bodyPr/>
          <a:lstStyle/>
          <a:p>
            <a:r>
              <a:rPr lang="en-US" altLang="en-US" dirty="0"/>
              <a:t>Projection:  estimated size of </a:t>
            </a:r>
            <a:r>
              <a:rPr lang="en-US" altLang="en-US" dirty="0">
                <a:sym typeface="Symbol" panose="05050102010706020507" pitchFamily="18" charset="2"/>
              </a:rPr>
              <a:t></a:t>
            </a:r>
            <a:r>
              <a:rPr lang="en-US" altLang="en-US" i="1" baseline="-25000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dirty="0">
                <a:sym typeface="Symbol" panose="05050102010706020507" pitchFamily="18" charset="2"/>
              </a:rPr>
              <a:t>)   =   </a:t>
            </a:r>
            <a:r>
              <a:rPr lang="en-US" altLang="en-US" i="1" dirty="0">
                <a:sym typeface="Symbol" panose="05050102010706020507" pitchFamily="18" charset="2"/>
              </a:rPr>
              <a:t>V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 err="1">
                <a:sym typeface="Symbol" panose="05050102010706020507" pitchFamily="18" charset="2"/>
              </a:rPr>
              <a:t>A</a:t>
            </a:r>
            <a:r>
              <a:rPr lang="en-US" altLang="en-US" dirty="0" err="1">
                <a:sym typeface="Symbol" panose="05050102010706020507" pitchFamily="18" charset="2"/>
              </a:rPr>
              <a:t>,</a:t>
            </a:r>
            <a:r>
              <a:rPr lang="en-US" altLang="en-US" i="1" dirty="0" err="1">
                <a:sym typeface="Symbol" panose="05050102010706020507" pitchFamily="18" charset="2"/>
              </a:rPr>
              <a:t>r</a:t>
            </a:r>
            <a:r>
              <a:rPr lang="en-US" altLang="en-US" dirty="0">
                <a:sym typeface="Symbol" panose="05050102010706020507" pitchFamily="18" charset="2"/>
              </a:rPr>
              <a:t>)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Aggregation : estimated size of </a:t>
            </a:r>
            <a:r>
              <a:rPr lang="en-IN" altLang="en-US" i="1" baseline="-25000" dirty="0">
                <a:sym typeface="Symbol" panose="05050102010706020507" pitchFamily="18" charset="2"/>
              </a:rPr>
              <a:t>G</a:t>
            </a:r>
            <a:r>
              <a:rPr lang="en-IN" dirty="0"/>
              <a:t>𝛾</a:t>
            </a:r>
            <a:r>
              <a:rPr lang="en-US" altLang="en-US" i="1" baseline="-25000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dirty="0">
                <a:sym typeface="Symbol" panose="05050102010706020507" pitchFamily="18" charset="2"/>
              </a:rPr>
              <a:t>)   = </a:t>
            </a:r>
            <a:r>
              <a:rPr lang="en-US" altLang="en-US" i="1" dirty="0">
                <a:sym typeface="Symbol" panose="05050102010706020507" pitchFamily="18" charset="2"/>
              </a:rPr>
              <a:t>V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 err="1">
                <a:sym typeface="Symbol" panose="05050102010706020507" pitchFamily="18" charset="2"/>
              </a:rPr>
              <a:t>G,r</a:t>
            </a:r>
            <a:r>
              <a:rPr lang="en-US" altLang="en-US" dirty="0">
                <a:sym typeface="Symbol" panose="05050102010706020507" pitchFamily="18" charset="2"/>
              </a:rPr>
              <a:t>)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Set operations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 For unions/intersections of selections on the same relation: rewrite and use size estimate for selections</a:t>
            </a:r>
          </a:p>
          <a:p>
            <a:pPr lvl="2"/>
            <a:r>
              <a:rPr lang="en-US" altLang="en-US" dirty="0">
                <a:sym typeface="Symbol" panose="05050102010706020507" pitchFamily="18" charset="2"/>
              </a:rPr>
              <a:t>E.g., </a:t>
            </a:r>
            <a:r>
              <a:rPr lang="en-US" altLang="en-US" baseline="-25000" dirty="0">
                <a:sym typeface="Symbol" panose="05050102010706020507" pitchFamily="18" charset="2"/>
              </a:rPr>
              <a:t>1</a:t>
            </a:r>
            <a:r>
              <a:rPr lang="en-US" altLang="en-US" dirty="0">
                <a:sym typeface="Symbol" panose="05050102010706020507" pitchFamily="18" charset="2"/>
              </a:rPr>
              <a:t> (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dirty="0">
                <a:sym typeface="Symbol" panose="05050102010706020507" pitchFamily="18" charset="2"/>
              </a:rPr>
              <a:t>)  </a:t>
            </a:r>
            <a:r>
              <a:rPr lang="en-US" altLang="en-US" baseline="-25000" dirty="0">
                <a:sym typeface="Symbol" panose="05050102010706020507" pitchFamily="18" charset="2"/>
              </a:rPr>
              <a:t>2 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dirty="0">
                <a:sym typeface="Symbol" panose="05050102010706020507" pitchFamily="18" charset="2"/>
              </a:rPr>
              <a:t>)  can be rewritten as </a:t>
            </a:r>
            <a:r>
              <a:rPr lang="en-US" altLang="en-US" baseline="-25000" dirty="0">
                <a:sym typeface="Symbol" panose="05050102010706020507" pitchFamily="18" charset="2"/>
              </a:rPr>
              <a:t>1 or  2 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dirty="0">
                <a:sym typeface="Symbol" panose="05050102010706020507" pitchFamily="18" charset="2"/>
              </a:rPr>
              <a:t>)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For operations on different relations:</a:t>
            </a:r>
          </a:p>
          <a:p>
            <a:pPr lvl="2"/>
            <a:r>
              <a:rPr lang="en-US" altLang="en-US" sz="1600" dirty="0">
                <a:sym typeface="Symbol" panose="05050102010706020507" pitchFamily="18" charset="2"/>
              </a:rPr>
              <a:t>estimated size of </a:t>
            </a:r>
            <a:r>
              <a:rPr lang="en-US" altLang="en-US" sz="1600" i="1" dirty="0">
                <a:sym typeface="Symbol" panose="05050102010706020507" pitchFamily="18" charset="2"/>
              </a:rPr>
              <a:t>r </a:t>
            </a:r>
            <a:r>
              <a:rPr lang="en-US" altLang="en-US" sz="1600" dirty="0">
                <a:sym typeface="Symbol" panose="05050102010706020507" pitchFamily="18" charset="2"/>
              </a:rPr>
              <a:t> </a:t>
            </a:r>
            <a:r>
              <a:rPr lang="en-US" altLang="en-US" sz="1600" i="1" dirty="0">
                <a:sym typeface="Symbol" panose="05050102010706020507" pitchFamily="18" charset="2"/>
              </a:rPr>
              <a:t>s </a:t>
            </a:r>
            <a:r>
              <a:rPr lang="en-US" altLang="en-US" sz="1600" dirty="0">
                <a:sym typeface="Symbol" panose="05050102010706020507" pitchFamily="18" charset="2"/>
              </a:rPr>
              <a:t> = size of </a:t>
            </a:r>
            <a:r>
              <a:rPr lang="en-US" altLang="en-US" sz="1600" i="1" dirty="0">
                <a:sym typeface="Symbol" panose="05050102010706020507" pitchFamily="18" charset="2"/>
              </a:rPr>
              <a:t>r</a:t>
            </a:r>
            <a:r>
              <a:rPr lang="en-US" altLang="en-US" sz="1600" dirty="0">
                <a:sym typeface="Symbol" panose="05050102010706020507" pitchFamily="18" charset="2"/>
              </a:rPr>
              <a:t> + size of </a:t>
            </a:r>
            <a:r>
              <a:rPr lang="en-US" altLang="en-US" sz="1600" i="1" dirty="0">
                <a:sym typeface="Symbol" panose="05050102010706020507" pitchFamily="18" charset="2"/>
              </a:rPr>
              <a:t>s.   </a:t>
            </a:r>
          </a:p>
          <a:p>
            <a:pPr lvl="2"/>
            <a:r>
              <a:rPr lang="en-US" altLang="en-US" sz="1600" dirty="0">
                <a:sym typeface="Symbol" panose="05050102010706020507" pitchFamily="18" charset="2"/>
              </a:rPr>
              <a:t>estimated size of </a:t>
            </a:r>
            <a:r>
              <a:rPr lang="en-US" altLang="en-US" sz="1600" i="1" dirty="0">
                <a:sym typeface="Symbol" panose="05050102010706020507" pitchFamily="18" charset="2"/>
              </a:rPr>
              <a:t>r </a:t>
            </a:r>
            <a:r>
              <a:rPr lang="en-US" altLang="en-US" sz="1600" dirty="0">
                <a:sym typeface="Symbol" panose="05050102010706020507" pitchFamily="18" charset="2"/>
              </a:rPr>
              <a:t> </a:t>
            </a:r>
            <a:r>
              <a:rPr lang="en-US" altLang="en-US" sz="1600" i="1" dirty="0">
                <a:sym typeface="Symbol" panose="05050102010706020507" pitchFamily="18" charset="2"/>
              </a:rPr>
              <a:t>s  </a:t>
            </a:r>
            <a:r>
              <a:rPr lang="en-US" altLang="en-US" sz="1600" dirty="0">
                <a:sym typeface="Symbol" panose="05050102010706020507" pitchFamily="18" charset="2"/>
              </a:rPr>
              <a:t>= minimum size of</a:t>
            </a:r>
            <a:r>
              <a:rPr lang="en-US" altLang="en-US" sz="1600" i="1" dirty="0">
                <a:sym typeface="Symbol" panose="05050102010706020507" pitchFamily="18" charset="2"/>
              </a:rPr>
              <a:t> r</a:t>
            </a:r>
            <a:r>
              <a:rPr lang="en-US" altLang="en-US" sz="1600" dirty="0">
                <a:sym typeface="Symbol" panose="05050102010706020507" pitchFamily="18" charset="2"/>
              </a:rPr>
              <a:t> and size of </a:t>
            </a:r>
            <a:r>
              <a:rPr lang="en-US" altLang="en-US" sz="1600" i="1" dirty="0">
                <a:sym typeface="Symbol" panose="05050102010706020507" pitchFamily="18" charset="2"/>
              </a:rPr>
              <a:t>s.</a:t>
            </a:r>
          </a:p>
          <a:p>
            <a:pPr lvl="2"/>
            <a:r>
              <a:rPr lang="en-US" altLang="en-US" sz="1600" dirty="0">
                <a:sym typeface="Symbol" panose="05050102010706020507" pitchFamily="18" charset="2"/>
              </a:rPr>
              <a:t>estimated size of </a:t>
            </a:r>
            <a:r>
              <a:rPr lang="en-US" altLang="en-US" sz="1600" i="1" dirty="0">
                <a:sym typeface="Symbol" panose="05050102010706020507" pitchFamily="18" charset="2"/>
              </a:rPr>
              <a:t>r</a:t>
            </a:r>
            <a:r>
              <a:rPr lang="en-US" altLang="en-US" sz="1600" dirty="0">
                <a:sym typeface="Symbol" panose="05050102010706020507" pitchFamily="18" charset="2"/>
              </a:rPr>
              <a:t> – </a:t>
            </a:r>
            <a:r>
              <a:rPr lang="en-US" altLang="en-US" sz="1600" i="1" dirty="0">
                <a:sym typeface="Symbol" panose="05050102010706020507" pitchFamily="18" charset="2"/>
              </a:rPr>
              <a:t>s </a:t>
            </a:r>
            <a:r>
              <a:rPr lang="en-US" altLang="en-US" sz="1600" dirty="0">
                <a:sym typeface="Symbol" panose="05050102010706020507" pitchFamily="18" charset="2"/>
              </a:rPr>
              <a:t>  = </a:t>
            </a:r>
            <a:r>
              <a:rPr lang="en-US" altLang="en-US" sz="1600" i="1" dirty="0">
                <a:sym typeface="Symbol" panose="05050102010706020507" pitchFamily="18" charset="2"/>
              </a:rPr>
              <a:t>r.</a:t>
            </a:r>
          </a:p>
          <a:p>
            <a:pPr lvl="2"/>
            <a:r>
              <a:rPr lang="en-US" altLang="en-US" sz="1600" u="sng" dirty="0">
                <a:sym typeface="Symbol" panose="05050102010706020507" pitchFamily="18" charset="2"/>
              </a:rPr>
              <a:t>All the three estimates may be quite inaccurate, but provide upper bounds on the sizes</a:t>
            </a:r>
            <a:r>
              <a:rPr lang="en-US" altLang="en-US" sz="1600" dirty="0" smtClean="0">
                <a:sym typeface="Symbol" panose="05050102010706020507" pitchFamily="18" charset="2"/>
              </a:rPr>
              <a:t>.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Outer join:  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Estimated size of </a:t>
            </a:r>
            <a:r>
              <a:rPr lang="en-US" altLang="en-US" i="1" dirty="0">
                <a:sym typeface="Symbol" panose="05050102010706020507" pitchFamily="18" charset="2"/>
              </a:rPr>
              <a:t>r </a:t>
            </a:r>
            <a:r>
              <a:rPr lang="en-IN" dirty="0"/>
              <a:t>⟕</a:t>
            </a:r>
            <a:r>
              <a:rPr lang="en-US" altLang="en-US" i="1" dirty="0">
                <a:sym typeface="Symbol" panose="05050102010706020507" pitchFamily="18" charset="2"/>
              </a:rPr>
              <a:t> s  = size of  r </a:t>
            </a:r>
            <a:r>
              <a:rPr lang="en-IN" dirty="0"/>
              <a:t>⨝</a:t>
            </a:r>
            <a:r>
              <a:rPr lang="en-US" altLang="en-US" i="1" dirty="0">
                <a:sym typeface="Symbol" panose="05050102010706020507" pitchFamily="18" charset="2"/>
              </a:rPr>
              <a:t> s  + size of r</a:t>
            </a:r>
          </a:p>
          <a:p>
            <a:pPr lvl="2"/>
            <a:r>
              <a:rPr lang="en-US" altLang="en-US" sz="1600" dirty="0">
                <a:sym typeface="Symbol" panose="05050102010706020507" pitchFamily="18" charset="2"/>
              </a:rPr>
              <a:t>Case of right outer join is symmetric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Estimated size of </a:t>
            </a:r>
            <a:r>
              <a:rPr lang="en-US" altLang="en-US" i="1" dirty="0">
                <a:sym typeface="Symbol" panose="05050102010706020507" pitchFamily="18" charset="2"/>
              </a:rPr>
              <a:t>r </a:t>
            </a:r>
            <a:r>
              <a:rPr lang="en-IN" dirty="0"/>
              <a:t>⟗</a:t>
            </a:r>
            <a:r>
              <a:rPr lang="en-US" altLang="en-US" i="1" dirty="0">
                <a:sym typeface="Symbol" panose="05050102010706020507" pitchFamily="18" charset="2"/>
              </a:rPr>
              <a:t> s  = size of r </a:t>
            </a:r>
            <a:r>
              <a:rPr lang="en-IN" dirty="0"/>
              <a:t>⨝</a:t>
            </a:r>
            <a:r>
              <a:rPr lang="en-US" altLang="en-US" i="1" dirty="0">
                <a:sym typeface="Symbol" panose="05050102010706020507" pitchFamily="18" charset="2"/>
              </a:rPr>
              <a:t> s </a:t>
            </a:r>
            <a:r>
              <a:rPr lang="en-US" altLang="en-US" dirty="0">
                <a:sym typeface="Symbol" panose="05050102010706020507" pitchFamily="18" charset="2"/>
              </a:rPr>
              <a:t>+ size of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dirty="0">
                <a:sym typeface="Symbol" panose="05050102010706020507" pitchFamily="18" charset="2"/>
              </a:rPr>
              <a:t> + size of </a:t>
            </a:r>
            <a:r>
              <a:rPr lang="en-US" altLang="en-US" i="1" dirty="0">
                <a:sym typeface="Symbol" panose="05050102010706020507" pitchFamily="18" charset="2"/>
              </a:rPr>
              <a:t>s</a:t>
            </a:r>
          </a:p>
          <a:p>
            <a:pPr lvl="2"/>
            <a:endParaRPr lang="en-US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42" name="Rectangle 2">
            <a:extLst>
              <a:ext uri="{FF2B5EF4-FFF2-40B4-BE49-F238E27FC236}">
                <a16:creationId xmlns:a16="http://schemas.microsoft.com/office/drawing/2014/main" id="{D41360BC-8943-4AAA-98E8-F926231F08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36104" y="117475"/>
            <a:ext cx="8507896" cy="687595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Query Optimization and Materialized Views</a:t>
            </a:r>
          </a:p>
        </p:txBody>
      </p:sp>
      <p:sp>
        <p:nvSpPr>
          <p:cNvPr id="126979" name="Rectangle 3">
            <a:extLst>
              <a:ext uri="{FF2B5EF4-FFF2-40B4-BE49-F238E27FC236}">
                <a16:creationId xmlns:a16="http://schemas.microsoft.com/office/drawing/2014/main" id="{8BB96845-D085-4AD5-B5DE-88E616B848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1547" y="1102497"/>
            <a:ext cx="8521001" cy="5367972"/>
          </a:xfrm>
        </p:spPr>
        <p:txBody>
          <a:bodyPr/>
          <a:lstStyle/>
          <a:p>
            <a:r>
              <a:rPr lang="en-US" altLang="en-US" dirty="0"/>
              <a:t>Rewriting queries to use materialized views:</a:t>
            </a:r>
          </a:p>
          <a:p>
            <a:pPr lvl="1"/>
            <a:r>
              <a:rPr lang="en-US" altLang="en-US" dirty="0"/>
              <a:t>A materialized view </a:t>
            </a:r>
            <a:r>
              <a:rPr lang="en-US" altLang="en-US" i="1" dirty="0"/>
              <a:t>v = r </a:t>
            </a:r>
            <a:r>
              <a:rPr lang="en-IN" dirty="0"/>
              <a:t>⨝</a:t>
            </a:r>
            <a:r>
              <a:rPr lang="en-US" altLang="en-US" i="1" dirty="0"/>
              <a:t> s </a:t>
            </a:r>
            <a:r>
              <a:rPr lang="en-US" altLang="en-US" dirty="0"/>
              <a:t>is available </a:t>
            </a:r>
          </a:p>
          <a:p>
            <a:pPr lvl="1"/>
            <a:r>
              <a:rPr lang="en-US" altLang="en-US" dirty="0"/>
              <a:t>A user submits a query    </a:t>
            </a:r>
            <a:r>
              <a:rPr lang="en-US" altLang="en-US" i="1" dirty="0"/>
              <a:t>r </a:t>
            </a:r>
            <a:r>
              <a:rPr lang="en-IN" dirty="0"/>
              <a:t>⨝ </a:t>
            </a:r>
            <a:r>
              <a:rPr lang="en-US" altLang="en-US" i="1" dirty="0"/>
              <a:t>s </a:t>
            </a:r>
            <a:r>
              <a:rPr lang="en-IN" dirty="0"/>
              <a:t>⨝</a:t>
            </a:r>
            <a:r>
              <a:rPr lang="en-US" altLang="en-US" i="1" dirty="0"/>
              <a:t> t</a:t>
            </a:r>
            <a:endParaRPr lang="en-US" altLang="en-US" dirty="0"/>
          </a:p>
          <a:p>
            <a:pPr lvl="1"/>
            <a:r>
              <a:rPr lang="en-US" altLang="en-US" dirty="0"/>
              <a:t>We can rewrite the query as </a:t>
            </a:r>
            <a:r>
              <a:rPr lang="en-US" altLang="en-US" i="1" dirty="0"/>
              <a:t>v </a:t>
            </a:r>
            <a:r>
              <a:rPr lang="en-IN" dirty="0"/>
              <a:t>⨝</a:t>
            </a:r>
            <a:r>
              <a:rPr lang="en-US" altLang="en-US" i="1" dirty="0"/>
              <a:t> t</a:t>
            </a:r>
            <a:r>
              <a:rPr lang="en-US" altLang="en-US" dirty="0"/>
              <a:t> </a:t>
            </a:r>
          </a:p>
          <a:p>
            <a:pPr lvl="2"/>
            <a:r>
              <a:rPr lang="en-US" altLang="en-US" dirty="0"/>
              <a:t>Whether to do so depends on cost estimates for the two alternative</a:t>
            </a:r>
          </a:p>
          <a:p>
            <a:r>
              <a:rPr lang="en-US" altLang="en-US" dirty="0"/>
              <a:t>Replacing a use of a materialized view by the view definition:</a:t>
            </a:r>
          </a:p>
          <a:p>
            <a:pPr lvl="1"/>
            <a:r>
              <a:rPr lang="en-US" altLang="en-US" dirty="0"/>
              <a:t>A materialized view v = r </a:t>
            </a:r>
            <a:r>
              <a:rPr lang="en-IN" dirty="0"/>
              <a:t>⨝</a:t>
            </a:r>
            <a:r>
              <a:rPr lang="en-US" altLang="en-US" dirty="0"/>
              <a:t> s is available, but without any index on it</a:t>
            </a:r>
          </a:p>
          <a:p>
            <a:pPr lvl="1"/>
            <a:r>
              <a:rPr lang="en-US" altLang="en-US" dirty="0"/>
              <a:t>User submits a query </a:t>
            </a:r>
            <a:r>
              <a:rPr lang="en-US" altLang="en-US" dirty="0">
                <a:sym typeface="Symbol" panose="05050102010706020507" pitchFamily="18" charset="2"/>
              </a:rPr>
              <a:t></a:t>
            </a:r>
            <a:r>
              <a:rPr lang="en-US" altLang="en-US" baseline="-25000" dirty="0">
                <a:sym typeface="Symbol" panose="05050102010706020507" pitchFamily="18" charset="2"/>
              </a:rPr>
              <a:t>A=10</a:t>
            </a:r>
            <a:r>
              <a:rPr lang="en-US" altLang="en-US" dirty="0">
                <a:sym typeface="Symbol" panose="05050102010706020507" pitchFamily="18" charset="2"/>
              </a:rPr>
              <a:t>(v). 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Suppose also that </a:t>
            </a:r>
            <a:r>
              <a:rPr lang="en-US" altLang="en-US" i="1" dirty="0">
                <a:sym typeface="Symbol" panose="05050102010706020507" pitchFamily="18" charset="2"/>
              </a:rPr>
              <a:t>s</a:t>
            </a:r>
            <a:r>
              <a:rPr lang="en-US" altLang="en-US" dirty="0">
                <a:sym typeface="Symbol" panose="05050102010706020507" pitchFamily="18" charset="2"/>
              </a:rPr>
              <a:t> has an index on the common attribute B, and r has an index on attribute A. 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The best plan for this query may be to replace</a:t>
            </a:r>
            <a:r>
              <a:rPr lang="en-US" altLang="en-US" i="1" dirty="0">
                <a:sym typeface="Symbol" panose="05050102010706020507" pitchFamily="18" charset="2"/>
              </a:rPr>
              <a:t> v</a:t>
            </a:r>
            <a:r>
              <a:rPr lang="en-US" altLang="en-US" dirty="0">
                <a:sym typeface="Symbol" panose="05050102010706020507" pitchFamily="18" charset="2"/>
              </a:rPr>
              <a:t> by </a:t>
            </a:r>
            <a:r>
              <a:rPr lang="en-US" altLang="en-US" i="1" dirty="0">
                <a:sym typeface="Symbol" panose="05050102010706020507" pitchFamily="18" charset="2"/>
              </a:rPr>
              <a:t>r </a:t>
            </a:r>
            <a:r>
              <a:rPr lang="en-IN" dirty="0"/>
              <a:t>⨝ </a:t>
            </a:r>
            <a:r>
              <a:rPr lang="en-US" altLang="en-US" i="1" dirty="0">
                <a:sym typeface="Symbol" panose="05050102010706020507" pitchFamily="18" charset="2"/>
              </a:rPr>
              <a:t>s, </a:t>
            </a:r>
            <a:r>
              <a:rPr lang="en-US" altLang="en-US" dirty="0">
                <a:sym typeface="Symbol" panose="05050102010706020507" pitchFamily="18" charset="2"/>
              </a:rPr>
              <a:t>which can lead to the query plan </a:t>
            </a:r>
            <a:r>
              <a:rPr lang="en-US" altLang="en-US" baseline="-25000" dirty="0">
                <a:sym typeface="Symbol" panose="05050102010706020507" pitchFamily="18" charset="2"/>
              </a:rPr>
              <a:t>A=10</a:t>
            </a:r>
            <a:r>
              <a:rPr lang="en-US" altLang="en-US" dirty="0">
                <a:sym typeface="Symbol" panose="05050102010706020507" pitchFamily="18" charset="2"/>
              </a:rPr>
              <a:t>(r)</a:t>
            </a:r>
            <a:r>
              <a:rPr lang="en-IN" dirty="0"/>
              <a:t> ⨝</a:t>
            </a:r>
            <a:r>
              <a:rPr lang="en-US" altLang="en-US" dirty="0">
                <a:sym typeface="Symbol" panose="05050102010706020507" pitchFamily="18" charset="2"/>
              </a:rPr>
              <a:t> s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Query optimizer </a:t>
            </a:r>
            <a:r>
              <a:rPr lang="en-US" altLang="en-US" dirty="0" smtClean="0">
                <a:sym typeface="Symbol" panose="05050102010706020507" pitchFamily="18" charset="2"/>
              </a:rPr>
              <a:t>considers these alternatives and </a:t>
            </a:r>
            <a:r>
              <a:rPr lang="en-US" altLang="en-US" dirty="0">
                <a:sym typeface="Symbol" panose="05050102010706020507" pitchFamily="18" charset="2"/>
              </a:rPr>
              <a:t>choose the best overall </a:t>
            </a:r>
            <a:r>
              <a:rPr lang="en-US" altLang="en-US" dirty="0" smtClean="0">
                <a:sym typeface="Symbol" panose="05050102010706020507" pitchFamily="18" charset="2"/>
              </a:rPr>
              <a:t>plan.</a:t>
            </a:r>
            <a:endParaRPr lang="en-US" altLang="en-US" baseline="30000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058" name="Rectangle 2">
            <a:extLst>
              <a:ext uri="{FF2B5EF4-FFF2-40B4-BE49-F238E27FC236}">
                <a16:creationId xmlns:a16="http://schemas.microsoft.com/office/drawing/2014/main" id="{6F57FFC9-13C8-49FB-AD66-B06F70AF6D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Materialized View Selection</a:t>
            </a:r>
          </a:p>
        </p:txBody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7EF061E1-B61C-49C7-AD3C-4E6E657ABF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61258" y="1112123"/>
            <a:ext cx="8584292" cy="5367972"/>
          </a:xfrm>
        </p:spPr>
        <p:txBody>
          <a:bodyPr/>
          <a:lstStyle/>
          <a:p>
            <a:r>
              <a:rPr lang="en-US" altLang="en-US" b="1" dirty="0">
                <a:solidFill>
                  <a:srgbClr val="002060"/>
                </a:solidFill>
                <a:sym typeface="Symbol" panose="05050102010706020507" pitchFamily="18" charset="2"/>
              </a:rPr>
              <a:t>Materialized view selection</a:t>
            </a:r>
            <a:r>
              <a:rPr lang="en-US" altLang="en-US" dirty="0">
                <a:sym typeface="Symbol" panose="05050102010706020507" pitchFamily="18" charset="2"/>
              </a:rPr>
              <a:t>: </a:t>
            </a:r>
            <a:r>
              <a:rPr lang="ja-JP" altLang="en-US" dirty="0">
                <a:sym typeface="Symbol" panose="05050102010706020507" pitchFamily="18" charset="2"/>
              </a:rPr>
              <a:t>“</a:t>
            </a:r>
            <a:r>
              <a:rPr lang="en-US" altLang="ja-JP" dirty="0">
                <a:sym typeface="Symbol" panose="05050102010706020507" pitchFamily="18" charset="2"/>
              </a:rPr>
              <a:t>What is the best set of views to materialize?</a:t>
            </a:r>
            <a:r>
              <a:rPr lang="ja-JP" altLang="en-US" dirty="0">
                <a:sym typeface="Symbol" panose="05050102010706020507" pitchFamily="18" charset="2"/>
              </a:rPr>
              <a:t>”</a:t>
            </a:r>
            <a:r>
              <a:rPr lang="en-US" altLang="ja-JP" dirty="0">
                <a:sym typeface="Symbol" panose="05050102010706020507" pitchFamily="18" charset="2"/>
              </a:rPr>
              <a:t> </a:t>
            </a:r>
          </a:p>
          <a:p>
            <a:r>
              <a:rPr lang="en-US" altLang="en-US" b="1" dirty="0">
                <a:solidFill>
                  <a:srgbClr val="002060"/>
                </a:solidFill>
                <a:sym typeface="Symbol" panose="05050102010706020507" pitchFamily="18" charset="2"/>
              </a:rPr>
              <a:t>Index selection</a:t>
            </a:r>
            <a:r>
              <a:rPr lang="en-US" altLang="en-US" dirty="0">
                <a:sym typeface="Symbol" panose="05050102010706020507" pitchFamily="18" charset="2"/>
              </a:rPr>
              <a:t>:</a:t>
            </a:r>
            <a:r>
              <a:rPr lang="en-US" altLang="en-US" b="1" dirty="0">
                <a:solidFill>
                  <a:schemeClr val="tx2"/>
                </a:solidFill>
                <a:sym typeface="Symbol" panose="05050102010706020507" pitchFamily="18" charset="2"/>
              </a:rPr>
              <a:t> </a:t>
            </a:r>
            <a:r>
              <a:rPr lang="en-US" altLang="en-US" b="1" dirty="0">
                <a:sym typeface="Symbol" panose="05050102010706020507" pitchFamily="18" charset="2"/>
              </a:rPr>
              <a:t> </a:t>
            </a:r>
            <a:r>
              <a:rPr lang="ja-JP" altLang="en-US" dirty="0">
                <a:sym typeface="Symbol" panose="05050102010706020507" pitchFamily="18" charset="2"/>
              </a:rPr>
              <a:t>“</a:t>
            </a:r>
            <a:r>
              <a:rPr lang="en-US" altLang="ja-JP" dirty="0">
                <a:sym typeface="Symbol" panose="05050102010706020507" pitchFamily="18" charset="2"/>
              </a:rPr>
              <a:t>what is the best set of indices to create</a:t>
            </a:r>
            <a:r>
              <a:rPr lang="ja-JP" altLang="en-US" dirty="0">
                <a:sym typeface="Symbol" panose="05050102010706020507" pitchFamily="18" charset="2"/>
              </a:rPr>
              <a:t>”</a:t>
            </a:r>
            <a:endParaRPr lang="en-US" altLang="ja-JP" dirty="0">
              <a:sym typeface="Symbol" panose="05050102010706020507" pitchFamily="18" charset="2"/>
            </a:endParaRP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closely related, to materialized view selection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but simpler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Materialized view selection and index selection based on typical system </a:t>
            </a:r>
            <a:r>
              <a:rPr lang="en-US" altLang="en-US" b="1" dirty="0">
                <a:solidFill>
                  <a:srgbClr val="002060"/>
                </a:solidFill>
                <a:sym typeface="Symbol" panose="05050102010706020507" pitchFamily="18" charset="2"/>
              </a:rPr>
              <a:t>workload</a:t>
            </a:r>
            <a:r>
              <a:rPr lang="en-US" altLang="en-US" dirty="0">
                <a:solidFill>
                  <a:srgbClr val="002060"/>
                </a:solidFill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(queries and updates)</a:t>
            </a:r>
          </a:p>
          <a:p>
            <a:pPr lvl="1"/>
            <a:r>
              <a:rPr lang="en-US" altLang="en-US" dirty="0"/>
              <a:t>Typical goal: minimize time to execute </a:t>
            </a:r>
            <a:r>
              <a:rPr lang="en-US" altLang="en-US" dirty="0" smtClean="0"/>
              <a:t>workload, </a:t>
            </a:r>
            <a:r>
              <a:rPr lang="en-US" altLang="en-US" dirty="0"/>
              <a:t>subject to constraints on space and time taken for some critical queries/updates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One of the steps in database tuning </a:t>
            </a:r>
          </a:p>
          <a:p>
            <a:endParaRPr lang="en-US" altLang="en-US" dirty="0" smtClean="0">
              <a:sym typeface="Symbol" panose="05050102010706020507" pitchFamily="18" charset="2"/>
            </a:endParaRPr>
          </a:p>
          <a:p>
            <a:r>
              <a:rPr lang="en-US" altLang="en-US" dirty="0" smtClean="0">
                <a:sym typeface="Symbol" panose="05050102010706020507" pitchFamily="18" charset="2"/>
              </a:rPr>
              <a:t>Commercial </a:t>
            </a:r>
            <a:r>
              <a:rPr lang="en-US" altLang="en-US" dirty="0">
                <a:sym typeface="Symbol" panose="05050102010706020507" pitchFamily="18" charset="2"/>
              </a:rPr>
              <a:t>database systems provide tools (called </a:t>
            </a:r>
            <a:r>
              <a:rPr lang="ja-JP" altLang="en-US" dirty="0">
                <a:sym typeface="Symbol" panose="05050102010706020507" pitchFamily="18" charset="2"/>
              </a:rPr>
              <a:t>“</a:t>
            </a:r>
            <a:r>
              <a:rPr lang="en-US" altLang="ja-JP" dirty="0">
                <a:sym typeface="Symbol" panose="05050102010706020507" pitchFamily="18" charset="2"/>
              </a:rPr>
              <a:t>tuning assistants</a:t>
            </a:r>
            <a:r>
              <a:rPr lang="ja-JP" altLang="en-US" dirty="0">
                <a:sym typeface="Symbol" panose="05050102010706020507" pitchFamily="18" charset="2"/>
              </a:rPr>
              <a:t>”</a:t>
            </a:r>
            <a:r>
              <a:rPr lang="en-US" altLang="ja-JP" dirty="0">
                <a:sym typeface="Symbol" panose="05050102010706020507" pitchFamily="18" charset="2"/>
              </a:rPr>
              <a:t> or </a:t>
            </a:r>
            <a:r>
              <a:rPr lang="ja-JP" altLang="en-US" dirty="0">
                <a:sym typeface="Symbol" panose="05050102010706020507" pitchFamily="18" charset="2"/>
              </a:rPr>
              <a:t>“</a:t>
            </a:r>
            <a:r>
              <a:rPr lang="en-US" altLang="ja-JP" dirty="0">
                <a:sym typeface="Symbol" panose="05050102010706020507" pitchFamily="18" charset="2"/>
              </a:rPr>
              <a:t>wizards</a:t>
            </a:r>
            <a:r>
              <a:rPr lang="ja-JP" altLang="en-US" dirty="0">
                <a:sym typeface="Symbol" panose="05050102010706020507" pitchFamily="18" charset="2"/>
              </a:rPr>
              <a:t>”</a:t>
            </a:r>
            <a:r>
              <a:rPr lang="en-US" altLang="ja-JP" dirty="0">
                <a:sym typeface="Symbol" panose="05050102010706020507" pitchFamily="18" charset="2"/>
              </a:rPr>
              <a:t>) to help the database administrator choose what indices and materialized views to create </a:t>
            </a:r>
            <a:endParaRPr lang="en-US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778" name="Rectangle 2">
            <a:extLst>
              <a:ext uri="{FF2B5EF4-FFF2-40B4-BE49-F238E27FC236}">
                <a16:creationId xmlns:a16="http://schemas.microsoft.com/office/drawing/2014/main" id="{EB6996E5-15DA-452E-9ACC-FDFE840308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Multiquery Optimization</a:t>
            </a:r>
          </a:p>
        </p:txBody>
      </p:sp>
      <p:sp>
        <p:nvSpPr>
          <p:cNvPr id="587779" name="Rectangle 3">
            <a:extLst>
              <a:ext uri="{FF2B5EF4-FFF2-40B4-BE49-F238E27FC236}">
                <a16:creationId xmlns:a16="http://schemas.microsoft.com/office/drawing/2014/main" id="{F292F5C0-6E68-4B75-91C7-B7029DB982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93018" y="1102497"/>
            <a:ext cx="7786839" cy="5367972"/>
          </a:xfrm>
        </p:spPr>
        <p:txBody>
          <a:bodyPr/>
          <a:lstStyle/>
          <a:p>
            <a:r>
              <a:rPr lang="en-US" altLang="en-US" dirty="0"/>
              <a:t>Example</a:t>
            </a:r>
          </a:p>
          <a:p>
            <a:pPr>
              <a:buFont typeface="Monotype Sorts" pitchFamily="-65" charset="2"/>
              <a:buNone/>
            </a:pPr>
            <a:r>
              <a:rPr lang="en-US" altLang="en-US" dirty="0"/>
              <a:t>		Q1: </a:t>
            </a:r>
            <a:r>
              <a:rPr lang="en-US" altLang="en-US" b="1" dirty="0"/>
              <a:t>select</a:t>
            </a:r>
            <a:r>
              <a:rPr lang="en-US" altLang="en-US" dirty="0"/>
              <a:t> * </a:t>
            </a:r>
            <a:r>
              <a:rPr lang="en-US" altLang="en-US" b="1" dirty="0"/>
              <a:t>from</a:t>
            </a:r>
            <a:r>
              <a:rPr lang="en-US" altLang="en-US" dirty="0"/>
              <a:t> (r </a:t>
            </a:r>
            <a:r>
              <a:rPr lang="en-US" altLang="en-US" b="1" dirty="0"/>
              <a:t>natural join</a:t>
            </a:r>
            <a:r>
              <a:rPr lang="en-US" altLang="en-US" dirty="0"/>
              <a:t> t) </a:t>
            </a:r>
            <a:r>
              <a:rPr lang="en-US" altLang="en-US" b="1" dirty="0"/>
              <a:t>natural join</a:t>
            </a:r>
            <a:r>
              <a:rPr lang="en-US" altLang="en-US" dirty="0"/>
              <a:t> s</a:t>
            </a:r>
          </a:p>
          <a:p>
            <a:pPr>
              <a:buFont typeface="Monotype Sorts" pitchFamily="-65" charset="2"/>
              <a:buNone/>
            </a:pPr>
            <a:r>
              <a:rPr lang="en-US" altLang="en-US" dirty="0"/>
              <a:t>		Q2: </a:t>
            </a:r>
            <a:r>
              <a:rPr lang="en-US" altLang="en-US" b="1" dirty="0"/>
              <a:t>select</a:t>
            </a:r>
            <a:r>
              <a:rPr lang="en-US" altLang="en-US" dirty="0"/>
              <a:t> * </a:t>
            </a:r>
            <a:r>
              <a:rPr lang="en-US" altLang="en-US" b="1" dirty="0"/>
              <a:t>from</a:t>
            </a:r>
            <a:r>
              <a:rPr lang="en-US" altLang="en-US" dirty="0"/>
              <a:t> (r </a:t>
            </a:r>
            <a:r>
              <a:rPr lang="en-US" altLang="en-US" b="1" dirty="0"/>
              <a:t>natural join</a:t>
            </a:r>
            <a:r>
              <a:rPr lang="en-US" altLang="en-US" dirty="0"/>
              <a:t> u) </a:t>
            </a:r>
            <a:r>
              <a:rPr lang="en-US" altLang="en-US" b="1" dirty="0"/>
              <a:t>natural join</a:t>
            </a:r>
            <a:r>
              <a:rPr lang="en-US" altLang="en-US" dirty="0"/>
              <a:t> s</a:t>
            </a:r>
          </a:p>
          <a:p>
            <a:pPr lvl="1"/>
            <a:r>
              <a:rPr lang="en-US" altLang="en-US" dirty="0"/>
              <a:t>Both queries share common subexpression (r natural join s)</a:t>
            </a:r>
          </a:p>
          <a:p>
            <a:pPr lvl="1"/>
            <a:r>
              <a:rPr lang="en-US" altLang="en-US" dirty="0"/>
              <a:t>May be useful to compute (r natural join s) once and use it in both queries</a:t>
            </a:r>
          </a:p>
          <a:p>
            <a:pPr lvl="2"/>
            <a:r>
              <a:rPr lang="en-US" altLang="en-US" dirty="0"/>
              <a:t>But this may be more expensive in some situations</a:t>
            </a:r>
          </a:p>
          <a:p>
            <a:pPr lvl="3"/>
            <a:r>
              <a:rPr lang="en-US" altLang="en-US" dirty="0"/>
              <a:t>e.g. (r natural join s) may be expensive, plans as shown in queries may be cheaper</a:t>
            </a:r>
          </a:p>
          <a:p>
            <a:r>
              <a:rPr lang="en-US" altLang="en-US" b="1" dirty="0" err="1">
                <a:solidFill>
                  <a:srgbClr val="002060"/>
                </a:solidFill>
              </a:rPr>
              <a:t>Multiquery</a:t>
            </a:r>
            <a:r>
              <a:rPr lang="en-US" altLang="en-US" b="1" dirty="0">
                <a:solidFill>
                  <a:srgbClr val="002060"/>
                </a:solidFill>
              </a:rPr>
              <a:t> optimization</a:t>
            </a:r>
            <a:r>
              <a:rPr lang="en-US" altLang="en-US" dirty="0"/>
              <a:t>: find best overall plan for a set of queries, </a:t>
            </a:r>
            <a:r>
              <a:rPr lang="en-US" altLang="en-US" dirty="0" err="1"/>
              <a:t>expoiting</a:t>
            </a:r>
            <a:r>
              <a:rPr lang="en-US" altLang="en-US" dirty="0"/>
              <a:t> sharing of common subexpressions between queries where it is useful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778" name="Rectangle 2">
            <a:extLst>
              <a:ext uri="{FF2B5EF4-FFF2-40B4-BE49-F238E27FC236}">
                <a16:creationId xmlns:a16="http://schemas.microsoft.com/office/drawing/2014/main" id="{A09BD3B2-8A31-4283-B98B-4C2804804A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Multiquery Optimization (Cont.)</a:t>
            </a:r>
          </a:p>
        </p:txBody>
      </p:sp>
      <p:sp>
        <p:nvSpPr>
          <p:cNvPr id="587779" name="Rectangle 3">
            <a:extLst>
              <a:ext uri="{FF2B5EF4-FFF2-40B4-BE49-F238E27FC236}">
                <a16:creationId xmlns:a16="http://schemas.microsoft.com/office/drawing/2014/main" id="{C04C51B4-5ABE-4B37-B882-66901A2F03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93019" y="1102497"/>
            <a:ext cx="7748338" cy="5367972"/>
          </a:xfrm>
        </p:spPr>
        <p:txBody>
          <a:bodyPr/>
          <a:lstStyle/>
          <a:p>
            <a:r>
              <a:rPr lang="en-US" altLang="en-US" dirty="0"/>
              <a:t>Simple heuristic used in some database systems:</a:t>
            </a:r>
          </a:p>
          <a:p>
            <a:pPr lvl="1"/>
            <a:r>
              <a:rPr lang="en-US" altLang="en-US" dirty="0"/>
              <a:t>optimize each query separately</a:t>
            </a:r>
          </a:p>
          <a:p>
            <a:pPr lvl="1"/>
            <a:r>
              <a:rPr lang="en-US" altLang="en-US" dirty="0"/>
              <a:t>detect and exploiting common subexpressions in the individual optimal query plans</a:t>
            </a:r>
          </a:p>
          <a:p>
            <a:pPr lvl="2"/>
            <a:r>
              <a:rPr lang="en-US" altLang="en-US" dirty="0"/>
              <a:t>May not always give best plan, but is cheap to implement</a:t>
            </a:r>
          </a:p>
          <a:p>
            <a:pPr lvl="1"/>
            <a:r>
              <a:rPr lang="en-US" altLang="en-US" b="1" dirty="0">
                <a:solidFill>
                  <a:srgbClr val="002060"/>
                </a:solidFill>
              </a:rPr>
              <a:t>Shared scans</a:t>
            </a:r>
            <a:r>
              <a:rPr lang="en-US" altLang="en-US" dirty="0"/>
              <a:t>: widely used special case of </a:t>
            </a:r>
            <a:r>
              <a:rPr lang="en-US" altLang="en-US" dirty="0" err="1"/>
              <a:t>multiquery</a:t>
            </a:r>
            <a:r>
              <a:rPr lang="en-US" altLang="en-US" dirty="0"/>
              <a:t> optimization</a:t>
            </a:r>
          </a:p>
          <a:p>
            <a:r>
              <a:rPr lang="en-US" altLang="en-US" dirty="0"/>
              <a:t>Set of materialized views may share common subexpressions</a:t>
            </a:r>
          </a:p>
          <a:p>
            <a:pPr lvl="1"/>
            <a:r>
              <a:rPr lang="en-US" altLang="en-US" dirty="0"/>
              <a:t>As a result, view maintenance plans may share subexpressions</a:t>
            </a:r>
          </a:p>
          <a:p>
            <a:pPr lvl="1"/>
            <a:r>
              <a:rPr lang="en-US" altLang="en-US" dirty="0" err="1"/>
              <a:t>Multiquery</a:t>
            </a:r>
            <a:r>
              <a:rPr lang="en-US" altLang="en-US" dirty="0"/>
              <a:t> optimization can be useful in such situations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82" name="Rectangle 2">
            <a:extLst>
              <a:ext uri="{FF2B5EF4-FFF2-40B4-BE49-F238E27FC236}">
                <a16:creationId xmlns:a16="http://schemas.microsoft.com/office/drawing/2014/main" id="{8C061276-EE61-4681-9D81-597190E6E5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Parametric Query Optimization</a:t>
            </a:r>
          </a:p>
        </p:txBody>
      </p:sp>
      <p:sp>
        <p:nvSpPr>
          <p:cNvPr id="583683" name="Rectangle 3">
            <a:extLst>
              <a:ext uri="{FF2B5EF4-FFF2-40B4-BE49-F238E27FC236}">
                <a16:creationId xmlns:a16="http://schemas.microsoft.com/office/drawing/2014/main" id="{A7BBF060-5EFF-48AA-B7ED-A3C9827CEB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73768" y="943276"/>
            <a:ext cx="7950468" cy="552719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Example </a:t>
            </a:r>
            <a:br>
              <a:rPr lang="en-US" altLang="en-US" dirty="0"/>
            </a:br>
            <a:r>
              <a:rPr lang="en-US" altLang="en-US" b="1" dirty="0"/>
              <a:t>select</a:t>
            </a:r>
            <a:r>
              <a:rPr lang="en-US" altLang="en-US" dirty="0"/>
              <a:t> * </a:t>
            </a:r>
            <a:br>
              <a:rPr lang="en-US" altLang="en-US" dirty="0"/>
            </a:br>
            <a:r>
              <a:rPr lang="en-US" altLang="en-US" b="1" dirty="0"/>
              <a:t>from</a:t>
            </a:r>
            <a:r>
              <a:rPr lang="en-US" altLang="en-US" dirty="0"/>
              <a:t> r </a:t>
            </a:r>
            <a:r>
              <a:rPr lang="en-US" altLang="en-US" b="1" dirty="0"/>
              <a:t>natural join</a:t>
            </a:r>
            <a:r>
              <a:rPr lang="en-US" altLang="en-US" dirty="0"/>
              <a:t> s</a:t>
            </a:r>
            <a:br>
              <a:rPr lang="en-US" altLang="en-US" dirty="0"/>
            </a:br>
            <a:r>
              <a:rPr lang="en-US" altLang="en-US" b="1" dirty="0"/>
              <a:t>where</a:t>
            </a:r>
            <a:r>
              <a:rPr lang="en-US" altLang="en-US" dirty="0"/>
              <a:t> </a:t>
            </a:r>
            <a:r>
              <a:rPr lang="en-US" altLang="en-US" dirty="0" err="1"/>
              <a:t>r.a</a:t>
            </a:r>
            <a:r>
              <a:rPr lang="en-US" altLang="en-US" dirty="0"/>
              <a:t> &lt; $1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value of parameter $1 not known at compile time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known only at run time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different plans may be optimal for different values of $1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Solution 1: optimize at run time, each time query is submitted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 can be expensive 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Solution 2: </a:t>
            </a:r>
            <a:r>
              <a:rPr lang="en-US" altLang="en-US" b="1" dirty="0">
                <a:solidFill>
                  <a:srgbClr val="002060"/>
                </a:solidFill>
              </a:rPr>
              <a:t>Parametric Query Optimization</a:t>
            </a:r>
            <a:r>
              <a:rPr lang="en-US" altLang="en-US" dirty="0"/>
              <a:t>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optimizer generates a set of plans, optimal for different values of $1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Set of optimal plans usually small for 1 to 3 parameters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Key issue: how to do find set of optimal plans efficiently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best one from this set is chosen at run time when $1 is known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Solution 3: </a:t>
            </a:r>
            <a:r>
              <a:rPr lang="en-US" altLang="en-US" b="1" dirty="0">
                <a:solidFill>
                  <a:srgbClr val="002060"/>
                </a:solidFill>
              </a:rPr>
              <a:t>Query Plan Caching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If optimizer decides that same plan is likely to be optimal for all parameter values, it caches plan and reuses it, else reoptimize each time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Implemented in many database systems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2D4EE-4B72-451A-A76E-369397AC8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Adaptive Query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06C6B-5EA6-4200-86E1-2EB71F0DF1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768" y="1102497"/>
            <a:ext cx="7767588" cy="5367972"/>
          </a:xfrm>
        </p:spPr>
        <p:txBody>
          <a:bodyPr/>
          <a:lstStyle/>
          <a:p>
            <a:r>
              <a:rPr lang="en-IN" dirty="0"/>
              <a:t>Some systems support adaptive operators that change execution algorithm on the fly</a:t>
            </a:r>
          </a:p>
          <a:p>
            <a:pPr lvl="1"/>
            <a:r>
              <a:rPr lang="en-IN" dirty="0"/>
              <a:t>E.g., (indexed) nested loops join or hash join chosen at run time, depending on size of outer input</a:t>
            </a:r>
          </a:p>
          <a:p>
            <a:r>
              <a:rPr lang="en-IN" dirty="0"/>
              <a:t>Other systems allow monitoring of </a:t>
            </a:r>
            <a:r>
              <a:rPr lang="en-IN" dirty="0" err="1"/>
              <a:t>behavior</a:t>
            </a:r>
            <a:r>
              <a:rPr lang="en-IN" dirty="0"/>
              <a:t> of plan at run time and adapt plan</a:t>
            </a:r>
          </a:p>
          <a:p>
            <a:pPr lvl="1"/>
            <a:r>
              <a:rPr lang="en-IN" dirty="0"/>
              <a:t>E.g., if statistics such as number of rows is found to be very different in reality from what optimizer estimated</a:t>
            </a:r>
          </a:p>
          <a:p>
            <a:pPr lvl="1"/>
            <a:r>
              <a:rPr lang="en-IN" dirty="0"/>
              <a:t>Can stop execution, compute fresh plan, and restart</a:t>
            </a:r>
          </a:p>
          <a:p>
            <a:pPr lvl="2"/>
            <a:r>
              <a:rPr lang="en-IN" dirty="0"/>
              <a:t>But must avoid too many such restarts</a:t>
            </a:r>
          </a:p>
        </p:txBody>
      </p:sp>
    </p:spTree>
    <p:extLst>
      <p:ext uri="{BB962C8B-B14F-4D97-AF65-F5344CB8AC3E}">
        <p14:creationId xmlns:p14="http://schemas.microsoft.com/office/powerpoint/2010/main" val="3049511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1976" y="3015003"/>
            <a:ext cx="41699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MS PGothic" charset="0"/>
              </a:rPr>
              <a:t>End of Chapter</a:t>
            </a:r>
          </a:p>
        </p:txBody>
      </p:sp>
    </p:spTree>
    <p:extLst>
      <p:ext uri="{BB962C8B-B14F-4D97-AF65-F5344CB8AC3E}">
        <p14:creationId xmlns:p14="http://schemas.microsoft.com/office/powerpoint/2010/main" val="4031272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b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1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1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db" id="{1B40F190-8F0E-46FA-A03B-CD59DA3B9BE7}" vid="{5BEDA3C5-9F17-4237-A302-9E1B73B082AF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db</Template>
  <TotalTime>144956</TotalTime>
  <Words>2226</Words>
  <Application>Microsoft Office PowerPoint</Application>
  <PresentationFormat>On-screen Show (4:3)</PresentationFormat>
  <Paragraphs>357</Paragraphs>
  <Slides>42</Slides>
  <Notes>37</Notes>
  <HiddenSlides>2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5" baseType="lpstr">
      <vt:lpstr>MS PGothic</vt:lpstr>
      <vt:lpstr>MS PGothic</vt:lpstr>
      <vt:lpstr>Arial</vt:lpstr>
      <vt:lpstr>Cambria Math</vt:lpstr>
      <vt:lpstr>Greek Symbols</vt:lpstr>
      <vt:lpstr>Helvetica</vt:lpstr>
      <vt:lpstr>Monotype Sorts</vt:lpstr>
      <vt:lpstr>Symbol</vt:lpstr>
      <vt:lpstr>Times New Roman</vt:lpstr>
      <vt:lpstr>Webdings</vt:lpstr>
      <vt:lpstr>Wingdings</vt:lpstr>
      <vt:lpstr>db</vt:lpstr>
      <vt:lpstr>Equation</vt:lpstr>
      <vt:lpstr>Chapter 16: Query Optimization</vt:lpstr>
      <vt:lpstr>Introduction</vt:lpstr>
      <vt:lpstr>Introduction</vt:lpstr>
      <vt:lpstr>Introduction (Cont.)</vt:lpstr>
      <vt:lpstr>Introduction (Cont.)</vt:lpstr>
      <vt:lpstr>Viewing Query Evaluation Plans</vt:lpstr>
      <vt:lpstr>PowerPoint Presentation</vt:lpstr>
      <vt:lpstr>Transformation of Relational Expressions</vt:lpstr>
      <vt:lpstr>Equivalence Rules</vt:lpstr>
      <vt:lpstr>Equivalence Rules (Cont.)</vt:lpstr>
      <vt:lpstr>Pictorial Depiction of Equivalence Rules</vt:lpstr>
      <vt:lpstr>Equivalence Rules (Cont.)</vt:lpstr>
      <vt:lpstr>Equivalence Rules (Cont.)</vt:lpstr>
      <vt:lpstr>Equivalence Rules (Cont.)</vt:lpstr>
      <vt:lpstr>Equivalence Rules (Cont.)</vt:lpstr>
      <vt:lpstr>Equivalence Rules (Cont.)</vt:lpstr>
      <vt:lpstr>Transformation Example: Pushing Selections</vt:lpstr>
      <vt:lpstr>Example with Multiple Transformations</vt:lpstr>
      <vt:lpstr>Multiple Transformations (Cont.)</vt:lpstr>
      <vt:lpstr>Transformation Example: Pushing Projections</vt:lpstr>
      <vt:lpstr>Join Ordering Example</vt:lpstr>
      <vt:lpstr>Join Ordering Example (Cont.)</vt:lpstr>
      <vt:lpstr>Enumeration of Equivalent Expressions</vt:lpstr>
      <vt:lpstr>Cost-Based Optimization</vt:lpstr>
      <vt:lpstr>Heuristic Optimization</vt:lpstr>
      <vt:lpstr>PowerPoint Presentation</vt:lpstr>
      <vt:lpstr>Statistical Information for Cost Estimation</vt:lpstr>
      <vt:lpstr>Histograms</vt:lpstr>
      <vt:lpstr>Selection Size Estimation</vt:lpstr>
      <vt:lpstr>Size Estimation of Complex Selections</vt:lpstr>
      <vt:lpstr>Join Operation:  Running Example</vt:lpstr>
      <vt:lpstr>Estimation of the Size of Joins</vt:lpstr>
      <vt:lpstr>Estimation of the Size of Joins (Cont.)</vt:lpstr>
      <vt:lpstr>Estimation of the Size of Joins (Cont.)</vt:lpstr>
      <vt:lpstr>Size Estimation for Other Operations</vt:lpstr>
      <vt:lpstr>Query Optimization and Materialized Views</vt:lpstr>
      <vt:lpstr>Materialized View Selection</vt:lpstr>
      <vt:lpstr>Multiquery Optimization</vt:lpstr>
      <vt:lpstr>Multiquery Optimization (Cont.)</vt:lpstr>
      <vt:lpstr>Parametric Query Optimization</vt:lpstr>
      <vt:lpstr>Adaptive Query Processing</vt:lpstr>
      <vt:lpstr>PowerPoint Presentation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16: Query Optimization</dc:title>
  <dc:creator>Silberschatz;Korth;Sudarshan</dc:creator>
  <cp:lastModifiedBy>Mukesh Mohania</cp:lastModifiedBy>
  <cp:revision>726</cp:revision>
  <cp:lastPrinted>2001-02-16T16:44:23Z</cp:lastPrinted>
  <dcterms:created xsi:type="dcterms:W3CDTF">2000-02-23T18:58:38Z</dcterms:created>
  <dcterms:modified xsi:type="dcterms:W3CDTF">2023-04-02T10:01:29Z</dcterms:modified>
</cp:coreProperties>
</file>