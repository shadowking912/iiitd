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embeddedFontLst>
    <p:embeddedFont>
      <p:font typeface="Quattrocento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QuattrocentoSans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QuattrocentoSans-italic.fntdata"/><Relationship Id="rId14" Type="http://schemas.openxmlformats.org/officeDocument/2006/relationships/slide" Target="slides/slide9.xml"/><Relationship Id="rId58" Type="http://schemas.openxmlformats.org/officeDocument/2006/relationships/font" Target="fonts/Quattrocento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b16e8e0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0b16e8e0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0b16e8e0e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0b16e8e0e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b705fbb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0b705fb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b91f3ff7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0b91f3ff7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b822379f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b822379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0b822379f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0b822379f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0b822379f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0b822379f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0d52e044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0d52e04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0b822379f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0b822379f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0b822379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0b822379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affa4d2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affa4d2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0affa4d23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0affa4d23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b91f3ff7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b91f3ff7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0b822379f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0b822379f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0b822379f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0b822379f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0b16e8e0e5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0b16e8e0e5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0b16e8e0e5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0b16e8e0e5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b822379f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0b822379f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0b822379f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0b822379f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04b2c68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04b2c68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0affa4d23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0affa4d23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0affa4d23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0affa4d23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b822379f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0b822379f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0b822379f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0b822379f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0b16e8e0e5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0b16e8e0e5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0affa4d23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0affa4d23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b16e8e0e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b16e8e0e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0b16e8e0e5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0b16e8e0e5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0b822379f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0b822379f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b822379f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b822379f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d52e044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d52e044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0d52e0445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0d52e0445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0d52e044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0d52e044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0d52e0445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0d52e0445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0affa4d2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0affa4d2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0b16e8e0e5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0b16e8e0e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0ef5ff1f1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0ef5ff1f1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0b822379f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0b822379f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0b822379f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0b822379f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0b822379f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0b822379f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0b822379f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0b822379f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0b822379f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0b822379f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0d57dad3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0d57dad3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0affa4d23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0affa4d23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0affa4d23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0affa4d23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0b16e8e0e5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0b16e8e0e5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0b16e8e0e5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0b16e8e0e5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b16e8e0e5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b16e8e0e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0d52e0445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0d52e0445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0d52e0445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0d52e0445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b="0"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623888" y="3414475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" type="body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630936" y="1543049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630936" y="1543050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777646" y="-1107913"/>
            <a:ext cx="3599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96" name="Google Shape;96;p1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4683577" y="1035886"/>
            <a:ext cx="38289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5" name="Google Shape;125;p1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33" name="Google Shape;133;p1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>
            <p:ph idx="2" type="pic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3" name="Google Shape;153;p17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idx="1" type="body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62" name="Google Shape;162;p1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b="0" i="0" sz="33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- and Program Structuring</a:t>
            </a:r>
            <a:endParaRPr/>
          </a:p>
        </p:txBody>
      </p:sp>
      <p:sp>
        <p:nvSpPr>
          <p:cNvPr id="169" name="Google Shape;169;p19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have seen program as a monolith sequence of statements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Main types of statements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Assignment -  var = expression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Conditional - if-then-else, if-then, if-elifs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Iteration - for loop, while loop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statements are sufficient to compute anything computable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a large program, or a complex problem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One monolith seq of statements is hard to construct or debug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Having only the above statements makes it harder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 provide an answer to both of these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Allows us to build new and more powerful "constructs" from the basic language constructs, which we can use in our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Allows code to be broken into pieces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100"/>
              <a:t>You learn programming by practice</a:t>
            </a:r>
            <a:endParaRPr b="1" sz="3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Always remember that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 more you practice, the better you will get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There is no </a:t>
            </a:r>
            <a:r>
              <a:rPr lang="en"/>
              <a:t>shortcut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Functions</a:t>
            </a:r>
            <a:endParaRPr sz="3000"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633845" y="1035887"/>
            <a:ext cx="7886700" cy="332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In math, we have functions like:</a:t>
            </a:r>
            <a:endParaRPr sz="2000"/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i="1" lang="en" sz="2000"/>
              <a:t>Z = f(x,y)</a:t>
            </a:r>
            <a:r>
              <a:rPr lang="en" sz="2000"/>
              <a:t> </a:t>
            </a:r>
            <a:endParaRPr sz="2000"/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After defining a function, we can use it in other functions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In python, we can define very general functions, and use them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Like in math, functions may have parameters, and to compute a function, values of parameters have to be provided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 is a unit of computation – which can be invoked from different places, i.e. used wherever we want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With functions, a python program is a set of function declarations, and a “main program” which calls / uses these functions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Let's</a:t>
            </a:r>
            <a:r>
              <a:rPr lang="en" sz="2000"/>
              <a:t> show it by example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Python Functions: Example</a:t>
            </a:r>
            <a:endParaRPr sz="3000"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633850" y="1233275"/>
            <a:ext cx="2811300" cy="340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defining a fn sq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square(x):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x*x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defining a fn cube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cube(y):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y*y*y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a, b = 2, 4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c = square(a) + cube(b)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print("Val of c: ", c)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3869099" y="1233275"/>
            <a:ext cx="4643400" cy="2839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rtl="0" algn="just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Two functions defined - each has one parameter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Code of function definition specifies the computation the fn does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Function can return some value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To use the function – it is called, value of parameter is </a:t>
            </a:r>
            <a:r>
              <a:rPr lang="en" sz="2000"/>
              <a:t>provided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On call – parameter gets value, body of function executed; value returned (and can be used)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Defining </a:t>
            </a:r>
            <a:r>
              <a:rPr lang="en" sz="3000"/>
              <a:t>and Calling </a:t>
            </a:r>
            <a:r>
              <a:rPr lang="en" sz="3000"/>
              <a:t>a function</a:t>
            </a:r>
            <a:endParaRPr sz="3000"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633845" y="1035887"/>
            <a:ext cx="7886700" cy="266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We need two basic capabilities - defining a function and calling a defined function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Defining a function is done by def </a:t>
            </a:r>
            <a:endParaRPr sz="2000"/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fn_name(parm-list):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&lt;fn-body&gt; </a:t>
            </a:r>
            <a:br>
              <a:rPr b="1" lang="en" sz="1500">
                <a:latin typeface="Courier New"/>
                <a:ea typeface="Courier New"/>
                <a:cs typeface="Courier New"/>
                <a:sym typeface="Courier New"/>
              </a:rPr>
            </a:b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Parameters are optional; parameters are available for use in body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function execution terminates when it executes a return statement, or its body completes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Defining and Calling a function…</a:t>
            </a:r>
            <a:endParaRPr sz="3000"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633845" y="1035887"/>
            <a:ext cx="7886700" cy="269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Defining a function just defines it, to execute we must call it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Statement to c</a:t>
            </a:r>
            <a:r>
              <a:rPr lang="en" sz="2000"/>
              <a:t>all a function: just the function name with parameters:</a:t>
            </a:r>
            <a:endParaRPr sz="2000"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</a:t>
            </a:r>
            <a:r>
              <a:rPr b="1" lang="en" sz="15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fn_name(arguments)</a:t>
            </a:r>
            <a:endParaRPr b="1" sz="1500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If function does not have any arguments, it must be called with () - this tells the interpreter that this </a:t>
            </a:r>
            <a:r>
              <a:rPr lang="en" sz="2000"/>
              <a:t>is</a:t>
            </a:r>
            <a:r>
              <a:rPr lang="en" sz="2000"/>
              <a:t> not a variable but a function call</a:t>
            </a:r>
            <a:endParaRPr sz="2000"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</a:t>
            </a:r>
            <a:r>
              <a:rPr b="1" lang="en" sz="15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fn_name()</a:t>
            </a:r>
            <a:endParaRPr b="1" sz="1500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If function has parameters, arguments need to be provided for all the parameters - provide value of the parameter for fn execution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Defining and Calling: flow of control</a:t>
            </a:r>
            <a:endParaRPr sz="3000"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633845" y="1035887"/>
            <a:ext cx="7886700" cy="305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Program is a sequence of statements being </a:t>
            </a:r>
            <a:r>
              <a:rPr lang="en" sz="2000"/>
              <a:t>executed</a:t>
            </a:r>
            <a:r>
              <a:rPr lang="en" sz="2000"/>
              <a:t> by interpreter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 definition is a definition - not an executable statement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 call is an executable statement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On encountering a function call statement, to execute it:</a:t>
            </a:r>
            <a:endParaRPr sz="2000"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Interpreter jumps to function definition 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Parameters are assigned values that corresponding arguments in the calling statement have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Body of the function (a sequence of statements) is executed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Upon completion of the function, the control returns to the calling stmt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Return value, if any, is used where the function was called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Flow of control - diagram </a:t>
            </a:r>
            <a:r>
              <a:rPr lang="en" sz="1800"/>
              <a:t>(programiz)</a:t>
            </a:r>
            <a:endParaRPr sz="1800"/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475" y="1081075"/>
            <a:ext cx="30670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Executing a Program with Functions</a:t>
            </a:r>
            <a:endParaRPr sz="3000"/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633850" y="1035875"/>
            <a:ext cx="3592200" cy="33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A general program structure:</a:t>
            </a:r>
            <a:br>
              <a:rPr lang="en"/>
            </a:br>
            <a:endParaRPr sz="15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ef fn1():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body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ef fn2():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body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fn3(params):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body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Stmt-block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includes some call stmts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" name="Google Shape;225;p28"/>
          <p:cNvSpPr txBox="1"/>
          <p:nvPr>
            <p:ph idx="2" type="body"/>
          </p:nvPr>
        </p:nvSpPr>
        <p:spPr>
          <a:xfrm>
            <a:off x="4375950" y="1035875"/>
            <a:ext cx="4155300" cy="391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When interpreter gets this program</a:t>
            </a:r>
            <a:endParaRPr sz="1800"/>
          </a:p>
          <a:p>
            <a:pPr indent="-311150" lvl="1" marL="914400" rtl="0" algn="just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On function definitions, it records some information; body is not executed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Starts execution from the first stmt in the stmt block of the main program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On a call statement, control is transferred to the function; function starts executing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On return statement in the function, goes back to the call stmt (in the main program)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Execution continues in the main program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Note: Function definition must be before the function </a:t>
            </a:r>
            <a:r>
              <a:rPr lang="en" sz="1600">
                <a:highlight>
                  <a:srgbClr val="FCE566"/>
                </a:highlight>
              </a:rPr>
              <a:t>call stmt is executed</a:t>
            </a:r>
            <a:r>
              <a:rPr lang="en" sz="1600"/>
              <a:t>. </a:t>
            </a:r>
            <a:r>
              <a:rPr lang="en" sz="1600"/>
              <a:t>Otherwise</a:t>
            </a:r>
            <a:r>
              <a:rPr lang="en" sz="1600"/>
              <a:t> results in </a:t>
            </a:r>
            <a:r>
              <a:rPr lang="en" sz="1600"/>
              <a:t>error.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Return statement </a:t>
            </a:r>
            <a:endParaRPr sz="3000"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633845" y="1035887"/>
            <a:ext cx="7886700" cy="363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can use in its body a special statement: </a:t>
            </a:r>
            <a:endParaRPr sz="2000"/>
          </a:p>
          <a:p>
            <a:pPr indent="0" lvl="0" marL="13716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eturn &lt;expression&gt; # expression is optional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Return statement serves two purposes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Terminates the execution of the function and returns the control back to where the function was called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Returns a value to the caller 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execution can also terminate when its body finishes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Like having a return statement as the last statement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If some value specified in return - </a:t>
            </a:r>
            <a:r>
              <a:rPr lang="en" sz="2000"/>
              <a:t>that</a:t>
            </a:r>
            <a:r>
              <a:rPr lang="en" sz="2000"/>
              <a:t> is provided </a:t>
            </a:r>
            <a:r>
              <a:rPr lang="en" sz="2000"/>
              <a:t>at</a:t>
            </a:r>
            <a:r>
              <a:rPr lang="en" sz="2000"/>
              <a:t> </a:t>
            </a:r>
            <a:r>
              <a:rPr lang="en" sz="2000"/>
              <a:t>calling point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Otherwise the return value is treated as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" sz="2000"/>
              <a:t> (a special value)</a:t>
            </a:r>
            <a:endParaRPr sz="20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Note: In Python, functions can return multiple values. Just write each value/expression after return, </a:t>
            </a:r>
            <a:r>
              <a:rPr lang="en" sz="2000"/>
              <a:t>separated</a:t>
            </a:r>
            <a:r>
              <a:rPr lang="en" sz="2000"/>
              <a:t> by commas.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685799" y="1035886"/>
            <a:ext cx="3834300" cy="249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Order in which names of colors are printed when the program is executed?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Yellow, Blue, Green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Green, Yellow, Blue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Yellow, Green, Blue, Red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Yellow, Green, Blue</a:t>
            </a:r>
            <a:endParaRPr sz="2000"/>
          </a:p>
        </p:txBody>
      </p:sp>
      <p:sp>
        <p:nvSpPr>
          <p:cNvPr id="237" name="Google Shape;237;p30"/>
          <p:cNvSpPr txBox="1"/>
          <p:nvPr>
            <p:ph idx="2" type="body"/>
          </p:nvPr>
        </p:nvSpPr>
        <p:spPr>
          <a:xfrm>
            <a:off x="4683577" y="1035886"/>
            <a:ext cx="3828900" cy="338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print("Red")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f(a, b):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s = a*b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print("Green")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print("Yellow")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num1 = 10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num2 = 5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ans = f(10, 5)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print("Blue")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3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Single Correct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685799" y="1035886"/>
            <a:ext cx="3834300" cy="249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Order in which names of colors are printed when the program is executed?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Yellow, Blue, Green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Green, Yellow, Blue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Yellow, Green, Blue, Red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lphaUcPeriod"/>
            </a:pPr>
            <a:r>
              <a:rPr b="1" lang="en" sz="2000">
                <a:solidFill>
                  <a:srgbClr val="FF0000"/>
                </a:solidFill>
              </a:rPr>
              <a:t>Red, Yellow, Green, Blue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244" name="Google Shape;244;p31"/>
          <p:cNvSpPr txBox="1"/>
          <p:nvPr>
            <p:ph idx="2" type="body"/>
          </p:nvPr>
        </p:nvSpPr>
        <p:spPr>
          <a:xfrm>
            <a:off x="4683577" y="1035886"/>
            <a:ext cx="3828900" cy="338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print("Red")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#1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f(a, b):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#6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s = a*b	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#7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print("Green")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#8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return s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#9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print("Yellow")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#2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num1 = 10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#3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num2 = 5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#4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ans = f(10, 5)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#5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print("Blue")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#10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3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Single Correct</a:t>
            </a:r>
            <a:endParaRPr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Argument</a:t>
            </a:r>
            <a:r>
              <a:rPr lang="en" sz="3000"/>
              <a:t> Passing </a:t>
            </a:r>
            <a:endParaRPr sz="3000"/>
          </a:p>
        </p:txBody>
      </p:sp>
      <p:sp>
        <p:nvSpPr>
          <p:cNvPr id="251" name="Google Shape;251;p32"/>
          <p:cNvSpPr txBox="1"/>
          <p:nvPr>
            <p:ph idx="1" type="body"/>
          </p:nvPr>
        </p:nvSpPr>
        <p:spPr>
          <a:xfrm>
            <a:off x="633845" y="1035887"/>
            <a:ext cx="7886700" cy="339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definition may have parameters (or not) - these are available inside the function for use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Call to a function has arguments (or not)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When a function is called, argument values are assigned to the parameters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Positional arguments (also called required arguments) - arguments are </a:t>
            </a:r>
            <a:r>
              <a:rPr lang="en" sz="2000"/>
              <a:t>assigned</a:t>
            </a:r>
            <a:r>
              <a:rPr lang="en" sz="2000"/>
              <a:t> to parameters in order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Must have same number of arguments for calling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i-th argument value is assigned to i-th parameter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When a function is called, interpreter checks if the # of args is same as # of parms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If number of arguments is not same, error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Argument passing example</a:t>
            </a:r>
            <a:endParaRPr sz="3000"/>
          </a:p>
        </p:txBody>
      </p:sp>
      <p:pic>
        <p:nvPicPr>
          <p:cNvPr id="257" name="Google Shape;257;p33"/>
          <p:cNvPicPr preferRelativeResize="0"/>
          <p:nvPr/>
        </p:nvPicPr>
        <p:blipFill rotWithShape="1">
          <a:blip r:embed="rId3">
            <a:alphaModFix/>
          </a:blip>
          <a:srcRect b="0" l="11554" r="12028" t="0"/>
          <a:stretch/>
        </p:blipFill>
        <p:spPr>
          <a:xfrm>
            <a:off x="633850" y="1087750"/>
            <a:ext cx="3476049" cy="30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3"/>
          <p:cNvSpPr txBox="1"/>
          <p:nvPr>
            <p:ph idx="2" type="body"/>
          </p:nvPr>
        </p:nvSpPr>
        <p:spPr>
          <a:xfrm>
            <a:off x="4402400" y="1233275"/>
            <a:ext cx="3881700" cy="311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values 3 and 4 are passed as arguments for function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2000"/>
              <a:t>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arguments values are copied to function parameters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000"/>
              <a:t> and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000"/>
              <a:t>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000"/>
              <a:t> </a:t>
            </a:r>
            <a:r>
              <a:rPr lang="en" sz="2000"/>
              <a:t>and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000"/>
              <a:t> are used for computing value of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2000"/>
              <a:t>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2000"/>
              <a:t> is returned by the function and assigned to </a:t>
            </a:r>
            <a:r>
              <a:rPr lang="en" sz="2000"/>
              <a:t>variable</a:t>
            </a:r>
            <a:r>
              <a:rPr lang="en" sz="2000"/>
              <a:t> ans.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variable ans now holds the value 7 and is printed.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Argument Passing …</a:t>
            </a:r>
            <a:endParaRPr sz="3000"/>
          </a:p>
        </p:txBody>
      </p:sp>
      <p:sp>
        <p:nvSpPr>
          <p:cNvPr id="264" name="Google Shape;264;p34"/>
          <p:cNvSpPr txBox="1"/>
          <p:nvPr>
            <p:ph idx="1" type="body"/>
          </p:nvPr>
        </p:nvSpPr>
        <p:spPr>
          <a:xfrm>
            <a:off x="633845" y="1035887"/>
            <a:ext cx="7886700" cy="228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Arguments can be pass by value or pass by reference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Pass by value - the value of arg is assigned to the parm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Pass by reference - a reference to the arg is assigned to the parm - in this case changes made by function can be reflected in the caller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Python uses pass by value, but in some cases, this value is a reference - we will discuss it later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Complex objects can also be passed as arguments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- Labs</a:t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Feedbacks are ANONYMOUS - your email id is NOT recorded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Green: Have done all lab problems myself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Yellow: Have done more than half the problems myself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Red: Have done less than half problems myself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</a:t>
            </a:r>
            <a:endParaRPr/>
          </a:p>
        </p:txBody>
      </p:sp>
      <p:sp>
        <p:nvSpPr>
          <p:cNvPr id="276" name="Google Shape;276;p36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Green:  Comfortable with material covered so far in IP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Yellow: Somewhat - need to practice more and revise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Red: Uncomfortable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Local and Global Variables</a:t>
            </a:r>
            <a:endParaRPr sz="3000"/>
          </a:p>
        </p:txBody>
      </p:sp>
      <p:sp>
        <p:nvSpPr>
          <p:cNvPr id="282" name="Google Shape;282;p37"/>
          <p:cNvSpPr txBox="1"/>
          <p:nvPr>
            <p:ph idx="1" type="body"/>
          </p:nvPr>
        </p:nvSpPr>
        <p:spPr>
          <a:xfrm>
            <a:off x="633845" y="1035887"/>
            <a:ext cx="7886700" cy="366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800"/>
              <a:t>All vars defined in the function are local - they exist when function is executing</a:t>
            </a:r>
            <a:endParaRPr sz="18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800"/>
              <a:t>Parameters of a function are also local variables</a:t>
            </a:r>
            <a:endParaRPr sz="18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800"/>
              <a:t>As vars in a function are local to a function - many fns can have same var names with no conflict </a:t>
            </a:r>
            <a:endParaRPr sz="18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800"/>
              <a:t>Main program cannot use/access local variables of functions (they don't exist when control is in the main program)</a:t>
            </a:r>
            <a:endParaRPr sz="18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800"/>
              <a:t>But the variables of main can be accessed within a function - these are called global variables, which can be accessed in any function</a:t>
            </a:r>
            <a:endParaRPr sz="18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800"/>
              <a:t>Accessing/modifying global variables within a function is to be strictly avoided (only to be used rarely)</a:t>
            </a:r>
            <a:endParaRPr sz="18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800"/>
              <a:t>Python requires any global variable to be used in a function to be explicitly declared as global, e.g. within the body of the function</a:t>
            </a:r>
            <a:endParaRPr sz="1800"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global X # there must be a variable in main program named X # X now will refer to the global variable X 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Scoping of Variables</a:t>
            </a:r>
            <a:endParaRPr sz="3000"/>
          </a:p>
        </p:txBody>
      </p:sp>
      <p:sp>
        <p:nvSpPr>
          <p:cNvPr id="288" name="Google Shape;288;p38"/>
          <p:cNvSpPr txBox="1"/>
          <p:nvPr>
            <p:ph idx="1" type="body"/>
          </p:nvPr>
        </p:nvSpPr>
        <p:spPr>
          <a:xfrm>
            <a:off x="633845" y="1035887"/>
            <a:ext cx="7886700" cy="367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Variables keep values; a variable is defined when we assign some value to it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Some languages require variables to be declared before they can be assigned anything 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Scope of a variable - where the variable can be accessed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Global variables - those defined outside any function - they are potentially accessible from anywhere in the program, including fns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Local variables - those defined in a function, including the parameters - only accessible within the function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To access global variables from within a function, need to specify </a:t>
            </a:r>
            <a:r>
              <a:rPr lang="en" sz="2000"/>
              <a:t>explicitly</a:t>
            </a:r>
            <a:r>
              <a:rPr lang="en" sz="2000"/>
              <a:t> that the variable is global - python assumes all variables in a function to be local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Avoid the use of global variables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and Global Variables</a:t>
            </a:r>
            <a:endParaRPr/>
          </a:p>
        </p:txBody>
      </p:sp>
      <p:sp>
        <p:nvSpPr>
          <p:cNvPr id="294" name="Google Shape;294;p39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62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print("Red")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def f(a, b):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s = a*b   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print("Green")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global num1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num1 = 100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print("num1:", num1)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return 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print("Yellow")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num1 = 10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num2 = 5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ans = f(10, 5)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print("Global num1:", num1)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print("Blue") </a:t>
            </a:r>
            <a:endParaRPr/>
          </a:p>
        </p:txBody>
      </p:sp>
      <p:sp>
        <p:nvSpPr>
          <p:cNvPr id="295" name="Google Shape;295;p39"/>
          <p:cNvSpPr txBox="1"/>
          <p:nvPr/>
        </p:nvSpPr>
        <p:spPr>
          <a:xfrm>
            <a:off x="3666250" y="1961325"/>
            <a:ext cx="2352900" cy="40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The value of num1 is now 100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39"/>
          <p:cNvCxnSpPr>
            <a:stCxn id="295" idx="1"/>
          </p:cNvCxnSpPr>
          <p:nvPr/>
        </p:nvCxnSpPr>
        <p:spPr>
          <a:xfrm flipH="1">
            <a:off x="1742050" y="2161425"/>
            <a:ext cx="1924200" cy="15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7" name="Google Shape;297;p39"/>
          <p:cNvSpPr txBox="1"/>
          <p:nvPr/>
        </p:nvSpPr>
        <p:spPr>
          <a:xfrm>
            <a:off x="4186075" y="3329275"/>
            <a:ext cx="2872800" cy="40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Visualize this code using Pythontutor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will be the output of the code ?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1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2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3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4</a:t>
            </a:r>
            <a:endParaRPr/>
          </a:p>
        </p:txBody>
      </p:sp>
      <p:sp>
        <p:nvSpPr>
          <p:cNvPr id="303" name="Google Shape;303;p40"/>
          <p:cNvSpPr txBox="1"/>
          <p:nvPr>
            <p:ph idx="2" type="body"/>
          </p:nvPr>
        </p:nvSpPr>
        <p:spPr>
          <a:xfrm>
            <a:off x="4683577" y="1035886"/>
            <a:ext cx="3828900" cy="276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x = 1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f(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y = x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print(y+1)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x = 2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f(3)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p4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Single Correct</a:t>
            </a:r>
            <a:endParaRPr sz="3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idx="1" type="body"/>
          </p:nvPr>
        </p:nvSpPr>
        <p:spPr>
          <a:xfrm>
            <a:off x="685799" y="1035886"/>
            <a:ext cx="3834300" cy="2214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will be the output of the code ?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1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2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3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lphaUcPeriod"/>
            </a:pPr>
            <a:r>
              <a:rPr b="1" lang="en" sz="2000">
                <a:solidFill>
                  <a:srgbClr val="FF0000"/>
                </a:solidFill>
              </a:rPr>
              <a:t>4</a:t>
            </a:r>
            <a:endParaRPr sz="2000"/>
          </a:p>
        </p:txBody>
      </p:sp>
      <p:sp>
        <p:nvSpPr>
          <p:cNvPr id="310" name="Google Shape;310;p41"/>
          <p:cNvSpPr txBox="1"/>
          <p:nvPr>
            <p:ph idx="2" type="body"/>
          </p:nvPr>
        </p:nvSpPr>
        <p:spPr>
          <a:xfrm>
            <a:off x="4683577" y="1035886"/>
            <a:ext cx="3828900" cy="276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x = 1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f(x):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y = x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print(y+1)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x = 2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f(3)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" name="Google Shape;311;p4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Single Correct</a:t>
            </a:r>
            <a:endParaRPr sz="3000"/>
          </a:p>
        </p:txBody>
      </p:sp>
      <p:sp>
        <p:nvSpPr>
          <p:cNvPr id="312" name="Google Shape;312;p41"/>
          <p:cNvSpPr txBox="1"/>
          <p:nvPr/>
        </p:nvSpPr>
        <p:spPr>
          <a:xfrm>
            <a:off x="743700" y="3705425"/>
            <a:ext cx="776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The value 3 passed as argument to function f is copied to parameter x. Then y is assigned the value of local variable x (i.e. 3). Thus the final output is y+1 (i.e. 4)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Main </a:t>
            </a:r>
            <a:r>
              <a:rPr lang="en" sz="3000"/>
              <a:t>program with functions</a:t>
            </a:r>
            <a:endParaRPr sz="3000"/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633845" y="1035887"/>
            <a:ext cx="7886700" cy="297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With functions, most of the computation should be done in the functions; the main program should have minimal computations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common way to structure the overall code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Define functions for units of computation with clean interfaces - i.e. a few parameters and some return value</a:t>
            </a:r>
            <a:endParaRPr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The main program is used mostly for: getting inputs, calling functions to do the processing, and then printing the final results</a:t>
            </a:r>
            <a:endParaRPr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In complex programs, you may even have functions for input/output</a:t>
            </a:r>
            <a:endParaRPr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Now whenever you write a program, use functions liberally to do most of the computation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Lets see an example - program to compute factorial 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 - Factorial</a:t>
            </a:r>
            <a:endParaRPr sz="3000"/>
          </a:p>
        </p:txBody>
      </p:sp>
      <p:sp>
        <p:nvSpPr>
          <p:cNvPr id="324" name="Google Shape;324;p43"/>
          <p:cNvSpPr txBox="1"/>
          <p:nvPr>
            <p:ph idx="1" type="body"/>
          </p:nvPr>
        </p:nvSpPr>
        <p:spPr>
          <a:xfrm>
            <a:off x="633845" y="1035887"/>
            <a:ext cx="7886700" cy="33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A function to take in a number and print its factorial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ef factorial(n):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act = 1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or i in range(1,n+1):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	fact = fact*i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eturn fact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= int(input("Enter an integer: "))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if n&lt;=0: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print("Number is &lt;= 0")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fact = factorial(n)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print("Factorial is: ", fact)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Execution using Pythontutor</a:t>
            </a:r>
            <a:endParaRPr/>
          </a:p>
        </p:txBody>
      </p:sp>
      <p:sp>
        <p:nvSpPr>
          <p:cNvPr id="330" name="Google Shape;330;p44"/>
          <p:cNvSpPr txBox="1"/>
          <p:nvPr>
            <p:ph idx="1" type="body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Helps in visualizing what is happening in the program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Aids understanding of the working / running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use for debugging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small programs - learning a construct or a new feature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 us run this program</a:t>
            </a:r>
            <a:endParaRPr/>
          </a:p>
        </p:txBody>
      </p:sp>
      <p:sp>
        <p:nvSpPr>
          <p:cNvPr id="331" name="Google Shape;331;p44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def fn(x,y):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 c = x+y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 return c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a = 5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b = 7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d = fn(a, b)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print(d)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And the factorial program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Examples </a:t>
            </a:r>
            <a:endParaRPr sz="3000"/>
          </a:p>
        </p:txBody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310950" y="1035875"/>
            <a:ext cx="4209000" cy="2839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Fn to find period of pendulum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pendulum_period(len):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g = 9.8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pi = 3.14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period = 2*pi*((len/g) ** 0.5)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period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 = 2.4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ans = pendulum_period(l)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print(ans)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8" name="Google Shape;338;p45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Fn to compute simple interest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simple_interest(principal, rate, time):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interest = principal * rate * time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interest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 = 1000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 = 0.05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Rate of interest 5%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 = 5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SI = simple_interest(P, R, T)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print(SI)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 - HCF</a:t>
            </a:r>
            <a:endParaRPr sz="3000"/>
          </a:p>
        </p:txBody>
      </p:sp>
      <p:sp>
        <p:nvSpPr>
          <p:cNvPr id="344" name="Google Shape;344;p46"/>
          <p:cNvSpPr txBox="1"/>
          <p:nvPr>
            <p:ph idx="1" type="body"/>
          </p:nvPr>
        </p:nvSpPr>
        <p:spPr>
          <a:xfrm>
            <a:off x="633845" y="1035887"/>
            <a:ext cx="7886700" cy="353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hcf(a,b):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if a &gt; b: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smaller = b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smaller = a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for i in range(1, smaller + 1):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if a % i == 0 and b % i == 0: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    hcf = i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hcf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   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 = 54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b = 12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print("The H.C.F. of", a, "and", b, "is", hcf(a,b))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 - Roots of Quadratic Polynomial</a:t>
            </a:r>
            <a:endParaRPr sz="3000"/>
          </a:p>
        </p:txBody>
      </p:sp>
      <p:sp>
        <p:nvSpPr>
          <p:cNvPr id="350" name="Google Shape;350;p47"/>
          <p:cNvSpPr txBox="1"/>
          <p:nvPr>
            <p:ph idx="1" type="body"/>
          </p:nvPr>
        </p:nvSpPr>
        <p:spPr>
          <a:xfrm>
            <a:off x="633845" y="1035887"/>
            <a:ext cx="7886700" cy="3763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Calculates the solutions to the quadratic a*x**2 + b*x + c = 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quadratic_roots(a, b, c):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# Calculate the discriminant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d = (b**2) - (4*a*c)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# Test if discriminant is negative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if d &lt; 0: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return None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# Calculate the two roots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x1 = (-b + d**0.5)/(2*a)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x2 = (-b - d**0.5)/(2*a)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    return (x1, x2)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a, b, c = 1, -5, 6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print("The solutions are:", quadratic_roots(a, b, c))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Importance of Functions</a:t>
            </a:r>
            <a:endParaRPr sz="3000"/>
          </a:p>
        </p:txBody>
      </p:sp>
      <p:sp>
        <p:nvSpPr>
          <p:cNvPr id="356" name="Google Shape;356;p48"/>
          <p:cNvSpPr txBox="1"/>
          <p:nvPr>
            <p:ph idx="1" type="body"/>
          </p:nvPr>
        </p:nvSpPr>
        <p:spPr>
          <a:xfrm>
            <a:off x="633845" y="1035887"/>
            <a:ext cx="7886700" cy="356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rtl="0" algn="just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800"/>
              <a:t>Functions are a powerful tool for writing large programs</a:t>
            </a:r>
            <a:endParaRPr sz="18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/>
              <a:t>Divide and conquer</a:t>
            </a:r>
            <a:r>
              <a:rPr lang="en"/>
              <a:t> - allows the large programming problem to be divided into smaller problems, with functions written for solving sub-problems, then combined to solve the problem </a:t>
            </a:r>
            <a:endParaRPr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/>
              <a:t>Abstraction</a:t>
            </a:r>
            <a:r>
              <a:rPr lang="en"/>
              <a:t> - encapsulate a computation to be used anywhere by just using the function name; don’t have to understand function logic for using (it may be written by someone else)</a:t>
            </a:r>
            <a:endParaRPr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/>
              <a:t>Reusability</a:t>
            </a:r>
            <a:r>
              <a:rPr lang="en"/>
              <a:t> - the same function can be called from many places, i.e. the function code is being reused many times</a:t>
            </a:r>
            <a:endParaRPr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/>
              <a:t>Modularity</a:t>
            </a:r>
            <a:r>
              <a:rPr lang="en"/>
              <a:t> - with function, a program is a set of functions (modules) multiple of these are connected together for building a solution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800"/>
              <a:t>Functions are the oldest method in programming languages for providing modularity, abstraction, etc</a:t>
            </a:r>
            <a:endParaRPr sz="18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Even the earliest languages provided this abstraction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Defining Functions - Some Practices</a:t>
            </a:r>
            <a:endParaRPr sz="3000"/>
          </a:p>
        </p:txBody>
      </p:sp>
      <p:sp>
        <p:nvSpPr>
          <p:cNvPr id="362" name="Google Shape;362;p49"/>
          <p:cNvSpPr txBox="1"/>
          <p:nvPr>
            <p:ph idx="1" type="body"/>
          </p:nvPr>
        </p:nvSpPr>
        <p:spPr>
          <a:xfrm>
            <a:off x="633845" y="1035887"/>
            <a:ext cx="7886700" cy="339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must have an expressive name which represents what the function is doing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Generally names start with lower case letter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Should have a clean and simple interface - with few parameters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Should be computing something that can be easily stated in a simple sentence 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Should not have any side effects - i.e. caller only gets returned values, no other changes in any vars in caller or main program 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Must have a comment - which states succinctly </a:t>
            </a:r>
            <a:r>
              <a:rPr b="1" i="1" lang="en" sz="2000"/>
              <a:t>what</a:t>
            </a:r>
            <a:r>
              <a:rPr lang="en" sz="2000"/>
              <a:t> the program is doing (not its logic) - is also a test of whether the function has a clean abstraction / purpose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Naming standards - PEP 8 has conventions followed widely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More about Using Fns for Modularity</a:t>
            </a:r>
            <a:endParaRPr sz="3000"/>
          </a:p>
        </p:txBody>
      </p:sp>
      <p:sp>
        <p:nvSpPr>
          <p:cNvPr id="368" name="Google Shape;368;p50"/>
          <p:cNvSpPr txBox="1"/>
          <p:nvPr>
            <p:ph idx="1" type="body"/>
          </p:nvPr>
        </p:nvSpPr>
        <p:spPr>
          <a:xfrm>
            <a:off x="633845" y="1035887"/>
            <a:ext cx="7886700" cy="3948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Use of functions in the program promotes modularity and code reusability.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Modular programming emphasise on subdividing a computer program into separate sub-programs (functions) to increase the maintainability, readability of the code and to make it easier to introduce any changes in future or to correct the errors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Always have a comment describing what the function is doing (not how) - helps making it modular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If you have to write a long commentary to explain - rethink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can be defined once and used multiple times in the program. This reduces the lines of code that the programmer needs to write.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significance of functions becomes clear when the size of program becomes large.</a:t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Functions can call Functions</a:t>
            </a:r>
            <a:endParaRPr sz="3000"/>
          </a:p>
        </p:txBody>
      </p:sp>
      <p:sp>
        <p:nvSpPr>
          <p:cNvPr id="374" name="Google Shape;374;p51"/>
          <p:cNvSpPr txBox="1"/>
          <p:nvPr>
            <p:ph idx="1" type="body"/>
          </p:nvPr>
        </p:nvSpPr>
        <p:spPr>
          <a:xfrm>
            <a:off x="633845" y="1035887"/>
            <a:ext cx="7886700" cy="325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In maths we have learned that we can compose functions, e.g.</a:t>
            </a:r>
            <a:endParaRPr sz="2000"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i="1" lang="en" sz="2000"/>
              <a:t>g(x, y) = f1(x) + f2(y)   </a:t>
            </a:r>
            <a:endParaRPr i="1" sz="2000"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i="1" lang="en" sz="2000"/>
              <a:t>g</a:t>
            </a:r>
            <a:r>
              <a:rPr i="1" lang="en" sz="2000"/>
              <a:t>(x) = f1 (f2(x))</a:t>
            </a:r>
            <a:endParaRPr i="1" sz="2000"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Say, f1 = compute square, f2 = </a:t>
            </a:r>
            <a:r>
              <a:rPr lang="en" sz="2000"/>
              <a:t>compute</a:t>
            </a:r>
            <a:r>
              <a:rPr lang="en" sz="2000"/>
              <a:t> sq root</a:t>
            </a:r>
            <a:endParaRPr sz="2000"/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In python, functions can also call functions, allowing very flexible functional composition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We will consider all functions are defined at the program level (later will discuss functions defined within a function)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Functions at the program level can call each other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can also call itself - recursion - we will discuss it later</a:t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Functional Composition</a:t>
            </a:r>
            <a:endParaRPr sz="3000"/>
          </a:p>
        </p:txBody>
      </p:sp>
      <p:sp>
        <p:nvSpPr>
          <p:cNvPr id="380" name="Google Shape;380;p52"/>
          <p:cNvSpPr txBox="1"/>
          <p:nvPr>
            <p:ph idx="2" type="body"/>
          </p:nvPr>
        </p:nvSpPr>
        <p:spPr>
          <a:xfrm>
            <a:off x="5080576" y="1221650"/>
            <a:ext cx="2418600" cy="297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f1(x):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x*x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f2(x):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x**(1/2)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g(x):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val = f1(f2(x))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val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a, b = 3, 4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val = g(b)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print(val)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1" name="Google Shape;381;p52"/>
          <p:cNvSpPr txBox="1"/>
          <p:nvPr>
            <p:ph idx="2" type="body"/>
          </p:nvPr>
        </p:nvSpPr>
        <p:spPr>
          <a:xfrm>
            <a:off x="1339651" y="1221650"/>
            <a:ext cx="3027600" cy="297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f1(x):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x*x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f2(x):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x**(1/2)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g(x,y):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val = f1(x) + f2(y)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val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a, b = 3, 4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val = g(a,b)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print(val)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Functional Composition Example</a:t>
            </a:r>
            <a:endParaRPr sz="3000"/>
          </a:p>
        </p:txBody>
      </p:sp>
      <p:sp>
        <p:nvSpPr>
          <p:cNvPr id="387" name="Google Shape;387;p53"/>
          <p:cNvSpPr txBox="1"/>
          <p:nvPr>
            <p:ph idx="1" type="body"/>
          </p:nvPr>
        </p:nvSpPr>
        <p:spPr>
          <a:xfrm>
            <a:off x="633845" y="1035887"/>
            <a:ext cx="7886700" cy="339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A function to calculate area of floor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calculate_area(length, width):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area = length * width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area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A function to calculate total cost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calculate_cost(area, price_per_square_foot):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cost = area * price_per_square_foot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cost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Program to calculate cost of carpeting a rectangular room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en = 10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id = 20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er_unit_cost = 650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ans = calculate_cost(calculate_area(len, wid), per_unit_cost)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print("Cost of carpet (Rs): ", ans)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Functional Composition - Compute nCr</a:t>
            </a:r>
            <a:endParaRPr sz="3000"/>
          </a:p>
        </p:txBody>
      </p:sp>
      <p:sp>
        <p:nvSpPr>
          <p:cNvPr id="393" name="Google Shape;393;p54"/>
          <p:cNvSpPr txBox="1"/>
          <p:nvPr>
            <p:ph idx="1" type="body"/>
          </p:nvPr>
        </p:nvSpPr>
        <p:spPr>
          <a:xfrm>
            <a:off x="633845" y="1035887"/>
            <a:ext cx="7886700" cy="339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Fn to compute factorial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factorial(n):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fact = 1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for i in range(1,n+1):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	fact = fact*i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return fact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Fn to compute nCr - calls factorial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combination(n,r):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C = factorial(n)/(factorial(r)*factorial(n-r))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C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 - to compute the nCr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 = int(input("Enter the value of n: "))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 = int(input("Enter the value of r: "))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print("The value of nCr is: ",combination(n,r))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Single Correct</a:t>
            </a:r>
            <a:endParaRPr sz="3000"/>
          </a:p>
        </p:txBody>
      </p:sp>
      <p:sp>
        <p:nvSpPr>
          <p:cNvPr id="399" name="Google Shape;399;p55"/>
          <p:cNvSpPr txBox="1"/>
          <p:nvPr>
            <p:ph idx="1" type="body"/>
          </p:nvPr>
        </p:nvSpPr>
        <p:spPr>
          <a:xfrm>
            <a:off x="633850" y="1035884"/>
            <a:ext cx="7886700" cy="69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Choose the correct statement that completes the code for </a:t>
            </a:r>
            <a:r>
              <a:rPr lang="en" sz="2000"/>
              <a:t>finding</a:t>
            </a:r>
            <a:r>
              <a:rPr lang="en" sz="2000"/>
              <a:t> the distance between</a:t>
            </a:r>
            <a:r>
              <a:rPr lang="en" sz="2000"/>
              <a:t> two points on the plane - </a:t>
            </a:r>
            <a:r>
              <a:rPr lang="en" sz="1800"/>
              <a:t>(x</a:t>
            </a:r>
            <a:r>
              <a:rPr baseline="-25000" lang="en" sz="1800"/>
              <a:t>1</a:t>
            </a:r>
            <a:r>
              <a:rPr lang="en" sz="1800"/>
              <a:t>,y</a:t>
            </a:r>
            <a:r>
              <a:rPr baseline="-25000" lang="en" sz="1800"/>
              <a:t>1</a:t>
            </a:r>
            <a:r>
              <a:rPr lang="en" sz="1800"/>
              <a:t>)</a:t>
            </a:r>
            <a:r>
              <a:rPr lang="en" sz="2000"/>
              <a:t> </a:t>
            </a:r>
            <a:r>
              <a:rPr lang="en" sz="2000"/>
              <a:t>and </a:t>
            </a:r>
            <a:r>
              <a:rPr lang="en" sz="1800"/>
              <a:t>(x</a:t>
            </a:r>
            <a:r>
              <a:rPr baseline="-25000" lang="en" sz="1800"/>
              <a:t>2</a:t>
            </a:r>
            <a:r>
              <a:rPr lang="en" sz="1800"/>
              <a:t>,y</a:t>
            </a:r>
            <a:r>
              <a:rPr baseline="-25000" lang="en" sz="1800"/>
              <a:t>2</a:t>
            </a:r>
            <a:r>
              <a:rPr lang="en" sz="1800"/>
              <a:t>)</a:t>
            </a:r>
            <a:r>
              <a:rPr lang="en" sz="2000"/>
              <a:t>.</a:t>
            </a:r>
            <a:endParaRPr sz="2000"/>
          </a:p>
        </p:txBody>
      </p:sp>
      <p:sp>
        <p:nvSpPr>
          <p:cNvPr id="400" name="Google Shape;400;p55"/>
          <p:cNvSpPr txBox="1"/>
          <p:nvPr/>
        </p:nvSpPr>
        <p:spPr>
          <a:xfrm>
            <a:off x="6316900" y="1729175"/>
            <a:ext cx="2161500" cy="3201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def f(a):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   return a*a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def g(a):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   return a**0.5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def h(a,b):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   return a-b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x1 = 1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y1 = 2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x2 = 4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y2 = 6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# Enter Code Here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print(distance)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1" name="Google Shape;401;p55"/>
          <p:cNvSpPr txBox="1"/>
          <p:nvPr/>
        </p:nvSpPr>
        <p:spPr>
          <a:xfrm>
            <a:off x="802850" y="1958600"/>
            <a:ext cx="5443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AutoNum type="alphaUcPeriod"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distance = g(f(h(x1,x2)) + f(h(y1,y2)))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AutoNum type="alphaUcPeriod"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distance = f(g(h(x1,x2)) - g(h(y1,y2)))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AutoNum type="alphaUcPeriod"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distance = f(g(h(x1,y1)) * g(h(x2,y2)))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AutoNum type="alphaUcPeriod"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distance = g(h(f(x1,x2)) + h(f(y1,y2)))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Single Correct</a:t>
            </a:r>
            <a:endParaRPr sz="3000"/>
          </a:p>
        </p:txBody>
      </p:sp>
      <p:sp>
        <p:nvSpPr>
          <p:cNvPr id="407" name="Google Shape;407;p56"/>
          <p:cNvSpPr txBox="1"/>
          <p:nvPr>
            <p:ph idx="1" type="body"/>
          </p:nvPr>
        </p:nvSpPr>
        <p:spPr>
          <a:xfrm>
            <a:off x="633850" y="1035884"/>
            <a:ext cx="7886700" cy="69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Choose the correct statement that completes the code for finding the distance between two points on the plane - </a:t>
            </a:r>
            <a:r>
              <a:rPr lang="en" sz="1800"/>
              <a:t>(x</a:t>
            </a:r>
            <a:r>
              <a:rPr baseline="-25000" lang="en" sz="1800"/>
              <a:t>1</a:t>
            </a:r>
            <a:r>
              <a:rPr lang="en" sz="1800"/>
              <a:t>,y</a:t>
            </a:r>
            <a:r>
              <a:rPr baseline="-25000" lang="en" sz="1800"/>
              <a:t>1</a:t>
            </a:r>
            <a:r>
              <a:rPr lang="en" sz="1800"/>
              <a:t>)</a:t>
            </a:r>
            <a:r>
              <a:rPr lang="en" sz="2000"/>
              <a:t> and </a:t>
            </a:r>
            <a:r>
              <a:rPr lang="en" sz="1800"/>
              <a:t>(x</a:t>
            </a:r>
            <a:r>
              <a:rPr baseline="-25000" lang="en" sz="1800"/>
              <a:t>2</a:t>
            </a:r>
            <a:r>
              <a:rPr lang="en" sz="1800"/>
              <a:t>,y</a:t>
            </a:r>
            <a:r>
              <a:rPr baseline="-25000" lang="en" sz="1800"/>
              <a:t>2</a:t>
            </a:r>
            <a:r>
              <a:rPr lang="en" sz="1800"/>
              <a:t>)</a:t>
            </a:r>
            <a:r>
              <a:rPr lang="en" sz="2000"/>
              <a:t>.</a:t>
            </a:r>
            <a:endParaRPr sz="2000"/>
          </a:p>
        </p:txBody>
      </p:sp>
      <p:sp>
        <p:nvSpPr>
          <p:cNvPr id="408" name="Google Shape;408;p56"/>
          <p:cNvSpPr txBox="1"/>
          <p:nvPr/>
        </p:nvSpPr>
        <p:spPr>
          <a:xfrm>
            <a:off x="6316900" y="1729175"/>
            <a:ext cx="2161500" cy="3201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def f(a):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   return a*a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def g(a):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   return a**0.5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def h(a,b):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   return a-b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x1 = 1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y1 = 2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x2 = 4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y2 = 6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# Enter Code Here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print(distance)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56"/>
          <p:cNvSpPr txBox="1"/>
          <p:nvPr/>
        </p:nvSpPr>
        <p:spPr>
          <a:xfrm>
            <a:off x="802850" y="1958600"/>
            <a:ext cx="5443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ourier New"/>
              <a:buAutoNum type="alphaUcPeriod"/>
            </a:pP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distance = g(f(h(x1,x2)) + f(h(y1,y2)))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AutoNum type="alphaUcPeriod"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distance = f(g(h(x1,x2)) - g(h(y1,y2)))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AutoNum type="alphaUcPeriod"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distance = f(g(h(x1,y1)) * g(h(x2,y2)))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AutoNum type="alphaUcPeriod"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distance = g(h(f(x1,x2)) + h(f(y1,y2)))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0" name="Google Shape;410;p56"/>
          <p:cNvSpPr txBox="1"/>
          <p:nvPr/>
        </p:nvSpPr>
        <p:spPr>
          <a:xfrm>
            <a:off x="633850" y="3687775"/>
            <a:ext cx="5408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 we find x1-x2 and y1-y2, then we </a:t>
            </a: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square</a:t>
            </a: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each of them, add them up and finally take </a:t>
            </a: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square</a:t>
            </a: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root of the result to obtain the distance. 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Keyword Arguments</a:t>
            </a:r>
            <a:endParaRPr sz="3000"/>
          </a:p>
        </p:txBody>
      </p:sp>
      <p:sp>
        <p:nvSpPr>
          <p:cNvPr id="416" name="Google Shape;416;p57"/>
          <p:cNvSpPr txBox="1"/>
          <p:nvPr>
            <p:ph idx="1" type="body"/>
          </p:nvPr>
        </p:nvSpPr>
        <p:spPr>
          <a:xfrm>
            <a:off x="633845" y="1035887"/>
            <a:ext cx="7886700" cy="269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Another way to pass arguments in python - keyword arguments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function: </a:t>
            </a:r>
            <a:br>
              <a:rPr lang="en" sz="2000"/>
            </a:br>
            <a:r>
              <a:rPr lang="en" sz="2000"/>
              <a:t>	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fn(var1, var2, z):...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Can be called by: </a:t>
            </a:r>
            <a:endParaRPr sz="2000"/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fn(var1=value1, var2=value2, z=val3)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I.e. names of parms are used, and argument value </a:t>
            </a:r>
            <a:r>
              <a:rPr lang="en" sz="2000"/>
              <a:t>explicitly</a:t>
            </a:r>
            <a:r>
              <a:rPr lang="en" sz="2000"/>
              <a:t> tied to the name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parameter name should be exactly the same as in definition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Order is now not important (as param-arg mapping is explicit)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Arguments - positional and keyword </a:t>
            </a:r>
            <a:endParaRPr sz="3000"/>
          </a:p>
        </p:txBody>
      </p:sp>
      <p:sp>
        <p:nvSpPr>
          <p:cNvPr id="422" name="Google Shape;422;p58"/>
          <p:cNvSpPr txBox="1"/>
          <p:nvPr>
            <p:ph idx="1" type="body"/>
          </p:nvPr>
        </p:nvSpPr>
        <p:spPr>
          <a:xfrm>
            <a:off x="685800" y="2315125"/>
            <a:ext cx="4087200" cy="20370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Call using positional arguments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item = 5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qty = 3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unit = 200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totcost = cost(qty, item, unit)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qty assigned to a, item assigned to b, unit to c)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3" name="Google Shape;423;p58"/>
          <p:cNvSpPr txBox="1"/>
          <p:nvPr>
            <p:ph idx="2" type="body"/>
          </p:nvPr>
        </p:nvSpPr>
        <p:spPr>
          <a:xfrm>
            <a:off x="4843525" y="2315125"/>
            <a:ext cx="3607200" cy="20370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Call using keyword arguments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item = 5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qty = 3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unit = 200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totcost = cost(b=qty, a=item, c=unit)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order of args not important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4" name="Google Shape;424;p58"/>
          <p:cNvSpPr txBox="1"/>
          <p:nvPr/>
        </p:nvSpPr>
        <p:spPr>
          <a:xfrm>
            <a:off x="685800" y="1076350"/>
            <a:ext cx="7835400" cy="101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cost (a, b, c):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totcost = a*c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print("Item, and total cost are: ", b, totcost)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Mixing of Argument Types</a:t>
            </a:r>
            <a:endParaRPr sz="3000"/>
          </a:p>
        </p:txBody>
      </p:sp>
      <p:sp>
        <p:nvSpPr>
          <p:cNvPr id="430" name="Google Shape;430;p59"/>
          <p:cNvSpPr txBox="1"/>
          <p:nvPr>
            <p:ph idx="1" type="body"/>
          </p:nvPr>
        </p:nvSpPr>
        <p:spPr>
          <a:xfrm>
            <a:off x="628650" y="1032233"/>
            <a:ext cx="7886700" cy="90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rtl="0" algn="just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Possible to have some positional and some keyword args in a call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All positional args must come first, then the keyword args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I.e. there cannot be any positional args after a keyword arg </a:t>
            </a:r>
            <a:endParaRPr sz="2000"/>
          </a:p>
        </p:txBody>
      </p:sp>
      <p:sp>
        <p:nvSpPr>
          <p:cNvPr id="431" name="Google Shape;431;p59"/>
          <p:cNvSpPr txBox="1"/>
          <p:nvPr/>
        </p:nvSpPr>
        <p:spPr>
          <a:xfrm>
            <a:off x="759900" y="2226825"/>
            <a:ext cx="7886700" cy="2255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Call using positional &amp; keyword arguments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item = 5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qty = 3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unit = 200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totcost = cost(qty, c = unit, b = item 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qty assigned to a, item assigned to b, unit assigned to c)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Default Parameters</a:t>
            </a:r>
            <a:endParaRPr sz="3000"/>
          </a:p>
        </p:txBody>
      </p:sp>
      <p:sp>
        <p:nvSpPr>
          <p:cNvPr id="437" name="Google Shape;437;p60"/>
          <p:cNvSpPr txBox="1"/>
          <p:nvPr>
            <p:ph idx="1" type="body"/>
          </p:nvPr>
        </p:nvSpPr>
        <p:spPr>
          <a:xfrm>
            <a:off x="633845" y="1035887"/>
            <a:ext cx="7886700" cy="411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When defining a function, can assign values to some of the parameters also in the function head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These values become default values - if the call does not provide an arg for it, the default value is used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Allows calling function to not specify args for all parms (i.e. args for all parameters to be given is not fully true)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Note: Any default parameter </a:t>
            </a:r>
            <a:r>
              <a:rPr lang="en" sz="2000"/>
              <a:t>should</a:t>
            </a:r>
            <a:r>
              <a:rPr lang="en" sz="2000"/>
              <a:t> always be after the non default parameters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Eg. a function:</a:t>
            </a:r>
            <a:endParaRPr sz="2000"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ef my_fn(a, b, c=10):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return(a*b*c)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Calling from main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my_fn(1, 2, 3)  # returns 6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my_fn(1, 2) # returns 20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Doc Strings</a:t>
            </a:r>
            <a:endParaRPr sz="3000"/>
          </a:p>
        </p:txBody>
      </p:sp>
      <p:sp>
        <p:nvSpPr>
          <p:cNvPr id="443" name="Google Shape;443;p61"/>
          <p:cNvSpPr txBox="1"/>
          <p:nvPr>
            <p:ph idx="1" type="body"/>
          </p:nvPr>
        </p:nvSpPr>
        <p:spPr>
          <a:xfrm>
            <a:off x="628645" y="1000612"/>
            <a:ext cx="7886700" cy="2839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Doc strings are attached with functions (and some other objects)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They are not executed, but are recognized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For a function, there are some automatically defined methods, and the __doc__ for a function will give the doc string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Doc strings helps to describe the job of the function, specify required parameter types and also specify the return type of the function.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docstrings are declared using ”’triple single quotes”’ or “””triple double quotes””” just below the function declaration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Desirable: All functions should have a docstring describing what the function is doing (not how or the logic)</a:t>
            </a:r>
            <a:endParaRPr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Functions with variable parameters</a:t>
            </a:r>
            <a:endParaRPr sz="3100"/>
          </a:p>
        </p:txBody>
      </p:sp>
      <p:sp>
        <p:nvSpPr>
          <p:cNvPr id="449" name="Google Shape;449;p62"/>
          <p:cNvSpPr txBox="1"/>
          <p:nvPr>
            <p:ph idx="1" type="body"/>
          </p:nvPr>
        </p:nvSpPr>
        <p:spPr>
          <a:xfrm>
            <a:off x="633845" y="1035887"/>
            <a:ext cx="7886700" cy="145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is an advanced topic - we will not cover it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Functions can have variable number of parameters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Requires arguments to be packed and passed, and then unpacked at the function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….</a:t>
            </a:r>
            <a:endParaRPr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Multi Correct</a:t>
            </a:r>
            <a:endParaRPr sz="3000"/>
          </a:p>
        </p:txBody>
      </p:sp>
      <p:sp>
        <p:nvSpPr>
          <p:cNvPr id="455" name="Google Shape;455;p63"/>
          <p:cNvSpPr txBox="1"/>
          <p:nvPr>
            <p:ph idx="1" type="body"/>
          </p:nvPr>
        </p:nvSpPr>
        <p:spPr>
          <a:xfrm>
            <a:off x="633845" y="1035887"/>
            <a:ext cx="7886700" cy="2604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Which all statements are incorrect?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The variables used inside function are called local variables.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The local variables of a particular function can be used inside other functions, but these cannot be used in global space.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The variables used outside function are called super variables.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In order to change the value of global variable inside function, keyword global is used.</a:t>
            </a:r>
            <a:endParaRPr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Multi Correct</a:t>
            </a:r>
            <a:endParaRPr/>
          </a:p>
        </p:txBody>
      </p:sp>
      <p:sp>
        <p:nvSpPr>
          <p:cNvPr id="461" name="Google Shape;461;p64"/>
          <p:cNvSpPr txBox="1"/>
          <p:nvPr>
            <p:ph idx="1" type="body"/>
          </p:nvPr>
        </p:nvSpPr>
        <p:spPr>
          <a:xfrm>
            <a:off x="633845" y="1035887"/>
            <a:ext cx="7886700" cy="291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</a:rPr>
              <a:t>Which all statements are incorrect?</a:t>
            </a:r>
            <a:endParaRPr sz="20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</a:rPr>
              <a:t>A. The variables used inside function are called local variables.</a:t>
            </a:r>
            <a:endParaRPr sz="20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</a:rPr>
              <a:t>B. The local variables of a particular function can be used inside other functions.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</a:rPr>
              <a:t>C. The variables used outside function are called super variables.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000">
                <a:solidFill>
                  <a:srgbClr val="333333"/>
                </a:solidFill>
              </a:rPr>
              <a:t>D. In order to change the value of global variable inside function, keyword global is used.</a:t>
            </a:r>
            <a:endParaRPr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5"/>
          <p:cNvSpPr txBox="1"/>
          <p:nvPr>
            <p:ph type="title"/>
          </p:nvPr>
        </p:nvSpPr>
        <p:spPr>
          <a:xfrm>
            <a:off x="633850" y="274325"/>
            <a:ext cx="72447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Developing Programs - Top-Down Approach</a:t>
            </a:r>
            <a:endParaRPr sz="2800"/>
          </a:p>
        </p:txBody>
      </p:sp>
      <p:sp>
        <p:nvSpPr>
          <p:cNvPr id="467" name="Google Shape;467;p65"/>
          <p:cNvSpPr txBox="1"/>
          <p:nvPr>
            <p:ph idx="1" type="body"/>
          </p:nvPr>
        </p:nvSpPr>
        <p:spPr>
          <a:xfrm>
            <a:off x="633845" y="1035887"/>
            <a:ext cx="7886700" cy="228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For writing a program, one approach is top-down development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Start by writing the program (approach) for solving the problem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Whenever you need some value for which a separate computation is needed - call a function, and define a dummy function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Continue developing the main program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Can run the main program with dummy functions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Then write code for implementing the functions - can do it incrementally</a:t>
            </a:r>
            <a:endParaRPr sz="2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Example Problem: Given a number, find if it is prime, if not, find its factors </a:t>
            </a:r>
            <a:endParaRPr sz="2400"/>
          </a:p>
        </p:txBody>
      </p:sp>
      <p:sp>
        <p:nvSpPr>
          <p:cNvPr id="473" name="Google Shape;473;p66"/>
          <p:cNvSpPr txBox="1"/>
          <p:nvPr>
            <p:ph idx="1" type="body"/>
          </p:nvPr>
        </p:nvSpPr>
        <p:spPr>
          <a:xfrm>
            <a:off x="633845" y="1035887"/>
            <a:ext cx="3886200" cy="318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Get the number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Check if it is prime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Else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[First repeatedly divide it by 2 till an odd number]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Determine the prime factors of this odd number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Can include step 4 in determining of prime factors also</a:t>
            </a:r>
            <a:endParaRPr/>
          </a:p>
        </p:txBody>
      </p:sp>
      <p:sp>
        <p:nvSpPr>
          <p:cNvPr id="474" name="Google Shape;474;p66"/>
          <p:cNvSpPr txBox="1"/>
          <p:nvPr>
            <p:ph idx="2" type="body"/>
          </p:nvPr>
        </p:nvSpPr>
        <p:spPr>
          <a:xfrm>
            <a:off x="4629150" y="1035887"/>
            <a:ext cx="3886200" cy="212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Will have main, and isprime(), and primefactors()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Can have isprime() dummy return True / False to try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Then work out code for prime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Work out code for primefactors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7"/>
          <p:cNvSpPr txBox="1"/>
          <p:nvPr>
            <p:ph idx="1" type="body"/>
          </p:nvPr>
        </p:nvSpPr>
        <p:spPr>
          <a:xfrm>
            <a:off x="476425" y="1035875"/>
            <a:ext cx="4464300" cy="307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x=int(input("Give an Integer:"))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print("x: ", x)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if isprime(x):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print(x, " is a prime")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#First repeatedly divide by 2 till it is odd no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print("Prime factors are")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if x%2==0: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print("2 is a factor")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while x%2 == 0: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    x = x // 2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# Get prime factors of this odd no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primefactors(x)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0" name="Google Shape;480;p67"/>
          <p:cNvSpPr txBox="1"/>
          <p:nvPr>
            <p:ph idx="2" type="body"/>
          </p:nvPr>
        </p:nvSpPr>
        <p:spPr>
          <a:xfrm>
            <a:off x="5046475" y="1035875"/>
            <a:ext cx="3978900" cy="387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# Two functions - final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def isprime(i):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j = 2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isprime = True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while(j &lt;= i**(1/2)):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if (i%j) == 0: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    isprime=False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j = j + 1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return isprime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def primefactors(x):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i = 3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while (i&lt;= x):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if isprime(i):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    if x%i == 0: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        print(i,"is a factor")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        while x%i == 0: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            x = x//i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        i = i + 2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1" name="Google Shape;481;p6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Code</a:t>
            </a:r>
            <a:endParaRPr sz="3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Summary</a:t>
            </a:r>
            <a:endParaRPr sz="3000"/>
          </a:p>
        </p:txBody>
      </p:sp>
      <p:sp>
        <p:nvSpPr>
          <p:cNvPr id="487" name="Google Shape;487;p68"/>
          <p:cNvSpPr txBox="1"/>
          <p:nvPr>
            <p:ph idx="1" type="body"/>
          </p:nvPr>
        </p:nvSpPr>
        <p:spPr>
          <a:xfrm>
            <a:off x="633845" y="1035887"/>
            <a:ext cx="7886700" cy="311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Functions are a powerful way to break the problem into smaller problems, write functions for smaller ones, and then combine them into a solution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Functions can have parameters; functions are called </a:t>
            </a:r>
            <a:r>
              <a:rPr lang="en" sz="2000"/>
              <a:t>with</a:t>
            </a:r>
            <a:r>
              <a:rPr lang="en" sz="2000"/>
              <a:t> arguments - values of </a:t>
            </a:r>
            <a:r>
              <a:rPr lang="en" sz="2000"/>
              <a:t>args assigned to parms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All vars in a function (incl parms) are local - they are accessible only inside the function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There is no name conflict between local vars and global vars - i.e. var x defined in main, and var x defined in a fn are completely different - in fn x will refer to local var, in main it will refer to its x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Functions can call functions</a:t>
            </a:r>
            <a:endParaRPr sz="2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Summary</a:t>
            </a:r>
            <a:endParaRPr sz="3000"/>
          </a:p>
        </p:txBody>
      </p:sp>
      <p:sp>
        <p:nvSpPr>
          <p:cNvPr id="493" name="Google Shape;493;p69"/>
          <p:cNvSpPr txBox="1"/>
          <p:nvPr>
            <p:ph idx="1" type="body"/>
          </p:nvPr>
        </p:nvSpPr>
        <p:spPr>
          <a:xfrm>
            <a:off x="633845" y="1035887"/>
            <a:ext cx="7886700" cy="332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Functions can be called with positional arguments - # of args must be same as # of parms, args assigned to parms in order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Functions can also be called with keyword args - then the order of args does not matter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Positional and keyword args can be combined - all positional must come before any keyword arg</a:t>
            </a:r>
            <a:endParaRPr sz="20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You are now empowered to solve a range of problems - you know the main language constructs, and functions which help in problem solving through divide-and-conquer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Assignment 1 to be given - solving problems through programming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