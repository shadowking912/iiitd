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27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28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</p:sldIdLst>
  <p:sldSz cx="9144000" cy="5143500" type="screen16x9"/>
  <p:notesSz cx="6858000" cy="9144000"/>
  <p:embeddedFontLst>
    <p:embeddedFont>
      <p:font typeface="Quattrocento Sans" charset="0"/>
      <p:regular r:id="rId31"/>
      <p:bold r:id="rId32"/>
      <p:italic r:id="rId33"/>
      <p:boldItalic r:id="rId34"/>
    </p:embeddedFont>
    <p:embeddedFont>
      <p:font typeface="Calibri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ivya Sharma" initials="" lastIdx="9" clrIdx="0"/>
  <p:cmAuthor id="1" name="Rhythm Patel" initials="" lastIdx="4" clrIdx="1"/>
  <p:cmAuthor id="2" name="Sanchit Trivedi" initials="" lastIdx="4" clrIdx="2"/>
  <p:cmAuthor id="3" name="Anuneet Anand" initials="" lastIdx="3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1-28T17:39:55.019" idx="7">
    <p:pos x="6000" y="0"/>
    <p:text>Added example</p:text>
  </p:cm>
  <p:cm authorId="2" dt="2022-01-29T16:18:17.161" idx="3">
    <p:pos x="2494" y="728"/>
    <p:text>Added alternate method</p:text>
  </p:cm>
  <p:cm authorId="2" dt="2022-01-29T16:18:17.161" idx="4">
    <p:pos x="2494" y="728"/>
    <p:text>Frequency of characters in astring might be a better example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1-30T12:14:35.857" idx="8">
    <p:pos x="399" y="652"/>
    <p:text>Added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1-30T12:09:11.441" idx="2">
    <p:pos x="6000" y="0"/>
    <p:text>modified slide &amp; added more examples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1-30T12:07:20.092" idx="3">
    <p:pos x="6000" y="0"/>
    <p:text>added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1-30T16:37:19.465" idx="4">
    <p:pos x="6000" y="0"/>
    <p:text>Shouldn't this be higher up in the presentation?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1-28T15:48:40.215" idx="9">
    <p:pos x="399" y="652"/>
    <p:text>Changed x to uppercase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55503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b705fbb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0b705fbb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0dd9e1597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0dd9e1597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dd9e1597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0dd9e1597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112195c97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112195c97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0dd9e15973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0dd9e15973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dd9e15973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0dd9e15973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b10b7f46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b10b7f46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0b10b7f46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0b10b7f46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0b10b7f46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0b10b7f46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0b10b7f46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0b10b7f46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b10b7f46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b10b7f46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0b10b7f46a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0b10b7f46a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0b10b7f46a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0b10b7f46a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0b10b7f46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0b10b7f46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0b10b7f46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0b10b7f46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fca6f79e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fca6f79e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1161fe50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11161fe50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112195c97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112195c97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dd9e15973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0dd9e15973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0dd9e15973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0dd9e15973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12195c97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12195c97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112195c97f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112195c97f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0dd9e1597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0dd9e1597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112319134e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112319134e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0e86f56d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0e86f56d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0d570cd3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0d570cd3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0d570cd3e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10d570cd3e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3EADA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IIITD_pptslide_jpeg-03.jpg"/>
          <p:cNvPicPr preferRelativeResize="0"/>
          <p:nvPr/>
        </p:nvPicPr>
        <p:blipFill rotWithShape="1">
          <a:blip r:embed="rId2">
            <a:alphaModFix/>
          </a:blip>
          <a:srcRect l="72917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sz="45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623888" y="3414475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29150" y="1035887"/>
            <a:ext cx="38862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630936" y="1543049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30936" y="1543050"/>
            <a:ext cx="29490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>
            <a:spLocks noGrp="1"/>
          </p:cNvSpPr>
          <p:nvPr>
            <p:ph type="body" idx="1"/>
          </p:nvPr>
        </p:nvSpPr>
        <p:spPr>
          <a:xfrm rot="5400000">
            <a:off x="2777646" y="-1107913"/>
            <a:ext cx="35991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>
            <a:spLocks noGrp="1"/>
          </p:cNvSpPr>
          <p:nvPr>
            <p:ph type="body" idx="1"/>
          </p:nvPr>
        </p:nvSpPr>
        <p:spPr>
          <a:xfrm>
            <a:off x="685799" y="1035886"/>
            <a:ext cx="38343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body" idx="2"/>
          </p:nvPr>
        </p:nvSpPr>
        <p:spPr>
          <a:xfrm>
            <a:off x="4683577" y="1035886"/>
            <a:ext cx="3828900" cy="3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>
            <a:spLocks noGrp="1"/>
          </p:cNvSpPr>
          <p:nvPr>
            <p:ph type="body" idx="1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2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3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body" idx="4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>
            <a:spLocks noGrp="1"/>
          </p:cNvSpPr>
          <p:nvPr>
            <p:ph type="body" idx="1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2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>
            <a:spLocks noGrp="1"/>
          </p:cNvSpPr>
          <p:nvPr>
            <p:ph type="pic" idx="2"/>
          </p:nvPr>
        </p:nvSpPr>
        <p:spPr>
          <a:xfrm>
            <a:off x="3886200" y="742950"/>
            <a:ext cx="46290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630936" y="1643745"/>
            <a:ext cx="29490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949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sz="2400" b="0">
                <a:solidFill>
                  <a:srgbClr val="3EAD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90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Vertical Text">
  <p:cSld name="1_Title and Vertical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37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Structured Types </a:t>
            </a:r>
            <a:br>
              <a:rPr lang="en"/>
            </a:br>
            <a:r>
              <a:rPr lang="en"/>
              <a:t>Sets, Tuples, Dictionaries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978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 point to objects of different types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can be of scalar types: int, float, boolean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can be structured/ compound types; built-in are: lists, strings, sets, tuples, dictionaries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structured types, you can perform operations on the whole object, but can also extract items from it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far we have discussed lists and strings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Now we will discuss the remaining ones: tuples, sets, dictionaries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Dictionaries in particular are very commonly used, and like strings, are a strength of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- Lists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269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are a list of items in brackets, eg. [1, 4, 9, "str", 5.0, 4]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are mutable, can change the items like L[index] = val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slice a list to get a sublist - from start or from end of list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Joining or repeating lists by operations: + , *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 with list as parameter: len(), sum()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Presence/absence of item by ops: in, not in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Ops on a list: append(), insert(), extend(), remove(), pop(), index(), reverse(), count(), copy(), sort()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easily loop over list items - item by item, or using index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Lists can be nested - i.e. list items are themselves lists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 comprehension a compact way to create lists from lists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- Strings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396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Strings are like "Hello hi" or 'Hi Hello' ; can loop over chars in str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are immutable, cannot change any item of a string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slice a string to get substrings - from start or from end 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Functions: len(), in, not in, + , *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split strings into a list of items using s.split()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join a list of strings to form one using join()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String operations (return a new string): lower(), upper(), replace(), count(), find(), isdigit(), 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"/>
          <p:cNvSpPr txBox="1">
            <a:spLocks noGrp="1"/>
          </p:cNvSpPr>
          <p:nvPr>
            <p:ph type="title"/>
          </p:nvPr>
        </p:nvSpPr>
        <p:spPr>
          <a:xfrm>
            <a:off x="2751147" y="2330300"/>
            <a:ext cx="3641700" cy="762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Dictionaries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- it is anonymous</a:t>
            </a:r>
            <a:endParaRPr/>
          </a:p>
        </p:txBody>
      </p:sp>
      <p:sp>
        <p:nvSpPr>
          <p:cNvPr id="395" name="Google Shape;395;p55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How much help you took from friends in answering quiz questions: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Green: I answered all questions without help from any friend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Yellow: I took help from friends in a few questions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Red: I took help from friends in most of the questions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- it is anonymous</a:t>
            </a:r>
            <a:endParaRPr/>
          </a:p>
        </p:txBody>
      </p:sp>
      <p:sp>
        <p:nvSpPr>
          <p:cNvPr id="401" name="Google Shape;401;p56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How much help you took from internet in answering quiz questions: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Green: I answered all questions without searching on the internet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Yellow: I got help from the internet in a few questions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Red: I got help from the internet in most of the questions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</a:t>
            </a:r>
            <a:endParaRPr/>
          </a:p>
        </p:txBody>
      </p:sp>
      <p:sp>
        <p:nvSpPr>
          <p:cNvPr id="407" name="Google Shape;407;p57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886700" cy="2396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Dictionaries are used to store data items in key:value pairs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key s in a dict must be unique (no duplicates)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Values in items can be of any data type, and can be changed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Dictionary items can be referred to by using the key name (no index)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Dictionary is mutable but the keys must be of an immutable type.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Duplicate items (i.e. with same key value) not permitted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dictionary can be created using the following syntax :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57"/>
          <p:cNvSpPr txBox="1"/>
          <p:nvPr/>
        </p:nvSpPr>
        <p:spPr>
          <a:xfrm>
            <a:off x="1127275" y="3803125"/>
            <a:ext cx="78867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car = { "make": "Honda", "year": 2021,</a:t>
            </a:r>
            <a:br>
              <a:rPr lang="en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"model": "City","cc":1500, "price": 19.5,}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Dictionary Items</a:t>
            </a:r>
            <a:endParaRPr/>
          </a:p>
        </p:txBody>
      </p:sp>
      <p:sp>
        <p:nvSpPr>
          <p:cNvPr id="414" name="Google Shape;414;p58"/>
          <p:cNvSpPr txBox="1">
            <a:spLocks noGrp="1"/>
          </p:cNvSpPr>
          <p:nvPr>
            <p:ph type="body" idx="1"/>
          </p:nvPr>
        </p:nvSpPr>
        <p:spPr>
          <a:xfrm>
            <a:off x="606300" y="1180600"/>
            <a:ext cx="7931400" cy="2655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access any value using key and can also assign a new value. Eg: car["make"] is "Honda", car["cc"] is 1500, car["price"] is 19.5</a:t>
            </a:r>
            <a:endParaRPr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use get method also, e.g. car.get("model") will return "City"</a:t>
            </a:r>
            <a:endParaRPr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we try to access a key value which is not present - KeyError. </a:t>
            </a:r>
            <a:endParaRPr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However, get() returns None, if key not present; we can also specify a value that is returned when the key is absent </a:t>
            </a:r>
            <a:endParaRPr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car.get(“Fuel”) # returns None</a:t>
            </a:r>
            <a:endParaRPr sz="2100"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car.get(“Fuel”,”Petrol”) # returns Petrol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Keys, Values, Items</a:t>
            </a:r>
            <a:endParaRPr/>
          </a:p>
        </p:txBody>
      </p:sp>
      <p:sp>
        <p:nvSpPr>
          <p:cNvPr id="420" name="Google Shape;420;p59"/>
          <p:cNvSpPr txBox="1">
            <a:spLocks noGrp="1"/>
          </p:cNvSpPr>
          <p:nvPr>
            <p:ph type="body" idx="1"/>
          </p:nvPr>
        </p:nvSpPr>
        <p:spPr>
          <a:xfrm>
            <a:off x="633850" y="1035874"/>
            <a:ext cx="7886700" cy="3624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get all the keys or values of a dictionary as a list</a:t>
            </a:r>
            <a:endParaRPr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= car.keys() # returns all the keys</a:t>
            </a:r>
            <a:endParaRPr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vals = car.values() # returns all the values</a:t>
            </a:r>
            <a:endParaRPr sz="2100"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also get all items - this will be a list of tuples</a:t>
            </a:r>
            <a:endParaRPr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car.items() # returns list of type: (key, value)</a:t>
            </a:r>
            <a:endParaRPr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check whether a key exists in dictionary using the </a:t>
            </a:r>
            <a:r>
              <a:rPr lang="en" b="1"/>
              <a:t>in</a:t>
            </a:r>
            <a:r>
              <a:rPr lang="en" i="1"/>
              <a:t> </a:t>
            </a:r>
            <a:r>
              <a:rPr lang="en"/>
              <a:t>keyword.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“make” in car # Returns True</a:t>
            </a:r>
            <a:endParaRPr sz="2100"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“fuel” in car   # Returns False</a:t>
            </a:r>
            <a:endParaRPr sz="2100"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not in</a:t>
            </a:r>
            <a:r>
              <a:rPr lang="en"/>
              <a:t> for checking absence of a key</a:t>
            </a:r>
            <a:endParaRPr/>
          </a:p>
          <a:p>
            <a:pPr marL="45720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“fuel” not in car # Returns True </a:t>
            </a:r>
            <a:endParaRPr sz="2100"/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Number of key-value pairs can be obtained using the </a:t>
            </a:r>
            <a:r>
              <a:rPr lang="en" i="1"/>
              <a:t>len() </a:t>
            </a:r>
            <a:r>
              <a:rPr lang="en"/>
              <a:t>function.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Dictionary</a:t>
            </a:r>
            <a:endParaRPr/>
          </a:p>
        </p:txBody>
      </p:sp>
      <p:sp>
        <p:nvSpPr>
          <p:cNvPr id="426" name="Google Shape;426;p6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269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Change an item's value - just access it and assign new value</a:t>
            </a:r>
            <a:endParaRPr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car["make"] = "Suzuki"</a:t>
            </a:r>
            <a:br>
              <a:rPr lang="en"/>
            </a:b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Adding an item - like change, if key doesn’t exist, new item created</a:t>
            </a:r>
            <a:endParaRPr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car["boot"] = 450 # will add this item ("boot": 450) </a:t>
            </a:r>
            <a:br>
              <a:rPr lang="en"/>
            </a:b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Removing an item -  pop("key") will remove the item</a:t>
            </a:r>
            <a:endParaRPr/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car.pop("make") # removes the make item, returns the value</a:t>
            </a:r>
            <a:endParaRPr/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popitem() # removes the last item added, returns item</a:t>
            </a:r>
            <a:endParaRPr/>
          </a:p>
          <a:p>
            <a:pPr marL="4572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clear() # clears the dictionary</a:t>
            </a:r>
            <a:endParaRPr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removes the specified key from the dictionary.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Looping Over a Dictionary</a:t>
            </a:r>
            <a:endParaRPr/>
          </a:p>
        </p:txBody>
      </p:sp>
      <p:sp>
        <p:nvSpPr>
          <p:cNvPr id="432" name="Google Shape;432;p61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660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car: # looping over key values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print(i)  # print the ith key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print(car[i]) # print the value of ith item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car.values(): # looping over values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	print(val) # prints the ith item value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i in car.items(): # each i is a tuple giving the ith item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	print(i)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for x,y in car.items():  # get the key in x and value in y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	print(x,y)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Create, Copy a Dictionary</a:t>
            </a:r>
            <a:endParaRPr/>
          </a:p>
        </p:txBody>
      </p:sp>
      <p:sp>
        <p:nvSpPr>
          <p:cNvPr id="438" name="Google Shape;438;p62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978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lists, assigning the dictionary variable to another does not make another copy of the dictionary 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d1 is a dictionary, d2 = d1 means that d2 points to the same dictionary as d1 - making change in one will be reflected in other.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 make a copy, like in list, use copy method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d2 = d1.copy() # now d2 points to a different object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function dict() can also be used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new dictionary can be created from a list of keys, with a default value for each item</a:t>
            </a:r>
            <a:endParaRPr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d.fromkeys(&lt;keylist&gt;, value)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Dictionary</a:t>
            </a:r>
            <a:endParaRPr/>
          </a:p>
        </p:txBody>
      </p:sp>
      <p:sp>
        <p:nvSpPr>
          <p:cNvPr id="444" name="Google Shape;444;p6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181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value in each item can be a dictionary (or any structured type)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With values being dictionaries, we have nested dictionary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Nesting can be arbitrarily deep - giving power to represent a wide range of data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Nested dictionaries used widely through JSON format for exchanging data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Nested Dictionary </a:t>
            </a:r>
            <a:endParaRPr/>
          </a:p>
        </p:txBody>
      </p:sp>
      <p:sp>
        <p:nvSpPr>
          <p:cNvPr id="450" name="Google Shape;450;p64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646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Let's take the record of a person at IIIT-D.</a:t>
            </a:r>
            <a:br>
              <a:rPr lang="en"/>
            </a:br>
            <a:endParaRPr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p1 = {"name": "Ayush", "role": "Student",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	  "DOB": {"date": 4, "month": 2, "year": 2001},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	  "Address": {"Colony": "Vasant Kunj", "No": 201},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"Hobbies": ["reading", "movies", "cricket"]</a:t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/>
              <a:t>p1["name"] is "Ayush"</a:t>
            </a:r>
            <a:endParaRPr sz="1800"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/>
              <a:t>p1[“DOB”] is {"date": 4, "month": 2, "year": 2001}</a:t>
            </a:r>
            <a:endParaRPr sz="1800"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/>
              <a:t>p1["DOB"]["year"] is 2001 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 Methods</a:t>
            </a:r>
            <a:endParaRPr/>
          </a:p>
        </p:txBody>
      </p:sp>
      <p:sp>
        <p:nvSpPr>
          <p:cNvPr id="456" name="Google Shape;456;p65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Various methods of a dictionary, which we have already seen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d.get(&lt;key&gt;)</a:t>
            </a:r>
            <a:r>
              <a:rPr lang="en"/>
              <a:t> # returns the value of the item with &lt;key&gt;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d.keys()</a:t>
            </a:r>
            <a:r>
              <a:rPr lang="en"/>
              <a:t> # list of keys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d.values()</a:t>
            </a:r>
            <a:r>
              <a:rPr lang="en"/>
              <a:t> # list of values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d.items()</a:t>
            </a:r>
            <a:r>
              <a:rPr lang="en"/>
              <a:t> # list of types of (key, value)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d.pop(&lt;key&gt;)</a:t>
            </a:r>
            <a:r>
              <a:rPr lang="en"/>
              <a:t> # removes the item with &lt;key&gt;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d.clear() </a:t>
            </a:r>
            <a:r>
              <a:rPr lang="en"/>
              <a:t># clears 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d.copy()</a:t>
            </a:r>
            <a:r>
              <a:rPr lang="en"/>
              <a:t> # copies the dictionary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len(d)</a:t>
            </a:r>
            <a:r>
              <a:rPr lang="en"/>
              <a:t> # size of dictionary i.e. number of keys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62" name="Google Shape;462;p66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3181800" cy="3838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Count frequency of list elements 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Input: [1,2,1,1,2,4,6,4,1,7]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Output: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1: 4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2: 2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4: 2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6: 1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7: 1</a:t>
            </a:r>
            <a:endParaRPr sz="18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3" name="Google Shape;463;p66"/>
          <p:cNvSpPr txBox="1">
            <a:spLocks noGrp="1"/>
          </p:cNvSpPr>
          <p:nvPr>
            <p:ph type="body" idx="1"/>
          </p:nvPr>
        </p:nvSpPr>
        <p:spPr>
          <a:xfrm>
            <a:off x="3960400" y="1156925"/>
            <a:ext cx="4512900" cy="35961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lst = [1,2,1,1,2,4,6,4,1,7]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freq = {}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for x in lst: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  if x not in freq: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    freq[x] = 0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  freq[x] = freq[x]+1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print(freq)</a:t>
            </a:r>
            <a:br>
              <a:rPr lang="en" sz="1527" b="1">
                <a:latin typeface="Courier New"/>
                <a:ea typeface="Courier New"/>
                <a:cs typeface="Courier New"/>
                <a:sym typeface="Courier New"/>
              </a:rPr>
            </a:b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# Alternative Method: using get()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1527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lst = [1,2,1,1,2,4,6,4,1,7]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freq = {}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for x in lst: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  freq[x] = freq.get(x,0)+1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527" b="1">
                <a:latin typeface="Courier New"/>
                <a:ea typeface="Courier New"/>
                <a:cs typeface="Courier New"/>
                <a:sym typeface="Courier New"/>
              </a:rPr>
              <a:t>print(freq)</a:t>
            </a:r>
            <a:endParaRPr sz="1527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469" name="Google Shape;469;p67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233900" cy="379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 below?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/>
            </a:r>
            <a:br>
              <a:rPr lang="en"/>
            </a:br>
            <a:r>
              <a:rPr lang="en"/>
              <a:t>a.) Error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5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c.) 7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‘7’</a:t>
            </a:r>
            <a:endParaRPr/>
          </a:p>
        </p:txBody>
      </p:sp>
      <p:sp>
        <p:nvSpPr>
          <p:cNvPr id="470" name="Google Shape;470;p67"/>
          <p:cNvSpPr txBox="1">
            <a:spLocks noGrp="1"/>
          </p:cNvSpPr>
          <p:nvPr>
            <p:ph type="body" idx="1"/>
          </p:nvPr>
        </p:nvSpPr>
        <p:spPr>
          <a:xfrm>
            <a:off x="778575" y="1461350"/>
            <a:ext cx="7233900" cy="16854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 = {5 : 5, 7 : '7', '5' : 5, '7' : 8}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p[7] = 5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p['5'] = 7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print(p[str(p[p[str(p[5])]])])</a:t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8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- Single Correct</a:t>
            </a:r>
            <a:endParaRPr/>
          </a:p>
        </p:txBody>
      </p:sp>
      <p:sp>
        <p:nvSpPr>
          <p:cNvPr id="476" name="Google Shape;476;p68"/>
          <p:cNvSpPr txBox="1">
            <a:spLocks noGrp="1"/>
          </p:cNvSpPr>
          <p:nvPr>
            <p:ph type="body" idx="1"/>
          </p:nvPr>
        </p:nvSpPr>
        <p:spPr>
          <a:xfrm>
            <a:off x="633850" y="1035875"/>
            <a:ext cx="7233900" cy="379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would be the output of the code given below?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/>
            </a:r>
            <a:br>
              <a:rPr lang="en"/>
            </a:br>
            <a:r>
              <a:rPr lang="en"/>
              <a:t>a.) Error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b.) 5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c.) 7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d.) ‘7’</a:t>
            </a:r>
            <a:endParaRPr/>
          </a:p>
        </p:txBody>
      </p:sp>
      <p:sp>
        <p:nvSpPr>
          <p:cNvPr id="477" name="Google Shape;477;p68"/>
          <p:cNvSpPr txBox="1">
            <a:spLocks noGrp="1"/>
          </p:cNvSpPr>
          <p:nvPr>
            <p:ph type="body" idx="1"/>
          </p:nvPr>
        </p:nvSpPr>
        <p:spPr>
          <a:xfrm>
            <a:off x="778575" y="1461350"/>
            <a:ext cx="7233900" cy="16854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 = {5 : 5, 7 : '7', '5' : 5, '7' : 8} 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p[7] = 5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p['5'] = 7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latin typeface="Courier New"/>
                <a:ea typeface="Courier New"/>
                <a:cs typeface="Courier New"/>
                <a:sym typeface="Courier New"/>
              </a:rPr>
              <a:t>print(p[str(p[p[str(p[5])]])])</a:t>
            </a:r>
            <a:br>
              <a:rPr lang="en" sz="1500" b="1">
                <a:latin typeface="Courier New"/>
                <a:ea typeface="Courier New"/>
                <a:cs typeface="Courier New"/>
                <a:sym typeface="Courier New"/>
              </a:rPr>
            </a:b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8" name="Google Shape;478;p68"/>
          <p:cNvSpPr txBox="1">
            <a:spLocks noGrp="1"/>
          </p:cNvSpPr>
          <p:nvPr>
            <p:ph type="body" idx="1"/>
          </p:nvPr>
        </p:nvSpPr>
        <p:spPr>
          <a:xfrm>
            <a:off x="2435750" y="3414575"/>
            <a:ext cx="5576700" cy="1420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Explanation : After update, p = {5: 5, '5': 7, 7: 5, '7': 8}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p[5] =  5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4F5C"/>
                </a:solidFill>
              </a:rPr>
              <a:t>p[str(</a:t>
            </a:r>
            <a:r>
              <a:rPr lang="en">
                <a:solidFill>
                  <a:srgbClr val="0000FF"/>
                </a:solidFill>
              </a:rPr>
              <a:t>p[5]</a:t>
            </a:r>
            <a:r>
              <a:rPr lang="en">
                <a:solidFill>
                  <a:srgbClr val="134F5C"/>
                </a:solidFill>
              </a:rPr>
              <a:t>) = p(‘5’) = 7</a:t>
            </a:r>
            <a:endParaRPr>
              <a:solidFill>
                <a:srgbClr val="134F5C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p[</a:t>
            </a:r>
            <a:r>
              <a:rPr lang="en">
                <a:solidFill>
                  <a:srgbClr val="134F5C"/>
                </a:solidFill>
              </a:rPr>
              <a:t>p[str(p[5])]</a:t>
            </a:r>
            <a:r>
              <a:rPr lang="en">
                <a:solidFill>
                  <a:srgbClr val="980000"/>
                </a:solidFill>
              </a:rPr>
              <a:t>] = p[7] = 5</a:t>
            </a:r>
            <a:endParaRPr>
              <a:solidFill>
                <a:srgbClr val="98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p[str(</a:t>
            </a:r>
            <a:r>
              <a:rPr lang="en">
                <a:solidFill>
                  <a:srgbClr val="980000"/>
                </a:solidFill>
              </a:rPr>
              <a:t>p[p[str(p[5])]]</a:t>
            </a:r>
            <a:r>
              <a:rPr lang="en">
                <a:solidFill>
                  <a:srgbClr val="FF0000"/>
                </a:solidFill>
              </a:rPr>
              <a:t>)] = p[‘5’] = 7 (Ans.)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endParaRPr/>
          </a:p>
        </p:txBody>
      </p:sp>
      <p:sp>
        <p:nvSpPr>
          <p:cNvPr id="484" name="Google Shape;484;p69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Consider a student record in a college over different semesters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 = {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"rollno": "1234",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"name": "Shyam",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"sem1": [("m101", 4, 9), ("cs101", 4, 8), ("com101", 4, 10)],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"sem2": [("m102", 4, 8), ("cs102", 4, 9), ("ee102", 4, 8)],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"sem3": [("m202", 2, 10), ("cs201", 4, 8), ("elect1", 4, 10)],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Let us compute the SGPA for a semester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</a:t>
            </a:r>
            <a:endParaRPr/>
          </a:p>
        </p:txBody>
      </p:sp>
      <p:sp>
        <p:nvSpPr>
          <p:cNvPr id="490" name="Google Shape;490;p70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38862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def sgpa(student, sem):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tot1 = 0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tot2 = 0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for i in student[sem]: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    tot1 += i[1]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    tot2 += i[1]*i[2]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SGPA = tot2/tot1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    return SGPA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SGPA = sgpa(student, "sem1")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/>
              <a:t>print(f'sgpa is {SGPA}')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70"/>
          <p:cNvSpPr txBox="1">
            <a:spLocks noGrp="1"/>
          </p:cNvSpPr>
          <p:nvPr>
            <p:ph type="body" idx="2"/>
          </p:nvPr>
        </p:nvSpPr>
        <p:spPr>
          <a:xfrm>
            <a:off x="3680575" y="1035875"/>
            <a:ext cx="48348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Computing SGPA for all the semesters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i in student.items():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if i[0][:3] == "sem": 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SGPA = sgpa(student, i[0])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print(f'sgpa for {i[0]} is {SGPA}')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1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- Dictionaries</a:t>
            </a:r>
            <a:endParaRPr/>
          </a:p>
        </p:txBody>
      </p:sp>
      <p:sp>
        <p:nvSpPr>
          <p:cNvPr id="497" name="Google Shape;497;p71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Dictionaries store data in key-value pairs; keys or values can be of any type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Items in dictionary are accessed using the key as "index"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Dictionaries are mutable, but Keys cannot change, and keys must be unique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keys(), values(), items() - provide as lists of items/tuple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add an item (by just dict[key] = value), delete by pop()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Many methods on dictionaries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loop over dictionary - using keys. Can also loop over values by getting values(), or items()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2"/>
          <p:cNvSpPr txBox="1">
            <a:spLocks noGrp="1"/>
          </p:cNvSpPr>
          <p:nvPr>
            <p:ph type="title"/>
          </p:nvPr>
        </p:nvSpPr>
        <p:spPr>
          <a:xfrm>
            <a:off x="653099" y="2108425"/>
            <a:ext cx="7837800" cy="1316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Structured Types</a:t>
            </a:r>
            <a:endParaRPr sz="4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/>
              <a:t>Some Commonalities</a:t>
            </a:r>
            <a:endParaRPr sz="4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Objects using Constructor </a:t>
            </a:r>
            <a:endParaRPr/>
          </a:p>
        </p:txBody>
      </p:sp>
      <p:sp>
        <p:nvSpPr>
          <p:cNvPr id="508" name="Google Shape;508;p73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59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just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Python provides constructor functions to create an object of a type from other objects, </a:t>
            </a:r>
            <a:endParaRPr/>
          </a:p>
          <a:p>
            <a:pPr marL="457200" lvl="0" indent="45720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list(), set(), dict(), tuple(), str() # the arg has to be suitable</a:t>
            </a:r>
            <a:endParaRPr b="1"/>
          </a:p>
          <a:p>
            <a:pPr marL="457200" lvl="0" indent="-317500" algn="just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Example uses of these - valid and invalid</a:t>
            </a:r>
            <a:endParaRPr/>
          </a:p>
          <a:p>
            <a:pPr marL="0" lvl="0" indent="45720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 = tuple("Hello") # ('H', 'e', 'l', 'l', 'o')</a:t>
            </a:r>
            <a:endParaRPr/>
          </a:p>
          <a:p>
            <a:pPr marL="0" lvl="0" indent="45720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 = str(5.0) # Converted number to string. Now S = ‘5.0’ </a:t>
            </a:r>
            <a:endParaRPr/>
          </a:p>
          <a:p>
            <a:pPr marL="0" lvl="0" indent="45720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L1 = list(T) # ['H', 'e', 'l', 'l', 'o']</a:t>
            </a:r>
            <a:endParaRPr/>
          </a:p>
          <a:p>
            <a:pPr marL="0" lvl="0" indent="45720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L2 = list(“Hello”)</a:t>
            </a:r>
            <a:endParaRPr/>
          </a:p>
          <a:p>
            <a:pPr marL="0" lvl="0" indent="45720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 = dict(a=1,b=2)  # {'a': 1, 'b': 2}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Functions on Objects</a:t>
            </a:r>
            <a:endParaRPr/>
          </a:p>
        </p:txBody>
      </p:sp>
      <p:sp>
        <p:nvSpPr>
          <p:cNvPr id="514" name="Google Shape;514;p74"/>
          <p:cNvSpPr txBox="1">
            <a:spLocks noGrp="1"/>
          </p:cNvSpPr>
          <p:nvPr>
            <p:ph type="body" idx="1"/>
          </p:nvPr>
        </p:nvSpPr>
        <p:spPr>
          <a:xfrm>
            <a:off x="628645" y="1043412"/>
            <a:ext cx="7886700" cy="3391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There are some common functions which are useful - some apply to structured types, some to all objects</a:t>
            </a:r>
            <a:endParaRPr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type(x) # returns the type of x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len(x) # returns the no of items in x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all(x) # returns True if all elements of an iterable are true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all([1,1,1]) -&gt; True     ;     all([1,0,0]) -&gt; False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any(x) # returns True if any elements of an iterable are true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any([1,0,0]) -&gt; True     ;     any([0,0,0]) -&gt; False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reversed(x) # returns a reverse iterator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sorted(x) # returns a new sorted list from the items in iterable</a:t>
            </a:r>
            <a:endParaRPr/>
          </a:p>
          <a:p>
            <a:pPr marL="9144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5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enumerate() - convenient way to iterate</a:t>
            </a:r>
            <a:endParaRPr/>
          </a:p>
        </p:txBody>
      </p:sp>
      <p:sp>
        <p:nvSpPr>
          <p:cNvPr id="520" name="Google Shape;520;p75"/>
          <p:cNvSpPr txBox="1">
            <a:spLocks noGrp="1"/>
          </p:cNvSpPr>
          <p:nvPr>
            <p:ph type="body" idx="1"/>
          </p:nvPr>
        </p:nvSpPr>
        <p:spPr>
          <a:xfrm>
            <a:off x="628645" y="1043412"/>
            <a:ext cx="7886700" cy="4777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This is a special function that allows you to simultaneously get the indexes and values of an iterable object.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Examples: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l = ["Sam", "John", "Tim"]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for index, val in enumerate(l):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	print(index, val)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d = {"Sam":10, "John":30, "Tim":20}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for index, (key, val) in enumerate(d.items()):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print(index, key, val)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75"/>
          <p:cNvSpPr txBox="1">
            <a:spLocks noGrp="1"/>
          </p:cNvSpPr>
          <p:nvPr>
            <p:ph type="body" idx="1"/>
          </p:nvPr>
        </p:nvSpPr>
        <p:spPr>
          <a:xfrm>
            <a:off x="7497600" y="2102100"/>
            <a:ext cx="985200" cy="9393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latin typeface="Courier New"/>
                <a:ea typeface="Courier New"/>
                <a:cs typeface="Courier New"/>
                <a:sym typeface="Courier New"/>
              </a:rPr>
              <a:t>0 Sam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latin typeface="Courier New"/>
                <a:ea typeface="Courier New"/>
                <a:cs typeface="Courier New"/>
                <a:sym typeface="Courier New"/>
              </a:rPr>
              <a:t>1 John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Courier New"/>
                <a:ea typeface="Courier New"/>
                <a:cs typeface="Courier New"/>
                <a:sym typeface="Courier New"/>
              </a:rPr>
              <a:t>2 Tim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2" name="Google Shape;522;p75"/>
          <p:cNvSpPr txBox="1">
            <a:spLocks noGrp="1"/>
          </p:cNvSpPr>
          <p:nvPr>
            <p:ph type="body" idx="1"/>
          </p:nvPr>
        </p:nvSpPr>
        <p:spPr>
          <a:xfrm>
            <a:off x="7370250" y="3520900"/>
            <a:ext cx="1239900" cy="9393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latin typeface="Courier New"/>
                <a:ea typeface="Courier New"/>
                <a:cs typeface="Courier New"/>
                <a:sym typeface="Courier New"/>
              </a:rPr>
              <a:t>0 Sam 10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latin typeface="Courier New"/>
                <a:ea typeface="Courier New"/>
                <a:cs typeface="Courier New"/>
                <a:sym typeface="Courier New"/>
              </a:rPr>
              <a:t>1 John 30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latin typeface="Courier New"/>
                <a:ea typeface="Courier New"/>
                <a:cs typeface="Courier New"/>
                <a:sym typeface="Courier New"/>
              </a:rPr>
              <a:t>2 Tim 20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6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Mutable and Immutable Objects</a:t>
            </a:r>
            <a:endParaRPr/>
          </a:p>
        </p:txBody>
      </p:sp>
      <p:sp>
        <p:nvSpPr>
          <p:cNvPr id="528" name="Google Shape;528;p76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2687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variable (in python) points to an object with a value/state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are of two types: Mutable and Immutable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Mutable objects: The state/value can be changed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Immutable objects - state cannot be changed (though new objects can be created)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Immutable Objects : objects of type: int, float, bool, string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Mutable Objects: of type list, dictionary, set, (and custom objects)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Tuple - a special case. While tuple is immutable, it may have elements (e.g. list) which are mutable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7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Mutable and Immutable Objects</a:t>
            </a:r>
            <a:endParaRPr/>
          </a:p>
        </p:txBody>
      </p:sp>
      <p:sp>
        <p:nvSpPr>
          <p:cNvPr id="534" name="Google Shape;534;p77"/>
          <p:cNvSpPr txBox="1">
            <a:spLocks noGrp="1"/>
          </p:cNvSpPr>
          <p:nvPr>
            <p:ph type="body" idx="1"/>
          </p:nvPr>
        </p:nvSpPr>
        <p:spPr>
          <a:xfrm>
            <a:off x="633845" y="1035887"/>
            <a:ext cx="7886700" cy="3405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Immutable objects - assigning a var pointing to one to another 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X = 10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 = X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Y = 20 # a new object 20 is created to which y points, x continues to point at object with value 10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Mutable objects - assigning only creates a pointer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L1 = [1, 3, 5, 9]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L2 = L1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l1 [2] = 8 # this changes the list, and so l2 will also reflect 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2030</Words>
  <Application>Microsoft Office PowerPoint</Application>
  <PresentationFormat>On-screen Show (16:9)</PresentationFormat>
  <Paragraphs>275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Quattrocento Sans</vt:lpstr>
      <vt:lpstr>Calibri</vt:lpstr>
      <vt:lpstr>Courier New</vt:lpstr>
      <vt:lpstr>Noto Sans Symbols</vt:lpstr>
      <vt:lpstr>Office Theme</vt:lpstr>
      <vt:lpstr>Other Structured Types  Sets, Tuples, Dictionaries</vt:lpstr>
      <vt:lpstr>Recap</vt:lpstr>
      <vt:lpstr>Recap - Lists</vt:lpstr>
      <vt:lpstr>Recap - Strings</vt:lpstr>
      <vt:lpstr>Dictionaries</vt:lpstr>
      <vt:lpstr>Feedback - it is anonymous</vt:lpstr>
      <vt:lpstr>Feedback - it is anonymous</vt:lpstr>
      <vt:lpstr>Dictionary</vt:lpstr>
      <vt:lpstr>Accessing Dictionary Items</vt:lpstr>
      <vt:lpstr>Keys, Values, Items</vt:lpstr>
      <vt:lpstr>Modifying Dictionary</vt:lpstr>
      <vt:lpstr>Looping Over a Dictionary</vt:lpstr>
      <vt:lpstr>Create, Copy a Dictionary</vt:lpstr>
      <vt:lpstr>Nested Dictionary</vt:lpstr>
      <vt:lpstr>Example of Nested Dictionary </vt:lpstr>
      <vt:lpstr>Dictionary Methods</vt:lpstr>
      <vt:lpstr>Example</vt:lpstr>
      <vt:lpstr>Quiz - Single Correct</vt:lpstr>
      <vt:lpstr>Quiz - Single Correct</vt:lpstr>
      <vt:lpstr>Example </vt:lpstr>
      <vt:lpstr>An Example</vt:lpstr>
      <vt:lpstr>Summary - Dictionaries</vt:lpstr>
      <vt:lpstr>Structured Types Some Commonalities</vt:lpstr>
      <vt:lpstr>Creating Objects using Constructor </vt:lpstr>
      <vt:lpstr>Common Functions on Objects</vt:lpstr>
      <vt:lpstr>enumerate() - convenient way to iterate</vt:lpstr>
      <vt:lpstr>Mutable and Immutable Objects</vt:lpstr>
      <vt:lpstr>Mutable and Immutable Objects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Other Structured Types  Sets, Tuples, Dictionaries</dc:title>
  <dc:creator>LENOVO</dc:creator>
  <cp:lastModifiedBy>LENOVO</cp:lastModifiedBy>
  <cp:revision>1</cp:revision>
  <dcterms:modified xsi:type="dcterms:W3CDTF">2022-02-04T08:27:20Z</dcterms:modified>
</cp:coreProperties>
</file>