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6858000" cx="9144000"/>
  <p:notesSz cx="6858000" cy="9144000"/>
  <p:embeddedFontLst>
    <p:embeddedFont>
      <p:font typeface="Quattrocento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8" roundtripDataSignature="AMtx7mikkm5UX/vFjYv1r72ssQIQvGIlS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Divya Sharm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A41BE6-6580-4E5E-A557-D90F0A25E0E7}">
  <a:tblStyle styleId="{FAA41BE6-6580-4E5E-A557-D90F0A25E0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QuattrocentoSans-bold.fntdata"/><Relationship Id="rId12" Type="http://schemas.openxmlformats.org/officeDocument/2006/relationships/slide" Target="slides/slide5.xml"/><Relationship Id="rId34" Type="http://schemas.openxmlformats.org/officeDocument/2006/relationships/font" Target="fonts/QuattrocentoSans-regular.fntdata"/><Relationship Id="rId15" Type="http://schemas.openxmlformats.org/officeDocument/2006/relationships/slide" Target="slides/slide8.xml"/><Relationship Id="rId37" Type="http://schemas.openxmlformats.org/officeDocument/2006/relationships/font" Target="fonts/QuattrocentoSans-boldItalic.fntdata"/><Relationship Id="rId14" Type="http://schemas.openxmlformats.org/officeDocument/2006/relationships/slide" Target="slides/slide7.xml"/><Relationship Id="rId36" Type="http://schemas.openxmlformats.org/officeDocument/2006/relationships/font" Target="fonts/QuattrocentoSans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2-01-05T10:04:45.642">
    <p:pos x="6000" y="0"/>
    <p:text>Sir, Should we change the expression types to Arithmetic and boolean expressions (as we have described them in upcoming slides) ... Or should we add some explanation to categorize this way ? I created some slides for relational expressions and logical expressions ... Slide 20-23 of the copy of L2 ppt  https://docs.google.com/presentation/d/1A-NA60MWgnY60v8mWO_qMwmqYG4LNwlY/edit#slide=id.g10a6448432a_0_30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T5W1Ews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0b3ee3bfe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10b3ee3bf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10b3ee3bfe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a6e67068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a6e6706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10a6e67068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0a6e67068f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0a6e67068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10a6e67068f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0a6e67068f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0a6e67068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10a6e67068f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0ba93f0205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10ba93f0205_1_2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a6e67068f_1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a6e67068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10a6e67068f_1_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6" name="Google Shape;16;p34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6667500" y="4749800"/>
            <a:ext cx="2476500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4"/>
          <p:cNvSpPr txBox="1"/>
          <p:nvPr>
            <p:ph type="ctrTitle"/>
          </p:nvPr>
        </p:nvSpPr>
        <p:spPr>
          <a:xfrm>
            <a:off x="685800" y="1524001"/>
            <a:ext cx="7772400" cy="1306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4"/>
          <p:cNvSpPr txBox="1"/>
          <p:nvPr>
            <p:ph idx="1" type="subTitle"/>
          </p:nvPr>
        </p:nvSpPr>
        <p:spPr>
          <a:xfrm>
            <a:off x="684894" y="3338742"/>
            <a:ext cx="6858000" cy="1146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  <a:defRPr sz="24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34"/>
          <p:cNvSpPr txBox="1"/>
          <p:nvPr>
            <p:ph idx="10" type="dt"/>
          </p:nvPr>
        </p:nvSpPr>
        <p:spPr>
          <a:xfrm>
            <a:off x="3654096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1" type="ftr"/>
          </p:nvPr>
        </p:nvSpPr>
        <p:spPr>
          <a:xfrm>
            <a:off x="5999844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" name="Google Shape;21;p34"/>
          <p:cNvCxnSpPr/>
          <p:nvPr/>
        </p:nvCxnSpPr>
        <p:spPr>
          <a:xfrm>
            <a:off x="685800" y="3089628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IITD_pptslide_jpeg-01.jpg" id="22" name="Google Shape;22;p34"/>
          <p:cNvPicPr preferRelativeResize="0"/>
          <p:nvPr/>
        </p:nvPicPr>
        <p:blipFill rotWithShape="1">
          <a:blip r:embed="rId3">
            <a:alphaModFix/>
          </a:blip>
          <a:srcRect b="47090" l="36826" r="37619" t="32381"/>
          <a:stretch/>
        </p:blipFill>
        <p:spPr>
          <a:xfrm>
            <a:off x="685800" y="4948468"/>
            <a:ext cx="2336800" cy="1407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5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5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35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" name="Google Shape;3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6"/>
          <p:cNvSpPr txBox="1"/>
          <p:nvPr>
            <p:ph idx="1" type="body"/>
          </p:nvPr>
        </p:nvSpPr>
        <p:spPr>
          <a:xfrm>
            <a:off x="685799" y="1190173"/>
            <a:ext cx="3834246" cy="49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2" type="body"/>
          </p:nvPr>
        </p:nvSpPr>
        <p:spPr>
          <a:xfrm>
            <a:off x="4629150" y="1190173"/>
            <a:ext cx="3829050" cy="49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36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" name="Google Shape;40;p36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" name="Google Shape;4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7"/>
          <p:cNvSpPr txBox="1"/>
          <p:nvPr>
            <p:ph idx="1" type="body"/>
          </p:nvPr>
        </p:nvSpPr>
        <p:spPr>
          <a:xfrm>
            <a:off x="685799" y="1160692"/>
            <a:ext cx="3815196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2" type="body"/>
          </p:nvPr>
        </p:nvSpPr>
        <p:spPr>
          <a:xfrm>
            <a:off x="685799" y="2154891"/>
            <a:ext cx="3815196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3" type="body"/>
          </p:nvPr>
        </p:nvSpPr>
        <p:spPr>
          <a:xfrm>
            <a:off x="4629151" y="1160690"/>
            <a:ext cx="3829050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4" type="body"/>
          </p:nvPr>
        </p:nvSpPr>
        <p:spPr>
          <a:xfrm>
            <a:off x="4629151" y="2154891"/>
            <a:ext cx="3829050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7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2" name="Google Shape;52;p37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8"/>
          <p:cNvSpPr txBox="1"/>
          <p:nvPr>
            <p:ph type="title"/>
          </p:nvPr>
        </p:nvSpPr>
        <p:spPr>
          <a:xfrm>
            <a:off x="685800" y="1712423"/>
            <a:ext cx="77724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6000"/>
              <a:buFont typeface="Quattrocento Sans"/>
              <a:buNone/>
              <a:defRPr b="0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" type="body"/>
          </p:nvPr>
        </p:nvSpPr>
        <p:spPr>
          <a:xfrm>
            <a:off x="685800" y="4552636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9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39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7" name="Google Shape;67;p39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8" name="Google Shape;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0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1"/>
          <p:cNvSpPr txBox="1"/>
          <p:nvPr>
            <p:ph idx="1" type="body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●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9pPr>
          </a:lstStyle>
          <a:p/>
        </p:txBody>
      </p:sp>
      <p:sp>
        <p:nvSpPr>
          <p:cNvPr id="76" name="Google Shape;76;p41"/>
          <p:cNvSpPr txBox="1"/>
          <p:nvPr>
            <p:ph idx="2" type="body"/>
          </p:nvPr>
        </p:nvSpPr>
        <p:spPr>
          <a:xfrm>
            <a:off x="630936" y="2191659"/>
            <a:ext cx="294894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41"/>
          <p:cNvSpPr txBox="1"/>
          <p:nvPr>
            <p:ph type="title"/>
          </p:nvPr>
        </p:nvSpPr>
        <p:spPr>
          <a:xfrm>
            <a:off x="630936" y="457200"/>
            <a:ext cx="294894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1" name="Google Shape;81;p41"/>
          <p:cNvCxnSpPr/>
          <p:nvPr/>
        </p:nvCxnSpPr>
        <p:spPr>
          <a:xfrm>
            <a:off x="645450" y="2061029"/>
            <a:ext cx="294894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2" name="Google Shape;8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2"/>
          <p:cNvSpPr/>
          <p:nvPr>
            <p:ph idx="2" type="pic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42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42"/>
          <p:cNvSpPr txBox="1"/>
          <p:nvPr>
            <p:ph idx="1" type="body"/>
          </p:nvPr>
        </p:nvSpPr>
        <p:spPr>
          <a:xfrm>
            <a:off x="630936" y="2191659"/>
            <a:ext cx="294894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0" name="Google Shape;90;p42"/>
          <p:cNvSpPr txBox="1"/>
          <p:nvPr>
            <p:ph type="title"/>
          </p:nvPr>
        </p:nvSpPr>
        <p:spPr>
          <a:xfrm>
            <a:off x="630936" y="457200"/>
            <a:ext cx="294894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1" name="Google Shape;91;p42"/>
          <p:cNvCxnSpPr/>
          <p:nvPr/>
        </p:nvCxnSpPr>
        <p:spPr>
          <a:xfrm>
            <a:off x="645450" y="2061029"/>
            <a:ext cx="294894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3"/>
          <p:cNvSpPr txBox="1"/>
          <p:nvPr>
            <p:ph idx="1" type="body"/>
          </p:nvPr>
        </p:nvSpPr>
        <p:spPr>
          <a:xfrm rot="5400000">
            <a:off x="2096294" y="-213517"/>
            <a:ext cx="4951413" cy="777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3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3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43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0" name="Google Shape;100;p43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1" name="Google Shape;10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4"/>
          <p:cNvSpPr txBox="1"/>
          <p:nvPr>
            <p:ph type="title"/>
          </p:nvPr>
        </p:nvSpPr>
        <p:spPr>
          <a:xfrm rot="5400000">
            <a:off x="5003289" y="1900749"/>
            <a:ext cx="4995298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400"/>
              <a:buFont typeface="Quattrocento Sans"/>
              <a:buNone/>
              <a:defRPr>
                <a:solidFill>
                  <a:srgbClr val="3EAD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4"/>
          <p:cNvSpPr txBox="1"/>
          <p:nvPr>
            <p:ph idx="1" type="body"/>
          </p:nvPr>
        </p:nvSpPr>
        <p:spPr>
          <a:xfrm rot="5400000">
            <a:off x="651670" y="394494"/>
            <a:ext cx="5811836" cy="5743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5" name="Google Shape;105;p44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4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4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8" name="Google Shape;108;p44"/>
          <p:cNvCxnSpPr/>
          <p:nvPr/>
        </p:nvCxnSpPr>
        <p:spPr>
          <a:xfrm>
            <a:off x="6543675" y="370118"/>
            <a:ext cx="0" cy="5806281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9" name="Google Shape;109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6367462" y="5632169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685800" y="365760"/>
            <a:ext cx="7772401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685800" y="1828803"/>
            <a:ext cx="7772401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3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realpython.com/python-modulo-operator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685800" y="1524001"/>
            <a:ext cx="7772400" cy="1306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/>
              <a:t>Program, Variables, Types, Expressions - 2</a:t>
            </a:r>
            <a:endParaRPr sz="3100"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684894" y="3338742"/>
            <a:ext cx="6858000" cy="1146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ct val="100000"/>
              <a:buNone/>
            </a:pPr>
            <a:r>
              <a:rPr lang="en-US"/>
              <a:t>Pankaj Jalote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ct val="100000"/>
              <a:buNone/>
            </a:pPr>
            <a:r>
              <a:rPr lang="en-US"/>
              <a:t>Distinguished Professor (Founding Director, 2008-18)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ct val="100000"/>
              <a:buNone/>
            </a:pPr>
            <a:r>
              <a:rPr lang="en-US"/>
              <a:t>IIIT-Delhi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Learning Goals of this Week</a:t>
            </a:r>
            <a:endParaRPr/>
          </a:p>
        </p:txBody>
      </p:sp>
      <p:sp>
        <p:nvSpPr>
          <p:cNvPr id="121" name="Google Shape;121;p2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What is a computer program, how is it developed, how executed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Variables and assignment statement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Types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Expressions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Terminal input/output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At the end of the week you will be able to write simple Python programs and run them, using the popular IDE – VS Code</a:t>
            </a:r>
            <a:endParaRPr/>
          </a:p>
        </p:txBody>
      </p:sp>
      <p:sp>
        <p:nvSpPr>
          <p:cNvPr id="122" name="Google Shape;122;p2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Recap</a:t>
            </a:r>
            <a:endParaRPr/>
          </a:p>
        </p:txBody>
      </p:sp>
      <p:sp>
        <p:nvSpPr>
          <p:cNvPr id="128" name="Google Shape;128;p3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Program: Seq of computation statements in a Python syntax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Each statement has a precise meaning in Python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Have looked at assignment, input, output statements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Program itself is text – can be created and saved using an editor or an IDE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Program is run by an interpreter – executes each statement as per Python specification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Online runners and editors available for simple prog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IDEs are widely used by programmers / professionals</a:t>
            </a:r>
            <a:endParaRPr/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Recap: Input and print statements</a:t>
            </a:r>
            <a:endParaRPr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685800" y="1196976"/>
            <a:ext cx="812569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This allows a program to give its output to the user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print(“strings”, mem1, “string”, mem2, …)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print (“values of x and y are: “, x, y)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print(“value of x: “, x, “value of y: “, y)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Input statement syntax: x = input(“Prompt string “ 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All values are read as text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x = int(input())  # convert input to integer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x = float(input())  # convert input to floating point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x = bool(input()) # any input is treated as True, no input is treated as False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Recap: Assignment Statement</a:t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Var_name = Expression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First the expr is computed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The computed value saved in memory (in an object)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The var_name points to this object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What are allowed variable names, and how are they used for storing and using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What types of expressions are allowed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We will explore these today</a:t>
            </a:r>
            <a:endParaRPr/>
          </a:p>
        </p:txBody>
      </p:sp>
      <p:sp>
        <p:nvSpPr>
          <p:cNvPr id="143" name="Google Shape;143;p6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Variable Names</a:t>
            </a:r>
            <a:endParaRPr/>
          </a:p>
        </p:txBody>
      </p:sp>
      <p:sp>
        <p:nvSpPr>
          <p:cNvPr id="149" name="Google Shape;149;p7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Variable names syntax (simple version)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Can use alphabets, numbers, and _  ; cannot start with a number; no space; Python is case sensitive, upper case and lower case are NOT the same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Reserved words (keywords) cannot be used as vars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These have a defined meaning in the language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Most IDEs will show them in different color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Some examples Keywords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Value : True, False, None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Operator : and, or, not, in, 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Control Flow: if, elif, else, for, while, break, continue, return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Structure: def, class, with, as, pass, lambda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Scoping: global, nonlocal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Others: import, from, as, assert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In-built functions: len, type,…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b="1" i="1" lang="en-US"/>
              <a:t>Good Practice</a:t>
            </a:r>
            <a:r>
              <a:rPr lang="en-US"/>
              <a:t>: Use expressive variable names</a:t>
            </a:r>
            <a:endParaRPr/>
          </a:p>
        </p:txBody>
      </p:sp>
      <p:sp>
        <p:nvSpPr>
          <p:cNvPr id="150" name="Google Shape;150;p7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Variables and Scalar Data Types</a:t>
            </a:r>
            <a:endParaRPr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A variable provides storing of data and access to 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In Python, the variable points to the data object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In some other languages the variable holds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Data can be of different types – some simple, and some are compound/structured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Simple/scalar types in Python: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Integer (int): e.g. 0, 4, 45, -899, …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Real numbers (float): 4.5, 5.6, 0.999, -0.2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Boolean (bool): True, False (only two values)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NoneType: None (a special type; only one value)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We will do structured types later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>
            <p:ph idx="1" type="body"/>
          </p:nvPr>
        </p:nvSpPr>
        <p:spPr>
          <a:xfrm>
            <a:off x="685800" y="1190175"/>
            <a:ext cx="3032400" cy="49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code 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x =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y = 2.4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z = x+y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 = 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b = False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c = a and b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 txBox="1"/>
          <p:nvPr>
            <p:ph idx="2" type="body"/>
          </p:nvPr>
        </p:nvSpPr>
        <p:spPr>
          <a:xfrm>
            <a:off x="4629150" y="1190173"/>
            <a:ext cx="3829050" cy="49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Figure this side – showing the var and them pointing to objects</a:t>
            </a:r>
            <a:endParaRPr/>
          </a:p>
        </p:txBody>
      </p:sp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9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Code, variables, values/objects</a:t>
            </a:r>
            <a:endParaRPr/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0550" y="1190163"/>
            <a:ext cx="4286250" cy="47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Expressions in Python</a:t>
            </a:r>
            <a:endParaRPr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An expressions is a combination of operators and operands to produce some other value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Operands – values or variables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Expression types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Arithmetic Expressions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Relational expressions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Logical expressions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Bitwise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Expressions can be combined also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Each expression type has a set of operands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Arithmetic Operations (</a:t>
            </a:r>
            <a:r>
              <a:rPr lang="en-US" sz="2000"/>
              <a:t>from RealPython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179" name="Google Shape;179;p11"/>
          <p:cNvGraphicFramePr/>
          <p:nvPr/>
        </p:nvGraphicFramePr>
        <p:xfrm>
          <a:off x="843148" y="119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{FAA41BE6-6580-4E5E-A557-D90F0A25E0E7}</a:tableStyleId>
              </a:tblPr>
              <a:tblGrid>
                <a:gridCol w="1805050"/>
                <a:gridCol w="1816925"/>
                <a:gridCol w="1816925"/>
                <a:gridCol w="1816925"/>
              </a:tblGrid>
              <a:tr h="23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Operator</a:t>
                      </a:r>
                      <a:endParaRPr sz="1400" u="none" cap="none" strike="noStrike"/>
                    </a:p>
                  </a:txBody>
                  <a:tcPr marT="20600" marB="20600" marR="41175" marL="411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Example</a:t>
                      </a:r>
                      <a:endParaRPr sz="1400" u="none" cap="none" strike="noStrike"/>
                    </a:p>
                  </a:txBody>
                  <a:tcPr marT="20600" marB="20600" marR="41175" marL="411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Meaning</a:t>
                      </a:r>
                      <a:endParaRPr sz="1400" u="none" cap="none" strike="noStrike"/>
                    </a:p>
                  </a:txBody>
                  <a:tcPr marT="20600" marB="20600" marR="41175" marL="411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Result</a:t>
                      </a:r>
                      <a:endParaRPr sz="1400" u="none" cap="none" strike="noStrike"/>
                    </a:p>
                  </a:txBody>
                  <a:tcPr marT="20600" marB="20600" marR="41175" marL="411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 (unary)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+a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Unary Positive</a:t>
                      </a: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</a:t>
                      </a:r>
                      <a:br>
                        <a:rPr lang="en-US" sz="1600" u="none" cap="none" strike="noStrike"/>
                      </a:b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 (binary)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 + 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Addition</a:t>
                      </a: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Sum of a and 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 (unary)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-a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Unary Negation</a:t>
                      </a: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Value equal to a but opposite in sign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 (binary)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 - 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Subtraction</a:t>
                      </a: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 subtracted from a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*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 * 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Multiplication</a:t>
                      </a: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Product of a and 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/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 / 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Division</a:t>
                      </a: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Quotient of a divided by b. float.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%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 % 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Modulo</a:t>
                      </a: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Remainder when a is divided by 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//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 // 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Floor Division</a:t>
                      </a:r>
                      <a:r>
                        <a:rPr lang="en-US" sz="1600" u="none" cap="none" strike="noStrike"/>
                        <a:t> (</a:t>
                      </a:r>
                      <a:r>
                        <a:rPr b="1" lang="en-US" sz="1600" u="none" cap="none" strike="noStrike"/>
                        <a:t>Integer Division</a:t>
                      </a:r>
                      <a:r>
                        <a:rPr lang="en-US" sz="1600" u="none" cap="none" strike="noStrike"/>
                        <a:t>)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Quotient when a is divided by b; int</a:t>
                      </a: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**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 ** 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Exponentiation</a:t>
                      </a:r>
                      <a:endParaRPr sz="16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 raised to the power of b</a:t>
                      </a:r>
                      <a:endParaRPr sz="1400" u="none" cap="none" strike="noStrike"/>
                    </a:p>
                  </a:txBody>
                  <a:tcPr marT="20600" marB="20600" marR="41175" marL="411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11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Arithmetic Operations (</a:t>
            </a:r>
            <a:r>
              <a:rPr lang="en-US" sz="1800"/>
              <a:t>from: geekforgeeks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186" name="Google Shape;186;p12"/>
          <p:cNvGraphicFramePr/>
          <p:nvPr/>
        </p:nvGraphicFramePr>
        <p:xfrm>
          <a:off x="685800" y="1165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{FAA41BE6-6580-4E5E-A557-D90F0A25E0E7}</a:tableStyleId>
              </a:tblPr>
              <a:tblGrid>
                <a:gridCol w="2590800"/>
                <a:gridCol w="2590800"/>
                <a:gridCol w="2590800"/>
              </a:tblGrid>
              <a:tr h="58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Operators</a:t>
                      </a:r>
                      <a:endParaRPr b="0" sz="2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Syntax</a:t>
                      </a:r>
                      <a:endParaRPr b="0" sz="2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Functioning</a:t>
                      </a:r>
                      <a:endParaRPr b="0" sz="2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+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x + y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Addition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–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x – y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Subtraction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*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x * y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Multiplication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/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x / y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Division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//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x // y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Quotient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%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x % y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Remainder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**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x ** y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Exponentiation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Brackets (not op)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()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US" sz="2400" u="none" cap="none" strike="noStrike"/>
                        <a:t>Inside-out</a:t>
                      </a:r>
                      <a:endParaRPr sz="1400" u="none" cap="none" strike="noStrike"/>
                    </a:p>
                  </a:txBody>
                  <a:tcPr marT="133350" marB="1333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12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Relational or Comparison Operators</a:t>
            </a:r>
            <a:endParaRPr/>
          </a:p>
        </p:txBody>
      </p:sp>
      <p:graphicFrame>
        <p:nvGraphicFramePr>
          <p:cNvPr id="193" name="Google Shape;193;p13"/>
          <p:cNvGraphicFramePr/>
          <p:nvPr/>
        </p:nvGraphicFramePr>
        <p:xfrm>
          <a:off x="178129" y="1181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{FAA41BE6-6580-4E5E-A557-D90F0A25E0E7}</a:tableStyleId>
              </a:tblPr>
              <a:tblGrid>
                <a:gridCol w="2217725"/>
                <a:gridCol w="2217725"/>
                <a:gridCol w="2217725"/>
                <a:gridCol w="2217725"/>
              </a:tblGrid>
              <a:tr h="26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Operator</a:t>
                      </a:r>
                      <a:endParaRPr sz="1400" u="none" cap="none" strike="noStrike"/>
                    </a:p>
                  </a:txBody>
                  <a:tcPr marT="32775" marB="32775" marR="65575" marL="65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Example</a:t>
                      </a:r>
                      <a:endParaRPr sz="1400" u="none" cap="none" strike="noStrike"/>
                    </a:p>
                  </a:txBody>
                  <a:tcPr marT="32775" marB="32775" marR="65575" marL="65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Meaning</a:t>
                      </a:r>
                      <a:endParaRPr sz="1400" u="none" cap="none" strike="noStrike"/>
                    </a:p>
                  </a:txBody>
                  <a:tcPr marT="32775" marB="32775" marR="65575" marL="65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Result</a:t>
                      </a:r>
                      <a:endParaRPr sz="1400" u="none" cap="none" strike="noStrike"/>
                    </a:p>
                  </a:txBody>
                  <a:tcPr marT="32775" marB="32775" marR="65575" marL="65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==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 == b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Equal to</a:t>
                      </a:r>
                      <a:endParaRPr sz="18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True if value of a is equal to the value of b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False otherwise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!=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 != b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Not equal to</a:t>
                      </a:r>
                      <a:endParaRPr sz="18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True if a is not equal to b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False otherwise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&lt;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 &lt; b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Less than</a:t>
                      </a:r>
                      <a:endParaRPr sz="18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True if a is less than b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False otherwise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52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&lt;=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 &lt;= b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Less than or equal to</a:t>
                      </a:r>
                      <a:endParaRPr sz="18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True if a is less than or equal to b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False otherwise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&gt;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 &gt; b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Greater than</a:t>
                      </a:r>
                      <a:endParaRPr sz="18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True if a is greater than b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False otherwise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52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&gt;=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 &gt;= b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Greater than or equal to</a:t>
                      </a:r>
                      <a:endParaRPr sz="18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True if a is greater than or equal to b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False otherwise</a:t>
                      </a:r>
                      <a:endParaRPr sz="1400" u="none" cap="none" strike="noStrike"/>
                    </a:p>
                  </a:txBody>
                  <a:tcPr marT="32775" marB="32775" marR="65575" marL="65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3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Numbers, and equality test (==) for float </a:t>
            </a:r>
            <a:endParaRPr/>
          </a:p>
        </p:txBody>
      </p:sp>
      <p:sp>
        <p:nvSpPr>
          <p:cNvPr id="200" name="Google Shape;200;p14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Integers are stored precisely as sequence of digits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No limit in python on its size (practically)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Can also save int as binary (e.g. 0b101) or octal (eg. 0o564) or hexadecimal (e.g. 0xabc)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Floating point numbers are are represented internally as binary (base-2) fractions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Most fractions cannot be represented exactly as binary fractions, so a floating-point number is an approximation of the actual value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The difference is very small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However, checking for equality (==) can cause problems – never check for this for floating point numbers (try 1.1+2.2 == 3.3)</a:t>
            </a:r>
            <a:endParaRPr/>
          </a:p>
        </p:txBody>
      </p:sp>
      <p:sp>
        <p:nvSpPr>
          <p:cNvPr id="201" name="Google Shape;201;p14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Logical Operators</a:t>
            </a:r>
            <a:endParaRPr/>
          </a:p>
        </p:txBody>
      </p:sp>
      <p:sp>
        <p:nvSpPr>
          <p:cNvPr id="207" name="Google Shape;207;p15"/>
          <p:cNvSpPr txBox="1"/>
          <p:nvPr>
            <p:ph idx="1" type="body"/>
          </p:nvPr>
        </p:nvSpPr>
        <p:spPr>
          <a:xfrm>
            <a:off x="685800" y="1223158"/>
            <a:ext cx="7772401" cy="4956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Works on Boolean values only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8" name="Google Shape;208;p15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9" name="Google Shape;209;p15"/>
          <p:cNvGraphicFramePr/>
          <p:nvPr/>
        </p:nvGraphicFramePr>
        <p:xfrm>
          <a:off x="1036122" y="20634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{FAA41BE6-6580-4E5E-A557-D90F0A25E0E7}</a:tableStyleId>
              </a:tblPr>
              <a:tblGrid>
                <a:gridCol w="1576450"/>
                <a:gridCol w="1828800"/>
                <a:gridCol w="40168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Operator</a:t>
                      </a:r>
                      <a:endParaRPr sz="1400" u="none" cap="none" strike="noStrike"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Example</a:t>
                      </a:r>
                      <a:endParaRPr sz="1400" u="none" cap="none" strike="noStrike"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Meaning</a:t>
                      </a:r>
                      <a:endParaRPr sz="1400" u="none" cap="none" strike="noStrike"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not 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True if x is False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False if x is True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(Logically reverses the sense of x)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 or 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True if either x or y is True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False otherwise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x and 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True if both x and y are True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False otherwise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Operator Precedence</a:t>
            </a:r>
            <a:endParaRPr/>
          </a:p>
        </p:txBody>
      </p:sp>
      <p:graphicFrame>
        <p:nvGraphicFramePr>
          <p:cNvPr id="215" name="Google Shape;215;p16"/>
          <p:cNvGraphicFramePr/>
          <p:nvPr/>
        </p:nvGraphicFramePr>
        <p:xfrm>
          <a:off x="403762" y="10557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{FAA41BE6-6580-4E5E-A557-D90F0A25E0E7}</a:tableStyleId>
              </a:tblPr>
              <a:tblGrid>
                <a:gridCol w="1516800"/>
                <a:gridCol w="2772500"/>
                <a:gridCol w="4450925"/>
              </a:tblGrid>
              <a:tr h="82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b="1" lang="en-US" sz="2000" u="none" cap="none" strike="noStrike"/>
                      </a:br>
                      <a:r>
                        <a:rPr b="1" lang="en-US" sz="2000" u="none" cap="none" strike="noStrike"/>
                        <a:t>Operator</a:t>
                      </a:r>
                      <a:endParaRPr sz="1400" u="none" cap="none" strike="noStrike"/>
                    </a:p>
                  </a:txBody>
                  <a:tcPr marT="35600" marB="35600" marR="71200" marL="7120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35600" marB="35600" marR="71200" marL="7120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1" lang="en-US" sz="2000" u="none" cap="none" strike="noStrike"/>
                        <a:t>lowest</a:t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or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Boolean OR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and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Boolean AND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not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Boolean NOT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==, !=, &lt;, &lt;=, &gt;, &gt;= 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comparisons, identity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+, -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addition, subtraction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3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*, /, //, %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multiplication, division, floor division, </a:t>
                      </a:r>
                      <a:r>
                        <a:rPr lang="en-US" sz="2000" u="sng" cap="none" strike="noStrike">
                          <a:solidFill>
                            <a:srgbClr val="619CCD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modulo</a:t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+x, -x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unary positive, unary negation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1" lang="en-US" sz="2000" u="none" cap="none" strike="noStrike"/>
                        <a:t>highest</a:t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**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Exponentiation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() - not really ops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Executed inside-out</a:t>
                      </a:r>
                      <a:endParaRPr sz="1400" u="none" cap="none" strike="noStrike"/>
                    </a:p>
                  </a:txBody>
                  <a:tcPr marT="35600" marB="35600" marR="71200" marL="71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0b3ee3bfe3_0_0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Execution of Operations (associativity)</a:t>
            </a:r>
            <a:endParaRPr/>
          </a:p>
        </p:txBody>
      </p:sp>
      <p:sp>
        <p:nvSpPr>
          <p:cNvPr id="223" name="Google Shape;223;g10b3ee3bfe3_0_0"/>
          <p:cNvSpPr txBox="1"/>
          <p:nvPr>
            <p:ph idx="1" type="body"/>
          </p:nvPr>
        </p:nvSpPr>
        <p:spPr>
          <a:xfrm>
            <a:off x="685800" y="1196975"/>
            <a:ext cx="7772400" cy="52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Operators of the same level of precedence are evaluated from left to right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Exception :</a:t>
            </a:r>
            <a:r>
              <a:rPr lang="en-US"/>
              <a:t>  exponent operator(**) which is evaluated from right to left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order in which an expression is evaluated is known as associativity.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example :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print(7 * 3 // 5) # Output is 4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print(7 * (3//5)) # Output is 0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the exponent operator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print(2**3**2) # Output will be 512 not 64</a:t>
            </a:r>
            <a:endParaRPr/>
          </a:p>
        </p:txBody>
      </p:sp>
      <p:sp>
        <p:nvSpPr>
          <p:cNvPr id="224" name="Google Shape;224;g10b3ee3bfe3_0_0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Arithmetic Expressions</a:t>
            </a:r>
            <a:endParaRPr/>
          </a:p>
        </p:txBody>
      </p:sp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Examples of expressions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x = 19 % 4 + 15 // 2  * 3   # Ans:24</a:t>
            </a:r>
            <a:endParaRPr/>
          </a:p>
          <a:p>
            <a:pPr indent="-50800" lvl="0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67"/>
              <a:t>19  %  4   is  3</a:t>
            </a:r>
            <a:endParaRPr sz="2167"/>
          </a:p>
          <a:p>
            <a:pPr indent="-50800" lvl="0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67"/>
              <a:t>15 // 2  is  7</a:t>
            </a:r>
            <a:endParaRPr sz="2167"/>
          </a:p>
          <a:p>
            <a:pPr indent="-50800" lvl="0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67"/>
              <a:t>7  *  3   is  21</a:t>
            </a:r>
            <a:endParaRPr sz="2167"/>
          </a:p>
          <a:p>
            <a:pPr indent="-50800" lvl="0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67"/>
              <a:t>21  +  3  is  24</a:t>
            </a:r>
            <a:endParaRPr sz="2167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x = 17 // 2 % 2 * 3**3    Ans:0</a:t>
            </a:r>
            <a:endParaRPr/>
          </a:p>
          <a:p>
            <a:pPr indent="-50800" lvl="0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13"/>
              <a:t>17 // 2  is  8</a:t>
            </a:r>
            <a:endParaRPr sz="2113"/>
          </a:p>
          <a:p>
            <a:pPr indent="-50800" lvl="0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13"/>
              <a:t>8 % 2 is 0</a:t>
            </a:r>
            <a:endParaRPr sz="2113"/>
          </a:p>
          <a:p>
            <a:pPr indent="-50800" lvl="0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13"/>
              <a:t>3**3 is 27</a:t>
            </a:r>
            <a:endParaRPr sz="2113"/>
          </a:p>
          <a:p>
            <a:pPr indent="-50800" lvl="0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sz="2113"/>
              <a:t>0 * 27  is 0</a:t>
            </a:r>
            <a:endParaRPr sz="2113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Any special care to be taken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Mentioned in Associativity of operators slide</a:t>
            </a:r>
            <a:endParaRPr/>
          </a:p>
        </p:txBody>
      </p:sp>
      <p:sp>
        <p:nvSpPr>
          <p:cNvPr id="231" name="Google Shape;231;p18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0a6e67068f_0_0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Arithmetic Expressions - Examples</a:t>
            </a:r>
            <a:endParaRPr/>
          </a:p>
        </p:txBody>
      </p:sp>
      <p:sp>
        <p:nvSpPr>
          <p:cNvPr id="238" name="Google Shape;238;g10a6e67068f_0_0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199390" lvl="0" marL="2286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7200"/>
              <a:t>Examples of expressions - </a:t>
            </a:r>
            <a:r>
              <a:rPr lang="en-US" sz="7200"/>
              <a:t>let's</a:t>
            </a:r>
            <a:r>
              <a:rPr lang="en-US" sz="7200"/>
              <a:t> try on python terminal </a:t>
            </a:r>
            <a:endParaRPr sz="7200"/>
          </a:p>
          <a:p>
            <a:pPr indent="-262890" lvl="1" marL="685800" rtl="0" algn="l">
              <a:spcBef>
                <a:spcPts val="100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sz="7200"/>
              <a:t>2+4*5-8/2</a:t>
            </a:r>
            <a:endParaRPr sz="7200"/>
          </a:p>
          <a:p>
            <a:pPr indent="0" lvl="0" marL="11430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7200"/>
              <a:t>Sol: 18.0</a:t>
            </a:r>
            <a:endParaRPr sz="7200"/>
          </a:p>
          <a:p>
            <a:pPr indent="-262890" lvl="1" marL="685800" rtl="0" algn="l">
              <a:spcBef>
                <a:spcPts val="100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sz="7200"/>
              <a:t>(15+8)*4-12/2</a:t>
            </a:r>
            <a:endParaRPr sz="7200"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7200"/>
              <a:t>	   Sol: 86.0</a:t>
            </a:r>
            <a:endParaRPr sz="7200"/>
          </a:p>
          <a:p>
            <a:pPr indent="-262890" lvl="1" marL="685800" rtl="0" algn="l">
              <a:spcBef>
                <a:spcPts val="100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sz="7200"/>
              <a:t>16+4*(2-8)/2</a:t>
            </a:r>
            <a:endParaRPr sz="7200"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7200"/>
              <a:t>	   Sol: 4.0</a:t>
            </a:r>
            <a:endParaRPr sz="7200"/>
          </a:p>
          <a:p>
            <a:pPr indent="-262890" lvl="1" marL="685800" rtl="0" algn="l">
              <a:spcBef>
                <a:spcPts val="100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sz="7200"/>
              <a:t>10+(2**5-6)/2</a:t>
            </a:r>
            <a:endParaRPr sz="7200"/>
          </a:p>
          <a:p>
            <a:pPr indent="0" lvl="0" marL="11430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7200"/>
              <a:t>Sol: 23.0</a:t>
            </a:r>
            <a:endParaRPr sz="7200"/>
          </a:p>
          <a:p>
            <a:pPr indent="-262890" lvl="1" marL="685800" rtl="0" algn="l">
              <a:spcBef>
                <a:spcPts val="100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sz="7200"/>
              <a:t>7*(12%5)//2+7</a:t>
            </a:r>
            <a:endParaRPr sz="7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7200"/>
              <a:t>		   Sol: 14</a:t>
            </a:r>
            <a:endParaRPr sz="7200"/>
          </a:p>
          <a:p>
            <a:pPr indent="-262890" lvl="1" marL="685800" rtl="0" algn="l">
              <a:spcBef>
                <a:spcPts val="100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sz="7200"/>
              <a:t>5%3**5//2+7</a:t>
            </a:r>
            <a:endParaRPr sz="7200"/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7200"/>
              <a:t>    Sol: 9</a:t>
            </a:r>
            <a:endParaRPr/>
          </a:p>
        </p:txBody>
      </p:sp>
      <p:sp>
        <p:nvSpPr>
          <p:cNvPr id="239" name="Google Shape;239;g10a6e67068f_0_0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Boolean Expressions</a:t>
            </a:r>
            <a:endParaRPr/>
          </a:p>
        </p:txBody>
      </p:sp>
      <p:sp>
        <p:nvSpPr>
          <p:cNvPr id="245" name="Google Shape;245;p19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Assigning a value (i.e. var_name = value)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None, False , 0 , “”: set the var to False</a:t>
            </a:r>
            <a:endParaRPr/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Any non-zero value or a non-empty string: set to True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en-US"/>
              <a:t>Examples of expressions</a:t>
            </a:r>
            <a:endParaRPr/>
          </a:p>
          <a:p>
            <a:pPr indent="-2095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2100"/>
              <a:t>1!=0 or 3==3 </a:t>
            </a:r>
            <a:endParaRPr sz="2100"/>
          </a:p>
          <a:p>
            <a:pPr indent="-2095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2100"/>
              <a:t>5 &gt; 3 and (5 == 3 + 2) and 5 != 3 #True</a:t>
            </a:r>
            <a:endParaRPr sz="2100"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en-US" sz="2350"/>
              <a:t>Python’s logical operators, such as </a:t>
            </a:r>
            <a:r>
              <a:rPr b="1" lang="en-US" sz="2350"/>
              <a:t>and</a:t>
            </a:r>
            <a:r>
              <a:rPr lang="en-US" sz="2350"/>
              <a:t> and </a:t>
            </a:r>
            <a:r>
              <a:rPr b="1" lang="en-US" sz="2350"/>
              <a:t>or</a:t>
            </a:r>
            <a:r>
              <a:rPr lang="en-US" sz="2350"/>
              <a:t>, Python evaluates the operand only when it needs to, i.e.</a:t>
            </a:r>
            <a:endParaRPr sz="2350"/>
          </a:p>
          <a:p>
            <a:pPr indent="-2286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using a compound expression with the OR operator the evaluation is stopped as soon as a true value is found.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using a compound expression with the AND operator the evaluation is stopped as soon as a false value is found</a:t>
            </a:r>
            <a:endParaRPr/>
          </a:p>
        </p:txBody>
      </p:sp>
      <p:sp>
        <p:nvSpPr>
          <p:cNvPr id="246" name="Google Shape;246;p19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a6e67068f_0_7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Boolean Expressions - Examples</a:t>
            </a:r>
            <a:endParaRPr/>
          </a:p>
        </p:txBody>
      </p:sp>
      <p:sp>
        <p:nvSpPr>
          <p:cNvPr id="253" name="Google Shape;253;g10a6e67068f_0_7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not(5&gt;</a:t>
            </a:r>
            <a:r>
              <a:rPr lang="en-US"/>
              <a:t>2</a:t>
            </a:r>
            <a:r>
              <a:rPr lang="en-U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(8&gt; 0) and (0 &lt; -7)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(8&gt;0) or (0&lt;-7)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(8&lt;0) or (0&gt;-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7</a:t>
            </a:r>
            <a:r>
              <a:rPr lang="en-U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not(1==1)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(1&gt;=1) and (2&lt;=2)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not(True or False) or not(True and False)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10a6e67068f_0_7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0a6e67068f_0_28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  - Boolean (ungraded)</a:t>
            </a:r>
            <a:endParaRPr/>
          </a:p>
        </p:txBody>
      </p:sp>
      <p:sp>
        <p:nvSpPr>
          <p:cNvPr id="261" name="Google Shape;261;g10a6e67068f_0_28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Consider this program: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a, b, c = 5, 10, 15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x = (a &lt; b) and (a&lt;c)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y = a &gt; 10 or b&gt;=10 or c&gt;10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print(x,y)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Q: </a:t>
            </a:r>
            <a:r>
              <a:rPr lang="en-US"/>
              <a:t>What</a:t>
            </a:r>
            <a:r>
              <a:rPr lang="en-US"/>
              <a:t> will be printed: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UcPeriod"/>
            </a:pPr>
            <a:r>
              <a:rPr lang="en-US"/>
              <a:t>True, True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-US"/>
              <a:t>True, False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-US"/>
              <a:t>False, False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-US"/>
              <a:t>False, True</a:t>
            </a:r>
            <a:endParaRPr/>
          </a:p>
        </p:txBody>
      </p:sp>
      <p:sp>
        <p:nvSpPr>
          <p:cNvPr id="262" name="Google Shape;262;g10a6e67068f_0_28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Conversion / mixing of types</a:t>
            </a:r>
            <a:endParaRPr/>
          </a:p>
        </p:txBody>
      </p:sp>
      <p:sp>
        <p:nvSpPr>
          <p:cNvPr id="268" name="Google Shape;268;p21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A float or an int can be converted easily to other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int(expr) or float(expr)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Conversion to Boolean: use bool(expr)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"expr" evaluates to False, 0, None, or "" : False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"expr" evaluates to any other value: True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Mixing vars of different types should be done carefully - conversion rules will apply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Int and float can be used freely in an expr – results are float</a:t>
            </a:r>
            <a:endParaRPr sz="2800"/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400"/>
              <a:t>E.g. 4 + 2.5 will return 6.5</a:t>
            </a:r>
            <a:endParaRPr sz="2400"/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Mixing boolean with others - be careful</a:t>
            </a:r>
            <a:endParaRPr sz="2800"/>
          </a:p>
        </p:txBody>
      </p:sp>
      <p:sp>
        <p:nvSpPr>
          <p:cNvPr id="269" name="Google Shape;269;p21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ba93f0205_1_22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Conversion from one type to another</a:t>
            </a:r>
            <a:endParaRPr/>
          </a:p>
        </p:txBody>
      </p:sp>
      <p:sp>
        <p:nvSpPr>
          <p:cNvPr id="275" name="Google Shape;275;g10ba93f0205_1_224"/>
          <p:cNvSpPr txBox="1"/>
          <p:nvPr>
            <p:ph idx="1" type="body"/>
          </p:nvPr>
        </p:nvSpPr>
        <p:spPr>
          <a:xfrm>
            <a:off x="685800" y="1196975"/>
            <a:ext cx="3672900" cy="4983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Im</a:t>
            </a:r>
            <a:r>
              <a:rPr lang="en-US" sz="2600"/>
              <a:t>plicit Type Conversion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x = 10 </a:t>
            </a:r>
            <a:r>
              <a:rPr lang="en-US" sz="2000">
                <a:solidFill>
                  <a:srgbClr val="0000FF"/>
                </a:solidFill>
              </a:rPr>
              <a:t> 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print(type(x)) </a:t>
            </a:r>
            <a:r>
              <a:rPr lang="en-US" sz="2000">
                <a:solidFill>
                  <a:srgbClr val="0000FF"/>
                </a:solidFill>
              </a:rPr>
              <a:t># &lt;class 'int'&gt;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y = 2.1 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print(type(y)) </a:t>
            </a:r>
            <a:r>
              <a:rPr lang="en-US" sz="2000">
                <a:solidFill>
                  <a:srgbClr val="0000FF"/>
                </a:solidFill>
              </a:rPr>
              <a:t># &lt;class 'float'&gt;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0000"/>
                </a:solidFill>
              </a:rPr>
              <a:t>x = x + y</a:t>
            </a:r>
            <a:endParaRPr sz="2000">
              <a:solidFill>
                <a:srgbClr val="FF0000"/>
              </a:solidFill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print(x) </a:t>
            </a:r>
            <a:r>
              <a:rPr lang="en-US" sz="2000">
                <a:solidFill>
                  <a:srgbClr val="0000FF"/>
                </a:solidFill>
              </a:rPr>
              <a:t># 12.1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print(type(x)) </a:t>
            </a:r>
            <a:r>
              <a:rPr lang="en-US" sz="2000">
                <a:solidFill>
                  <a:srgbClr val="0000FF"/>
                </a:solidFill>
              </a:rPr>
              <a:t># &lt;class 'float'&gt;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6" name="Google Shape;276;g10ba93f0205_1_22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g10ba93f0205_1_224"/>
          <p:cNvSpPr txBox="1"/>
          <p:nvPr>
            <p:ph idx="1" type="body"/>
          </p:nvPr>
        </p:nvSpPr>
        <p:spPr>
          <a:xfrm>
            <a:off x="4500925" y="1196975"/>
            <a:ext cx="3957300" cy="4983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Explicit Type Conversion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    </a:t>
            </a:r>
            <a:r>
              <a:rPr lang="en-US" sz="2000">
                <a:solidFill>
                  <a:srgbClr val="000000"/>
                </a:solidFill>
              </a:rPr>
              <a:t>x = 10 </a:t>
            </a:r>
            <a:r>
              <a:rPr lang="en-US" sz="2000">
                <a:solidFill>
                  <a:srgbClr val="0000FF"/>
                </a:solidFill>
              </a:rPr>
              <a:t> 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print(type(x)) </a:t>
            </a:r>
            <a:r>
              <a:rPr lang="en-US" sz="2000">
                <a:solidFill>
                  <a:srgbClr val="0000FF"/>
                </a:solidFill>
              </a:rPr>
              <a:t># &lt;class 'int'&gt;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y = 2.1 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print(type(y)) </a:t>
            </a:r>
            <a:r>
              <a:rPr lang="en-US" sz="2000">
                <a:solidFill>
                  <a:srgbClr val="0000FF"/>
                </a:solidFill>
              </a:rPr>
              <a:t># &lt;class 'float'&gt;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x = (int)(x + y)</a:t>
            </a:r>
            <a:endParaRPr sz="2000">
              <a:solidFill>
                <a:srgbClr val="FF0000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print(x) </a:t>
            </a:r>
            <a:r>
              <a:rPr lang="en-US" sz="2000">
                <a:solidFill>
                  <a:srgbClr val="0000FF"/>
                </a:solidFill>
              </a:rPr>
              <a:t># 12</a:t>
            </a:r>
            <a:endParaRPr sz="2000">
              <a:solidFill>
                <a:srgbClr val="0000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print(type(x)) </a:t>
            </a:r>
            <a:r>
              <a:rPr lang="en-US" sz="2000">
                <a:solidFill>
                  <a:srgbClr val="0000FF"/>
                </a:solidFill>
              </a:rPr>
              <a:t># &lt;class 'int'&gt;</a:t>
            </a:r>
            <a:endParaRPr sz="2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0a6e67068f_1_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Comments</a:t>
            </a:r>
            <a:endParaRPr/>
          </a:p>
        </p:txBody>
      </p:sp>
      <p:sp>
        <p:nvSpPr>
          <p:cNvPr id="284" name="Google Shape;284;g10a6e67068f_1_4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SzPct val="64285"/>
              <a:buChar char="●"/>
            </a:pPr>
            <a:r>
              <a:rPr lang="en-US"/>
              <a:t>In a python program file lines are treated as python statements unless marked as comment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64285"/>
              <a:buChar char="●"/>
            </a:pPr>
            <a:r>
              <a:rPr lang="en-US"/>
              <a:t>Comments in python - meant for the reader; interpreter ignores them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64285"/>
              <a:buChar char="●"/>
            </a:pPr>
            <a:r>
              <a:rPr lang="en-US"/>
              <a:t>Comments types: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# This is a comment line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# Anything after # is treated as a comment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''' 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multi line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comment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'''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Multi-line comment can also start/end with """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10a6e67068f_1_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291" name="Google Shape;291;p31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Assignment stmt is of the type 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 = expression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Expression can be of different types - arithmetic, boolean, relational; different operations possible for each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Expression evaluation is as per precedence and associativity rules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Expression evaluation returns a value of int, float, bool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Mixing of types and conversion to other types possible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298" name="Google Shape;298;p32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Exercises: To try expressions of different kinds, simple if-then-else (though condition can be bool expr) so they are used to code blocks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For a cube of side l and sphere of radius r, determine if the volume of one is within 25% of the other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Compute volumes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Check if cube volume is more than the outer limit and less than the lesser limit of sphere volume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Same check for sphere volume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If a, b, c are sides of a triangle. Print if it is isosceles, equilateral, right, or “other</a:t>
            </a:r>
            <a:r>
              <a:rPr lang="en-US"/>
              <a:t>” 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2016-06-15T01:05:21Z</dcterms:created>
  <dc:creator>Pankaj Jalote</dc:creator>
</cp:coreProperties>
</file>