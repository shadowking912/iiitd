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Quattrocento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QuattrocentoSans-regular.fntdata"/><Relationship Id="rId21" Type="http://schemas.openxmlformats.org/officeDocument/2006/relationships/slide" Target="slides/slide16.xml"/><Relationship Id="rId24" Type="http://schemas.openxmlformats.org/officeDocument/2006/relationships/font" Target="fonts/QuattrocentoSans-italic.fntdata"/><Relationship Id="rId23" Type="http://schemas.openxmlformats.org/officeDocument/2006/relationships/font" Target="fonts/Quattrocento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Quattrocen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0b16e8e0e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0b16e8e0e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0b16e8e0e5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0b16e8e0e5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0b705fbb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0b705fbb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0b91f3ff7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0b91f3ff7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0b822379f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0b822379f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0b822379f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0b822379f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0b822379f6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0b822379f6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0d52e044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0d52e044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0b822379f6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10b822379f6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0b822379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0b822379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affa4d2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affa4d2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0affa4d23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0affa4d23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0b91f3ff7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0b91f3ff7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0b822379f6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0b822379f6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0b822379f6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0b822379f6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EADA7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IITD_pptslide_jpeg-03.jpg" id="12" name="Google Shape;12;p2"/>
          <p:cNvPicPr preferRelativeResize="0"/>
          <p:nvPr/>
        </p:nvPicPr>
        <p:blipFill rotWithShape="1">
          <a:blip r:embed="rId2">
            <a:alphaModFix/>
          </a:blip>
          <a:srcRect b="0" l="72917" r="0" t="69259"/>
          <a:stretch/>
        </p:blipFill>
        <p:spPr>
          <a:xfrm>
            <a:off x="7286625" y="3562350"/>
            <a:ext cx="1857374" cy="158115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type="ctrTitle"/>
          </p:nvPr>
        </p:nvSpPr>
        <p:spPr>
          <a:xfrm>
            <a:off x="1143000" y="797753"/>
            <a:ext cx="7315200" cy="14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Quattrocento Sans"/>
              <a:buNone/>
              <a:defRPr sz="4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4114800" y="2430433"/>
            <a:ext cx="4343400" cy="15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9F7F6"/>
              </a:buClr>
              <a:buSzPts val="1800"/>
              <a:buNone/>
              <a:defRPr sz="1800">
                <a:solidFill>
                  <a:srgbClr val="E9F7F6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411480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" name="Google Shape;17;p2"/>
          <p:cNvCxnSpPr/>
          <p:nvPr/>
        </p:nvCxnSpPr>
        <p:spPr>
          <a:xfrm>
            <a:off x="685800" y="2317221"/>
            <a:ext cx="777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401088"/>
            <a:ext cx="2260623" cy="1244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" name="Google Shape;26;p3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title"/>
          </p:nvPr>
        </p:nvSpPr>
        <p:spPr>
          <a:xfrm>
            <a:off x="623888" y="1284317"/>
            <a:ext cx="7886700" cy="213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4500"/>
              <a:buFont typeface="Quattrocento Sans"/>
              <a:buNone/>
              <a:defRPr b="0"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623888" y="3414475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5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 txBox="1"/>
          <p:nvPr>
            <p:ph idx="1" type="body"/>
          </p:nvPr>
        </p:nvSpPr>
        <p:spPr>
          <a:xfrm>
            <a:off x="633845" y="1035887"/>
            <a:ext cx="3886200" cy="3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29150" y="1035887"/>
            <a:ext cx="3886200" cy="3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43" name="Google Shape;43;p5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4" name="Google Shape;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" type="body"/>
          </p:nvPr>
        </p:nvSpPr>
        <p:spPr>
          <a:xfrm>
            <a:off x="633845" y="1035886"/>
            <a:ext cx="3867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6"/>
          <p:cNvSpPr txBox="1"/>
          <p:nvPr>
            <p:ph idx="2" type="body"/>
          </p:nvPr>
        </p:nvSpPr>
        <p:spPr>
          <a:xfrm>
            <a:off x="633845" y="1655160"/>
            <a:ext cx="3867000" cy="29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body"/>
          </p:nvPr>
        </p:nvSpPr>
        <p:spPr>
          <a:xfrm>
            <a:off x="4629150" y="1035887"/>
            <a:ext cx="38862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6"/>
          <p:cNvSpPr txBox="1"/>
          <p:nvPr>
            <p:ph idx="4" type="body"/>
          </p:nvPr>
        </p:nvSpPr>
        <p:spPr>
          <a:xfrm>
            <a:off x="4629150" y="1655160"/>
            <a:ext cx="3886200" cy="29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6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55" name="Google Shape;55;p6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6" name="Google Shape;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7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63" name="Google Shape;63;p7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4" name="Google Shape;6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9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 txBox="1"/>
          <p:nvPr>
            <p:ph type="title"/>
          </p:nvPr>
        </p:nvSpPr>
        <p:spPr>
          <a:xfrm>
            <a:off x="630936" y="342900"/>
            <a:ext cx="2949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b="0"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" type="body"/>
          </p:nvPr>
        </p:nvSpPr>
        <p:spPr>
          <a:xfrm>
            <a:off x="3886200" y="742950"/>
            <a:ext cx="4629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9pPr>
          </a:lstStyle>
          <a:p/>
        </p:txBody>
      </p:sp>
      <p:sp>
        <p:nvSpPr>
          <p:cNvPr id="73" name="Google Shape;73;p9"/>
          <p:cNvSpPr txBox="1"/>
          <p:nvPr>
            <p:ph idx="2" type="body"/>
          </p:nvPr>
        </p:nvSpPr>
        <p:spPr>
          <a:xfrm>
            <a:off x="630936" y="1543049"/>
            <a:ext cx="29490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74" name="Google Shape;74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9"/>
          <p:cNvCxnSpPr/>
          <p:nvPr/>
        </p:nvCxnSpPr>
        <p:spPr>
          <a:xfrm>
            <a:off x="645450" y="1545772"/>
            <a:ext cx="29490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8" name="Google Shape;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0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0"/>
          <p:cNvSpPr txBox="1"/>
          <p:nvPr>
            <p:ph type="title"/>
          </p:nvPr>
        </p:nvSpPr>
        <p:spPr>
          <a:xfrm>
            <a:off x="630936" y="342900"/>
            <a:ext cx="2949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b="0"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0"/>
          <p:cNvSpPr/>
          <p:nvPr>
            <p:ph idx="2" type="pic"/>
          </p:nvPr>
        </p:nvSpPr>
        <p:spPr>
          <a:xfrm>
            <a:off x="3886200" y="742950"/>
            <a:ext cx="46290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630936" y="1543050"/>
            <a:ext cx="29490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84" name="Google Shape;84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7" name="Google Shape;87;p10"/>
          <p:cNvCxnSpPr/>
          <p:nvPr/>
        </p:nvCxnSpPr>
        <p:spPr>
          <a:xfrm>
            <a:off x="645450" y="1545772"/>
            <a:ext cx="29490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8" name="Google Shape;8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1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>
            <p:ph idx="1" type="body"/>
          </p:nvPr>
        </p:nvSpPr>
        <p:spPr>
          <a:xfrm rot="5400000">
            <a:off x="2777646" y="-1107913"/>
            <a:ext cx="3599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96" name="Google Shape;96;p11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7" name="Google Shape;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 txBox="1"/>
          <p:nvPr>
            <p:ph type="title"/>
          </p:nvPr>
        </p:nvSpPr>
        <p:spPr>
          <a:xfrm rot="5400000">
            <a:off x="5350050" y="1463972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" type="body"/>
          </p:nvPr>
        </p:nvSpPr>
        <p:spPr>
          <a:xfrm rot="5400000">
            <a:off x="1349475" y="-450628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04" name="Google Shape;104;p12"/>
          <p:cNvCxnSpPr/>
          <p:nvPr/>
        </p:nvCxnSpPr>
        <p:spPr>
          <a:xfrm>
            <a:off x="6543675" y="277589"/>
            <a:ext cx="0" cy="435480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3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 txBox="1"/>
          <p:nvPr>
            <p:ph idx="1" type="body"/>
          </p:nvPr>
        </p:nvSpPr>
        <p:spPr>
          <a:xfrm>
            <a:off x="685799" y="1035886"/>
            <a:ext cx="3834300" cy="3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2" type="body"/>
          </p:nvPr>
        </p:nvSpPr>
        <p:spPr>
          <a:xfrm>
            <a:off x="4683577" y="1035886"/>
            <a:ext cx="3828900" cy="3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13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13" name="Google Shape;113;p13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4" name="Google Shape;1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>
            <p:ph idx="1" type="body"/>
          </p:nvPr>
        </p:nvSpPr>
        <p:spPr>
          <a:xfrm>
            <a:off x="685799" y="946718"/>
            <a:ext cx="38151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8" name="Google Shape;118;p14"/>
          <p:cNvSpPr txBox="1"/>
          <p:nvPr>
            <p:ph idx="2" type="body"/>
          </p:nvPr>
        </p:nvSpPr>
        <p:spPr>
          <a:xfrm>
            <a:off x="685799" y="1616168"/>
            <a:ext cx="38151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19" name="Google Shape;119;p14"/>
          <p:cNvSpPr txBox="1"/>
          <p:nvPr>
            <p:ph idx="3" type="body"/>
          </p:nvPr>
        </p:nvSpPr>
        <p:spPr>
          <a:xfrm>
            <a:off x="4672693" y="946716"/>
            <a:ext cx="3828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0" name="Google Shape;120;p14"/>
          <p:cNvSpPr txBox="1"/>
          <p:nvPr>
            <p:ph idx="4" type="body"/>
          </p:nvPr>
        </p:nvSpPr>
        <p:spPr>
          <a:xfrm>
            <a:off x="4672693" y="1616168"/>
            <a:ext cx="38289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21" name="Google Shape;121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14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14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25" name="Google Shape;125;p14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6" name="Google Shape;1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5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15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5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33" name="Google Shape;133;p15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4" name="Google Shape;1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>
  <p:cSld name="1_Content with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>
            <p:ph idx="1" type="body"/>
          </p:nvPr>
        </p:nvSpPr>
        <p:spPr>
          <a:xfrm>
            <a:off x="3886200" y="742950"/>
            <a:ext cx="4629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9pPr>
          </a:lstStyle>
          <a:p/>
        </p:txBody>
      </p:sp>
      <p:sp>
        <p:nvSpPr>
          <p:cNvPr id="138" name="Google Shape;138;p16"/>
          <p:cNvSpPr txBox="1"/>
          <p:nvPr>
            <p:ph idx="2" type="body"/>
          </p:nvPr>
        </p:nvSpPr>
        <p:spPr>
          <a:xfrm>
            <a:off x="630936" y="1643745"/>
            <a:ext cx="2949000" cy="27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39" name="Google Shape;139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16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16"/>
          <p:cNvSpPr txBox="1"/>
          <p:nvPr>
            <p:ph type="title"/>
          </p:nvPr>
        </p:nvSpPr>
        <p:spPr>
          <a:xfrm>
            <a:off x="630936" y="342900"/>
            <a:ext cx="29490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b="0" sz="2400">
                <a:solidFill>
                  <a:srgbClr val="3EAD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43" name="Google Shape;143;p16"/>
          <p:cNvCxnSpPr/>
          <p:nvPr/>
        </p:nvCxnSpPr>
        <p:spPr>
          <a:xfrm>
            <a:off x="645450" y="1545772"/>
            <a:ext cx="29490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/>
          <p:nvPr>
            <p:ph idx="2" type="pic"/>
          </p:nvPr>
        </p:nvSpPr>
        <p:spPr>
          <a:xfrm>
            <a:off x="3886200" y="742950"/>
            <a:ext cx="46290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0" name="Google Shape;150;p17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17"/>
          <p:cNvSpPr txBox="1"/>
          <p:nvPr>
            <p:ph idx="1" type="body"/>
          </p:nvPr>
        </p:nvSpPr>
        <p:spPr>
          <a:xfrm>
            <a:off x="630936" y="1643745"/>
            <a:ext cx="2949000" cy="27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52" name="Google Shape;152;p17"/>
          <p:cNvSpPr txBox="1"/>
          <p:nvPr>
            <p:ph type="title"/>
          </p:nvPr>
        </p:nvSpPr>
        <p:spPr>
          <a:xfrm>
            <a:off x="630936" y="342900"/>
            <a:ext cx="29490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b="0" sz="2400">
                <a:solidFill>
                  <a:srgbClr val="3EAD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53" name="Google Shape;153;p17"/>
          <p:cNvCxnSpPr/>
          <p:nvPr/>
        </p:nvCxnSpPr>
        <p:spPr>
          <a:xfrm>
            <a:off x="645450" y="1545772"/>
            <a:ext cx="29490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Vertical Text">
  <p:cSld name="1_Title and Vertical 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>
            <p:ph idx="1" type="body"/>
          </p:nvPr>
        </p:nvSpPr>
        <p:spPr>
          <a:xfrm rot="5400000">
            <a:off x="2786946" y="-1122314"/>
            <a:ext cx="3575400" cy="78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58" name="Google Shape;158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18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18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62" name="Google Shape;162;p18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33845" y="27432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3300"/>
              <a:buFont typeface="Quattrocento Sans"/>
              <a:buNone/>
              <a:defRPr b="0" i="0" sz="3300" u="none" cap="none" strike="noStrike">
                <a:solidFill>
                  <a:srgbClr val="3EADA7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33845" y="1371600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ctrTitle"/>
          </p:nvPr>
        </p:nvSpPr>
        <p:spPr>
          <a:xfrm>
            <a:off x="1143000" y="797753"/>
            <a:ext cx="7315200" cy="1406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- and Program Structuring</a:t>
            </a:r>
            <a:endParaRPr/>
          </a:p>
        </p:txBody>
      </p:sp>
      <p:sp>
        <p:nvSpPr>
          <p:cNvPr id="169" name="Google Shape;169;p19"/>
          <p:cNvSpPr txBox="1"/>
          <p:nvPr>
            <p:ph idx="1" type="subTitle"/>
          </p:nvPr>
        </p:nvSpPr>
        <p:spPr>
          <a:xfrm>
            <a:off x="4114800" y="2430433"/>
            <a:ext cx="4343400" cy="1532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175" name="Google Shape;175;p20"/>
          <p:cNvSpPr txBox="1"/>
          <p:nvPr>
            <p:ph idx="1" type="body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 have seen program as a monolith sequence of statements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Main types of statements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Assignment -  var = expression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Conditional - if-then-else, if-then, if-elifs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Iteration - for loop, while loop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These statements are sufficient to compute anything computable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 a large program, or a complex problem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One monolith seq of statements is hard to construct or debug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Having only the above statements makes it harder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Functions provide an answer to both of these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Allows us to build new and more powerful "constructs" from the basic language constructs, which we can use in our 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Allows code to be broken into pieces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181" name="Google Shape;181;p21"/>
          <p:cNvSpPr txBox="1"/>
          <p:nvPr>
            <p:ph idx="1" type="body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3100"/>
              <a:t>You learn programming by practice</a:t>
            </a:r>
            <a:endParaRPr b="1" sz="31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Always remember that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The more you practice, the better you will get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There is no </a:t>
            </a:r>
            <a:r>
              <a:rPr lang="en"/>
              <a:t>shortcut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Functions</a:t>
            </a:r>
            <a:endParaRPr sz="3000"/>
          </a:p>
        </p:txBody>
      </p:sp>
      <p:sp>
        <p:nvSpPr>
          <p:cNvPr id="187" name="Google Shape;187;p22"/>
          <p:cNvSpPr txBox="1"/>
          <p:nvPr>
            <p:ph idx="1" type="body"/>
          </p:nvPr>
        </p:nvSpPr>
        <p:spPr>
          <a:xfrm>
            <a:off x="633845" y="1035887"/>
            <a:ext cx="7886700" cy="332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In math, we have functions like:</a:t>
            </a:r>
            <a:endParaRPr sz="2000"/>
          </a:p>
          <a:p>
            <a:pPr indent="457200" lvl="0" marL="4572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i="1" lang="en" sz="2000"/>
              <a:t>Z = f(x,y)</a:t>
            </a:r>
            <a:r>
              <a:rPr lang="en" sz="2000"/>
              <a:t> </a:t>
            </a:r>
            <a:endParaRPr sz="2000"/>
          </a:p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After defining a function, we can use it in other functions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In python, we can define very general functions, and use them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Like in math, functions may have parameters, and to compute a function, values of parameters have to be provided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Function is a unit of computation – which can be invoked from different places, i.e. used wherever we want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With functions, a python program is a set of function declarations, and a “main program” which calls / uses these functions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Let's</a:t>
            </a:r>
            <a:r>
              <a:rPr lang="en" sz="2000"/>
              <a:t> show it by example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Python Functions: Example</a:t>
            </a:r>
            <a:endParaRPr sz="3000"/>
          </a:p>
        </p:txBody>
      </p:sp>
      <p:sp>
        <p:nvSpPr>
          <p:cNvPr id="193" name="Google Shape;193;p23"/>
          <p:cNvSpPr txBox="1"/>
          <p:nvPr>
            <p:ph idx="1" type="body"/>
          </p:nvPr>
        </p:nvSpPr>
        <p:spPr>
          <a:xfrm>
            <a:off x="633850" y="1233275"/>
            <a:ext cx="2811300" cy="340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just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defining a fn sq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square(x):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return x*x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defining a fn cube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cube(y):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return y*y*y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Main program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a, b = 2, 4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c = square(a) + cube(b)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print("Val of c: ", c)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4" name="Google Shape;194;p23"/>
          <p:cNvSpPr txBox="1"/>
          <p:nvPr>
            <p:ph idx="2" type="body"/>
          </p:nvPr>
        </p:nvSpPr>
        <p:spPr>
          <a:xfrm>
            <a:off x="3869099" y="1233275"/>
            <a:ext cx="4643400" cy="2839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1150" lvl="0" marL="457200" rtl="0" algn="just">
              <a:spcBef>
                <a:spcPts val="800"/>
              </a:spcBef>
              <a:spcAft>
                <a:spcPts val="0"/>
              </a:spcAft>
              <a:buSzPts val="1300"/>
              <a:buChar char="●"/>
            </a:pPr>
            <a:r>
              <a:rPr lang="en" sz="2000"/>
              <a:t>Two functions defined - each has one parameter</a:t>
            </a:r>
            <a:endParaRPr sz="20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2000"/>
              <a:t>Code of function definition specifies the computation the fn does</a:t>
            </a:r>
            <a:endParaRPr sz="20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2000"/>
              <a:t>Function can return some value</a:t>
            </a:r>
            <a:endParaRPr sz="20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2000"/>
              <a:t>To use the function – it is called, value of parameter is </a:t>
            </a:r>
            <a:r>
              <a:rPr lang="en" sz="2000"/>
              <a:t>provided</a:t>
            </a:r>
            <a:endParaRPr sz="20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2000"/>
              <a:t>On call – parameter gets value, body of function executed; value returned (and can be used) 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Defining </a:t>
            </a:r>
            <a:r>
              <a:rPr lang="en" sz="3000"/>
              <a:t>and Calling </a:t>
            </a:r>
            <a:r>
              <a:rPr lang="en" sz="3000"/>
              <a:t>a function</a:t>
            </a:r>
            <a:endParaRPr sz="3000"/>
          </a:p>
        </p:txBody>
      </p:sp>
      <p:sp>
        <p:nvSpPr>
          <p:cNvPr id="200" name="Google Shape;200;p24"/>
          <p:cNvSpPr txBox="1"/>
          <p:nvPr>
            <p:ph idx="1" type="body"/>
          </p:nvPr>
        </p:nvSpPr>
        <p:spPr>
          <a:xfrm>
            <a:off x="633845" y="1035887"/>
            <a:ext cx="7886700" cy="2662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We need two basic capabilities - defining a function and calling a defined function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Defining a function is done by def </a:t>
            </a:r>
            <a:endParaRPr sz="2000"/>
          </a:p>
          <a:p>
            <a:pPr indent="457200" lvl="0" marL="4572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fn_name(parm-list):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&lt;fn-body&gt; </a:t>
            </a:r>
            <a:br>
              <a:rPr b="1" lang="en" sz="1500">
                <a:latin typeface="Courier New"/>
                <a:ea typeface="Courier New"/>
                <a:cs typeface="Courier New"/>
                <a:sym typeface="Courier New"/>
              </a:rPr>
            </a:b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Parameters are optional; parameters are available for use in body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The function execution terminates when it executes a return statement, or its body completes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Defining and Calling a function…</a:t>
            </a:r>
            <a:endParaRPr sz="3000"/>
          </a:p>
        </p:txBody>
      </p:sp>
      <p:sp>
        <p:nvSpPr>
          <p:cNvPr id="206" name="Google Shape;206;p25"/>
          <p:cNvSpPr txBox="1"/>
          <p:nvPr>
            <p:ph idx="1" type="body"/>
          </p:nvPr>
        </p:nvSpPr>
        <p:spPr>
          <a:xfrm>
            <a:off x="633845" y="1035887"/>
            <a:ext cx="7886700" cy="269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Defining a function just defines it, to execute we must call it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Statement to c</a:t>
            </a:r>
            <a:r>
              <a:rPr lang="en" sz="2000"/>
              <a:t>all a function: just the function name with parameters:</a:t>
            </a:r>
            <a:endParaRPr sz="2000"/>
          </a:p>
          <a:p>
            <a:pPr indent="0" lvl="0" marL="4572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	</a:t>
            </a:r>
            <a:r>
              <a:rPr b="1" lang="en" sz="1500"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fn_name(arguments)</a:t>
            </a:r>
            <a:endParaRPr b="1" sz="1500"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If function does not have any arguments, it must be called with () - this tells the interpreter that this </a:t>
            </a:r>
            <a:r>
              <a:rPr lang="en" sz="2000"/>
              <a:t>is</a:t>
            </a:r>
            <a:r>
              <a:rPr lang="en" sz="2000"/>
              <a:t> not a variable but a function call</a:t>
            </a:r>
            <a:endParaRPr sz="2000"/>
          </a:p>
          <a:p>
            <a:pPr indent="0" lvl="0" marL="4572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	</a:t>
            </a:r>
            <a:r>
              <a:rPr b="1" lang="en" sz="1500"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fn_name()</a:t>
            </a:r>
            <a:endParaRPr b="1" sz="1500"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If function has parameters, arguments need to be provided for all the parameters - provide value of the parameter for fn execution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Defining and Calling: flow of control</a:t>
            </a:r>
            <a:endParaRPr sz="3000"/>
          </a:p>
        </p:txBody>
      </p:sp>
      <p:sp>
        <p:nvSpPr>
          <p:cNvPr id="212" name="Google Shape;212;p26"/>
          <p:cNvSpPr txBox="1"/>
          <p:nvPr>
            <p:ph idx="1" type="body"/>
          </p:nvPr>
        </p:nvSpPr>
        <p:spPr>
          <a:xfrm>
            <a:off x="633845" y="1035887"/>
            <a:ext cx="7886700" cy="305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Program is a sequence of statements being </a:t>
            </a:r>
            <a:r>
              <a:rPr lang="en" sz="2000"/>
              <a:t>executed</a:t>
            </a:r>
            <a:r>
              <a:rPr lang="en" sz="2000"/>
              <a:t> by interpreter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Function definition is a definition - not an executable statement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Function call is an executable statement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On encountering a function call statement, to execute it:</a:t>
            </a:r>
            <a:endParaRPr sz="2000"/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Interpreter jumps to function definition </a:t>
            </a:r>
            <a:endParaRPr/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Parameters are assigned values that corresponding arguments in the calling statement have</a:t>
            </a:r>
            <a:endParaRPr/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Body of the function (a sequence of statements) is executed</a:t>
            </a:r>
            <a:endParaRPr/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Upon completion of the function, the control returns to the calling stmt</a:t>
            </a:r>
            <a:endParaRPr/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Return value, if any, is used where the function was called</a:t>
            </a:r>
            <a:endParaRPr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Flow of control - diagram </a:t>
            </a:r>
            <a:r>
              <a:rPr lang="en" sz="1800"/>
              <a:t>(programiz)</a:t>
            </a:r>
            <a:endParaRPr sz="1800"/>
          </a:p>
        </p:txBody>
      </p:sp>
      <p:pic>
        <p:nvPicPr>
          <p:cNvPr id="218" name="Google Shape;21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8475" y="1081075"/>
            <a:ext cx="3067050" cy="29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Executing a Program with Functions</a:t>
            </a:r>
            <a:endParaRPr sz="3000"/>
          </a:p>
        </p:txBody>
      </p:sp>
      <p:sp>
        <p:nvSpPr>
          <p:cNvPr id="224" name="Google Shape;224;p28"/>
          <p:cNvSpPr txBox="1"/>
          <p:nvPr>
            <p:ph idx="1" type="body"/>
          </p:nvPr>
        </p:nvSpPr>
        <p:spPr>
          <a:xfrm>
            <a:off x="633850" y="1035875"/>
            <a:ext cx="3592200" cy="3347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A general program structure:</a:t>
            </a:r>
            <a:br>
              <a:rPr lang="en"/>
            </a:br>
            <a:endParaRPr sz="1500"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ef fn1():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	body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ef fn2():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	body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fn3(params):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	body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Main program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Stmt-block 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includes some call stmts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5" name="Google Shape;225;p28"/>
          <p:cNvSpPr txBox="1"/>
          <p:nvPr>
            <p:ph idx="2" type="body"/>
          </p:nvPr>
        </p:nvSpPr>
        <p:spPr>
          <a:xfrm>
            <a:off x="4375950" y="1035875"/>
            <a:ext cx="4155300" cy="3916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When interpreter gets this program</a:t>
            </a:r>
            <a:endParaRPr sz="1800"/>
          </a:p>
          <a:p>
            <a:pPr indent="-311150" lvl="1" marL="914400" rtl="0" algn="just"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On function definitions, it records some information; body is not executed</a:t>
            </a:r>
            <a:endParaRPr sz="1600"/>
          </a:p>
          <a:p>
            <a:pPr indent="-311150" lvl="1" marL="9144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Starts execution from the first stmt in the stmt block of the main program</a:t>
            </a:r>
            <a:endParaRPr sz="1600"/>
          </a:p>
          <a:p>
            <a:pPr indent="-311150" lvl="1" marL="9144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On a call statement, control is transferred to the function; function starts executing</a:t>
            </a:r>
            <a:endParaRPr sz="1600"/>
          </a:p>
          <a:p>
            <a:pPr indent="-311150" lvl="1" marL="9144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On return statement in the function, goes back to the call stmt (in the main program)</a:t>
            </a:r>
            <a:endParaRPr sz="1600"/>
          </a:p>
          <a:p>
            <a:pPr indent="-311150" lvl="1" marL="9144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Execution continues in the main program</a:t>
            </a:r>
            <a:endParaRPr sz="1600"/>
          </a:p>
          <a:p>
            <a:pPr indent="-311150" lvl="1" marL="9144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Note: Function definition must be before the function </a:t>
            </a:r>
            <a:r>
              <a:rPr lang="en" sz="1600">
                <a:highlight>
                  <a:srgbClr val="FCE566"/>
                </a:highlight>
              </a:rPr>
              <a:t>call stmt is executed</a:t>
            </a:r>
            <a:r>
              <a:rPr lang="en" sz="1600"/>
              <a:t>. </a:t>
            </a:r>
            <a:r>
              <a:rPr lang="en" sz="1600"/>
              <a:t>Otherwise</a:t>
            </a:r>
            <a:r>
              <a:rPr lang="en" sz="1600"/>
              <a:t> results in </a:t>
            </a:r>
            <a:r>
              <a:rPr lang="en" sz="1600"/>
              <a:t>error.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Return statement </a:t>
            </a:r>
            <a:endParaRPr sz="3000"/>
          </a:p>
        </p:txBody>
      </p:sp>
      <p:sp>
        <p:nvSpPr>
          <p:cNvPr id="231" name="Google Shape;231;p29"/>
          <p:cNvSpPr txBox="1"/>
          <p:nvPr>
            <p:ph idx="1" type="body"/>
          </p:nvPr>
        </p:nvSpPr>
        <p:spPr>
          <a:xfrm>
            <a:off x="633845" y="1035887"/>
            <a:ext cx="7886700" cy="363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A function can use in its body a special statement: </a:t>
            </a:r>
            <a:endParaRPr sz="2000"/>
          </a:p>
          <a:p>
            <a:pPr indent="0" lvl="0" marL="13716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eturn &lt;expression&gt; # expression is optional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Return statement serves two purposes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Terminates the execution of the function and returns the control back to where the function was called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Returns a value to the caller 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A function execution can also terminate when its body finishes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Like having a return statement as the last statement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If some value specified in return - </a:t>
            </a:r>
            <a:r>
              <a:rPr lang="en" sz="2000"/>
              <a:t>that</a:t>
            </a:r>
            <a:r>
              <a:rPr lang="en" sz="2000"/>
              <a:t> is provided </a:t>
            </a:r>
            <a:r>
              <a:rPr lang="en" sz="2000"/>
              <a:t>at</a:t>
            </a:r>
            <a:r>
              <a:rPr lang="en" sz="2000"/>
              <a:t> </a:t>
            </a:r>
            <a:r>
              <a:rPr lang="en" sz="2000"/>
              <a:t>calling point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Otherwise the return value is treated as 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en" sz="2000"/>
              <a:t> (a special value)</a:t>
            </a:r>
            <a:endParaRPr sz="2000"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Note: In Python, functions can return multiple values. Just write each value/expression after return, </a:t>
            </a:r>
            <a:r>
              <a:rPr lang="en" sz="2000"/>
              <a:t>separated</a:t>
            </a:r>
            <a:r>
              <a:rPr lang="en" sz="2000"/>
              <a:t> by commas.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/>
          <p:nvPr>
            <p:ph idx="1" type="body"/>
          </p:nvPr>
        </p:nvSpPr>
        <p:spPr>
          <a:xfrm>
            <a:off x="685799" y="1035886"/>
            <a:ext cx="3834300" cy="2490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Order in which names of colors are printed when the program is executed?</a:t>
            </a:r>
            <a:endParaRPr sz="2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Red, Yellow, Blue, Green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Red, Green, Yellow, Blue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Yellow, Green, Blue, Red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Red, Yellow, Green, Blue</a:t>
            </a:r>
            <a:endParaRPr sz="2000"/>
          </a:p>
        </p:txBody>
      </p:sp>
      <p:sp>
        <p:nvSpPr>
          <p:cNvPr id="237" name="Google Shape;237;p30"/>
          <p:cNvSpPr txBox="1"/>
          <p:nvPr>
            <p:ph idx="2" type="body"/>
          </p:nvPr>
        </p:nvSpPr>
        <p:spPr>
          <a:xfrm>
            <a:off x="4683577" y="1035886"/>
            <a:ext cx="3828900" cy="3381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print("Red")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f(a, b):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s = a*b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print("Green")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return s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print("Yellow")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num1 = 10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num2 = 5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ans = f(10, 5)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print("Blue")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8" name="Google Shape;238;p30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- Single Correct</a:t>
            </a:r>
            <a:endParaRPr sz="3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>
            <p:ph idx="1" type="body"/>
          </p:nvPr>
        </p:nvSpPr>
        <p:spPr>
          <a:xfrm>
            <a:off x="685799" y="1035886"/>
            <a:ext cx="3834300" cy="2490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Order in which names of colors are printed when the program is executed?</a:t>
            </a:r>
            <a:endParaRPr sz="2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Red, Yellow, Blue, Green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Red, Green, Yellow, Blue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lang="en" sz="2000"/>
              <a:t>Yellow, Green, Blue, Red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AutoNum type="alphaUcPeriod"/>
            </a:pPr>
            <a:r>
              <a:rPr b="1" lang="en" sz="2000">
                <a:solidFill>
                  <a:srgbClr val="FF0000"/>
                </a:solidFill>
              </a:rPr>
              <a:t>Red, Yellow, Green, Blue</a:t>
            </a:r>
            <a:endParaRPr b="1" sz="2000">
              <a:solidFill>
                <a:srgbClr val="FF0000"/>
              </a:solidFill>
            </a:endParaRPr>
          </a:p>
        </p:txBody>
      </p:sp>
      <p:sp>
        <p:nvSpPr>
          <p:cNvPr id="244" name="Google Shape;244;p31"/>
          <p:cNvSpPr txBox="1"/>
          <p:nvPr>
            <p:ph idx="2" type="body"/>
          </p:nvPr>
        </p:nvSpPr>
        <p:spPr>
          <a:xfrm>
            <a:off x="4683577" y="1035886"/>
            <a:ext cx="3828900" cy="3381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print("Red")</a:t>
            </a:r>
            <a:r>
              <a:rPr b="1" lang="en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#1</a:t>
            </a:r>
            <a:endParaRPr b="1"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def f(a, b): </a:t>
            </a:r>
            <a:r>
              <a:rPr b="1" lang="en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#6</a:t>
            </a:r>
            <a:endParaRPr b="1"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s = a*b	</a:t>
            </a:r>
            <a:r>
              <a:rPr b="1" lang="en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#7</a:t>
            </a:r>
            <a:endParaRPr b="1"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print("Green") </a:t>
            </a:r>
            <a:r>
              <a:rPr b="1" lang="en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#8</a:t>
            </a:r>
            <a:endParaRPr b="1"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return s </a:t>
            </a:r>
            <a:r>
              <a:rPr b="1" lang="en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#9</a:t>
            </a:r>
            <a:endParaRPr b="1"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print("Yellow")</a:t>
            </a:r>
            <a:r>
              <a:rPr b="1" lang="en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#2</a:t>
            </a:r>
            <a:endParaRPr b="1"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num1 = 10 </a:t>
            </a:r>
            <a:r>
              <a:rPr b="1" lang="en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#3</a:t>
            </a:r>
            <a:endParaRPr b="1"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num2 = 5 </a:t>
            </a:r>
            <a:r>
              <a:rPr b="1" lang="en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#4</a:t>
            </a:r>
            <a:endParaRPr b="1"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ans = f(10, 5) </a:t>
            </a:r>
            <a:r>
              <a:rPr b="1" lang="en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#5</a:t>
            </a:r>
            <a:endParaRPr b="1"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print("Blue") </a:t>
            </a:r>
            <a:r>
              <a:rPr b="1" lang="en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#10</a:t>
            </a:r>
            <a:endParaRPr b="1"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5" name="Google Shape;245;p31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Quiz - Single Correct</a:t>
            </a:r>
            <a:endParaRPr sz="3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Argument</a:t>
            </a:r>
            <a:r>
              <a:rPr lang="en" sz="3000"/>
              <a:t> Passing </a:t>
            </a:r>
            <a:endParaRPr sz="3000"/>
          </a:p>
        </p:txBody>
      </p:sp>
      <p:sp>
        <p:nvSpPr>
          <p:cNvPr id="251" name="Google Shape;251;p32"/>
          <p:cNvSpPr txBox="1"/>
          <p:nvPr>
            <p:ph idx="1" type="body"/>
          </p:nvPr>
        </p:nvSpPr>
        <p:spPr>
          <a:xfrm>
            <a:off x="633845" y="1035887"/>
            <a:ext cx="7886700" cy="3393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A function definition may have parameters (or not) - these are available inside the function for use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Call to a function has arguments (or not)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When a function is called, argument values are assigned to the parameters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Positional arguments (also called required arguments) - arguments are </a:t>
            </a:r>
            <a:r>
              <a:rPr lang="en" sz="2000"/>
              <a:t>assigned</a:t>
            </a:r>
            <a:r>
              <a:rPr lang="en" sz="2000"/>
              <a:t> to parameters in order</a:t>
            </a:r>
            <a:endParaRPr sz="2000"/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2000"/>
              <a:t>Must have same number of arguments for calling</a:t>
            </a:r>
            <a:endParaRPr sz="2000"/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2000"/>
              <a:t>i-th argument value is assigned to i-th parameter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When a function is called, interpreter checks if the # of args is same as # of parms</a:t>
            </a:r>
            <a:endParaRPr sz="2000"/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2000"/>
              <a:t>If number of arguments is not same, error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Argument passing example</a:t>
            </a:r>
            <a:endParaRPr sz="3000"/>
          </a:p>
        </p:txBody>
      </p:sp>
      <p:pic>
        <p:nvPicPr>
          <p:cNvPr id="257" name="Google Shape;257;p33"/>
          <p:cNvPicPr preferRelativeResize="0"/>
          <p:nvPr/>
        </p:nvPicPr>
        <p:blipFill rotWithShape="1">
          <a:blip r:embed="rId3">
            <a:alphaModFix/>
          </a:blip>
          <a:srcRect b="0" l="11554" r="12028" t="0"/>
          <a:stretch/>
        </p:blipFill>
        <p:spPr>
          <a:xfrm>
            <a:off x="633850" y="1087750"/>
            <a:ext cx="3476049" cy="307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3"/>
          <p:cNvSpPr txBox="1"/>
          <p:nvPr>
            <p:ph idx="2" type="body"/>
          </p:nvPr>
        </p:nvSpPr>
        <p:spPr>
          <a:xfrm>
            <a:off x="4402400" y="1233275"/>
            <a:ext cx="3881700" cy="3117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The values 3 and 4 are passed as arguments for function 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" sz="2000"/>
              <a:t>.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The arguments values are copied to function parameters 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000"/>
              <a:t> and 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2000"/>
              <a:t>.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000"/>
              <a:t> </a:t>
            </a:r>
            <a:r>
              <a:rPr lang="en" sz="2000"/>
              <a:t>and 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2000"/>
              <a:t> are used for computing value of 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" sz="2000"/>
              <a:t>.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" sz="2000"/>
              <a:t> is returned by the function and assigned to </a:t>
            </a:r>
            <a:r>
              <a:rPr lang="en" sz="2000"/>
              <a:t>variable</a:t>
            </a:r>
            <a:r>
              <a:rPr lang="en" sz="2000"/>
              <a:t> ans.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The variable ans now holds the value 7 and is printed.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4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Argument Passing …</a:t>
            </a:r>
            <a:endParaRPr sz="3000"/>
          </a:p>
        </p:txBody>
      </p:sp>
      <p:sp>
        <p:nvSpPr>
          <p:cNvPr id="264" name="Google Shape;264;p34"/>
          <p:cNvSpPr txBox="1"/>
          <p:nvPr>
            <p:ph idx="1" type="body"/>
          </p:nvPr>
        </p:nvSpPr>
        <p:spPr>
          <a:xfrm>
            <a:off x="633845" y="1035887"/>
            <a:ext cx="7886700" cy="2285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rtl="0" algn="just"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Arguments can be pass by value or pass by reference</a:t>
            </a:r>
            <a:endParaRPr sz="2000"/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2000"/>
              <a:t>Pass by value - the value of arg is assigned to the parm</a:t>
            </a:r>
            <a:endParaRPr sz="2000"/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2000"/>
              <a:t>Pass by reference - a reference to the arg is assigned to the parm - in this case changes made by function can be reflected in the caller</a:t>
            </a:r>
            <a:endParaRPr sz="2000"/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2000"/>
              <a:t>Python uses pass by value, but in some cases, this value is a reference - we will discuss it later</a:t>
            </a:r>
            <a:endParaRPr sz="20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2000"/>
              <a:t>Complex objects can also be passed as arguments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