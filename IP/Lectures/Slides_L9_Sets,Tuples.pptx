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Quattrocento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QuattrocentoSans-bold.fntdata"/><Relationship Id="rId41" Type="http://schemas.openxmlformats.org/officeDocument/2006/relationships/font" Target="fonts/QuattrocentoSans-regular.fntdata"/><Relationship Id="rId22" Type="http://schemas.openxmlformats.org/officeDocument/2006/relationships/slide" Target="slides/slide17.xml"/><Relationship Id="rId44" Type="http://schemas.openxmlformats.org/officeDocument/2006/relationships/font" Target="fonts/Quattrocento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QuattrocentoSans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b705fbb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0b705fbb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0dd9e1597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0dd9e1597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0dd9e1597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0dd9e1597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0dd9e15973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0dd9e15973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0dd9e1597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0dd9e1597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12195c70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112195c70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d570cd3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0d570cd3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0dd9e1597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0dd9e1597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0d570cd3e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0d570cd3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0b10b7f46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0b10b7f46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0dd9e15973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0dd9e15973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112195c7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112195c7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0b10b7f46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0b10b7f46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0dd9e15973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0dd9e15973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0dd9e15973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0dd9e15973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10dd3f36b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10dd3f36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0dd9e15973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0dd9e15973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11161fe5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11161fe5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0dd9e15973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0dd9e15973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0dd9e1597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0dd9e1597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112195c70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112195c70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0d570cd3e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0d570cd3e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0b10b7f4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0b10b7f4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0b10b7f46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0b10b7f46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0b10b7f46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0b10b7f46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11161fe50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11161fe50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112195c70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112195c70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b10b7f46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b10b7f46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11161fe50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11161fe50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112195c70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112195c70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112195c70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112195c70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0dd9e15973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0dd9e15973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112195c97f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112195c97f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0dd9e15973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10dd9e15973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EADA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IITD_pptslide_jpeg-03.jpg" id="12" name="Google Shape;12;p2"/>
          <p:cNvPicPr preferRelativeResize="0"/>
          <p:nvPr/>
        </p:nvPicPr>
        <p:blipFill rotWithShape="1">
          <a:blip r:embed="rId2">
            <a:alphaModFix/>
          </a:blip>
          <a:srcRect b="0" l="72917" r="0" t="69259"/>
          <a:stretch/>
        </p:blipFill>
        <p:spPr>
          <a:xfrm>
            <a:off x="7286625" y="3562350"/>
            <a:ext cx="1857374" cy="158115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797753"/>
            <a:ext cx="7315200" cy="14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Quattrocento Sans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9F7F6"/>
              </a:buClr>
              <a:buSzPts val="1800"/>
              <a:buNone/>
              <a:defRPr sz="1800">
                <a:solidFill>
                  <a:srgbClr val="E9F7F6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11480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685800" y="2317221"/>
            <a:ext cx="777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401088"/>
            <a:ext cx="2260623" cy="1244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" name="Google Shape;26;p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title"/>
          </p:nvPr>
        </p:nvSpPr>
        <p:spPr>
          <a:xfrm>
            <a:off x="623888" y="1284317"/>
            <a:ext cx="78867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500"/>
              <a:buFont typeface="Quattrocento Sans"/>
              <a:buNone/>
              <a:defRPr b="0"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623888" y="3414475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/>
          <p:nvPr>
            <p:ph idx="1" type="body"/>
          </p:nvPr>
        </p:nvSpPr>
        <p:spPr>
          <a:xfrm>
            <a:off x="633845" y="1035887"/>
            <a:ext cx="38862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43" name="Google Shape;43;p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" name="Google Shape;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" type="body"/>
          </p:nvPr>
        </p:nvSpPr>
        <p:spPr>
          <a:xfrm>
            <a:off x="633845" y="1035886"/>
            <a:ext cx="3867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633845" y="1655160"/>
            <a:ext cx="38670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4629150" y="1035887"/>
            <a:ext cx="38862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4629150" y="1655160"/>
            <a:ext cx="38862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55" name="Google Shape;55;p6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63" name="Google Shape;63;p7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4" name="Google Shape;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>
            <p:ph type="title"/>
          </p:nvPr>
        </p:nvSpPr>
        <p:spPr>
          <a:xfrm>
            <a:off x="630936" y="342900"/>
            <a:ext cx="2949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630936" y="1543049"/>
            <a:ext cx="2949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9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/>
          <p:nvPr>
            <p:ph type="title"/>
          </p:nvPr>
        </p:nvSpPr>
        <p:spPr>
          <a:xfrm>
            <a:off x="630936" y="342900"/>
            <a:ext cx="2949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630936" y="1543050"/>
            <a:ext cx="2949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" name="Google Shape;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2777646" y="-1107913"/>
            <a:ext cx="3599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96" name="Google Shape;96;p11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type="title"/>
          </p:nvPr>
        </p:nvSpPr>
        <p:spPr>
          <a:xfrm rot="5400000">
            <a:off x="5350050" y="1463972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" type="body"/>
          </p:nvPr>
        </p:nvSpPr>
        <p:spPr>
          <a:xfrm rot="5400000">
            <a:off x="1349475" y="-450628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>
            <a:off x="6543675" y="277589"/>
            <a:ext cx="0" cy="435480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685799" y="1035886"/>
            <a:ext cx="38343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2" type="body"/>
          </p:nvPr>
        </p:nvSpPr>
        <p:spPr>
          <a:xfrm>
            <a:off x="4683577" y="1035886"/>
            <a:ext cx="3828900" cy="3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13" name="Google Shape;113;p1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685799" y="946718"/>
            <a:ext cx="38151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685799" y="1616168"/>
            <a:ext cx="38151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19" name="Google Shape;119;p14"/>
          <p:cNvSpPr txBox="1"/>
          <p:nvPr>
            <p:ph idx="3" type="body"/>
          </p:nvPr>
        </p:nvSpPr>
        <p:spPr>
          <a:xfrm>
            <a:off x="4672693" y="946716"/>
            <a:ext cx="3828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14"/>
          <p:cNvSpPr txBox="1"/>
          <p:nvPr>
            <p:ph idx="4" type="body"/>
          </p:nvPr>
        </p:nvSpPr>
        <p:spPr>
          <a:xfrm>
            <a:off x="4672693" y="1616168"/>
            <a:ext cx="38289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25" name="Google Shape;125;p14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33" name="Google Shape;133;p1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138" name="Google Shape;138;p16"/>
          <p:cNvSpPr txBox="1"/>
          <p:nvPr>
            <p:ph idx="2" type="body"/>
          </p:nvPr>
        </p:nvSpPr>
        <p:spPr>
          <a:xfrm>
            <a:off x="630936" y="1643745"/>
            <a:ext cx="29490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39" name="Google Shape;13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6"/>
          <p:cNvSpPr txBox="1"/>
          <p:nvPr>
            <p:ph type="title"/>
          </p:nvPr>
        </p:nvSpPr>
        <p:spPr>
          <a:xfrm>
            <a:off x="630936" y="342900"/>
            <a:ext cx="2949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43" name="Google Shape;143;p16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>
            <p:ph idx="2" type="pic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630936" y="1643745"/>
            <a:ext cx="29490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52" name="Google Shape;152;p17"/>
          <p:cNvSpPr txBox="1"/>
          <p:nvPr>
            <p:ph type="title"/>
          </p:nvPr>
        </p:nvSpPr>
        <p:spPr>
          <a:xfrm>
            <a:off x="630936" y="342900"/>
            <a:ext cx="2949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53" name="Google Shape;153;p17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Vertical Text">
  <p:cSld name="1_Title and Vertical 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>
            <p:ph idx="1" type="body"/>
          </p:nvPr>
        </p:nvSpPr>
        <p:spPr>
          <a:xfrm rot="5400000">
            <a:off x="2786946" y="-1122314"/>
            <a:ext cx="3575400" cy="7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62" name="Google Shape;162;p18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33845" y="27432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300"/>
              <a:buFont typeface="Quattrocento Sans"/>
              <a:buNone/>
              <a:defRPr b="0" i="0" sz="3300" u="none" cap="none" strike="noStrik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33845" y="137160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ctrTitle"/>
          </p:nvPr>
        </p:nvSpPr>
        <p:spPr>
          <a:xfrm>
            <a:off x="1143000" y="797753"/>
            <a:ext cx="7315200" cy="1406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Structured Types </a:t>
            </a:r>
            <a:br>
              <a:rPr lang="en"/>
            </a:br>
            <a:r>
              <a:rPr lang="en"/>
              <a:t>Sets, Tuples, Dictionaries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74" name="Google Shape;174;p20"/>
          <p:cNvSpPr txBox="1"/>
          <p:nvPr>
            <p:ph idx="1" type="body"/>
          </p:nvPr>
        </p:nvSpPr>
        <p:spPr>
          <a:xfrm>
            <a:off x="633845" y="1035887"/>
            <a:ext cx="7886700" cy="2978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Variables point to objects of different types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Objects can be of scalar types: int, float, boolean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Objects can be structured/ compound types; built-in are: lists, strings, sets, tuples, dictionaries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structured types, you can perform operations on the whole object, but can also extract items from it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 far we have discussed lists and strings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Now we will discuss the remaining ones: </a:t>
            </a:r>
            <a:r>
              <a:rPr lang="en"/>
              <a:t>tuples, sets, dictionaries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Dictionaries in particular are very commonly used, and like strings, are a strength of python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r>
              <a:rPr lang="en"/>
              <a:t> - Lists</a:t>
            </a:r>
            <a:endParaRPr/>
          </a:p>
        </p:txBody>
      </p:sp>
      <p:sp>
        <p:nvSpPr>
          <p:cNvPr id="180" name="Google Shape;180;p21"/>
          <p:cNvSpPr txBox="1"/>
          <p:nvPr>
            <p:ph idx="1" type="body"/>
          </p:nvPr>
        </p:nvSpPr>
        <p:spPr>
          <a:xfrm>
            <a:off x="633845" y="1035887"/>
            <a:ext cx="7886700" cy="326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Lists are a list of items in brackets, eg. [1, 4, 9, "str</a:t>
            </a:r>
            <a:r>
              <a:rPr lang="en"/>
              <a:t>", 5.0, </a:t>
            </a:r>
            <a:r>
              <a:rPr lang="en"/>
              <a:t>4</a:t>
            </a:r>
            <a:r>
              <a:rPr lang="en"/>
              <a:t>]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Lists are mutable, can change the items like L[index] = val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slice a list to get a sublist - from start or from end of list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Joining or repeating lists by operations: + , *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Functions with list as parameter: len(), sum()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Presence/absence of item by ops: in, not in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Ops on a list: append(), insert(), extend(), remove(), pop(), index(), reverse(), count(), copy(), sort()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easily loop over list items - item by item, or using index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Lists can be nested - i.e. list items are themselves lists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 comprehension a compact way to create lists from lists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r>
              <a:rPr lang="en"/>
              <a:t> - Strings</a:t>
            </a:r>
            <a:endParaRPr/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633845" y="1035887"/>
            <a:ext cx="7886700" cy="239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Strings are like "Hello hi" or 'Hi Hello' ; can loop over chars in str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 are immutable, cannot change any item of a string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slice a string to get substrings - from start or from end 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Functions: len(), in, not in, + , *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split strings into a list of items using s.split()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join a list of strings to form one using join()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String operations (return a new string): lower(), upper(), replace(), count(), find(), isdigit(), 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Creation using list() and str()</a:t>
            </a:r>
            <a:endParaRPr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can also create a list using the constructor function</a:t>
            </a:r>
            <a:r>
              <a:rPr lang="en"/>
              <a:t> list()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takes one parameter, and all elements of it become elts of list</a:t>
            </a:r>
            <a:endParaRPr/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list("str") is [</a:t>
            </a:r>
            <a:r>
              <a:rPr lang="en"/>
              <a:t>'s', 't', 'r']</a:t>
            </a:r>
            <a:endParaRPr/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list((1, 3, 5)) is [1, 3, 5] # list(1,3,5) is error - one arg allowed</a:t>
            </a:r>
            <a:endParaRPr/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list() returns a null list []</a:t>
            </a:r>
            <a:endParaRPr/>
          </a:p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String also has a constructor: str(arg) : takes whatever is the argument and returns as a string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		str(54) returns '54', str([1,4]) returns '[1, 4]', …</a:t>
            </a:r>
            <a:endParaRPr/>
          </a:p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Such constructors are much more useful in converting objects of one structured type to another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 Strings</a:t>
            </a:r>
            <a:endParaRPr/>
          </a:p>
        </p:txBody>
      </p:sp>
      <p:sp>
        <p:nvSpPr>
          <p:cNvPr id="198" name="Google Shape;198;p24"/>
          <p:cNvSpPr txBox="1"/>
          <p:nvPr>
            <p:ph idx="1" type="body"/>
          </p:nvPr>
        </p:nvSpPr>
        <p:spPr>
          <a:xfrm>
            <a:off x="633845" y="1035887"/>
            <a:ext cx="7886700" cy="357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Format strings help format the output. So far to print, we have been using</a:t>
            </a:r>
            <a:br>
              <a:rPr lang="en"/>
            </a:br>
            <a:r>
              <a:rPr lang="en"/>
              <a:t>	</a:t>
            </a: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print(str, var, str, var, …)  #Strings and vars separated by ,</a:t>
            </a:r>
            <a:br>
              <a:rPr b="1" lang="en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	print("The age of: </a:t>
            </a: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", name, " is ", age, "on: ", date)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2100"/>
              <a:t>Can become hard to read, and map output to the print stmt.</a:t>
            </a:r>
            <a:endParaRPr sz="21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Better methods needed to mix commentary-strings and values being printed - f strings are commonly used now.</a:t>
            </a:r>
            <a:endParaRPr/>
          </a:p>
          <a:p>
            <a:pPr indent="45720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print(f'</a:t>
            </a: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The age of {name} is {age} on {date} ')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Format strings - prefix str with f with expressions/vars embedded in it between { } - their values replace them at processing time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There are other older methods also to do formatting - using %, or the function string.format()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3579453" y="2289975"/>
            <a:ext cx="1985100" cy="762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Sets</a:t>
            </a:r>
            <a:endParaRPr sz="5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Sets</a:t>
            </a:r>
            <a:endParaRPr/>
          </a:p>
        </p:txBody>
      </p:sp>
      <p:sp>
        <p:nvSpPr>
          <p:cNvPr id="209" name="Google Shape;209;p26"/>
          <p:cNvSpPr txBox="1"/>
          <p:nvPr>
            <p:ph idx="1" type="body"/>
          </p:nvPr>
        </p:nvSpPr>
        <p:spPr>
          <a:xfrm>
            <a:off x="633845" y="1035887"/>
            <a:ext cx="7886700" cy="341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Sets</a:t>
            </a:r>
            <a:r>
              <a:rPr lang="en"/>
              <a:t> are like the mathematical concept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Used to store multiple items - items can be of different types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set is unordered, unindexed, and without duplicates 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Sets are written with curly brackets, Examples:-</a:t>
            </a:r>
            <a:endParaRPr/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Int_set = {1, 3, 5, 8}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colors  = {"red", "blue", "yellow"}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 itself is mutable - can change a set by deleting, adding,...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However, s</a:t>
            </a:r>
            <a:r>
              <a:rPr lang="en"/>
              <a:t>et values are immutable - so can have strings, int, float, but not lists as set items. 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Example: s = {1,2, </a:t>
            </a:r>
            <a:r>
              <a:rPr lang="en">
                <a:solidFill>
                  <a:srgbClr val="FF0000"/>
                </a:solidFill>
              </a:rPr>
              <a:t>[1,2] </a:t>
            </a:r>
            <a:r>
              <a:rPr lang="en"/>
              <a:t>} will give the following error: </a:t>
            </a:r>
            <a:r>
              <a:rPr lang="en">
                <a:solidFill>
                  <a:srgbClr val="FF0000"/>
                </a:solidFill>
              </a:rPr>
              <a:t>TypeError: unhashable type: 'list'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Sets - Unordered but Iterable</a:t>
            </a:r>
            <a:endParaRPr/>
          </a:p>
        </p:txBody>
      </p:sp>
      <p:sp>
        <p:nvSpPr>
          <p:cNvPr id="215" name="Google Shape;215;p27"/>
          <p:cNvSpPr txBox="1"/>
          <p:nvPr>
            <p:ph idx="1" type="body"/>
          </p:nvPr>
        </p:nvSpPr>
        <p:spPr>
          <a:xfrm>
            <a:off x="633845" y="1035887"/>
            <a:ext cx="7886700" cy="231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Sets </a:t>
            </a:r>
            <a:r>
              <a:rPr lang="en"/>
              <a:t>don't</a:t>
            </a:r>
            <a:r>
              <a:rPr lang="en"/>
              <a:t> have order - cannot refer to nth item; internally also python may save them in its own order, e.g.</a:t>
            </a:r>
            <a:endParaRPr/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 = {'q', 'u', 'u', 'x'}, value of s is: {'x', 'u', 'q'}</a:t>
            </a:r>
            <a:endParaRPr/>
          </a:p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However we can loop over a set - it will go over all items (in some order), but cannot loop over them by index, as in list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len() function is also defined - returns the number of items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</a:t>
            </a:r>
            <a:r>
              <a:rPr lang="en"/>
              <a:t>n  and not in operations also work as with list/ str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Operations - Example</a:t>
            </a:r>
            <a:endParaRPr/>
          </a:p>
        </p:txBody>
      </p:sp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633850" y="1035875"/>
            <a:ext cx="3882600" cy="348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Can loop through set items:</a:t>
            </a:r>
            <a:endParaRPr sz="1500"/>
          </a:p>
          <a:p>
            <a:pPr indent="45720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f</a:t>
            </a:r>
            <a:r>
              <a:rPr lang="en" sz="1500"/>
              <a:t>or item in &lt;set&gt;:</a:t>
            </a:r>
            <a:endParaRPr sz="1500"/>
          </a:p>
          <a:p>
            <a:pPr indent="45720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	&lt;loop-body&gt;</a:t>
            </a:r>
            <a:endParaRPr sz="15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Cannot loop using index - as items are not ordered as in list</a:t>
            </a:r>
            <a:endParaRPr sz="15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Can check presence/absence of an item in a set by </a:t>
            </a:r>
            <a:r>
              <a:rPr i="1" lang="en" sz="1500"/>
              <a:t>in</a:t>
            </a:r>
            <a:r>
              <a:rPr lang="en" sz="1500"/>
              <a:t> and </a:t>
            </a:r>
            <a:r>
              <a:rPr i="1" lang="en" sz="1500"/>
              <a:t>not in</a:t>
            </a:r>
            <a:endParaRPr i="1" sz="15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FF"/>
              </a:solidFill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print(“hello” in s) # True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print(“Hello” in s) # False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print(1 not in s) # False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print(“Hello” not in s) # True</a:t>
            </a:r>
            <a:endParaRPr b="1"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28"/>
          <p:cNvSpPr txBox="1"/>
          <p:nvPr>
            <p:ph idx="1" type="body"/>
          </p:nvPr>
        </p:nvSpPr>
        <p:spPr>
          <a:xfrm>
            <a:off x="4673950" y="1035875"/>
            <a:ext cx="3882600" cy="38220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s = {1,2,"hello", "world",1,2}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print(s) # {1, 2, 'hello', 'world'}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print(len(s)) # 4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print(type(s)) # &lt;class 'set'&gt;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for element in s: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	print(element)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	1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	2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	hello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	world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Operations to Modify a Set</a:t>
            </a:r>
            <a:endParaRPr/>
          </a:p>
        </p:txBody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633845" y="1035887"/>
            <a:ext cx="7886700" cy="301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Following operations are allowed on a set s (modifies the set s)</a:t>
            </a:r>
            <a:endParaRPr/>
          </a:p>
          <a:p>
            <a:pPr indent="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s.add(item)</a:t>
            </a:r>
            <a:r>
              <a:rPr lang="en"/>
              <a:t> # will add item to s, if does not already exist</a:t>
            </a:r>
            <a:endParaRPr/>
          </a:p>
          <a:p>
            <a:pPr indent="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s.remove(item)</a:t>
            </a:r>
            <a:r>
              <a:rPr lang="en"/>
              <a:t> # will remove item if it exists, error otherwise</a:t>
            </a:r>
            <a:endParaRPr/>
          </a:p>
          <a:p>
            <a:pPr indent="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s.discard(item)</a:t>
            </a:r>
            <a:r>
              <a:rPr lang="en"/>
              <a:t> # no error if item does not exist</a:t>
            </a:r>
            <a:endParaRPr/>
          </a:p>
          <a:p>
            <a:pPr indent="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s.clear()</a:t>
            </a:r>
            <a:r>
              <a:rPr lang="en"/>
              <a:t> # clears the set</a:t>
            </a:r>
            <a:endParaRPr/>
          </a:p>
          <a:p>
            <a:pPr indent="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s.update(s2)</a:t>
            </a:r>
            <a:r>
              <a:rPr lang="en"/>
              <a:t> # s2 is a set, list, tuple: adds elts of s2 to s - duplicates dropped, i.e. does a union operation</a:t>
            </a:r>
            <a:endParaRPr/>
          </a:p>
          <a:p>
            <a:pPr indent="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del s</a:t>
            </a:r>
            <a:r>
              <a:rPr lang="en"/>
              <a:t> # Completely deletes the set 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- Single Correct</a:t>
            </a:r>
            <a:endParaRPr/>
          </a:p>
        </p:txBody>
      </p:sp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633847" y="1035875"/>
            <a:ext cx="3494100" cy="261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would be the output of the code given at </a:t>
            </a:r>
            <a:r>
              <a:rPr lang="en"/>
              <a:t>the right?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a.) [1,2,3,4,4,5,6]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b.) {1,2,3,4,5,6}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c.) {1,2,3, [4,5,6]}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d.) [1,2,3,4,4, 5,6]</a:t>
            </a:r>
            <a:endParaRPr/>
          </a:p>
        </p:txBody>
      </p:sp>
      <p:sp>
        <p:nvSpPr>
          <p:cNvPr id="235" name="Google Shape;235;p30"/>
          <p:cNvSpPr txBox="1"/>
          <p:nvPr>
            <p:ph idx="1" type="body"/>
          </p:nvPr>
        </p:nvSpPr>
        <p:spPr>
          <a:xfrm>
            <a:off x="5006150" y="1113025"/>
            <a:ext cx="3494100" cy="1964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b="1" lang="en" sz="15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s = {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1, 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2, 3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, 4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 = [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,5,6]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s.update(L)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print(s)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- Single Correct</a:t>
            </a:r>
            <a:endParaRPr/>
          </a:p>
        </p:txBody>
      </p:sp>
      <p:sp>
        <p:nvSpPr>
          <p:cNvPr id="241" name="Google Shape;241;p31"/>
          <p:cNvSpPr txBox="1"/>
          <p:nvPr>
            <p:ph idx="1" type="body"/>
          </p:nvPr>
        </p:nvSpPr>
        <p:spPr>
          <a:xfrm>
            <a:off x="633847" y="1035875"/>
            <a:ext cx="3494100" cy="34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would be the output of the code given at the right?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a.) [1,2,3,4,4,5,6]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b.) </a:t>
            </a:r>
            <a:r>
              <a:rPr b="1" lang="en">
                <a:solidFill>
                  <a:srgbClr val="FF0000"/>
                </a:solidFill>
              </a:rPr>
              <a:t>{1,2,3,4,5,6}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c.) {1,2,3, [4,5,6]}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d.) Error</a:t>
            </a:r>
            <a:br>
              <a:rPr lang="en"/>
            </a:br>
            <a:br>
              <a:rPr lang="en"/>
            </a:br>
            <a:r>
              <a:rPr lang="en">
                <a:solidFill>
                  <a:srgbClr val="FF0000"/>
                </a:solidFill>
              </a:rPr>
              <a:t>Explanation: s.update(s2) adds elts of s2 to s, no duplicates</a:t>
            </a:r>
            <a:endParaRPr/>
          </a:p>
        </p:txBody>
      </p:sp>
      <p:sp>
        <p:nvSpPr>
          <p:cNvPr id="242" name="Google Shape;242;p31"/>
          <p:cNvSpPr txBox="1"/>
          <p:nvPr>
            <p:ph idx="1" type="body"/>
          </p:nvPr>
        </p:nvSpPr>
        <p:spPr>
          <a:xfrm>
            <a:off x="5006150" y="1113025"/>
            <a:ext cx="3494100" cy="1964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b="1" lang="en" sz="15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s = {1, 2, 3, 4}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 = [4,5,6]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s.update(L)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print(s)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Operations on Sets</a:t>
            </a:r>
            <a:endParaRPr/>
          </a:p>
        </p:txBody>
      </p:sp>
      <p:sp>
        <p:nvSpPr>
          <p:cNvPr id="248" name="Google Shape;248;p32"/>
          <p:cNvSpPr txBox="1"/>
          <p:nvPr>
            <p:ph idx="1" type="body"/>
          </p:nvPr>
        </p:nvSpPr>
        <p:spPr>
          <a:xfrm>
            <a:off x="633845" y="1035887"/>
            <a:ext cx="7886700" cy="366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In these operations the original sets remain unchanged and a new set is returned.</a:t>
            </a:r>
            <a:endParaRPr/>
          </a:p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s1.union(s2)</a:t>
            </a:r>
            <a:r>
              <a:rPr lang="en"/>
              <a:t> # returns the union of s1 and s2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also be done by s1 | s2 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have union of multiple sets, s1.union(s2, s3); s1|s2|s3</a:t>
            </a:r>
            <a:br>
              <a:rPr lang="en"/>
            </a:b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s1.intersection(s2)</a:t>
            </a:r>
            <a:r>
              <a:rPr lang="en"/>
              <a:t> # the intersection of s1 and s2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also be done by: s1 &amp; s2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have intersection of multiple sets.</a:t>
            </a:r>
            <a:br>
              <a:rPr lang="en"/>
            </a:b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s1.difference(s2)</a:t>
            </a:r>
            <a:r>
              <a:rPr lang="en"/>
              <a:t>  # items in s1 which are not in s2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also be done by: s1 - s2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Operations on Sets</a:t>
            </a:r>
            <a:endParaRPr/>
          </a:p>
        </p:txBody>
      </p:sp>
      <p:sp>
        <p:nvSpPr>
          <p:cNvPr id="254" name="Google Shape;254;p33"/>
          <p:cNvSpPr txBox="1"/>
          <p:nvPr>
            <p:ph idx="1" type="body"/>
          </p:nvPr>
        </p:nvSpPr>
        <p:spPr>
          <a:xfrm>
            <a:off x="633845" y="1035887"/>
            <a:ext cx="7886700" cy="268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s1.symmetric_difference(s2)</a:t>
            </a:r>
            <a:r>
              <a:rPr lang="en"/>
              <a:t> # items in s1 or s</a:t>
            </a:r>
            <a:r>
              <a:rPr lang="en"/>
              <a:t>2 but not both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also be done by: </a:t>
            </a:r>
            <a:r>
              <a:rPr lang="en"/>
              <a:t>s1 ^ s2</a:t>
            </a:r>
            <a:br>
              <a:rPr lang="en"/>
            </a:b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s1.isdisjoint(s2)</a:t>
            </a:r>
            <a:r>
              <a:rPr lang="en"/>
              <a:t> # True if s1 and s2 are disjoint 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s1.issubset(s2)</a:t>
            </a:r>
            <a:r>
              <a:rPr lang="en"/>
              <a:t> # True if s1 is subset of s2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s1.issuperset(s2)</a:t>
            </a:r>
            <a:r>
              <a:rPr lang="en"/>
              <a:t> # is s1 a superset of s2</a:t>
            </a:r>
            <a:br>
              <a:rPr lang="en"/>
            </a:b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Relational operators (&lt;, &lt;=, &gt;, &gt;=, ==, !=) also defined: </a:t>
            </a:r>
            <a:br>
              <a:rPr lang="en"/>
            </a:br>
            <a:r>
              <a:rPr lang="en"/>
              <a:t>s1 &lt; s2 if s1 is a subset of s2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- Single Correct</a:t>
            </a:r>
            <a:endParaRPr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633850" y="1035875"/>
            <a:ext cx="3938100" cy="261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would be the output of the code given at the right?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a.) {1, 4}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b.) {1,2,3,2,3,4}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c.) {1,2,3,4}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d.) {2,3}</a:t>
            </a:r>
            <a:endParaRPr/>
          </a:p>
        </p:txBody>
      </p:sp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4902875" y="1035875"/>
            <a:ext cx="3494100" cy="2055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 = {1, 2, 3}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b = {2, 3, 4}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res = (a-b)|(b-a)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print(res)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- Single Correct</a:t>
            </a:r>
            <a:endParaRPr/>
          </a:p>
        </p:txBody>
      </p:sp>
      <p:sp>
        <p:nvSpPr>
          <p:cNvPr id="267" name="Google Shape;267;p35"/>
          <p:cNvSpPr txBox="1"/>
          <p:nvPr>
            <p:ph idx="1" type="body"/>
          </p:nvPr>
        </p:nvSpPr>
        <p:spPr>
          <a:xfrm>
            <a:off x="633850" y="1035875"/>
            <a:ext cx="3938100" cy="261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would be the output of the code given at the right?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a.) {1, 4}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b.) {1,2,3,2,3,4}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c.) {1,2,3,4}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d.) {2,3}</a:t>
            </a:r>
            <a:endParaRPr/>
          </a:p>
        </p:txBody>
      </p:sp>
      <p:sp>
        <p:nvSpPr>
          <p:cNvPr id="268" name="Google Shape;268;p35"/>
          <p:cNvSpPr txBox="1"/>
          <p:nvPr>
            <p:ph idx="1" type="body"/>
          </p:nvPr>
        </p:nvSpPr>
        <p:spPr>
          <a:xfrm>
            <a:off x="4902875" y="1035875"/>
            <a:ext cx="3494100" cy="2055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 = {1, 2, 3}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b = {2, 3, 4}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res = (a-b)|(b-a) 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print(res)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633850" y="3925975"/>
            <a:ext cx="46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Explanation : (a-b)|(b-a) = {1} union {4} = {1,4} 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Example</a:t>
            </a:r>
            <a:r>
              <a:rPr lang="en"/>
              <a:t>s</a:t>
            </a:r>
            <a:endParaRPr/>
          </a:p>
        </p:txBody>
      </p:sp>
      <p:sp>
        <p:nvSpPr>
          <p:cNvPr id="275" name="Google Shape;275;p36"/>
          <p:cNvSpPr txBox="1"/>
          <p:nvPr>
            <p:ph idx="1" type="body"/>
          </p:nvPr>
        </p:nvSpPr>
        <p:spPr>
          <a:xfrm>
            <a:off x="251800" y="1035875"/>
            <a:ext cx="4392300" cy="353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</a:t>
            </a:r>
            <a:r>
              <a:rPr lang="en" sz="1500"/>
              <a:t>etermine if all vowels are present or not in a string </a:t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Note: For this problem uppercase/lowercase letters are still just vowels (or not)</a:t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500"/>
            </a:br>
            <a:r>
              <a:rPr b="1" lang="en" sz="1500"/>
              <a:t>Test case 1:</a:t>
            </a:r>
            <a:endParaRPr b="1"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Input string: "CSE101 : Introduction to programming "</a:t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Output: </a:t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All vowels present</a:t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Test case 2: </a:t>
            </a:r>
            <a:endParaRPr b="1"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Input string: </a:t>
            </a:r>
            <a:r>
              <a:rPr lang="en" sz="1500"/>
              <a:t>"CS101 : </a:t>
            </a:r>
            <a:r>
              <a:rPr lang="en" sz="1500"/>
              <a:t>Introduction</a:t>
            </a:r>
            <a:r>
              <a:rPr lang="en" sz="1500"/>
              <a:t> to programming "</a:t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Output: </a:t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Not all vowels present</a:t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Missing : { 'e'}</a:t>
            </a:r>
            <a:endParaRPr sz="1500"/>
          </a:p>
        </p:txBody>
      </p:sp>
      <p:sp>
        <p:nvSpPr>
          <p:cNvPr id="276" name="Google Shape;276;p36"/>
          <p:cNvSpPr txBox="1"/>
          <p:nvPr>
            <p:ph idx="1" type="body"/>
          </p:nvPr>
        </p:nvSpPr>
        <p:spPr>
          <a:xfrm>
            <a:off x="4863950" y="1141125"/>
            <a:ext cx="4090500" cy="27846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s = input("Enter a string")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l = s.lower() #all lowercase letters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vowel = {'a', 'e', 'i', 'o', 'u'}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l_set = set(l) # removes duplicates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if len(l_set.intersection(vowel))==5: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print("All vowels present")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miss = vowel.difference(l_set)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print("Not all vowels present")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print("Missing :",miss)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</a:t>
            </a:r>
            <a:r>
              <a:rPr lang="en"/>
              <a:t>Examples</a:t>
            </a:r>
            <a:endParaRPr/>
          </a:p>
        </p:txBody>
      </p:sp>
      <p:sp>
        <p:nvSpPr>
          <p:cNvPr id="282" name="Google Shape;282;p37"/>
          <p:cNvSpPr txBox="1"/>
          <p:nvPr>
            <p:ph idx="1" type="body"/>
          </p:nvPr>
        </p:nvSpPr>
        <p:spPr>
          <a:xfrm>
            <a:off x="288525" y="1035875"/>
            <a:ext cx="3500700" cy="33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Determine if a string is a Pangram or not. A Pangram is a string that contains every letter in the English alphabet.</a:t>
            </a:r>
            <a:br>
              <a:rPr lang="en" sz="1400"/>
            </a:br>
            <a:endParaRPr sz="14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Test case 1:</a:t>
            </a:r>
            <a:endParaRPr b="1" sz="14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Input string: "The quick brown fox jumps over the lazy dog"</a:t>
            </a:r>
            <a:endParaRPr sz="14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Output: </a:t>
            </a:r>
            <a:endParaRPr sz="14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Pangram</a:t>
            </a:r>
            <a:endParaRPr sz="14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Test case 2: </a:t>
            </a:r>
            <a:endParaRPr b="1" sz="14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Input string: "The quick fox jumps over the lazy dog"</a:t>
            </a:r>
            <a:endParaRPr sz="14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Output: </a:t>
            </a:r>
            <a:endParaRPr sz="14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Not a pangram</a:t>
            </a:r>
            <a:endParaRPr sz="1400"/>
          </a:p>
        </p:txBody>
      </p:sp>
      <p:sp>
        <p:nvSpPr>
          <p:cNvPr id="283" name="Google Shape;283;p37"/>
          <p:cNvSpPr txBox="1"/>
          <p:nvPr>
            <p:ph idx="1" type="body"/>
          </p:nvPr>
        </p:nvSpPr>
        <p:spPr>
          <a:xfrm>
            <a:off x="3789225" y="1167450"/>
            <a:ext cx="4789200" cy="2839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s = input("Enter a string")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 = s.lower()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ls = set(l) # Remove duplicates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# Remove digits or special chars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chars = [ch for ch in ls if ch&gt;='a'and ch&lt;='z']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if len(chars)==26: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print('Pangram')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br>
              <a:rPr b="1" lang="en" sz="15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print("Not a pangram")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Comprehensions</a:t>
            </a:r>
            <a:endParaRPr/>
          </a:p>
        </p:txBody>
      </p:sp>
      <p:sp>
        <p:nvSpPr>
          <p:cNvPr id="289" name="Google Shape;289;p38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Are just like list comprehensions - can be used to create new sets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Original example we had:</a:t>
            </a:r>
            <a:endParaRPr/>
          </a:p>
          <a:p>
            <a:pPr indent="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S = {x: x=n*(n+1) where 0&lt;n&lt;6}  # from CBSE book</a:t>
            </a:r>
            <a:endParaRPr sz="2000"/>
          </a:p>
          <a:p>
            <a:pPr indent="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Ans: S = {2, 6, 12, 20, 30}</a:t>
            </a:r>
            <a:endParaRPr sz="2000"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 comprehension for this</a:t>
            </a:r>
            <a:r>
              <a:rPr lang="en"/>
              <a:t>:</a:t>
            </a:r>
            <a:endParaRPr/>
          </a:p>
          <a:p>
            <a:pPr indent="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S = {n*(n+1) for n in range(1,6)}</a:t>
            </a:r>
            <a:endParaRPr sz="2000"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 comprehension :</a:t>
            </a:r>
            <a:endParaRPr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/>
              <a:t>newset = { expr(elt) for elt in list/set if condition } </a:t>
            </a:r>
            <a:endParaRPr sz="2000"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Sets can also be created by constructor: set(list/tuple) 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Frozen Sets</a:t>
            </a:r>
            <a:endParaRPr/>
          </a:p>
        </p:txBody>
      </p:sp>
      <p:sp>
        <p:nvSpPr>
          <p:cNvPr id="295" name="Google Shape;295;p39"/>
          <p:cNvSpPr txBox="1"/>
          <p:nvPr>
            <p:ph idx="1" type="body"/>
          </p:nvPr>
        </p:nvSpPr>
        <p:spPr>
          <a:xfrm>
            <a:off x="633845" y="1035887"/>
            <a:ext cx="7886700" cy="286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Frozensets are like sets but are immutable - i.e. cannot be changed</a:t>
            </a:r>
            <a:endParaRPr/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convert a set (or a list, tuple) into a frozenset by</a:t>
            </a:r>
            <a:endParaRPr/>
          </a:p>
          <a:p>
            <a:pPr indent="457200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frozenset(s)</a:t>
            </a:r>
            <a:endParaRPr/>
          </a:p>
          <a:p>
            <a:pPr indent="-317500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perform all set operations, except add, delete, …</a:t>
            </a:r>
            <a:endParaRPr/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With frozensets, you can define a set of frozensets (but cannot have a set of sets)</a:t>
            </a:r>
            <a:endParaRPr/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Wherever</a:t>
            </a:r>
            <a:r>
              <a:rPr lang="en"/>
              <a:t> immutable objects are required, frozensets can be used, but not sets.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/>
          <p:nvPr>
            <p:ph type="title"/>
          </p:nvPr>
        </p:nvSpPr>
        <p:spPr>
          <a:xfrm>
            <a:off x="3579453" y="2289975"/>
            <a:ext cx="1985100" cy="762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Tuple</a:t>
            </a:r>
            <a:r>
              <a:rPr lang="en" sz="5000"/>
              <a:t>s</a:t>
            </a:r>
            <a:endParaRPr sz="5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Tuples</a:t>
            </a:r>
            <a:endParaRPr/>
          </a:p>
        </p:txBody>
      </p:sp>
      <p:sp>
        <p:nvSpPr>
          <p:cNvPr id="306" name="Google Shape;306;p41"/>
          <p:cNvSpPr txBox="1"/>
          <p:nvPr>
            <p:ph idx="1" type="body"/>
          </p:nvPr>
        </p:nvSpPr>
        <p:spPr>
          <a:xfrm>
            <a:off x="633845" y="1035887"/>
            <a:ext cx="7886700" cy="368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Tuples are used to store multiple items in a single variable; it is an ordered collection of items (of same or different types)</a:t>
            </a:r>
            <a:endParaRPr/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Tuples are immutable (</a:t>
            </a:r>
            <a:r>
              <a:rPr lang="en"/>
              <a:t>unlike lists)</a:t>
            </a:r>
            <a:endParaRPr/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Tuples are immutable but its elements may be mutable.</a:t>
            </a:r>
            <a:endParaRPr/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Tuples are written with round brackets, Examples</a:t>
            </a:r>
            <a:endParaRPr/>
          </a:p>
          <a:p>
            <a:pPr indent="457200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Xy-coord = (5.0, 3.1)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properties = ("Toyota", "red", 2.0, 2021)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colors  = ("red", "blue", "yellow")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 =  (1,2,1,4)  # Duplicates allowed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x = (1, 2, [5,6,7],8) # Tuple with list as an element.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num = ( (1,2), (3,4), 5) # Nesting of tuples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Tuples</a:t>
            </a:r>
            <a:endParaRPr/>
          </a:p>
        </p:txBody>
      </p:sp>
      <p:sp>
        <p:nvSpPr>
          <p:cNvPr id="312" name="Google Shape;312;p42"/>
          <p:cNvSpPr txBox="1"/>
          <p:nvPr>
            <p:ph idx="1" type="body"/>
          </p:nvPr>
        </p:nvSpPr>
        <p:spPr>
          <a:xfrm>
            <a:off x="633845" y="1035887"/>
            <a:ext cx="7886700" cy="2660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Just like in lists - can access an item by indexing, can access a range of items, -ve indexes, …</a:t>
            </a:r>
            <a:endParaRPr/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colors  = ("red", "blue", "yellow")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colors[1], colors[-1], colors[:1], colors[1:2]...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When a single item in a tuple, it has to be: (item, ). This tells that it is a tuple (so, tuple ops can be performed)</a:t>
            </a:r>
            <a:endParaRPr/>
          </a:p>
          <a:p>
            <a:pPr indent="45720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singleton_tuple = (74,) # (74,) is a tuple but (74) is not.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Check if an item exists - </a:t>
            </a:r>
            <a:r>
              <a:rPr i="1" lang="en"/>
              <a:t>in</a:t>
            </a:r>
            <a:r>
              <a:rPr lang="en"/>
              <a:t> or </a:t>
            </a:r>
            <a:r>
              <a:rPr i="1" lang="en"/>
              <a:t>not in</a:t>
            </a:r>
            <a:r>
              <a:rPr lang="en"/>
              <a:t> operation like lists/strings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Operations on Tuples</a:t>
            </a:r>
            <a:endParaRPr/>
          </a:p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633845" y="1035887"/>
            <a:ext cx="7886700" cy="2518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Concatenate tuples by + : returns a new tuple </a:t>
            </a:r>
            <a:endParaRPr/>
          </a:p>
          <a:p>
            <a:pPr indent="45720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up1 + tup2 # Concatenation</a:t>
            </a:r>
            <a:endParaRPr/>
          </a:p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Replicate</a:t>
            </a:r>
            <a:r>
              <a:rPr lang="en"/>
              <a:t> tuples by * : returns a new tuple</a:t>
            </a:r>
            <a:br>
              <a:rPr lang="en"/>
            </a:br>
            <a:r>
              <a:rPr lang="en"/>
              <a:t>	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tup1 * 4 # Replication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Like in a list, can unpack elements and assign to vars .</a:t>
            </a:r>
            <a:br>
              <a:rPr lang="en"/>
            </a:br>
            <a:r>
              <a:rPr lang="en"/>
              <a:t>	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v1, v2, v3 = (elt1, elt2, elt3)</a:t>
            </a:r>
            <a:r>
              <a:rPr lang="en"/>
              <a:t> 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t.count(&lt;item&gt;) # number of times item occurs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t.index(&lt;item&gt;) # returns the index of item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Looping through Tuples</a:t>
            </a:r>
            <a:endParaRPr/>
          </a:p>
        </p:txBody>
      </p:sp>
      <p:sp>
        <p:nvSpPr>
          <p:cNvPr id="324" name="Google Shape;324;p44"/>
          <p:cNvSpPr txBox="1"/>
          <p:nvPr>
            <p:ph idx="1" type="body"/>
          </p:nvPr>
        </p:nvSpPr>
        <p:spPr>
          <a:xfrm>
            <a:off x="633845" y="1035887"/>
            <a:ext cx="7886700" cy="3120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As in lists - either of these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Looping over elements in a tuple</a:t>
            </a:r>
            <a:endParaRPr/>
          </a:p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item in &lt;tuple&gt;: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Loop-body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Looping using indices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in range(len(&lt;tuple&gt;)):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	Use &lt;tuple&gt;[index]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- Single Correct</a:t>
            </a:r>
            <a:endParaRPr/>
          </a:p>
        </p:txBody>
      </p:sp>
      <p:sp>
        <p:nvSpPr>
          <p:cNvPr id="330" name="Google Shape;330;p45"/>
          <p:cNvSpPr txBox="1"/>
          <p:nvPr>
            <p:ph idx="1" type="body"/>
          </p:nvPr>
        </p:nvSpPr>
        <p:spPr>
          <a:xfrm>
            <a:off x="633848" y="1035875"/>
            <a:ext cx="42966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would be the output of the code given?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a.) Error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b.) 29.001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c.) 28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d.) 29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5"/>
          <p:cNvSpPr txBox="1"/>
          <p:nvPr>
            <p:ph idx="1" type="body"/>
          </p:nvPr>
        </p:nvSpPr>
        <p:spPr>
          <a:xfrm>
            <a:off x="4572000" y="1145100"/>
            <a:ext cx="3901200" cy="1726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tup = (True, 0.8, True, False, 11, 7, 7.2, 0.001, True)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res = 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for i in tup: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res = res + int(i)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print(res)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- Single Correct</a:t>
            </a:r>
            <a:endParaRPr/>
          </a:p>
        </p:txBody>
      </p:sp>
      <p:sp>
        <p:nvSpPr>
          <p:cNvPr id="337" name="Google Shape;337;p46"/>
          <p:cNvSpPr txBox="1"/>
          <p:nvPr>
            <p:ph idx="1" type="body"/>
          </p:nvPr>
        </p:nvSpPr>
        <p:spPr>
          <a:xfrm>
            <a:off x="633852" y="1035875"/>
            <a:ext cx="7839300" cy="2978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What would be the output of the code given?</a:t>
            </a:r>
            <a:br>
              <a:rPr lang="en" sz="1500"/>
            </a:b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a.) Error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b.) 29.001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c.) 28</a:t>
            </a:r>
            <a:endParaRPr b="1"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d.) 29</a:t>
            </a:r>
            <a:br>
              <a:rPr lang="en" sz="1500"/>
            </a:b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</a:rPr>
              <a:t>Explanation : 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0000"/>
                </a:solidFill>
              </a:rPr>
              <a:t>= 1 (for True)+0 (for 0.8)+1(for True)+0(for False)+11+7+7 (for 7.2)+0(for 0.001)+1(for True) 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0000"/>
                </a:solidFill>
              </a:rPr>
              <a:t>= 28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38" name="Google Shape;338;p46"/>
          <p:cNvSpPr txBox="1"/>
          <p:nvPr>
            <p:ph idx="1" type="body"/>
          </p:nvPr>
        </p:nvSpPr>
        <p:spPr>
          <a:xfrm>
            <a:off x="4572000" y="1145100"/>
            <a:ext cx="3901200" cy="1726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tup = (True, 0.8, True, False, 11, 7, 7.2, 0.001, True)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res = 0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for i in tup: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    res = res + int(i)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print(res)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344" name="Google Shape;344;p47"/>
          <p:cNvSpPr txBox="1"/>
          <p:nvPr>
            <p:ph idx="1" type="body"/>
          </p:nvPr>
        </p:nvSpPr>
        <p:spPr>
          <a:xfrm>
            <a:off x="628645" y="1043412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Adding elements to a Tuple using the singleton tuple.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T1 = (10, 20, 30, 40)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L1 = [60, 70, 80]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for item in L1: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	T1 = T1 + (item,)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print(T1)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Output : (10, 20, 30, 40, 60, 70, 80)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350" name="Google Shape;350;p48"/>
          <p:cNvSpPr txBox="1"/>
          <p:nvPr>
            <p:ph idx="1" type="body"/>
          </p:nvPr>
        </p:nvSpPr>
        <p:spPr>
          <a:xfrm>
            <a:off x="633850" y="1035875"/>
            <a:ext cx="3704400" cy="267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Given a tuple of lists. Sort lists within the tuple.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Input: 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([4,2,1], [5,3,7], [6,2,1,8],  [10,9])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Output:  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([1, 2, 4], [3, 5, 7], [1, 2, 6, 8], [9, 10])</a:t>
            </a:r>
            <a:endParaRPr sz="1800"/>
          </a:p>
        </p:txBody>
      </p:sp>
      <p:sp>
        <p:nvSpPr>
          <p:cNvPr id="351" name="Google Shape;351;p48"/>
          <p:cNvSpPr txBox="1"/>
          <p:nvPr>
            <p:ph idx="1" type="body"/>
          </p:nvPr>
        </p:nvSpPr>
        <p:spPr>
          <a:xfrm>
            <a:off x="4785725" y="1181100"/>
            <a:ext cx="3704400" cy="1939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5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tup = ([4,2,1], [5,3,7], [6,2,1,8],  [10,9])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res = [sorted(l) for l in tup]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res = tuple(res)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print(res)</a:t>
            </a:r>
            <a:br>
              <a:rPr b="1" lang="en" sz="1500">
                <a:latin typeface="Courier New"/>
                <a:ea typeface="Courier New"/>
                <a:cs typeface="Courier New"/>
                <a:sym typeface="Courier New"/>
              </a:rPr>
            </a:b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9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</a:t>
            </a:r>
            <a:r>
              <a:rPr lang="en"/>
              <a:t> - Single Correct</a:t>
            </a:r>
            <a:endParaRPr/>
          </a:p>
        </p:txBody>
      </p:sp>
      <p:sp>
        <p:nvSpPr>
          <p:cNvPr id="357" name="Google Shape;357;p49"/>
          <p:cNvSpPr txBox="1"/>
          <p:nvPr>
            <p:ph idx="1" type="body"/>
          </p:nvPr>
        </p:nvSpPr>
        <p:spPr>
          <a:xfrm>
            <a:off x="633850" y="1035875"/>
            <a:ext cx="8388000" cy="3749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Q) What is the output of the following program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b="1" lang="en" sz="1600">
                <a:latin typeface="Courier New"/>
                <a:ea typeface="Courier New"/>
                <a:cs typeface="Courier New"/>
                <a:sym typeface="Courier New"/>
              </a:rPr>
            </a:b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a)	[(11,20),(5,4)]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b)	[(11,20),(2,7),(5,4)]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c)	</a:t>
            </a:r>
            <a:r>
              <a:rPr lang="en"/>
              <a:t>[(7,2),(4,5)]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d)	[(11,20),(2,7)]</a:t>
            </a:r>
            <a:endParaRPr sz="2700"/>
          </a:p>
        </p:txBody>
      </p:sp>
      <p:sp>
        <p:nvSpPr>
          <p:cNvPr id="358" name="Google Shape;358;p49"/>
          <p:cNvSpPr txBox="1"/>
          <p:nvPr/>
        </p:nvSpPr>
        <p:spPr>
          <a:xfrm>
            <a:off x="723825" y="1579450"/>
            <a:ext cx="7775700" cy="1323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L1 = [11,2,3,4,5]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L2 = [20,7,8,2,4]  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 = 9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res=[(s-L1[i],L1[i]) for i in range(len(L1)) if (s-L1[i])==L2[i]]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0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</a:t>
            </a:r>
            <a:r>
              <a:rPr lang="en"/>
              <a:t> - Single Correct</a:t>
            </a:r>
            <a:endParaRPr/>
          </a:p>
        </p:txBody>
      </p:sp>
      <p:sp>
        <p:nvSpPr>
          <p:cNvPr id="364" name="Google Shape;364;p50"/>
          <p:cNvSpPr txBox="1"/>
          <p:nvPr>
            <p:ph idx="1" type="body"/>
          </p:nvPr>
        </p:nvSpPr>
        <p:spPr>
          <a:xfrm>
            <a:off x="633850" y="1035875"/>
            <a:ext cx="8388000" cy="3749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Q) What is the output of the following program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b="1" lang="en" sz="1600">
                <a:latin typeface="Courier New"/>
                <a:ea typeface="Courier New"/>
                <a:cs typeface="Courier New"/>
                <a:sym typeface="Courier New"/>
              </a:rPr>
            </a:b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a)	[(11,20),(5,4)]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b)	[(11,20),(2,7),(5,4)]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c)	</a:t>
            </a:r>
            <a:r>
              <a:rPr b="1" lang="en">
                <a:solidFill>
                  <a:srgbClr val="FF0000"/>
                </a:solidFill>
              </a:rPr>
              <a:t>[(7, 2), (4, 5)]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d)	[(11,20),(2,7)]</a:t>
            </a:r>
            <a:endParaRPr sz="2700"/>
          </a:p>
        </p:txBody>
      </p:sp>
      <p:sp>
        <p:nvSpPr>
          <p:cNvPr id="365" name="Google Shape;365;p50"/>
          <p:cNvSpPr txBox="1"/>
          <p:nvPr/>
        </p:nvSpPr>
        <p:spPr>
          <a:xfrm>
            <a:off x="723825" y="1579450"/>
            <a:ext cx="7775700" cy="1323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L1 = [11,2,3,4,5]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L2 = [20,7,8,2,4]  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 = 9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res=[(s-L1[i],L1[i]) for i in range(len(L1)) if (s-L1[i])==L2[i]]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50"/>
          <p:cNvSpPr txBox="1"/>
          <p:nvPr/>
        </p:nvSpPr>
        <p:spPr>
          <a:xfrm>
            <a:off x="3828825" y="3447725"/>
            <a:ext cx="46707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Explanation : The code is finding pairs which total to a given sum and occur at the same index in the two lists(One element from each list).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a Tuple</a:t>
            </a:r>
            <a:endParaRPr/>
          </a:p>
        </p:txBody>
      </p:sp>
      <p:sp>
        <p:nvSpPr>
          <p:cNvPr id="372" name="Google Shape;372;p51"/>
          <p:cNvSpPr txBox="1"/>
          <p:nvPr>
            <p:ph idx="1" type="body"/>
          </p:nvPr>
        </p:nvSpPr>
        <p:spPr>
          <a:xfrm>
            <a:off x="633845" y="1035887"/>
            <a:ext cx="7886700" cy="216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7500" lvl="0" marL="457200" rtl="0" algn="just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sorted() : To sort a tuple, use the sorted function. 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Returns a list instead of tuple. 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tuple() to convert it to a tuple.</a:t>
            </a:r>
            <a:br>
              <a:rPr lang="en"/>
            </a:br>
            <a:endParaRPr/>
          </a:p>
          <a:p>
            <a:pPr indent="45720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t = (1,4,3,2)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a = tuple(sorted(t)) # a = (1,2,3,4)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Courier New"/>
                <a:ea typeface="Courier New"/>
                <a:cs typeface="Courier New"/>
                <a:sym typeface="Courier New"/>
              </a:rPr>
              <a:t>d = tuple(sorted(t, reverse = True)) # d = (4,3,2,1)</a:t>
            </a:r>
            <a:endParaRPr b="1"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2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- Sets</a:t>
            </a:r>
            <a:endParaRPr/>
          </a:p>
        </p:txBody>
      </p:sp>
      <p:sp>
        <p:nvSpPr>
          <p:cNvPr id="378" name="Google Shape;378;p52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Sets - like math concept - unordered collection without duplicates within {}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Sets are mutable, but their elements must be immutable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loop over sets, apply len(), in, non in ops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Ops to modify a set: add(), remove(), update(), ...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Ops on sets: union (|), intersection (&amp;), difference (-)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check isdisjoint(), issubset(), issuperset()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…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- Tuples</a:t>
            </a:r>
            <a:endParaRPr/>
          </a:p>
        </p:txBody>
      </p:sp>
      <p:sp>
        <p:nvSpPr>
          <p:cNvPr id="384" name="Google Shape;384;p53"/>
          <p:cNvSpPr txBox="1"/>
          <p:nvPr>
            <p:ph idx="1" type="body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Tuples are a collection of ordered items in () - single item must have the , separator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Is immutable - but items can be mutable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access an item by index, loop over by item or index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Ops: concat (+), replicate (*) allowed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Other ops like count(), index(), etc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