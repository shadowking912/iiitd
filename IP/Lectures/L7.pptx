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Quattrocento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QuattrocentoSans-bold.fntdata"/><Relationship Id="rId10" Type="http://schemas.openxmlformats.org/officeDocument/2006/relationships/slide" Target="slides/slide5.xml"/><Relationship Id="rId32" Type="http://schemas.openxmlformats.org/officeDocument/2006/relationships/font" Target="fonts/QuattrocentoSans-regular.fntdata"/><Relationship Id="rId13" Type="http://schemas.openxmlformats.org/officeDocument/2006/relationships/slide" Target="slides/slide8.xml"/><Relationship Id="rId35" Type="http://schemas.openxmlformats.org/officeDocument/2006/relationships/font" Target="fonts/QuattrocentoSans-boldItalic.fntdata"/><Relationship Id="rId12" Type="http://schemas.openxmlformats.org/officeDocument/2006/relationships/slide" Target="slides/slide7.xml"/><Relationship Id="rId34" Type="http://schemas.openxmlformats.org/officeDocument/2006/relationships/font" Target="fonts/Quattrocento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0f8a8c4e5d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0f8a8c4e5d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0b705fbb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0b705fbb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0f7194815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0f7194815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0d4d61813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0d4d61813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0d4d61813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0d4d61813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f1bdcabd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0f1bdcabd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0e8537d3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0e8537d3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d1b7fde06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d1b7fde06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0f855cc9e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0f855cc9e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0d4d61813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0d4d61813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0c162aad3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0c162aad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0c162aad3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0c162aad3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0d4d61813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0d4d61813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0f8a8c4e5d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0f8a8c4e5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0f1aeb2b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0f1aeb2b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0f1aeb2b1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0f1aeb2b1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0f1b75179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0f1b75179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f1b75179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f1b75179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0d4d61813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0d4d61813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0d8524eb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0d8524eb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d8524eb3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d8524eb3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0d8524eb3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0d8524eb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0d8524eb3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0d8524eb3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0d8524eb3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0d8524eb3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0d8524eb3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0d8524eb3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EADA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IITD_pptslide_jpeg-03.jp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72917" r="0" t="69259"/>
          <a:stretch/>
        </p:blipFill>
        <p:spPr>
          <a:xfrm>
            <a:off x="7286625" y="3562350"/>
            <a:ext cx="1857374" cy="158115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Quattrocento Sans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9F7F6"/>
              </a:buClr>
              <a:buSzPts val="1800"/>
              <a:buNone/>
              <a:defRPr sz="18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11480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685800" y="2317221"/>
            <a:ext cx="777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401088"/>
            <a:ext cx="2260623" cy="124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" name="Google Shape;26;p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title"/>
          </p:nvPr>
        </p:nvSpPr>
        <p:spPr>
          <a:xfrm>
            <a:off x="623888" y="1284317"/>
            <a:ext cx="78867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500"/>
              <a:buFont typeface="Quattrocento Sans"/>
              <a:buNone/>
              <a:defRPr b="0"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623888" y="3414475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>
            <p:ph idx="1" type="body"/>
          </p:nvPr>
        </p:nvSpPr>
        <p:spPr>
          <a:xfrm>
            <a:off x="633845" y="1035887"/>
            <a:ext cx="38862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43" name="Google Shape;43;p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" name="Google Shape;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" type="body"/>
          </p:nvPr>
        </p:nvSpPr>
        <p:spPr>
          <a:xfrm>
            <a:off x="633845" y="1035886"/>
            <a:ext cx="3867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633845" y="1655160"/>
            <a:ext cx="38670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4629150" y="1035887"/>
            <a:ext cx="38862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4629150" y="1655160"/>
            <a:ext cx="38862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" name="Google Shape;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>
            <p:ph type="title"/>
          </p:nvPr>
        </p:nvSpPr>
        <p:spPr>
          <a:xfrm>
            <a:off x="630936" y="342900"/>
            <a:ext cx="2949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630936" y="1543049"/>
            <a:ext cx="2949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9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/>
          <p:nvPr>
            <p:ph type="title"/>
          </p:nvPr>
        </p:nvSpPr>
        <p:spPr>
          <a:xfrm>
            <a:off x="630936" y="342900"/>
            <a:ext cx="2949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630936" y="1543050"/>
            <a:ext cx="2949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2777646" y="-1107913"/>
            <a:ext cx="3599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96" name="Google Shape;96;p11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 rot="5400000">
            <a:off x="5350050" y="1463972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" type="body"/>
          </p:nvPr>
        </p:nvSpPr>
        <p:spPr>
          <a:xfrm rot="5400000">
            <a:off x="1349475" y="-450628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6543675" y="277589"/>
            <a:ext cx="0" cy="435480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685799" y="1035886"/>
            <a:ext cx="38343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2" type="body"/>
          </p:nvPr>
        </p:nvSpPr>
        <p:spPr>
          <a:xfrm>
            <a:off x="4683577" y="1035886"/>
            <a:ext cx="38289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13" name="Google Shape;113;p1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685799" y="946718"/>
            <a:ext cx="3815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685799" y="1616168"/>
            <a:ext cx="38151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4672693" y="946716"/>
            <a:ext cx="3828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4672693" y="1616168"/>
            <a:ext cx="38289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25" name="Google Shape;125;p14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33" name="Google Shape;133;p1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138" name="Google Shape;138;p16"/>
          <p:cNvSpPr txBox="1"/>
          <p:nvPr>
            <p:ph idx="2" type="body"/>
          </p:nvPr>
        </p:nvSpPr>
        <p:spPr>
          <a:xfrm>
            <a:off x="630936" y="1643745"/>
            <a:ext cx="29490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39" name="Google Shape;13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6"/>
          <p:cNvSpPr txBox="1"/>
          <p:nvPr>
            <p:ph type="title"/>
          </p:nvPr>
        </p:nvSpPr>
        <p:spPr>
          <a:xfrm>
            <a:off x="630936" y="342900"/>
            <a:ext cx="2949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43" name="Google Shape;143;p16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>
            <p:ph idx="2" type="pic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630936" y="1643745"/>
            <a:ext cx="29490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52" name="Google Shape;152;p17"/>
          <p:cNvSpPr txBox="1"/>
          <p:nvPr>
            <p:ph type="title"/>
          </p:nvPr>
        </p:nvSpPr>
        <p:spPr>
          <a:xfrm>
            <a:off x="630936" y="342900"/>
            <a:ext cx="2949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53" name="Google Shape;153;p17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Vertical Text">
  <p:cSld name="1_Title and Vertical 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>
            <p:ph idx="1" type="body"/>
          </p:nvPr>
        </p:nvSpPr>
        <p:spPr>
          <a:xfrm rot="5400000">
            <a:off x="2786946" y="-1122314"/>
            <a:ext cx="3575400" cy="7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62" name="Google Shape;162;p18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33845" y="27432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300"/>
              <a:buFont typeface="Quattrocento Sans"/>
              <a:buNone/>
              <a:defRPr b="0" i="0" sz="3300" u="none" cap="none" strike="noStrik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33845" y="137160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ctrTitle"/>
          </p:nvPr>
        </p:nvSpPr>
        <p:spPr>
          <a:xfrm>
            <a:off x="676300" y="797750"/>
            <a:ext cx="7782000" cy="1406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Lists, List Comprehension, Strings</a:t>
            </a:r>
            <a:endParaRPr sz="4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and Multiple Inputs</a:t>
            </a:r>
            <a:endParaRPr sz="4000"/>
          </a:p>
        </p:txBody>
      </p:sp>
      <p:sp>
        <p:nvSpPr>
          <p:cNvPr id="169" name="Google Shape;169;p19"/>
          <p:cNvSpPr txBox="1"/>
          <p:nvPr>
            <p:ph idx="1" type="subTitle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How comfortable are you with material so far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Green: Very Comfortable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Yellow: Moderately Comfortable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Red: Not comfortable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Structured Data Types</a:t>
            </a:r>
            <a:endParaRPr sz="3000"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633845" y="1035887"/>
            <a:ext cx="7886700" cy="387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457200" rtl="0" algn="just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Looked at scalar data types - which have simple values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E.g. integer, real numbers, boolean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These data have no components/parts within them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Python also has data types in which the data object is compound, i.e. a collection of scalar (structured) data items combined into one object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 such data types, you can access the full data object, or its components / items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 python there are some built-in structured types: </a:t>
            </a:r>
            <a:br>
              <a:rPr lang="en" sz="2000"/>
            </a:br>
            <a:r>
              <a:rPr lang="en" sz="2000"/>
              <a:t>Lists, Strings, Sets, Tuples, Dictionaries</a:t>
            </a:r>
            <a:endParaRPr sz="2000"/>
          </a:p>
          <a:p>
            <a:pPr indent="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just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will first discuss lists and strings  (strings often not considered in the same category)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Will then discuss how to take multiple inputs from user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029895" y="2261995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Lists</a:t>
            </a:r>
            <a:endParaRPr sz="5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Lists</a:t>
            </a:r>
            <a:endParaRPr sz="3000"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633850" y="1035874"/>
            <a:ext cx="7886700" cy="3978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Lists are used to store multiple items in one variable</a:t>
            </a:r>
            <a:endParaRPr sz="2000"/>
          </a:p>
          <a:p>
            <a:pPr indent="-355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List items are </a:t>
            </a:r>
            <a:r>
              <a:rPr b="1" i="1" lang="en" sz="2000"/>
              <a:t>ordered</a:t>
            </a:r>
            <a:r>
              <a:rPr lang="en" sz="2000"/>
              <a:t> - there is a notion of ith item</a:t>
            </a:r>
            <a:endParaRPr sz="2000"/>
          </a:p>
          <a:p>
            <a:pPr indent="-355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Items can be of any type (incl structured types), and can be mixed - though generally lists of type of items is used</a:t>
            </a:r>
            <a:endParaRPr sz="2000"/>
          </a:p>
          <a:p>
            <a:pPr indent="-355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List items are </a:t>
            </a:r>
            <a:r>
              <a:rPr lang="en" sz="2000"/>
              <a:t>changeable; duplicate values are allowed</a:t>
            </a:r>
            <a:endParaRPr sz="2000"/>
          </a:p>
          <a:p>
            <a:pPr indent="-355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Lists are created using square brackets, e.g.</a:t>
            </a:r>
            <a:endParaRPr sz="2000"/>
          </a:p>
          <a:p>
            <a:pPr indent="-3238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L1 = [1, 4, 5, 2,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, 5]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L2 = ["apple", "banana"]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 = [1, 2.0, "str", 3, 5]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L4 = [] #Empty List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</a:pPr>
            <a:r>
              <a:rPr lang="en" sz="2000"/>
              <a:t>List items are indexed, the first item has index [0], the second item has index [1] etc.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800">
                <a:latin typeface="Courier New"/>
                <a:ea typeface="Courier New"/>
                <a:cs typeface="Courier New"/>
                <a:sym typeface="Courier New"/>
              </a:rPr>
              <a:t>L1[0]</a:t>
            </a:r>
            <a:r>
              <a:rPr lang="en" sz="2000"/>
              <a:t> is 1; </a:t>
            </a:r>
            <a:r>
              <a:rPr b="1" lang="en" sz="1800">
                <a:latin typeface="Courier New"/>
                <a:ea typeface="Courier New"/>
                <a:cs typeface="Courier New"/>
                <a:sym typeface="Courier New"/>
              </a:rPr>
              <a:t>L1[2]</a:t>
            </a:r>
            <a:r>
              <a:rPr lang="en" sz="2000"/>
              <a:t> is 5, </a:t>
            </a:r>
            <a:r>
              <a:rPr b="1" lang="en" sz="1800">
                <a:latin typeface="Courier New"/>
                <a:ea typeface="Courier New"/>
                <a:cs typeface="Courier New"/>
                <a:sym typeface="Courier New"/>
              </a:rPr>
              <a:t>L2[1]</a:t>
            </a:r>
            <a:r>
              <a:rPr lang="en" sz="2000"/>
              <a:t> is "banana",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800">
                <a:latin typeface="Courier New"/>
                <a:ea typeface="Courier New"/>
                <a:cs typeface="Courier New"/>
                <a:sym typeface="Courier New"/>
              </a:rPr>
              <a:t>L3[3]</a:t>
            </a:r>
            <a:r>
              <a:rPr lang="en" sz="2000"/>
              <a:t> is 3</a:t>
            </a:r>
            <a:endParaRPr sz="2000"/>
          </a:p>
          <a:p>
            <a:pPr indent="-355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String objects: those within "" - for now treat them as one object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Accessing a List Item : Indexing</a:t>
            </a:r>
            <a:endParaRPr sz="3000"/>
          </a:p>
        </p:txBody>
      </p:sp>
      <p:sp>
        <p:nvSpPr>
          <p:cNvPr id="198" name="Google Shape;198;p24"/>
          <p:cNvSpPr txBox="1"/>
          <p:nvPr>
            <p:ph idx="1" type="body"/>
          </p:nvPr>
        </p:nvSpPr>
        <p:spPr>
          <a:xfrm>
            <a:off x="628645" y="1035887"/>
            <a:ext cx="7886700" cy="3948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457200" rtl="0" algn="just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To access an Individual item stored in a list we use indexing 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position of any item in list (with the first item as 0) is known as its index. This index can be used to access an item in the list.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Usage : </a:t>
            </a:r>
            <a:r>
              <a:rPr b="1" lang="en" sz="1800">
                <a:latin typeface="Courier New"/>
                <a:ea typeface="Courier New"/>
                <a:cs typeface="Courier New"/>
                <a:sym typeface="Courier New"/>
              </a:rPr>
              <a:t>L[i]</a:t>
            </a:r>
            <a:r>
              <a:rPr lang="en" sz="2000"/>
              <a:t> returns the </a:t>
            </a:r>
            <a:r>
              <a:rPr b="1" lang="en" sz="2000"/>
              <a:t>i</a:t>
            </a:r>
            <a:r>
              <a:rPr b="1" baseline="30000" lang="en" sz="2000"/>
              <a:t>th</a:t>
            </a:r>
            <a:r>
              <a:rPr lang="en" sz="2000"/>
              <a:t> item in the list where </a:t>
            </a:r>
            <a:r>
              <a:rPr b="1" lang="en" sz="2000"/>
              <a:t>i</a:t>
            </a:r>
            <a:r>
              <a:rPr lang="en" sz="2000"/>
              <a:t> starts from 0.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Most programming languages use positive index i.e. </a:t>
            </a:r>
            <a:r>
              <a:rPr b="1" lang="en" sz="1800">
                <a:latin typeface="Courier New"/>
                <a:ea typeface="Courier New"/>
                <a:cs typeface="Courier New"/>
                <a:sym typeface="Courier New"/>
              </a:rPr>
              <a:t>L[i]</a:t>
            </a:r>
            <a:r>
              <a:rPr lang="en" sz="2000"/>
              <a:t> accesses the </a:t>
            </a:r>
            <a:r>
              <a:rPr b="1" lang="en" sz="2000"/>
              <a:t>i</a:t>
            </a:r>
            <a:r>
              <a:rPr b="1" baseline="30000" lang="en" sz="2000"/>
              <a:t>th</a:t>
            </a:r>
            <a:r>
              <a:rPr lang="en" sz="2000"/>
              <a:t> </a:t>
            </a:r>
            <a:r>
              <a:rPr lang="en" sz="2000"/>
              <a:t> item, with indexes starting from 0.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Python also allows for negative index. The items are accessed from the end of the list; -1 means last item, -2 last but one….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Example :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3 =</a:t>
            </a:r>
            <a:r>
              <a:rPr lang="en" sz="1500"/>
              <a:t>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[1, 2.0, "str", 3, 5]</a:t>
            </a:r>
            <a:endParaRPr sz="15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L3[0]</a:t>
            </a:r>
            <a:r>
              <a:rPr lang="en" sz="2000"/>
              <a:t> is 1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L3[1]</a:t>
            </a:r>
            <a:r>
              <a:rPr lang="en" sz="2000"/>
              <a:t> is 2.0 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L3[2]</a:t>
            </a:r>
            <a:r>
              <a:rPr lang="en" sz="2000"/>
              <a:t> is "str"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L3[-1]</a:t>
            </a:r>
            <a:r>
              <a:rPr lang="en" sz="2000"/>
              <a:t> is 5 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L3[-2]</a:t>
            </a:r>
            <a:r>
              <a:rPr lang="en" sz="2000"/>
              <a:t> is 3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Accessing Multiple List Items : Slicing</a:t>
            </a:r>
            <a:endParaRPr sz="3000"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633845" y="1035887"/>
            <a:ext cx="7886700" cy="353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457200" rtl="0" algn="just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can also extract a portion of a list. Operation is known as Slicing.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Syntax</a:t>
            </a:r>
            <a:r>
              <a:rPr lang="en" sz="2000"/>
              <a:t> : </a:t>
            </a:r>
            <a:r>
              <a:rPr b="1" lang="en" sz="1800">
                <a:latin typeface="Courier New"/>
                <a:ea typeface="Courier New"/>
                <a:cs typeface="Courier New"/>
                <a:sym typeface="Courier New"/>
              </a:rPr>
              <a:t>L[i:j]</a:t>
            </a:r>
            <a:r>
              <a:rPr lang="en" sz="2000"/>
              <a:t> # returns a list which is sub-list of L</a:t>
            </a:r>
            <a:r>
              <a:rPr lang="en" sz="2000"/>
              <a:t> for index range i:j (i.e. includes i, but not j, no. of items is : </a:t>
            </a:r>
            <a:r>
              <a:rPr lang="en" sz="2000"/>
              <a:t>j-i </a:t>
            </a:r>
            <a:r>
              <a:rPr lang="en" sz="2000"/>
              <a:t>)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Omitting i starts the slicing at the beginning of the list i.e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L[:j]</a:t>
            </a:r>
            <a:endParaRPr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Omitting j stops the slicing at the end of the list i.e</a:t>
            </a:r>
            <a:r>
              <a:rPr b="1" lang="en" sz="2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L[i:]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</a:pPr>
            <a:r>
              <a:rPr lang="en" sz="2000"/>
              <a:t>A third parameter step is available to determine the jump size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L[start:stop:step]</a:t>
            </a:r>
            <a:r>
              <a:rPr b="1" lang="en" sz="2000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2000"/>
              <a:t>Similar to range() fn.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Example :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 = [1, 2.0, "str", 3, 5]</a:t>
            </a:r>
            <a:endParaRPr sz="15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L3[1:3]</a:t>
            </a:r>
            <a:r>
              <a:rPr lang="en" sz="1500"/>
              <a:t> returns a list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[2.0, "str"]</a:t>
            </a:r>
            <a:endParaRPr sz="15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L3[:2]</a:t>
            </a:r>
            <a:r>
              <a:rPr lang="en" sz="1500"/>
              <a:t> is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[1, 2.0]</a:t>
            </a:r>
            <a:endParaRPr sz="15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L3[3:]</a:t>
            </a:r>
            <a:r>
              <a:rPr lang="en" sz="1500"/>
              <a:t> is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[3,5]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L3[-4:-2]</a:t>
            </a:r>
            <a:r>
              <a:rPr lang="en" sz="1500"/>
              <a:t> is list from 4th item from end to 2nd item;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[2.0, "str"] (note: -4 included, -2 is not; no of items is: -2 - (-4) = 2;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L3[1:4:2] returns [2.0,3]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List </a:t>
            </a:r>
            <a:r>
              <a:rPr lang="en" sz="3000"/>
              <a:t>Slicing Examples</a:t>
            </a:r>
            <a:endParaRPr sz="3000"/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628650" y="1002956"/>
            <a:ext cx="7886700" cy="138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Used to access a particular range of elements in a list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Uses the s</a:t>
            </a:r>
            <a:r>
              <a:rPr lang="en" sz="2000"/>
              <a:t>licing operator i.e. colon(:)</a:t>
            </a:r>
            <a:endParaRPr sz="20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000"/>
              <a:t>lst[start : stop : step]</a:t>
            </a:r>
            <a:r>
              <a:rPr lang="en" sz="2000"/>
              <a:t>  </a:t>
            </a:r>
            <a:endParaRPr sz="2000"/>
          </a:p>
          <a:p>
            <a:pPr indent="-355600" lvl="0" marL="457200" rtl="0" algn="just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Examples : </a:t>
            </a:r>
            <a:endParaRPr sz="2000"/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9475" y="2385650"/>
            <a:ext cx="4570100" cy="12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1094175" y="2571750"/>
            <a:ext cx="2778600" cy="182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print(lst[1:4])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[20, 30, 40]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print(lst[1:5:2])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[20, 40]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print(lst[2:])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[30, 40, 50, 60, 70]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 Slicing Examples</a:t>
            </a:r>
            <a:endParaRPr/>
          </a:p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633850" y="1035881"/>
            <a:ext cx="7886700" cy="138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Used to access a particular range of elements in a list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Uses the slicing operator i.e. colon(:)</a:t>
            </a:r>
            <a:endParaRPr sz="20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000"/>
              <a:t>lst[start : stop : step] </a:t>
            </a:r>
            <a:r>
              <a:rPr lang="en" sz="2000"/>
              <a:t> </a:t>
            </a:r>
            <a:endParaRPr sz="2000"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Examples : </a:t>
            </a:r>
            <a:endParaRPr sz="2000"/>
          </a:p>
        </p:txBody>
      </p:sp>
      <p:pic>
        <p:nvPicPr>
          <p:cNvPr id="219" name="Google Shape;21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2900" y="2418575"/>
            <a:ext cx="4570100" cy="12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1094175" y="2571750"/>
            <a:ext cx="2667900" cy="182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print(lst[:4])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[10, 20, 30, 40]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print(lst[:-6:-2])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[70, 50, 30]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print(lst[-5:-2: 2])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[30, 50]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(ungraded)</a:t>
            </a:r>
            <a:endParaRPr/>
          </a:p>
        </p:txBody>
      </p:sp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Write down your answer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 = [1, 2, 3, 4, 5, 6, 7, 8, 9, 10]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Q1: What is the value of L[3]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Q2: Value of L[2:5]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Q3: L[-2:-5]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Q4: L[-5: -2]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We will do them in python shell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Change List Items</a:t>
            </a:r>
            <a:endParaRPr sz="3000"/>
          </a:p>
        </p:txBody>
      </p:sp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633845" y="1035887"/>
            <a:ext cx="7886700" cy="230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can use the index to specify an item - assign it a new value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L[i] = new_val # item L[i] will now be new_val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Example :</a:t>
            </a:r>
            <a:endParaRPr sz="2000"/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 = [“physics”, “chemistry”, “maths”, 2021, 2025]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L[2] = “biology”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print(L) #[“physics”, “chemistry”, “biology”, 2021, 2025]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Can also change a range of list items by selecting a slice and assigning it values (we will ignore it)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Some important operations on Lists</a:t>
            </a:r>
            <a:endParaRPr sz="3000"/>
          </a:p>
        </p:txBody>
      </p:sp>
      <p:sp>
        <p:nvSpPr>
          <p:cNvPr id="238" name="Google Shape;238;p30"/>
          <p:cNvSpPr txBox="1"/>
          <p:nvPr>
            <p:ph idx="1" type="body"/>
          </p:nvPr>
        </p:nvSpPr>
        <p:spPr>
          <a:xfrm>
            <a:off x="633850" y="1035875"/>
            <a:ext cx="7886700" cy="4118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4572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</a:t>
            </a:r>
            <a:r>
              <a:rPr b="1" lang="en" sz="1800"/>
              <a:t> </a:t>
            </a:r>
            <a:r>
              <a:rPr b="1" lang="en" sz="1800">
                <a:latin typeface="Courier New"/>
                <a:ea typeface="Courier New"/>
                <a:cs typeface="Courier New"/>
                <a:sym typeface="Courier New"/>
              </a:rPr>
              <a:t>len()</a:t>
            </a:r>
            <a:r>
              <a:rPr b="1" lang="en" sz="1800">
                <a:solidFill>
                  <a:srgbClr val="3EADA7"/>
                </a:solidFill>
              </a:rPr>
              <a:t> </a:t>
            </a:r>
            <a:r>
              <a:rPr lang="en" sz="1800"/>
              <a:t>function gives the </a:t>
            </a:r>
            <a:r>
              <a:rPr b="1" lang="en" sz="1800"/>
              <a:t>length</a:t>
            </a:r>
            <a:r>
              <a:rPr lang="en" sz="1800"/>
              <a:t> of the list, i.e. the no. of items</a:t>
            </a:r>
            <a:endParaRPr sz="1800"/>
          </a:p>
          <a:p>
            <a:pPr indent="0" lvl="0" marL="9144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len([1, 2, 5]) is 3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</a:t>
            </a:r>
            <a:r>
              <a:rPr b="1" lang="en" sz="1800"/>
              <a:t> </a:t>
            </a:r>
            <a:r>
              <a:rPr b="1" lang="en" sz="1800">
                <a:latin typeface="Courier New"/>
                <a:ea typeface="Courier New"/>
                <a:cs typeface="Courier New"/>
                <a:sym typeface="Courier New"/>
              </a:rPr>
              <a:t>sum()</a:t>
            </a:r>
            <a:r>
              <a:rPr b="1" lang="en" sz="1800">
                <a:solidFill>
                  <a:srgbClr val="3EADA7"/>
                </a:solidFill>
              </a:rPr>
              <a:t> </a:t>
            </a:r>
            <a:r>
              <a:rPr lang="en" sz="1800"/>
              <a:t>function gives the </a:t>
            </a:r>
            <a:r>
              <a:rPr b="1" lang="en" sz="1800"/>
              <a:t>sum</a:t>
            </a:r>
            <a:r>
              <a:rPr lang="en" sz="1800"/>
              <a:t> of items (for int/float - error for str/mixed)</a:t>
            </a:r>
            <a:endParaRPr sz="1800"/>
          </a:p>
          <a:p>
            <a:pPr indent="0" lvl="0" marL="9144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sum([1, 2, 5]) is 8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6550" lvl="0" marL="4572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800"/>
              <a:t>Checking if an </a:t>
            </a:r>
            <a:r>
              <a:rPr b="1" lang="en" sz="1800"/>
              <a:t>item exists</a:t>
            </a:r>
            <a:r>
              <a:rPr lang="en" sz="1800"/>
              <a:t> in a list: </a:t>
            </a:r>
            <a:r>
              <a:rPr b="1" lang="en" sz="1800"/>
              <a:t>in</a:t>
            </a:r>
            <a:r>
              <a:rPr lang="en" sz="1800"/>
              <a:t> operator </a:t>
            </a:r>
            <a:r>
              <a:rPr lang="en" sz="1800"/>
              <a:t>(membership testing)</a:t>
            </a:r>
            <a:r>
              <a:rPr lang="en" sz="1800"/>
              <a:t>. Only for checking of items, not for sub-list </a:t>
            </a:r>
            <a:endParaRPr/>
          </a:p>
          <a:p>
            <a:pPr indent="0" lvl="0" marL="9144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l3 = [1, 2.0, "str", 3, 5]</a:t>
            </a:r>
            <a:endParaRPr sz="1500"/>
          </a:p>
          <a:p>
            <a:pPr indent="0" lvl="0" marL="9144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4 in l3 is False; "str" in l3 is True; 2.0 in l3 is True</a:t>
            </a:r>
            <a:endParaRPr sz="1500"/>
          </a:p>
          <a:p>
            <a:pPr indent="-342900" lvl="0" marL="4572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Checking </a:t>
            </a:r>
            <a:r>
              <a:rPr b="1" lang="en" sz="1800"/>
              <a:t>absence</a:t>
            </a:r>
            <a:r>
              <a:rPr lang="en" sz="1800"/>
              <a:t> using </a:t>
            </a:r>
            <a:r>
              <a:rPr b="1" lang="en" sz="1800">
                <a:latin typeface="Courier New"/>
                <a:ea typeface="Courier New"/>
                <a:cs typeface="Courier New"/>
                <a:sym typeface="Courier New"/>
              </a:rPr>
              <a:t>not in</a:t>
            </a:r>
            <a:r>
              <a:rPr lang="en" sz="1800"/>
              <a:t>  </a:t>
            </a:r>
            <a:endParaRPr sz="1800"/>
          </a:p>
          <a:p>
            <a:pPr indent="0" lvl="0" marL="9144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12 not in l3</a:t>
            </a:r>
            <a:r>
              <a:rPr lang="en" sz="1500"/>
              <a:t> will return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500"/>
              <a:t> ;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5 not in l3</a:t>
            </a:r>
            <a:r>
              <a:rPr lang="en" sz="1500"/>
              <a:t> is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1500"/>
          </a:p>
          <a:p>
            <a:pPr indent="-342900" lvl="0" marL="4572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Concatenate : </a:t>
            </a:r>
            <a:r>
              <a:rPr b="1" lang="en" sz="1800"/>
              <a:t>Join</a:t>
            </a:r>
            <a:r>
              <a:rPr lang="en" sz="1800"/>
              <a:t> lists by </a:t>
            </a:r>
            <a:r>
              <a:rPr b="1" lang="en" sz="18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800"/>
              <a:t> operation</a:t>
            </a:r>
            <a:endParaRPr sz="1800"/>
          </a:p>
          <a:p>
            <a:pPr indent="0" lvl="0" marL="9144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l1+l2</a:t>
            </a:r>
            <a:r>
              <a:rPr lang="en" sz="1500"/>
              <a:t> returns a new list by adding l2 to end of l1</a:t>
            </a:r>
            <a:endParaRPr sz="1500"/>
          </a:p>
          <a:p>
            <a:pPr indent="-336550" lvl="0" marL="4572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800"/>
              <a:t>Can </a:t>
            </a:r>
            <a:r>
              <a:rPr b="1" lang="en" sz="1800"/>
              <a:t>replicate </a:t>
            </a:r>
            <a:r>
              <a:rPr lang="en" sz="1800"/>
              <a:t>lists by * operation:</a:t>
            </a:r>
            <a:endParaRPr sz="1800"/>
          </a:p>
          <a:p>
            <a:pPr indent="0" lvl="0" marL="457200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500"/>
              <a:t>Given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l1=[1,2]</a:t>
            </a:r>
            <a:r>
              <a:rPr lang="en" sz="1500"/>
              <a:t>, then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l1*4  returns [1, 2, 1, 2, 1, 2, 1, 2]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Operations on a List - Adding Data</a:t>
            </a:r>
            <a:endParaRPr sz="3000"/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925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Multiple operations are provided on a list object</a:t>
            </a:r>
            <a:endParaRPr sz="20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Syntax of an operation on an object: var_name.opname()</a:t>
            </a:r>
            <a:endParaRPr sz="20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If the var L is a list, some operations that can be done are:</a:t>
            </a:r>
            <a:endParaRPr sz="2000"/>
          </a:p>
          <a:p>
            <a:pPr indent="-34925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" sz="2000"/>
              <a:t>L.append(item)</a:t>
            </a:r>
            <a:r>
              <a:rPr lang="en" sz="2000"/>
              <a:t> # adds an item to the end of L</a:t>
            </a:r>
            <a:endParaRPr sz="2000"/>
          </a:p>
          <a:p>
            <a:pPr indent="-34925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" sz="2000"/>
              <a:t>L.insert(i, item)</a:t>
            </a:r>
            <a:r>
              <a:rPr lang="en" sz="2000"/>
              <a:t> # insert item at i th location in L - earlier items from i onwards are pushed back (i.e. their index increases)</a:t>
            </a:r>
            <a:endParaRPr sz="2000"/>
          </a:p>
          <a:p>
            <a:pPr indent="-34925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" sz="2000"/>
              <a:t>L.extend(list)</a:t>
            </a:r>
            <a:r>
              <a:rPr lang="en" sz="2000"/>
              <a:t> # append the list to L, (the argument must be a list)</a:t>
            </a:r>
            <a:endParaRPr sz="2000"/>
          </a:p>
          <a:p>
            <a:pPr indent="-34925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Operations on a List - Removing Data</a:t>
            </a:r>
            <a:endParaRPr sz="3000"/>
          </a:p>
        </p:txBody>
      </p:sp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633845" y="1035887"/>
            <a:ext cx="7886700" cy="2285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Multiple operations provided for removing items from a list L, e.g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L.remove(item)</a:t>
            </a:r>
            <a:r>
              <a:rPr lang="en" sz="2000"/>
              <a:t> # removes the item if it exists </a:t>
            </a:r>
            <a:r>
              <a:rPr lang="en" sz="2000"/>
              <a:t>(first occurrence only)</a:t>
            </a:r>
            <a:r>
              <a:rPr lang="en" sz="2000"/>
              <a:t>, else gives ValueError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L.pop(index)</a:t>
            </a:r>
            <a:r>
              <a:rPr lang="en" sz="2000"/>
              <a:t> # removes L[index] item ; if no i specified, removes last item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L.clear()</a:t>
            </a:r>
            <a:r>
              <a:rPr lang="en" sz="2000"/>
              <a:t> # clears the list; L becomes an empty list: []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Items can also be removed from the list using the del function: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>
                <a:latin typeface="Courier New"/>
                <a:ea typeface="Courier New"/>
                <a:cs typeface="Courier New"/>
                <a:sym typeface="Courier New"/>
              </a:rPr>
              <a:t>del L[index]</a:t>
            </a:r>
            <a:r>
              <a:rPr lang="en" sz="2000"/>
              <a:t> # removes the item at the specified index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 on Lists - others</a:t>
            </a:r>
            <a:endParaRPr/>
          </a:p>
        </p:txBody>
      </p:sp>
      <p:sp>
        <p:nvSpPr>
          <p:cNvPr id="256" name="Google Shape;256;p33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9250" lvl="0" marL="4572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b="1" lang="en" sz="2000"/>
              <a:t>L.index(item)</a:t>
            </a:r>
            <a:r>
              <a:rPr lang="en" sz="2000"/>
              <a:t> # returns the lowest index where the searched item appears</a:t>
            </a:r>
            <a:endParaRPr sz="20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2000"/>
              <a:t>L.reverse()</a:t>
            </a:r>
            <a:r>
              <a:rPr lang="en" sz="2000"/>
              <a:t> # reverses the order of list elements, updates the existing list, does not return any value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Example</a:t>
            </a:r>
            <a:r>
              <a:rPr lang="en" sz="3000"/>
              <a:t> </a:t>
            </a:r>
            <a:endParaRPr sz="3000"/>
          </a:p>
        </p:txBody>
      </p:sp>
      <p:sp>
        <p:nvSpPr>
          <p:cNvPr id="262" name="Google Shape;262;p34"/>
          <p:cNvSpPr txBox="1"/>
          <p:nvPr>
            <p:ph idx="1" type="body"/>
          </p:nvPr>
        </p:nvSpPr>
        <p:spPr>
          <a:xfrm>
            <a:off x="633850" y="1035875"/>
            <a:ext cx="3982500" cy="2724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Given a list as input, write a program to create a new list that has products of frequency of repeating elements (which come together) and value of elements.</a:t>
            </a:r>
            <a:endParaRPr sz="18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800"/>
              <a:t>Input :</a:t>
            </a:r>
            <a:r>
              <a:rPr lang="en" sz="1800"/>
              <a:t> </a:t>
            </a:r>
            <a:endParaRPr sz="18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lst = [2, 2, 2, 2, 5, 5, 5, 8, 8, 8, 8, 8, 6, 6, 6, 6, 4, 4, 7, 7, 7, 5, 7,7]</a:t>
            </a:r>
            <a:endParaRPr sz="18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800"/>
              <a:t>Output :</a:t>
            </a:r>
            <a:r>
              <a:rPr lang="en" sz="1800"/>
              <a:t> </a:t>
            </a:r>
            <a:endParaRPr sz="18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res = [8, 15, 40, 24, 8, 21, 5, 14]</a:t>
            </a:r>
            <a:endParaRPr sz="1800"/>
          </a:p>
        </p:txBody>
      </p:sp>
      <p:sp>
        <p:nvSpPr>
          <p:cNvPr id="263" name="Google Shape;263;p34"/>
          <p:cNvSpPr txBox="1"/>
          <p:nvPr>
            <p:ph idx="1" type="body"/>
          </p:nvPr>
        </p:nvSpPr>
        <p:spPr>
          <a:xfrm>
            <a:off x="4923122" y="1042025"/>
            <a:ext cx="3626400" cy="2609100"/>
          </a:xfrm>
          <a:prstGeom prst="rect">
            <a:avLst/>
          </a:prstGeom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res = []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count = 1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for i in range(1,len(lst)):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if lst[i]!=lst[i-1]: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res.append(count*lst[i-1])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count = 0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count = count+1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res.append(count*lst[-1])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print(res)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Example : List Operations</a:t>
            </a:r>
            <a:endParaRPr sz="3000"/>
          </a:p>
        </p:txBody>
      </p:sp>
      <p:sp>
        <p:nvSpPr>
          <p:cNvPr id="269" name="Google Shape;269;p35"/>
          <p:cNvSpPr txBox="1"/>
          <p:nvPr>
            <p:ph idx="1" type="body"/>
          </p:nvPr>
        </p:nvSpPr>
        <p:spPr>
          <a:xfrm>
            <a:off x="633847" y="1035875"/>
            <a:ext cx="3626400" cy="3031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Replace 1st </a:t>
            </a:r>
            <a:r>
              <a:rPr lang="en" sz="1800"/>
              <a:t>occurrence</a:t>
            </a:r>
            <a:r>
              <a:rPr lang="en" sz="1800"/>
              <a:t> of the given element with new value if found</a:t>
            </a:r>
            <a:endParaRPr sz="18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800"/>
              <a:t>Input:</a:t>
            </a:r>
            <a:r>
              <a:rPr lang="en" sz="1800"/>
              <a:t> </a:t>
            </a:r>
            <a:endParaRPr sz="18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l1 = [2, 3, 3, 5, 7, 3, 4, 3]</a:t>
            </a:r>
            <a:endParaRPr sz="18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Element to be replaced: 3</a:t>
            </a:r>
            <a:endParaRPr sz="18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New value = 13</a:t>
            </a:r>
            <a:endParaRPr sz="18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800"/>
              <a:t>Output:</a:t>
            </a:r>
            <a:r>
              <a:rPr lang="en" sz="1800"/>
              <a:t> </a:t>
            </a:r>
            <a:endParaRPr sz="18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[2, 11, 3, 5, 7, 3, 4, 3]</a:t>
            </a:r>
            <a:endParaRPr sz="1800"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4501450" y="1035875"/>
            <a:ext cx="3987900" cy="2609100"/>
          </a:xfrm>
          <a:prstGeom prst="rect">
            <a:avLst/>
          </a:prstGeom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l1 = [2, 3, 3, 5, 7, 3, 4, 3]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lt = 3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new_value = 13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index = l1.index(elt) #Index :  1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print("Index : ",index)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l1[index] = new_value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print(l1)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[2, 11, 3, 5, 7, 3, 4, 3]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: Single Correct</a:t>
            </a:r>
            <a:endParaRPr sz="3000"/>
          </a:p>
        </p:txBody>
      </p:sp>
      <p:sp>
        <p:nvSpPr>
          <p:cNvPr id="276" name="Google Shape;276;p36"/>
          <p:cNvSpPr txBox="1"/>
          <p:nvPr>
            <p:ph idx="1" type="body"/>
          </p:nvPr>
        </p:nvSpPr>
        <p:spPr>
          <a:xfrm>
            <a:off x="633852" y="1035875"/>
            <a:ext cx="7694400" cy="1936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What would be the output of the code given on the right?</a:t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Error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[8, 12]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[1, 2, 3, 4, 1, 2, 3, 4]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[1, 2, 1, 2, 3, 4, 3, 4]</a:t>
            </a:r>
            <a:endParaRPr sz="2000"/>
          </a:p>
        </p:txBody>
      </p:sp>
      <p:sp>
        <p:nvSpPr>
          <p:cNvPr id="277" name="Google Shape;277;p36"/>
          <p:cNvSpPr txBox="1"/>
          <p:nvPr>
            <p:ph idx="1" type="body"/>
          </p:nvPr>
        </p:nvSpPr>
        <p:spPr>
          <a:xfrm>
            <a:off x="4204750" y="1979975"/>
            <a:ext cx="3513300" cy="992700"/>
          </a:xfrm>
          <a:prstGeom prst="rect">
            <a:avLst/>
          </a:prstGeom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list1 = [1, 2]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list2 = [3, 4]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 ((list1 + list2)*2)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: Single Correct</a:t>
            </a:r>
            <a:endParaRPr sz="3000"/>
          </a:p>
        </p:txBody>
      </p:sp>
      <p:sp>
        <p:nvSpPr>
          <p:cNvPr id="283" name="Google Shape;283;p37"/>
          <p:cNvSpPr txBox="1"/>
          <p:nvPr>
            <p:ph idx="1" type="body"/>
          </p:nvPr>
        </p:nvSpPr>
        <p:spPr>
          <a:xfrm>
            <a:off x="633852" y="1035875"/>
            <a:ext cx="7844400" cy="269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What would be the output of the code given on the right?</a:t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Error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[8, 12]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AutoNum type="alphaUcPeriod"/>
            </a:pPr>
            <a:r>
              <a:rPr lang="en" sz="2000">
                <a:solidFill>
                  <a:srgbClr val="FF0000"/>
                </a:solidFill>
              </a:rPr>
              <a:t>[1, 2, 3, 4, 1, 2, 3, 4]</a:t>
            </a:r>
            <a:endParaRPr sz="2000">
              <a:solidFill>
                <a:srgbClr val="FF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[1, 2, 1, 2, 3, 4, 3, 4]</a:t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Explanation</a:t>
            </a:r>
            <a:r>
              <a:rPr lang="en" sz="2000"/>
              <a:t>: Recall that + is  for concatenation and * is for replication</a:t>
            </a:r>
            <a:endParaRPr sz="2000"/>
          </a:p>
        </p:txBody>
      </p:sp>
      <p:sp>
        <p:nvSpPr>
          <p:cNvPr id="284" name="Google Shape;284;p37"/>
          <p:cNvSpPr txBox="1"/>
          <p:nvPr>
            <p:ph idx="1" type="body"/>
          </p:nvPr>
        </p:nvSpPr>
        <p:spPr>
          <a:xfrm>
            <a:off x="4204750" y="1979975"/>
            <a:ext cx="3513300" cy="992700"/>
          </a:xfrm>
          <a:prstGeom prst="rect">
            <a:avLst/>
          </a:prstGeom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list1 = [1, 2]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list2 = [3, 4]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 ((list1 + list2)*2)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Copying a List</a:t>
            </a:r>
            <a:endParaRPr sz="3000"/>
          </a:p>
        </p:txBody>
      </p:sp>
      <p:sp>
        <p:nvSpPr>
          <p:cNvPr id="290" name="Google Shape;290;p38"/>
          <p:cNvSpPr txBox="1"/>
          <p:nvPr>
            <p:ph idx="1" type="body"/>
          </p:nvPr>
        </p:nvSpPr>
        <p:spPr>
          <a:xfrm>
            <a:off x="633850" y="1035874"/>
            <a:ext cx="7886700" cy="386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Say, L1 is a list of [1, 2, 3]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L2 = L1 does not create a new list - just creates a new var L2 which also points to the same list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can make truly another copy of the list by copy() operation</a:t>
            </a:r>
            <a:endParaRPr sz="2000"/>
          </a:p>
          <a:p>
            <a:pPr indent="4572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L2=L1.copy()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can also create a copy of the list using slicing. </a:t>
            </a:r>
            <a:endParaRPr sz="2000"/>
          </a:p>
          <a:p>
            <a:pPr indent="0" lvl="0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L2 = L1[:] # Leaving both start and stop as blank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With L1=L2, if you change L1[i] (or L2[i]) , the change is in the list, and as both L1 and L2 point to same list, both will show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With copy, a new list is created which has same contents as list pointed by L1, and pointer to this is assigned to L2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9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Copying a list - </a:t>
            </a:r>
            <a:r>
              <a:rPr lang="en" sz="3000"/>
              <a:t>pythontutor.com</a:t>
            </a:r>
            <a:endParaRPr sz="3000"/>
          </a:p>
        </p:txBody>
      </p:sp>
      <p:sp>
        <p:nvSpPr>
          <p:cNvPr id="296" name="Google Shape;296;p39"/>
          <p:cNvSpPr txBox="1"/>
          <p:nvPr>
            <p:ph idx="1" type="body"/>
          </p:nvPr>
        </p:nvSpPr>
        <p:spPr>
          <a:xfrm>
            <a:off x="633845" y="1035887"/>
            <a:ext cx="3886200" cy="3599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l1 = [1,2,3,4]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l2 = l1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l2[2] = 10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print(l1)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print(l2)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7" name="Google Shape;297;p39"/>
          <p:cNvSpPr txBox="1"/>
          <p:nvPr>
            <p:ph idx="2" type="body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l1 = [1,2,3,4]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l2 = l1.copy()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l2[2] = 10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print(l1)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print(l2)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98" name="Google Shape;298;p39"/>
          <p:cNvPicPr preferRelativeResize="0"/>
          <p:nvPr/>
        </p:nvPicPr>
        <p:blipFill rotWithShape="1">
          <a:blip r:embed="rId3">
            <a:alphaModFix/>
          </a:blip>
          <a:srcRect b="0" l="0" r="0" t="12126"/>
          <a:stretch/>
        </p:blipFill>
        <p:spPr>
          <a:xfrm>
            <a:off x="2287025" y="1113288"/>
            <a:ext cx="2233026" cy="84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675" y="1871675"/>
            <a:ext cx="2284975" cy="919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1675" y="3080550"/>
            <a:ext cx="2233025" cy="1037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7352" y="1093575"/>
            <a:ext cx="1996284" cy="7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77350" y="1871675"/>
            <a:ext cx="2033125" cy="1265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77350" y="3226500"/>
            <a:ext cx="2033131" cy="120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idx="1" type="body"/>
          </p:nvPr>
        </p:nvSpPr>
        <p:spPr>
          <a:xfrm>
            <a:off x="633845" y="1035887"/>
            <a:ext cx="3886200" cy="3696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</a:t>
            </a:r>
            <a:r>
              <a:rPr lang="en"/>
              <a:t>or loop and lists are made for each other - easy to loop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for item in &lt;list&gt;:</a:t>
            </a:r>
            <a:endParaRPr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Loop_body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====</a:t>
            </a:r>
            <a:endParaRPr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Looping using index is also easy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N = len(list)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for i in range(N):</a:t>
            </a:r>
            <a:endParaRPr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use L[i]</a:t>
            </a:r>
            <a:endParaRPr/>
          </a:p>
        </p:txBody>
      </p:sp>
      <p:sp>
        <p:nvSpPr>
          <p:cNvPr id="309" name="Google Shape;309;p40"/>
          <p:cNvSpPr txBox="1"/>
          <p:nvPr>
            <p:ph idx="2" type="body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Printing items in a list: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f</a:t>
            </a:r>
            <a:r>
              <a:rPr lang="en" sz="2000"/>
              <a:t>or item in </a:t>
            </a:r>
            <a:r>
              <a:rPr lang="en" sz="2000"/>
              <a:t>list1</a:t>
            </a:r>
            <a:r>
              <a:rPr lang="en" sz="2000"/>
              <a:t>:</a:t>
            </a:r>
            <a:endParaRPr sz="20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	print(item)</a:t>
            </a:r>
            <a:endParaRPr sz="20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====</a:t>
            </a:r>
            <a:endParaRPr sz="20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for i in range(len(list1)):</a:t>
            </a:r>
            <a:endParaRPr sz="20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	print(list1[i])</a:t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Looping over items in a list</a:t>
            </a:r>
            <a:endParaRPr sz="3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Eg: Sum of squares of items in a list</a:t>
            </a:r>
            <a:endParaRPr sz="3000"/>
          </a:p>
        </p:txBody>
      </p:sp>
      <p:sp>
        <p:nvSpPr>
          <p:cNvPr id="316" name="Google Shape;316;p41"/>
          <p:cNvSpPr txBox="1"/>
          <p:nvPr>
            <p:ph idx="1" type="body"/>
          </p:nvPr>
        </p:nvSpPr>
        <p:spPr>
          <a:xfrm>
            <a:off x="633845" y="1035887"/>
            <a:ext cx="38862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lst = [1, 3, 2, 5, 9, 4]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total = 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for item in lst: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total = total + item*item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print(total)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41"/>
          <p:cNvSpPr txBox="1"/>
          <p:nvPr>
            <p:ph idx="2" type="body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lst = [1, 3, 2, 5, 9, 4]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total = 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for i in range(len(lst)):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total = total + (lst[i])**2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print(total)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Sorting lists</a:t>
            </a:r>
            <a:endParaRPr sz="3000"/>
          </a:p>
        </p:txBody>
      </p:sp>
      <p:sp>
        <p:nvSpPr>
          <p:cNvPr id="323" name="Google Shape;323;p42"/>
          <p:cNvSpPr txBox="1"/>
          <p:nvPr>
            <p:ph idx="1" type="body"/>
          </p:nvPr>
        </p:nvSpPr>
        <p:spPr>
          <a:xfrm>
            <a:off x="633845" y="1035887"/>
            <a:ext cx="7886700" cy="2008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Lists themselves are any collection of items</a:t>
            </a:r>
            <a:endParaRPr sz="20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Sorting them is a very common need </a:t>
            </a:r>
            <a:endParaRPr sz="20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Python provides a powerful operation, with variations, to sort - treats items as strings and does alphanumeric sorting</a:t>
            </a:r>
            <a:endParaRPr sz="20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2000"/>
              <a:t>lst.sort()</a:t>
            </a:r>
            <a:r>
              <a:rPr lang="en" sz="2000"/>
              <a:t> # lst changed to have items in ascending order</a:t>
            </a:r>
            <a:endParaRPr sz="20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2000"/>
              <a:t>lst.sort(reverse=True)</a:t>
            </a:r>
            <a:r>
              <a:rPr lang="en" sz="2000"/>
              <a:t> # lst sorted in descending order</a:t>
            </a:r>
            <a:endParaRPr sz="20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Remember, strings are case sensitive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Special sorting with own key</a:t>
            </a:r>
            <a:endParaRPr sz="3000"/>
          </a:p>
        </p:txBody>
      </p:sp>
      <p:sp>
        <p:nvSpPr>
          <p:cNvPr id="329" name="Google Shape;329;p43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Can provide own function as "key" for sorting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lst.sort(key=myfn)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Items of list are now arranged based on value of applying myfn on each item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I.e. sorting of items is done as per the value myfn(item) of each item - items do not change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E.g a list of strings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fl = ["orange", "mango", "kiwi", "pineapple", "banana"]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Sorting using fl.sort(key=len) will sort it using the value provided by the len function for each item, i.e. by length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E.g. write a function sq to square the value, use it to sort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Using Lists to Assign Multiple vars</a:t>
            </a:r>
            <a:endParaRPr sz="3000"/>
          </a:p>
        </p:txBody>
      </p:sp>
      <p:sp>
        <p:nvSpPr>
          <p:cNvPr id="335" name="Google Shape;335;p44"/>
          <p:cNvSpPr txBox="1"/>
          <p:nvPr>
            <p:ph idx="1" type="body"/>
          </p:nvPr>
        </p:nvSpPr>
        <p:spPr>
          <a:xfrm>
            <a:off x="628645" y="1002587"/>
            <a:ext cx="7886700" cy="3292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7346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28"/>
              <a:buChar char="●"/>
            </a:pPr>
            <a:r>
              <a:rPr lang="en" sz="2027"/>
              <a:t>lst = [1,2,3]</a:t>
            </a:r>
            <a:endParaRPr sz="2027"/>
          </a:p>
          <a:p>
            <a:pPr indent="-357346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8"/>
              <a:buChar char="●"/>
            </a:pPr>
            <a:r>
              <a:rPr lang="en" sz="2027">
                <a:solidFill>
                  <a:srgbClr val="000000"/>
                </a:solidFill>
              </a:rPr>
              <a:t>How to assign the list elements to variables?</a:t>
            </a:r>
            <a:endParaRPr sz="2027">
              <a:solidFill>
                <a:srgbClr val="000000"/>
              </a:solidFill>
            </a:endParaRPr>
          </a:p>
          <a:p>
            <a:pPr indent="-357346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8"/>
              <a:buChar char="●"/>
            </a:pPr>
            <a:r>
              <a:rPr lang="en" sz="2027">
                <a:solidFill>
                  <a:srgbClr val="0000FF"/>
                </a:solidFill>
              </a:rPr>
              <a:t>Method 1: </a:t>
            </a:r>
            <a:r>
              <a:rPr lang="en" sz="2027"/>
              <a:t> </a:t>
            </a:r>
            <a:endParaRPr sz="2027"/>
          </a:p>
          <a:p>
            <a:pPr indent="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27"/>
              <a:t>a = lst[0] </a:t>
            </a:r>
            <a:endParaRPr sz="2027"/>
          </a:p>
          <a:p>
            <a:pPr indent="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27"/>
              <a:t>b = lst[1]</a:t>
            </a:r>
            <a:endParaRPr sz="2027"/>
          </a:p>
          <a:p>
            <a:pPr indent="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27"/>
              <a:t>c = lst[2]</a:t>
            </a:r>
            <a:endParaRPr sz="2027"/>
          </a:p>
          <a:p>
            <a:pPr indent="-357346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28"/>
              <a:buChar char="●"/>
            </a:pPr>
            <a:r>
              <a:rPr lang="en" sz="2027">
                <a:solidFill>
                  <a:srgbClr val="0000FF"/>
                </a:solidFill>
              </a:rPr>
              <a:t>Method 2 (Better way): S</a:t>
            </a:r>
            <a:r>
              <a:rPr lang="en" sz="2027">
                <a:solidFill>
                  <a:srgbClr val="0000FF"/>
                </a:solidFill>
              </a:rPr>
              <a:t>equence</a:t>
            </a:r>
            <a:r>
              <a:rPr lang="en" sz="2027">
                <a:solidFill>
                  <a:srgbClr val="0000FF"/>
                </a:solidFill>
              </a:rPr>
              <a:t> unpacking</a:t>
            </a:r>
            <a:endParaRPr sz="2027">
              <a:solidFill>
                <a:srgbClr val="0000FF"/>
              </a:solidFill>
            </a:endParaRPr>
          </a:p>
          <a:p>
            <a:pPr indent="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27"/>
              <a:t>a,b,c = lst # Now a=1, b=2, c=3</a:t>
            </a:r>
            <a:endParaRPr sz="2027"/>
          </a:p>
          <a:p>
            <a:pPr indent="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27"/>
              <a:t>x, y = lst # ValueError: too many values to unpack (expected 2)</a:t>
            </a:r>
            <a:endParaRPr sz="2027"/>
          </a:p>
          <a:p>
            <a:pPr indent="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