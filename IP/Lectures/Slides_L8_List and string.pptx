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omments/comment2.xml" ContentType="application/vnd.openxmlformats-officedocument.presentationml.comments+xml"/>
  <Override PartName="/ppt/notesSlides/notesSlide15.xml" ContentType="application/vnd.openxmlformats-officedocument.presentationml.notesSlide+xml"/>
  <Override PartName="/ppt/comments/comment3.xml" ContentType="application/vnd.openxmlformats-officedocument.presentationml.comments+xml"/>
  <Override PartName="/ppt/notesSlides/notesSlide16.xml" ContentType="application/vnd.openxmlformats-officedocument.presentationml.notesSlide+xml"/>
  <Override PartName="/ppt/comments/comment4.xml" ContentType="application/vnd.openxmlformats-officedocument.presentationml.comments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comments/comment5.xml" ContentType="application/vnd.openxmlformats-officedocument.presentationml.comments+xml"/>
  <Override PartName="/ppt/notesSlides/notesSlide26.xml" ContentType="application/vnd.openxmlformats-officedocument.presentationml.notesSlide+xml"/>
  <Override PartName="/ppt/comments/comment6.xml" ContentType="application/vnd.openxmlformats-officedocument.presentationml.comments+xml"/>
  <Override PartName="/ppt/notesSlides/notesSlide27.xml" ContentType="application/vnd.openxmlformats-officedocument.presentationml.notesSlide+xml"/>
  <Override PartName="/ppt/comments/comment7.xml" ContentType="application/vnd.openxmlformats-officedocument.presentationml.comments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comments/comment8.xml" ContentType="application/vnd.openxmlformats-officedocument.presentationml.comments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comments/comment9.xml" ContentType="application/vnd.openxmlformats-officedocument.presentationml.comments+xml"/>
  <Override PartName="/ppt/notesSlides/notesSlide39.xml" ContentType="application/vnd.openxmlformats-officedocument.presentationml.notesSlide+xml"/>
  <Override PartName="/ppt/comments/comment10.xml" ContentType="application/vnd.openxmlformats-officedocument.presentationml.comments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comments/comment11.xml" ContentType="application/vnd.openxmlformats-officedocument.presentationml.comments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comments/comment12.xml" ContentType="application/vnd.openxmlformats-officedocument.presentationml.comments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5" r:id="rId1"/>
  </p:sldMasterIdLst>
  <p:notesMasterIdLst>
    <p:notesMasterId r:id="rId53"/>
  </p:notesMasterIdLst>
  <p:sldIdLst>
    <p:sldId id="256" r:id="rId2"/>
    <p:sldId id="257" r:id="rId3"/>
    <p:sldId id="268" r:id="rId4"/>
    <p:sldId id="269" r:id="rId5"/>
    <p:sldId id="270" r:id="rId6"/>
    <p:sldId id="271" r:id="rId7"/>
    <p:sldId id="272" r:id="rId8"/>
    <p:sldId id="273" r:id="rId9"/>
    <p:sldId id="274" r:id="rId10"/>
    <p:sldId id="275" r:id="rId11"/>
    <p:sldId id="276" r:id="rId12"/>
    <p:sldId id="277" r:id="rId13"/>
    <p:sldId id="278" r:id="rId14"/>
    <p:sldId id="279" r:id="rId15"/>
    <p:sldId id="280" r:id="rId16"/>
    <p:sldId id="281" r:id="rId17"/>
    <p:sldId id="282" r:id="rId18"/>
    <p:sldId id="283" r:id="rId19"/>
    <p:sldId id="284" r:id="rId20"/>
    <p:sldId id="285" r:id="rId21"/>
    <p:sldId id="286" r:id="rId22"/>
    <p:sldId id="287" r:id="rId23"/>
    <p:sldId id="288" r:id="rId24"/>
    <p:sldId id="289" r:id="rId25"/>
    <p:sldId id="290" r:id="rId26"/>
    <p:sldId id="291" r:id="rId27"/>
    <p:sldId id="292" r:id="rId28"/>
    <p:sldId id="293" r:id="rId29"/>
    <p:sldId id="294" r:id="rId30"/>
    <p:sldId id="295" r:id="rId31"/>
    <p:sldId id="296" r:id="rId32"/>
    <p:sldId id="297" r:id="rId33"/>
    <p:sldId id="298" r:id="rId34"/>
    <p:sldId id="299" r:id="rId35"/>
    <p:sldId id="300" r:id="rId36"/>
    <p:sldId id="301" r:id="rId37"/>
    <p:sldId id="302" r:id="rId38"/>
    <p:sldId id="303" r:id="rId39"/>
    <p:sldId id="304" r:id="rId40"/>
    <p:sldId id="305" r:id="rId41"/>
    <p:sldId id="306" r:id="rId42"/>
    <p:sldId id="307" r:id="rId43"/>
    <p:sldId id="308" r:id="rId44"/>
    <p:sldId id="309" r:id="rId45"/>
    <p:sldId id="310" r:id="rId46"/>
    <p:sldId id="311" r:id="rId47"/>
    <p:sldId id="312" r:id="rId48"/>
    <p:sldId id="313" r:id="rId49"/>
    <p:sldId id="314" r:id="rId50"/>
    <p:sldId id="315" r:id="rId51"/>
    <p:sldId id="316" r:id="rId52"/>
  </p:sldIdLst>
  <p:sldSz cx="9144000" cy="5143500" type="screen16x9"/>
  <p:notesSz cx="6858000" cy="9144000"/>
  <p:embeddedFontLst>
    <p:embeddedFont>
      <p:font typeface="Calibri" pitchFamily="34" charset="0"/>
      <p:regular r:id="rId54"/>
      <p:bold r:id="rId55"/>
      <p:italic r:id="rId56"/>
      <p:boldItalic r:id="rId57"/>
    </p:embeddedFont>
    <p:embeddedFont>
      <p:font typeface="Quattrocento Sans" charset="0"/>
      <p:regular r:id="rId58"/>
      <p:bold r:id="rId59"/>
      <p:italic r:id="rId60"/>
      <p:boldItalic r:id="rId6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Rhythm Patel" initials="" lastIdx="2" clrIdx="0"/>
  <p:cmAuthor id="1" name="Sanchit Trivedi" initials="" lastIdx="5" clrIdx="1"/>
  <p:cmAuthor id="2" name="Divya Sharma" initials="" lastIdx="10" clrIdx="2"/>
  <p:cmAuthor id="3" name="Anuneet Anand" initials="" lastIdx="2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2" d="100"/>
          <a:sy n="92" d="100"/>
        </p:scale>
        <p:origin x="-756" y="-9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font" Target="fonts/font2.fntdata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font" Target="fonts/font1.fntdata"/><Relationship Id="rId62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8" Type="http://schemas.openxmlformats.org/officeDocument/2006/relationships/font" Target="fonts/font5.fntdata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font" Target="fonts/font4.fntdata"/><Relationship Id="rId61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font" Target="fonts/font7.fntdata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font" Target="fonts/font3.fntdata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6.fntdata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3" dt="2022-01-22T18:34:50.671" idx="1">
    <p:pos x="399" y="172"/>
    <p:text>Changed Title</p:tex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2" dt="2022-01-19T04:43:43.766" idx="3">
    <p:pos x="6000" y="0"/>
    <p:text>Moved the slide... Added content ... Images taken from https://pythontutor.com/</p:text>
  </p:cm>
  <p:cm authorId="0" dt="2022-01-24T10:08:14.553" idx="2">
    <p:pos x="1440" y="701"/>
    <p:text>resized image as it was overlapping the text</p:text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2" dt="2022-01-18T17:19:02.497" idx="4">
    <p:pos x="2916" y="652"/>
    <p:text>Since, the word list is a built-in type in python... changed list to list1 in the code</p:text>
  </p:cm>
</p:cmLst>
</file>

<file path=ppt/comments/comment4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3" dt="2022-01-22T18:47:50.815" idx="2">
    <p:pos x="399" y="172"/>
    <p:text>Formatted Code</p:text>
  </p:cm>
</p:cmLst>
</file>

<file path=ppt/comments/comment5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2" dt="2022-01-20T09:15:55.649" idx="5">
    <p:pos x="399" y="172"/>
    <p:text>Added example</p:text>
  </p:cm>
</p:cmLst>
</file>

<file path=ppt/comments/comment6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2-01-21T17:15:17.076" idx="3">
    <p:pos x="399" y="172"/>
    <p:text>Added Quiz</p:text>
  </p:cm>
</p:cmLst>
</file>

<file path=ppt/comments/comment7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2-01-21T17:15:17.076" idx="4">
    <p:pos x="399" y="172"/>
    <p:text>Added Quiz</p:text>
  </p:cm>
</p:cmLst>
</file>

<file path=ppt/comments/comment8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2" dt="2022-01-19T13:27:14.282" idx="6">
    <p:pos x="399" y="652"/>
    <p:text>Should we create a slide for ASCII values? Given ch= 'A',  ord(ch) would return 65... chr(65) would return 'A'</p:text>
  </p:cm>
</p:cmLst>
</file>

<file path=ppt/comments/comment9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2" dt="2022-01-20T16:50:42.744" idx="7">
    <p:pos x="399" y="652"/>
    <p:text>Added quiz</p:text>
  </p:cm>
</p:cmLst>
</file>

<file path=ppt/comments/comment10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2" dt="2022-01-20T16:52:39.906" idx="8">
    <p:pos x="6000" y="0"/>
    <p:text>Added</p:text>
  </p:cm>
</p:cmLst>
</file>

<file path=ppt/comments/comment1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2" dt="2022-01-20T07:54:36.267" idx="9">
    <p:pos x="399" y="652"/>
    <p:text>Added this topic</p:text>
  </p:cm>
</p:cmLst>
</file>

<file path=ppt/comments/comment1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2" dt="2022-01-20T16:09:20" idx="10">
    <p:pos x="6000" y="0"/>
    <p:text>Added quiz question</p:tex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698735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10f8a8c4e5d_5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10f8a8c4e5d_5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10c162aad34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10c162aad34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10d4d61813d_0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10d4d61813d_0_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10f8a8c4e5d_5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10f8a8c4e5d_5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10f1b751799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10f1b751799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10f1b751799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10f1b751799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110554ebfa0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110554ebfa0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110554ebfa0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110554ebfa0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110554ebfa0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110554ebfa0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110c3c24e49_0_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110c3c24e49_0_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110c3c24e49_0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110c3c24e49_0_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d4d61813d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d4d61813d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10d8524eb3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10d8524eb3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10d8524eb3d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5" name="Google Shape;325;g10d8524eb3d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10d8524eb3d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10d8524eb3d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10d8524eb3d_0_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g10d8524eb3d_0_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10d8524eb3d_0_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g10d8524eb3d_0_1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10d8524eb3d_0_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10d8524eb3d_0_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10d8524eb3d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10d8524eb3d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110c3c24e49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" name="Google Shape;363;g110c3c24e49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10c162aad34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" name="Google Shape;370;g10c162aad34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10c162aad34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6" name="Google Shape;376;g10c162aad34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10c162aad34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" name="Google Shape;382;g10c162aad34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10f1aeb2b16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8" name="Google Shape;388;g10f1aeb2b16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10d8524eb3d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5" name="Google Shape;395;g10d8524eb3d_0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10f3fbbca66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1" name="Google Shape;401;g10f3fbbca66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110c3c24e49_0_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7" name="Google Shape;407;g110c3c24e49_0_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10f3fbbca66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3" name="Google Shape;413;g10f3fbbca66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10d4d61813d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8" name="Google Shape;418;g10d4d61813d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10d4d61813d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4" name="Google Shape;424;g10d4d61813d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10d4d61813d_0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0" name="Google Shape;430;g10d4d61813d_0_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10d4d61813d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6" name="Google Shape;436;g10d4d61813d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g110c3c24e49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2" name="Google Shape;442;g110c3c24e49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10d8524eb3d_0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8" name="Google Shape;448;g10d8524eb3d_0_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110c3c24e4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4" name="Google Shape;454;g110c3c24e4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g10d8524eb3d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0" name="Google Shape;460;g10d8524eb3d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10f1b751799_0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6" name="Google Shape;466;g10f1b751799_0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10f1b751799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2" name="Google Shape;472;g10f1b751799_0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10d8524eb3d_0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8" name="Google Shape;478;g10d8524eb3d_0_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110c3c24e49_0_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4" name="Google Shape;484;g110c3c24e49_0_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g10d4d61813d_0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1" name="Google Shape;491;g10d4d61813d_0_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g10f1aeb2b1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7" name="Google Shape;497;g10f1aeb2b1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10f1b751799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4" name="Google Shape;504;g10f1b751799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g10f71948154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0" name="Google Shape;510;g10f71948154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g10d8524eb3d_0_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6" name="Google Shape;516;g10d8524eb3d_0_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g10d8524eb3d_0_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2" name="Google Shape;522;g10d8524eb3d_0_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g10d8524eb3d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8" name="Google Shape;528;g10d8524eb3d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g10f71948154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5" name="Google Shape;535;g10f71948154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g10d8524eb3d_0_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2" name="Google Shape;542;g10d8524eb3d_0_1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g110c3c24e49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8" name="Google Shape;548;g110c3c24e49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rgbClr val="3EADA7"/>
        </a:solid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2" descr="IIITD_pptslide_jpeg-03.jpg"/>
          <p:cNvPicPr preferRelativeResize="0"/>
          <p:nvPr/>
        </p:nvPicPr>
        <p:blipFill rotWithShape="1">
          <a:blip r:embed="rId2">
            <a:alphaModFix/>
          </a:blip>
          <a:srcRect l="72917" t="69259"/>
          <a:stretch/>
        </p:blipFill>
        <p:spPr>
          <a:xfrm>
            <a:off x="7286625" y="3562350"/>
            <a:ext cx="1857374" cy="1581152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1143000" y="797753"/>
            <a:ext cx="7315200" cy="14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Quattrocento Sans"/>
              <a:buNone/>
              <a:defRPr sz="41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4114800" y="2430433"/>
            <a:ext cx="4343400" cy="153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E9F7F6"/>
              </a:buClr>
              <a:buSzPts val="1800"/>
              <a:buNone/>
              <a:defRPr sz="1800">
                <a:solidFill>
                  <a:srgbClr val="E9F7F6"/>
                </a:solidFill>
              </a:defRPr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5pPr>
            <a:lvl6pPr lvl="5" algn="ctr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6pPr>
            <a:lvl7pPr lvl="6" algn="ctr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7pPr>
            <a:lvl8pPr lvl="7" algn="ctr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8pPr>
            <a:lvl9pPr lvl="8" algn="ctr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dt" idx="10"/>
          </p:nvPr>
        </p:nvSpPr>
        <p:spPr>
          <a:xfrm>
            <a:off x="411480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6463146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7" name="Google Shape;17;p2"/>
          <p:cNvCxnSpPr/>
          <p:nvPr/>
        </p:nvCxnSpPr>
        <p:spPr>
          <a:xfrm>
            <a:off x="685800" y="2317221"/>
            <a:ext cx="77724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8" name="Google Shape;18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5800" y="3401088"/>
            <a:ext cx="2260623" cy="12441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20;p3"/>
          <p:cNvPicPr preferRelativeResize="0"/>
          <p:nvPr/>
        </p:nvPicPr>
        <p:blipFill rotWithShape="1">
          <a:blip r:embed="rId2">
            <a:alphaModFix/>
          </a:blip>
          <a:srcRect l="72690" t="69862"/>
          <a:stretch/>
        </p:blipFill>
        <p:spPr>
          <a:xfrm>
            <a:off x="7271061" y="3592286"/>
            <a:ext cx="1872937" cy="1551215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3"/>
          <p:cNvSpPr txBox="1">
            <a:spLocks noGrp="1"/>
          </p:cNvSpPr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EADA7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body" idx="1"/>
          </p:nvPr>
        </p:nvSpPr>
        <p:spPr>
          <a:xfrm>
            <a:off x="633845" y="1035887"/>
            <a:ext cx="7886700" cy="359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5pPr>
            <a:lvl6pPr marL="2743200" lvl="5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6pPr>
            <a:lvl7pPr marL="3200400" lvl="6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marL="3657600" lvl="7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8pPr>
            <a:lvl9pPr marL="4114800" lvl="8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sldNum" idx="12"/>
          </p:nvPr>
        </p:nvSpPr>
        <p:spPr>
          <a:xfrm>
            <a:off x="6463146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6" name="Google Shape;26;p3"/>
          <p:cNvCxnSpPr/>
          <p:nvPr/>
        </p:nvCxnSpPr>
        <p:spPr>
          <a:xfrm>
            <a:off x="633845" y="893949"/>
            <a:ext cx="7886700" cy="0"/>
          </a:xfrm>
          <a:prstGeom prst="straightConnector1">
            <a:avLst/>
          </a:prstGeom>
          <a:noFill/>
          <a:ln w="9525" cap="flat" cmpd="sng">
            <a:solidFill>
              <a:srgbClr val="3DACA7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27" name="Google Shape;27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20471" y="416256"/>
            <a:ext cx="600075" cy="3357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29;p4"/>
          <p:cNvPicPr preferRelativeResize="0"/>
          <p:nvPr/>
        </p:nvPicPr>
        <p:blipFill rotWithShape="1">
          <a:blip r:embed="rId2">
            <a:alphaModFix/>
          </a:blip>
          <a:srcRect l="72690" t="69862"/>
          <a:stretch/>
        </p:blipFill>
        <p:spPr>
          <a:xfrm>
            <a:off x="7271061" y="3592286"/>
            <a:ext cx="1872937" cy="1551215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4"/>
          <p:cNvSpPr txBox="1">
            <a:spLocks noGrp="1"/>
          </p:cNvSpPr>
          <p:nvPr>
            <p:ph type="title"/>
          </p:nvPr>
        </p:nvSpPr>
        <p:spPr>
          <a:xfrm>
            <a:off x="623888" y="1284317"/>
            <a:ext cx="7886700" cy="21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EADA7"/>
              </a:buClr>
              <a:buSzPts val="4500"/>
              <a:buFont typeface="Quattrocento Sans"/>
              <a:buNone/>
              <a:defRPr sz="4500" b="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body" idx="1"/>
          </p:nvPr>
        </p:nvSpPr>
        <p:spPr>
          <a:xfrm>
            <a:off x="623888" y="3414475"/>
            <a:ext cx="7886700" cy="11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>
                <a:solidFill>
                  <a:srgbClr val="3F3F3F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4"/>
          <p:cNvSpPr txBox="1">
            <a:spLocks noGrp="1"/>
          </p:cNvSpPr>
          <p:nvPr>
            <p:ph type="sldNum" idx="12"/>
          </p:nvPr>
        </p:nvSpPr>
        <p:spPr>
          <a:xfrm>
            <a:off x="6463146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Google Shape;36;p5"/>
          <p:cNvPicPr preferRelativeResize="0"/>
          <p:nvPr/>
        </p:nvPicPr>
        <p:blipFill rotWithShape="1">
          <a:blip r:embed="rId2">
            <a:alphaModFix/>
          </a:blip>
          <a:srcRect l="72690" t="69862"/>
          <a:stretch/>
        </p:blipFill>
        <p:spPr>
          <a:xfrm>
            <a:off x="7271061" y="3592286"/>
            <a:ext cx="1872937" cy="1551215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5"/>
          <p:cNvSpPr txBox="1">
            <a:spLocks noGrp="1"/>
          </p:cNvSpPr>
          <p:nvPr>
            <p:ph type="body" idx="1"/>
          </p:nvPr>
        </p:nvSpPr>
        <p:spPr>
          <a:xfrm>
            <a:off x="633845" y="1035887"/>
            <a:ext cx="3886200" cy="359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5pPr>
            <a:lvl6pPr marL="2743200" lvl="5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6pPr>
            <a:lvl7pPr marL="3200400" lvl="6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marL="3657600" lvl="7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8pPr>
            <a:lvl9pPr marL="4114800" lvl="8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body" idx="2"/>
          </p:nvPr>
        </p:nvSpPr>
        <p:spPr>
          <a:xfrm>
            <a:off x="4629150" y="1035887"/>
            <a:ext cx="3886200" cy="359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5pPr>
            <a:lvl6pPr marL="2743200" lvl="5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6pPr>
            <a:lvl7pPr marL="3200400" lvl="6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marL="3657600" lvl="7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8pPr>
            <a:lvl9pPr marL="4114800" lvl="8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sldNum" idx="12"/>
          </p:nvPr>
        </p:nvSpPr>
        <p:spPr>
          <a:xfrm>
            <a:off x="6463146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EADA7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cxnSp>
        <p:nvCxnSpPr>
          <p:cNvPr id="43" name="Google Shape;43;p5"/>
          <p:cNvCxnSpPr/>
          <p:nvPr/>
        </p:nvCxnSpPr>
        <p:spPr>
          <a:xfrm>
            <a:off x="633845" y="893949"/>
            <a:ext cx="7886700" cy="0"/>
          </a:xfrm>
          <a:prstGeom prst="straightConnector1">
            <a:avLst/>
          </a:prstGeom>
          <a:noFill/>
          <a:ln w="9525" cap="flat" cmpd="sng">
            <a:solidFill>
              <a:srgbClr val="3DACA7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44" name="Google Shape;44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20471" y="416256"/>
            <a:ext cx="600075" cy="3357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oogle Shape;46;p6"/>
          <p:cNvPicPr preferRelativeResize="0"/>
          <p:nvPr/>
        </p:nvPicPr>
        <p:blipFill rotWithShape="1">
          <a:blip r:embed="rId2">
            <a:alphaModFix/>
          </a:blip>
          <a:srcRect l="72690" t="69862"/>
          <a:stretch/>
        </p:blipFill>
        <p:spPr>
          <a:xfrm>
            <a:off x="7271061" y="3592286"/>
            <a:ext cx="1872937" cy="1551215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6"/>
          <p:cNvSpPr txBox="1">
            <a:spLocks noGrp="1"/>
          </p:cNvSpPr>
          <p:nvPr>
            <p:ph type="body" idx="1"/>
          </p:nvPr>
        </p:nvSpPr>
        <p:spPr>
          <a:xfrm>
            <a:off x="633845" y="1035886"/>
            <a:ext cx="3867000" cy="6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body" idx="2"/>
          </p:nvPr>
        </p:nvSpPr>
        <p:spPr>
          <a:xfrm>
            <a:off x="633845" y="1655160"/>
            <a:ext cx="3867000" cy="29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5pPr>
            <a:lvl6pPr marL="2743200" lvl="5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6pPr>
            <a:lvl7pPr marL="3200400" lvl="6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marL="3657600" lvl="7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8pPr>
            <a:lvl9pPr marL="4114800" lvl="8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9pPr>
          </a:lstStyle>
          <a:p>
            <a:endParaRPr/>
          </a:p>
        </p:txBody>
      </p:sp>
      <p:sp>
        <p:nvSpPr>
          <p:cNvPr id="49" name="Google Shape;49;p6"/>
          <p:cNvSpPr txBox="1">
            <a:spLocks noGrp="1"/>
          </p:cNvSpPr>
          <p:nvPr>
            <p:ph type="body" idx="3"/>
          </p:nvPr>
        </p:nvSpPr>
        <p:spPr>
          <a:xfrm>
            <a:off x="4629150" y="1035887"/>
            <a:ext cx="3886200" cy="6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50" name="Google Shape;50;p6"/>
          <p:cNvSpPr txBox="1">
            <a:spLocks noGrp="1"/>
          </p:cNvSpPr>
          <p:nvPr>
            <p:ph type="body" idx="4"/>
          </p:nvPr>
        </p:nvSpPr>
        <p:spPr>
          <a:xfrm>
            <a:off x="4629150" y="1655160"/>
            <a:ext cx="3886200" cy="29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5pPr>
            <a:lvl6pPr marL="2743200" lvl="5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6pPr>
            <a:lvl7pPr marL="3200400" lvl="6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marL="3657600" lvl="7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8pPr>
            <a:lvl9pPr marL="4114800" lvl="8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9pPr>
          </a:lstStyle>
          <a:p>
            <a:endParaRPr/>
          </a:p>
        </p:txBody>
      </p:sp>
      <p:sp>
        <p:nvSpPr>
          <p:cNvPr id="51" name="Google Shape;51;p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6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6"/>
          <p:cNvSpPr txBox="1">
            <a:spLocks noGrp="1"/>
          </p:cNvSpPr>
          <p:nvPr>
            <p:ph type="sldNum" idx="12"/>
          </p:nvPr>
        </p:nvSpPr>
        <p:spPr>
          <a:xfrm>
            <a:off x="6463146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" name="Google Shape;54;p6"/>
          <p:cNvSpPr txBox="1">
            <a:spLocks noGrp="1"/>
          </p:cNvSpPr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EADA7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cxnSp>
        <p:nvCxnSpPr>
          <p:cNvPr id="55" name="Google Shape;55;p6"/>
          <p:cNvCxnSpPr/>
          <p:nvPr/>
        </p:nvCxnSpPr>
        <p:spPr>
          <a:xfrm>
            <a:off x="633845" y="893949"/>
            <a:ext cx="7886700" cy="0"/>
          </a:xfrm>
          <a:prstGeom prst="straightConnector1">
            <a:avLst/>
          </a:prstGeom>
          <a:noFill/>
          <a:ln w="9525" cap="flat" cmpd="sng">
            <a:solidFill>
              <a:srgbClr val="3DACA7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56" name="Google Shape;56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20471" y="416256"/>
            <a:ext cx="600075" cy="3357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Google Shape;58;p7"/>
          <p:cNvPicPr preferRelativeResize="0"/>
          <p:nvPr/>
        </p:nvPicPr>
        <p:blipFill rotWithShape="1">
          <a:blip r:embed="rId2">
            <a:alphaModFix/>
          </a:blip>
          <a:srcRect l="72690" t="69862"/>
          <a:stretch/>
        </p:blipFill>
        <p:spPr>
          <a:xfrm>
            <a:off x="7271061" y="3592286"/>
            <a:ext cx="1872937" cy="1551215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7"/>
          <p:cNvSpPr txBox="1">
            <a:spLocks noGrp="1"/>
          </p:cNvSpPr>
          <p:nvPr>
            <p:ph type="sldNum" idx="12"/>
          </p:nvPr>
        </p:nvSpPr>
        <p:spPr>
          <a:xfrm>
            <a:off x="6463146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2" name="Google Shape;62;p7"/>
          <p:cNvSpPr txBox="1">
            <a:spLocks noGrp="1"/>
          </p:cNvSpPr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EADA7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cxnSp>
        <p:nvCxnSpPr>
          <p:cNvPr id="63" name="Google Shape;63;p7"/>
          <p:cNvCxnSpPr/>
          <p:nvPr/>
        </p:nvCxnSpPr>
        <p:spPr>
          <a:xfrm>
            <a:off x="633845" y="893949"/>
            <a:ext cx="7886700" cy="0"/>
          </a:xfrm>
          <a:prstGeom prst="straightConnector1">
            <a:avLst/>
          </a:prstGeom>
          <a:noFill/>
          <a:ln w="9525" cap="flat" cmpd="sng">
            <a:solidFill>
              <a:srgbClr val="3DACA7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64" name="Google Shape;64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20471" y="416256"/>
            <a:ext cx="600075" cy="3357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8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8"/>
          <p:cNvSpPr txBox="1">
            <a:spLocks noGrp="1"/>
          </p:cNvSpPr>
          <p:nvPr>
            <p:ph type="sldNum" idx="12"/>
          </p:nvPr>
        </p:nvSpPr>
        <p:spPr>
          <a:xfrm>
            <a:off x="6463146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9"/>
          <p:cNvPicPr preferRelativeResize="0"/>
          <p:nvPr/>
        </p:nvPicPr>
        <p:blipFill rotWithShape="1">
          <a:blip r:embed="rId2">
            <a:alphaModFix/>
          </a:blip>
          <a:srcRect l="72690" t="69862"/>
          <a:stretch/>
        </p:blipFill>
        <p:spPr>
          <a:xfrm>
            <a:off x="7271061" y="3592286"/>
            <a:ext cx="1872937" cy="1551215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9"/>
          <p:cNvSpPr txBox="1">
            <a:spLocks noGrp="1"/>
          </p:cNvSpPr>
          <p:nvPr>
            <p:ph type="title"/>
          </p:nvPr>
        </p:nvSpPr>
        <p:spPr>
          <a:xfrm>
            <a:off x="630936" y="342900"/>
            <a:ext cx="2949000" cy="12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EADA7"/>
              </a:buClr>
              <a:buSzPts val="2400"/>
              <a:buFont typeface="Quattrocento Sans"/>
              <a:buNone/>
              <a:defRPr sz="2400" b="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9"/>
          <p:cNvSpPr txBox="1">
            <a:spLocks noGrp="1"/>
          </p:cNvSpPr>
          <p:nvPr>
            <p:ph type="body" idx="1"/>
          </p:nvPr>
        </p:nvSpPr>
        <p:spPr>
          <a:xfrm>
            <a:off x="3886200" y="742950"/>
            <a:ext cx="4629000" cy="36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/>
            </a:lvl5pPr>
            <a:lvl6pPr marL="2743200" lvl="5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/>
            </a:lvl6pPr>
            <a:lvl7pPr marL="3200400" lvl="6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/>
            </a:lvl7pPr>
            <a:lvl8pPr marL="3657600" lvl="7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/>
            </a:lvl8pPr>
            <a:lvl9pPr marL="4114800" lvl="8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/>
            </a:lvl9pPr>
          </a:lstStyle>
          <a:p>
            <a:endParaRPr/>
          </a:p>
        </p:txBody>
      </p:sp>
      <p:sp>
        <p:nvSpPr>
          <p:cNvPr id="73" name="Google Shape;73;p9"/>
          <p:cNvSpPr txBox="1">
            <a:spLocks noGrp="1"/>
          </p:cNvSpPr>
          <p:nvPr>
            <p:ph type="body" idx="2"/>
          </p:nvPr>
        </p:nvSpPr>
        <p:spPr>
          <a:xfrm>
            <a:off x="630936" y="1543049"/>
            <a:ext cx="2949000" cy="28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marL="2743200" lvl="5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marL="3200400" lvl="6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marL="3657600" lvl="7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marL="4114800" lvl="8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>
            <a:endParaRPr/>
          </a:p>
        </p:txBody>
      </p:sp>
      <p:sp>
        <p:nvSpPr>
          <p:cNvPr id="74" name="Google Shape;74;p9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9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9"/>
          <p:cNvSpPr txBox="1">
            <a:spLocks noGrp="1"/>
          </p:cNvSpPr>
          <p:nvPr>
            <p:ph type="sldNum" idx="12"/>
          </p:nvPr>
        </p:nvSpPr>
        <p:spPr>
          <a:xfrm>
            <a:off x="6463146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77" name="Google Shape;77;p9"/>
          <p:cNvCxnSpPr/>
          <p:nvPr/>
        </p:nvCxnSpPr>
        <p:spPr>
          <a:xfrm>
            <a:off x="645450" y="1545772"/>
            <a:ext cx="2949000" cy="0"/>
          </a:xfrm>
          <a:prstGeom prst="straightConnector1">
            <a:avLst/>
          </a:prstGeom>
          <a:noFill/>
          <a:ln w="9525" cap="flat" cmpd="sng">
            <a:solidFill>
              <a:srgbClr val="3DACA7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78" name="Google Shape;78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20471" y="416256"/>
            <a:ext cx="600075" cy="3357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0"/>
          <p:cNvPicPr preferRelativeResize="0"/>
          <p:nvPr/>
        </p:nvPicPr>
        <p:blipFill rotWithShape="1">
          <a:blip r:embed="rId2">
            <a:alphaModFix/>
          </a:blip>
          <a:srcRect l="72690" t="69862"/>
          <a:stretch/>
        </p:blipFill>
        <p:spPr>
          <a:xfrm>
            <a:off x="7271061" y="3592286"/>
            <a:ext cx="1872937" cy="1551215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0"/>
          <p:cNvSpPr txBox="1">
            <a:spLocks noGrp="1"/>
          </p:cNvSpPr>
          <p:nvPr>
            <p:ph type="title"/>
          </p:nvPr>
        </p:nvSpPr>
        <p:spPr>
          <a:xfrm>
            <a:off x="630936" y="342900"/>
            <a:ext cx="2949000" cy="12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EADA7"/>
              </a:buClr>
              <a:buSzPts val="2400"/>
              <a:buFont typeface="Quattrocento Sans"/>
              <a:buNone/>
              <a:defRPr sz="2400" b="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0"/>
          <p:cNvSpPr>
            <a:spLocks noGrp="1"/>
          </p:cNvSpPr>
          <p:nvPr>
            <p:ph type="pic" idx="2"/>
          </p:nvPr>
        </p:nvSpPr>
        <p:spPr>
          <a:xfrm>
            <a:off x="3886200" y="742950"/>
            <a:ext cx="4629000" cy="3657600"/>
          </a:xfrm>
          <a:prstGeom prst="rect">
            <a:avLst/>
          </a:prstGeom>
          <a:noFill/>
          <a:ln>
            <a:noFill/>
          </a:ln>
        </p:spPr>
      </p:sp>
      <p:sp>
        <p:nvSpPr>
          <p:cNvPr id="83" name="Google Shape;83;p10"/>
          <p:cNvSpPr txBox="1">
            <a:spLocks noGrp="1"/>
          </p:cNvSpPr>
          <p:nvPr>
            <p:ph type="body" idx="1"/>
          </p:nvPr>
        </p:nvSpPr>
        <p:spPr>
          <a:xfrm>
            <a:off x="630936" y="1543050"/>
            <a:ext cx="2949000" cy="28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marL="2743200" lvl="5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marL="3200400" lvl="6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marL="3657600" lvl="7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marL="4114800" lvl="8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>
            <a:endParaRPr/>
          </a:p>
        </p:txBody>
      </p:sp>
      <p:sp>
        <p:nvSpPr>
          <p:cNvPr id="84" name="Google Shape;84;p1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0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0"/>
          <p:cNvSpPr txBox="1">
            <a:spLocks noGrp="1"/>
          </p:cNvSpPr>
          <p:nvPr>
            <p:ph type="sldNum" idx="12"/>
          </p:nvPr>
        </p:nvSpPr>
        <p:spPr>
          <a:xfrm>
            <a:off x="6463146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87" name="Google Shape;87;p10"/>
          <p:cNvCxnSpPr/>
          <p:nvPr/>
        </p:nvCxnSpPr>
        <p:spPr>
          <a:xfrm>
            <a:off x="645450" y="1545772"/>
            <a:ext cx="2949000" cy="0"/>
          </a:xfrm>
          <a:prstGeom prst="straightConnector1">
            <a:avLst/>
          </a:prstGeom>
          <a:noFill/>
          <a:ln w="9525" cap="flat" cmpd="sng">
            <a:solidFill>
              <a:srgbClr val="3DACA7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88" name="Google Shape;88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20471" y="416256"/>
            <a:ext cx="600075" cy="3357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>
  <p:cSld name="Title and Vertical Text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1"/>
          <p:cNvPicPr preferRelativeResize="0"/>
          <p:nvPr/>
        </p:nvPicPr>
        <p:blipFill rotWithShape="1">
          <a:blip r:embed="rId2">
            <a:alphaModFix/>
          </a:blip>
          <a:srcRect l="72690" t="69862"/>
          <a:stretch/>
        </p:blipFill>
        <p:spPr>
          <a:xfrm>
            <a:off x="7271061" y="3592286"/>
            <a:ext cx="1872937" cy="1551215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1"/>
          <p:cNvSpPr txBox="1">
            <a:spLocks noGrp="1"/>
          </p:cNvSpPr>
          <p:nvPr>
            <p:ph type="body" idx="1"/>
          </p:nvPr>
        </p:nvSpPr>
        <p:spPr>
          <a:xfrm rot="5400000">
            <a:off x="2777646" y="-1107913"/>
            <a:ext cx="3599100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5pPr>
            <a:lvl6pPr marL="2743200" lvl="5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6pPr>
            <a:lvl7pPr marL="3200400" lvl="6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marL="3657600" lvl="7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8pPr>
            <a:lvl9pPr marL="4114800" lvl="8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9pPr>
          </a:lstStyle>
          <a:p>
            <a:endParaRPr/>
          </a:p>
        </p:txBody>
      </p:sp>
      <p:sp>
        <p:nvSpPr>
          <p:cNvPr id="92" name="Google Shape;92;p1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1"/>
          <p:cNvSpPr txBox="1">
            <a:spLocks noGrp="1"/>
          </p:cNvSpPr>
          <p:nvPr>
            <p:ph type="sldNum" idx="12"/>
          </p:nvPr>
        </p:nvSpPr>
        <p:spPr>
          <a:xfrm>
            <a:off x="6463146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5" name="Google Shape;95;p11"/>
          <p:cNvSpPr txBox="1">
            <a:spLocks noGrp="1"/>
          </p:cNvSpPr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EADA7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cxnSp>
        <p:nvCxnSpPr>
          <p:cNvPr id="96" name="Google Shape;96;p11"/>
          <p:cNvCxnSpPr/>
          <p:nvPr/>
        </p:nvCxnSpPr>
        <p:spPr>
          <a:xfrm>
            <a:off x="633845" y="893949"/>
            <a:ext cx="7886700" cy="0"/>
          </a:xfrm>
          <a:prstGeom prst="straightConnector1">
            <a:avLst/>
          </a:prstGeom>
          <a:noFill/>
          <a:ln w="9525" cap="flat" cmpd="sng">
            <a:solidFill>
              <a:srgbClr val="3DACA7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97" name="Google Shape;97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20471" y="416256"/>
            <a:ext cx="600075" cy="3357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2"/>
          <p:cNvSpPr txBox="1">
            <a:spLocks noGrp="1"/>
          </p:cNvSpPr>
          <p:nvPr>
            <p:ph type="title"/>
          </p:nvPr>
        </p:nvSpPr>
        <p:spPr>
          <a:xfrm rot="5400000">
            <a:off x="5350050" y="1463972"/>
            <a:ext cx="4359000" cy="19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EADA7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12"/>
          <p:cNvSpPr txBox="1">
            <a:spLocks noGrp="1"/>
          </p:cNvSpPr>
          <p:nvPr>
            <p:ph type="body" idx="1"/>
          </p:nvPr>
        </p:nvSpPr>
        <p:spPr>
          <a:xfrm rot="5400000">
            <a:off x="1349475" y="-450628"/>
            <a:ext cx="4359000" cy="58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5pPr>
            <a:lvl6pPr marL="2743200" lvl="5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6pPr>
            <a:lvl7pPr marL="3200400" lvl="6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marL="3657600" lvl="7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8pPr>
            <a:lvl9pPr marL="4114800" lvl="8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9pPr>
          </a:lstStyle>
          <a:p>
            <a:endParaRPr/>
          </a:p>
        </p:txBody>
      </p:sp>
      <p:sp>
        <p:nvSpPr>
          <p:cNvPr id="101" name="Google Shape;101;p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1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12"/>
          <p:cNvSpPr txBox="1">
            <a:spLocks noGrp="1"/>
          </p:cNvSpPr>
          <p:nvPr>
            <p:ph type="sldNum" idx="12"/>
          </p:nvPr>
        </p:nvSpPr>
        <p:spPr>
          <a:xfrm>
            <a:off x="6463146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04" name="Google Shape;104;p12"/>
          <p:cNvCxnSpPr/>
          <p:nvPr/>
        </p:nvCxnSpPr>
        <p:spPr>
          <a:xfrm>
            <a:off x="6543675" y="277589"/>
            <a:ext cx="0" cy="4354800"/>
          </a:xfrm>
          <a:prstGeom prst="straightConnector1">
            <a:avLst/>
          </a:prstGeom>
          <a:noFill/>
          <a:ln w="9525" cap="flat" cmpd="sng">
            <a:solidFill>
              <a:srgbClr val="3DACA7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wo Content">
  <p:cSld name="1_Two Content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13"/>
          <p:cNvPicPr preferRelativeResize="0"/>
          <p:nvPr/>
        </p:nvPicPr>
        <p:blipFill rotWithShape="1">
          <a:blip r:embed="rId2">
            <a:alphaModFix/>
          </a:blip>
          <a:srcRect l="72690" t="69862"/>
          <a:stretch/>
        </p:blipFill>
        <p:spPr>
          <a:xfrm>
            <a:off x="7271061" y="3592286"/>
            <a:ext cx="1872937" cy="1551215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3"/>
          <p:cNvSpPr txBox="1">
            <a:spLocks noGrp="1"/>
          </p:cNvSpPr>
          <p:nvPr>
            <p:ph type="body" idx="1"/>
          </p:nvPr>
        </p:nvSpPr>
        <p:spPr>
          <a:xfrm>
            <a:off x="685799" y="1035886"/>
            <a:ext cx="3834300" cy="359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5pPr>
            <a:lvl6pPr marL="2743200" lvl="5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6pPr>
            <a:lvl7pPr marL="3200400" lvl="6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marL="3657600" lvl="7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8pPr>
            <a:lvl9pPr marL="4114800" lvl="8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9pPr>
          </a:lstStyle>
          <a:p>
            <a:endParaRPr/>
          </a:p>
        </p:txBody>
      </p:sp>
      <p:sp>
        <p:nvSpPr>
          <p:cNvPr id="108" name="Google Shape;108;p13"/>
          <p:cNvSpPr txBox="1">
            <a:spLocks noGrp="1"/>
          </p:cNvSpPr>
          <p:nvPr>
            <p:ph type="body" idx="2"/>
          </p:nvPr>
        </p:nvSpPr>
        <p:spPr>
          <a:xfrm>
            <a:off x="4683577" y="1035886"/>
            <a:ext cx="3828900" cy="359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5pPr>
            <a:lvl6pPr marL="2743200" lvl="5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6pPr>
            <a:lvl7pPr marL="3200400" lvl="6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marL="3657600" lvl="7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8pPr>
            <a:lvl9pPr marL="4114800" lvl="8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9pPr>
          </a:lstStyle>
          <a:p>
            <a:endParaRPr/>
          </a:p>
        </p:txBody>
      </p:sp>
      <p:sp>
        <p:nvSpPr>
          <p:cNvPr id="109" name="Google Shape;109;p1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13"/>
          <p:cNvSpPr txBox="1">
            <a:spLocks noGrp="1"/>
          </p:cNvSpPr>
          <p:nvPr>
            <p:ph type="sldNum" idx="12"/>
          </p:nvPr>
        </p:nvSpPr>
        <p:spPr>
          <a:xfrm>
            <a:off x="6463146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2" name="Google Shape;112;p13"/>
          <p:cNvSpPr txBox="1">
            <a:spLocks noGrp="1"/>
          </p:cNvSpPr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EADA7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cxnSp>
        <p:nvCxnSpPr>
          <p:cNvPr id="113" name="Google Shape;113;p13"/>
          <p:cNvCxnSpPr/>
          <p:nvPr/>
        </p:nvCxnSpPr>
        <p:spPr>
          <a:xfrm>
            <a:off x="633845" y="893949"/>
            <a:ext cx="7886700" cy="0"/>
          </a:xfrm>
          <a:prstGeom prst="straightConnector1">
            <a:avLst/>
          </a:prstGeom>
          <a:noFill/>
          <a:ln w="9525" cap="flat" cmpd="sng">
            <a:solidFill>
              <a:srgbClr val="3DACA7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14" name="Google Shape;114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20471" y="416256"/>
            <a:ext cx="600075" cy="3357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omparison">
  <p:cSld name="1_Comparison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14"/>
          <p:cNvPicPr preferRelativeResize="0"/>
          <p:nvPr/>
        </p:nvPicPr>
        <p:blipFill rotWithShape="1">
          <a:blip r:embed="rId2">
            <a:alphaModFix/>
          </a:blip>
          <a:srcRect l="72690" t="69862"/>
          <a:stretch/>
        </p:blipFill>
        <p:spPr>
          <a:xfrm>
            <a:off x="7271061" y="3592286"/>
            <a:ext cx="1872937" cy="1551215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4"/>
          <p:cNvSpPr txBox="1">
            <a:spLocks noGrp="1"/>
          </p:cNvSpPr>
          <p:nvPr>
            <p:ph type="body" idx="1"/>
          </p:nvPr>
        </p:nvSpPr>
        <p:spPr>
          <a:xfrm>
            <a:off x="685799" y="946718"/>
            <a:ext cx="3815100" cy="6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118" name="Google Shape;118;p14"/>
          <p:cNvSpPr txBox="1">
            <a:spLocks noGrp="1"/>
          </p:cNvSpPr>
          <p:nvPr>
            <p:ph type="body" idx="2"/>
          </p:nvPr>
        </p:nvSpPr>
        <p:spPr>
          <a:xfrm>
            <a:off x="685799" y="1616168"/>
            <a:ext cx="3815100" cy="302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5pPr>
            <a:lvl6pPr marL="2743200" lvl="5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6pPr>
            <a:lvl7pPr marL="3200400" lvl="6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marL="3657600" lvl="7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8pPr>
            <a:lvl9pPr marL="4114800" lvl="8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9pPr>
          </a:lstStyle>
          <a:p>
            <a:endParaRPr/>
          </a:p>
        </p:txBody>
      </p:sp>
      <p:sp>
        <p:nvSpPr>
          <p:cNvPr id="119" name="Google Shape;119;p14"/>
          <p:cNvSpPr txBox="1">
            <a:spLocks noGrp="1"/>
          </p:cNvSpPr>
          <p:nvPr>
            <p:ph type="body" idx="3"/>
          </p:nvPr>
        </p:nvSpPr>
        <p:spPr>
          <a:xfrm>
            <a:off x="4672693" y="946716"/>
            <a:ext cx="3828900" cy="6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120" name="Google Shape;120;p14"/>
          <p:cNvSpPr txBox="1">
            <a:spLocks noGrp="1"/>
          </p:cNvSpPr>
          <p:nvPr>
            <p:ph type="body" idx="4"/>
          </p:nvPr>
        </p:nvSpPr>
        <p:spPr>
          <a:xfrm>
            <a:off x="4672693" y="1616168"/>
            <a:ext cx="3828900" cy="302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5pPr>
            <a:lvl6pPr marL="2743200" lvl="5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6pPr>
            <a:lvl7pPr marL="3200400" lvl="6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marL="3657600" lvl="7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8pPr>
            <a:lvl9pPr marL="4114800" lvl="8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9pPr>
          </a:lstStyle>
          <a:p>
            <a:endParaRPr/>
          </a:p>
        </p:txBody>
      </p:sp>
      <p:sp>
        <p:nvSpPr>
          <p:cNvPr id="121" name="Google Shape;121;p1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1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14"/>
          <p:cNvSpPr txBox="1">
            <a:spLocks noGrp="1"/>
          </p:cNvSpPr>
          <p:nvPr>
            <p:ph type="sldNum" idx="12"/>
          </p:nvPr>
        </p:nvSpPr>
        <p:spPr>
          <a:xfrm>
            <a:off x="6463146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4" name="Google Shape;124;p14"/>
          <p:cNvSpPr txBox="1">
            <a:spLocks noGrp="1"/>
          </p:cNvSpPr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EADA7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cxnSp>
        <p:nvCxnSpPr>
          <p:cNvPr id="125" name="Google Shape;125;p14"/>
          <p:cNvCxnSpPr/>
          <p:nvPr/>
        </p:nvCxnSpPr>
        <p:spPr>
          <a:xfrm>
            <a:off x="633845" y="893949"/>
            <a:ext cx="7886700" cy="0"/>
          </a:xfrm>
          <a:prstGeom prst="straightConnector1">
            <a:avLst/>
          </a:prstGeom>
          <a:noFill/>
          <a:ln w="9525" cap="flat" cmpd="sng">
            <a:solidFill>
              <a:srgbClr val="3DACA7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26" name="Google Shape;126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20471" y="416256"/>
            <a:ext cx="600075" cy="3357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Only">
  <p:cSld name="1_Title Only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5"/>
          <p:cNvPicPr preferRelativeResize="0"/>
          <p:nvPr/>
        </p:nvPicPr>
        <p:blipFill rotWithShape="1">
          <a:blip r:embed="rId2">
            <a:alphaModFix/>
          </a:blip>
          <a:srcRect l="72690" t="69862"/>
          <a:stretch/>
        </p:blipFill>
        <p:spPr>
          <a:xfrm>
            <a:off x="7271061" y="3592286"/>
            <a:ext cx="1872937" cy="1551215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1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15"/>
          <p:cNvSpPr txBox="1">
            <a:spLocks noGrp="1"/>
          </p:cNvSpPr>
          <p:nvPr>
            <p:ph type="sldNum" idx="12"/>
          </p:nvPr>
        </p:nvSpPr>
        <p:spPr>
          <a:xfrm>
            <a:off x="6463146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2" name="Google Shape;132;p15"/>
          <p:cNvSpPr txBox="1">
            <a:spLocks noGrp="1"/>
          </p:cNvSpPr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EADA7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cxnSp>
        <p:nvCxnSpPr>
          <p:cNvPr id="133" name="Google Shape;133;p15"/>
          <p:cNvCxnSpPr/>
          <p:nvPr/>
        </p:nvCxnSpPr>
        <p:spPr>
          <a:xfrm>
            <a:off x="633845" y="893949"/>
            <a:ext cx="7886700" cy="0"/>
          </a:xfrm>
          <a:prstGeom prst="straightConnector1">
            <a:avLst/>
          </a:prstGeom>
          <a:noFill/>
          <a:ln w="9525" cap="flat" cmpd="sng">
            <a:solidFill>
              <a:srgbClr val="3DACA7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34" name="Google Shape;134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20471" y="416256"/>
            <a:ext cx="600075" cy="3357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ontent with Caption">
  <p:cSld name="1_Content with Caption"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6"/>
          <p:cNvPicPr preferRelativeResize="0"/>
          <p:nvPr/>
        </p:nvPicPr>
        <p:blipFill rotWithShape="1">
          <a:blip r:embed="rId2">
            <a:alphaModFix/>
          </a:blip>
          <a:srcRect l="72690" t="69862"/>
          <a:stretch/>
        </p:blipFill>
        <p:spPr>
          <a:xfrm>
            <a:off x="7271061" y="3592286"/>
            <a:ext cx="1872937" cy="1551215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6"/>
          <p:cNvSpPr txBox="1">
            <a:spLocks noGrp="1"/>
          </p:cNvSpPr>
          <p:nvPr>
            <p:ph type="body" idx="1"/>
          </p:nvPr>
        </p:nvSpPr>
        <p:spPr>
          <a:xfrm>
            <a:off x="3886200" y="742950"/>
            <a:ext cx="4629000" cy="36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/>
            </a:lvl5pPr>
            <a:lvl6pPr marL="2743200" lvl="5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/>
            </a:lvl6pPr>
            <a:lvl7pPr marL="3200400" lvl="6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/>
            </a:lvl7pPr>
            <a:lvl8pPr marL="3657600" lvl="7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/>
            </a:lvl8pPr>
            <a:lvl9pPr marL="4114800" lvl="8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/>
            </a:lvl9pPr>
          </a:lstStyle>
          <a:p>
            <a:endParaRPr/>
          </a:p>
        </p:txBody>
      </p:sp>
      <p:sp>
        <p:nvSpPr>
          <p:cNvPr id="138" name="Google Shape;138;p16"/>
          <p:cNvSpPr txBox="1">
            <a:spLocks noGrp="1"/>
          </p:cNvSpPr>
          <p:nvPr>
            <p:ph type="body" idx="2"/>
          </p:nvPr>
        </p:nvSpPr>
        <p:spPr>
          <a:xfrm>
            <a:off x="630936" y="1643745"/>
            <a:ext cx="2949000" cy="27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marL="2743200" lvl="5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marL="3200400" lvl="6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marL="3657600" lvl="7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marL="4114800" lvl="8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>
            <a:endParaRPr/>
          </a:p>
        </p:txBody>
      </p:sp>
      <p:sp>
        <p:nvSpPr>
          <p:cNvPr id="139" name="Google Shape;139;p1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16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p16"/>
          <p:cNvSpPr txBox="1">
            <a:spLocks noGrp="1"/>
          </p:cNvSpPr>
          <p:nvPr>
            <p:ph type="sldNum" idx="12"/>
          </p:nvPr>
        </p:nvSpPr>
        <p:spPr>
          <a:xfrm>
            <a:off x="6463146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2" name="Google Shape;142;p16"/>
          <p:cNvSpPr txBox="1">
            <a:spLocks noGrp="1"/>
          </p:cNvSpPr>
          <p:nvPr>
            <p:ph type="title"/>
          </p:nvPr>
        </p:nvSpPr>
        <p:spPr>
          <a:xfrm>
            <a:off x="630936" y="342900"/>
            <a:ext cx="2949000" cy="11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EADA7"/>
              </a:buClr>
              <a:buSzPts val="2400"/>
              <a:buFont typeface="Quattrocento Sans"/>
              <a:buNone/>
              <a:defRPr sz="2400" b="0">
                <a:solidFill>
                  <a:srgbClr val="3EADA7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cxnSp>
        <p:nvCxnSpPr>
          <p:cNvPr id="143" name="Google Shape;143;p16"/>
          <p:cNvCxnSpPr/>
          <p:nvPr/>
        </p:nvCxnSpPr>
        <p:spPr>
          <a:xfrm>
            <a:off x="645450" y="1545772"/>
            <a:ext cx="2949000" cy="0"/>
          </a:xfrm>
          <a:prstGeom prst="straightConnector1">
            <a:avLst/>
          </a:prstGeom>
          <a:noFill/>
          <a:ln w="9525" cap="flat" cmpd="sng">
            <a:solidFill>
              <a:srgbClr val="3DACA7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44" name="Google Shape;144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20471" y="416256"/>
            <a:ext cx="600075" cy="3357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Picture with Caption">
  <p:cSld name="1_Picture with Caption"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17"/>
          <p:cNvPicPr preferRelativeResize="0"/>
          <p:nvPr/>
        </p:nvPicPr>
        <p:blipFill rotWithShape="1">
          <a:blip r:embed="rId2">
            <a:alphaModFix/>
          </a:blip>
          <a:srcRect l="72690" t="69862"/>
          <a:stretch/>
        </p:blipFill>
        <p:spPr>
          <a:xfrm>
            <a:off x="7271061" y="3592286"/>
            <a:ext cx="1872937" cy="1551215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7"/>
          <p:cNvSpPr>
            <a:spLocks noGrp="1"/>
          </p:cNvSpPr>
          <p:nvPr>
            <p:ph type="pic" idx="2"/>
          </p:nvPr>
        </p:nvSpPr>
        <p:spPr>
          <a:xfrm>
            <a:off x="3886200" y="742950"/>
            <a:ext cx="4629000" cy="3657600"/>
          </a:xfrm>
          <a:prstGeom prst="rect">
            <a:avLst/>
          </a:prstGeom>
          <a:noFill/>
          <a:ln>
            <a:noFill/>
          </a:ln>
        </p:spPr>
      </p:sp>
      <p:sp>
        <p:nvSpPr>
          <p:cNvPr id="148" name="Google Shape;148;p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49" name="Google Shape;149;p1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0" name="Google Shape;150;p17"/>
          <p:cNvSpPr txBox="1">
            <a:spLocks noGrp="1"/>
          </p:cNvSpPr>
          <p:nvPr>
            <p:ph type="sldNum" idx="12"/>
          </p:nvPr>
        </p:nvSpPr>
        <p:spPr>
          <a:xfrm>
            <a:off x="6463146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1" name="Google Shape;151;p17"/>
          <p:cNvSpPr txBox="1">
            <a:spLocks noGrp="1"/>
          </p:cNvSpPr>
          <p:nvPr>
            <p:ph type="body" idx="1"/>
          </p:nvPr>
        </p:nvSpPr>
        <p:spPr>
          <a:xfrm>
            <a:off x="630936" y="1643745"/>
            <a:ext cx="2949000" cy="27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marL="2743200" lvl="5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marL="3200400" lvl="6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marL="3657600" lvl="7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marL="4114800" lvl="8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>
            <a:endParaRPr/>
          </a:p>
        </p:txBody>
      </p:sp>
      <p:sp>
        <p:nvSpPr>
          <p:cNvPr id="152" name="Google Shape;152;p17"/>
          <p:cNvSpPr txBox="1">
            <a:spLocks noGrp="1"/>
          </p:cNvSpPr>
          <p:nvPr>
            <p:ph type="title"/>
          </p:nvPr>
        </p:nvSpPr>
        <p:spPr>
          <a:xfrm>
            <a:off x="630936" y="342900"/>
            <a:ext cx="2949000" cy="11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EADA7"/>
              </a:buClr>
              <a:buSzPts val="2400"/>
              <a:buFont typeface="Quattrocento Sans"/>
              <a:buNone/>
              <a:defRPr sz="2400" b="0">
                <a:solidFill>
                  <a:srgbClr val="3EADA7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cxnSp>
        <p:nvCxnSpPr>
          <p:cNvPr id="153" name="Google Shape;153;p17"/>
          <p:cNvCxnSpPr/>
          <p:nvPr/>
        </p:nvCxnSpPr>
        <p:spPr>
          <a:xfrm>
            <a:off x="645450" y="1545772"/>
            <a:ext cx="2949000" cy="0"/>
          </a:xfrm>
          <a:prstGeom prst="straightConnector1">
            <a:avLst/>
          </a:prstGeom>
          <a:noFill/>
          <a:ln w="9525" cap="flat" cmpd="sng">
            <a:solidFill>
              <a:srgbClr val="3DACA7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54" name="Google Shape;154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20471" y="416256"/>
            <a:ext cx="600075" cy="3357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Vertical Text">
  <p:cSld name="1_Title and Vertical Text"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18"/>
          <p:cNvPicPr preferRelativeResize="0"/>
          <p:nvPr/>
        </p:nvPicPr>
        <p:blipFill rotWithShape="1">
          <a:blip r:embed="rId2">
            <a:alphaModFix/>
          </a:blip>
          <a:srcRect l="72690" t="69862"/>
          <a:stretch/>
        </p:blipFill>
        <p:spPr>
          <a:xfrm>
            <a:off x="7271061" y="3592286"/>
            <a:ext cx="1872937" cy="1551215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8"/>
          <p:cNvSpPr txBox="1">
            <a:spLocks noGrp="1"/>
          </p:cNvSpPr>
          <p:nvPr>
            <p:ph type="body" idx="1"/>
          </p:nvPr>
        </p:nvSpPr>
        <p:spPr>
          <a:xfrm rot="5400000">
            <a:off x="2786946" y="-1122314"/>
            <a:ext cx="3575400" cy="789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5pPr>
            <a:lvl6pPr marL="2743200" lvl="5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6pPr>
            <a:lvl7pPr marL="3200400" lvl="6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marL="3657600" lvl="7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8pPr>
            <a:lvl9pPr marL="4114800" lvl="8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9pPr>
          </a:lstStyle>
          <a:p>
            <a:endParaRPr/>
          </a:p>
        </p:txBody>
      </p:sp>
      <p:sp>
        <p:nvSpPr>
          <p:cNvPr id="158" name="Google Shape;158;p18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9" name="Google Shape;159;p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0" name="Google Shape;160;p18"/>
          <p:cNvSpPr txBox="1">
            <a:spLocks noGrp="1"/>
          </p:cNvSpPr>
          <p:nvPr>
            <p:ph type="sldNum" idx="12"/>
          </p:nvPr>
        </p:nvSpPr>
        <p:spPr>
          <a:xfrm>
            <a:off x="6463146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1" name="Google Shape;161;p18"/>
          <p:cNvSpPr txBox="1">
            <a:spLocks noGrp="1"/>
          </p:cNvSpPr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EADA7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cxnSp>
        <p:nvCxnSpPr>
          <p:cNvPr id="162" name="Google Shape;162;p18"/>
          <p:cNvCxnSpPr/>
          <p:nvPr/>
        </p:nvCxnSpPr>
        <p:spPr>
          <a:xfrm>
            <a:off x="633845" y="893949"/>
            <a:ext cx="7886700" cy="0"/>
          </a:xfrm>
          <a:prstGeom prst="straightConnector1">
            <a:avLst/>
          </a:prstGeom>
          <a:noFill/>
          <a:ln w="9525" cap="flat" cmpd="sng">
            <a:solidFill>
              <a:srgbClr val="3DACA7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63" name="Google Shape;163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20471" y="416256"/>
            <a:ext cx="600075" cy="3357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633845" y="274320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EADA7"/>
              </a:buClr>
              <a:buSzPts val="3300"/>
              <a:buFont typeface="Quattrocento Sans"/>
              <a:buNone/>
              <a:defRPr sz="3300" b="0" i="0" u="none" strike="noStrike" cap="none">
                <a:solidFill>
                  <a:srgbClr val="3EADA7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633845" y="1371600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Noto Sans Symbols"/>
              <a:buChar char="●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●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Char char="●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●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●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●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●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●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●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8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8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463146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comments" Target="../comments/commen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3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4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5.xm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6.xm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7.xm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8.xm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9.xml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0.xml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1.xml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2.xml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9"/>
          <p:cNvSpPr txBox="1">
            <a:spLocks noGrp="1"/>
          </p:cNvSpPr>
          <p:nvPr>
            <p:ph type="ctrTitle"/>
          </p:nvPr>
        </p:nvSpPr>
        <p:spPr>
          <a:xfrm>
            <a:off x="676300" y="797750"/>
            <a:ext cx="7782000" cy="1406400"/>
          </a:xfrm>
          <a:prstGeom prst="rect">
            <a:avLst/>
          </a:prstGeom>
        </p:spPr>
        <p:txBody>
          <a:bodyPr spcFirstLastPara="1" wrap="square" lIns="68575" tIns="34275" rIns="68575" bIns="34275" anchor="b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Lists, List Comprehension, Strings</a:t>
            </a:r>
            <a:endParaRPr sz="4000"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and Multiple Inputs</a:t>
            </a:r>
            <a:endParaRPr sz="4000"/>
          </a:p>
        </p:txBody>
      </p:sp>
      <p:sp>
        <p:nvSpPr>
          <p:cNvPr id="169" name="Google Shape;169;p19"/>
          <p:cNvSpPr txBox="1">
            <a:spLocks noGrp="1"/>
          </p:cNvSpPr>
          <p:nvPr>
            <p:ph type="subTitle" idx="1"/>
          </p:nvPr>
        </p:nvSpPr>
        <p:spPr>
          <a:xfrm>
            <a:off x="4114800" y="2430433"/>
            <a:ext cx="4343400" cy="15321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r" rtl="0">
              <a:spcBef>
                <a:spcPts val="8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0"/>
          <p:cNvSpPr txBox="1">
            <a:spLocks noGrp="1"/>
          </p:cNvSpPr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Feedback</a:t>
            </a:r>
            <a:endParaRPr/>
          </a:p>
        </p:txBody>
      </p:sp>
      <p:sp>
        <p:nvSpPr>
          <p:cNvPr id="175" name="Google Shape;175;p20"/>
          <p:cNvSpPr txBox="1">
            <a:spLocks noGrp="1"/>
          </p:cNvSpPr>
          <p:nvPr>
            <p:ph type="body" idx="1"/>
          </p:nvPr>
        </p:nvSpPr>
        <p:spPr>
          <a:xfrm>
            <a:off x="633845" y="1035887"/>
            <a:ext cx="7886700" cy="35991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How comfortable are you with material so far</a:t>
            </a: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Green: Very Comfortable</a:t>
            </a: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Yellow: Moderately Comfortable</a:t>
            </a: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Red: Not comfortable</a:t>
            </a: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1"/>
          <p:cNvSpPr txBox="1">
            <a:spLocks noGrp="1"/>
          </p:cNvSpPr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Operations on a List - Adding Data</a:t>
            </a:r>
            <a:endParaRPr sz="3000"/>
          </a:p>
        </p:txBody>
      </p:sp>
      <p:sp>
        <p:nvSpPr>
          <p:cNvPr id="244" name="Google Shape;244;p31"/>
          <p:cNvSpPr txBox="1">
            <a:spLocks noGrp="1"/>
          </p:cNvSpPr>
          <p:nvPr>
            <p:ph type="body" idx="1"/>
          </p:nvPr>
        </p:nvSpPr>
        <p:spPr>
          <a:xfrm>
            <a:off x="633845" y="1035887"/>
            <a:ext cx="7886700" cy="35991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457200" lvl="0" indent="-349250" algn="just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900"/>
              <a:buChar char="●"/>
            </a:pPr>
            <a:r>
              <a:rPr lang="en" sz="2000"/>
              <a:t>Multiple operations are provided on a list object</a:t>
            </a:r>
            <a:endParaRPr sz="2000"/>
          </a:p>
          <a:p>
            <a:pPr marL="457200" lvl="0" indent="-3492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2000"/>
              <a:t>Syntax of an operation on an object: var_name.opname()</a:t>
            </a:r>
            <a:endParaRPr sz="2000"/>
          </a:p>
          <a:p>
            <a:pPr marL="457200" lvl="0" indent="-3492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2000"/>
              <a:t>If the var L is a list, some operations that can be done are:</a:t>
            </a:r>
            <a:endParaRPr sz="2000"/>
          </a:p>
          <a:p>
            <a:pPr marL="914400" lvl="1" indent="-3492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n" sz="2000" b="1"/>
              <a:t>L.append(item)</a:t>
            </a:r>
            <a:r>
              <a:rPr lang="en" sz="2000"/>
              <a:t> # adds an item to the end of L</a:t>
            </a:r>
            <a:endParaRPr sz="2000"/>
          </a:p>
          <a:p>
            <a:pPr marL="914400" lvl="1" indent="-3492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n" sz="2000" b="1"/>
              <a:t>L.insert(i, item)</a:t>
            </a:r>
            <a:r>
              <a:rPr lang="en" sz="2000"/>
              <a:t> # insert item at i th location in L - earlier items from i onwards are pushed back (i.e. their index increases)</a:t>
            </a:r>
            <a:endParaRPr sz="2000"/>
          </a:p>
          <a:p>
            <a:pPr marL="914400" lvl="1" indent="-3492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n" sz="2000" b="1"/>
              <a:t>L.extend(list)</a:t>
            </a:r>
            <a:r>
              <a:rPr lang="en" sz="2000"/>
              <a:t> # append the list to L, (the argument must be a list)</a:t>
            </a:r>
            <a:endParaRPr sz="2000"/>
          </a:p>
          <a:p>
            <a:pPr marL="914400" lvl="0" indent="0" algn="just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endParaRPr sz="2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2"/>
          <p:cNvSpPr txBox="1">
            <a:spLocks noGrp="1"/>
          </p:cNvSpPr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Operations on a List - Removing Data</a:t>
            </a:r>
            <a:endParaRPr sz="3000"/>
          </a:p>
        </p:txBody>
      </p:sp>
      <p:sp>
        <p:nvSpPr>
          <p:cNvPr id="250" name="Google Shape;250;p32"/>
          <p:cNvSpPr txBox="1">
            <a:spLocks noGrp="1"/>
          </p:cNvSpPr>
          <p:nvPr>
            <p:ph type="body" idx="1"/>
          </p:nvPr>
        </p:nvSpPr>
        <p:spPr>
          <a:xfrm>
            <a:off x="633845" y="1035887"/>
            <a:ext cx="7886700" cy="22857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457200" lvl="0" indent="-355600" algn="l" rtl="0">
              <a:spcBef>
                <a:spcPts val="80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Multiple operations provided for removing items from a list L, e.g</a:t>
            </a:r>
            <a:endParaRPr sz="2000"/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 b="1"/>
              <a:t>L.remove(item)</a:t>
            </a:r>
            <a:r>
              <a:rPr lang="en" sz="2000"/>
              <a:t> # removes the item if it exists (first occurrence only), else gives ValueError</a:t>
            </a:r>
            <a:endParaRPr sz="2000"/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 b="1"/>
              <a:t>L.pop(index)</a:t>
            </a:r>
            <a:r>
              <a:rPr lang="en" sz="2000"/>
              <a:t> # removes L[index] item ; if no i specified, removes last item</a:t>
            </a:r>
            <a:endParaRPr sz="2000"/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 b="1"/>
              <a:t>L.clear()</a:t>
            </a:r>
            <a:r>
              <a:rPr lang="en" sz="2000"/>
              <a:t> # clears the list; L becomes an empty list: []</a:t>
            </a:r>
            <a:endParaRPr sz="200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Items can also be removed from the list using the del function:</a:t>
            </a:r>
            <a:endParaRPr sz="2000"/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 b="1">
                <a:latin typeface="Courier New"/>
                <a:ea typeface="Courier New"/>
                <a:cs typeface="Courier New"/>
                <a:sym typeface="Courier New"/>
              </a:rPr>
              <a:t>del L[index]</a:t>
            </a:r>
            <a:r>
              <a:rPr lang="en" sz="2000"/>
              <a:t> # removes the item at the specified index</a:t>
            </a:r>
            <a:endParaRPr sz="2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3"/>
          <p:cNvSpPr txBox="1">
            <a:spLocks noGrp="1"/>
          </p:cNvSpPr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Operations on Lists - others</a:t>
            </a:r>
            <a:endParaRPr/>
          </a:p>
        </p:txBody>
      </p:sp>
      <p:sp>
        <p:nvSpPr>
          <p:cNvPr id="256" name="Google Shape;256;p33"/>
          <p:cNvSpPr txBox="1">
            <a:spLocks noGrp="1"/>
          </p:cNvSpPr>
          <p:nvPr>
            <p:ph type="body" idx="1"/>
          </p:nvPr>
        </p:nvSpPr>
        <p:spPr>
          <a:xfrm>
            <a:off x="633845" y="1035887"/>
            <a:ext cx="7886700" cy="35991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457200" lvl="0" indent="-349250" algn="just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900"/>
              <a:buChar char="●"/>
            </a:pPr>
            <a:r>
              <a:rPr lang="en" sz="2000" b="1"/>
              <a:t>L.index(item)</a:t>
            </a:r>
            <a:r>
              <a:rPr lang="en" sz="2000"/>
              <a:t> # returns the lowest index where the searched item appears</a:t>
            </a:r>
            <a:endParaRPr sz="2000"/>
          </a:p>
          <a:p>
            <a:pPr marL="457200" lvl="0" indent="-3492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2000" b="1"/>
              <a:t>L.reverse()</a:t>
            </a:r>
            <a:r>
              <a:rPr lang="en" sz="2000"/>
              <a:t> # reverses the order of list elements, updates the existing list, does not return any value </a:t>
            </a:r>
            <a:endParaRPr sz="2000"/>
          </a:p>
          <a:p>
            <a:pPr marL="457200" lvl="0" indent="-3556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 b="1"/>
              <a:t>L.count(item)</a:t>
            </a:r>
            <a:r>
              <a:rPr lang="en" sz="2000"/>
              <a:t> # give the no of times item occurs in L</a:t>
            </a:r>
            <a:endParaRPr sz="2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4"/>
          <p:cNvSpPr txBox="1">
            <a:spLocks noGrp="1"/>
          </p:cNvSpPr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Quiz : Single Correct</a:t>
            </a:r>
            <a:endParaRPr sz="3000"/>
          </a:p>
        </p:txBody>
      </p:sp>
      <p:sp>
        <p:nvSpPr>
          <p:cNvPr id="262" name="Google Shape;262;p34"/>
          <p:cNvSpPr txBox="1">
            <a:spLocks noGrp="1"/>
          </p:cNvSpPr>
          <p:nvPr>
            <p:ph type="body" idx="1"/>
          </p:nvPr>
        </p:nvSpPr>
        <p:spPr>
          <a:xfrm>
            <a:off x="633852" y="1035875"/>
            <a:ext cx="7694400" cy="19368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 sz="2000"/>
              <a:t>What would be the output of the code given on the right?</a:t>
            </a:r>
            <a:endParaRPr sz="2000"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 sz="2000"/>
          </a:p>
          <a:p>
            <a:pPr marL="457200" lvl="0" indent="-355600" algn="l" rtl="0">
              <a:spcBef>
                <a:spcPts val="800"/>
              </a:spcBef>
              <a:spcAft>
                <a:spcPts val="0"/>
              </a:spcAft>
              <a:buSzPts val="2000"/>
              <a:buAutoNum type="alphaUcPeriod"/>
            </a:pPr>
            <a:r>
              <a:rPr lang="en" sz="2000"/>
              <a:t>Error</a:t>
            </a:r>
            <a:endParaRPr sz="200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AutoNum type="alphaUcPeriod"/>
            </a:pPr>
            <a:r>
              <a:rPr lang="en" sz="2000"/>
              <a:t>[8, 12]</a:t>
            </a:r>
            <a:endParaRPr sz="200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AutoNum type="alphaUcPeriod"/>
            </a:pPr>
            <a:r>
              <a:rPr lang="en" sz="2000"/>
              <a:t>[1, 2, 3, 4, 1, 2, 3, 4]</a:t>
            </a:r>
            <a:endParaRPr sz="200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AutoNum type="alphaUcPeriod"/>
            </a:pPr>
            <a:r>
              <a:rPr lang="en" sz="2000"/>
              <a:t>[1, 2, 1, 2, 3, 4, 3, 4]</a:t>
            </a:r>
            <a:endParaRPr sz="2000"/>
          </a:p>
        </p:txBody>
      </p:sp>
      <p:sp>
        <p:nvSpPr>
          <p:cNvPr id="263" name="Google Shape;263;p34"/>
          <p:cNvSpPr txBox="1">
            <a:spLocks noGrp="1"/>
          </p:cNvSpPr>
          <p:nvPr>
            <p:ph type="body" idx="1"/>
          </p:nvPr>
        </p:nvSpPr>
        <p:spPr>
          <a:xfrm>
            <a:off x="4204750" y="1979975"/>
            <a:ext cx="3513300" cy="992700"/>
          </a:xfrm>
          <a:prstGeom prst="rect">
            <a:avLst/>
          </a:prstGeom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latin typeface="Courier New"/>
                <a:ea typeface="Courier New"/>
                <a:cs typeface="Courier New"/>
                <a:sym typeface="Courier New"/>
              </a:rPr>
              <a:t>list1 = [1, 2] </a:t>
            </a:r>
            <a:endParaRPr sz="15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latin typeface="Courier New"/>
                <a:ea typeface="Courier New"/>
                <a:cs typeface="Courier New"/>
                <a:sym typeface="Courier New"/>
              </a:rPr>
              <a:t>list2 = [3, 4] </a:t>
            </a:r>
            <a:endParaRPr sz="15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15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latin typeface="Courier New"/>
                <a:ea typeface="Courier New"/>
                <a:cs typeface="Courier New"/>
                <a:sym typeface="Courier New"/>
              </a:rPr>
              <a:t>print ((list1 + list2)*2)</a:t>
            </a:r>
            <a:endParaRPr sz="1500" b="1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5"/>
          <p:cNvSpPr txBox="1">
            <a:spLocks noGrp="1"/>
          </p:cNvSpPr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Quiz : Single Correct</a:t>
            </a:r>
            <a:endParaRPr sz="3000"/>
          </a:p>
        </p:txBody>
      </p:sp>
      <p:sp>
        <p:nvSpPr>
          <p:cNvPr id="269" name="Google Shape;269;p35"/>
          <p:cNvSpPr txBox="1">
            <a:spLocks noGrp="1"/>
          </p:cNvSpPr>
          <p:nvPr>
            <p:ph type="body" idx="1"/>
          </p:nvPr>
        </p:nvSpPr>
        <p:spPr>
          <a:xfrm>
            <a:off x="633852" y="1035875"/>
            <a:ext cx="7844400" cy="26961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 sz="2000"/>
              <a:t>What would be the output of the code given on the right?</a:t>
            </a:r>
            <a:endParaRPr sz="2000"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 sz="2000"/>
          </a:p>
          <a:p>
            <a:pPr marL="457200" lvl="0" indent="-355600" algn="l" rtl="0">
              <a:spcBef>
                <a:spcPts val="800"/>
              </a:spcBef>
              <a:spcAft>
                <a:spcPts val="0"/>
              </a:spcAft>
              <a:buSzPts val="2000"/>
              <a:buAutoNum type="alphaUcPeriod"/>
            </a:pPr>
            <a:r>
              <a:rPr lang="en" sz="2000"/>
              <a:t>Error</a:t>
            </a:r>
            <a:endParaRPr sz="200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AutoNum type="alphaUcPeriod"/>
            </a:pPr>
            <a:r>
              <a:rPr lang="en" sz="2000"/>
              <a:t>[8, 12]</a:t>
            </a:r>
            <a:endParaRPr sz="200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AutoNum type="alphaUcPeriod"/>
            </a:pPr>
            <a:r>
              <a:rPr lang="en" sz="2000">
                <a:solidFill>
                  <a:srgbClr val="FF0000"/>
                </a:solidFill>
              </a:rPr>
              <a:t>[1, 2, 3, 4, 1, 2, 3, 4]</a:t>
            </a:r>
            <a:endParaRPr sz="2000">
              <a:solidFill>
                <a:srgbClr val="FF0000"/>
              </a:solidFill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AutoNum type="alphaUcPeriod"/>
            </a:pPr>
            <a:r>
              <a:rPr lang="en" sz="2000"/>
              <a:t>[1, 2, 1, 2, 3, 4, 3, 4]</a:t>
            </a:r>
            <a:endParaRPr sz="2000"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 sz="2000"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 sz="2000"/>
              <a:t>Explanation: Recall that + is  for concatenation and * is for replication</a:t>
            </a:r>
            <a:endParaRPr sz="2000"/>
          </a:p>
        </p:txBody>
      </p:sp>
      <p:sp>
        <p:nvSpPr>
          <p:cNvPr id="270" name="Google Shape;270;p35"/>
          <p:cNvSpPr txBox="1">
            <a:spLocks noGrp="1"/>
          </p:cNvSpPr>
          <p:nvPr>
            <p:ph type="body" idx="1"/>
          </p:nvPr>
        </p:nvSpPr>
        <p:spPr>
          <a:xfrm>
            <a:off x="4204750" y="1979975"/>
            <a:ext cx="3513300" cy="992700"/>
          </a:xfrm>
          <a:prstGeom prst="rect">
            <a:avLst/>
          </a:prstGeom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latin typeface="Courier New"/>
                <a:ea typeface="Courier New"/>
                <a:cs typeface="Courier New"/>
                <a:sym typeface="Courier New"/>
              </a:rPr>
              <a:t>list1 = [1, 2] </a:t>
            </a:r>
            <a:endParaRPr sz="15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latin typeface="Courier New"/>
                <a:ea typeface="Courier New"/>
                <a:cs typeface="Courier New"/>
                <a:sym typeface="Courier New"/>
              </a:rPr>
              <a:t>list2 = [3, 4] </a:t>
            </a:r>
            <a:endParaRPr sz="15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15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latin typeface="Courier New"/>
                <a:ea typeface="Courier New"/>
                <a:cs typeface="Courier New"/>
                <a:sym typeface="Courier New"/>
              </a:rPr>
              <a:t>print ((list1 + list2)*2)</a:t>
            </a:r>
            <a:endParaRPr sz="1500" b="1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6"/>
          <p:cNvSpPr txBox="1">
            <a:spLocks noGrp="1"/>
          </p:cNvSpPr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Example </a:t>
            </a:r>
            <a:endParaRPr sz="3000"/>
          </a:p>
        </p:txBody>
      </p:sp>
      <p:sp>
        <p:nvSpPr>
          <p:cNvPr id="276" name="Google Shape;276;p36"/>
          <p:cNvSpPr txBox="1">
            <a:spLocks noGrp="1"/>
          </p:cNvSpPr>
          <p:nvPr>
            <p:ph type="body" idx="1"/>
          </p:nvPr>
        </p:nvSpPr>
        <p:spPr>
          <a:xfrm>
            <a:off x="633850" y="1035875"/>
            <a:ext cx="3982500" cy="27240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just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800"/>
              <a:t>Given a list as input, write a program to create a new list that has products of frequency of repeating elements (which come together) and value of elements.</a:t>
            </a:r>
            <a:endParaRPr sz="1800"/>
          </a:p>
          <a:p>
            <a:pPr marL="0" lvl="0" indent="0" algn="just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800" b="1"/>
              <a:t>Input :</a:t>
            </a:r>
            <a:r>
              <a:rPr lang="en" sz="1800"/>
              <a:t> </a:t>
            </a:r>
            <a:endParaRPr sz="1800"/>
          </a:p>
          <a:p>
            <a:pPr marL="0" lvl="0" indent="0" algn="just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800"/>
              <a:t>lst = [2, 2, 2, 2, 5, 5, 5, 8, 8, 8, 8, 8, 6, 6, 6, 6, 4, 4, 7, 7, 7, 5, 7,7]</a:t>
            </a:r>
            <a:endParaRPr sz="1800"/>
          </a:p>
          <a:p>
            <a:pPr marL="0" lvl="0" indent="0" algn="just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800" b="1"/>
              <a:t>Output :</a:t>
            </a:r>
            <a:r>
              <a:rPr lang="en" sz="1800"/>
              <a:t> </a:t>
            </a:r>
            <a:endParaRPr sz="1800"/>
          </a:p>
          <a:p>
            <a:pPr marL="0" lvl="0" indent="0" algn="just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800"/>
              <a:t>res = [8, 15, 40, 24, 8, 21, 5, 14]</a:t>
            </a:r>
            <a:endParaRPr sz="1800"/>
          </a:p>
        </p:txBody>
      </p:sp>
      <p:sp>
        <p:nvSpPr>
          <p:cNvPr id="277" name="Google Shape;277;p36"/>
          <p:cNvSpPr txBox="1">
            <a:spLocks noGrp="1"/>
          </p:cNvSpPr>
          <p:nvPr>
            <p:ph type="body" idx="1"/>
          </p:nvPr>
        </p:nvSpPr>
        <p:spPr>
          <a:xfrm>
            <a:off x="4923122" y="1042025"/>
            <a:ext cx="3626400" cy="2609100"/>
          </a:xfrm>
          <a:prstGeom prst="rect">
            <a:avLst/>
          </a:prstGeom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latin typeface="Courier New"/>
                <a:ea typeface="Courier New"/>
                <a:cs typeface="Courier New"/>
                <a:sym typeface="Courier New"/>
              </a:rPr>
              <a:t>res = []</a:t>
            </a:r>
            <a:endParaRPr sz="15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latin typeface="Courier New"/>
                <a:ea typeface="Courier New"/>
                <a:cs typeface="Courier New"/>
                <a:sym typeface="Courier New"/>
              </a:rPr>
              <a:t>count = 1 </a:t>
            </a:r>
            <a:endParaRPr sz="15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latin typeface="Courier New"/>
                <a:ea typeface="Courier New"/>
                <a:cs typeface="Courier New"/>
                <a:sym typeface="Courier New"/>
              </a:rPr>
              <a:t>for i in range(1,len(lst)):</a:t>
            </a:r>
            <a:endParaRPr sz="15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latin typeface="Courier New"/>
                <a:ea typeface="Courier New"/>
                <a:cs typeface="Courier New"/>
                <a:sym typeface="Courier New"/>
              </a:rPr>
              <a:t>  if lst[i]!=lst[i-1]:</a:t>
            </a:r>
            <a:endParaRPr sz="15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latin typeface="Courier New"/>
                <a:ea typeface="Courier New"/>
                <a:cs typeface="Courier New"/>
                <a:sym typeface="Courier New"/>
              </a:rPr>
              <a:t>    res.append(count*lst[i-1])</a:t>
            </a:r>
            <a:endParaRPr sz="15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latin typeface="Courier New"/>
                <a:ea typeface="Courier New"/>
                <a:cs typeface="Courier New"/>
                <a:sym typeface="Courier New"/>
              </a:rPr>
              <a:t>    count = 0 </a:t>
            </a:r>
            <a:endParaRPr sz="15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latin typeface="Courier New"/>
                <a:ea typeface="Courier New"/>
                <a:cs typeface="Courier New"/>
                <a:sym typeface="Courier New"/>
              </a:rPr>
              <a:t>  count = count+1</a:t>
            </a:r>
            <a:endParaRPr sz="15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latin typeface="Courier New"/>
                <a:ea typeface="Courier New"/>
                <a:cs typeface="Courier New"/>
                <a:sym typeface="Courier New"/>
              </a:rPr>
              <a:t>res.append(count*lst[-1])</a:t>
            </a:r>
            <a:endParaRPr sz="15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latin typeface="Courier New"/>
                <a:ea typeface="Courier New"/>
                <a:cs typeface="Courier New"/>
                <a:sym typeface="Courier New"/>
              </a:rPr>
              <a:t>print(res)</a:t>
            </a:r>
            <a:endParaRPr sz="1500" b="1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7"/>
          <p:cNvSpPr txBox="1">
            <a:spLocks noGrp="1"/>
          </p:cNvSpPr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Example : List Operations</a:t>
            </a:r>
            <a:endParaRPr sz="3000"/>
          </a:p>
        </p:txBody>
      </p:sp>
      <p:sp>
        <p:nvSpPr>
          <p:cNvPr id="283" name="Google Shape;283;p37"/>
          <p:cNvSpPr txBox="1">
            <a:spLocks noGrp="1"/>
          </p:cNvSpPr>
          <p:nvPr>
            <p:ph type="body" idx="1"/>
          </p:nvPr>
        </p:nvSpPr>
        <p:spPr>
          <a:xfrm>
            <a:off x="633847" y="1035875"/>
            <a:ext cx="3626400" cy="30318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just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800"/>
              <a:t>Replace 1st occurrence of the given element with new value if found</a:t>
            </a:r>
            <a:endParaRPr sz="1800"/>
          </a:p>
          <a:p>
            <a:pPr marL="0" lvl="0" indent="0" algn="just" rtl="0">
              <a:spcBef>
                <a:spcPts val="800"/>
              </a:spcBef>
              <a:spcAft>
                <a:spcPts val="0"/>
              </a:spcAft>
              <a:buNone/>
            </a:pPr>
            <a:endParaRPr sz="1800"/>
          </a:p>
          <a:p>
            <a:pPr marL="0" lvl="0" indent="0" algn="just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800" b="1"/>
              <a:t>Input:</a:t>
            </a:r>
            <a:r>
              <a:rPr lang="en" sz="1800"/>
              <a:t> </a:t>
            </a:r>
            <a:endParaRPr sz="1800"/>
          </a:p>
          <a:p>
            <a:pPr marL="0" lvl="0" indent="0" algn="just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800"/>
              <a:t>l1 = [2, 3, 3, 5, 7, 3, 4, 3]</a:t>
            </a:r>
            <a:endParaRPr sz="1800"/>
          </a:p>
          <a:p>
            <a:pPr marL="0" lvl="0" indent="0" algn="just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800"/>
              <a:t>Element to be replaced: 3</a:t>
            </a:r>
            <a:endParaRPr sz="1800"/>
          </a:p>
          <a:p>
            <a:pPr marL="0" lvl="0" indent="0" algn="just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800"/>
              <a:t>New value = 13</a:t>
            </a:r>
            <a:endParaRPr sz="1800"/>
          </a:p>
          <a:p>
            <a:pPr marL="0" lvl="0" indent="0" algn="just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800" b="1"/>
              <a:t>Output:</a:t>
            </a:r>
            <a:r>
              <a:rPr lang="en" sz="1800"/>
              <a:t> </a:t>
            </a:r>
            <a:endParaRPr sz="1800"/>
          </a:p>
          <a:p>
            <a:pPr marL="0" lvl="0" indent="0" algn="just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800"/>
              <a:t>[2, 13, 3, 5, 7, 3, 4, 3]</a:t>
            </a:r>
            <a:endParaRPr sz="1800"/>
          </a:p>
        </p:txBody>
      </p:sp>
      <p:sp>
        <p:nvSpPr>
          <p:cNvPr id="284" name="Google Shape;284;p37"/>
          <p:cNvSpPr txBox="1">
            <a:spLocks noGrp="1"/>
          </p:cNvSpPr>
          <p:nvPr>
            <p:ph type="body" idx="1"/>
          </p:nvPr>
        </p:nvSpPr>
        <p:spPr>
          <a:xfrm>
            <a:off x="4501450" y="1035875"/>
            <a:ext cx="3987900" cy="2609100"/>
          </a:xfrm>
          <a:prstGeom prst="rect">
            <a:avLst/>
          </a:prstGeom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latin typeface="Courier New"/>
                <a:ea typeface="Courier New"/>
                <a:cs typeface="Courier New"/>
                <a:sym typeface="Courier New"/>
              </a:rPr>
              <a:t>l1 = [2, 3, 3, 5, 7, 3, 4, 3]</a:t>
            </a:r>
            <a:endParaRPr sz="15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latin typeface="Courier New"/>
                <a:ea typeface="Courier New"/>
                <a:cs typeface="Courier New"/>
                <a:sym typeface="Courier New"/>
              </a:rPr>
              <a:t>elt = 3</a:t>
            </a:r>
            <a:endParaRPr sz="15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latin typeface="Courier New"/>
                <a:ea typeface="Courier New"/>
                <a:cs typeface="Courier New"/>
                <a:sym typeface="Courier New"/>
              </a:rPr>
              <a:t>new_value = 13</a:t>
            </a:r>
            <a:endParaRPr sz="15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latin typeface="Courier New"/>
                <a:ea typeface="Courier New"/>
                <a:cs typeface="Courier New"/>
                <a:sym typeface="Courier New"/>
              </a:rPr>
              <a:t>index = l1.index(elt) #Index :  1</a:t>
            </a:r>
            <a:endParaRPr sz="15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latin typeface="Courier New"/>
                <a:ea typeface="Courier New"/>
                <a:cs typeface="Courier New"/>
                <a:sym typeface="Courier New"/>
              </a:rPr>
              <a:t>print("Index : ",index)</a:t>
            </a:r>
            <a:endParaRPr sz="15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latin typeface="Courier New"/>
                <a:ea typeface="Courier New"/>
                <a:cs typeface="Courier New"/>
                <a:sym typeface="Courier New"/>
              </a:rPr>
              <a:t>l1[index] = new_value</a:t>
            </a:r>
            <a:endParaRPr sz="15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latin typeface="Courier New"/>
                <a:ea typeface="Courier New"/>
                <a:cs typeface="Courier New"/>
                <a:sym typeface="Courier New"/>
              </a:rPr>
              <a:t>print(l1) </a:t>
            </a:r>
            <a:endParaRPr sz="15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latin typeface="Courier New"/>
                <a:ea typeface="Courier New"/>
                <a:cs typeface="Courier New"/>
                <a:sym typeface="Courier New"/>
              </a:rPr>
              <a:t># [2, 13, 3, 5, 7, 3, 4, 3]</a:t>
            </a:r>
            <a:endParaRPr sz="1500" b="1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8"/>
          <p:cNvSpPr txBox="1">
            <a:spLocks noGrp="1"/>
          </p:cNvSpPr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Example: Replacing a value in a list…</a:t>
            </a:r>
            <a:endParaRPr/>
          </a:p>
        </p:txBody>
      </p:sp>
      <p:sp>
        <p:nvSpPr>
          <p:cNvPr id="290" name="Google Shape;290;p38"/>
          <p:cNvSpPr txBox="1">
            <a:spLocks noGrp="1"/>
          </p:cNvSpPr>
          <p:nvPr>
            <p:ph type="body" idx="1"/>
          </p:nvPr>
        </p:nvSpPr>
        <p:spPr>
          <a:xfrm>
            <a:off x="685799" y="1035886"/>
            <a:ext cx="3834300" cy="35991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 fontScale="85000" lnSpcReduction="20000"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# Replacing 1st item with new val</a:t>
            </a: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lst = [2, 3, 3, 5, 7, 3, 4, 3]</a:t>
            </a: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old_val = 3</a:t>
            </a: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new_val = 13</a:t>
            </a: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if old_val in lst:</a:t>
            </a: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    i = lst.index(old_val) </a:t>
            </a: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    lst[i] = new_val</a:t>
            </a: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    print(lst)</a:t>
            </a: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else:</a:t>
            </a: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    print(old_val, " not in list")</a:t>
            </a: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" name="Google Shape;291;p38"/>
          <p:cNvSpPr txBox="1">
            <a:spLocks noGrp="1"/>
          </p:cNvSpPr>
          <p:nvPr>
            <p:ph type="body" idx="2"/>
          </p:nvPr>
        </p:nvSpPr>
        <p:spPr>
          <a:xfrm>
            <a:off x="4683577" y="1035886"/>
            <a:ext cx="3828900" cy="35991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 fontScale="70000" lnSpcReduction="20000"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# Replacing all items with new val</a:t>
            </a: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lst = [2, 3, 3, 5, 7, 3, 4, 3]</a:t>
            </a: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old_val = 3</a:t>
            </a: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new_val = 13</a:t>
            </a: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if old_val in lst:</a:t>
            </a: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    for i in range(len(lst)):</a:t>
            </a: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        if lst[i] == old_val:</a:t>
            </a: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            lst[i] = new_val</a:t>
            </a: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    print("Index : ",i)</a:t>
            </a: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    print(lst)</a:t>
            </a: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else:</a:t>
            </a: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    print(old_val, " not in list")</a:t>
            </a: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9"/>
          <p:cNvSpPr txBox="1">
            <a:spLocks noGrp="1"/>
          </p:cNvSpPr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Quiz - Numerical</a:t>
            </a:r>
            <a:endParaRPr/>
          </a:p>
        </p:txBody>
      </p:sp>
      <p:sp>
        <p:nvSpPr>
          <p:cNvPr id="297" name="Google Shape;297;p39"/>
          <p:cNvSpPr txBox="1">
            <a:spLocks noGrp="1"/>
          </p:cNvSpPr>
          <p:nvPr>
            <p:ph type="body" idx="1"/>
          </p:nvPr>
        </p:nvSpPr>
        <p:spPr>
          <a:xfrm>
            <a:off x="633845" y="1035887"/>
            <a:ext cx="7886700" cy="35991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457200" lvl="0" indent="-317500" algn="l" rtl="0">
              <a:spcBef>
                <a:spcPts val="8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What is the returned value of 2nd statement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pop(index) # removes the item at index; returns item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index(item) # returns the index of first occurrence of item</a:t>
            </a: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L = [1, 5, 9, 13, 5, 15, 20, 5, 25, 30]  # 10 items</a:t>
            </a: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L.pop(L.index(L.pop(4)))</a:t>
            </a: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40"/>
          <p:cNvSpPr txBox="1">
            <a:spLocks noGrp="1"/>
          </p:cNvSpPr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Quiz - Answer</a:t>
            </a:r>
            <a:endParaRPr/>
          </a:p>
        </p:txBody>
      </p:sp>
      <p:sp>
        <p:nvSpPr>
          <p:cNvPr id="303" name="Google Shape;303;p40"/>
          <p:cNvSpPr txBox="1">
            <a:spLocks noGrp="1"/>
          </p:cNvSpPr>
          <p:nvPr>
            <p:ph type="body" idx="1"/>
          </p:nvPr>
        </p:nvSpPr>
        <p:spPr>
          <a:xfrm>
            <a:off x="633845" y="1035887"/>
            <a:ext cx="7886700" cy="35991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457200" lvl="0" indent="-317500" algn="l" rtl="0">
              <a:spcBef>
                <a:spcPts val="8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What is the returned value of 2nd statement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pop(index) # removes the item at index; returns item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index(item) # returns the index of first occurrence of item</a:t>
            </a: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L = [1, 5, 9, 13, 5, 15, 20, 5, 25, 30]  # 10 items</a:t>
            </a: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L.pop(L.index(L.pop(4)))</a:t>
            </a: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/>
          </a:p>
          <a:p>
            <a:pPr marL="457200" lvl="0" indent="-317500" algn="l" rtl="0">
              <a:spcBef>
                <a:spcPts val="8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Inside pop will delete and return 4th item (i.e. the 2nd 5)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index(5) will return index of first occurrence of 5, i.e. 1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Pop will remove L[1] and return 5</a:t>
            </a: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1"/>
          <p:cNvSpPr txBox="1">
            <a:spLocks noGrp="1"/>
          </p:cNvSpPr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Copying a List</a:t>
            </a:r>
            <a:endParaRPr sz="3000"/>
          </a:p>
        </p:txBody>
      </p:sp>
      <p:sp>
        <p:nvSpPr>
          <p:cNvPr id="309" name="Google Shape;309;p41"/>
          <p:cNvSpPr txBox="1">
            <a:spLocks noGrp="1"/>
          </p:cNvSpPr>
          <p:nvPr>
            <p:ph type="body" idx="1"/>
          </p:nvPr>
        </p:nvSpPr>
        <p:spPr>
          <a:xfrm>
            <a:off x="633850" y="1035874"/>
            <a:ext cx="7886700" cy="38661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457200" lvl="0" indent="-3556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Say, L1 is a list of [1, 2, 3]</a:t>
            </a:r>
            <a:endParaRPr sz="2000"/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L2 = L1 does not create a new list - just creates a new var L2 which also points to the same list</a:t>
            </a:r>
            <a:endParaRPr sz="2000"/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We can make truly another copy of the list by copy() operation</a:t>
            </a:r>
            <a:endParaRPr sz="2000"/>
          </a:p>
          <a:p>
            <a:pPr marL="457200" lvl="0" indent="4572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2000"/>
              <a:t>L2=L1.copy()</a:t>
            </a:r>
            <a:endParaRPr sz="2000"/>
          </a:p>
          <a:p>
            <a:pPr marL="457200" lvl="0" indent="-3556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We can also create a copy of the list using slicing. </a:t>
            </a:r>
            <a:endParaRPr sz="2000"/>
          </a:p>
          <a:p>
            <a:pPr marL="91440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2000"/>
              <a:t>L2 = L1[:] # Leaving both start and stop as blank</a:t>
            </a:r>
            <a:endParaRPr sz="2000"/>
          </a:p>
          <a:p>
            <a:pPr marL="457200" lvl="0" indent="-3556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With L1=L2, if you change L1[i] (or L2[i]) , the change is in the list, and as both L1 and L2 point to same list, both will show</a:t>
            </a:r>
            <a:endParaRPr sz="2000"/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With copy, a new list is created which has same contents as list pointed by L1, and pointer to this is assigned to L2</a:t>
            </a:r>
            <a:endParaRPr sz="20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42"/>
          <p:cNvSpPr txBox="1">
            <a:spLocks noGrp="1"/>
          </p:cNvSpPr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Copying a list - pythontutor.com</a:t>
            </a:r>
            <a:endParaRPr sz="3000"/>
          </a:p>
        </p:txBody>
      </p:sp>
      <p:sp>
        <p:nvSpPr>
          <p:cNvPr id="315" name="Google Shape;315;p42"/>
          <p:cNvSpPr txBox="1">
            <a:spLocks noGrp="1"/>
          </p:cNvSpPr>
          <p:nvPr>
            <p:ph type="body" idx="1"/>
          </p:nvPr>
        </p:nvSpPr>
        <p:spPr>
          <a:xfrm>
            <a:off x="633845" y="1035887"/>
            <a:ext cx="3886200" cy="3599100"/>
          </a:xfrm>
          <a:prstGeom prst="rect">
            <a:avLst/>
          </a:prstGeom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500" b="1">
                <a:latin typeface="Courier New"/>
                <a:ea typeface="Courier New"/>
                <a:cs typeface="Courier New"/>
                <a:sym typeface="Courier New"/>
              </a:rPr>
              <a:t>l1 = [1,2,3,4]</a:t>
            </a:r>
            <a:endParaRPr sz="15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 sz="15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500" b="1">
                <a:latin typeface="Courier New"/>
                <a:ea typeface="Courier New"/>
                <a:cs typeface="Courier New"/>
                <a:sym typeface="Courier New"/>
              </a:rPr>
              <a:t>l2 = l1</a:t>
            </a:r>
            <a:endParaRPr sz="15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 sz="15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500" b="1">
                <a:latin typeface="Courier New"/>
                <a:ea typeface="Courier New"/>
                <a:cs typeface="Courier New"/>
                <a:sym typeface="Courier New"/>
              </a:rPr>
              <a:t>l2[2] = 10</a:t>
            </a:r>
            <a:endParaRPr sz="15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 sz="15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500" b="1">
                <a:latin typeface="Courier New"/>
                <a:ea typeface="Courier New"/>
                <a:cs typeface="Courier New"/>
                <a:sym typeface="Courier New"/>
              </a:rPr>
              <a:t>print(l1)</a:t>
            </a:r>
            <a:endParaRPr sz="15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 sz="15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500" b="1">
                <a:latin typeface="Courier New"/>
                <a:ea typeface="Courier New"/>
                <a:cs typeface="Courier New"/>
                <a:sym typeface="Courier New"/>
              </a:rPr>
              <a:t>print(l2)</a:t>
            </a:r>
            <a:endParaRPr sz="1500" b="1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16" name="Google Shape;316;p42"/>
          <p:cNvSpPr txBox="1">
            <a:spLocks noGrp="1"/>
          </p:cNvSpPr>
          <p:nvPr>
            <p:ph type="body" idx="2"/>
          </p:nvPr>
        </p:nvSpPr>
        <p:spPr>
          <a:xfrm>
            <a:off x="4629150" y="1035887"/>
            <a:ext cx="3886200" cy="3599100"/>
          </a:xfrm>
          <a:prstGeom prst="rect">
            <a:avLst/>
          </a:prstGeom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 b="1">
                <a:latin typeface="Courier New"/>
                <a:ea typeface="Courier New"/>
                <a:cs typeface="Courier New"/>
                <a:sym typeface="Courier New"/>
              </a:rPr>
              <a:t>l1 = [1,2,3,4]</a:t>
            </a:r>
            <a:endParaRPr sz="15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5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 b="1">
                <a:latin typeface="Courier New"/>
                <a:ea typeface="Courier New"/>
                <a:cs typeface="Courier New"/>
                <a:sym typeface="Courier New"/>
              </a:rPr>
              <a:t>l2 = l1.copy()</a:t>
            </a:r>
            <a:endParaRPr sz="15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5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 b="1">
                <a:latin typeface="Courier New"/>
                <a:ea typeface="Courier New"/>
                <a:cs typeface="Courier New"/>
                <a:sym typeface="Courier New"/>
              </a:rPr>
              <a:t>l2[2] = 10</a:t>
            </a:r>
            <a:endParaRPr sz="15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5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 b="1">
                <a:latin typeface="Courier New"/>
                <a:ea typeface="Courier New"/>
                <a:cs typeface="Courier New"/>
                <a:sym typeface="Courier New"/>
              </a:rPr>
              <a:t>print(l1)</a:t>
            </a:r>
            <a:endParaRPr sz="15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5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 b="1">
                <a:latin typeface="Courier New"/>
                <a:ea typeface="Courier New"/>
                <a:cs typeface="Courier New"/>
                <a:sym typeface="Courier New"/>
              </a:rPr>
              <a:t>print(l2)</a:t>
            </a:r>
            <a:endParaRPr sz="15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None/>
            </a:pPr>
            <a:endParaRPr sz="1500" b="1"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317" name="Google Shape;317;p42"/>
          <p:cNvPicPr preferRelativeResize="0"/>
          <p:nvPr/>
        </p:nvPicPr>
        <p:blipFill rotWithShape="1">
          <a:blip r:embed="rId3">
            <a:alphaModFix/>
          </a:blip>
          <a:srcRect t="12126"/>
          <a:stretch/>
        </p:blipFill>
        <p:spPr>
          <a:xfrm>
            <a:off x="2287025" y="1113288"/>
            <a:ext cx="2233026" cy="847187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" name="Google Shape;318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31675" y="1871675"/>
            <a:ext cx="2284975" cy="919743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" name="Google Shape;319;p4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31675" y="3080550"/>
            <a:ext cx="2233025" cy="1037704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p4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277352" y="1093575"/>
            <a:ext cx="1996284" cy="77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1" name="Google Shape;321;p4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277350" y="1871675"/>
            <a:ext cx="2033125" cy="1265178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" name="Google Shape;322;p4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277350" y="3226500"/>
            <a:ext cx="2033131" cy="1208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43"/>
          <p:cNvSpPr txBox="1">
            <a:spLocks noGrp="1"/>
          </p:cNvSpPr>
          <p:nvPr>
            <p:ph type="body" idx="1"/>
          </p:nvPr>
        </p:nvSpPr>
        <p:spPr>
          <a:xfrm>
            <a:off x="633845" y="1035887"/>
            <a:ext cx="3886200" cy="36966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457200" lvl="0" indent="-355600" algn="l" rtl="0">
              <a:spcBef>
                <a:spcPts val="80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For loop and lists are made for each other - easy to loop</a:t>
            </a:r>
            <a:endParaRPr/>
          </a:p>
          <a:p>
            <a:pPr marL="45720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for item in &lt;list&gt;:</a:t>
            </a:r>
            <a:endParaRPr/>
          </a:p>
          <a:p>
            <a:pPr marL="91440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Loop_body</a:t>
            </a: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====</a:t>
            </a:r>
            <a:endParaRPr/>
          </a:p>
          <a:p>
            <a:pPr marL="457200" lvl="0" indent="-355600" algn="l" rtl="0">
              <a:spcBef>
                <a:spcPts val="80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Looping using index is also easy</a:t>
            </a:r>
            <a:endParaRPr/>
          </a:p>
          <a:p>
            <a:pPr marL="45720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N = len(list)</a:t>
            </a:r>
            <a:endParaRPr/>
          </a:p>
          <a:p>
            <a:pPr marL="45720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for i in range(N):</a:t>
            </a:r>
            <a:endParaRPr/>
          </a:p>
          <a:p>
            <a:pPr marL="91440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use L[i]</a:t>
            </a:r>
            <a:endParaRPr/>
          </a:p>
        </p:txBody>
      </p:sp>
      <p:sp>
        <p:nvSpPr>
          <p:cNvPr id="328" name="Google Shape;328;p43"/>
          <p:cNvSpPr txBox="1">
            <a:spLocks noGrp="1"/>
          </p:cNvSpPr>
          <p:nvPr>
            <p:ph type="body" idx="2"/>
          </p:nvPr>
        </p:nvSpPr>
        <p:spPr>
          <a:xfrm>
            <a:off x="4629150" y="1035887"/>
            <a:ext cx="3886200" cy="35991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457200" lvl="0" indent="-355600" algn="l" rtl="0">
              <a:spcBef>
                <a:spcPts val="80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Printing items in a list:</a:t>
            </a:r>
            <a:endParaRPr/>
          </a:p>
          <a:p>
            <a:pPr marL="457200" lvl="0" indent="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for item in list1:</a:t>
            </a:r>
            <a:endParaRPr sz="2000"/>
          </a:p>
          <a:p>
            <a:pPr marL="457200" lvl="0" indent="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	print(item)</a:t>
            </a:r>
            <a:endParaRPr sz="2000"/>
          </a:p>
          <a:p>
            <a:pPr marL="45720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 sz="2000"/>
          </a:p>
          <a:p>
            <a:pPr marL="45720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 sz="2000"/>
              <a:t>====</a:t>
            </a:r>
            <a:endParaRPr sz="2000"/>
          </a:p>
          <a:p>
            <a:pPr marL="45720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 sz="2000"/>
              <a:t>for i in range(len(list1)):</a:t>
            </a:r>
            <a:endParaRPr sz="2000"/>
          </a:p>
          <a:p>
            <a:pPr marL="45720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 sz="2000"/>
              <a:t>	print(list1[i])</a:t>
            </a:r>
            <a:endParaRPr sz="2000"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9" name="Google Shape;329;p43"/>
          <p:cNvSpPr txBox="1">
            <a:spLocks noGrp="1"/>
          </p:cNvSpPr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Looping over items in a list</a:t>
            </a:r>
            <a:endParaRPr sz="30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44"/>
          <p:cNvSpPr txBox="1">
            <a:spLocks noGrp="1"/>
          </p:cNvSpPr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Eg: Sum of squares of items in a list</a:t>
            </a:r>
            <a:endParaRPr sz="3000"/>
          </a:p>
        </p:txBody>
      </p:sp>
      <p:sp>
        <p:nvSpPr>
          <p:cNvPr id="335" name="Google Shape;335;p44"/>
          <p:cNvSpPr txBox="1">
            <a:spLocks noGrp="1"/>
          </p:cNvSpPr>
          <p:nvPr>
            <p:ph type="body" idx="1"/>
          </p:nvPr>
        </p:nvSpPr>
        <p:spPr>
          <a:xfrm>
            <a:off x="633845" y="1035887"/>
            <a:ext cx="3886200" cy="35991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 b="1">
                <a:latin typeface="Courier New"/>
                <a:ea typeface="Courier New"/>
                <a:cs typeface="Courier New"/>
                <a:sym typeface="Courier New"/>
              </a:rPr>
              <a:t>lst = [1, 3, 2, 5, 9, 4]</a:t>
            </a:r>
            <a:endParaRPr sz="15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 b="1">
                <a:latin typeface="Courier New"/>
                <a:ea typeface="Courier New"/>
                <a:cs typeface="Courier New"/>
                <a:sym typeface="Courier New"/>
              </a:rPr>
              <a:t>total = 0</a:t>
            </a:r>
            <a:endParaRPr sz="15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 b="1">
                <a:latin typeface="Courier New"/>
                <a:ea typeface="Courier New"/>
                <a:cs typeface="Courier New"/>
                <a:sym typeface="Courier New"/>
              </a:rPr>
              <a:t>for item in lst:</a:t>
            </a:r>
            <a:endParaRPr sz="15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 b="1">
                <a:latin typeface="Courier New"/>
                <a:ea typeface="Courier New"/>
                <a:cs typeface="Courier New"/>
                <a:sym typeface="Courier New"/>
              </a:rPr>
              <a:t>    total = total + item*item</a:t>
            </a:r>
            <a:endParaRPr sz="15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 b="1">
                <a:latin typeface="Courier New"/>
                <a:ea typeface="Courier New"/>
                <a:cs typeface="Courier New"/>
                <a:sym typeface="Courier New"/>
              </a:rPr>
              <a:t>print(total)</a:t>
            </a:r>
            <a:endParaRPr sz="15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 sz="1500" b="1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36" name="Google Shape;336;p44"/>
          <p:cNvSpPr txBox="1">
            <a:spLocks noGrp="1"/>
          </p:cNvSpPr>
          <p:nvPr>
            <p:ph type="body" idx="2"/>
          </p:nvPr>
        </p:nvSpPr>
        <p:spPr>
          <a:xfrm>
            <a:off x="4629150" y="1035887"/>
            <a:ext cx="3886200" cy="35991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 b="1">
                <a:latin typeface="Courier New"/>
                <a:ea typeface="Courier New"/>
                <a:cs typeface="Courier New"/>
                <a:sym typeface="Courier New"/>
              </a:rPr>
              <a:t>lst = [1, 3, 2, 5, 9, 4]</a:t>
            </a:r>
            <a:endParaRPr sz="15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 b="1">
                <a:latin typeface="Courier New"/>
                <a:ea typeface="Courier New"/>
                <a:cs typeface="Courier New"/>
                <a:sym typeface="Courier New"/>
              </a:rPr>
              <a:t>total = 0</a:t>
            </a:r>
            <a:endParaRPr sz="15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 b="1">
                <a:latin typeface="Courier New"/>
                <a:ea typeface="Courier New"/>
                <a:cs typeface="Courier New"/>
                <a:sym typeface="Courier New"/>
              </a:rPr>
              <a:t>for i in range(len(lst)):</a:t>
            </a:r>
            <a:endParaRPr sz="15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 b="1">
                <a:latin typeface="Courier New"/>
                <a:ea typeface="Courier New"/>
                <a:cs typeface="Courier New"/>
                <a:sym typeface="Courier New"/>
              </a:rPr>
              <a:t>    total = total + (lst[i])**2</a:t>
            </a:r>
            <a:endParaRPr sz="15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 b="1">
                <a:latin typeface="Courier New"/>
                <a:ea typeface="Courier New"/>
                <a:cs typeface="Courier New"/>
                <a:sym typeface="Courier New"/>
              </a:rPr>
              <a:t>print(total)</a:t>
            </a:r>
            <a:endParaRPr sz="15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 sz="1500" b="1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5"/>
          <p:cNvSpPr txBox="1">
            <a:spLocks noGrp="1"/>
          </p:cNvSpPr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Sorting lists</a:t>
            </a:r>
            <a:endParaRPr sz="3000"/>
          </a:p>
        </p:txBody>
      </p:sp>
      <p:sp>
        <p:nvSpPr>
          <p:cNvPr id="342" name="Google Shape;342;p45"/>
          <p:cNvSpPr txBox="1">
            <a:spLocks noGrp="1"/>
          </p:cNvSpPr>
          <p:nvPr>
            <p:ph type="body" idx="1"/>
          </p:nvPr>
        </p:nvSpPr>
        <p:spPr>
          <a:xfrm>
            <a:off x="633845" y="1035887"/>
            <a:ext cx="7886700" cy="20088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457200" lvl="0" indent="-349250" algn="l" rtl="0">
              <a:spcBef>
                <a:spcPts val="800"/>
              </a:spcBef>
              <a:spcAft>
                <a:spcPts val="0"/>
              </a:spcAft>
              <a:buSzPts val="1900"/>
              <a:buChar char="●"/>
            </a:pPr>
            <a:r>
              <a:rPr lang="en" sz="2000"/>
              <a:t>Lists themselves are any collection of items</a:t>
            </a:r>
            <a:endParaRPr sz="2000"/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2000"/>
              <a:t>Sorting them is a very common need </a:t>
            </a:r>
            <a:endParaRPr sz="2000"/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2000"/>
              <a:t>Python provides a powerful operation, with variations, to sort - treats items as strings and does alphanumeric sorting</a:t>
            </a:r>
            <a:endParaRPr sz="2000"/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2000" b="1"/>
              <a:t>lst.sort()</a:t>
            </a:r>
            <a:r>
              <a:rPr lang="en" sz="2000"/>
              <a:t> # lst changed to have items in ascending order</a:t>
            </a:r>
            <a:endParaRPr sz="2000"/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2000" b="1"/>
              <a:t>lst.sort(reverse=True)</a:t>
            </a:r>
            <a:r>
              <a:rPr lang="en" sz="2000"/>
              <a:t> # lst sorted in descending order</a:t>
            </a:r>
            <a:endParaRPr sz="2000"/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2000"/>
              <a:t>Remember, strings are case sensitive</a:t>
            </a:r>
            <a:endParaRPr sz="20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46"/>
          <p:cNvSpPr txBox="1">
            <a:spLocks noGrp="1"/>
          </p:cNvSpPr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Special sorting with own key</a:t>
            </a:r>
            <a:endParaRPr sz="3000"/>
          </a:p>
        </p:txBody>
      </p:sp>
      <p:sp>
        <p:nvSpPr>
          <p:cNvPr id="348" name="Google Shape;348;p46"/>
          <p:cNvSpPr txBox="1">
            <a:spLocks noGrp="1"/>
          </p:cNvSpPr>
          <p:nvPr>
            <p:ph type="body" idx="1"/>
          </p:nvPr>
        </p:nvSpPr>
        <p:spPr>
          <a:xfrm>
            <a:off x="633845" y="1035887"/>
            <a:ext cx="7886700" cy="35991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457200" lvl="0" indent="-355600" algn="l" rtl="0">
              <a:spcBef>
                <a:spcPts val="80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Can provide own function as "key" for sorting</a:t>
            </a:r>
            <a:endParaRPr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lst.sort(key=myfn)</a:t>
            </a:r>
            <a:endParaRPr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Items of list are now arranged based on value of applying myfn on each item</a:t>
            </a:r>
            <a:endParaRPr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I.e. sorting of items is done as per the value myfn(item) of each item - items do not change</a:t>
            </a:r>
            <a:endParaRPr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E.g a list of strings </a:t>
            </a:r>
            <a:endParaRPr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fl = ["orange", "mango", "kiwi", "pineapple", "banana"]</a:t>
            </a:r>
            <a:endParaRPr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Sorting using fl.sort(key=len) will sort it using the value provided by the len function for each item, i.e. by length</a:t>
            </a:r>
            <a:endParaRPr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E.g. write a function sq to square the value, use it to sort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47"/>
          <p:cNvSpPr txBox="1">
            <a:spLocks noGrp="1"/>
          </p:cNvSpPr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Using Lists to Assign Multiple vars</a:t>
            </a:r>
            <a:endParaRPr sz="3000"/>
          </a:p>
        </p:txBody>
      </p:sp>
      <p:sp>
        <p:nvSpPr>
          <p:cNvPr id="354" name="Google Shape;354;p47"/>
          <p:cNvSpPr txBox="1">
            <a:spLocks noGrp="1"/>
          </p:cNvSpPr>
          <p:nvPr>
            <p:ph type="body" idx="1"/>
          </p:nvPr>
        </p:nvSpPr>
        <p:spPr>
          <a:xfrm>
            <a:off x="628645" y="1002587"/>
            <a:ext cx="7886700" cy="32928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457200" lvl="0" indent="-357346" algn="just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028"/>
              <a:buChar char="●"/>
            </a:pPr>
            <a:r>
              <a:rPr lang="en" sz="2027"/>
              <a:t>lst = [1,2,3]</a:t>
            </a:r>
            <a:endParaRPr sz="2027"/>
          </a:p>
          <a:p>
            <a:pPr marL="457200" lvl="0" indent="-357346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8"/>
              <a:buChar char="●"/>
            </a:pPr>
            <a:r>
              <a:rPr lang="en" sz="2027">
                <a:solidFill>
                  <a:srgbClr val="000000"/>
                </a:solidFill>
              </a:rPr>
              <a:t>How to assign the list elements to variables?</a:t>
            </a:r>
            <a:endParaRPr sz="2027">
              <a:solidFill>
                <a:srgbClr val="000000"/>
              </a:solidFill>
            </a:endParaRPr>
          </a:p>
          <a:p>
            <a:pPr marL="457200" lvl="0" indent="-357346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8"/>
              <a:buChar char="●"/>
            </a:pPr>
            <a:r>
              <a:rPr lang="en" sz="2027">
                <a:solidFill>
                  <a:srgbClr val="0000FF"/>
                </a:solidFill>
              </a:rPr>
              <a:t>Method 1: </a:t>
            </a:r>
            <a:r>
              <a:rPr lang="en" sz="2027"/>
              <a:t> </a:t>
            </a:r>
            <a:endParaRPr sz="2027"/>
          </a:p>
          <a:p>
            <a:pPr marL="91440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27"/>
              <a:t>a = lst[0] </a:t>
            </a:r>
            <a:endParaRPr sz="2027"/>
          </a:p>
          <a:p>
            <a:pPr marL="91440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27"/>
              <a:t>b = lst[1]</a:t>
            </a:r>
            <a:endParaRPr sz="2027"/>
          </a:p>
          <a:p>
            <a:pPr marL="91440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27"/>
              <a:t>c = lst[2]</a:t>
            </a:r>
            <a:endParaRPr sz="2027"/>
          </a:p>
          <a:p>
            <a:pPr marL="457200" lvl="0" indent="-357346" algn="just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028"/>
              <a:buChar char="●"/>
            </a:pPr>
            <a:r>
              <a:rPr lang="en" sz="2027">
                <a:solidFill>
                  <a:srgbClr val="0000FF"/>
                </a:solidFill>
              </a:rPr>
              <a:t>Method 2 (Better way): Sequence unpacking</a:t>
            </a:r>
            <a:endParaRPr sz="2027">
              <a:solidFill>
                <a:srgbClr val="0000FF"/>
              </a:solidFill>
            </a:endParaRPr>
          </a:p>
          <a:p>
            <a:pPr marL="91440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27"/>
              <a:t>a,b,c = lst # Now a=1, b=2, c=3</a:t>
            </a:r>
            <a:endParaRPr sz="2027"/>
          </a:p>
          <a:p>
            <a:pPr marL="91440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27"/>
              <a:t>x, y = lst # ValueError: too many values to unpack (expected 2)</a:t>
            </a:r>
            <a:endParaRPr sz="2027"/>
          </a:p>
          <a:p>
            <a:pPr marL="91440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27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48"/>
          <p:cNvSpPr txBox="1">
            <a:spLocks noGrp="1"/>
          </p:cNvSpPr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Nested Lists</a:t>
            </a:r>
            <a:endParaRPr sz="3000"/>
          </a:p>
        </p:txBody>
      </p:sp>
      <p:sp>
        <p:nvSpPr>
          <p:cNvPr id="360" name="Google Shape;360;p48"/>
          <p:cNvSpPr txBox="1">
            <a:spLocks noGrp="1"/>
          </p:cNvSpPr>
          <p:nvPr>
            <p:ph type="body" idx="1"/>
          </p:nvPr>
        </p:nvSpPr>
        <p:spPr>
          <a:xfrm>
            <a:off x="633845" y="1035887"/>
            <a:ext cx="7886700" cy="20088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457200" lvl="0" indent="-355600" algn="just" rtl="0">
              <a:spcBef>
                <a:spcPts val="80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We can have list of lists - creates a 2-D list, like a matrix</a:t>
            </a:r>
            <a:endParaRPr sz="2000"/>
          </a:p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l1 = [l11, l12, l13, …] # each of the li is a list of integers</a:t>
            </a:r>
            <a:endParaRPr sz="2000"/>
          </a:p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Then li[i] will return a list</a:t>
            </a:r>
            <a:endParaRPr sz="2000"/>
          </a:p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To access an item: li[i][j] # jth item in the ith list</a:t>
            </a:r>
            <a:endParaRPr sz="2000"/>
          </a:p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This is a matrix </a:t>
            </a:r>
            <a:endParaRPr sz="2000"/>
          </a:p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Higher dimensions are also possible - will not discuss them</a:t>
            </a:r>
            <a:endParaRPr sz="2000"/>
          </a:p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May work with 2-D lists later</a:t>
            </a:r>
            <a:endParaRPr sz="20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49"/>
          <p:cNvSpPr txBox="1">
            <a:spLocks noGrp="1"/>
          </p:cNvSpPr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Passing lists to functions</a:t>
            </a:r>
            <a:endParaRPr/>
          </a:p>
        </p:txBody>
      </p:sp>
      <p:sp>
        <p:nvSpPr>
          <p:cNvPr id="366" name="Google Shape;366;p49"/>
          <p:cNvSpPr txBox="1">
            <a:spLocks noGrp="1"/>
          </p:cNvSpPr>
          <p:nvPr>
            <p:ph type="body" idx="1"/>
          </p:nvPr>
        </p:nvSpPr>
        <p:spPr>
          <a:xfrm>
            <a:off x="685799" y="1035886"/>
            <a:ext cx="3834300" cy="35991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 lnSpcReduction="10000"/>
          </a:bodyPr>
          <a:lstStyle/>
          <a:p>
            <a:pPr marL="457200" lvl="0" indent="-317500" algn="l" rtl="0">
              <a:spcBef>
                <a:spcPts val="8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Lists can be passed as arguments to a function 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As with any argument - the value of arg is passed to the parm, i.e. the pointer to list object is passed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So, any changes made through the parameter will be reflected back in the list passed as argument 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 function can also return a list</a:t>
            </a:r>
            <a:endParaRPr/>
          </a:p>
        </p:txBody>
      </p:sp>
      <p:sp>
        <p:nvSpPr>
          <p:cNvPr id="367" name="Google Shape;367;p49"/>
          <p:cNvSpPr txBox="1">
            <a:spLocks noGrp="1"/>
          </p:cNvSpPr>
          <p:nvPr>
            <p:ph type="body" idx="2"/>
          </p:nvPr>
        </p:nvSpPr>
        <p:spPr>
          <a:xfrm>
            <a:off x="4607377" y="1035886"/>
            <a:ext cx="3828900" cy="35991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def sql (b):</a:t>
            </a: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    b[0] = 2</a:t>
            </a: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    b2 = [i*i for i in b]</a:t>
            </a: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    return b2</a:t>
            </a: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    </a:t>
            </a: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a = [1, 3, 5, 7,8]</a:t>
            </a: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a2 = sql(a)</a:t>
            </a: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print(a)</a:t>
            </a: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print(a2)</a:t>
            </a: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50"/>
          <p:cNvSpPr txBox="1">
            <a:spLocks noGrp="1"/>
          </p:cNvSpPr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List Comprehension</a:t>
            </a:r>
            <a:endParaRPr sz="3000"/>
          </a:p>
        </p:txBody>
      </p:sp>
      <p:sp>
        <p:nvSpPr>
          <p:cNvPr id="373" name="Google Shape;373;p50"/>
          <p:cNvSpPr txBox="1">
            <a:spLocks noGrp="1"/>
          </p:cNvSpPr>
          <p:nvPr>
            <p:ph type="body" idx="1"/>
          </p:nvPr>
        </p:nvSpPr>
        <p:spPr>
          <a:xfrm>
            <a:off x="633845" y="1035887"/>
            <a:ext cx="7886700" cy="32811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457200" lvl="0" indent="-355600" algn="l" rtl="0">
              <a:spcBef>
                <a:spcPts val="80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In maths you have learned how to construct a set by specifying conditions on the values. E.g.</a:t>
            </a:r>
            <a:endParaRPr sz="2000"/>
          </a:p>
          <a:p>
            <a:pPr marL="457200" lvl="0" indent="45720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 sz="2000"/>
              <a:t>S = {x: x=n*(n+1) where 0&lt;n&lt;6}  # from CBSE book</a:t>
            </a:r>
            <a:endParaRPr sz="2000"/>
          </a:p>
          <a:p>
            <a:pPr marL="457200" lvl="0" indent="45720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 sz="2000"/>
              <a:t>Ans: S = {2, 6, 12, 20, 30}</a:t>
            </a:r>
            <a:endParaRPr sz="2000"/>
          </a:p>
          <a:p>
            <a:pPr marL="457200" lvl="0" indent="-355600" algn="l" rtl="0">
              <a:spcBef>
                <a:spcPts val="80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Let us form this as a list (can also do set). The statement is:</a:t>
            </a:r>
            <a:endParaRPr sz="2000"/>
          </a:p>
          <a:p>
            <a:pPr marL="457200" lvl="0" indent="45720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 sz="2000"/>
              <a:t>S = [n*(n+1) for n in range(1,6)]</a:t>
            </a:r>
            <a:endParaRPr sz="2000"/>
          </a:p>
          <a:p>
            <a:pPr marL="457200" lvl="0" indent="-355600" algn="l" rtl="0">
              <a:spcBef>
                <a:spcPts val="80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This is list comprehension: a natural way to form a list; general syntax:</a:t>
            </a:r>
            <a:endParaRPr sz="2000"/>
          </a:p>
          <a:p>
            <a:pPr marL="91440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 sz="2000"/>
              <a:t>newLst = [ expr(elt) for elt in other_list]</a:t>
            </a:r>
            <a:endParaRPr sz="2000"/>
          </a:p>
          <a:p>
            <a:pPr marL="91440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 sz="2000"/>
              <a:t>newLst = [ expr(elt) for elt in other_list if condition ] </a:t>
            </a:r>
            <a:endParaRPr sz="20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51"/>
          <p:cNvSpPr txBox="1">
            <a:spLocks noGrp="1"/>
          </p:cNvSpPr>
          <p:nvPr>
            <p:ph type="title"/>
          </p:nvPr>
        </p:nvSpPr>
        <p:spPr>
          <a:xfrm>
            <a:off x="633845" y="274320"/>
            <a:ext cx="7084200" cy="4848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List Comprehension vs for loop</a:t>
            </a:r>
            <a:endParaRPr sz="3000"/>
          </a:p>
        </p:txBody>
      </p:sp>
      <p:sp>
        <p:nvSpPr>
          <p:cNvPr id="379" name="Google Shape;379;p51"/>
          <p:cNvSpPr txBox="1">
            <a:spLocks noGrp="1"/>
          </p:cNvSpPr>
          <p:nvPr>
            <p:ph type="body" idx="1"/>
          </p:nvPr>
        </p:nvSpPr>
        <p:spPr>
          <a:xfrm>
            <a:off x="633845" y="1035887"/>
            <a:ext cx="7886700" cy="32811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457200" lvl="0" indent="-355600" algn="l" rtl="0">
              <a:spcBef>
                <a:spcPts val="80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What list comprehension can do, a for loop can also do, e.g</a:t>
            </a:r>
            <a:endParaRPr sz="2000"/>
          </a:p>
          <a:p>
            <a:pPr marL="91440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 sz="2000"/>
              <a:t>lst = [n for n in range(10) if n%2==0] # list of even nos</a:t>
            </a:r>
            <a:endParaRPr sz="2000"/>
          </a:p>
          <a:p>
            <a:pPr marL="457200" lvl="0" indent="-355600" algn="l" rtl="0">
              <a:spcBef>
                <a:spcPts val="80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The for loop for this is:</a:t>
            </a:r>
            <a:endParaRPr sz="2000"/>
          </a:p>
          <a:p>
            <a:pPr marL="91440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 sz="2000"/>
              <a:t>lst = []</a:t>
            </a:r>
            <a:endParaRPr sz="2000"/>
          </a:p>
          <a:p>
            <a:pPr marL="91440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 sz="2000"/>
              <a:t>for n in range(10):</a:t>
            </a:r>
            <a:endParaRPr sz="2000"/>
          </a:p>
          <a:p>
            <a:pPr marL="137160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 sz="2000"/>
              <a:t>if n%2 == 0:</a:t>
            </a:r>
            <a:endParaRPr sz="2000"/>
          </a:p>
          <a:p>
            <a:pPr marL="182880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 sz="2000"/>
              <a:t>lst.append(n)</a:t>
            </a:r>
            <a:endParaRPr sz="2000"/>
          </a:p>
          <a:p>
            <a:pPr marL="457200" lvl="0" indent="-355600" algn="l" rtl="0">
              <a:spcBef>
                <a:spcPts val="80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List comprehension is compact and elegant</a:t>
            </a:r>
            <a:endParaRPr sz="200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It is also computationally more efficient - takes less computer time</a:t>
            </a:r>
            <a:endParaRPr sz="20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52"/>
          <p:cNvSpPr txBox="1">
            <a:spLocks noGrp="1"/>
          </p:cNvSpPr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List Comprehension Examples</a:t>
            </a:r>
            <a:endParaRPr sz="3000"/>
          </a:p>
        </p:txBody>
      </p:sp>
      <p:sp>
        <p:nvSpPr>
          <p:cNvPr id="385" name="Google Shape;385;p52"/>
          <p:cNvSpPr txBox="1">
            <a:spLocks noGrp="1"/>
          </p:cNvSpPr>
          <p:nvPr>
            <p:ph type="body" idx="1"/>
          </p:nvPr>
        </p:nvSpPr>
        <p:spPr>
          <a:xfrm>
            <a:off x="633845" y="1035887"/>
            <a:ext cx="7886700" cy="35991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457200" lvl="0" indent="-355600" algn="l" rtl="0">
              <a:lnSpc>
                <a:spcPct val="70000"/>
              </a:lnSpc>
              <a:spcBef>
                <a:spcPts val="800"/>
              </a:spcBef>
              <a:spcAft>
                <a:spcPts val="0"/>
              </a:spcAft>
              <a:buSzPts val="2000"/>
              <a:buChar char="●"/>
            </a:pPr>
            <a:r>
              <a:rPr lang="en" sz="2027"/>
              <a:t>List of even numbers till a number n</a:t>
            </a:r>
            <a:endParaRPr sz="2027"/>
          </a:p>
          <a:p>
            <a:pPr marL="457200" lvl="0" indent="457200" algn="l" rtl="0">
              <a:lnSpc>
                <a:spcPct val="70000"/>
              </a:lnSpc>
              <a:spcBef>
                <a:spcPts val="800"/>
              </a:spcBef>
              <a:spcAft>
                <a:spcPts val="0"/>
              </a:spcAft>
              <a:buSzPts val="852"/>
              <a:buNone/>
            </a:pPr>
            <a:r>
              <a:rPr lang="en" sz="2027"/>
              <a:t>even_lst = [i for i in range(n) if i%2 == 0]</a:t>
            </a:r>
            <a:endParaRPr sz="2027"/>
          </a:p>
          <a:p>
            <a:pPr marL="457200" lvl="0" indent="-355600" algn="l" rtl="0">
              <a:lnSpc>
                <a:spcPct val="70000"/>
              </a:lnSpc>
              <a:spcBef>
                <a:spcPts val="800"/>
              </a:spcBef>
              <a:spcAft>
                <a:spcPts val="0"/>
              </a:spcAft>
              <a:buSzPts val="2000"/>
              <a:buChar char="●"/>
            </a:pPr>
            <a:r>
              <a:rPr lang="en" sz="2027"/>
              <a:t>List of squares of a list of numbers</a:t>
            </a:r>
            <a:endParaRPr sz="2027"/>
          </a:p>
          <a:p>
            <a:pPr marL="914400" lvl="0" indent="0" algn="l" rtl="0">
              <a:lnSpc>
                <a:spcPct val="70000"/>
              </a:lnSpc>
              <a:spcBef>
                <a:spcPts val="800"/>
              </a:spcBef>
              <a:spcAft>
                <a:spcPts val="0"/>
              </a:spcAft>
              <a:buSzPts val="852"/>
              <a:buNone/>
            </a:pPr>
            <a:r>
              <a:rPr lang="en" sz="2027"/>
              <a:t>lst = [5, 7, 18, …] </a:t>
            </a:r>
            <a:endParaRPr sz="2027"/>
          </a:p>
          <a:p>
            <a:pPr marL="914400" lvl="0" indent="0" algn="l" rtl="0">
              <a:lnSpc>
                <a:spcPct val="70000"/>
              </a:lnSpc>
              <a:spcBef>
                <a:spcPts val="800"/>
              </a:spcBef>
              <a:spcAft>
                <a:spcPts val="0"/>
              </a:spcAft>
              <a:buSzPts val="852"/>
              <a:buNone/>
            </a:pPr>
            <a:r>
              <a:rPr lang="en" sz="2027"/>
              <a:t>sq_lst = [x*x for x in lst]</a:t>
            </a:r>
            <a:endParaRPr sz="2027"/>
          </a:p>
          <a:p>
            <a:pPr marL="457200" lvl="0" indent="-355600" algn="l" rtl="0">
              <a:lnSpc>
                <a:spcPct val="70000"/>
              </a:lnSpc>
              <a:spcBef>
                <a:spcPts val="800"/>
              </a:spcBef>
              <a:spcAft>
                <a:spcPts val="0"/>
              </a:spcAft>
              <a:buSzPts val="2000"/>
              <a:buChar char="●"/>
            </a:pPr>
            <a:r>
              <a:rPr lang="en" sz="2027"/>
              <a:t>List of squares of even numbers in a list</a:t>
            </a:r>
            <a:endParaRPr sz="2027"/>
          </a:p>
          <a:p>
            <a:pPr marL="457200" lvl="0" indent="457200" algn="l" rtl="0">
              <a:lnSpc>
                <a:spcPct val="70000"/>
              </a:lnSpc>
              <a:spcBef>
                <a:spcPts val="800"/>
              </a:spcBef>
              <a:spcAft>
                <a:spcPts val="0"/>
              </a:spcAft>
              <a:buSzPts val="852"/>
              <a:buNone/>
            </a:pPr>
            <a:r>
              <a:rPr lang="en" sz="2027"/>
              <a:t>squares = [x**2 for x in lst if x%2==0]</a:t>
            </a:r>
            <a:endParaRPr sz="2027"/>
          </a:p>
          <a:p>
            <a:pPr marL="457200" lvl="0" indent="-357346" algn="l" rtl="0">
              <a:lnSpc>
                <a:spcPct val="70000"/>
              </a:lnSpc>
              <a:spcBef>
                <a:spcPts val="800"/>
              </a:spcBef>
              <a:spcAft>
                <a:spcPts val="0"/>
              </a:spcAft>
              <a:buSzPts val="2028"/>
              <a:buChar char="●"/>
            </a:pPr>
            <a:r>
              <a:rPr lang="en" sz="2027"/>
              <a:t>List of multiples of items in a list</a:t>
            </a:r>
            <a:endParaRPr sz="2027"/>
          </a:p>
          <a:p>
            <a:pPr marL="457200" lvl="0" indent="457200" algn="l" rtl="0">
              <a:lnSpc>
                <a:spcPct val="7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2027"/>
              <a:t>c = 5</a:t>
            </a:r>
            <a:endParaRPr sz="2027"/>
          </a:p>
          <a:p>
            <a:pPr marL="457200" lvl="0" indent="457200" algn="l" rtl="0">
              <a:lnSpc>
                <a:spcPct val="7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2027"/>
              <a:t>m = [x*c for x in lst]</a:t>
            </a:r>
            <a:endParaRPr sz="2027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53"/>
          <p:cNvSpPr txBox="1">
            <a:spLocks noGrp="1"/>
          </p:cNvSpPr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More List Comprehension Examples</a:t>
            </a:r>
            <a:endParaRPr sz="3000"/>
          </a:p>
        </p:txBody>
      </p:sp>
      <p:sp>
        <p:nvSpPr>
          <p:cNvPr id="391" name="Google Shape;391;p53"/>
          <p:cNvSpPr txBox="1">
            <a:spLocks noGrp="1"/>
          </p:cNvSpPr>
          <p:nvPr>
            <p:ph type="body" idx="1"/>
          </p:nvPr>
        </p:nvSpPr>
        <p:spPr>
          <a:xfrm>
            <a:off x="633847" y="1035875"/>
            <a:ext cx="3502500" cy="35991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Create a list that contains the elements of the given input list, excluding a given element.</a:t>
            </a: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Input: l1 = [2, 3, 3, 5, 7, 3, 4, 3]</a:t>
            </a: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Element = 3</a:t>
            </a: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Output: res = [2, 5, 7, 4]</a:t>
            </a:r>
            <a:endParaRPr/>
          </a:p>
        </p:txBody>
      </p:sp>
      <p:sp>
        <p:nvSpPr>
          <p:cNvPr id="392" name="Google Shape;392;p53"/>
          <p:cNvSpPr txBox="1">
            <a:spLocks noGrp="1"/>
          </p:cNvSpPr>
          <p:nvPr>
            <p:ph type="body" idx="1"/>
          </p:nvPr>
        </p:nvSpPr>
        <p:spPr>
          <a:xfrm>
            <a:off x="4674822" y="1035875"/>
            <a:ext cx="3502500" cy="3599100"/>
          </a:xfrm>
          <a:prstGeom prst="rect">
            <a:avLst/>
          </a:prstGeom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 sz="2200"/>
              <a:t>l1 = [2, 3, 3, 5, 7, 3, 4, 3]</a:t>
            </a:r>
            <a:endParaRPr sz="2200"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 sz="2200"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 sz="2200"/>
              <a:t>def remove_all(lst, x):</a:t>
            </a:r>
            <a:endParaRPr sz="2200"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 sz="2200"/>
              <a:t>    return [i for i in lst if i != x]</a:t>
            </a:r>
            <a:endParaRPr sz="2200"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 sz="2200"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 sz="2200"/>
              <a:t>res = remove_all(l1, 3)</a:t>
            </a:r>
            <a:endParaRPr sz="2200"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 sz="2200"/>
              <a:t>print(res)</a:t>
            </a:r>
            <a:endParaRPr sz="22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54"/>
          <p:cNvSpPr txBox="1">
            <a:spLocks noGrp="1"/>
          </p:cNvSpPr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Quiz : Single Correct</a:t>
            </a:r>
            <a:endParaRPr/>
          </a:p>
        </p:txBody>
      </p:sp>
      <p:sp>
        <p:nvSpPr>
          <p:cNvPr id="398" name="Google Shape;398;p54"/>
          <p:cNvSpPr txBox="1">
            <a:spLocks noGrp="1"/>
          </p:cNvSpPr>
          <p:nvPr>
            <p:ph type="body" idx="1"/>
          </p:nvPr>
        </p:nvSpPr>
        <p:spPr>
          <a:xfrm>
            <a:off x="633845" y="1035887"/>
            <a:ext cx="7886700" cy="30342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What will be output of the following code :</a:t>
            </a: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 sz="17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 b="1">
                <a:latin typeface="Courier New"/>
                <a:ea typeface="Courier New"/>
                <a:cs typeface="Courier New"/>
                <a:sym typeface="Courier New"/>
              </a:rPr>
              <a:t>list1 = [i % 3 for i in range(0, 10, 2) if i % 3 != 0]</a:t>
            </a:r>
            <a:endParaRPr sz="17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700" b="1">
                <a:latin typeface="Courier New"/>
                <a:ea typeface="Courier New"/>
                <a:cs typeface="Courier New"/>
                <a:sym typeface="Courier New"/>
              </a:rPr>
              <a:t>print(list1)</a:t>
            </a:r>
            <a:endParaRPr sz="17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/>
          </a:p>
          <a:p>
            <a:pPr marL="514350" lvl="0" indent="-355600" algn="l" rtl="0">
              <a:spcBef>
                <a:spcPts val="800"/>
              </a:spcBef>
              <a:spcAft>
                <a:spcPts val="0"/>
              </a:spcAft>
              <a:buSzPts val="2000"/>
              <a:buFont typeface="Courier New"/>
              <a:buAutoNum type="alphaUcPeriod"/>
            </a:pPr>
            <a:r>
              <a:rPr lang="en" b="1">
                <a:latin typeface="Courier New"/>
                <a:ea typeface="Courier New"/>
                <a:cs typeface="Courier New"/>
                <a:sym typeface="Courier New"/>
              </a:rPr>
              <a:t>[1,2,2]</a:t>
            </a:r>
            <a:endParaRPr b="1">
              <a:latin typeface="Courier New"/>
              <a:ea typeface="Courier New"/>
              <a:cs typeface="Courier New"/>
              <a:sym typeface="Courier New"/>
            </a:endParaRPr>
          </a:p>
          <a:p>
            <a:pPr marL="51435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Courier New"/>
              <a:buAutoNum type="alphaUcPeriod"/>
            </a:pPr>
            <a:r>
              <a:rPr lang="en" b="1">
                <a:latin typeface="Courier New"/>
                <a:ea typeface="Courier New"/>
                <a:cs typeface="Courier New"/>
                <a:sym typeface="Courier New"/>
              </a:rPr>
              <a:t>[1,2,1]</a:t>
            </a:r>
            <a:endParaRPr b="1">
              <a:latin typeface="Courier New"/>
              <a:ea typeface="Courier New"/>
              <a:cs typeface="Courier New"/>
              <a:sym typeface="Courier New"/>
            </a:endParaRPr>
          </a:p>
          <a:p>
            <a:pPr marL="51435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Courier New"/>
              <a:buAutoNum type="alphaUcPeriod"/>
            </a:pPr>
            <a:r>
              <a:rPr lang="en" b="1">
                <a:latin typeface="Courier New"/>
                <a:ea typeface="Courier New"/>
                <a:cs typeface="Courier New"/>
                <a:sym typeface="Courier New"/>
              </a:rPr>
              <a:t>[2,1,2]</a:t>
            </a:r>
            <a:endParaRPr b="1">
              <a:latin typeface="Courier New"/>
              <a:ea typeface="Courier New"/>
              <a:cs typeface="Courier New"/>
              <a:sym typeface="Courier New"/>
            </a:endParaRPr>
          </a:p>
          <a:p>
            <a:pPr marL="51435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Courier New"/>
              <a:buAutoNum type="alphaUcPeriod"/>
            </a:pPr>
            <a:r>
              <a:rPr lang="en" b="1">
                <a:latin typeface="Courier New"/>
                <a:ea typeface="Courier New"/>
                <a:cs typeface="Courier New"/>
                <a:sym typeface="Courier New"/>
              </a:rPr>
              <a:t>[2,2,1]</a:t>
            </a:r>
            <a:endParaRPr b="1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55"/>
          <p:cNvSpPr txBox="1">
            <a:spLocks noGrp="1"/>
          </p:cNvSpPr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Quiz : List Comprehension</a:t>
            </a:r>
            <a:endParaRPr/>
          </a:p>
        </p:txBody>
      </p:sp>
      <p:sp>
        <p:nvSpPr>
          <p:cNvPr id="404" name="Google Shape;404;p55"/>
          <p:cNvSpPr txBox="1">
            <a:spLocks noGrp="1"/>
          </p:cNvSpPr>
          <p:nvPr>
            <p:ph type="body" idx="1"/>
          </p:nvPr>
        </p:nvSpPr>
        <p:spPr>
          <a:xfrm>
            <a:off x="633850" y="1035874"/>
            <a:ext cx="7886700" cy="37188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What will be output of the following code :</a:t>
            </a: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 sz="17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700" b="1">
                <a:latin typeface="Courier New"/>
                <a:ea typeface="Courier New"/>
                <a:cs typeface="Courier New"/>
                <a:sym typeface="Courier New"/>
              </a:rPr>
              <a:t>list1 = [i % 3 for i in range(0, 10, 2) if i % 3 != 0]</a:t>
            </a:r>
            <a:endParaRPr sz="17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700" b="1">
                <a:latin typeface="Courier New"/>
                <a:ea typeface="Courier New"/>
                <a:cs typeface="Courier New"/>
                <a:sym typeface="Courier New"/>
              </a:rPr>
              <a:t>print(list1)</a:t>
            </a:r>
            <a:endParaRPr sz="17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/>
          </a:p>
          <a:p>
            <a:pPr marL="514350" lvl="0" indent="-355600" algn="l" rtl="0">
              <a:spcBef>
                <a:spcPts val="800"/>
              </a:spcBef>
              <a:spcAft>
                <a:spcPts val="0"/>
              </a:spcAft>
              <a:buSzPts val="2000"/>
              <a:buFont typeface="Courier New"/>
              <a:buAutoNum type="alphaUcPeriod"/>
            </a:pPr>
            <a:r>
              <a:rPr lang="en" b="1">
                <a:latin typeface="Courier New"/>
                <a:ea typeface="Courier New"/>
                <a:cs typeface="Courier New"/>
                <a:sym typeface="Courier New"/>
              </a:rPr>
              <a:t>[1,2,2]</a:t>
            </a:r>
            <a:endParaRPr b="1">
              <a:latin typeface="Courier New"/>
              <a:ea typeface="Courier New"/>
              <a:cs typeface="Courier New"/>
              <a:sym typeface="Courier New"/>
            </a:endParaRPr>
          </a:p>
          <a:p>
            <a:pPr marL="51435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Courier New"/>
              <a:buAutoNum type="alphaUcPeriod"/>
            </a:pPr>
            <a:r>
              <a:rPr lang="en" b="1">
                <a:latin typeface="Courier New"/>
                <a:ea typeface="Courier New"/>
                <a:cs typeface="Courier New"/>
                <a:sym typeface="Courier New"/>
              </a:rPr>
              <a:t>[1,2,1]</a:t>
            </a:r>
            <a:endParaRPr b="1">
              <a:latin typeface="Courier New"/>
              <a:ea typeface="Courier New"/>
              <a:cs typeface="Courier New"/>
              <a:sym typeface="Courier New"/>
            </a:endParaRPr>
          </a:p>
          <a:p>
            <a:pPr marL="514350" lvl="0" indent="-35560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Courier New"/>
              <a:buAutoNum type="alphaUcPeriod"/>
            </a:pPr>
            <a:r>
              <a:rPr lang="en" b="1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[2,1,2]</a:t>
            </a:r>
            <a:endParaRPr b="1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51435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Courier New"/>
              <a:buAutoNum type="alphaUcPeriod"/>
            </a:pPr>
            <a:r>
              <a:rPr lang="en" b="1">
                <a:latin typeface="Courier New"/>
                <a:ea typeface="Courier New"/>
                <a:cs typeface="Courier New"/>
                <a:sym typeface="Courier New"/>
              </a:rPr>
              <a:t>[2,2,1]</a:t>
            </a:r>
            <a:endParaRPr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 b="1"/>
              <a:t>Explanation :</a:t>
            </a:r>
            <a:r>
              <a:rPr lang="en"/>
              <a:t> range(0,10,2) generates values 0,2,4,6,8 ; 2,4 and 8 are not divisible by 3 and leave remainders 2,1 and 2 respectively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56"/>
          <p:cNvSpPr txBox="1">
            <a:spLocks noGrp="1"/>
          </p:cNvSpPr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Practice For You</a:t>
            </a:r>
            <a:endParaRPr/>
          </a:p>
        </p:txBody>
      </p:sp>
      <p:sp>
        <p:nvSpPr>
          <p:cNvPr id="410" name="Google Shape;410;p56"/>
          <p:cNvSpPr txBox="1">
            <a:spLocks noGrp="1"/>
          </p:cNvSpPr>
          <p:nvPr>
            <p:ph type="body" idx="1"/>
          </p:nvPr>
        </p:nvSpPr>
        <p:spPr>
          <a:xfrm>
            <a:off x="633845" y="1035887"/>
            <a:ext cx="7886700" cy="35991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457200" lvl="0" indent="-317500" algn="l" rtl="0">
              <a:spcBef>
                <a:spcPts val="8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Play around with lists on terminal/online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Create lists - try different operations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Write the programs given in the lecture (after closing the slide)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Try creating different types of lists through list comprehensions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57"/>
          <p:cNvSpPr txBox="1">
            <a:spLocks noGrp="1"/>
          </p:cNvSpPr>
          <p:nvPr>
            <p:ph type="title"/>
          </p:nvPr>
        </p:nvSpPr>
        <p:spPr>
          <a:xfrm>
            <a:off x="756745" y="2261995"/>
            <a:ext cx="7084200" cy="6195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Strings</a:t>
            </a:r>
            <a:endParaRPr sz="30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58"/>
          <p:cNvSpPr txBox="1">
            <a:spLocks noGrp="1"/>
          </p:cNvSpPr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Strings</a:t>
            </a:r>
            <a:endParaRPr sz="3000"/>
          </a:p>
        </p:txBody>
      </p:sp>
      <p:sp>
        <p:nvSpPr>
          <p:cNvPr id="421" name="Google Shape;421;p58"/>
          <p:cNvSpPr txBox="1">
            <a:spLocks noGrp="1"/>
          </p:cNvSpPr>
          <p:nvPr>
            <p:ph type="body" idx="1"/>
          </p:nvPr>
        </p:nvSpPr>
        <p:spPr>
          <a:xfrm>
            <a:off x="633845" y="1035887"/>
            <a:ext cx="7886700" cy="35991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457200" lvl="0" indent="-355600" algn="just" rtl="0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Strings are within double quotes ("") or single quotes ('')</a:t>
            </a:r>
            <a:endParaRPr sz="2000"/>
          </a:p>
          <a:p>
            <a:pPr marL="457200" lvl="0" indent="-355600" algn="just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A sequence of ascii chars - alphabets, numbers, special characters, etc all allowed (except " or ' - as they are delimiters)</a:t>
            </a:r>
            <a:endParaRPr sz="2000"/>
          </a:p>
          <a:p>
            <a:pPr marL="457200" lvl="0" indent="-355600" algn="just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New line is a character represented by '\n'</a:t>
            </a:r>
            <a:endParaRPr sz="2000"/>
          </a:p>
          <a:p>
            <a:pPr marL="457200" lvl="0" indent="-355600" algn="just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Strings can be assigned to variables, like numbers</a:t>
            </a:r>
            <a:endParaRPr sz="2000"/>
          </a:p>
          <a:p>
            <a:pPr marL="457200" lvl="0" indent="457200" algn="just" rtl="0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2000"/>
              <a:t>s = "Hello, world"</a:t>
            </a:r>
            <a:endParaRPr sz="2000"/>
          </a:p>
          <a:p>
            <a:pPr marL="457200" lvl="0" indent="457200" algn="just" rtl="0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2000"/>
              <a:t>name = "Pankaj Jalote"</a:t>
            </a:r>
            <a:endParaRPr sz="2000"/>
          </a:p>
          <a:p>
            <a:pPr marL="457200" lvl="0" indent="-355600" algn="just" rtl="0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Multiple line strings are assigned with three quotes, like</a:t>
            </a:r>
            <a:endParaRPr sz="2000"/>
          </a:p>
          <a:p>
            <a:pPr marL="914400" lvl="0" indent="0" algn="just" rtl="0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2000"/>
              <a:t>addr = '''IIIT Delhi</a:t>
            </a:r>
            <a:endParaRPr sz="2000"/>
          </a:p>
          <a:p>
            <a:pPr marL="914400" lvl="0" indent="457200" algn="just" rtl="0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2000"/>
              <a:t>Okhla, phase 3'''</a:t>
            </a:r>
            <a:endParaRPr sz="2000"/>
          </a:p>
          <a:p>
            <a:pPr marL="457200" lvl="0" indent="-355600" algn="just" rtl="0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In multiline - newline is treated as a character  </a:t>
            </a:r>
            <a:endParaRPr sz="20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59"/>
          <p:cNvSpPr txBox="1">
            <a:spLocks noGrp="1"/>
          </p:cNvSpPr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Strings are compound objects</a:t>
            </a:r>
            <a:endParaRPr sz="3000"/>
          </a:p>
        </p:txBody>
      </p:sp>
      <p:sp>
        <p:nvSpPr>
          <p:cNvPr id="427" name="Google Shape;427;p59"/>
          <p:cNvSpPr txBox="1">
            <a:spLocks noGrp="1"/>
          </p:cNvSpPr>
          <p:nvPr>
            <p:ph type="body" idx="1"/>
          </p:nvPr>
        </p:nvSpPr>
        <p:spPr>
          <a:xfrm>
            <a:off x="633845" y="1035887"/>
            <a:ext cx="7886700" cy="35991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457200" lvl="0" indent="-349250" algn="just" rtl="0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SzPts val="1900"/>
              <a:buChar char="●"/>
            </a:pPr>
            <a:r>
              <a:rPr lang="en" sz="2000"/>
              <a:t>Strings are a sequence of characters, so can access each char</a:t>
            </a:r>
            <a:endParaRPr sz="2000"/>
          </a:p>
          <a:p>
            <a:pPr marL="457200" lvl="0" indent="-349250" algn="just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2000"/>
              <a:t>String also support index and slicing like lists. </a:t>
            </a:r>
            <a:endParaRPr sz="2000"/>
          </a:p>
          <a:p>
            <a:pPr marL="457200" lvl="0" indent="-349250" algn="just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2000"/>
              <a:t>In s = "Hello World", s[0] is 'H', s[1] is 'e' ….</a:t>
            </a:r>
            <a:endParaRPr sz="2000"/>
          </a:p>
          <a:p>
            <a:pPr marL="457200" lvl="0" indent="-349250" algn="just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2000"/>
              <a:t>Like in list, can loop over a string with characters as items</a:t>
            </a:r>
            <a:endParaRPr sz="2000"/>
          </a:p>
          <a:p>
            <a:pPr marL="914400" lvl="0" indent="0" algn="just" rtl="0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2000"/>
              <a:t>for c in str:</a:t>
            </a:r>
            <a:endParaRPr sz="2000"/>
          </a:p>
          <a:p>
            <a:pPr marL="1371600" lvl="0" indent="0" algn="just" rtl="0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2000"/>
              <a:t>print(c)  </a:t>
            </a:r>
            <a:endParaRPr sz="2000"/>
          </a:p>
          <a:p>
            <a:pPr marL="457200" lvl="0" indent="-349250" algn="just" rtl="0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SzPts val="1900"/>
              <a:buChar char="●"/>
            </a:pPr>
            <a:r>
              <a:rPr lang="en" sz="2000"/>
              <a:t>But (unlike list) strings are not changeable (immutable), i.e. cannot change an element, i.e. cannot do:</a:t>
            </a:r>
            <a:endParaRPr sz="2000"/>
          </a:p>
          <a:p>
            <a:pPr marL="457200" lvl="0" indent="0" algn="just" rtl="0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2000"/>
              <a:t>	S[0] = "H" # this is not allowed - give error</a:t>
            </a:r>
            <a:endParaRPr sz="2000"/>
          </a:p>
          <a:p>
            <a:pPr marL="457200" lvl="0" indent="-349250" algn="just" rtl="0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SzPts val="1900"/>
              <a:buChar char="●"/>
            </a:pPr>
            <a:r>
              <a:rPr lang="en" sz="2000"/>
              <a:t>While cannot change a string, can create new strings with changes in an existing string through some operations available for it</a:t>
            </a:r>
            <a:endParaRPr sz="20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60"/>
          <p:cNvSpPr txBox="1">
            <a:spLocks noGrp="1"/>
          </p:cNvSpPr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Slicing Strings</a:t>
            </a:r>
            <a:endParaRPr sz="3000"/>
          </a:p>
        </p:txBody>
      </p:sp>
      <p:sp>
        <p:nvSpPr>
          <p:cNvPr id="433" name="Google Shape;433;p60"/>
          <p:cNvSpPr txBox="1">
            <a:spLocks noGrp="1"/>
          </p:cNvSpPr>
          <p:nvPr>
            <p:ph type="body" idx="1"/>
          </p:nvPr>
        </p:nvSpPr>
        <p:spPr>
          <a:xfrm>
            <a:off x="633845" y="1035887"/>
            <a:ext cx="7886700" cy="31785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457200" lvl="0" indent="-355600" algn="just" rtl="0">
              <a:spcBef>
                <a:spcPts val="80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Like lists, can slice strings, E.g.</a:t>
            </a:r>
            <a:endParaRPr sz="2000"/>
          </a:p>
          <a:p>
            <a:pPr marL="457200" lvl="0" indent="0" algn="just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 sz="2000"/>
              <a:t>	s = "Hello, World"</a:t>
            </a:r>
            <a:endParaRPr sz="2000"/>
          </a:p>
          <a:p>
            <a:pPr marL="457200" lvl="0" indent="0" algn="just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 sz="2000"/>
              <a:t>	s[1:6]  # will give 'ello,'</a:t>
            </a:r>
            <a:endParaRPr sz="2000"/>
          </a:p>
          <a:p>
            <a:pPr marL="457200" lvl="0" indent="-355600" algn="just" rtl="0">
              <a:spcBef>
                <a:spcPts val="80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Slicing from start:  s[:4] # will be 'Hell'</a:t>
            </a:r>
            <a:endParaRPr sz="2000"/>
          </a:p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Slicing till the end: s[6:] # will be ' World'</a:t>
            </a:r>
            <a:endParaRPr sz="2000"/>
          </a:p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Negative indexing, i.e. from the end</a:t>
            </a:r>
            <a:endParaRPr sz="2000"/>
          </a:p>
          <a:p>
            <a:pPr marL="914400" lvl="0" indent="0" algn="just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 sz="2000"/>
              <a:t>	s [-1] # gives last char, i.e. 'd'</a:t>
            </a:r>
            <a:endParaRPr sz="2000"/>
          </a:p>
          <a:p>
            <a:pPr marL="914400" lvl="0" indent="0" algn="just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 sz="2000"/>
              <a:t>	s [-5:]  # 'World';  s[-5:-2] # 'Wor'  </a:t>
            </a:r>
            <a:endParaRPr sz="2000"/>
          </a:p>
          <a:p>
            <a:pPr marL="0" lvl="0" indent="0" algn="just" rtl="0">
              <a:spcBef>
                <a:spcPts val="800"/>
              </a:spcBef>
              <a:spcAft>
                <a:spcPts val="0"/>
              </a:spcAft>
              <a:buNone/>
            </a:pPr>
            <a:endParaRPr sz="20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61"/>
          <p:cNvSpPr txBox="1">
            <a:spLocks noGrp="1"/>
          </p:cNvSpPr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Operations on Strings</a:t>
            </a:r>
            <a:endParaRPr sz="3000"/>
          </a:p>
        </p:txBody>
      </p:sp>
      <p:sp>
        <p:nvSpPr>
          <p:cNvPr id="439" name="Google Shape;439;p61"/>
          <p:cNvSpPr txBox="1">
            <a:spLocks noGrp="1"/>
          </p:cNvSpPr>
          <p:nvPr>
            <p:ph type="body" idx="1"/>
          </p:nvPr>
        </p:nvSpPr>
        <p:spPr>
          <a:xfrm>
            <a:off x="633845" y="1035887"/>
            <a:ext cx="7886700" cy="31785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just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 sz="2000"/>
              <a:t>Functions on strings - some similar to list</a:t>
            </a:r>
            <a:endParaRPr sz="2000"/>
          </a:p>
          <a:p>
            <a:pPr marL="457200" lvl="0" indent="-355600" algn="just" rtl="0">
              <a:spcBef>
                <a:spcPts val="80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len(s) # returns the length of string, i.e. the no of characters</a:t>
            </a:r>
            <a:endParaRPr sz="2000"/>
          </a:p>
          <a:p>
            <a:pPr marL="914400" lvl="0" indent="0" algn="just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 sz="2000"/>
              <a:t>str1 = “Hello” # len(str1) returns 5</a:t>
            </a:r>
            <a:endParaRPr sz="2000"/>
          </a:p>
          <a:p>
            <a:pPr marL="457200" lvl="0" indent="-355600" algn="just" rtl="0">
              <a:spcBef>
                <a:spcPts val="80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in: (Membership Testing) Returns true if a character or substring exists in the given string. </a:t>
            </a:r>
            <a:endParaRPr sz="2000"/>
          </a:p>
          <a:p>
            <a:pPr marL="914400" lvl="0" indent="0" algn="just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 sz="2000"/>
              <a:t>"He" in str1 # true</a:t>
            </a:r>
            <a:endParaRPr sz="2000"/>
          </a:p>
          <a:p>
            <a:pPr marL="457200" lvl="0" indent="-355600" algn="just" rtl="0">
              <a:spcBef>
                <a:spcPts val="80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not in: Returns true if a character or substring does not exist in the given string. </a:t>
            </a:r>
            <a:endParaRPr sz="2000"/>
          </a:p>
          <a:p>
            <a:pPr marL="914400" lvl="0" indent="0" algn="just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 sz="2000"/>
              <a:t>“h” in str1 # false</a:t>
            </a:r>
            <a:endParaRPr sz="20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62"/>
          <p:cNvSpPr txBox="1">
            <a:spLocks noGrp="1"/>
          </p:cNvSpPr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Concatenating / replicating Strings</a:t>
            </a:r>
            <a:endParaRPr sz="3000"/>
          </a:p>
        </p:txBody>
      </p:sp>
      <p:sp>
        <p:nvSpPr>
          <p:cNvPr id="445" name="Google Shape;445;p62"/>
          <p:cNvSpPr txBox="1">
            <a:spLocks noGrp="1"/>
          </p:cNvSpPr>
          <p:nvPr>
            <p:ph type="body" idx="1"/>
          </p:nvPr>
        </p:nvSpPr>
        <p:spPr>
          <a:xfrm>
            <a:off x="633845" y="1035887"/>
            <a:ext cx="7886700" cy="30873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457200" lvl="0" indent="-355600" algn="l" rtl="0">
              <a:spcBef>
                <a:spcPts val="80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Joining, i.e. concatenating strings is a common need, + operation, e.g. </a:t>
            </a:r>
            <a:endParaRPr sz="2000"/>
          </a:p>
          <a:p>
            <a:pPr marL="457200" lvl="0" indent="45720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 sz="2000"/>
              <a:t> first, last = "Pankaj", "Jalote" </a:t>
            </a:r>
            <a:endParaRPr sz="2000"/>
          </a:p>
          <a:p>
            <a:pPr marL="91440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 sz="2000"/>
              <a:t>name1 = first+last  # this will not have a blank between</a:t>
            </a:r>
            <a:endParaRPr sz="2000"/>
          </a:p>
          <a:p>
            <a:pPr marL="91440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 sz="2000"/>
              <a:t>name2 = first + " " + last   # now have a blank</a:t>
            </a:r>
            <a:endParaRPr sz="2000"/>
          </a:p>
          <a:p>
            <a:pPr marL="91440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 sz="2000"/>
              <a:t>name3 = last + ", " + first  # last name first, with comma</a:t>
            </a:r>
            <a:endParaRPr sz="2000"/>
          </a:p>
          <a:p>
            <a:pPr marL="457200" lvl="0" indent="-368300" algn="l" rtl="0">
              <a:spcBef>
                <a:spcPts val="80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* operator for replication</a:t>
            </a:r>
            <a:endParaRPr sz="2200"/>
          </a:p>
          <a:p>
            <a:pPr marL="457200" lvl="0" indent="45720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 sz="2200"/>
              <a:t>s = "Hello"</a:t>
            </a:r>
            <a:endParaRPr sz="2200"/>
          </a:p>
          <a:p>
            <a:pPr marL="457200" lvl="0" indent="45720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 sz="2200"/>
              <a:t>res = s*4 # Now res = “HelloHelloHelloHello”</a:t>
            </a:r>
            <a:endParaRPr sz="17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63"/>
          <p:cNvSpPr txBox="1">
            <a:spLocks noGrp="1"/>
          </p:cNvSpPr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Splitting strings</a:t>
            </a:r>
            <a:endParaRPr sz="3000"/>
          </a:p>
        </p:txBody>
      </p:sp>
      <p:sp>
        <p:nvSpPr>
          <p:cNvPr id="451" name="Google Shape;451;p63"/>
          <p:cNvSpPr txBox="1">
            <a:spLocks noGrp="1"/>
          </p:cNvSpPr>
          <p:nvPr>
            <p:ph type="body" idx="1"/>
          </p:nvPr>
        </p:nvSpPr>
        <p:spPr>
          <a:xfrm>
            <a:off x="633850" y="1035874"/>
            <a:ext cx="7886700" cy="38661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457200" lvl="0" indent="-355600" algn="just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A string often has sub-strings separated by blank, special char, etc. e.g. a sentence with words</a:t>
            </a:r>
            <a:endParaRPr sz="2000"/>
          </a:p>
          <a:p>
            <a:pPr marL="457200" lvl="0" indent="-3556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Often you need to get the words in a string</a:t>
            </a:r>
            <a:endParaRPr sz="2000"/>
          </a:p>
          <a:p>
            <a:pPr marL="457200" lvl="0" indent="-3556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The split() method splits a string and creates a list of substrings. The argument supplied is used as the separator.  Splits on whitespaces(spaces,tabs, newline etc..) if no argument is supplied</a:t>
            </a:r>
            <a:endParaRPr sz="2000"/>
          </a:p>
          <a:p>
            <a:pPr marL="457200" lvl="0" indent="-3556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Example : s = “CSE101, Intro to Programming”</a:t>
            </a:r>
            <a:endParaRPr sz="2000"/>
          </a:p>
          <a:p>
            <a:pPr marL="914400" lvl="0" indent="0" algn="just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2000"/>
              <a:t>s.split()  # separator is any whitespace; returns a list</a:t>
            </a:r>
            <a:endParaRPr sz="2000"/>
          </a:p>
          <a:p>
            <a:pPr marL="914400" lvl="0" indent="0" algn="just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2000"/>
              <a:t>returns ['CSE101,', 'Intro', 'to', 'Programming']</a:t>
            </a:r>
            <a:endParaRPr sz="2000"/>
          </a:p>
          <a:p>
            <a:pPr marL="914400" lvl="0" indent="0" algn="just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2000"/>
              <a:t>s.split(‘,’) # splits using “,”; </a:t>
            </a:r>
            <a:endParaRPr sz="2000"/>
          </a:p>
          <a:p>
            <a:pPr marL="914400" lvl="0" indent="0" algn="just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2000"/>
              <a:t>returns ['CSE101', ' Intro to Programming']</a:t>
            </a:r>
            <a:endParaRPr sz="20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64"/>
          <p:cNvSpPr txBox="1">
            <a:spLocks noGrp="1"/>
          </p:cNvSpPr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String joining </a:t>
            </a:r>
            <a:endParaRPr sz="3000"/>
          </a:p>
        </p:txBody>
      </p:sp>
      <p:sp>
        <p:nvSpPr>
          <p:cNvPr id="457" name="Google Shape;457;p64"/>
          <p:cNvSpPr txBox="1">
            <a:spLocks noGrp="1"/>
          </p:cNvSpPr>
          <p:nvPr>
            <p:ph type="body" idx="1"/>
          </p:nvPr>
        </p:nvSpPr>
        <p:spPr>
          <a:xfrm>
            <a:off x="633845" y="1035887"/>
            <a:ext cx="7886700" cy="35991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457200" lvl="0" indent="-355600" algn="l" rtl="0">
              <a:spcBef>
                <a:spcPts val="80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Often need to join multiple strings (e.g. in a list), with some "separator" between them to form one large string</a:t>
            </a:r>
            <a:endParaRPr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Items must all be of string type</a:t>
            </a:r>
            <a:endParaRPr/>
          </a:p>
          <a:p>
            <a:pPr marL="91440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sep.join(&lt;list of strings&gt;)</a:t>
            </a:r>
            <a:endParaRPr/>
          </a:p>
          <a:p>
            <a:pPr marL="91440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",".join(["one", "two"]) will return "one,two"</a:t>
            </a:r>
            <a:endParaRPr/>
          </a:p>
          <a:p>
            <a:pPr marL="457200" lvl="0" indent="-355600" algn="l" rtl="0">
              <a:spcBef>
                <a:spcPts val="80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E.g. Convert a list of integers into a string with blanks in between</a:t>
            </a:r>
            <a:endParaRPr/>
          </a:p>
          <a:p>
            <a:pPr marL="91440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l = [23, 34, 45, 56]</a:t>
            </a:r>
            <a:endParaRPr/>
          </a:p>
          <a:p>
            <a:pPr marL="91440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ls = [str(i) for i in l]</a:t>
            </a:r>
            <a:endParaRPr/>
          </a:p>
          <a:p>
            <a:pPr marL="91440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" ".join(ls)</a:t>
            </a: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65"/>
          <p:cNvSpPr txBox="1">
            <a:spLocks noGrp="1"/>
          </p:cNvSpPr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Modifying Strings</a:t>
            </a:r>
            <a:endParaRPr sz="3000"/>
          </a:p>
        </p:txBody>
      </p:sp>
      <p:sp>
        <p:nvSpPr>
          <p:cNvPr id="463" name="Google Shape;463;p65"/>
          <p:cNvSpPr txBox="1">
            <a:spLocks noGrp="1"/>
          </p:cNvSpPr>
          <p:nvPr>
            <p:ph type="body" idx="1"/>
          </p:nvPr>
        </p:nvSpPr>
        <p:spPr>
          <a:xfrm>
            <a:off x="633850" y="1035875"/>
            <a:ext cx="7862700" cy="27987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457200" lvl="0" indent="-355600" algn="l" rtl="0">
              <a:spcBef>
                <a:spcPts val="80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Cannot change a string, but some methods available to create a new string with changes reference to an existing string object, s</a:t>
            </a:r>
            <a:endParaRPr sz="2000"/>
          </a:p>
          <a:p>
            <a:pPr marL="91440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 sz="2000" b="1"/>
              <a:t>s.lower()</a:t>
            </a:r>
            <a:r>
              <a:rPr lang="en" sz="2000"/>
              <a:t> # gives a str which is s with all lower case</a:t>
            </a:r>
            <a:endParaRPr sz="2000"/>
          </a:p>
          <a:p>
            <a:pPr marL="91440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 sz="2000" b="1"/>
              <a:t>s.upper()</a:t>
            </a:r>
            <a:r>
              <a:rPr lang="en" sz="2000"/>
              <a:t> # gives a str which is s with all capitals, upper case</a:t>
            </a:r>
            <a:endParaRPr sz="2000"/>
          </a:p>
          <a:p>
            <a:pPr marL="91440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 sz="2000" b="1"/>
              <a:t>s.strip()</a:t>
            </a:r>
            <a:r>
              <a:rPr lang="en" sz="2000"/>
              <a:t> # str without any blanks at the beginning or end</a:t>
            </a:r>
            <a:endParaRPr sz="2000"/>
          </a:p>
          <a:p>
            <a:pPr marL="91440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 sz="2000" b="1"/>
              <a:t>s.replace("str1", "str2")</a:t>
            </a:r>
            <a:r>
              <a:rPr lang="en" sz="2000"/>
              <a:t> # string in which str1 in s is changed to str2</a:t>
            </a:r>
            <a:endParaRPr sz="2000"/>
          </a:p>
          <a:p>
            <a:pPr marL="457200" lvl="0" indent="-355600" algn="l" rtl="0">
              <a:spcBef>
                <a:spcPts val="80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Note there is no change of these operations on original string s</a:t>
            </a:r>
            <a:endParaRPr sz="200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66"/>
          <p:cNvSpPr txBox="1">
            <a:spLocks noGrp="1"/>
          </p:cNvSpPr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Quiz - Alphanumeric</a:t>
            </a:r>
            <a:endParaRPr sz="3000"/>
          </a:p>
        </p:txBody>
      </p:sp>
      <p:sp>
        <p:nvSpPr>
          <p:cNvPr id="469" name="Google Shape;469;p66"/>
          <p:cNvSpPr txBox="1">
            <a:spLocks noGrp="1"/>
          </p:cNvSpPr>
          <p:nvPr>
            <p:ph type="body" idx="1"/>
          </p:nvPr>
        </p:nvSpPr>
        <p:spPr>
          <a:xfrm>
            <a:off x="633850" y="1035875"/>
            <a:ext cx="7911000" cy="13467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 sz="2000"/>
              <a:t>What would be the output of the code given below?</a:t>
            </a:r>
            <a:endParaRPr sz="2000"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 sz="2000"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500" b="1">
                <a:latin typeface="Courier New"/>
                <a:ea typeface="Courier New"/>
                <a:cs typeface="Courier New"/>
                <a:sym typeface="Courier New"/>
              </a:rPr>
              <a:t>lst = 'Introduction to programming 1 2 3 Hello World'.split()</a:t>
            </a:r>
            <a:endParaRPr sz="15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500" b="1">
                <a:latin typeface="Courier New"/>
                <a:ea typeface="Courier New"/>
                <a:cs typeface="Courier New"/>
                <a:sym typeface="Courier New"/>
              </a:rPr>
              <a:t>print(lst[6][-4:-1])</a:t>
            </a:r>
            <a:endParaRPr sz="1500" b="1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67"/>
          <p:cNvSpPr txBox="1">
            <a:spLocks noGrp="1"/>
          </p:cNvSpPr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Quiz - Alphanumeric</a:t>
            </a:r>
            <a:endParaRPr sz="3000"/>
          </a:p>
        </p:txBody>
      </p:sp>
      <p:sp>
        <p:nvSpPr>
          <p:cNvPr id="475" name="Google Shape;475;p67"/>
          <p:cNvSpPr txBox="1">
            <a:spLocks noGrp="1"/>
          </p:cNvSpPr>
          <p:nvPr>
            <p:ph type="body" idx="1"/>
          </p:nvPr>
        </p:nvSpPr>
        <p:spPr>
          <a:xfrm>
            <a:off x="633850" y="1035875"/>
            <a:ext cx="7911000" cy="29706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 sz="2000"/>
              <a:t>What would be the output of the code given below?</a:t>
            </a:r>
            <a:endParaRPr sz="2000"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 sz="2000"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500" b="1">
                <a:latin typeface="Courier New"/>
                <a:ea typeface="Courier New"/>
                <a:cs typeface="Courier New"/>
                <a:sym typeface="Courier New"/>
              </a:rPr>
              <a:t>lst = 'Introduction to programming 1 2 3 Hello World'.split()</a:t>
            </a:r>
            <a:endParaRPr sz="15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500" b="1">
                <a:latin typeface="Courier New"/>
                <a:ea typeface="Courier New"/>
                <a:cs typeface="Courier New"/>
                <a:sym typeface="Courier New"/>
              </a:rPr>
              <a:t>print(lst[6][-4:-1])</a:t>
            </a:r>
            <a:endParaRPr sz="15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 sz="15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 sz="2000"/>
              <a:t>Output: </a:t>
            </a:r>
            <a:r>
              <a:rPr lang="en" sz="2000">
                <a:solidFill>
                  <a:srgbClr val="FF0000"/>
                </a:solidFill>
              </a:rPr>
              <a:t>ell</a:t>
            </a:r>
            <a:endParaRPr sz="2000">
              <a:solidFill>
                <a:srgbClr val="FF0000"/>
              </a:solidFill>
            </a:endParaRP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000000"/>
                </a:solidFill>
              </a:rPr>
              <a:t>Explanation: lst[6] refers to the 7th element of lst i.e. ‘Hello’. A slice of this element is printed starting with 4th last character to 2nd last character. (Note that in the slice L[i:j], we go from i upto j-1</a:t>
            </a:r>
            <a:endParaRPr sz="20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68"/>
          <p:cNvSpPr txBox="1">
            <a:spLocks noGrp="1"/>
          </p:cNvSpPr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Other Methods</a:t>
            </a:r>
            <a:endParaRPr sz="3000"/>
          </a:p>
        </p:txBody>
      </p:sp>
      <p:sp>
        <p:nvSpPr>
          <p:cNvPr id="481" name="Google Shape;481;p68"/>
          <p:cNvSpPr txBox="1">
            <a:spLocks noGrp="1"/>
          </p:cNvSpPr>
          <p:nvPr>
            <p:ph type="body" idx="1"/>
          </p:nvPr>
        </p:nvSpPr>
        <p:spPr>
          <a:xfrm>
            <a:off x="633850" y="1035874"/>
            <a:ext cx="7886700" cy="38097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457200" lvl="0" indent="-342900" algn="l" rtl="0">
              <a:spcBef>
                <a:spcPts val="80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Huge number of methods available - all methods return new values - do not change original string</a:t>
            </a:r>
            <a:endParaRPr sz="180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Some we have seen, some others are:</a:t>
            </a:r>
            <a:endParaRPr sz="1800"/>
          </a:p>
          <a:p>
            <a:pPr marL="9144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s.count("str") # returns how many times "str" occurs in s</a:t>
            </a:r>
            <a:endParaRPr sz="1800"/>
          </a:p>
          <a:p>
            <a:pPr marL="9144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s.find("str")  # index from where str is found in s; -1 if not found</a:t>
            </a:r>
            <a:endParaRPr sz="1800"/>
          </a:p>
          <a:p>
            <a:pPr marL="9144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s.isalnum() # returns True if all are alpha numeric</a:t>
            </a:r>
            <a:endParaRPr sz="1800"/>
          </a:p>
          <a:p>
            <a:pPr marL="9144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s.isdigit() # True if all are digits, else false</a:t>
            </a:r>
            <a:endParaRPr sz="1800"/>
          </a:p>
          <a:p>
            <a:pPr marL="9144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s.capitalize()  # capitalizes the first char and converts all other characters in the string to lowercase</a:t>
            </a:r>
            <a:endParaRPr sz="1800"/>
          </a:p>
          <a:p>
            <a:pPr marL="9144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s.title() # Capitalizes the first letter of every word in the string and converts the rest in lowercase</a:t>
            </a:r>
            <a:endParaRPr sz="1800"/>
          </a:p>
          <a:p>
            <a:pPr marL="9144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s.isupper() and s.islower(). # Returns true if s is an uppercase string and lowercase string respectively.</a:t>
            </a:r>
            <a:endParaRPr sz="1800"/>
          </a:p>
          <a:p>
            <a:pPr marL="9144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s.startswith(str) and s.endswith(str). # Used for checking suffixes and prefixes</a:t>
            </a:r>
            <a:endParaRPr sz="180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69"/>
          <p:cNvSpPr txBox="1">
            <a:spLocks noGrp="1"/>
          </p:cNvSpPr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Other Methods</a:t>
            </a:r>
            <a:endParaRPr sz="3000"/>
          </a:p>
        </p:txBody>
      </p:sp>
      <p:sp>
        <p:nvSpPr>
          <p:cNvPr id="487" name="Google Shape;487;p69"/>
          <p:cNvSpPr txBox="1">
            <a:spLocks noGrp="1"/>
          </p:cNvSpPr>
          <p:nvPr>
            <p:ph type="body" idx="1"/>
          </p:nvPr>
        </p:nvSpPr>
        <p:spPr>
          <a:xfrm>
            <a:off x="633847" y="1035875"/>
            <a:ext cx="3568500" cy="35991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457200" lvl="0" indent="-317500" algn="l" rtl="0">
              <a:spcBef>
                <a:spcPts val="800"/>
              </a:spcBef>
              <a:spcAft>
                <a:spcPts val="0"/>
              </a:spcAft>
              <a:buSzPts val="1400"/>
              <a:buChar char="●"/>
            </a:pPr>
            <a:r>
              <a:rPr lang="en" sz="1850"/>
              <a:t>Reverse words in a given string</a:t>
            </a:r>
            <a:endParaRPr sz="1850"/>
          </a:p>
          <a:p>
            <a:pPr marL="457200" lvl="0" indent="-317500" algn="l" rtl="0">
              <a:spcBef>
                <a:spcPts val="800"/>
              </a:spcBef>
              <a:spcAft>
                <a:spcPts val="0"/>
              </a:spcAft>
              <a:buSzPts val="1400"/>
              <a:buChar char="●"/>
            </a:pPr>
            <a:r>
              <a:rPr lang="en" sz="1850"/>
              <a:t>Recall:</a:t>
            </a:r>
            <a:endParaRPr sz="1850"/>
          </a:p>
          <a:p>
            <a:pPr marL="9144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850">
                <a:solidFill>
                  <a:srgbClr val="0000FF"/>
                </a:solidFill>
              </a:rPr>
              <a:t>s.reverse() </a:t>
            </a:r>
            <a:r>
              <a:rPr lang="en" sz="1850"/>
              <a:t>: Reverses the order of items in list</a:t>
            </a:r>
            <a:endParaRPr/>
          </a:p>
          <a:p>
            <a:pPr marL="45720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>
              <a:solidFill>
                <a:srgbClr val="FF0000"/>
              </a:solidFill>
            </a:endParaRPr>
          </a:p>
          <a:p>
            <a:pPr marL="45720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>
              <a:solidFill>
                <a:srgbClr val="FF0000"/>
              </a:solidFill>
            </a:endParaRP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</a:rPr>
              <a:t>Another way to reverse a list?</a:t>
            </a:r>
            <a:endParaRPr>
              <a:solidFill>
                <a:srgbClr val="FF0000"/>
              </a:solidFill>
            </a:endParaRPr>
          </a:p>
          <a:p>
            <a:pPr marL="0" lvl="0" indent="45720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</a:rPr>
              <a:t>Use Slicing </a:t>
            </a:r>
            <a:endParaRPr>
              <a:solidFill>
                <a:srgbClr val="0000FF"/>
              </a:solidFill>
            </a:endParaRPr>
          </a:p>
          <a:p>
            <a:pPr marL="0" lvl="0" indent="45720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</a:rPr>
              <a:t>s[::-1] </a:t>
            </a:r>
            <a:endParaRPr>
              <a:solidFill>
                <a:srgbClr val="0000FF"/>
              </a:solidFill>
            </a:endParaRPr>
          </a:p>
        </p:txBody>
      </p:sp>
      <p:sp>
        <p:nvSpPr>
          <p:cNvPr id="488" name="Google Shape;488;p69"/>
          <p:cNvSpPr txBox="1">
            <a:spLocks noGrp="1"/>
          </p:cNvSpPr>
          <p:nvPr>
            <p:ph type="body" idx="1"/>
          </p:nvPr>
        </p:nvSpPr>
        <p:spPr>
          <a:xfrm>
            <a:off x="4494325" y="1197350"/>
            <a:ext cx="4194600" cy="3799200"/>
          </a:xfrm>
          <a:prstGeom prst="rect">
            <a:avLst/>
          </a:prstGeom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 = "Introduction to programming"</a:t>
            </a: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words = s.split(' ') #creates a list</a:t>
            </a: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print(words)</a:t>
            </a: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words.reverse()</a:t>
            </a: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reverse = ' '.join(words)</a:t>
            </a: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print(reverse) # “programming to Introduction”</a:t>
            </a: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70"/>
          <p:cNvSpPr txBox="1">
            <a:spLocks noGrp="1"/>
          </p:cNvSpPr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Escape Characters</a:t>
            </a:r>
            <a:endParaRPr sz="3000"/>
          </a:p>
        </p:txBody>
      </p:sp>
      <p:sp>
        <p:nvSpPr>
          <p:cNvPr id="494" name="Google Shape;494;p70"/>
          <p:cNvSpPr txBox="1">
            <a:spLocks noGrp="1"/>
          </p:cNvSpPr>
          <p:nvPr>
            <p:ph type="body" idx="1"/>
          </p:nvPr>
        </p:nvSpPr>
        <p:spPr>
          <a:xfrm>
            <a:off x="633845" y="1035887"/>
            <a:ext cx="7886700" cy="35991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457200" lvl="0" indent="-355600" algn="l" rtl="0">
              <a:spcBef>
                <a:spcPts val="80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To give " or ' in string, use escape char \, i.e. have "Hello \" hi \' xx"</a:t>
            </a:r>
            <a:endParaRPr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For a newline we have \n </a:t>
            </a:r>
            <a:endParaRPr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Other escape characters: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\' : single quote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\t : tab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…</a:t>
            </a: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71"/>
          <p:cNvSpPr txBox="1">
            <a:spLocks noGrp="1"/>
          </p:cNvSpPr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String Comparison</a:t>
            </a:r>
            <a:endParaRPr sz="3000"/>
          </a:p>
        </p:txBody>
      </p:sp>
      <p:sp>
        <p:nvSpPr>
          <p:cNvPr id="500" name="Google Shape;500;p71"/>
          <p:cNvSpPr txBox="1">
            <a:spLocks noGrp="1"/>
          </p:cNvSpPr>
          <p:nvPr>
            <p:ph type="body" idx="1"/>
          </p:nvPr>
        </p:nvSpPr>
        <p:spPr>
          <a:xfrm>
            <a:off x="633850" y="1035875"/>
            <a:ext cx="3938100" cy="40245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 fontScale="92500" lnSpcReduction="20000"/>
          </a:bodyPr>
          <a:lstStyle/>
          <a:p>
            <a:pPr marL="457200" lvl="0" indent="-340201" algn="l" rtl="0">
              <a:spcBef>
                <a:spcPts val="800"/>
              </a:spcBef>
              <a:spcAft>
                <a:spcPts val="0"/>
              </a:spcAft>
              <a:buSzPct val="90476"/>
              <a:buChar char="●"/>
            </a:pPr>
            <a:r>
              <a:rPr lang="en"/>
              <a:t>Comparison takes place character by character</a:t>
            </a:r>
            <a:endParaRPr/>
          </a:p>
          <a:p>
            <a:pPr marL="457200" lvl="0" indent="-340201" algn="l" rtl="0">
              <a:spcBef>
                <a:spcPts val="1000"/>
              </a:spcBef>
              <a:spcAft>
                <a:spcPts val="0"/>
              </a:spcAft>
              <a:buSzPct val="90476"/>
              <a:buChar char="●"/>
            </a:pPr>
            <a:r>
              <a:rPr lang="en"/>
              <a:t>If corresponding characters at a particular position satisfy the comparison condition, then move to the next position and compare. Otherwise, return False.</a:t>
            </a:r>
            <a:endParaRPr/>
          </a:p>
          <a:p>
            <a:pPr marL="457200" lvl="0" indent="-340201" algn="l" rtl="0">
              <a:spcBef>
                <a:spcPts val="1000"/>
              </a:spcBef>
              <a:spcAft>
                <a:spcPts val="0"/>
              </a:spcAft>
              <a:buSzPct val="90476"/>
              <a:buChar char="●"/>
            </a:pPr>
            <a:r>
              <a:rPr lang="en"/>
              <a:t>Comparisons are case-sensitive</a:t>
            </a:r>
            <a:endParaRPr/>
          </a:p>
          <a:p>
            <a:pPr marL="457200" lvl="0" indent="-340201" algn="l" rtl="0">
              <a:spcBef>
                <a:spcPts val="1000"/>
              </a:spcBef>
              <a:spcAft>
                <a:spcPts val="0"/>
              </a:spcAft>
              <a:buSzPct val="90476"/>
              <a:buChar char="●"/>
            </a:pPr>
            <a:r>
              <a:rPr lang="en"/>
              <a:t>Unicode values of characters are compared. The character with lesser Unicode value is lower.</a:t>
            </a:r>
            <a:endParaRPr/>
          </a:p>
          <a:p>
            <a:pPr marL="457200" lvl="0" indent="-340201" algn="l" rtl="0">
              <a:spcBef>
                <a:spcPts val="1000"/>
              </a:spcBef>
              <a:spcAft>
                <a:spcPts val="1000"/>
              </a:spcAft>
              <a:buSzPct val="90476"/>
              <a:buChar char="●"/>
            </a:pPr>
            <a:r>
              <a:rPr lang="en"/>
              <a:t>Let str1 = “Hello”, str2 = “How”, str3 = “hello”, str4 = “Hello”, str5=”Hello World”</a:t>
            </a:r>
            <a:endParaRPr/>
          </a:p>
        </p:txBody>
      </p:sp>
      <p:sp>
        <p:nvSpPr>
          <p:cNvPr id="501" name="Google Shape;501;p71"/>
          <p:cNvSpPr txBox="1">
            <a:spLocks noGrp="1"/>
          </p:cNvSpPr>
          <p:nvPr>
            <p:ph type="body" idx="1"/>
          </p:nvPr>
        </p:nvSpPr>
        <p:spPr>
          <a:xfrm>
            <a:off x="4638575" y="1088400"/>
            <a:ext cx="3079500" cy="3599100"/>
          </a:xfrm>
          <a:prstGeom prst="rect">
            <a:avLst/>
          </a:prstGeom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500" b="1">
                <a:latin typeface="Courier New"/>
                <a:ea typeface="Courier New"/>
                <a:cs typeface="Courier New"/>
                <a:sym typeface="Courier New"/>
              </a:rPr>
              <a:t>print(str1==str3) # False</a:t>
            </a:r>
            <a:endParaRPr sz="15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500" b="1">
                <a:latin typeface="Courier New"/>
                <a:ea typeface="Courier New"/>
                <a:cs typeface="Courier New"/>
                <a:sym typeface="Courier New"/>
              </a:rPr>
              <a:t>print(str1==str4) # True</a:t>
            </a:r>
            <a:endParaRPr sz="15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500" b="1">
                <a:latin typeface="Courier New"/>
                <a:ea typeface="Courier New"/>
                <a:cs typeface="Courier New"/>
                <a:sym typeface="Courier New"/>
              </a:rPr>
              <a:t>print(str1!=str3) # True</a:t>
            </a:r>
            <a:endParaRPr sz="15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500" b="1">
                <a:latin typeface="Courier New"/>
                <a:ea typeface="Courier New"/>
                <a:cs typeface="Courier New"/>
                <a:sym typeface="Courier New"/>
              </a:rPr>
              <a:t>print(str1!=str4) # False</a:t>
            </a:r>
            <a:endParaRPr sz="15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500" b="1">
                <a:latin typeface="Courier New"/>
                <a:ea typeface="Courier New"/>
                <a:cs typeface="Courier New"/>
                <a:sym typeface="Courier New"/>
              </a:rPr>
              <a:t>print(str1&lt;str2) # True</a:t>
            </a:r>
            <a:endParaRPr sz="15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500" b="1">
                <a:latin typeface="Courier New"/>
                <a:ea typeface="Courier New"/>
                <a:cs typeface="Courier New"/>
                <a:sym typeface="Courier New"/>
              </a:rPr>
              <a:t>print(str1&gt;str2) # False</a:t>
            </a:r>
            <a:endParaRPr sz="15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500" b="1">
                <a:latin typeface="Courier New"/>
                <a:ea typeface="Courier New"/>
                <a:cs typeface="Courier New"/>
                <a:sym typeface="Courier New"/>
              </a:rPr>
              <a:t>print(str1&lt;=str3) # True</a:t>
            </a:r>
            <a:endParaRPr sz="15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500" b="1">
                <a:latin typeface="Courier New"/>
                <a:ea typeface="Courier New"/>
                <a:cs typeface="Courier New"/>
                <a:sym typeface="Courier New"/>
              </a:rPr>
              <a:t>print(str1&gt;=str3) # False</a:t>
            </a:r>
            <a:endParaRPr sz="15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500" b="1">
                <a:latin typeface="Courier New"/>
                <a:ea typeface="Courier New"/>
                <a:cs typeface="Courier New"/>
                <a:sym typeface="Courier New"/>
              </a:rPr>
              <a:t>print(str1&lt;str5) # True</a:t>
            </a:r>
            <a:endParaRPr sz="15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500" b="1">
                <a:latin typeface="Courier New"/>
                <a:ea typeface="Courier New"/>
                <a:cs typeface="Courier New"/>
                <a:sym typeface="Courier New"/>
              </a:rPr>
              <a:t>print(str1&gt;str5) # False</a:t>
            </a:r>
            <a:endParaRPr sz="1500" b="1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72"/>
          <p:cNvSpPr txBox="1">
            <a:spLocks noGrp="1"/>
          </p:cNvSpPr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Quiz - Alphanumeric</a:t>
            </a:r>
            <a:endParaRPr sz="3000"/>
          </a:p>
        </p:txBody>
      </p:sp>
      <p:sp>
        <p:nvSpPr>
          <p:cNvPr id="507" name="Google Shape;507;p72"/>
          <p:cNvSpPr txBox="1">
            <a:spLocks noGrp="1"/>
          </p:cNvSpPr>
          <p:nvPr>
            <p:ph type="body" idx="1"/>
          </p:nvPr>
        </p:nvSpPr>
        <p:spPr>
          <a:xfrm>
            <a:off x="633845" y="1035887"/>
            <a:ext cx="7886700" cy="35991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What would be the output of the following code:</a:t>
            </a: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500" b="1">
                <a:latin typeface="Courier New"/>
                <a:ea typeface="Courier New"/>
                <a:cs typeface="Courier New"/>
                <a:sym typeface="Courier New"/>
              </a:rPr>
              <a:t>str1 = "Introduction"</a:t>
            </a:r>
            <a:endParaRPr sz="15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500" b="1">
                <a:latin typeface="Courier New"/>
                <a:ea typeface="Courier New"/>
                <a:cs typeface="Courier New"/>
                <a:sym typeface="Courier New"/>
              </a:rPr>
              <a:t>chunks = str1.split('o') # splits a str using the separator; </a:t>
            </a:r>
            <a:endParaRPr sz="15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500" b="1">
                <a:latin typeface="Courier New"/>
                <a:ea typeface="Courier New"/>
                <a:cs typeface="Courier New"/>
                <a:sym typeface="Courier New"/>
              </a:rPr>
              <a:t>for i in chunks: </a:t>
            </a:r>
            <a:endParaRPr sz="15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500" b="1">
                <a:latin typeface="Courier New"/>
                <a:ea typeface="Courier New"/>
                <a:cs typeface="Courier New"/>
                <a:sym typeface="Courier New"/>
              </a:rPr>
              <a:t>    print(i, end=' ')  # with end = ' ', a new line is avoided</a:t>
            </a:r>
            <a:endParaRPr sz="1500" b="1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73"/>
          <p:cNvSpPr txBox="1">
            <a:spLocks noGrp="1"/>
          </p:cNvSpPr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Quiz - Alphanumeric</a:t>
            </a:r>
            <a:endParaRPr sz="3000"/>
          </a:p>
        </p:txBody>
      </p:sp>
      <p:sp>
        <p:nvSpPr>
          <p:cNvPr id="513" name="Google Shape;513;p73"/>
          <p:cNvSpPr txBox="1">
            <a:spLocks noGrp="1"/>
          </p:cNvSpPr>
          <p:nvPr>
            <p:ph type="body" idx="1"/>
          </p:nvPr>
        </p:nvSpPr>
        <p:spPr>
          <a:xfrm>
            <a:off x="633845" y="1035887"/>
            <a:ext cx="7886700" cy="35991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What would be the output of the following code:</a:t>
            </a: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500" b="1">
                <a:latin typeface="Courier New"/>
                <a:ea typeface="Courier New"/>
                <a:cs typeface="Courier New"/>
                <a:sym typeface="Courier New"/>
              </a:rPr>
              <a:t>str1 = "Introduction"</a:t>
            </a:r>
            <a:endParaRPr sz="15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500" b="1">
                <a:latin typeface="Courier New"/>
                <a:ea typeface="Courier New"/>
                <a:cs typeface="Courier New"/>
                <a:sym typeface="Courier New"/>
              </a:rPr>
              <a:t>chunks = str1.split('o') </a:t>
            </a:r>
            <a:endParaRPr sz="15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500" b="1">
                <a:latin typeface="Courier New"/>
                <a:ea typeface="Courier New"/>
                <a:cs typeface="Courier New"/>
                <a:sym typeface="Courier New"/>
              </a:rPr>
              <a:t>for i in chunks: </a:t>
            </a:r>
            <a:endParaRPr sz="15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500" b="1">
                <a:latin typeface="Courier New"/>
                <a:ea typeface="Courier New"/>
                <a:cs typeface="Courier New"/>
                <a:sym typeface="Courier New"/>
              </a:rPr>
              <a:t>    print(i, end=' ')</a:t>
            </a:r>
            <a:endParaRPr sz="15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 sz="15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 sz="2000"/>
              <a:t>Output: </a:t>
            </a:r>
            <a:r>
              <a:rPr lang="en" sz="2000">
                <a:solidFill>
                  <a:srgbClr val="FF0000"/>
                </a:solidFill>
              </a:rPr>
              <a:t>Intr ducti n</a:t>
            </a:r>
            <a:endParaRPr sz="2000">
              <a:solidFill>
                <a:srgbClr val="FF0000"/>
              </a:solidFill>
            </a:endParaRP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000000"/>
                </a:solidFill>
              </a:rPr>
              <a:t>Explanation: The string is split using ‘o’ as the separator and all the chunks obtained after the split and printed with space in between.</a:t>
            </a:r>
            <a:endParaRPr sz="20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74"/>
          <p:cNvSpPr txBox="1">
            <a:spLocks noGrp="1"/>
          </p:cNvSpPr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Taking Multiple Inputs</a:t>
            </a:r>
            <a:endParaRPr sz="3000"/>
          </a:p>
        </p:txBody>
      </p:sp>
      <p:sp>
        <p:nvSpPr>
          <p:cNvPr id="519" name="Google Shape;519;p74"/>
          <p:cNvSpPr txBox="1">
            <a:spLocks noGrp="1"/>
          </p:cNvSpPr>
          <p:nvPr>
            <p:ph type="body" idx="1"/>
          </p:nvPr>
        </p:nvSpPr>
        <p:spPr>
          <a:xfrm>
            <a:off x="633845" y="1035887"/>
            <a:ext cx="7886700" cy="35991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457200" lvl="0" indent="-355600" algn="l" rtl="0">
              <a:spcBef>
                <a:spcPts val="80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In input(), python takes whatever input is given as string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For int, float, bool - we can convert this string, if possible 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If the input is not an integer/real number, conversion fails</a:t>
            </a:r>
            <a:endParaRPr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In input, can give longer text - e.g. a text sentence, many values, .. the entire input is treated as one text string</a:t>
            </a: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	X = input("Give: ") # input given: 11 22 33 44</a:t>
            </a: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	print(x) # will give "11 22 33 44"</a:t>
            </a:r>
            <a:endParaRPr/>
          </a:p>
          <a:p>
            <a:pPr marL="457200" lvl="0" indent="-355600" algn="l" rtl="0">
              <a:spcBef>
                <a:spcPts val="80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With string and list operations we can get this as a list of values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75"/>
          <p:cNvSpPr txBox="1">
            <a:spLocks noGrp="1"/>
          </p:cNvSpPr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Multiple integer (or float) inputs</a:t>
            </a:r>
            <a:endParaRPr sz="3000"/>
          </a:p>
        </p:txBody>
      </p:sp>
      <p:sp>
        <p:nvSpPr>
          <p:cNvPr id="525" name="Google Shape;525;p75"/>
          <p:cNvSpPr txBox="1">
            <a:spLocks noGrp="1"/>
          </p:cNvSpPr>
          <p:nvPr>
            <p:ph type="body" idx="1"/>
          </p:nvPr>
        </p:nvSpPr>
        <p:spPr>
          <a:xfrm>
            <a:off x="633845" y="1035887"/>
            <a:ext cx="7886700" cy="30615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457200" lvl="0" indent="-342900" algn="l" rtl="0">
              <a:spcBef>
                <a:spcPts val="80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Suppose you want to give as input values of a, b, c (int) together - How? </a:t>
            </a:r>
            <a:endParaRPr sz="180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Split the input string - this gives you a list of substrings which were separated by "blank" (you can also specify the separator)</a:t>
            </a:r>
            <a:endParaRPr sz="1800"/>
          </a:p>
          <a:p>
            <a:pPr marL="1371600" lvl="2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romanLcPeriod"/>
            </a:pPr>
            <a:r>
              <a:rPr lang="en" sz="1800"/>
              <a:t>X = input("Give: ").split() # input given: 11 22 33</a:t>
            </a:r>
            <a:endParaRPr sz="1800"/>
          </a:p>
          <a:p>
            <a:pPr marL="1371600" lvl="2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romanLcPeriod"/>
            </a:pPr>
            <a:r>
              <a:rPr lang="en" sz="1800"/>
              <a:t>print(x) # will give ["11",  "22",  "33"]</a:t>
            </a:r>
            <a:endParaRPr sz="180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To get list of integers, list comprehension can be used</a:t>
            </a:r>
            <a:endParaRPr sz="1800"/>
          </a:p>
          <a:p>
            <a:pPr marL="1371600" lvl="2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romanLcPeriod"/>
            </a:pPr>
            <a:r>
              <a:rPr lang="en" sz="1800"/>
              <a:t>int_lst = [int(num) for num in x] # lst is now a list of integers</a:t>
            </a:r>
            <a:endParaRPr sz="180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We can now use this list to get the values of a, b, c</a:t>
            </a:r>
            <a:endParaRPr sz="1800"/>
          </a:p>
          <a:p>
            <a:pPr marL="1371600" lvl="2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romanLcPeriod"/>
            </a:pPr>
            <a:r>
              <a:rPr lang="en" sz="1800"/>
              <a:t>a, b, c = int_lst</a:t>
            </a:r>
            <a:endParaRPr sz="180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Can combine them in one statement:</a:t>
            </a:r>
            <a:endParaRPr sz="1800"/>
          </a:p>
          <a:p>
            <a:pPr marL="1371600" lvl="2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romanLcPeriod"/>
            </a:pPr>
            <a:r>
              <a:rPr lang="en" sz="1800"/>
              <a:t>a, b, c = [int(num) for num in input("Give three numbers:").split()]</a:t>
            </a:r>
            <a:endParaRPr sz="1800"/>
          </a:p>
          <a:p>
            <a:pPr marL="1371600" lvl="2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romanLcPeriod"/>
            </a:pPr>
            <a:r>
              <a:rPr lang="en" sz="1800"/>
              <a:t># input given WITHOUT commas, must be exactly 3 integers</a:t>
            </a:r>
            <a:endParaRPr sz="180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76"/>
          <p:cNvSpPr txBox="1">
            <a:spLocks noGrp="1"/>
          </p:cNvSpPr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Quiz : Single Correct</a:t>
            </a:r>
            <a:endParaRPr sz="3000"/>
          </a:p>
        </p:txBody>
      </p:sp>
      <p:sp>
        <p:nvSpPr>
          <p:cNvPr id="531" name="Google Shape;531;p76"/>
          <p:cNvSpPr txBox="1">
            <a:spLocks noGrp="1"/>
          </p:cNvSpPr>
          <p:nvPr>
            <p:ph type="body" idx="1"/>
          </p:nvPr>
        </p:nvSpPr>
        <p:spPr>
          <a:xfrm>
            <a:off x="633850" y="1035875"/>
            <a:ext cx="7855500" cy="38352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 sz="2000"/>
              <a:t>What is the output of the code given?</a:t>
            </a:r>
            <a:endParaRPr sz="2000"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 sz="2000"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 sz="2000"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 sz="2000"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 sz="2000"/>
          </a:p>
          <a:p>
            <a:pPr marL="457200" lvl="0" indent="-355600" algn="l" rtl="0">
              <a:spcBef>
                <a:spcPts val="800"/>
              </a:spcBef>
              <a:spcAft>
                <a:spcPts val="0"/>
              </a:spcAft>
              <a:buSzPts val="2000"/>
              <a:buAutoNum type="alphaUcPeriod"/>
            </a:pPr>
            <a:r>
              <a:rPr lang="en" sz="2000"/>
              <a:t>Error</a:t>
            </a:r>
            <a:endParaRPr sz="200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AutoNum type="alphaUcPeriod"/>
            </a:pPr>
            <a:r>
              <a:rPr lang="en" sz="2000"/>
              <a:t>[1, 2, 3, 4, 5]</a:t>
            </a:r>
            <a:endParaRPr sz="200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AutoNum type="alphaUcPeriod"/>
            </a:pPr>
            <a:r>
              <a:rPr lang="en" sz="2000"/>
              <a:t>[1,2,3,4,5,6,7,8]</a:t>
            </a:r>
            <a:endParaRPr sz="200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AutoNum type="alphaUcPeriod"/>
            </a:pPr>
            <a:r>
              <a:rPr lang="en" sz="2000"/>
              <a:t>[6, 7, 8]</a:t>
            </a:r>
            <a:endParaRPr sz="2000"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 sz="2000"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 sz="2000"/>
          </a:p>
        </p:txBody>
      </p:sp>
      <p:sp>
        <p:nvSpPr>
          <p:cNvPr id="532" name="Google Shape;532;p76"/>
          <p:cNvSpPr txBox="1">
            <a:spLocks noGrp="1"/>
          </p:cNvSpPr>
          <p:nvPr>
            <p:ph type="body" idx="1"/>
          </p:nvPr>
        </p:nvSpPr>
        <p:spPr>
          <a:xfrm>
            <a:off x="722625" y="1465950"/>
            <a:ext cx="8210400" cy="897900"/>
          </a:xfrm>
          <a:prstGeom prst="rect">
            <a:avLst/>
          </a:prstGeom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500" b="1">
                <a:latin typeface="Courier New"/>
                <a:ea typeface="Courier New"/>
                <a:cs typeface="Courier New"/>
                <a:sym typeface="Courier New"/>
              </a:rPr>
              <a:t>lst = 'Introduction 12345 to 678 programming'</a:t>
            </a:r>
            <a:endParaRPr sz="15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500" b="1">
                <a:latin typeface="Courier New"/>
                <a:ea typeface="Courier New"/>
                <a:cs typeface="Courier New"/>
                <a:sym typeface="Courier New"/>
              </a:rPr>
              <a:t>res = [i for i in (int(i) for i in lst if i.isdigit())]</a:t>
            </a:r>
            <a:endParaRPr sz="15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500" b="1">
                <a:latin typeface="Courier New"/>
                <a:ea typeface="Courier New"/>
                <a:cs typeface="Courier New"/>
                <a:sym typeface="Courier New"/>
              </a:rPr>
              <a:t>print(res)</a:t>
            </a:r>
            <a:endParaRPr sz="1500" b="1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77"/>
          <p:cNvSpPr txBox="1">
            <a:spLocks noGrp="1"/>
          </p:cNvSpPr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Quiz : Single Correct</a:t>
            </a:r>
            <a:endParaRPr sz="3000"/>
          </a:p>
        </p:txBody>
      </p:sp>
      <p:sp>
        <p:nvSpPr>
          <p:cNvPr id="538" name="Google Shape;538;p77"/>
          <p:cNvSpPr txBox="1">
            <a:spLocks noGrp="1"/>
          </p:cNvSpPr>
          <p:nvPr>
            <p:ph type="body" idx="1"/>
          </p:nvPr>
        </p:nvSpPr>
        <p:spPr>
          <a:xfrm>
            <a:off x="633850" y="1035875"/>
            <a:ext cx="7855500" cy="34557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 sz="2000"/>
              <a:t>What is the output of the code given?</a:t>
            </a:r>
            <a:endParaRPr sz="2000"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 sz="2000"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 sz="2000"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 sz="2000"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 sz="2000"/>
          </a:p>
          <a:p>
            <a:pPr marL="457200" lvl="0" indent="-355600" algn="l" rtl="0">
              <a:spcBef>
                <a:spcPts val="800"/>
              </a:spcBef>
              <a:spcAft>
                <a:spcPts val="0"/>
              </a:spcAft>
              <a:buSzPts val="2000"/>
              <a:buAutoNum type="alphaUcPeriod"/>
            </a:pPr>
            <a:r>
              <a:rPr lang="en" sz="2000"/>
              <a:t>Error</a:t>
            </a:r>
            <a:endParaRPr sz="200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AutoNum type="alphaUcPeriod"/>
            </a:pPr>
            <a:r>
              <a:rPr lang="en" sz="2000"/>
              <a:t>[1, 2, 3, 4, 5]</a:t>
            </a:r>
            <a:endParaRPr sz="200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AutoNum type="alphaUcPeriod"/>
            </a:pPr>
            <a:r>
              <a:rPr lang="en" sz="2000">
                <a:solidFill>
                  <a:srgbClr val="FF0000"/>
                </a:solidFill>
              </a:rPr>
              <a:t>[1, 2, 3, 4, 5, 6, 7, 8]</a:t>
            </a:r>
            <a:endParaRPr sz="2000">
              <a:solidFill>
                <a:srgbClr val="FF0000"/>
              </a:solidFill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AutoNum type="alphaUcPeriod"/>
            </a:pPr>
            <a:r>
              <a:rPr lang="en" sz="2000"/>
              <a:t>[6, 7, 8]</a:t>
            </a:r>
            <a:endParaRPr sz="2000">
              <a:solidFill>
                <a:srgbClr val="FF0000"/>
              </a:solidFill>
            </a:endParaRP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</a:rPr>
              <a:t>Explanation: We first check for digits, finally printing them out as a list.</a:t>
            </a:r>
            <a:endParaRPr sz="2000"/>
          </a:p>
        </p:txBody>
      </p:sp>
      <p:sp>
        <p:nvSpPr>
          <p:cNvPr id="539" name="Google Shape;539;p77"/>
          <p:cNvSpPr txBox="1">
            <a:spLocks noGrp="1"/>
          </p:cNvSpPr>
          <p:nvPr>
            <p:ph type="body" idx="1"/>
          </p:nvPr>
        </p:nvSpPr>
        <p:spPr>
          <a:xfrm>
            <a:off x="722625" y="1465950"/>
            <a:ext cx="7084200" cy="897900"/>
          </a:xfrm>
          <a:prstGeom prst="rect">
            <a:avLst/>
          </a:prstGeom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500" b="1">
                <a:latin typeface="Courier New"/>
                <a:ea typeface="Courier New"/>
                <a:cs typeface="Courier New"/>
                <a:sym typeface="Courier New"/>
              </a:rPr>
              <a:t>lst = 'Introduction 12345 to 678 programming'</a:t>
            </a:r>
            <a:endParaRPr sz="15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500" b="1">
                <a:latin typeface="Courier New"/>
                <a:ea typeface="Courier New"/>
                <a:cs typeface="Courier New"/>
                <a:sym typeface="Courier New"/>
              </a:rPr>
              <a:t>res = [i for i in (int(i) for i in lst if i.isdigit())]</a:t>
            </a:r>
            <a:endParaRPr sz="15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500" b="1">
                <a:latin typeface="Courier New"/>
                <a:ea typeface="Courier New"/>
                <a:cs typeface="Courier New"/>
                <a:sym typeface="Courier New"/>
              </a:rPr>
              <a:t>print(res)</a:t>
            </a:r>
            <a:endParaRPr sz="1500" b="1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78"/>
          <p:cNvSpPr txBox="1">
            <a:spLocks noGrp="1"/>
          </p:cNvSpPr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 - Lists</a:t>
            </a:r>
            <a:endParaRPr/>
          </a:p>
        </p:txBody>
      </p:sp>
      <p:sp>
        <p:nvSpPr>
          <p:cNvPr id="545" name="Google Shape;545;p78"/>
          <p:cNvSpPr txBox="1">
            <a:spLocks noGrp="1"/>
          </p:cNvSpPr>
          <p:nvPr>
            <p:ph type="body" idx="1"/>
          </p:nvPr>
        </p:nvSpPr>
        <p:spPr>
          <a:xfrm>
            <a:off x="633845" y="1035887"/>
            <a:ext cx="7886700" cy="35991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457200" lvl="0" indent="-317500" algn="l" rtl="0">
              <a:spcBef>
                <a:spcPts val="8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Lists are mutable, i.e. they can be changed 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Can access a list item, can change the item also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can slice a list to get a sublist - from start or from end of list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Functions with list as parameter: len(), sum()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Operations on lists: in, not in, + , *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Ops on a list: append(), insert(), extend(), remove(), pop(), index(), reverse(), count(), copy(), sort()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Can easily loop over list items - item by item, or using index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Lists can be nested - i.e. list items are themselves lists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List comprehension a compact way to create lists from lists</a:t>
            </a: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79"/>
          <p:cNvSpPr txBox="1">
            <a:spLocks noGrp="1"/>
          </p:cNvSpPr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 - Strings</a:t>
            </a:r>
            <a:endParaRPr/>
          </a:p>
        </p:txBody>
      </p:sp>
      <p:sp>
        <p:nvSpPr>
          <p:cNvPr id="551" name="Google Shape;551;p79"/>
          <p:cNvSpPr txBox="1">
            <a:spLocks noGrp="1"/>
          </p:cNvSpPr>
          <p:nvPr>
            <p:ph type="body" idx="1"/>
          </p:nvPr>
        </p:nvSpPr>
        <p:spPr>
          <a:xfrm>
            <a:off x="633845" y="1035887"/>
            <a:ext cx="7886700" cy="35991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 lnSpcReduction="10000"/>
          </a:bodyPr>
          <a:lstStyle/>
          <a:p>
            <a:pPr marL="457200" lvl="0" indent="-317500" algn="l" rtl="0">
              <a:spcBef>
                <a:spcPts val="8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Strings are immutable, i.e. can access a string item, but cannot change the item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Can slice a string to get substrings - from start or end; can loop over string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Functions: len(), in, not in, + , *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Can split strings into a list of items using s.split()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Can join a list of strings to form one using join()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String operations (return a new string): lower(), upper(), replace(), count(), find(), isdigit(), ...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Using string operations and lists and conversion, we can now extract multiple inputs from an input string read by input function</a:t>
            </a: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4244</Words>
  <Application>Microsoft Office PowerPoint</Application>
  <PresentationFormat>On-screen Show (16:9)</PresentationFormat>
  <Paragraphs>521</Paragraphs>
  <Slides>51</Slides>
  <Notes>51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7" baseType="lpstr">
      <vt:lpstr>Arial</vt:lpstr>
      <vt:lpstr>Calibri</vt:lpstr>
      <vt:lpstr>Quattrocento Sans</vt:lpstr>
      <vt:lpstr>Courier New</vt:lpstr>
      <vt:lpstr>Noto Sans Symbols</vt:lpstr>
      <vt:lpstr>Office Theme</vt:lpstr>
      <vt:lpstr>Lists, List Comprehension, Strings and Multiple Inputs</vt:lpstr>
      <vt:lpstr>Feedback</vt:lpstr>
      <vt:lpstr>Operations on a List - Adding Data</vt:lpstr>
      <vt:lpstr>Operations on a List - Removing Data</vt:lpstr>
      <vt:lpstr>Operations on Lists - others</vt:lpstr>
      <vt:lpstr>Quiz : Single Correct</vt:lpstr>
      <vt:lpstr>Quiz : Single Correct</vt:lpstr>
      <vt:lpstr>Example </vt:lpstr>
      <vt:lpstr>Example : List Operations</vt:lpstr>
      <vt:lpstr>Example: Replacing a value in a list…</vt:lpstr>
      <vt:lpstr>Quiz - Numerical</vt:lpstr>
      <vt:lpstr>Quiz - Answer</vt:lpstr>
      <vt:lpstr>Copying a List</vt:lpstr>
      <vt:lpstr>Copying a list - pythontutor.com</vt:lpstr>
      <vt:lpstr>Looping over items in a list</vt:lpstr>
      <vt:lpstr>Eg: Sum of squares of items in a list</vt:lpstr>
      <vt:lpstr>Sorting lists</vt:lpstr>
      <vt:lpstr>Special sorting with own key</vt:lpstr>
      <vt:lpstr>Using Lists to Assign Multiple vars</vt:lpstr>
      <vt:lpstr>Nested Lists</vt:lpstr>
      <vt:lpstr>Passing lists to functions</vt:lpstr>
      <vt:lpstr>List Comprehension</vt:lpstr>
      <vt:lpstr>List Comprehension vs for loop</vt:lpstr>
      <vt:lpstr>List Comprehension Examples</vt:lpstr>
      <vt:lpstr>More List Comprehension Examples</vt:lpstr>
      <vt:lpstr>Quiz : Single Correct</vt:lpstr>
      <vt:lpstr>Quiz : List Comprehension</vt:lpstr>
      <vt:lpstr>Practice For You</vt:lpstr>
      <vt:lpstr>Strings</vt:lpstr>
      <vt:lpstr>Strings</vt:lpstr>
      <vt:lpstr>Strings are compound objects</vt:lpstr>
      <vt:lpstr>Slicing Strings</vt:lpstr>
      <vt:lpstr>Operations on Strings</vt:lpstr>
      <vt:lpstr>Concatenating / replicating Strings</vt:lpstr>
      <vt:lpstr>Splitting strings</vt:lpstr>
      <vt:lpstr>String joining </vt:lpstr>
      <vt:lpstr>Modifying Strings</vt:lpstr>
      <vt:lpstr>Quiz - Alphanumeric</vt:lpstr>
      <vt:lpstr>Quiz - Alphanumeric</vt:lpstr>
      <vt:lpstr>Other Methods</vt:lpstr>
      <vt:lpstr>Other Methods</vt:lpstr>
      <vt:lpstr>Escape Characters</vt:lpstr>
      <vt:lpstr>String Comparison</vt:lpstr>
      <vt:lpstr>Quiz - Alphanumeric</vt:lpstr>
      <vt:lpstr>Quiz - Alphanumeric</vt:lpstr>
      <vt:lpstr>Taking Multiple Inputs</vt:lpstr>
      <vt:lpstr>Multiple integer (or float) inputs</vt:lpstr>
      <vt:lpstr>Quiz : Single Correct</vt:lpstr>
      <vt:lpstr>Quiz : Single Correct</vt:lpstr>
      <vt:lpstr>Summary - Lists</vt:lpstr>
      <vt:lpstr>Summary - Strings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Lists, List Comprehension, Strings and Multiple Inputs</dc:title>
  <dc:creator>LENOVO</dc:creator>
  <cp:lastModifiedBy>LENOVO</cp:lastModifiedBy>
  <cp:revision>1</cp:revision>
  <dcterms:modified xsi:type="dcterms:W3CDTF">2022-02-05T08:53:25Z</dcterms:modified>
</cp:coreProperties>
</file>